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346" r:id="rId3"/>
    <p:sldId id="347" r:id="rId4"/>
    <p:sldId id="348" r:id="rId5"/>
    <p:sldId id="349" r:id="rId6"/>
    <p:sldId id="350" r:id="rId7"/>
    <p:sldId id="351" r:id="rId8"/>
    <p:sldId id="342" r:id="rId9"/>
    <p:sldId id="343" r:id="rId10"/>
    <p:sldId id="344" r:id="rId11"/>
    <p:sldId id="345" r:id="rId12"/>
    <p:sldId id="352" r:id="rId13"/>
    <p:sldId id="353" r:id="rId14"/>
    <p:sldId id="355" r:id="rId15"/>
    <p:sldId id="357" r:id="rId16"/>
    <p:sldId id="358" r:id="rId17"/>
    <p:sldId id="359" r:id="rId18"/>
    <p:sldId id="365" r:id="rId19"/>
    <p:sldId id="369" r:id="rId20"/>
    <p:sldId id="370" r:id="rId21"/>
    <p:sldId id="372" r:id="rId22"/>
    <p:sldId id="373" r:id="rId23"/>
    <p:sldId id="375" r:id="rId24"/>
    <p:sldId id="376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629" autoAdjust="0"/>
  </p:normalViewPr>
  <p:slideViewPr>
    <p:cSldViewPr>
      <p:cViewPr varScale="1">
        <p:scale>
          <a:sx n="69" d="100"/>
          <a:sy n="69" d="100"/>
        </p:scale>
        <p:origin x="141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42954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6.xml"/><Relationship Id="rId2" Type="http://schemas.openxmlformats.org/officeDocument/2006/relationships/slide" Target="slides/slide14.xml"/><Relationship Id="rId1" Type="http://schemas.openxmlformats.org/officeDocument/2006/relationships/slide" Target="slides/slide12.xml"/><Relationship Id="rId5" Type="http://schemas.openxmlformats.org/officeDocument/2006/relationships/slide" Target="slides/slide22.xml"/><Relationship Id="rId4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0520FC-D788-48C1-BB99-0370BEB8FF51}" type="datetimeFigureOut">
              <a:rPr lang="en-IE" smtClean="0"/>
              <a:t>26/09/2019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8A391-A794-471D-B72A-F262B2B3B5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17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E92E74E-AD07-42B6-817A-6B50DDE4678B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19AC2A-4173-4C7C-8F60-5CEDDEDC9E36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2806B9-6EB1-4761-9259-58BBFF7AB236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542DB1-135D-4B9D-903A-B82DAF680E38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730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73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56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92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Ok, TV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Fix:</a:t>
            </a:r>
            <a:r>
              <a:rPr lang="en-US" baseline="0"/>
              <a:t> </a:t>
            </a:r>
            <a:r>
              <a:rPr lang="en-US"/>
              <a:t>Not TV.</a:t>
            </a:r>
          </a:p>
          <a:p>
            <a:r>
              <a:rPr lang="en-US"/>
              <a:t>Properties:</a:t>
            </a:r>
            <a:r>
              <a:rPr lang="en-US" baseline="0"/>
              <a:t> Atribute: other: UTF-8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645E3-605D-46EF-8F00-40459411309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303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5AF71-02A3-46FB-8593-3D5F029059DF}" type="datetimeFigureOut">
              <a:rPr lang="en-IE" smtClean="0"/>
              <a:t>26/09/2019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284FB45-1ED6-41BB-A146-54B96BE78B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52587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5AF71-02A3-46FB-8593-3D5F029059DF}" type="datetimeFigureOut">
              <a:rPr lang="en-IE" smtClean="0"/>
              <a:t>26/09/2019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284FB45-1ED6-41BB-A146-54B96BE78B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3229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E23142-D3FB-456E-A8E6-206CC8556A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83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5AF71-02A3-46FB-8593-3D5F029059DF}" type="datetimeFigureOut">
              <a:rPr lang="en-IE" smtClean="0"/>
              <a:t>26/09/2019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TextBox 6"/>
          <p:cNvSpPr txBox="1"/>
          <p:nvPr userDrawn="1"/>
        </p:nvSpPr>
        <p:spPr>
          <a:xfrm>
            <a:off x="8458200" y="6477000"/>
            <a:ext cx="685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61424CE-21A9-40ED-A480-F74D0252FFC4}" type="slidenum">
              <a:rPr lang="en-IE" smtClean="0"/>
              <a:pPr algn="r"/>
              <a:t>‹#›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4351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FF00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3.xml"/><Relationship Id="rId5" Type="http://schemas.openxmlformats.org/officeDocument/2006/relationships/slide" Target="slide22.xml"/><Relationship Id="rId4" Type="http://schemas.openxmlformats.org/officeDocument/2006/relationships/slide" Target="slide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Java I/O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Adeel-ur-Rehman</a:t>
            </a:r>
            <a:endParaRPr lang="en-US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52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/>
          <a:lstStyle/>
          <a:p>
            <a:r>
              <a:rPr lang="en-US" altLang="en-US" dirty="0" smtClean="0"/>
              <a:t>Sockets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14400"/>
            <a:ext cx="8991600" cy="5943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b="1" dirty="0">
                <a:solidFill>
                  <a:schemeClr val="tx2"/>
                </a:solidFill>
              </a:rPr>
              <a:t>Sockets provide an interface for programming networks at the transport layer.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/>
              <a:t>Network communication using Sockets is very much </a:t>
            </a:r>
            <a:r>
              <a:rPr lang="en-US" altLang="en-US" sz="2400" b="1" dirty="0">
                <a:solidFill>
                  <a:schemeClr val="tx2"/>
                </a:solidFill>
              </a:rPr>
              <a:t>similar to performing file I/O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In fact, socket handle is treated like file handle.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The streams used in file I/O operation are also applicable to socket-based I/O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/>
              <a:t>Socket-based communication is </a:t>
            </a:r>
            <a:r>
              <a:rPr lang="en-US" altLang="en-US" sz="2400" b="1" dirty="0">
                <a:solidFill>
                  <a:schemeClr val="tx2"/>
                </a:solidFill>
              </a:rPr>
              <a:t>programming language independent.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/>
              <a:t>That means, a socket program written in Java language can also communicate to a program written in Java or non-Java socket program.</a:t>
            </a:r>
          </a:p>
        </p:txBody>
      </p:sp>
    </p:spTree>
    <p:extLst>
      <p:ext uri="{BB962C8B-B14F-4D97-AF65-F5344CB8AC3E}">
        <p14:creationId xmlns:p14="http://schemas.microsoft.com/office/powerpoint/2010/main" val="258011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Socket Communication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819400"/>
          </a:xfrm>
        </p:spPr>
        <p:txBody>
          <a:bodyPr/>
          <a:lstStyle/>
          <a:p>
            <a:r>
              <a:rPr lang="en-US" altLang="en-US" b="1" dirty="0" smtClean="0"/>
              <a:t>A </a:t>
            </a:r>
            <a:r>
              <a:rPr lang="en-US" altLang="en-US" b="1" dirty="0" smtClean="0">
                <a:solidFill>
                  <a:schemeClr val="tx2"/>
                </a:solidFill>
              </a:rPr>
              <a:t>server (program</a:t>
            </a:r>
            <a:r>
              <a:rPr lang="en-US" altLang="en-US" b="1" dirty="0" smtClean="0"/>
              <a:t>) runs on a specific computer and </a:t>
            </a:r>
            <a:r>
              <a:rPr lang="en-US" altLang="en-US" b="1" dirty="0" smtClean="0">
                <a:solidFill>
                  <a:schemeClr val="tx2"/>
                </a:solidFill>
              </a:rPr>
              <a:t>has a socket that is bound to a specific port. </a:t>
            </a:r>
          </a:p>
          <a:p>
            <a:r>
              <a:rPr lang="en-US" altLang="en-US" b="1" dirty="0" smtClean="0"/>
              <a:t>The </a:t>
            </a:r>
            <a:r>
              <a:rPr lang="en-US" altLang="en-US" b="1" dirty="0" smtClean="0">
                <a:solidFill>
                  <a:schemeClr val="tx2"/>
                </a:solidFill>
              </a:rPr>
              <a:t>server waits and listens to the socket </a:t>
            </a:r>
            <a:r>
              <a:rPr lang="en-US" altLang="en-US" b="1" dirty="0" smtClean="0"/>
              <a:t>for a client to make a connection request.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371600" y="4419600"/>
            <a:ext cx="1066800" cy="13208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None/>
            </a:pPr>
            <a:endParaRPr lang="en-US" altLang="en-US" b="1"/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b="1"/>
              <a:t>server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None/>
            </a:pPr>
            <a:endParaRPr lang="en-US" altLang="en-US" b="1"/>
          </a:p>
        </p:txBody>
      </p:sp>
      <p:sp>
        <p:nvSpPr>
          <p:cNvPr id="12293" name="Text Box 6"/>
          <p:cNvSpPr txBox="1">
            <a:spLocks noChangeArrowheads="1"/>
          </p:cNvSpPr>
          <p:nvPr/>
        </p:nvSpPr>
        <p:spPr bwMode="auto">
          <a:xfrm>
            <a:off x="7086600" y="5029200"/>
            <a:ext cx="1219200" cy="4064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b="1"/>
              <a:t>Client</a:t>
            </a:r>
          </a:p>
        </p:txBody>
      </p:sp>
      <p:cxnSp>
        <p:nvCxnSpPr>
          <p:cNvPr id="12294" name="AutoShape 7"/>
          <p:cNvCxnSpPr>
            <a:cxnSpLocks noChangeShapeType="1"/>
            <a:stCxn id="12293" idx="1"/>
          </p:cNvCxnSpPr>
          <p:nvPr/>
        </p:nvCxnSpPr>
        <p:spPr bwMode="auto">
          <a:xfrm rot="10800000">
            <a:off x="5715000" y="4851400"/>
            <a:ext cx="1371600" cy="381000"/>
          </a:xfrm>
          <a:prstGeom prst="curvedConnector5">
            <a:avLst>
              <a:gd name="adj1" fmla="val 250000"/>
              <a:gd name="adj2" fmla="val 193333"/>
              <a:gd name="adj3" fmla="val -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295" name="Line 8"/>
          <p:cNvSpPr>
            <a:spLocks noChangeShapeType="1"/>
          </p:cNvSpPr>
          <p:nvPr/>
        </p:nvSpPr>
        <p:spPr bwMode="auto">
          <a:xfrm flipH="1" flipV="1">
            <a:off x="2895600" y="5054600"/>
            <a:ext cx="419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IE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4267200" y="4673600"/>
            <a:ext cx="238283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/>
              <a:t>Connection request</a:t>
            </a:r>
          </a:p>
        </p:txBody>
      </p:sp>
      <p:sp>
        <p:nvSpPr>
          <p:cNvPr id="12297" name="AutoShape 11"/>
          <p:cNvSpPr>
            <a:spLocks noChangeArrowheads="1"/>
          </p:cNvSpPr>
          <p:nvPr/>
        </p:nvSpPr>
        <p:spPr bwMode="auto">
          <a:xfrm rot="5400000">
            <a:off x="2059781" y="4823619"/>
            <a:ext cx="1214438" cy="4572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en-US"/>
              <a:t>port</a:t>
            </a:r>
          </a:p>
        </p:txBody>
      </p:sp>
    </p:spTree>
    <p:extLst>
      <p:ext uri="{BB962C8B-B14F-4D97-AF65-F5344CB8AC3E}">
        <p14:creationId xmlns:p14="http://schemas.microsoft.com/office/powerpoint/2010/main" val="735214043"/>
      </p:ext>
    </p:extLst>
  </p:cSld>
  <p:clrMapOvr>
    <a:masterClrMapping/>
  </p:clrMapOvr>
  <p:transition spd="slow" advTm="1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Socket Communication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b="1" dirty="0" smtClean="0"/>
              <a:t>If everything goes well, the server accepts the connection. 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 smtClean="0"/>
              <a:t>Upon acceptance, the server gets a new socket bound to a different port. 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 smtClean="0"/>
              <a:t>It needs a new socket (consequently a different port number) so that it can continue to listen to the original socket for connection requests while serving the connected client.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371600" y="4330700"/>
            <a:ext cx="6934200" cy="2222500"/>
            <a:chOff x="1371600" y="4254500"/>
            <a:chExt cx="6934200" cy="2222500"/>
          </a:xfrm>
        </p:grpSpPr>
        <p:sp>
          <p:nvSpPr>
            <p:cNvPr id="13316" name="Text Box 4"/>
            <p:cNvSpPr txBox="1">
              <a:spLocks noChangeArrowheads="1"/>
            </p:cNvSpPr>
            <p:nvPr/>
          </p:nvSpPr>
          <p:spPr bwMode="auto">
            <a:xfrm>
              <a:off x="1447800" y="4254500"/>
              <a:ext cx="1066800" cy="1320800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 typeface="Wingdings" pitchFamily="2" charset="2"/>
                <a:buNone/>
              </a:pPr>
              <a:endParaRPr lang="en-US" altLang="en-US" b="1"/>
            </a:p>
            <a:p>
              <a:pPr algn="just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en-US" b="1"/>
                <a:t>server</a:t>
              </a:r>
            </a:p>
            <a:p>
              <a:pPr algn="just" eaLnBrk="1" hangingPunct="1">
                <a:spcBef>
                  <a:spcPct val="50000"/>
                </a:spcBef>
                <a:buFont typeface="Wingdings" pitchFamily="2" charset="2"/>
                <a:buNone/>
              </a:pPr>
              <a:endParaRPr lang="en-US" altLang="en-US" b="1"/>
            </a:p>
          </p:txBody>
        </p:sp>
        <p:sp>
          <p:nvSpPr>
            <p:cNvPr id="13317" name="Text Box 5"/>
            <p:cNvSpPr txBox="1">
              <a:spLocks noChangeArrowheads="1"/>
            </p:cNvSpPr>
            <p:nvPr/>
          </p:nvSpPr>
          <p:spPr bwMode="auto">
            <a:xfrm>
              <a:off x="7086600" y="5295900"/>
              <a:ext cx="1219200" cy="406400"/>
            </a:xfrm>
            <a:prstGeom prst="rect">
              <a:avLst/>
            </a:prstGeom>
            <a:solidFill>
              <a:srgbClr val="FFFF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en-US" b="1"/>
                <a:t>Client</a:t>
              </a:r>
            </a:p>
          </p:txBody>
        </p:sp>
        <p:cxnSp>
          <p:nvCxnSpPr>
            <p:cNvPr id="13318" name="AutoShape 6"/>
            <p:cNvCxnSpPr>
              <a:cxnSpLocks noChangeShapeType="1"/>
              <a:stCxn id="13317" idx="1"/>
            </p:cNvCxnSpPr>
            <p:nvPr/>
          </p:nvCxnSpPr>
          <p:spPr bwMode="auto">
            <a:xfrm rot="10800000">
              <a:off x="5715000" y="5118100"/>
              <a:ext cx="1371600" cy="381000"/>
            </a:xfrm>
            <a:prstGeom prst="curvedConnector5">
              <a:avLst>
                <a:gd name="adj1" fmla="val 250000"/>
                <a:gd name="adj2" fmla="val 193333"/>
                <a:gd name="adj3" fmla="val -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319" name="Text Box 8"/>
            <p:cNvSpPr txBox="1">
              <a:spLocks noChangeArrowheads="1"/>
            </p:cNvSpPr>
            <p:nvPr/>
          </p:nvSpPr>
          <p:spPr bwMode="auto">
            <a:xfrm>
              <a:off x="3733800" y="5626100"/>
              <a:ext cx="1466850" cy="393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just" eaLnBrk="1" hangingPunct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en-US"/>
                <a:t>Connection</a:t>
              </a:r>
            </a:p>
          </p:txBody>
        </p:sp>
        <p:sp>
          <p:nvSpPr>
            <p:cNvPr id="13320" name="AutoShape 9"/>
            <p:cNvSpPr>
              <a:spLocks noChangeArrowheads="1"/>
            </p:cNvSpPr>
            <p:nvPr/>
          </p:nvSpPr>
          <p:spPr bwMode="auto">
            <a:xfrm rot="5400000">
              <a:off x="2135981" y="4658519"/>
              <a:ext cx="1214438" cy="45720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en-US"/>
                <a:t>port</a:t>
              </a:r>
            </a:p>
          </p:txBody>
        </p:sp>
        <p:sp>
          <p:nvSpPr>
            <p:cNvPr id="13321" name="Freeform 10"/>
            <p:cNvSpPr>
              <a:spLocks/>
            </p:cNvSpPr>
            <p:nvPr/>
          </p:nvSpPr>
          <p:spPr bwMode="auto">
            <a:xfrm>
              <a:off x="1981200" y="5549900"/>
              <a:ext cx="4572000" cy="927100"/>
            </a:xfrm>
            <a:custGeom>
              <a:avLst/>
              <a:gdLst>
                <a:gd name="T0" fmla="*/ 0 w 3216"/>
                <a:gd name="T1" fmla="*/ 2147483647 h 728"/>
                <a:gd name="T2" fmla="*/ 2147483647 w 3216"/>
                <a:gd name="T3" fmla="*/ 2147483647 h 728"/>
                <a:gd name="T4" fmla="*/ 2147483647 w 3216"/>
                <a:gd name="T5" fmla="*/ 2147483647 h 728"/>
                <a:gd name="T6" fmla="*/ 2147483647 w 3216"/>
                <a:gd name="T7" fmla="*/ 0 h 7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16" h="728">
                  <a:moveTo>
                    <a:pt x="0" y="384"/>
                  </a:moveTo>
                  <a:cubicBezTo>
                    <a:pt x="104" y="484"/>
                    <a:pt x="208" y="584"/>
                    <a:pt x="480" y="624"/>
                  </a:cubicBezTo>
                  <a:cubicBezTo>
                    <a:pt x="752" y="664"/>
                    <a:pt x="1176" y="728"/>
                    <a:pt x="1632" y="624"/>
                  </a:cubicBezTo>
                  <a:cubicBezTo>
                    <a:pt x="2088" y="520"/>
                    <a:pt x="2976" y="88"/>
                    <a:pt x="3216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IE"/>
            </a:p>
          </p:txBody>
        </p:sp>
        <p:sp>
          <p:nvSpPr>
            <p:cNvPr id="13322" name="AutoShape 11"/>
            <p:cNvSpPr>
              <a:spLocks noChangeArrowheads="1"/>
            </p:cNvSpPr>
            <p:nvPr/>
          </p:nvSpPr>
          <p:spPr bwMode="auto">
            <a:xfrm rot="10800000">
              <a:off x="1371600" y="5549900"/>
              <a:ext cx="1214438" cy="45720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lIns="90488" tIns="44450" rIns="90488" bIns="44450" anchor="ctr"/>
            <a:lstStyle/>
            <a:p>
              <a:endParaRPr lang="en-IE"/>
            </a:p>
          </p:txBody>
        </p:sp>
        <p:sp>
          <p:nvSpPr>
            <p:cNvPr id="13323" name="Text Box 12"/>
            <p:cNvSpPr txBox="1">
              <a:spLocks noChangeArrowheads="1"/>
            </p:cNvSpPr>
            <p:nvPr/>
          </p:nvSpPr>
          <p:spPr bwMode="auto">
            <a:xfrm>
              <a:off x="1674813" y="5551488"/>
              <a:ext cx="617537" cy="393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just" eaLnBrk="1" hangingPunct="1">
                <a:spcBef>
                  <a:spcPct val="20000"/>
                </a:spcBef>
                <a:buFont typeface="Wingdings" pitchFamily="2" charset="2"/>
                <a:buNone/>
              </a:pPr>
              <a:r>
                <a:rPr lang="en-US" altLang="en-US"/>
                <a:t>port</a:t>
              </a:r>
            </a:p>
          </p:txBody>
        </p:sp>
        <p:sp>
          <p:nvSpPr>
            <p:cNvPr id="13324" name="AutoShape 13"/>
            <p:cNvSpPr>
              <a:spLocks noChangeArrowheads="1"/>
            </p:cNvSpPr>
            <p:nvPr/>
          </p:nvSpPr>
          <p:spPr bwMode="auto">
            <a:xfrm rot="-5400000">
              <a:off x="6438900" y="5283200"/>
              <a:ext cx="838200" cy="45720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en-US"/>
                <a:t>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0921318"/>
      </p:ext>
    </p:extLst>
  </p:cSld>
  <p:clrMapOvr>
    <a:masterClrMapping/>
  </p:clrMapOvr>
  <p:transition spd="slow" advTm="1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Networking Classes in the JDK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5486400"/>
          </a:xfrm>
        </p:spPr>
        <p:txBody>
          <a:bodyPr/>
          <a:lstStyle/>
          <a:p>
            <a:r>
              <a:rPr lang="en-US" altLang="en-US" b="1" dirty="0" smtClean="0"/>
              <a:t>Through the classes in java.net, Java programs can use TCP or UDP to communicate over the Internet.</a:t>
            </a:r>
          </a:p>
          <a:p>
            <a:pPr lvl="1"/>
            <a:r>
              <a:rPr lang="en-US" altLang="en-US" b="1" dirty="0" smtClean="0"/>
              <a:t> The </a:t>
            </a:r>
            <a:r>
              <a:rPr lang="en-US" altLang="en-US" b="1" dirty="0" smtClean="0">
                <a:latin typeface="Courier New" pitchFamily="49" charset="0"/>
                <a:cs typeface="Courier New" pitchFamily="49" charset="0"/>
              </a:rPr>
              <a:t>URL, </a:t>
            </a:r>
            <a:r>
              <a:rPr lang="en-US" altLang="en-US" b="1" dirty="0" err="1" smtClean="0">
                <a:latin typeface="Courier New" pitchFamily="49" charset="0"/>
                <a:cs typeface="Courier New" pitchFamily="49" charset="0"/>
              </a:rPr>
              <a:t>URLConnection</a:t>
            </a:r>
            <a:r>
              <a:rPr lang="en-US" altLang="en-US" b="1" dirty="0" smtClean="0">
                <a:latin typeface="Courier New" pitchFamily="49" charset="0"/>
                <a:cs typeface="Courier New" pitchFamily="49" charset="0"/>
              </a:rPr>
              <a:t>, Socket,</a:t>
            </a:r>
            <a:r>
              <a:rPr lang="en-US" altLang="en-US" b="1" dirty="0" smtClean="0"/>
              <a:t> and </a:t>
            </a:r>
            <a:r>
              <a:rPr lang="en-US" altLang="en-US" b="1" dirty="0" err="1" smtClean="0">
                <a:latin typeface="Courier New" pitchFamily="49" charset="0"/>
                <a:cs typeface="Courier New" pitchFamily="49" charset="0"/>
              </a:rPr>
              <a:t>ServerSocket</a:t>
            </a:r>
            <a:r>
              <a:rPr lang="en-US" altLang="en-US" b="1" dirty="0" smtClean="0"/>
              <a:t> classes all use TCP to communicate over the network.</a:t>
            </a:r>
          </a:p>
          <a:p>
            <a:pPr lvl="1"/>
            <a:r>
              <a:rPr lang="en-US" altLang="en-US" b="1" dirty="0" smtClean="0"/>
              <a:t> The </a:t>
            </a:r>
            <a:r>
              <a:rPr lang="en-US" altLang="en-US" b="1" dirty="0" err="1" smtClean="0">
                <a:latin typeface="Courier New" pitchFamily="49" charset="0"/>
                <a:cs typeface="Courier New" pitchFamily="49" charset="0"/>
              </a:rPr>
              <a:t>DatagramPacket</a:t>
            </a:r>
            <a:r>
              <a:rPr lang="en-US" altLang="en-US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b="1" dirty="0" err="1" smtClean="0">
                <a:latin typeface="Courier New" pitchFamily="49" charset="0"/>
                <a:cs typeface="Courier New" pitchFamily="49" charset="0"/>
              </a:rPr>
              <a:t>DatagramSocket</a:t>
            </a:r>
            <a:r>
              <a:rPr lang="en-US" altLang="en-US" b="1" dirty="0" smtClean="0"/>
              <a:t>, and </a:t>
            </a:r>
            <a:r>
              <a:rPr lang="en-US" altLang="en-US" b="1" dirty="0" err="1" smtClean="0">
                <a:latin typeface="Courier New" pitchFamily="49" charset="0"/>
                <a:cs typeface="Courier New" pitchFamily="49" charset="0"/>
              </a:rPr>
              <a:t>MulticastSocket</a:t>
            </a:r>
            <a:r>
              <a:rPr lang="en-US" altLang="en-US" b="1" dirty="0" smtClean="0"/>
              <a:t> classes are for use with UDP. </a:t>
            </a:r>
          </a:p>
        </p:txBody>
      </p:sp>
    </p:spTree>
    <p:extLst>
      <p:ext uri="{BB962C8B-B14F-4D97-AF65-F5344CB8AC3E}">
        <p14:creationId xmlns:p14="http://schemas.microsoft.com/office/powerpoint/2010/main" val="56396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TCP/IP in Java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altLang="en-US" dirty="0" smtClean="0"/>
              <a:t>Accessing TCP/IP from Java is straightforward. The main functionality is in the following classes:</a:t>
            </a:r>
          </a:p>
          <a:p>
            <a:pPr lvl="1"/>
            <a:r>
              <a:rPr lang="en-US" altLang="en-US" dirty="0" err="1" smtClean="0">
                <a:latin typeface="Courier New" pitchFamily="49" charset="0"/>
                <a:cs typeface="Courier New" pitchFamily="49" charset="0"/>
              </a:rPr>
              <a:t>java.net.InetAddress</a:t>
            </a:r>
            <a:r>
              <a:rPr lang="en-US" altLang="en-US" dirty="0" smtClean="0"/>
              <a:t> : Represents an IP address (either IPv4 or IPv6) and has methods for performing DNS lookup.</a:t>
            </a:r>
          </a:p>
          <a:p>
            <a:pPr lvl="1"/>
            <a:r>
              <a:rPr lang="en-US" altLang="en-US" dirty="0" err="1" smtClean="0">
                <a:latin typeface="Courier New" pitchFamily="49" charset="0"/>
                <a:cs typeface="Courier New" pitchFamily="49" charset="0"/>
              </a:rPr>
              <a:t>java.net.Socket</a:t>
            </a:r>
            <a:r>
              <a:rPr lang="en-US" altLang="en-US" dirty="0" smtClean="0"/>
              <a:t> : Represents a TCP socket.</a:t>
            </a:r>
          </a:p>
          <a:p>
            <a:pPr lvl="1"/>
            <a:r>
              <a:rPr lang="en-US" altLang="en-US" dirty="0" err="1" smtClean="0">
                <a:latin typeface="Courier New" pitchFamily="49" charset="0"/>
                <a:cs typeface="Courier New" pitchFamily="49" charset="0"/>
              </a:rPr>
              <a:t>java.net.ServerSocket</a:t>
            </a:r>
            <a:r>
              <a:rPr lang="en-US" altLang="en-US" dirty="0" smtClean="0"/>
              <a:t> : Represents a server socket which is capable of waiting for requests from clients.</a:t>
            </a:r>
          </a:p>
        </p:txBody>
      </p:sp>
    </p:spTree>
    <p:extLst>
      <p:ext uri="{BB962C8B-B14F-4D97-AF65-F5344CB8AC3E}">
        <p14:creationId xmlns:p14="http://schemas.microsoft.com/office/powerpoint/2010/main" val="302235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/>
              <a:t>InetAddress</a:t>
            </a:r>
            <a:endParaRPr lang="en-IN" altLang="en-US" b="1" smtClean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mtClean="0"/>
              <a:t>The InetAddress class is used to encapsulate both the numerical IP address and the domain name for that address. </a:t>
            </a:r>
          </a:p>
          <a:p>
            <a:r>
              <a:rPr lang="en-IN" altLang="en-US" smtClean="0"/>
              <a:t>We interact with this class by using the name of an IP host, which is more convenient and understandable than its IP address. </a:t>
            </a:r>
          </a:p>
          <a:p>
            <a:r>
              <a:rPr lang="en-IN" altLang="en-US" smtClean="0"/>
              <a:t>The InetAddress class hides the number inside.</a:t>
            </a:r>
          </a:p>
        </p:txBody>
      </p:sp>
    </p:spTree>
    <p:extLst>
      <p:ext uri="{BB962C8B-B14F-4D97-AF65-F5344CB8AC3E}">
        <p14:creationId xmlns:p14="http://schemas.microsoft.com/office/powerpoint/2010/main" val="1197779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Java I/O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867400"/>
          </a:xfrm>
        </p:spPr>
        <p:txBody>
          <a:bodyPr>
            <a:normAutofit fontScale="92500" lnSpcReduction="10000"/>
          </a:bodyPr>
          <a:lstStyle/>
          <a:p>
            <a:r>
              <a:rPr lang="en-IE" sz="2800" b="1" dirty="0" smtClean="0"/>
              <a:t>Java </a:t>
            </a:r>
            <a:r>
              <a:rPr lang="en-IE" sz="2800" b="1" dirty="0"/>
              <a:t>I/O</a:t>
            </a:r>
            <a:r>
              <a:rPr lang="en-IE" sz="2800" dirty="0"/>
              <a:t> (Input and Output) is used </a:t>
            </a:r>
            <a:r>
              <a:rPr lang="en-IE" sz="2800" i="1" dirty="0"/>
              <a:t>to process the input</a:t>
            </a:r>
            <a:r>
              <a:rPr lang="en-IE" sz="2800" dirty="0"/>
              <a:t> and </a:t>
            </a:r>
            <a:r>
              <a:rPr lang="en-IE" sz="2800" i="1" dirty="0"/>
              <a:t>produce the output</a:t>
            </a:r>
            <a:r>
              <a:rPr lang="en-IE" sz="2800" dirty="0"/>
              <a:t>.</a:t>
            </a:r>
          </a:p>
          <a:p>
            <a:pPr lvl="1"/>
            <a:r>
              <a:rPr lang="en-IE" sz="2400" dirty="0"/>
              <a:t>Java uses the concept of stream to make I/O operation fast. </a:t>
            </a:r>
            <a:endParaRPr lang="en-IE" sz="2400" dirty="0" smtClean="0"/>
          </a:p>
          <a:p>
            <a:pPr lvl="1"/>
            <a:r>
              <a:rPr lang="en-IE" sz="2400" dirty="0" smtClean="0"/>
              <a:t>The </a:t>
            </a:r>
            <a:r>
              <a:rPr lang="en-IE" sz="2400" dirty="0"/>
              <a:t>java.io package contains all the classes required for input and output operations.</a:t>
            </a:r>
          </a:p>
          <a:p>
            <a:pPr lvl="1"/>
            <a:r>
              <a:rPr lang="en-IE" sz="2400" dirty="0"/>
              <a:t>We can perform </a:t>
            </a:r>
            <a:r>
              <a:rPr lang="en-IE" sz="2400" b="1" dirty="0"/>
              <a:t>file handling in java</a:t>
            </a:r>
            <a:r>
              <a:rPr lang="en-IE" sz="2400" dirty="0"/>
              <a:t> by Java I/O API.</a:t>
            </a:r>
          </a:p>
          <a:p>
            <a:r>
              <a:rPr lang="en-IE" sz="2800" dirty="0"/>
              <a:t>Stream</a:t>
            </a:r>
          </a:p>
          <a:p>
            <a:pPr lvl="1"/>
            <a:r>
              <a:rPr lang="en-IE" sz="2400" dirty="0"/>
              <a:t>A stream is a sequence of data</a:t>
            </a:r>
            <a:r>
              <a:rPr lang="en-IE" sz="2400" dirty="0" smtClean="0"/>
              <a:t>. In </a:t>
            </a:r>
            <a:r>
              <a:rPr lang="en-IE" sz="2400" dirty="0"/>
              <a:t>Java a stream is composed of bytes. It's called a stream because it is like a stream of water that continues to flow.</a:t>
            </a:r>
          </a:p>
          <a:p>
            <a:r>
              <a:rPr lang="en-IE" sz="2800" dirty="0"/>
              <a:t>In java</a:t>
            </a:r>
            <a:r>
              <a:rPr lang="en-IE" sz="2800" dirty="0" smtClean="0"/>
              <a:t>, 3 </a:t>
            </a:r>
            <a:r>
              <a:rPr lang="en-IE" sz="2800" dirty="0"/>
              <a:t>streams are created for us automatically. All these streams are attached with console.</a:t>
            </a:r>
          </a:p>
          <a:p>
            <a:pPr lvl="1"/>
            <a:r>
              <a:rPr lang="en-IE" sz="2400" b="1" dirty="0"/>
              <a:t>1) </a:t>
            </a:r>
            <a:r>
              <a:rPr lang="en-IE" sz="2400" b="1" dirty="0" err="1"/>
              <a:t>System.out</a:t>
            </a:r>
            <a:r>
              <a:rPr lang="en-IE" sz="2400" b="1" dirty="0"/>
              <a:t>: </a:t>
            </a:r>
            <a:r>
              <a:rPr lang="en-IE" sz="2400" dirty="0"/>
              <a:t>standard output stream</a:t>
            </a:r>
          </a:p>
          <a:p>
            <a:pPr lvl="1"/>
            <a:r>
              <a:rPr lang="en-IE" sz="2400" b="1" dirty="0"/>
              <a:t>2) System.in: </a:t>
            </a:r>
            <a:r>
              <a:rPr lang="en-IE" sz="2400" dirty="0"/>
              <a:t>standard input stream</a:t>
            </a:r>
          </a:p>
          <a:p>
            <a:pPr lvl="1"/>
            <a:r>
              <a:rPr lang="en-IE" sz="2400" b="1" dirty="0"/>
              <a:t>3) </a:t>
            </a:r>
            <a:r>
              <a:rPr lang="en-IE" sz="2400" b="1" dirty="0" err="1"/>
              <a:t>System.err</a:t>
            </a:r>
            <a:r>
              <a:rPr lang="en-IE" sz="2400" b="1" dirty="0"/>
              <a:t>: </a:t>
            </a:r>
            <a:r>
              <a:rPr lang="en-IE" sz="2400" dirty="0"/>
              <a:t>standard error stream</a:t>
            </a:r>
          </a:p>
        </p:txBody>
      </p:sp>
    </p:spTree>
    <p:extLst>
      <p:ext uri="{BB962C8B-B14F-4D97-AF65-F5344CB8AC3E}">
        <p14:creationId xmlns:p14="http://schemas.microsoft.com/office/powerpoint/2010/main" val="160932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altLang="en-US" dirty="0" smtClean="0"/>
              <a:t>I/O Streams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810000"/>
            <a:ext cx="9144000" cy="3048000"/>
          </a:xfrm>
        </p:spPr>
        <p:txBody>
          <a:bodyPr/>
          <a:lstStyle/>
          <a:p>
            <a:r>
              <a:rPr lang="en-IE" sz="2800" dirty="0" err="1"/>
              <a:t>OutputStream</a:t>
            </a:r>
            <a:endParaRPr lang="en-IE" sz="2800" dirty="0"/>
          </a:p>
          <a:p>
            <a:pPr lvl="1"/>
            <a:r>
              <a:rPr lang="en-IE" sz="2400" dirty="0"/>
              <a:t>Java application uses an output stream to write data to a destination, it may be a file, an array, peripheral device or socket.</a:t>
            </a:r>
          </a:p>
          <a:p>
            <a:r>
              <a:rPr lang="en-IE" sz="2800" dirty="0" err="1"/>
              <a:t>InputStream</a:t>
            </a:r>
            <a:endParaRPr lang="en-IE" sz="2800" dirty="0"/>
          </a:p>
          <a:p>
            <a:pPr lvl="1"/>
            <a:r>
              <a:rPr lang="en-IE" sz="2400" dirty="0" smtClean="0"/>
              <a:t>Java </a:t>
            </a:r>
            <a:r>
              <a:rPr lang="en-IE" sz="2400" dirty="0"/>
              <a:t>application uses an input stream to read data from a source, it may be a file, an array, peripheral device or socket</a:t>
            </a:r>
            <a:r>
              <a:rPr lang="en-IE" sz="2400" dirty="0" smtClean="0"/>
              <a:t>.</a:t>
            </a:r>
            <a:endParaRPr lang="en-IE" sz="2400" dirty="0"/>
          </a:p>
        </p:txBody>
      </p:sp>
      <p:pic>
        <p:nvPicPr>
          <p:cNvPr id="12290" name="Picture 2" descr="Java I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58888"/>
            <a:ext cx="7581900" cy="240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60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Output Streams</a:t>
            </a:r>
          </a:p>
        </p:txBody>
      </p:sp>
      <p:pic>
        <p:nvPicPr>
          <p:cNvPr id="13314" name="Picture 2" descr="Java output stream hierarch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85800"/>
            <a:ext cx="8029575" cy="312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082434"/>
              </p:ext>
            </p:extLst>
          </p:nvPr>
        </p:nvGraphicFramePr>
        <p:xfrm>
          <a:off x="0" y="4270728"/>
          <a:ext cx="9144000" cy="228247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834">
                <a:tc>
                  <a:txBody>
                    <a:bodyPr/>
                    <a:lstStyle/>
                    <a:p>
                      <a:pPr algn="l" fontAlgn="t"/>
                      <a:r>
                        <a:rPr lang="en-IE" sz="15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Method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B00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0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0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E" sz="15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Description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B00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0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0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268">
                <a:tc>
                  <a:txBody>
                    <a:bodyPr/>
                    <a:lstStyle/>
                    <a:p>
                      <a:pPr algn="just" fontAlgn="t"/>
                      <a:r>
                        <a:rPr lang="en-IE" sz="1500" b="0" i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1) public void write(int)throws IOException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E" sz="1500" b="0" i="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is used to write a byte to the current output stream.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268">
                <a:tc>
                  <a:txBody>
                    <a:bodyPr/>
                    <a:lstStyle/>
                    <a:p>
                      <a:pPr algn="just" fontAlgn="t"/>
                      <a:r>
                        <a:rPr lang="en-IE" sz="1500" b="0" i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2) public void write(byte[])throws IOException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E" sz="1500" b="0" i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is used to write an array of byte to the current output stream.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834">
                <a:tc>
                  <a:txBody>
                    <a:bodyPr/>
                    <a:lstStyle/>
                    <a:p>
                      <a:pPr algn="just" fontAlgn="t"/>
                      <a:r>
                        <a:rPr lang="en-IE" sz="1500" b="0" i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3) public void flush()throws IOException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E" sz="1500" b="0" i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flushes the current output stream.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268">
                <a:tc>
                  <a:txBody>
                    <a:bodyPr/>
                    <a:lstStyle/>
                    <a:p>
                      <a:pPr algn="just" fontAlgn="t"/>
                      <a:r>
                        <a:rPr lang="en-IE" sz="1500" b="0" i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4) public void close()throws IOException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E" sz="1500" b="0" i="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is used to close the current output stream.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54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Input Stream</a:t>
            </a:r>
          </a:p>
        </p:txBody>
      </p:sp>
      <p:pic>
        <p:nvPicPr>
          <p:cNvPr id="2" name="Picture 2" descr="Java input stream hierarch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8200"/>
            <a:ext cx="8029575" cy="312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144587"/>
              </p:ext>
            </p:extLst>
          </p:nvPr>
        </p:nvGraphicFramePr>
        <p:xfrm>
          <a:off x="0" y="4114800"/>
          <a:ext cx="9144000" cy="2435506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834">
                <a:tc>
                  <a:txBody>
                    <a:bodyPr/>
                    <a:lstStyle/>
                    <a:p>
                      <a:pPr algn="l" fontAlgn="t"/>
                      <a:r>
                        <a:rPr lang="en-IE" sz="15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Method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0C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E" sz="15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Description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0C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C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C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702">
                <a:tc>
                  <a:txBody>
                    <a:bodyPr/>
                    <a:lstStyle/>
                    <a:p>
                      <a:pPr algn="just" fontAlgn="t"/>
                      <a:r>
                        <a:rPr lang="en-IE" sz="1400" b="0" i="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1) public abstract </a:t>
                      </a:r>
                      <a:r>
                        <a:rPr lang="en-IE" sz="1400" b="0" i="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int</a:t>
                      </a:r>
                      <a:r>
                        <a:rPr lang="en-IE" sz="1400" b="0" i="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read()throws </a:t>
                      </a:r>
                      <a:r>
                        <a:rPr lang="en-IE" sz="1400" b="0" i="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IOException</a:t>
                      </a:r>
                      <a:endParaRPr lang="en-IE" sz="1400" b="0" i="0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E" sz="1400" b="0" i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reads the next byte of data from the input stream. It returns -1 at the end of file.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702">
                <a:tc>
                  <a:txBody>
                    <a:bodyPr/>
                    <a:lstStyle/>
                    <a:p>
                      <a:pPr algn="just" fontAlgn="t"/>
                      <a:r>
                        <a:rPr lang="en-IE" sz="1400" b="0" i="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2) public </a:t>
                      </a:r>
                      <a:r>
                        <a:rPr lang="en-IE" sz="1400" b="0" i="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int</a:t>
                      </a:r>
                      <a:r>
                        <a:rPr lang="en-IE" sz="1400" b="0" i="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available()throws </a:t>
                      </a:r>
                      <a:r>
                        <a:rPr lang="en-IE" sz="1400" b="0" i="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IOException</a:t>
                      </a:r>
                      <a:endParaRPr lang="en-IE" sz="1400" b="0" i="0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E" sz="1400" b="0" i="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returns an estimate of the number of bytes that can be read from the current input stream.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268">
                <a:tc>
                  <a:txBody>
                    <a:bodyPr/>
                    <a:lstStyle/>
                    <a:p>
                      <a:pPr algn="just" fontAlgn="t"/>
                      <a:r>
                        <a:rPr lang="en-IE" sz="1500" b="0" i="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3) public void close()throws </a:t>
                      </a:r>
                      <a:r>
                        <a:rPr lang="en-IE" sz="1500" b="0" i="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IOException</a:t>
                      </a:r>
                      <a:endParaRPr lang="en-IE" sz="1500" b="0" i="0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E" sz="1500" b="0" i="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is used to close the current input stream.</a:t>
                      </a:r>
                    </a:p>
                  </a:txBody>
                  <a:tcPr marL="40700" marR="40700" marT="40700" marB="4070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11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534400" cy="5562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 stream is a continuous group of data or a channel through which data travels from one point to another.</a:t>
            </a:r>
          </a:p>
          <a:p>
            <a:pPr>
              <a:lnSpc>
                <a:spcPct val="90000"/>
              </a:lnSpc>
            </a:pPr>
            <a:r>
              <a:rPr lang="en-US" dirty="0"/>
              <a:t>Two kinds </a:t>
            </a:r>
            <a:r>
              <a:rPr lang="en-US" dirty="0" smtClean="0"/>
              <a:t>of streams</a:t>
            </a:r>
            <a:r>
              <a:rPr lang="vi-VN" dirty="0"/>
              <a:t>: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Input stream receives data from a source into a program.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Output stream sends data to a destination from the program.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Streams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0C02E4-D9FC-4360-BB34-4DE867F266A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5" name="Picture 2" descr="Reading information into a program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43450"/>
            <a:ext cx="701040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Writing information from a program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675892"/>
            <a:ext cx="6781800" cy="216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4778056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4824" y="76200"/>
            <a:ext cx="8229600" cy="762000"/>
          </a:xfrm>
        </p:spPr>
        <p:txBody>
          <a:bodyPr/>
          <a:lstStyle/>
          <a:p>
            <a:r>
              <a:rPr lang="en-US" dirty="0"/>
              <a:t>I/O Stream, 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0C02E4-D9FC-4360-BB34-4DE867F266A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9" y="709612"/>
            <a:ext cx="9124951" cy="584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949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6" name="Rectangle 36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458200" cy="5257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800" dirty="0"/>
              <a:t>When a stream is read/written, others threads are blocked.</a:t>
            </a:r>
          </a:p>
          <a:p>
            <a:pPr eaLnBrk="1" hangingPunct="1"/>
            <a:r>
              <a:rPr lang="en-US" sz="2800" dirty="0"/>
              <a:t>Exception: while reading/writing in stream, errors may </a:t>
            </a:r>
            <a:r>
              <a:rPr lang="en-US" sz="2800" dirty="0" smtClean="0"/>
              <a:t>occur.  </a:t>
            </a:r>
            <a:r>
              <a:rPr lang="en-US" sz="2800" b="1" dirty="0" err="1">
                <a:solidFill>
                  <a:srgbClr val="FF0000"/>
                </a:solidFill>
                <a:latin typeface="Courier New" pitchFamily="49" charset="0"/>
              </a:rPr>
              <a:t>IOException</a:t>
            </a:r>
            <a:r>
              <a:rPr lang="en-US" sz="2800" dirty="0"/>
              <a:t> is thrown.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main(String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[])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IOException</a:t>
            </a:r>
            <a:endParaRPr lang="en-US" b="1" dirty="0">
              <a:solidFill>
                <a:srgbClr val="000000"/>
              </a:solidFill>
              <a:latin typeface="Consolas"/>
            </a:endParaRPr>
          </a:p>
          <a:p>
            <a:pPr lvl="1"/>
            <a:r>
              <a:rPr lang="en-US" sz="2400" dirty="0"/>
              <a:t>Using </a:t>
            </a:r>
            <a:r>
              <a:rPr lang="en-US" sz="2400" dirty="0">
                <a:latin typeface="Courier New" pitchFamily="49" charset="0"/>
              </a:rPr>
              <a:t>try/ catch</a:t>
            </a:r>
            <a:r>
              <a:rPr lang="en-US" sz="2400" dirty="0"/>
              <a:t> block:</a:t>
            </a:r>
          </a:p>
          <a:p>
            <a:pPr marL="109537" indent="0">
              <a:buNone/>
            </a:pPr>
            <a:r>
              <a:rPr lang="en-US" sz="2000" b="1" dirty="0">
                <a:solidFill>
                  <a:srgbClr val="7F0055"/>
                </a:solidFill>
                <a:latin typeface="Consolas"/>
              </a:rPr>
              <a:t>	</a:t>
            </a:r>
            <a:r>
              <a:rPr lang="en-US" sz="2800" b="1" dirty="0">
                <a:solidFill>
                  <a:srgbClr val="7F0055"/>
                </a:solidFill>
                <a:latin typeface="Consolas"/>
              </a:rPr>
              <a:t>try</a:t>
            </a:r>
            <a:r>
              <a:rPr lang="en-US" sz="28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109537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2800" i="1" dirty="0">
                <a:solidFill>
                  <a:srgbClr val="000000"/>
                </a:solidFill>
                <a:latin typeface="Consolas"/>
              </a:rPr>
              <a:t>copy(fi, </a:t>
            </a:r>
            <a:r>
              <a:rPr lang="en-US" sz="2800" i="1" dirty="0" err="1">
                <a:solidFill>
                  <a:srgbClr val="000000"/>
                </a:solidFill>
                <a:latin typeface="Consolas"/>
              </a:rPr>
              <a:t>fo</a:t>
            </a:r>
            <a:r>
              <a:rPr lang="en-US" sz="2800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109537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/>
              </a:rPr>
              <a:t>    	} </a:t>
            </a:r>
            <a:r>
              <a:rPr lang="en-US" sz="28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US" sz="28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sz="28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US" sz="2800" b="1" dirty="0">
                <a:solidFill>
                  <a:srgbClr val="000000"/>
                </a:solidFill>
                <a:latin typeface="Consolas"/>
              </a:rPr>
              <a:t> ex) </a:t>
            </a:r>
          </a:p>
          <a:p>
            <a:pPr marL="109537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nsolas"/>
              </a:rPr>
              <a:t>		{ </a:t>
            </a:r>
            <a:r>
              <a:rPr lang="en-US" sz="2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2800" i="1" dirty="0" err="1">
                <a:solidFill>
                  <a:srgbClr val="0000C0"/>
                </a:solidFill>
                <a:latin typeface="Consolas"/>
              </a:rPr>
              <a:t>err</a:t>
            </a:r>
            <a:r>
              <a:rPr lang="en-US" sz="2800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sz="2800" i="1" dirty="0">
                <a:solidFill>
                  <a:srgbClr val="000000"/>
                </a:solidFill>
                <a:latin typeface="Consolas"/>
              </a:rPr>
              <a:t>(ex);</a:t>
            </a:r>
            <a:r>
              <a:rPr lang="en-US" sz="2800" dirty="0">
                <a:solidFill>
                  <a:srgbClr val="000000"/>
                </a:solidFill>
                <a:latin typeface="Consolas"/>
              </a:rPr>
              <a:t> }</a:t>
            </a:r>
            <a:endParaRPr lang="en-US" dirty="0"/>
          </a:p>
          <a:p>
            <a:pPr marL="109537" indent="0" eaLnBrk="1" hangingPunct="1">
              <a:buNone/>
            </a:pPr>
            <a:endParaRPr lang="en-US" sz="2400" dirty="0"/>
          </a:p>
        </p:txBody>
      </p:sp>
      <p:sp>
        <p:nvSpPr>
          <p:cNvPr id="102435" name="Rectangle 3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Stream - exception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0C02E4-D9FC-4360-BB34-4DE867F266A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06029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Example </a:t>
            </a:r>
            <a:r>
              <a:rPr lang="en-US" dirty="0" err="1" smtClean="0"/>
              <a:t>Input/Output</a:t>
            </a:r>
            <a:r>
              <a:rPr lang="en-US" dirty="0" smtClean="0"/>
              <a:t> Stream</a:t>
            </a:r>
            <a:endParaRPr lang="en-US" dirty="0"/>
          </a:p>
        </p:txBody>
      </p:sp>
      <p:sp>
        <p:nvSpPr>
          <p:cNvPr id="97287" name="Rectangle 1031"/>
          <p:cNvSpPr>
            <a:spLocks noChangeArrowheads="1"/>
          </p:cNvSpPr>
          <p:nvPr/>
        </p:nvSpPr>
        <p:spPr bwMode="auto">
          <a:xfrm>
            <a:off x="152400" y="1703485"/>
            <a:ext cx="8839200" cy="4247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SimpleIO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public static void main(String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[])	{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		byte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bytearr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[] = new byte[30];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try 			{	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  	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System.out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.println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("Enter a line: ");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// Reads up to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bytes of data from the //input stream into an array of bytes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.read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(bytearr,0,30);</a:t>
            </a:r>
          </a:p>
          <a:p>
            <a:pPr>
              <a:tabLst>
                <a:tab pos="228600" algn="l"/>
                <a:tab pos="457200" algn="l"/>
                <a:tab pos="6858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  	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("The line typed was: ");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u="sng" dirty="0">
                <a:latin typeface="Courier New" pitchFamily="49" charset="0"/>
                <a:cs typeface="Courier New" pitchFamily="49" charset="0"/>
              </a:rPr>
              <a:t>	String </a:t>
            </a:r>
            <a:r>
              <a:rPr lang="en-US" u="sng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u="sng" dirty="0">
                <a:latin typeface="Courier New" pitchFamily="49" charset="0"/>
                <a:cs typeface="Courier New" pitchFamily="49" charset="0"/>
              </a:rPr>
              <a:t> = new String(</a:t>
            </a:r>
            <a:r>
              <a:rPr lang="en-US" u="sng" dirty="0" err="1">
                <a:latin typeface="Courier New" pitchFamily="49" charset="0"/>
                <a:cs typeface="Courier New" pitchFamily="49" charset="0"/>
              </a:rPr>
              <a:t>bytearr</a:t>
            </a:r>
            <a:r>
              <a:rPr lang="en-US" u="sng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err="1" smtClean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System.out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.println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	} catch(Exception e)	{ 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   		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System.err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.print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("Error occurred:" + e);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							}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	}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8717902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610600" cy="5373688"/>
          </a:xfrm>
        </p:spPr>
        <p:txBody>
          <a:bodyPr>
            <a:norm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/>
              <a:t>There are two main categories of streams in Java :</a:t>
            </a:r>
          </a:p>
          <a:p>
            <a:pPr lvl="1" eaLnBrk="1" hangingPunct="1">
              <a:buFont typeface="Wingdings" pitchFamily="2" charset="2"/>
              <a:buChar char="v"/>
            </a:pPr>
            <a:r>
              <a:rPr lang="en-US">
                <a:solidFill>
                  <a:srgbClr val="009900"/>
                </a:solidFill>
              </a:rPr>
              <a:t> Byte Streams </a:t>
            </a:r>
            <a:r>
              <a:rPr lang="en-US"/>
              <a:t>– </a:t>
            </a:r>
          </a:p>
          <a:p>
            <a:pPr marL="392113" lvl="1" indent="0" eaLnBrk="1" hangingPunct="1">
              <a:buNone/>
            </a:pPr>
            <a:r>
              <a:rPr lang="en-US"/>
              <a:t>Provide input/output method in </a:t>
            </a:r>
            <a:r>
              <a:rPr lang="en-US">
                <a:solidFill>
                  <a:srgbClr val="FF0000"/>
                </a:solidFill>
              </a:rPr>
              <a:t>byte</a:t>
            </a:r>
          </a:p>
          <a:p>
            <a:pPr marL="392113" lvl="1" indent="0" eaLnBrk="1" hangingPunct="1">
              <a:buNone/>
            </a:pPr>
            <a:r>
              <a:rPr lang="en-US"/>
              <a:t>InputStream and OutputStream classes are at the top of their hierarchy.</a:t>
            </a:r>
          </a:p>
          <a:p>
            <a:pPr lvl="1">
              <a:buFont typeface="Wingdings" pitchFamily="2" charset="2"/>
              <a:buChar char="v"/>
            </a:pPr>
            <a:r>
              <a:rPr lang="en-US"/>
              <a:t> </a:t>
            </a:r>
            <a:r>
              <a:rPr lang="en-US">
                <a:solidFill>
                  <a:srgbClr val="009900"/>
                </a:solidFill>
              </a:rPr>
              <a:t>Character Streams </a:t>
            </a:r>
            <a:r>
              <a:rPr lang="en-US"/>
              <a:t>– </a:t>
            </a:r>
          </a:p>
          <a:p>
            <a:pPr marL="392113" lvl="1" indent="0">
              <a:buNone/>
            </a:pPr>
            <a:r>
              <a:rPr lang="en-US"/>
              <a:t>Provide input/output method in </a:t>
            </a:r>
            <a:r>
              <a:rPr lang="en-US">
                <a:solidFill>
                  <a:srgbClr val="FF0000"/>
                </a:solidFill>
              </a:rPr>
              <a:t>character</a:t>
            </a:r>
            <a:r>
              <a:rPr lang="en-US"/>
              <a:t>.</a:t>
            </a:r>
          </a:p>
          <a:p>
            <a:pPr lvl="2" eaLnBrk="1" hangingPunct="1">
              <a:buFont typeface="Wingdings 2" pitchFamily="18" charset="2"/>
              <a:buNone/>
            </a:pPr>
            <a:endParaRPr lang="en-US"/>
          </a:p>
          <a:p>
            <a:pPr eaLnBrk="1" hangingPunct="1">
              <a:buFont typeface="Wingdings 2" pitchFamily="18" charset="2"/>
              <a:buNone/>
            </a:pPr>
            <a:endParaRPr lang="en-US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java.io package</a:t>
            </a:r>
          </a:p>
        </p:txBody>
      </p:sp>
    </p:spTree>
    <p:extLst>
      <p:ext uri="{BB962C8B-B14F-4D97-AF65-F5344CB8AC3E}">
        <p14:creationId xmlns:p14="http://schemas.microsoft.com/office/powerpoint/2010/main" val="4008200874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1342" y="152400"/>
            <a:ext cx="8769350" cy="762000"/>
          </a:xfrm>
          <a:gradFill flip="none" rotWithShape="1"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path path="shape">
              <a:fillToRect l="50000" t="50000" r="50000" b="50000"/>
            </a:path>
            <a:tileRect/>
          </a:gradFill>
          <a:extLst/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Hierarchy of classes and interfaces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225" y="1873250"/>
            <a:ext cx="9032875" cy="4603750"/>
            <a:chOff x="22225" y="1873250"/>
            <a:chExt cx="9032875" cy="4603750"/>
          </a:xfrm>
        </p:grpSpPr>
        <p:sp>
          <p:nvSpPr>
            <p:cNvPr id="67045" name="Line 485"/>
            <p:cNvSpPr>
              <a:spLocks noChangeShapeType="1"/>
            </p:cNvSpPr>
            <p:nvPr/>
          </p:nvSpPr>
          <p:spPr bwMode="auto">
            <a:xfrm>
              <a:off x="66675" y="2809875"/>
              <a:ext cx="619125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04" name="Rectangle 444"/>
            <p:cNvSpPr>
              <a:spLocks noChangeArrowheads="1"/>
            </p:cNvSpPr>
            <p:nvPr/>
          </p:nvSpPr>
          <p:spPr bwMode="auto">
            <a:xfrm>
              <a:off x="3733800" y="1873250"/>
              <a:ext cx="1143000" cy="38100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>
                  <a:solidFill>
                    <a:schemeClr val="bg1"/>
                  </a:solidFill>
                </a:rPr>
                <a:t>Object</a:t>
              </a:r>
            </a:p>
          </p:txBody>
        </p:sp>
        <p:sp>
          <p:nvSpPr>
            <p:cNvPr id="67006" name="Text Box 446">
              <a:hlinkClick r:id="" action="ppaction://noaction"/>
            </p:cNvPr>
            <p:cNvSpPr txBox="1">
              <a:spLocks noChangeArrowheads="1"/>
            </p:cNvSpPr>
            <p:nvPr/>
          </p:nvSpPr>
          <p:spPr bwMode="auto">
            <a:xfrm>
              <a:off x="2176463" y="2017713"/>
              <a:ext cx="528637" cy="36671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>
                  <a:solidFill>
                    <a:schemeClr val="bg1"/>
                  </a:solidFill>
                </a:rPr>
                <a:t>File</a:t>
              </a:r>
            </a:p>
          </p:txBody>
        </p:sp>
        <p:sp>
          <p:nvSpPr>
            <p:cNvPr id="67008" name="Text Box 448"/>
            <p:cNvSpPr txBox="1">
              <a:spLocks noChangeArrowheads="1"/>
            </p:cNvSpPr>
            <p:nvPr/>
          </p:nvSpPr>
          <p:spPr bwMode="auto">
            <a:xfrm>
              <a:off x="3352800" y="2635250"/>
              <a:ext cx="2030413" cy="36671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>
                  <a:solidFill>
                    <a:schemeClr val="bg1"/>
                  </a:solidFill>
                </a:rPr>
                <a:t>RandomAccessFile</a:t>
              </a:r>
            </a:p>
          </p:txBody>
        </p:sp>
        <p:sp>
          <p:nvSpPr>
            <p:cNvPr id="67009" name="Text Box 449">
              <a:hlinkClick r:id="rId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685800" y="2667000"/>
              <a:ext cx="1371600" cy="36988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DataInput</a:t>
              </a:r>
            </a:p>
          </p:txBody>
        </p:sp>
        <p:sp>
          <p:nvSpPr>
            <p:cNvPr id="67010" name="Text Box 450">
              <a:hlinkClick r:id="rId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6877050" y="2635250"/>
              <a:ext cx="1352550" cy="36671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DataOutput</a:t>
              </a:r>
            </a:p>
          </p:txBody>
        </p:sp>
        <p:sp>
          <p:nvSpPr>
            <p:cNvPr id="67012" name="Text Box 452"/>
            <p:cNvSpPr txBox="1">
              <a:spLocks noChangeArrowheads="1"/>
            </p:cNvSpPr>
            <p:nvPr/>
          </p:nvSpPr>
          <p:spPr bwMode="auto">
            <a:xfrm>
              <a:off x="304800" y="4987925"/>
              <a:ext cx="1200150" cy="641350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DataInput</a:t>
              </a:r>
            </a:p>
            <a:p>
              <a:pPr algn="ctr" eaLnBrk="1" hangingPunct="1"/>
              <a:r>
                <a:rPr lang="en-US" sz="1800"/>
                <a:t>Stream</a:t>
              </a:r>
            </a:p>
          </p:txBody>
        </p:sp>
        <p:sp>
          <p:nvSpPr>
            <p:cNvPr id="67013" name="Text Box 453"/>
            <p:cNvSpPr txBox="1">
              <a:spLocks noChangeArrowheads="1"/>
            </p:cNvSpPr>
            <p:nvPr/>
          </p:nvSpPr>
          <p:spPr bwMode="auto">
            <a:xfrm>
              <a:off x="1601788" y="4987925"/>
              <a:ext cx="1446212" cy="641350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Buffered</a:t>
              </a:r>
            </a:p>
            <a:p>
              <a:pPr algn="ctr" eaLnBrk="1" hangingPunct="1"/>
              <a:r>
                <a:rPr lang="en-US" sz="1800"/>
                <a:t>InputStream</a:t>
              </a:r>
            </a:p>
          </p:txBody>
        </p:sp>
        <p:sp>
          <p:nvSpPr>
            <p:cNvPr id="67014" name="Text Box 454"/>
            <p:cNvSpPr txBox="1">
              <a:spLocks noChangeArrowheads="1"/>
            </p:cNvSpPr>
            <p:nvPr/>
          </p:nvSpPr>
          <p:spPr bwMode="auto">
            <a:xfrm>
              <a:off x="3125788" y="4997450"/>
              <a:ext cx="1446212" cy="641350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LineNumber</a:t>
              </a:r>
            </a:p>
            <a:p>
              <a:pPr algn="ctr" eaLnBrk="1" hangingPunct="1"/>
              <a:r>
                <a:rPr lang="en-US" sz="1800"/>
                <a:t>InputStream</a:t>
              </a:r>
            </a:p>
          </p:txBody>
        </p:sp>
        <p:sp>
          <p:nvSpPr>
            <p:cNvPr id="67015" name="Text Box 455"/>
            <p:cNvSpPr txBox="1">
              <a:spLocks noChangeArrowheads="1"/>
            </p:cNvSpPr>
            <p:nvPr/>
          </p:nvSpPr>
          <p:spPr bwMode="auto">
            <a:xfrm>
              <a:off x="4649788" y="4997450"/>
              <a:ext cx="1446212" cy="641350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PushBack</a:t>
              </a:r>
            </a:p>
            <a:p>
              <a:pPr algn="ctr" eaLnBrk="1" hangingPunct="1"/>
              <a:r>
                <a:rPr lang="en-US" sz="1800"/>
                <a:t>InputStream</a:t>
              </a:r>
            </a:p>
          </p:txBody>
        </p:sp>
        <p:sp>
          <p:nvSpPr>
            <p:cNvPr id="67016" name="Text Box 456"/>
            <p:cNvSpPr txBox="1">
              <a:spLocks noChangeArrowheads="1"/>
            </p:cNvSpPr>
            <p:nvPr/>
          </p:nvSpPr>
          <p:spPr bwMode="auto">
            <a:xfrm>
              <a:off x="2771775" y="3952875"/>
              <a:ext cx="1495425" cy="641350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Filter</a:t>
              </a:r>
            </a:p>
            <a:p>
              <a:pPr algn="ctr" eaLnBrk="1" hangingPunct="1"/>
              <a:r>
                <a:rPr lang="en-US" sz="1800"/>
                <a:t>InputStream</a:t>
              </a:r>
            </a:p>
          </p:txBody>
        </p:sp>
        <p:sp>
          <p:nvSpPr>
            <p:cNvPr id="67017" name="Text Box 457">
              <a:hlinkClick r:id="rId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1524000" y="3259138"/>
              <a:ext cx="1446213" cy="36671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>
                  <a:solidFill>
                    <a:schemeClr val="bg1"/>
                  </a:solidFill>
                </a:rPr>
                <a:t>InputStream</a:t>
              </a:r>
            </a:p>
          </p:txBody>
        </p:sp>
        <p:sp>
          <p:nvSpPr>
            <p:cNvPr id="67018" name="Text Box 458">
              <a:hlinkClick r:id="rId4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1258888" y="3930650"/>
              <a:ext cx="1446212" cy="641350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ByteArray</a:t>
              </a:r>
            </a:p>
            <a:p>
              <a:pPr algn="ctr" eaLnBrk="1" hangingPunct="1"/>
              <a:r>
                <a:rPr lang="en-US" sz="1800"/>
                <a:t>InputStream</a:t>
              </a:r>
            </a:p>
          </p:txBody>
        </p:sp>
        <p:sp>
          <p:nvSpPr>
            <p:cNvPr id="67019" name="Text Box 459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103188" y="3952875"/>
              <a:ext cx="1071562" cy="641350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FileInput</a:t>
              </a:r>
            </a:p>
            <a:p>
              <a:pPr algn="ctr" eaLnBrk="1" hangingPunct="1"/>
              <a:r>
                <a:rPr lang="en-US" sz="1800"/>
                <a:t>Stream</a:t>
              </a:r>
            </a:p>
          </p:txBody>
        </p:sp>
        <p:sp>
          <p:nvSpPr>
            <p:cNvPr id="67020" name="Text Box 460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5770563" y="3267075"/>
              <a:ext cx="1598612" cy="36671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>
                  <a:solidFill>
                    <a:schemeClr val="bg1"/>
                  </a:solidFill>
                </a:rPr>
                <a:t>OutputStream</a:t>
              </a:r>
            </a:p>
          </p:txBody>
        </p:sp>
        <p:sp>
          <p:nvSpPr>
            <p:cNvPr id="67021" name="Text Box 461">
              <a:hlinkClick r:id="" action="ppaction://noaction"/>
            </p:cNvPr>
            <p:cNvSpPr txBox="1">
              <a:spLocks noChangeArrowheads="1"/>
            </p:cNvSpPr>
            <p:nvPr/>
          </p:nvSpPr>
          <p:spPr bwMode="auto">
            <a:xfrm>
              <a:off x="4373563" y="3952875"/>
              <a:ext cx="1223962" cy="641350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FileOutput</a:t>
              </a:r>
            </a:p>
            <a:p>
              <a:pPr algn="ctr" eaLnBrk="1" hangingPunct="1"/>
              <a:r>
                <a:rPr lang="en-US" sz="1800"/>
                <a:t>Stream</a:t>
              </a:r>
            </a:p>
          </p:txBody>
        </p:sp>
        <p:sp>
          <p:nvSpPr>
            <p:cNvPr id="67022" name="Text Box 462"/>
            <p:cNvSpPr txBox="1">
              <a:spLocks noChangeArrowheads="1"/>
            </p:cNvSpPr>
            <p:nvPr/>
          </p:nvSpPr>
          <p:spPr bwMode="auto">
            <a:xfrm>
              <a:off x="5667375" y="3943350"/>
              <a:ext cx="1598613" cy="641350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Filter</a:t>
              </a:r>
            </a:p>
            <a:p>
              <a:pPr algn="ctr" eaLnBrk="1" hangingPunct="1"/>
              <a:r>
                <a:rPr lang="en-US" sz="1800"/>
                <a:t>OutputStream</a:t>
              </a:r>
            </a:p>
          </p:txBody>
        </p:sp>
        <p:sp>
          <p:nvSpPr>
            <p:cNvPr id="67023" name="Text Box 463"/>
            <p:cNvSpPr txBox="1">
              <a:spLocks noChangeArrowheads="1"/>
            </p:cNvSpPr>
            <p:nvPr/>
          </p:nvSpPr>
          <p:spPr bwMode="auto">
            <a:xfrm>
              <a:off x="7339013" y="3943350"/>
              <a:ext cx="1598612" cy="641350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ByteArray</a:t>
              </a:r>
            </a:p>
            <a:p>
              <a:pPr algn="ctr" eaLnBrk="1" hangingPunct="1"/>
              <a:r>
                <a:rPr lang="en-US" sz="1800"/>
                <a:t>OutputStream</a:t>
              </a:r>
            </a:p>
          </p:txBody>
        </p:sp>
        <p:sp>
          <p:nvSpPr>
            <p:cNvPr id="67024" name="Text Box 464"/>
            <p:cNvSpPr txBox="1">
              <a:spLocks noChangeArrowheads="1"/>
            </p:cNvSpPr>
            <p:nvPr/>
          </p:nvSpPr>
          <p:spPr bwMode="auto">
            <a:xfrm>
              <a:off x="5335588" y="5835650"/>
              <a:ext cx="1598612" cy="641350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Buffered</a:t>
              </a:r>
            </a:p>
            <a:p>
              <a:pPr algn="ctr" eaLnBrk="1" hangingPunct="1"/>
              <a:r>
                <a:rPr lang="en-US" sz="1800"/>
                <a:t>OutputStream</a:t>
              </a:r>
            </a:p>
          </p:txBody>
        </p:sp>
        <p:sp>
          <p:nvSpPr>
            <p:cNvPr id="67025" name="Text Box 465"/>
            <p:cNvSpPr txBox="1">
              <a:spLocks noChangeArrowheads="1"/>
            </p:cNvSpPr>
            <p:nvPr/>
          </p:nvSpPr>
          <p:spPr bwMode="auto">
            <a:xfrm>
              <a:off x="7340600" y="5041900"/>
              <a:ext cx="1352550" cy="641350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DataOutput</a:t>
              </a:r>
            </a:p>
            <a:p>
              <a:pPr algn="ctr" eaLnBrk="1" hangingPunct="1"/>
              <a:r>
                <a:rPr lang="en-US" sz="1800"/>
                <a:t>Stream</a:t>
              </a:r>
            </a:p>
          </p:txBody>
        </p:sp>
        <p:sp>
          <p:nvSpPr>
            <p:cNvPr id="67026" name="Text Box 466"/>
            <p:cNvSpPr txBox="1">
              <a:spLocks noChangeArrowheads="1"/>
            </p:cNvSpPr>
            <p:nvPr/>
          </p:nvSpPr>
          <p:spPr bwMode="auto">
            <a:xfrm>
              <a:off x="7086600" y="5835650"/>
              <a:ext cx="903288" cy="641350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/>
              <a:r>
                <a:rPr lang="en-US" sz="1800"/>
                <a:t>Print</a:t>
              </a:r>
            </a:p>
            <a:p>
              <a:pPr algn="ctr" eaLnBrk="1" hangingPunct="1"/>
              <a:r>
                <a:rPr lang="en-US" sz="1800"/>
                <a:t>Stream</a:t>
              </a:r>
            </a:p>
          </p:txBody>
        </p:sp>
        <p:sp>
          <p:nvSpPr>
            <p:cNvPr id="67028" name="Line 468"/>
            <p:cNvSpPr>
              <a:spLocks noChangeShapeType="1"/>
            </p:cNvSpPr>
            <p:nvPr/>
          </p:nvSpPr>
          <p:spPr bwMode="auto">
            <a:xfrm flipH="1">
              <a:off x="2743200" y="2025650"/>
              <a:ext cx="990600" cy="260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29" name="Line 469"/>
            <p:cNvSpPr>
              <a:spLocks noChangeShapeType="1"/>
            </p:cNvSpPr>
            <p:nvPr/>
          </p:nvSpPr>
          <p:spPr bwMode="auto">
            <a:xfrm flipH="1">
              <a:off x="2057400" y="2178050"/>
              <a:ext cx="16764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30" name="Line 470"/>
            <p:cNvSpPr>
              <a:spLocks noChangeShapeType="1"/>
            </p:cNvSpPr>
            <p:nvPr/>
          </p:nvSpPr>
          <p:spPr bwMode="auto">
            <a:xfrm>
              <a:off x="4876800" y="2178050"/>
              <a:ext cx="16002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31" name="Line 471"/>
            <p:cNvSpPr>
              <a:spLocks noChangeShapeType="1"/>
            </p:cNvSpPr>
            <p:nvPr/>
          </p:nvSpPr>
          <p:spPr bwMode="auto">
            <a:xfrm>
              <a:off x="4267200" y="225425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35" name="Line 475"/>
            <p:cNvSpPr>
              <a:spLocks noChangeShapeType="1"/>
            </p:cNvSpPr>
            <p:nvPr/>
          </p:nvSpPr>
          <p:spPr bwMode="auto">
            <a:xfrm flipH="1">
              <a:off x="914400" y="4572000"/>
              <a:ext cx="2133600" cy="371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36" name="Line 476"/>
            <p:cNvSpPr>
              <a:spLocks noChangeShapeType="1"/>
            </p:cNvSpPr>
            <p:nvPr/>
          </p:nvSpPr>
          <p:spPr bwMode="auto">
            <a:xfrm>
              <a:off x="3581400" y="4572000"/>
              <a:ext cx="1600200" cy="371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37" name="Line 477"/>
            <p:cNvSpPr>
              <a:spLocks noChangeShapeType="1"/>
            </p:cNvSpPr>
            <p:nvPr/>
          </p:nvSpPr>
          <p:spPr bwMode="auto">
            <a:xfrm flipH="1">
              <a:off x="2362200" y="4572000"/>
              <a:ext cx="914400" cy="371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38" name="Line 478"/>
            <p:cNvSpPr>
              <a:spLocks noChangeShapeType="1"/>
            </p:cNvSpPr>
            <p:nvPr/>
          </p:nvSpPr>
          <p:spPr bwMode="auto">
            <a:xfrm>
              <a:off x="3429000" y="4572000"/>
              <a:ext cx="228600" cy="371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39" name="Line 479"/>
            <p:cNvSpPr>
              <a:spLocks noChangeShapeType="1"/>
            </p:cNvSpPr>
            <p:nvPr/>
          </p:nvSpPr>
          <p:spPr bwMode="auto">
            <a:xfrm flipH="1">
              <a:off x="5105400" y="3625850"/>
              <a:ext cx="1295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40" name="Line 480"/>
            <p:cNvSpPr>
              <a:spLocks noChangeShapeType="1"/>
            </p:cNvSpPr>
            <p:nvPr/>
          </p:nvSpPr>
          <p:spPr bwMode="auto">
            <a:xfrm>
              <a:off x="6553200" y="362585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41" name="Line 481"/>
            <p:cNvSpPr>
              <a:spLocks noChangeShapeType="1"/>
            </p:cNvSpPr>
            <p:nvPr/>
          </p:nvSpPr>
          <p:spPr bwMode="auto">
            <a:xfrm>
              <a:off x="6858000" y="3625850"/>
              <a:ext cx="1219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42" name="Line 482"/>
            <p:cNvSpPr>
              <a:spLocks noChangeShapeType="1"/>
            </p:cNvSpPr>
            <p:nvPr/>
          </p:nvSpPr>
          <p:spPr bwMode="auto">
            <a:xfrm>
              <a:off x="6781800" y="4616450"/>
              <a:ext cx="3810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43" name="Line 483"/>
            <p:cNvSpPr>
              <a:spLocks noChangeShapeType="1"/>
            </p:cNvSpPr>
            <p:nvPr/>
          </p:nvSpPr>
          <p:spPr bwMode="auto">
            <a:xfrm flipH="1">
              <a:off x="6400800" y="4616450"/>
              <a:ext cx="2286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44" name="Line 484"/>
            <p:cNvSpPr>
              <a:spLocks noChangeShapeType="1"/>
            </p:cNvSpPr>
            <p:nvPr/>
          </p:nvSpPr>
          <p:spPr bwMode="auto">
            <a:xfrm>
              <a:off x="6934200" y="4616450"/>
              <a:ext cx="9906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46" name="Line 486"/>
            <p:cNvSpPr>
              <a:spLocks noChangeShapeType="1"/>
            </p:cNvSpPr>
            <p:nvPr/>
          </p:nvSpPr>
          <p:spPr bwMode="auto">
            <a:xfrm>
              <a:off x="44450" y="2809875"/>
              <a:ext cx="0" cy="2568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49" name="Line 489"/>
            <p:cNvSpPr>
              <a:spLocks noChangeShapeType="1"/>
            </p:cNvSpPr>
            <p:nvPr/>
          </p:nvSpPr>
          <p:spPr bwMode="auto">
            <a:xfrm>
              <a:off x="22225" y="5302250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50" name="Line 490"/>
            <p:cNvSpPr>
              <a:spLocks noChangeShapeType="1"/>
            </p:cNvSpPr>
            <p:nvPr/>
          </p:nvSpPr>
          <p:spPr bwMode="auto">
            <a:xfrm>
              <a:off x="9032875" y="2787650"/>
              <a:ext cx="0" cy="2590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51" name="Line 491"/>
            <p:cNvSpPr>
              <a:spLocks noChangeShapeType="1"/>
            </p:cNvSpPr>
            <p:nvPr/>
          </p:nvSpPr>
          <p:spPr bwMode="auto">
            <a:xfrm flipH="1">
              <a:off x="8686800" y="5378450"/>
              <a:ext cx="368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52" name="Line 492"/>
            <p:cNvSpPr>
              <a:spLocks noChangeShapeType="1"/>
            </p:cNvSpPr>
            <p:nvPr/>
          </p:nvSpPr>
          <p:spPr bwMode="auto">
            <a:xfrm flipH="1">
              <a:off x="990600" y="3625850"/>
              <a:ext cx="1143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53" name="Line 493"/>
            <p:cNvSpPr>
              <a:spLocks noChangeShapeType="1"/>
            </p:cNvSpPr>
            <p:nvPr/>
          </p:nvSpPr>
          <p:spPr bwMode="auto">
            <a:xfrm>
              <a:off x="2286000" y="362585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54" name="Line 494"/>
            <p:cNvSpPr>
              <a:spLocks noChangeShapeType="1"/>
            </p:cNvSpPr>
            <p:nvPr/>
          </p:nvSpPr>
          <p:spPr bwMode="auto">
            <a:xfrm>
              <a:off x="2438400" y="3625850"/>
              <a:ext cx="914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55" name="Line 495"/>
            <p:cNvSpPr>
              <a:spLocks noChangeShapeType="1"/>
            </p:cNvSpPr>
            <p:nvPr/>
          </p:nvSpPr>
          <p:spPr bwMode="auto">
            <a:xfrm>
              <a:off x="1895475" y="2819400"/>
              <a:ext cx="144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56" name="Line 496"/>
            <p:cNvSpPr>
              <a:spLocks noChangeShapeType="1"/>
            </p:cNvSpPr>
            <p:nvPr/>
          </p:nvSpPr>
          <p:spPr bwMode="auto">
            <a:xfrm>
              <a:off x="5356225" y="2819400"/>
              <a:ext cx="15017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057" name="Line 497"/>
            <p:cNvSpPr>
              <a:spLocks noChangeShapeType="1"/>
            </p:cNvSpPr>
            <p:nvPr/>
          </p:nvSpPr>
          <p:spPr bwMode="auto">
            <a:xfrm>
              <a:off x="8229600" y="2819400"/>
              <a:ext cx="8159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3276600" y="2565400"/>
              <a:ext cx="2096294" cy="490538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1371600" y="3200400"/>
              <a:ext cx="1676400" cy="451643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15000" y="3152775"/>
              <a:ext cx="1676400" cy="499268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709215" y="2603500"/>
              <a:ext cx="1324769" cy="434975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6858000" y="2603500"/>
              <a:ext cx="1371600" cy="452438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>
              <a:off x="22225" y="3943350"/>
              <a:ext cx="1152525" cy="62865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>
              <a:off x="1238250" y="3949700"/>
              <a:ext cx="1466850" cy="67945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2762250" y="3968750"/>
              <a:ext cx="1504950" cy="64135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4368006" y="3911600"/>
              <a:ext cx="1229519" cy="67945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5657850" y="3923109"/>
              <a:ext cx="1612900" cy="686991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7331075" y="3952874"/>
              <a:ext cx="1606550" cy="695325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1533525" y="4902200"/>
              <a:ext cx="1514475" cy="727075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1959769" y="1940719"/>
              <a:ext cx="859631" cy="52070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193675" y="4997450"/>
              <a:ext cx="1330325" cy="631825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/>
            <p:nvPr/>
          </p:nvSpPr>
          <p:spPr>
            <a:xfrm>
              <a:off x="7239000" y="5035550"/>
              <a:ext cx="1454150" cy="64770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5268912" y="5816600"/>
              <a:ext cx="1676400" cy="66040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1020677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Methods of I/O Stream class:</a:t>
            </a:r>
          </a:p>
          <a:p>
            <a:pPr lvl="1"/>
            <a:r>
              <a:rPr lang="en-US" dirty="0"/>
              <a:t>Support sub classes</a:t>
            </a:r>
          </a:p>
          <a:p>
            <a:r>
              <a:rPr lang="en-US" dirty="0"/>
              <a:t>Sub Classes: (constructors, methods)</a:t>
            </a:r>
          </a:p>
          <a:p>
            <a:pPr lvl="1"/>
            <a:r>
              <a:rPr lang="en-US" dirty="0" err="1"/>
              <a:t>FileInputStream</a:t>
            </a:r>
            <a:r>
              <a:rPr lang="en-US" dirty="0"/>
              <a:t>, </a:t>
            </a:r>
            <a:r>
              <a:rPr lang="en-US" dirty="0" err="1" smtClean="0"/>
              <a:t>FileOutputStream</a:t>
            </a:r>
            <a:endParaRPr lang="en-US" dirty="0"/>
          </a:p>
          <a:p>
            <a:pPr lvl="1"/>
            <a:r>
              <a:rPr lang="en-US" dirty="0" err="1" smtClean="0"/>
              <a:t>ObjectInputStream</a:t>
            </a:r>
            <a:r>
              <a:rPr lang="en-US" dirty="0" smtClean="0"/>
              <a:t>, </a:t>
            </a:r>
            <a:r>
              <a:rPr lang="en-US" dirty="0" err="1" smtClean="0"/>
              <a:t>ObjectOutputStream</a:t>
            </a:r>
            <a:endParaRPr lang="en-US" dirty="0"/>
          </a:p>
          <a:p>
            <a:pPr lvl="1"/>
            <a:r>
              <a:rPr lang="en-US" dirty="0" err="1"/>
              <a:t>ByteArrayInputStream</a:t>
            </a:r>
            <a:r>
              <a:rPr lang="en-US" dirty="0"/>
              <a:t>, </a:t>
            </a:r>
            <a:r>
              <a:rPr lang="en-US" dirty="0" err="1"/>
              <a:t>ByteArrayOutputStream</a:t>
            </a:r>
            <a:endParaRPr lang="en-US" dirty="0"/>
          </a:p>
          <a:p>
            <a:pPr lvl="1"/>
            <a:r>
              <a:rPr lang="en-US" dirty="0" err="1"/>
              <a:t>FilterInputStream</a:t>
            </a:r>
            <a:r>
              <a:rPr lang="en-US" dirty="0"/>
              <a:t>, </a:t>
            </a:r>
            <a:r>
              <a:rPr lang="en-US" dirty="0" err="1"/>
              <a:t>FilterOutputStream</a:t>
            </a:r>
            <a:endParaRPr lang="en-US" dirty="0"/>
          </a:p>
          <a:p>
            <a:pPr lvl="2"/>
            <a:r>
              <a:rPr lang="en-US" dirty="0" err="1"/>
              <a:t>BufferedInputStream</a:t>
            </a:r>
            <a:r>
              <a:rPr lang="en-US" dirty="0"/>
              <a:t>, </a:t>
            </a:r>
            <a:r>
              <a:rPr lang="en-US" dirty="0" err="1" smtClean="0"/>
              <a:t>BufferedOutputStream</a:t>
            </a:r>
            <a:endParaRPr lang="en-US" dirty="0" smtClean="0"/>
          </a:p>
          <a:p>
            <a:pPr lvl="2"/>
            <a:r>
              <a:rPr lang="en-US" dirty="0" err="1" smtClean="0"/>
              <a:t>DataInputStream</a:t>
            </a:r>
            <a:r>
              <a:rPr lang="en-US" dirty="0" smtClean="0"/>
              <a:t>, </a:t>
            </a:r>
            <a:r>
              <a:rPr lang="en-US" dirty="0" err="1" smtClean="0"/>
              <a:t>DataOutputStream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I/O Stream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0C02E4-D9FC-4360-BB34-4DE867F266A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686800" cy="57912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It is used to read data from file.</a:t>
            </a:r>
          </a:p>
          <a:p>
            <a:pPr eaLnBrk="1" hangingPunct="1"/>
            <a:r>
              <a:rPr lang="en-US" dirty="0" smtClean="0"/>
              <a:t>Constructors </a:t>
            </a:r>
            <a:r>
              <a:rPr lang="en-US" dirty="0"/>
              <a:t>of this class :</a:t>
            </a:r>
          </a:p>
          <a:p>
            <a:pPr lvl="1" eaLnBrk="1" hangingPunct="1"/>
            <a:r>
              <a:rPr lang="en-US" b="1" dirty="0" err="1">
                <a:solidFill>
                  <a:srgbClr val="C00000"/>
                </a:solidFill>
                <a:latin typeface="Courier New" pitchFamily="49" charset="0"/>
              </a:rPr>
              <a:t>FileInputStream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(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String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filename)</a:t>
            </a:r>
            <a:r>
              <a:rPr lang="en-US" dirty="0">
                <a:latin typeface="Courier New" pitchFamily="49" charset="0"/>
              </a:rPr>
              <a:t>:</a:t>
            </a:r>
            <a:r>
              <a:rPr lang="en-US" dirty="0"/>
              <a:t> Creates an </a:t>
            </a:r>
            <a:r>
              <a:rPr lang="en-US" dirty="0" err="1">
                <a:latin typeface="Courier New" pitchFamily="49" charset="0"/>
              </a:rPr>
              <a:t>InputStream</a:t>
            </a:r>
            <a:r>
              <a:rPr lang="en-US" dirty="0"/>
              <a:t> that we can use to read bytes from a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dirty="0"/>
              <a:t> (string). </a:t>
            </a:r>
          </a:p>
          <a:p>
            <a:pPr lvl="1" eaLnBrk="1" hangingPunct="1"/>
            <a:r>
              <a:rPr lang="en-US" b="1" dirty="0" err="1">
                <a:solidFill>
                  <a:srgbClr val="C00000"/>
                </a:solidFill>
                <a:latin typeface="Courier New" pitchFamily="49" charset="0"/>
              </a:rPr>
              <a:t>FileInputStream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(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File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 filename)</a:t>
            </a:r>
            <a:r>
              <a:rPr lang="en-US" dirty="0">
                <a:latin typeface="Courier New" pitchFamily="49" charset="0"/>
              </a:rPr>
              <a:t>:</a:t>
            </a:r>
            <a:r>
              <a:rPr lang="en-US" dirty="0"/>
              <a:t> Creates an input stream that we can use to read bytes from a file where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dirty="0"/>
              <a:t> is a </a:t>
            </a:r>
            <a:r>
              <a:rPr lang="en-US" dirty="0">
                <a:latin typeface="Courier New" pitchFamily="49" charset="0"/>
              </a:rPr>
              <a:t>File</a:t>
            </a:r>
            <a:r>
              <a:rPr lang="en-US" dirty="0"/>
              <a:t> object. 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Exception: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</a:rPr>
              <a:t>FileNotFoundException</a:t>
            </a:r>
            <a:endParaRPr lang="en-US" b="1" dirty="0">
              <a:solidFill>
                <a:srgbClr val="C00000"/>
              </a:solidFill>
              <a:latin typeface="Courier New" pitchFamily="49" charset="0"/>
            </a:endParaRPr>
          </a:p>
          <a:p>
            <a:pPr lvl="1" eaLnBrk="1" hangingPunct="1"/>
            <a:endParaRPr lang="en-US" dirty="0"/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FileInputStream class</a:t>
            </a:r>
          </a:p>
        </p:txBody>
      </p:sp>
    </p:spTree>
    <p:extLst>
      <p:ext uri="{BB962C8B-B14F-4D97-AF65-F5344CB8AC3E}">
        <p14:creationId xmlns:p14="http://schemas.microsoft.com/office/powerpoint/2010/main" val="145849214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Ex: </a:t>
            </a:r>
            <a:r>
              <a:rPr lang="en-US" sz="3200">
                <a:latin typeface="Consolas"/>
              </a:rPr>
              <a:t>Read and display data from file</a:t>
            </a:r>
            <a:endParaRPr lang="en-US" sz="3200"/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285750" y="1371600"/>
            <a:ext cx="8553450" cy="37856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109537" indent="0">
              <a:buNone/>
            </a:pPr>
            <a:r>
              <a:rPr lang="en-US" sz="2000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java.io.FileInputStream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109537" indent="0">
              <a:buNone/>
            </a:pPr>
            <a:r>
              <a:rPr lang="en-US" sz="20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Read_Disp_File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main(String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[])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Exception {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FileInputStream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fis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FileInputStream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b="1" dirty="0">
                <a:solidFill>
                  <a:srgbClr val="2A00FF"/>
                </a:solidFill>
                <a:latin typeface="Consolas"/>
              </a:rPr>
              <a:t>"a.txt"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>
                <a:solidFill>
                  <a:srgbClr val="3F7F5F"/>
                </a:solidFill>
                <a:latin typeface="Consolas"/>
              </a:rPr>
              <a:t>// Read and display data (</a:t>
            </a:r>
            <a:r>
              <a:rPr lang="en-US" sz="2000" dirty="0" err="1">
                <a:solidFill>
                  <a:srgbClr val="3F7F5F"/>
                </a:solidFill>
                <a:latin typeface="Consolas"/>
              </a:rPr>
              <a:t>int</a:t>
            </a:r>
            <a:r>
              <a:rPr lang="en-US" sz="2000" dirty="0">
                <a:solidFill>
                  <a:srgbClr val="3F7F5F"/>
                </a:solidFill>
                <a:latin typeface="Consolas"/>
              </a:rPr>
              <a:t> type)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while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((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fis.read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()) != -1) {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2000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sz="2000" i="1" dirty="0" err="1">
                <a:solidFill>
                  <a:srgbClr val="000000"/>
                </a:solidFill>
                <a:latin typeface="Consolas"/>
              </a:rPr>
              <a:t>.print</a:t>
            </a:r>
            <a:r>
              <a:rPr lang="en-US" sz="2000" i="1" dirty="0" smtClean="0">
                <a:solidFill>
                  <a:srgbClr val="000000"/>
                </a:solidFill>
                <a:latin typeface="Consolas"/>
              </a:rPr>
              <a:t>((char)</a:t>
            </a:r>
            <a:r>
              <a:rPr lang="en-US" sz="2000" i="1" dirty="0" err="1" smtClean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2000" i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i="1" dirty="0">
                <a:solidFill>
                  <a:srgbClr val="000000"/>
                </a:solidFill>
                <a:latin typeface="Consolas"/>
              </a:rPr>
              <a:t>+ </a:t>
            </a:r>
            <a:r>
              <a:rPr lang="en-US" sz="2000" i="1" dirty="0">
                <a:solidFill>
                  <a:srgbClr val="2A00FF"/>
                </a:solidFill>
                <a:latin typeface="Consolas"/>
              </a:rPr>
              <a:t>" "</a:t>
            </a:r>
            <a:r>
              <a:rPr lang="en-US" sz="2000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fis.close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marL="109537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3244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58718"/>
          </a:xfrm>
        </p:spPr>
        <p:txBody>
          <a:bodyPr/>
          <a:lstStyle/>
          <a:p>
            <a:pPr eaLnBrk="1" hangingPunct="1"/>
            <a:r>
              <a:rPr lang="en-US" dirty="0"/>
              <a:t>Example: read from file</a:t>
            </a:r>
          </a:p>
        </p:txBody>
      </p:sp>
      <p:sp>
        <p:nvSpPr>
          <p:cNvPr id="20483" name="Rectangle 9"/>
          <p:cNvSpPr>
            <a:spLocks noChangeArrowheads="1"/>
          </p:cNvSpPr>
          <p:nvPr/>
        </p:nvSpPr>
        <p:spPr bwMode="auto">
          <a:xfrm>
            <a:off x="0" y="2647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9884" name="Rectangle 12"/>
          <p:cNvSpPr>
            <a:spLocks noChangeArrowheads="1"/>
          </p:cNvSpPr>
          <p:nvPr/>
        </p:nvSpPr>
        <p:spPr bwMode="auto">
          <a:xfrm>
            <a:off x="228600" y="838200"/>
            <a:ext cx="8686800" cy="553997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  <a:extLst/>
        </p:spPr>
        <p:txBody>
          <a:bodyPr wrap="square" lIns="91440" tIns="0" rIns="0" bIns="0" anchor="ctr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java.io.*;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FileDemo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main(String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[])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	Exception {</a:t>
            </a: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InputStream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f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FileInputStream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>
                <a:solidFill>
                  <a:srgbClr val="2A00FF"/>
                </a:solidFill>
                <a:latin typeface="Consolas"/>
              </a:rPr>
              <a:t>"a.txt"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size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f.available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i="1" dirty="0">
                <a:solidFill>
                  <a:srgbClr val="2A00FF"/>
                </a:solidFill>
                <a:latin typeface="Consolas"/>
              </a:rPr>
              <a:t>"Bytes available: "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 + size);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byte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[] buff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byte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[size];</a:t>
            </a: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f.read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(buff,0,size);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String s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String(buff);</a:t>
            </a: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(s);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f.close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eaLnBrk="0" hangingPunct="0"/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57600" y="4648200"/>
            <a:ext cx="5029200" cy="17266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while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f.available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 &gt; 0) { 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char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ch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= (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char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f.read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ch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183685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763000" cy="563880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2800" dirty="0" smtClean="0"/>
              <a:t>It is used to write data into file.</a:t>
            </a:r>
          </a:p>
          <a:p>
            <a:pPr>
              <a:lnSpc>
                <a:spcPct val="110000"/>
              </a:lnSpc>
            </a:pPr>
            <a:r>
              <a:rPr lang="en-US" sz="2800" dirty="0" smtClean="0"/>
              <a:t>Its </a:t>
            </a:r>
            <a:r>
              <a:rPr lang="en-US" sz="2800" dirty="0"/>
              <a:t>constructors are: </a:t>
            </a:r>
          </a:p>
          <a:p>
            <a:pPr lvl="1">
              <a:lnSpc>
                <a:spcPct val="110000"/>
              </a:lnSpc>
            </a:pPr>
            <a:r>
              <a:rPr lang="en-US" b="1" dirty="0" err="1">
                <a:solidFill>
                  <a:srgbClr val="009900"/>
                </a:solidFill>
                <a:latin typeface="Courier New" pitchFamily="49" charset="0"/>
              </a:rPr>
              <a:t>FileOutputStream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String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 filename) </a:t>
            </a:r>
            <a:r>
              <a:rPr lang="en-US" dirty="0"/>
              <a:t>: </a:t>
            </a:r>
            <a:endParaRPr lang="en-US" sz="3200" dirty="0"/>
          </a:p>
          <a:p>
            <a:pPr marL="392113" lvl="1" indent="0" eaLnBrk="1" hangingPunct="1">
              <a:lnSpc>
                <a:spcPct val="110000"/>
              </a:lnSpc>
              <a:buNone/>
            </a:pPr>
            <a:r>
              <a:rPr lang="en-US" sz="2600" dirty="0"/>
              <a:t>Creates an </a:t>
            </a:r>
            <a:r>
              <a:rPr lang="en-US" sz="2600" dirty="0" err="1">
                <a:latin typeface="Courier New" pitchFamily="49" charset="0"/>
              </a:rPr>
              <a:t>OutputStream</a:t>
            </a:r>
            <a:r>
              <a:rPr lang="en-US" sz="2600" dirty="0"/>
              <a:t>, to write bytes to a file.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b="1" dirty="0" err="1">
                <a:solidFill>
                  <a:srgbClr val="009900"/>
                </a:solidFill>
                <a:latin typeface="Courier New" pitchFamily="49" charset="0"/>
              </a:rPr>
              <a:t>FileOutputStream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File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 name) </a:t>
            </a:r>
            <a:r>
              <a:rPr lang="en-US" dirty="0"/>
              <a:t>: </a:t>
            </a:r>
          </a:p>
          <a:p>
            <a:pPr marL="392113" lvl="1" indent="0" eaLnBrk="1" hangingPunct="1">
              <a:lnSpc>
                <a:spcPct val="110000"/>
              </a:lnSpc>
              <a:buNone/>
            </a:pPr>
            <a:r>
              <a:rPr lang="en-US" sz="2600" dirty="0"/>
              <a:t>Creates an </a:t>
            </a:r>
            <a:r>
              <a:rPr lang="en-US" sz="2600" dirty="0" err="1">
                <a:latin typeface="Courier New" pitchFamily="49" charset="0"/>
              </a:rPr>
              <a:t>OutputStream</a:t>
            </a:r>
            <a:r>
              <a:rPr lang="en-US" sz="2600" dirty="0"/>
              <a:t>, to write bytes to a file.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b="1" dirty="0" err="1">
                <a:solidFill>
                  <a:srgbClr val="009900"/>
                </a:solidFill>
                <a:latin typeface="Courier New" pitchFamily="49" charset="0"/>
              </a:rPr>
              <a:t>FileOutputStream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(String filename, </a:t>
            </a:r>
            <a:r>
              <a:rPr lang="en-US" b="1" dirty="0" err="1">
                <a:solidFill>
                  <a:srgbClr val="009900"/>
                </a:solidFill>
                <a:latin typeface="Courier New" pitchFamily="49" charset="0"/>
              </a:rPr>
              <a:t>boolean</a:t>
            </a:r>
            <a:r>
              <a:rPr lang="en-US" b="1" dirty="0">
                <a:solidFill>
                  <a:srgbClr val="009900"/>
                </a:solidFill>
                <a:latin typeface="Courier New" pitchFamily="49" charset="0"/>
              </a:rPr>
              <a:t> flag) </a:t>
            </a:r>
            <a:r>
              <a:rPr lang="en-US" dirty="0">
                <a:latin typeface="Courier New" pitchFamily="49" charset="0"/>
              </a:rPr>
              <a:t>: </a:t>
            </a:r>
          </a:p>
          <a:p>
            <a:pPr marL="392113" lvl="1" indent="0" eaLnBrk="1" hangingPunct="1">
              <a:lnSpc>
                <a:spcPct val="110000"/>
              </a:lnSpc>
              <a:buNone/>
            </a:pPr>
            <a:r>
              <a:rPr lang="en-US" sz="2600" dirty="0"/>
              <a:t>Creates an </a:t>
            </a:r>
            <a:r>
              <a:rPr lang="en-US" sz="2600" dirty="0" err="1">
                <a:latin typeface="Courier New" pitchFamily="49" charset="0"/>
              </a:rPr>
              <a:t>OutputStream</a:t>
            </a:r>
            <a:r>
              <a:rPr lang="en-US" sz="2600" dirty="0"/>
              <a:t>, to write bytes to a file. If flag is true, file is opened in append mode.</a:t>
            </a:r>
          </a:p>
          <a:p>
            <a:pPr marL="392113" lvl="1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Exception: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</a:rPr>
              <a:t>FileNotFoundException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610600" cy="762000"/>
          </a:xfrm>
        </p:spPr>
        <p:txBody>
          <a:bodyPr/>
          <a:lstStyle/>
          <a:p>
            <a:pPr eaLnBrk="1" hangingPunct="1"/>
            <a:r>
              <a:rPr lang="en-US"/>
              <a:t>FileOutputStream class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0C02E4-D9FC-4360-BB34-4DE867F266A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79048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write data (bytes) to file</a:t>
            </a:r>
          </a:p>
        </p:txBody>
      </p:sp>
      <p:sp>
        <p:nvSpPr>
          <p:cNvPr id="83975" name="Rectangle 1031"/>
          <p:cNvSpPr>
            <a:spLocks noChangeArrowheads="1"/>
          </p:cNvSpPr>
          <p:nvPr/>
        </p:nvSpPr>
        <p:spPr bwMode="auto">
          <a:xfrm>
            <a:off x="0" y="1872019"/>
            <a:ext cx="8991600" cy="39703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import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java.io.*;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FileOutputDemo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main(String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[]) {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String 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2A00FF"/>
                </a:solidFill>
                <a:latin typeface="Consolas"/>
              </a:rPr>
              <a:t>“Testing file output stream"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dirty="0">
              <a:solidFill>
                <a:srgbClr val="000000"/>
              </a:solidFill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byte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b[] =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s.getBytes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try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u="sng" dirty="0" err="1">
                <a:solidFill>
                  <a:srgbClr val="000000"/>
                </a:solidFill>
                <a:latin typeface="Consolas"/>
              </a:rPr>
              <a:t>fos</a:t>
            </a:r>
            <a:r>
              <a:rPr lang="en-US" u="sng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1" u="sng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u="sng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u="sng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US" b="1" u="sng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u="sng" dirty="0">
                <a:solidFill>
                  <a:srgbClr val="2A00FF"/>
                </a:solidFill>
                <a:latin typeface="Consolas"/>
              </a:rPr>
              <a:t>"aa.txt"</a:t>
            </a:r>
            <a:r>
              <a:rPr lang="en-US" b="1" u="sng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fos.write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(b,0,b.</a:t>
            </a:r>
            <a:r>
              <a:rPr lang="en-US" dirty="0">
                <a:solidFill>
                  <a:srgbClr val="0000C0"/>
                </a:solidFill>
                <a:latin typeface="Consolas"/>
              </a:rPr>
              <a:t>length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b.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length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i="1" dirty="0">
                <a:solidFill>
                  <a:srgbClr val="2A00FF"/>
                </a:solidFill>
                <a:latin typeface="Consolas"/>
              </a:rPr>
              <a:t>" bytes are written!"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 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e) {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i="1" dirty="0">
                <a:solidFill>
                  <a:srgbClr val="2A00FF"/>
                </a:solidFill>
                <a:latin typeface="Consolas"/>
              </a:rPr>
              <a:t>"Error creating file!"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	}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  }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7768660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10600" cy="533400"/>
          </a:xfrm>
        </p:spPr>
        <p:txBody>
          <a:bodyPr/>
          <a:lstStyle/>
          <a:p>
            <a:r>
              <a:rPr lang="en-US" sz="2400">
                <a:effectLst/>
              </a:rPr>
              <a:t>Ex:Copy a file with read(byte[] data) and write(byte[] data)</a:t>
            </a:r>
            <a:endParaRPr lang="en-US" sz="2400"/>
          </a:p>
        </p:txBody>
      </p:sp>
      <p:sp>
        <p:nvSpPr>
          <p:cNvPr id="83975" name="Rectangle 1031"/>
          <p:cNvSpPr>
            <a:spLocks noChangeArrowheads="1"/>
          </p:cNvSpPr>
          <p:nvPr/>
        </p:nvSpPr>
        <p:spPr bwMode="auto">
          <a:xfrm>
            <a:off x="0" y="762000"/>
            <a:ext cx="9144000" cy="47089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en-US" sz="20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CopyFileTV_ex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throws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FileInputStream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fin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fout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2000" dirty="0">
                <a:solidFill>
                  <a:srgbClr val="3F7F5F"/>
                </a:solidFill>
                <a:latin typeface="Consolas"/>
              </a:rPr>
              <a:t>//  File fil = new File("a1.txt");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fin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FileInputStream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b="1" dirty="0">
                <a:solidFill>
                  <a:srgbClr val="2A00FF"/>
                </a:solidFill>
                <a:latin typeface="Consolas"/>
              </a:rPr>
              <a:t>"a1.txt"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);//or: (fil)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fout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b="1" dirty="0">
                <a:solidFill>
                  <a:srgbClr val="2A00FF"/>
                </a:solidFill>
                <a:latin typeface="Consolas"/>
              </a:rPr>
              <a:t>"xyz.txt"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byte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[] buffer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byte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[1024];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bytesRead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while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((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bytesRead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fin.read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(buffer)) &gt; 0)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fout.write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(buffer, 0,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bytesRead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fin.close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fout.close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  }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1031"/>
          <p:cNvSpPr>
            <a:spLocks noChangeArrowheads="1"/>
          </p:cNvSpPr>
          <p:nvPr/>
        </p:nvSpPr>
        <p:spPr bwMode="auto">
          <a:xfrm>
            <a:off x="5105400" y="4071342"/>
            <a:ext cx="4114800" cy="2862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r>
              <a:rPr lang="en-US" sz="20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size = 0;</a:t>
            </a:r>
          </a:p>
          <a:p>
            <a:r>
              <a:rPr lang="en-US" sz="2000" b="1" dirty="0">
                <a:solidFill>
                  <a:srgbClr val="7F0055"/>
                </a:solidFill>
                <a:latin typeface="Consolas"/>
              </a:rPr>
              <a:t>try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size = 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fin.available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2000" b="1" dirty="0">
                <a:solidFill>
                  <a:srgbClr val="7F0055"/>
                </a:solidFill>
                <a:latin typeface="Consolas"/>
              </a:rPr>
              <a:t>byte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[] b =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byte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[size];</a:t>
            </a:r>
          </a:p>
          <a:p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fin.read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(b,0,size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fout.write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(b,0,size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} </a:t>
            </a:r>
            <a:r>
              <a:rPr lang="en-US" sz="2000" b="1" dirty="0">
                <a:solidFill>
                  <a:srgbClr val="7F0055"/>
                </a:solidFill>
                <a:latin typeface="Consolas"/>
              </a:rPr>
              <a:t>catch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sz="2000" b="1" dirty="0" err="1">
                <a:solidFill>
                  <a:srgbClr val="000000"/>
                </a:solidFill>
                <a:latin typeface="Consolas"/>
              </a:rPr>
              <a:t>IOException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e) {</a:t>
            </a:r>
          </a:p>
          <a:p>
            <a:r>
              <a:rPr lang="en-US" sz="2000" dirty="0">
                <a:solidFill>
                  <a:srgbClr val="3F7F5F"/>
                </a:solidFill>
                <a:latin typeface="Consolas"/>
              </a:rPr>
              <a:t>// </a:t>
            </a:r>
            <a:r>
              <a:rPr lang="en-US" sz="2000" b="1" dirty="0">
                <a:solidFill>
                  <a:srgbClr val="7F9FBF"/>
                </a:solidFill>
                <a:latin typeface="Consolas"/>
              </a:rPr>
              <a:t>TODO</a:t>
            </a:r>
            <a:r>
              <a:rPr lang="en-US" sz="2000" b="1" dirty="0">
                <a:solidFill>
                  <a:srgbClr val="3F7F5F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e.printStackTrace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	}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0108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42D679B6F40C48B2519DEB851FE85E" ma:contentTypeVersion="0" ma:contentTypeDescription="Create a new document." ma:contentTypeScope="" ma:versionID="ca0eff15ccbfe079c26c4eccae0f3b9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EF1B678-3403-4310-8A9A-917F5DED8E74}"/>
</file>

<file path=customXml/itemProps2.xml><?xml version="1.0" encoding="utf-8"?>
<ds:datastoreItem xmlns:ds="http://schemas.openxmlformats.org/officeDocument/2006/customXml" ds:itemID="{051D5FD4-3125-4464-A201-ECE4B53E2360}"/>
</file>

<file path=customXml/itemProps3.xml><?xml version="1.0" encoding="utf-8"?>
<ds:datastoreItem xmlns:ds="http://schemas.openxmlformats.org/officeDocument/2006/customXml" ds:itemID="{ABEAAFF8-1B0A-454B-B4A8-A6641C2757CB}"/>
</file>

<file path=docProps/app.xml><?xml version="1.0" encoding="utf-8"?>
<Properties xmlns="http://schemas.openxmlformats.org/officeDocument/2006/extended-properties" xmlns:vt="http://schemas.openxmlformats.org/officeDocument/2006/docPropsVTypes">
  <TotalTime>3410</TotalTime>
  <Words>1305</Words>
  <Application>Microsoft Office PowerPoint</Application>
  <PresentationFormat>On-screen Show (4:3)</PresentationFormat>
  <Paragraphs>269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Consolas</vt:lpstr>
      <vt:lpstr>Courier New</vt:lpstr>
      <vt:lpstr>Tahoma</vt:lpstr>
      <vt:lpstr>times new roman</vt:lpstr>
      <vt:lpstr>verdana</vt:lpstr>
      <vt:lpstr>Wingdings</vt:lpstr>
      <vt:lpstr>Wingdings 2</vt:lpstr>
      <vt:lpstr>Office Theme</vt:lpstr>
      <vt:lpstr>Java I/O</vt:lpstr>
      <vt:lpstr>Sockets</vt:lpstr>
      <vt:lpstr>Socket Communication</vt:lpstr>
      <vt:lpstr>Socket Communication</vt:lpstr>
      <vt:lpstr>Networking Classes in the JDK</vt:lpstr>
      <vt:lpstr>TCP/IP in Java</vt:lpstr>
      <vt:lpstr>InetAddress</vt:lpstr>
      <vt:lpstr>Java I/O</vt:lpstr>
      <vt:lpstr>I/O Streams</vt:lpstr>
      <vt:lpstr>Output Streams</vt:lpstr>
      <vt:lpstr>Input Stream</vt:lpstr>
      <vt:lpstr>Streams</vt:lpstr>
      <vt:lpstr>I/O Stream, ex</vt:lpstr>
      <vt:lpstr>Stream - exception</vt:lpstr>
      <vt:lpstr>Example Input/Output Stream</vt:lpstr>
      <vt:lpstr>The java.io package</vt:lpstr>
      <vt:lpstr>Hierarchy of classes and interfaces</vt:lpstr>
      <vt:lpstr>I/O Stream Class</vt:lpstr>
      <vt:lpstr>FileInputStream class</vt:lpstr>
      <vt:lpstr>Ex: Read and display data from file</vt:lpstr>
      <vt:lpstr>Example: read from file</vt:lpstr>
      <vt:lpstr>FileOutputStream class</vt:lpstr>
      <vt:lpstr>Example: write data (bytes) to file</vt:lpstr>
      <vt:lpstr>Ex:Copy a file with read(byte[] data) and write(byte[] data)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Imran</dc:creator>
  <cp:lastModifiedBy>Adeel-ur-Rehman</cp:lastModifiedBy>
  <cp:revision>1529</cp:revision>
  <dcterms:created xsi:type="dcterms:W3CDTF">2016-10-08T12:39:52Z</dcterms:created>
  <dcterms:modified xsi:type="dcterms:W3CDTF">2019-09-26T10:57:10Z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0x0101008242D679B6F40C48B2519DEB851FE85E</vt:lpwstr>
  </property>
</Properties>
</file>