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7" r:id="rId2"/>
  </p:sldMasterIdLst>
  <p:notesMasterIdLst>
    <p:notesMasterId r:id="rId107"/>
  </p:notesMasterIdLst>
  <p:sldIdLst>
    <p:sldId id="380" r:id="rId3"/>
    <p:sldId id="262" r:id="rId4"/>
    <p:sldId id="264" r:id="rId5"/>
    <p:sldId id="265" r:id="rId6"/>
    <p:sldId id="260" r:id="rId7"/>
    <p:sldId id="266" r:id="rId8"/>
    <p:sldId id="267" r:id="rId9"/>
    <p:sldId id="268" r:id="rId10"/>
    <p:sldId id="272" r:id="rId11"/>
    <p:sldId id="269" r:id="rId12"/>
    <p:sldId id="271" r:id="rId13"/>
    <p:sldId id="379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4" r:id="rId24"/>
    <p:sldId id="285" r:id="rId25"/>
    <p:sldId id="289" r:id="rId26"/>
    <p:sldId id="286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4" r:id="rId41"/>
    <p:sldId id="305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  <p:sldId id="356" r:id="rId91"/>
    <p:sldId id="357" r:id="rId92"/>
    <p:sldId id="358" r:id="rId93"/>
    <p:sldId id="359" r:id="rId94"/>
    <p:sldId id="360" r:id="rId95"/>
    <p:sldId id="361" r:id="rId96"/>
    <p:sldId id="362" r:id="rId97"/>
    <p:sldId id="363" r:id="rId98"/>
    <p:sldId id="364" r:id="rId99"/>
    <p:sldId id="365" r:id="rId100"/>
    <p:sldId id="366" r:id="rId101"/>
    <p:sldId id="367" r:id="rId102"/>
    <p:sldId id="368" r:id="rId103"/>
    <p:sldId id="369" r:id="rId104"/>
    <p:sldId id="370" r:id="rId105"/>
    <p:sldId id="371" r:id="rId106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64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customXml" Target="../customXml/item1.xml"/><Relationship Id="rId16" Type="http://schemas.openxmlformats.org/officeDocument/2006/relationships/slide" Target="slides/slide14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customXml" Target="../customXml/item2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presProps" Target="pres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customXml" Target="../customXml/item3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viewProps" Target="viewProp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C61036-885E-436E-A351-249C824BACAF}" type="datetimeFigureOut">
              <a:rPr lang="en-IE" smtClean="0"/>
              <a:t>10/10/2024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692525"/>
            <a:ext cx="8045450" cy="34972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27E59-EB8C-4F5D-B78C-4EB8A05010D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544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43250" y="582613"/>
            <a:ext cx="3771900" cy="2914650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1577" y="3692421"/>
            <a:ext cx="7375249" cy="349731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3400" y="7315200"/>
            <a:ext cx="2313432" cy="38862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92187" y="2077720"/>
            <a:ext cx="3029585" cy="4269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533400" y="7315200"/>
            <a:ext cx="2313432" cy="38862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533400" y="7315200"/>
            <a:ext cx="2313432" cy="38862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980" y="343642"/>
            <a:ext cx="8982710" cy="6155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02920" y="1255819"/>
            <a:ext cx="8996680" cy="492443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4407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5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08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1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4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17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0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23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5AF71-02A3-46FB-8593-3D5F029059DF}" type="datetimeFigureOut">
              <a:rPr lang="en-IE" smtClean="0"/>
              <a:t>10/10/2024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08520" y="7203864"/>
            <a:ext cx="2346960" cy="413808"/>
          </a:xfrm>
          <a:prstGeom prst="rect">
            <a:avLst/>
          </a:prstGeom>
        </p:spPr>
        <p:txBody>
          <a:bodyPr/>
          <a:lstStyle/>
          <a:p>
            <a:fld id="{9284FB45-1ED6-41BB-A146-54B96BE78B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567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5AF71-02A3-46FB-8593-3D5F029059DF}" type="datetimeFigureOut">
              <a:rPr lang="en-IE" smtClean="0"/>
              <a:t>10/10/2024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08520" y="7203864"/>
            <a:ext cx="2346960" cy="413808"/>
          </a:xfrm>
          <a:prstGeom prst="rect">
            <a:avLst/>
          </a:prstGeom>
        </p:spPr>
        <p:txBody>
          <a:bodyPr/>
          <a:lstStyle/>
          <a:p>
            <a:fld id="{9284FB45-1ED6-41BB-A146-54B96BE78B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1690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813560"/>
            <a:ext cx="4442460" cy="5129425"/>
          </a:xfrm>
        </p:spPr>
        <p:txBody>
          <a:bodyPr/>
          <a:lstStyle>
            <a:lvl1pPr>
              <a:defRPr sz="3080"/>
            </a:lvl1pPr>
            <a:lvl2pPr>
              <a:defRPr sz="2640"/>
            </a:lvl2pPr>
            <a:lvl3pPr>
              <a:defRPr sz="2200"/>
            </a:lvl3pPr>
            <a:lvl4pPr>
              <a:defRPr sz="1980"/>
            </a:lvl4pPr>
            <a:lvl5pPr>
              <a:defRPr sz="1980"/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0" y="1813560"/>
            <a:ext cx="4442460" cy="5129425"/>
          </a:xfrm>
        </p:spPr>
        <p:txBody>
          <a:bodyPr/>
          <a:lstStyle>
            <a:lvl1pPr>
              <a:defRPr sz="3080"/>
            </a:lvl1pPr>
            <a:lvl2pPr>
              <a:defRPr sz="2640"/>
            </a:lvl2pPr>
            <a:lvl3pPr>
              <a:defRPr sz="2200"/>
            </a:lvl3pPr>
            <a:lvl4pPr>
              <a:defRPr sz="1980"/>
            </a:lvl4pPr>
            <a:lvl5pPr>
              <a:defRPr sz="1980"/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7446F-131F-49E8-9A09-B9D4006C8898}" type="datetimeFigureOut">
              <a:rPr lang="en-US"/>
              <a:pPr>
                <a:defRPr/>
              </a:pPr>
              <a:t>10/10/2024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08520" y="7203864"/>
            <a:ext cx="2346960" cy="41380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F6ED4-9845-4343-990B-CBA4C788D7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9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24199-4AE8-4982-A349-87F3A676B7DF}" type="datetimeFigureOut">
              <a:rPr lang="en-US"/>
              <a:pPr>
                <a:defRPr/>
              </a:pPr>
              <a:t>10/10/2024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08520" y="7203864"/>
            <a:ext cx="2346960" cy="41380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889AAC-6978-4CBA-88B1-850DFC801B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7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2462" y="82550"/>
            <a:ext cx="8873474" cy="984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5635" y="1473834"/>
            <a:ext cx="8787129" cy="3869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4343400" y="740306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B70204-EDD8-4F40-B112-ADA71852397D}" type="slidenum">
              <a:rPr lang="en-US" smtClean="0"/>
              <a:pPr algn="ctr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11256"/>
            <a:ext cx="905256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813560"/>
            <a:ext cx="9052560" cy="5129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7203864"/>
            <a:ext cx="2346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5AF71-02A3-46FB-8593-3D5F029059DF}" type="datetimeFigureOut">
              <a:rPr lang="en-IE" smtClean="0"/>
              <a:t>10/10/2024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36620" y="7203864"/>
            <a:ext cx="31851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TextBox 6"/>
          <p:cNvSpPr txBox="1"/>
          <p:nvPr userDrawn="1"/>
        </p:nvSpPr>
        <p:spPr>
          <a:xfrm>
            <a:off x="9304020" y="7340600"/>
            <a:ext cx="754380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61424CE-21A9-40ED-A480-F74D0252FFC4}" type="slidenum">
              <a:rPr lang="en-IE" sz="1980" smtClean="0"/>
              <a:pPr algn="r"/>
              <a:t>‹#›</a:t>
            </a:fld>
            <a:endParaRPr lang="en-IE" sz="1980" dirty="0"/>
          </a:p>
        </p:txBody>
      </p:sp>
    </p:spTree>
    <p:extLst>
      <p:ext uri="{BB962C8B-B14F-4D97-AF65-F5344CB8AC3E}">
        <p14:creationId xmlns:p14="http://schemas.microsoft.com/office/powerpoint/2010/main" val="3163793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</p:sldLayoutIdLst>
  <p:txStyles>
    <p:titleStyle>
      <a:lvl1pPr algn="ctr" defTabSz="1005840" rtl="0" eaLnBrk="1" latinLnBrk="0" hangingPunct="1">
        <a:spcBef>
          <a:spcPct val="0"/>
        </a:spcBef>
        <a:buNone/>
        <a:defRPr sz="484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77190" indent="-377190" algn="l" defTabSz="1005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520" kern="1200">
          <a:solidFill>
            <a:srgbClr val="C00000"/>
          </a:solidFill>
          <a:latin typeface="+mn-lt"/>
          <a:ea typeface="+mn-ea"/>
          <a:cs typeface="+mn-cs"/>
        </a:defRPr>
      </a:lvl1pPr>
      <a:lvl2pPr marL="817245" indent="-314325" algn="l" defTabSz="10058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080" kern="1200">
          <a:solidFill>
            <a:srgbClr val="FF0000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pk/java/technologies/downloads/" TargetMode="External"/><Relationship Id="rId2" Type="http://schemas.openxmlformats.org/officeDocument/2006/relationships/hyperlink" Target="https://docs.oracle.com/en/java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 Centric Programming</a:t>
            </a:r>
            <a:br>
              <a:rPr lang="en-US" dirty="0"/>
            </a:br>
            <a:r>
              <a:rPr lang="en-US" dirty="0"/>
              <a:t>Lecture 3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Adeel-ur-Rehman</a:t>
            </a:r>
            <a:endParaRPr lang="en-I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85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228600"/>
            <a:ext cx="396938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Java</a:t>
            </a:r>
            <a:r>
              <a:rPr spc="-125" dirty="0"/>
              <a:t> </a:t>
            </a:r>
            <a:r>
              <a:rPr spc="-45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1066800"/>
            <a:ext cx="9875518" cy="6627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Java acronyms are plentiful and confusing. Here are the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basics.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sz="1100" spc="-40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sz="1100" spc="-405" dirty="0">
                <a:solidFill>
                  <a:srgbClr val="330066"/>
                </a:solidFill>
                <a:latin typeface="Times New Roman"/>
                <a:cs typeface="Times New Roman"/>
              </a:rPr>
              <a:t>	</a:t>
            </a:r>
            <a:r>
              <a:rPr sz="1600" b="1" dirty="0">
                <a:latin typeface="Arial"/>
                <a:cs typeface="Arial"/>
              </a:rPr>
              <a:t>JVM </a:t>
            </a:r>
            <a:r>
              <a:rPr sz="1600" dirty="0">
                <a:latin typeface="Arial"/>
                <a:cs typeface="Arial"/>
              </a:rPr>
              <a:t>– Java </a:t>
            </a:r>
            <a:r>
              <a:rPr sz="1600" spc="-5" dirty="0">
                <a:latin typeface="Arial"/>
                <a:cs typeface="Arial"/>
              </a:rPr>
              <a:t>Virtual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Machine</a:t>
            </a:r>
          </a:p>
          <a:p>
            <a:pPr marL="355600">
              <a:lnSpc>
                <a:spcPct val="100000"/>
              </a:lnSpc>
              <a:spcBef>
                <a:spcPts val="70"/>
              </a:spcBef>
              <a:tabLst>
                <a:tab pos="702945" algn="l"/>
              </a:tabLst>
            </a:pPr>
            <a:r>
              <a:rPr sz="950" spc="-345" dirty="0">
                <a:solidFill>
                  <a:srgbClr val="669999"/>
                </a:solidFill>
                <a:latin typeface="Wingdings"/>
                <a:cs typeface="Wingdings"/>
              </a:rPr>
              <a:t></a:t>
            </a:r>
            <a:r>
              <a:rPr sz="950" spc="-345" dirty="0">
                <a:solidFill>
                  <a:srgbClr val="669999"/>
                </a:solidFill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Arial"/>
                <a:cs typeface="Arial"/>
              </a:rPr>
              <a:t>Translates </a:t>
            </a:r>
            <a:r>
              <a:rPr sz="1400" dirty="0">
                <a:latin typeface="Arial"/>
                <a:cs typeface="Arial"/>
              </a:rPr>
              <a:t>Java bytecode to machine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code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ts val="1905"/>
              </a:lnSpc>
              <a:tabLst>
                <a:tab pos="353695" algn="l"/>
              </a:tabLst>
            </a:pPr>
            <a:r>
              <a:rPr sz="1100" spc="-40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sz="1100" spc="-405" dirty="0">
                <a:solidFill>
                  <a:srgbClr val="330066"/>
                </a:solidFill>
                <a:latin typeface="Times New Roman"/>
                <a:cs typeface="Times New Roman"/>
              </a:rPr>
              <a:t>	</a:t>
            </a:r>
            <a:r>
              <a:rPr sz="1600" b="1" dirty="0">
                <a:latin typeface="Arial"/>
                <a:cs typeface="Arial"/>
              </a:rPr>
              <a:t>API </a:t>
            </a:r>
            <a:r>
              <a:rPr sz="1600" dirty="0">
                <a:latin typeface="Arial"/>
                <a:cs typeface="Arial"/>
              </a:rPr>
              <a:t>– Application Programming</a:t>
            </a:r>
            <a:r>
              <a:rPr sz="1600" spc="-1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Interface</a:t>
            </a:r>
          </a:p>
          <a:p>
            <a:pPr marL="355600">
              <a:lnSpc>
                <a:spcPts val="1664"/>
              </a:lnSpc>
              <a:tabLst>
                <a:tab pos="702945" algn="l"/>
              </a:tabLst>
            </a:pPr>
            <a:r>
              <a:rPr sz="950" spc="-345" dirty="0">
                <a:solidFill>
                  <a:srgbClr val="669999"/>
                </a:solidFill>
                <a:latin typeface="Wingdings"/>
                <a:cs typeface="Wingdings"/>
              </a:rPr>
              <a:t></a:t>
            </a:r>
            <a:r>
              <a:rPr sz="950" spc="-345" dirty="0">
                <a:solidFill>
                  <a:srgbClr val="669999"/>
                </a:solidFill>
                <a:latin typeface="Times New Roman"/>
                <a:cs typeface="Times New Roman"/>
              </a:rPr>
              <a:t>	</a:t>
            </a:r>
            <a:r>
              <a:rPr sz="1400" dirty="0">
                <a:latin typeface="Arial"/>
                <a:cs typeface="Arial"/>
              </a:rPr>
              <a:t>Java code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libraries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12700">
              <a:lnSpc>
                <a:spcPts val="1910"/>
              </a:lnSpc>
              <a:tabLst>
                <a:tab pos="353695" algn="l"/>
              </a:tabLst>
            </a:pPr>
            <a:r>
              <a:rPr sz="1100" spc="-40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sz="1100" spc="-405" dirty="0">
                <a:solidFill>
                  <a:srgbClr val="330066"/>
                </a:solidFill>
                <a:latin typeface="Times New Roman"/>
                <a:cs typeface="Times New Roman"/>
              </a:rPr>
              <a:t>	</a:t>
            </a:r>
            <a:r>
              <a:rPr sz="1600" b="1" dirty="0">
                <a:latin typeface="Arial"/>
                <a:cs typeface="Arial"/>
              </a:rPr>
              <a:t>JRE </a:t>
            </a:r>
            <a:r>
              <a:rPr sz="1600" dirty="0">
                <a:latin typeface="Arial"/>
                <a:cs typeface="Arial"/>
              </a:rPr>
              <a:t>– Java Runtime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Environment</a:t>
            </a:r>
          </a:p>
          <a:p>
            <a:pPr marL="355600">
              <a:lnSpc>
                <a:spcPts val="1910"/>
              </a:lnSpc>
              <a:tabLst>
                <a:tab pos="702945" algn="l"/>
              </a:tabLst>
            </a:pPr>
            <a:r>
              <a:rPr sz="1100" spc="-405" dirty="0">
                <a:solidFill>
                  <a:srgbClr val="669999"/>
                </a:solidFill>
                <a:latin typeface="Wingdings"/>
                <a:cs typeface="Wingdings"/>
              </a:rPr>
              <a:t></a:t>
            </a:r>
            <a:r>
              <a:rPr sz="1100" spc="-405" dirty="0">
                <a:solidFill>
                  <a:srgbClr val="669999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latin typeface="Arial"/>
                <a:cs typeface="Arial"/>
              </a:rPr>
              <a:t>The JVM and the Java API</a:t>
            </a:r>
            <a:r>
              <a:rPr sz="1600" spc="-1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together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ts val="1910"/>
              </a:lnSpc>
              <a:tabLst>
                <a:tab pos="353695" algn="l"/>
              </a:tabLst>
            </a:pPr>
            <a:r>
              <a:rPr sz="1100" spc="-40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sz="1100" spc="-405" dirty="0">
                <a:solidFill>
                  <a:srgbClr val="330066"/>
                </a:solidFill>
                <a:latin typeface="Times New Roman"/>
                <a:cs typeface="Times New Roman"/>
              </a:rPr>
              <a:t>	</a:t>
            </a:r>
            <a:r>
              <a:rPr sz="1600" b="1" dirty="0">
                <a:latin typeface="Arial"/>
                <a:cs typeface="Arial"/>
              </a:rPr>
              <a:t>JDK </a:t>
            </a:r>
            <a:r>
              <a:rPr sz="1600" dirty="0">
                <a:latin typeface="Arial"/>
                <a:cs typeface="Arial"/>
              </a:rPr>
              <a:t>(formerly SDK) – Java Development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Kit</a:t>
            </a:r>
          </a:p>
          <a:p>
            <a:pPr marL="355600">
              <a:lnSpc>
                <a:spcPts val="1910"/>
              </a:lnSpc>
              <a:tabLst>
                <a:tab pos="702945" algn="l"/>
              </a:tabLst>
            </a:pPr>
            <a:r>
              <a:rPr sz="1100" spc="-405" dirty="0">
                <a:solidFill>
                  <a:srgbClr val="669999"/>
                </a:solidFill>
                <a:latin typeface="Wingdings"/>
                <a:cs typeface="Wingdings"/>
              </a:rPr>
              <a:t></a:t>
            </a:r>
            <a:r>
              <a:rPr sz="1100" spc="-405" dirty="0">
                <a:solidFill>
                  <a:srgbClr val="669999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latin typeface="Arial"/>
                <a:cs typeface="Arial"/>
              </a:rPr>
              <a:t>JRE + tools </a:t>
            </a:r>
            <a:r>
              <a:rPr sz="1600" spc="-10" dirty="0">
                <a:latin typeface="Arial"/>
                <a:cs typeface="Arial"/>
              </a:rPr>
              <a:t>(compiler, </a:t>
            </a:r>
            <a:r>
              <a:rPr sz="1600" dirty="0">
                <a:latin typeface="Arial"/>
                <a:cs typeface="Arial"/>
              </a:rPr>
              <a:t>debugger) for developing Java applications and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applets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ts val="1910"/>
              </a:lnSpc>
              <a:tabLst>
                <a:tab pos="353695" algn="l"/>
              </a:tabLst>
            </a:pPr>
            <a:r>
              <a:rPr sz="1100" spc="-40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sz="1100" spc="-405" dirty="0">
                <a:solidFill>
                  <a:srgbClr val="330066"/>
                </a:solidFill>
                <a:latin typeface="Times New Roman"/>
                <a:cs typeface="Times New Roman"/>
              </a:rPr>
              <a:t>	</a:t>
            </a:r>
            <a:r>
              <a:rPr sz="1600" b="1" dirty="0">
                <a:latin typeface="Arial"/>
                <a:cs typeface="Arial"/>
              </a:rPr>
              <a:t>J2SE </a:t>
            </a:r>
            <a:r>
              <a:rPr lang="en-US" sz="1600" b="1" dirty="0">
                <a:latin typeface="Arial"/>
                <a:cs typeface="Arial"/>
              </a:rPr>
              <a:t>or Java SE </a:t>
            </a:r>
            <a:r>
              <a:rPr sz="1600" dirty="0">
                <a:latin typeface="Arial"/>
                <a:cs typeface="Arial"/>
              </a:rPr>
              <a:t>– Java 2 Platform, Standard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Edition</a:t>
            </a:r>
          </a:p>
          <a:p>
            <a:pPr marL="355600">
              <a:lnSpc>
                <a:spcPts val="1910"/>
              </a:lnSpc>
              <a:tabLst>
                <a:tab pos="702945" algn="l"/>
              </a:tabLst>
            </a:pPr>
            <a:r>
              <a:rPr sz="1100" spc="-405" dirty="0">
                <a:solidFill>
                  <a:srgbClr val="669999"/>
                </a:solidFill>
                <a:latin typeface="Wingdings"/>
                <a:cs typeface="Wingdings"/>
              </a:rPr>
              <a:t></a:t>
            </a:r>
            <a:r>
              <a:rPr sz="1100" spc="-405" dirty="0">
                <a:solidFill>
                  <a:srgbClr val="669999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latin typeface="Arial"/>
                <a:cs typeface="Arial"/>
              </a:rPr>
              <a:t>The JRE and JDK products taken as a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“family”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sz="1100" spc="-40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sz="1100" spc="-405" dirty="0">
                <a:solidFill>
                  <a:srgbClr val="330066"/>
                </a:solidFill>
                <a:latin typeface="Times New Roman"/>
                <a:cs typeface="Times New Roman"/>
              </a:rPr>
              <a:t>	</a:t>
            </a:r>
            <a:r>
              <a:rPr sz="1600" spc="-90" dirty="0">
                <a:latin typeface="Arial"/>
                <a:cs typeface="Arial"/>
              </a:rPr>
              <a:t>To </a:t>
            </a:r>
            <a:r>
              <a:rPr sz="1600" dirty="0">
                <a:latin typeface="Arial"/>
                <a:cs typeface="Arial"/>
              </a:rPr>
              <a:t>learn more about J</a:t>
            </a:r>
            <a:r>
              <a:rPr lang="en-US" sz="1600" dirty="0">
                <a:latin typeface="Arial"/>
                <a:cs typeface="Arial"/>
              </a:rPr>
              <a:t>ava Platforms</a:t>
            </a:r>
            <a:r>
              <a:rPr sz="1600" spc="-5" dirty="0">
                <a:latin typeface="Arial"/>
                <a:cs typeface="Arial"/>
              </a:rPr>
              <a:t>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visit:</a:t>
            </a:r>
          </a:p>
          <a:p>
            <a:pPr marL="1950085">
              <a:lnSpc>
                <a:spcPct val="100000"/>
              </a:lnSpc>
              <a:spcBef>
                <a:spcPts val="1080"/>
              </a:spcBef>
            </a:pPr>
            <a:r>
              <a:rPr lang="en-US" sz="1600" dirty="0">
                <a:hlinkClick r:id="rId2"/>
              </a:rPr>
              <a:t>https://docs.oracle.com/en/java/</a:t>
            </a:r>
            <a:endParaRPr lang="en-US" sz="1600" spc="-5" dirty="0">
              <a:solidFill>
                <a:srgbClr val="3333CC"/>
              </a:solidFill>
              <a:latin typeface="Arial"/>
              <a:cs typeface="Arial"/>
            </a:endParaRPr>
          </a:p>
          <a:p>
            <a:pPr marL="349250" indent="-349250">
              <a:spcBef>
                <a:spcPts val="1080"/>
              </a:spcBef>
            </a:pPr>
            <a:r>
              <a:rPr lang="en-IE" sz="1100" spc="-40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lang="en-IE" sz="1600" spc="-405" dirty="0">
                <a:solidFill>
                  <a:srgbClr val="330066"/>
                </a:solidFill>
                <a:latin typeface="Times New Roman"/>
                <a:cs typeface="Times New Roman"/>
              </a:rPr>
              <a:t>	</a:t>
            </a:r>
            <a:r>
              <a:rPr lang="en-IE" sz="1600" dirty="0">
                <a:latin typeface="Arial"/>
                <a:cs typeface="Arial"/>
              </a:rPr>
              <a:t>We’ll use one of the latest stable Java version, e.g. Java 23 or Java 21. </a:t>
            </a:r>
            <a:r>
              <a:rPr lang="en-US" sz="1600" dirty="0">
                <a:latin typeface="Arial"/>
                <a:cs typeface="Arial"/>
              </a:rPr>
              <a:t>Download </a:t>
            </a:r>
            <a:r>
              <a:rPr lang="en-IE" sz="1600" dirty="0">
                <a:latin typeface="Arial"/>
                <a:cs typeface="Arial"/>
              </a:rPr>
              <a:t>Java SE Development Kit</a:t>
            </a:r>
            <a:r>
              <a:rPr lang="en-US" sz="1600" dirty="0">
                <a:latin typeface="Arial"/>
                <a:cs typeface="Arial"/>
              </a:rPr>
              <a:t> from following link. </a:t>
            </a:r>
          </a:p>
          <a:p>
            <a:pPr marL="349250" indent="-349250">
              <a:spcBef>
                <a:spcPts val="1080"/>
              </a:spcBef>
            </a:pPr>
            <a:r>
              <a:rPr lang="en-US" sz="1600" b="1" dirty="0">
                <a:latin typeface="Arial"/>
                <a:cs typeface="Arial"/>
              </a:rPr>
              <a:t>			  </a:t>
            </a:r>
            <a:r>
              <a:rPr lang="en-US" sz="1600" dirty="0">
                <a:hlinkClick r:id="rId3"/>
              </a:rPr>
              <a:t>https://www.oracle.com/pk/java/technologies/downloads/</a:t>
            </a:r>
            <a:endParaRPr lang="en-US" sz="1600" dirty="0"/>
          </a:p>
          <a:p>
            <a:pPr marL="349250" indent="-349250" algn="ctr">
              <a:spcBef>
                <a:spcPts val="1080"/>
              </a:spcBef>
            </a:pPr>
            <a:endParaRPr lang="en-IE" sz="1600" b="1" dirty="0">
              <a:latin typeface="Arial"/>
              <a:cs typeface="Arial"/>
            </a:endParaRPr>
          </a:p>
          <a:p>
            <a:pPr marL="1950085">
              <a:lnSpc>
                <a:spcPct val="100000"/>
              </a:lnSpc>
              <a:spcBef>
                <a:spcPts val="1080"/>
              </a:spcBef>
            </a:pP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5099" y="800100"/>
            <a:ext cx="3667760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28700" algn="l"/>
                <a:tab pos="2807970" algn="l"/>
              </a:tabLst>
            </a:pPr>
            <a:r>
              <a:rPr spc="-5" dirty="0"/>
              <a:t>T</a:t>
            </a:r>
            <a:r>
              <a:rPr dirty="0"/>
              <a:t>he	Eclipse	</a:t>
            </a:r>
            <a:r>
              <a:rPr spc="-5" dirty="0"/>
              <a:t>I</a:t>
            </a:r>
            <a:r>
              <a:rPr dirty="0"/>
              <a:t>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2191877"/>
            <a:ext cx="7412355" cy="3130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5080" indent="-330200">
              <a:lnSpc>
                <a:spcPct val="79900"/>
              </a:lnSpc>
              <a:buChar char="•"/>
              <a:tabLst>
                <a:tab pos="353695" algn="l"/>
                <a:tab pos="354330" algn="l"/>
              </a:tabLst>
            </a:pPr>
            <a:r>
              <a:rPr sz="2400" dirty="0">
                <a:latin typeface="Arial"/>
                <a:cs typeface="Arial"/>
              </a:rPr>
              <a:t>An </a:t>
            </a:r>
            <a:r>
              <a:rPr sz="2400" b="1" i="1" dirty="0">
                <a:latin typeface="Arial"/>
                <a:cs typeface="Arial"/>
              </a:rPr>
              <a:t>integrated development environment (IDE)</a:t>
            </a:r>
            <a:r>
              <a:rPr sz="2400" b="1" i="1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  writing Java programs. Contains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(minimally):</a:t>
            </a:r>
          </a:p>
          <a:p>
            <a:pPr marL="355600">
              <a:lnSpc>
                <a:spcPct val="100000"/>
              </a:lnSpc>
              <a:spcBef>
                <a:spcPts val="20"/>
              </a:spcBef>
              <a:tabLst>
                <a:tab pos="702945" algn="l"/>
              </a:tabLst>
            </a:pPr>
            <a:r>
              <a:rPr sz="1650" spc="-605" dirty="0">
                <a:solidFill>
                  <a:srgbClr val="669999"/>
                </a:solidFill>
                <a:latin typeface="Wingdings"/>
                <a:cs typeface="Wingdings"/>
              </a:rPr>
              <a:t></a:t>
            </a:r>
            <a:r>
              <a:rPr sz="1650" spc="-605" dirty="0">
                <a:solidFill>
                  <a:srgbClr val="669999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editor</a:t>
            </a:r>
          </a:p>
          <a:p>
            <a:pPr marL="355600">
              <a:lnSpc>
                <a:spcPct val="100000"/>
              </a:lnSpc>
              <a:tabLst>
                <a:tab pos="702945" algn="l"/>
              </a:tabLst>
            </a:pPr>
            <a:r>
              <a:rPr sz="1750" spc="-655" dirty="0">
                <a:solidFill>
                  <a:srgbClr val="669999"/>
                </a:solidFill>
                <a:latin typeface="Wingdings"/>
                <a:cs typeface="Wingdings"/>
              </a:rPr>
              <a:t></a:t>
            </a:r>
            <a:r>
              <a:rPr sz="1750" spc="-655" dirty="0">
                <a:solidFill>
                  <a:srgbClr val="669999"/>
                </a:solidFill>
                <a:latin typeface="Times New Roman"/>
                <a:cs typeface="Times New Roman"/>
              </a:rPr>
              <a:t>	</a:t>
            </a:r>
            <a:r>
              <a:rPr sz="2500" dirty="0">
                <a:latin typeface="Arial"/>
                <a:cs typeface="Arial"/>
              </a:rPr>
              <a:t>debugger</a:t>
            </a:r>
          </a:p>
          <a:p>
            <a:pPr marL="355600">
              <a:lnSpc>
                <a:spcPct val="100000"/>
              </a:lnSpc>
              <a:spcBef>
                <a:spcPts val="20"/>
              </a:spcBef>
              <a:tabLst>
                <a:tab pos="702945" algn="l"/>
              </a:tabLst>
            </a:pPr>
            <a:r>
              <a:rPr sz="1650" spc="-605" dirty="0">
                <a:solidFill>
                  <a:srgbClr val="669999"/>
                </a:solidFill>
                <a:latin typeface="Wingdings"/>
                <a:cs typeface="Wingdings"/>
              </a:rPr>
              <a:t></a:t>
            </a:r>
            <a:r>
              <a:rPr sz="1650" spc="-605" dirty="0">
                <a:solidFill>
                  <a:srgbClr val="669999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Java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compiler</a:t>
            </a:r>
          </a:p>
          <a:p>
            <a:pPr marL="355600">
              <a:lnSpc>
                <a:spcPct val="100000"/>
              </a:lnSpc>
              <a:spcBef>
                <a:spcPts val="20"/>
              </a:spcBef>
              <a:tabLst>
                <a:tab pos="702945" algn="l"/>
              </a:tabLst>
            </a:pPr>
            <a:r>
              <a:rPr sz="1650" spc="-605" dirty="0">
                <a:solidFill>
                  <a:srgbClr val="669999"/>
                </a:solidFill>
                <a:latin typeface="Wingdings"/>
                <a:cs typeface="Wingdings"/>
              </a:rPr>
              <a:t></a:t>
            </a:r>
            <a:r>
              <a:rPr sz="1650" spc="-605" dirty="0">
                <a:solidFill>
                  <a:srgbClr val="669999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Java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JVM</a:t>
            </a:r>
          </a:p>
          <a:p>
            <a:pPr marL="12700">
              <a:lnSpc>
                <a:spcPct val="100000"/>
              </a:lnSpc>
              <a:spcBef>
                <a:spcPts val="1220"/>
              </a:spcBef>
              <a:tabLst>
                <a:tab pos="353695" algn="l"/>
              </a:tabLst>
            </a:pPr>
            <a:r>
              <a:rPr sz="1650" spc="-60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sz="1650" spc="-605" dirty="0">
                <a:solidFill>
                  <a:srgbClr val="330066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Free download for your PC</a:t>
            </a: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  <a:tabLst>
                <a:tab pos="353695" algn="l"/>
              </a:tabLst>
            </a:pPr>
            <a:r>
              <a:rPr sz="1650" spc="-60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sz="1650" spc="-605" dirty="0">
                <a:solidFill>
                  <a:srgbClr val="330066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Arial"/>
                <a:cs typeface="Arial"/>
              </a:rPr>
              <a:t>We’ll </a:t>
            </a:r>
            <a:r>
              <a:rPr sz="2400" dirty="0">
                <a:latin typeface="Arial"/>
                <a:cs typeface="Arial"/>
              </a:rPr>
              <a:t>show you more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0">
              <a:lnSpc>
                <a:spcPct val="100000"/>
              </a:lnSpc>
            </a:pPr>
            <a:r>
              <a:rPr sz="2400" dirty="0"/>
              <a:t>Eclipse IDE</a:t>
            </a:r>
            <a:r>
              <a:rPr sz="2400" spc="-100" dirty="0"/>
              <a:t> </a:t>
            </a:r>
            <a:r>
              <a:rPr sz="2400" dirty="0"/>
              <a:t>Screenshot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990600" y="1339850"/>
            <a:ext cx="7772400" cy="5822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3830" y="845820"/>
            <a:ext cx="7170420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52395" algn="l"/>
                <a:tab pos="3740150" algn="l"/>
                <a:tab pos="5977255" algn="l"/>
              </a:tabLst>
            </a:pPr>
            <a:r>
              <a:rPr sz="4400" dirty="0"/>
              <a:t>Compiling	and	Running	Java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95400" y="3276600"/>
            <a:ext cx="914400" cy="1035050"/>
          </a:xfrm>
          <a:custGeom>
            <a:avLst/>
            <a:gdLst/>
            <a:ahLst/>
            <a:cxnLst/>
            <a:rect l="l" t="t" r="r" b="b"/>
            <a:pathLst>
              <a:path w="914400" h="1035050">
                <a:moveTo>
                  <a:pt x="0" y="1035050"/>
                </a:moveTo>
                <a:lnTo>
                  <a:pt x="914400" y="1035050"/>
                </a:lnTo>
                <a:lnTo>
                  <a:pt x="914400" y="0"/>
                </a:lnTo>
                <a:lnTo>
                  <a:pt x="0" y="0"/>
                </a:lnTo>
                <a:lnTo>
                  <a:pt x="0" y="1035050"/>
                </a:lnTo>
                <a:close/>
              </a:path>
            </a:pathLst>
          </a:custGeom>
          <a:solidFill>
            <a:srgbClr val="ECE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95400" y="3276600"/>
            <a:ext cx="914400" cy="1035050"/>
          </a:xfrm>
          <a:custGeom>
            <a:avLst/>
            <a:gdLst/>
            <a:ahLst/>
            <a:cxnLst/>
            <a:rect l="l" t="t" r="r" b="b"/>
            <a:pathLst>
              <a:path w="914400" h="1035050">
                <a:moveTo>
                  <a:pt x="0" y="0"/>
                </a:moveTo>
                <a:lnTo>
                  <a:pt x="914399" y="0"/>
                </a:lnTo>
                <a:lnTo>
                  <a:pt x="914399" y="1035049"/>
                </a:lnTo>
                <a:lnTo>
                  <a:pt x="0" y="1035049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31244" y="2729039"/>
            <a:ext cx="57213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1750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Java  </a:t>
            </a:r>
            <a:r>
              <a:rPr sz="1800" spc="-5" dirty="0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38600" y="3352800"/>
            <a:ext cx="914400" cy="1035050"/>
          </a:xfrm>
          <a:custGeom>
            <a:avLst/>
            <a:gdLst/>
            <a:ahLst/>
            <a:cxnLst/>
            <a:rect l="l" t="t" r="r" b="b"/>
            <a:pathLst>
              <a:path w="914400" h="1035050">
                <a:moveTo>
                  <a:pt x="0" y="1035050"/>
                </a:moveTo>
                <a:lnTo>
                  <a:pt x="914400" y="1035050"/>
                </a:lnTo>
                <a:lnTo>
                  <a:pt x="914400" y="0"/>
                </a:lnTo>
                <a:lnTo>
                  <a:pt x="0" y="0"/>
                </a:lnTo>
                <a:lnTo>
                  <a:pt x="0" y="1035050"/>
                </a:lnTo>
                <a:close/>
              </a:path>
            </a:pathLst>
          </a:custGeom>
          <a:solidFill>
            <a:srgbClr val="ECE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38600" y="3352800"/>
            <a:ext cx="914400" cy="1035050"/>
          </a:xfrm>
          <a:custGeom>
            <a:avLst/>
            <a:gdLst/>
            <a:ahLst/>
            <a:cxnLst/>
            <a:rect l="l" t="t" r="r" b="b"/>
            <a:pathLst>
              <a:path w="914400" h="1035050">
                <a:moveTo>
                  <a:pt x="0" y="0"/>
                </a:moveTo>
                <a:lnTo>
                  <a:pt x="914399" y="0"/>
                </a:lnTo>
                <a:lnTo>
                  <a:pt x="914399" y="1035049"/>
                </a:lnTo>
                <a:lnTo>
                  <a:pt x="0" y="1035049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09226" y="2729039"/>
            <a:ext cx="979169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34950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Java  Bytecode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5700" y="2286000"/>
            <a:ext cx="914400" cy="1035050"/>
          </a:xfrm>
          <a:prstGeom prst="rect">
            <a:avLst/>
          </a:prstGeom>
          <a:solidFill>
            <a:srgbClr val="431579"/>
          </a:solidFill>
          <a:ln w="9359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Times New Roman"/>
              <a:cs typeface="Times New Roman"/>
            </a:endParaRPr>
          </a:p>
          <a:p>
            <a:pPr marL="173990" marR="140970" indent="-95885">
              <a:lnSpc>
                <a:spcPts val="1900"/>
              </a:lnSpc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JRE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for  Linux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05700" y="4495800"/>
            <a:ext cx="914400" cy="1035050"/>
          </a:xfrm>
          <a:prstGeom prst="rect">
            <a:avLst/>
          </a:prstGeom>
          <a:solidFill>
            <a:srgbClr val="431579"/>
          </a:solidFill>
          <a:ln w="9359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550">
              <a:latin typeface="Times New Roman"/>
              <a:cs typeface="Times New Roman"/>
            </a:endParaRPr>
          </a:p>
          <a:p>
            <a:pPr marL="4445" marR="67945" indent="73025">
              <a:lnSpc>
                <a:spcPts val="1900"/>
              </a:lnSpc>
              <a:spcBef>
                <a:spcPts val="5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JRE for  Windows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9800" y="3886200"/>
            <a:ext cx="1727200" cy="1905"/>
          </a:xfrm>
          <a:custGeom>
            <a:avLst/>
            <a:gdLst/>
            <a:ahLst/>
            <a:cxnLst/>
            <a:rect l="l" t="t" r="r" b="b"/>
            <a:pathLst>
              <a:path w="1727200" h="1904">
                <a:moveTo>
                  <a:pt x="0" y="0"/>
                </a:moveTo>
                <a:lnTo>
                  <a:pt x="1727198" y="1564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86162" y="3849623"/>
            <a:ext cx="76835" cy="76200"/>
          </a:xfrm>
          <a:custGeom>
            <a:avLst/>
            <a:gdLst/>
            <a:ahLst/>
            <a:cxnLst/>
            <a:rect l="l" t="t" r="r" b="b"/>
            <a:pathLst>
              <a:path w="76835" h="76200">
                <a:moveTo>
                  <a:pt x="76" y="0"/>
                </a:moveTo>
                <a:lnTo>
                  <a:pt x="0" y="76200"/>
                </a:lnTo>
                <a:lnTo>
                  <a:pt x="76238" y="38163"/>
                </a:lnTo>
                <a:lnTo>
                  <a:pt x="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53000" y="2752130"/>
            <a:ext cx="2491740" cy="1134110"/>
          </a:xfrm>
          <a:custGeom>
            <a:avLst/>
            <a:gdLst/>
            <a:ahLst/>
            <a:cxnLst/>
            <a:rect l="l" t="t" r="r" b="b"/>
            <a:pathLst>
              <a:path w="2491740" h="1134110">
                <a:moveTo>
                  <a:pt x="0" y="1134069"/>
                </a:moveTo>
                <a:lnTo>
                  <a:pt x="2491478" y="0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82459" y="2738501"/>
            <a:ext cx="85725" cy="69850"/>
          </a:xfrm>
          <a:custGeom>
            <a:avLst/>
            <a:gdLst/>
            <a:ahLst/>
            <a:cxnLst/>
            <a:rect l="l" t="t" r="r" b="b"/>
            <a:pathLst>
              <a:path w="85725" h="69850">
                <a:moveTo>
                  <a:pt x="0" y="0"/>
                </a:moveTo>
                <a:lnTo>
                  <a:pt x="31572" y="69354"/>
                </a:lnTo>
                <a:lnTo>
                  <a:pt x="85140" y="31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20299" y="4390199"/>
            <a:ext cx="10293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Hello.java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7104" y="3475799"/>
            <a:ext cx="1626870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javac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Hello.java</a:t>
            </a:r>
            <a:endParaRPr sz="1800">
              <a:latin typeface="Arial"/>
              <a:cs typeface="Arial"/>
            </a:endParaRPr>
          </a:p>
          <a:p>
            <a:pPr marR="15240" algn="ctr">
              <a:lnSpc>
                <a:spcPct val="100000"/>
              </a:lnSpc>
              <a:spcBef>
                <a:spcPts val="1440"/>
              </a:spcBef>
            </a:pPr>
            <a:r>
              <a:rPr sz="1600" dirty="0">
                <a:solidFill>
                  <a:srgbClr val="330066"/>
                </a:solidFill>
                <a:latin typeface="Arial"/>
                <a:cs typeface="Arial"/>
              </a:rPr>
              <a:t>Java</a:t>
            </a:r>
            <a:r>
              <a:rPr sz="1600" spc="-10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0066"/>
                </a:solidFill>
                <a:latin typeface="Arial"/>
                <a:cs typeface="Arial"/>
              </a:rPr>
              <a:t>compiler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87304" y="4390199"/>
            <a:ext cx="11309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Hello.class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53000" y="4038600"/>
            <a:ext cx="2491740" cy="1140460"/>
          </a:xfrm>
          <a:custGeom>
            <a:avLst/>
            <a:gdLst/>
            <a:ahLst/>
            <a:cxnLst/>
            <a:rect l="l" t="t" r="r" b="b"/>
            <a:pathLst>
              <a:path w="2491740" h="1140460">
                <a:moveTo>
                  <a:pt x="0" y="0"/>
                </a:moveTo>
                <a:lnTo>
                  <a:pt x="2491498" y="1140369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82459" y="5123179"/>
            <a:ext cx="85725" cy="69850"/>
          </a:xfrm>
          <a:custGeom>
            <a:avLst/>
            <a:gdLst/>
            <a:ahLst/>
            <a:cxnLst/>
            <a:rect l="l" t="t" r="r" b="b"/>
            <a:pathLst>
              <a:path w="85725" h="69850">
                <a:moveTo>
                  <a:pt x="31711" y="0"/>
                </a:moveTo>
                <a:lnTo>
                  <a:pt x="0" y="69291"/>
                </a:lnTo>
                <a:lnTo>
                  <a:pt x="85140" y="66357"/>
                </a:lnTo>
                <a:lnTo>
                  <a:pt x="31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62180" y="2939199"/>
            <a:ext cx="950594" cy="533400"/>
          </a:xfrm>
          <a:custGeom>
            <a:avLst/>
            <a:gdLst/>
            <a:ahLst/>
            <a:cxnLst/>
            <a:rect l="l" t="t" r="r" b="b"/>
            <a:pathLst>
              <a:path w="950595" h="533400">
                <a:moveTo>
                  <a:pt x="18516" y="322567"/>
                </a:moveTo>
                <a:lnTo>
                  <a:pt x="0" y="330428"/>
                </a:lnTo>
                <a:lnTo>
                  <a:pt x="9118" y="351891"/>
                </a:lnTo>
                <a:lnTo>
                  <a:pt x="27635" y="344030"/>
                </a:lnTo>
                <a:lnTo>
                  <a:pt x="18516" y="322567"/>
                </a:lnTo>
                <a:close/>
              </a:path>
              <a:path w="950595" h="533400">
                <a:moveTo>
                  <a:pt x="36118" y="364020"/>
                </a:moveTo>
                <a:lnTo>
                  <a:pt x="17602" y="371881"/>
                </a:lnTo>
                <a:lnTo>
                  <a:pt x="70523" y="496582"/>
                </a:lnTo>
                <a:lnTo>
                  <a:pt x="72250" y="503224"/>
                </a:lnTo>
                <a:lnTo>
                  <a:pt x="55206" y="516127"/>
                </a:lnTo>
                <a:lnTo>
                  <a:pt x="58458" y="533285"/>
                </a:lnTo>
                <a:lnTo>
                  <a:pt x="91630" y="509371"/>
                </a:lnTo>
                <a:lnTo>
                  <a:pt x="91921" y="503680"/>
                </a:lnTo>
                <a:lnTo>
                  <a:pt x="90906" y="496738"/>
                </a:lnTo>
                <a:lnTo>
                  <a:pt x="88587" y="488543"/>
                </a:lnTo>
                <a:lnTo>
                  <a:pt x="84962" y="479094"/>
                </a:lnTo>
                <a:lnTo>
                  <a:pt x="36118" y="364020"/>
                </a:lnTo>
                <a:close/>
              </a:path>
              <a:path w="950595" h="533400">
                <a:moveTo>
                  <a:pt x="164431" y="341706"/>
                </a:moveTo>
                <a:lnTo>
                  <a:pt x="130759" y="341706"/>
                </a:lnTo>
                <a:lnTo>
                  <a:pt x="142074" y="345439"/>
                </a:lnTo>
                <a:lnTo>
                  <a:pt x="146075" y="349999"/>
                </a:lnTo>
                <a:lnTo>
                  <a:pt x="149263" y="357505"/>
                </a:lnTo>
                <a:lnTo>
                  <a:pt x="151193" y="362356"/>
                </a:lnTo>
                <a:lnTo>
                  <a:pt x="145788" y="366788"/>
                </a:lnTo>
                <a:lnTo>
                  <a:pt x="139090" y="371548"/>
                </a:lnTo>
                <a:lnTo>
                  <a:pt x="130737" y="376893"/>
                </a:lnTo>
                <a:lnTo>
                  <a:pt x="120853" y="382739"/>
                </a:lnTo>
                <a:lnTo>
                  <a:pt x="113880" y="386753"/>
                </a:lnTo>
                <a:lnTo>
                  <a:pt x="108788" y="390004"/>
                </a:lnTo>
                <a:lnTo>
                  <a:pt x="89153" y="424319"/>
                </a:lnTo>
                <a:lnTo>
                  <a:pt x="90004" y="429704"/>
                </a:lnTo>
                <a:lnTo>
                  <a:pt x="126001" y="454904"/>
                </a:lnTo>
                <a:lnTo>
                  <a:pt x="134141" y="453387"/>
                </a:lnTo>
                <a:lnTo>
                  <a:pt x="162105" y="437680"/>
                </a:lnTo>
                <a:lnTo>
                  <a:pt x="127762" y="437680"/>
                </a:lnTo>
                <a:lnTo>
                  <a:pt x="117513" y="434314"/>
                </a:lnTo>
                <a:lnTo>
                  <a:pt x="113906" y="431025"/>
                </a:lnTo>
                <a:lnTo>
                  <a:pt x="110464" y="422910"/>
                </a:lnTo>
                <a:lnTo>
                  <a:pt x="110083" y="419633"/>
                </a:lnTo>
                <a:lnTo>
                  <a:pt x="111302" y="412927"/>
                </a:lnTo>
                <a:lnTo>
                  <a:pt x="112890" y="409905"/>
                </a:lnTo>
                <a:lnTo>
                  <a:pt x="118059" y="404495"/>
                </a:lnTo>
                <a:lnTo>
                  <a:pt x="122936" y="400977"/>
                </a:lnTo>
                <a:lnTo>
                  <a:pt x="130098" y="396646"/>
                </a:lnTo>
                <a:lnTo>
                  <a:pt x="138931" y="391121"/>
                </a:lnTo>
                <a:lnTo>
                  <a:pt x="146435" y="385978"/>
                </a:lnTo>
                <a:lnTo>
                  <a:pt x="152614" y="381215"/>
                </a:lnTo>
                <a:lnTo>
                  <a:pt x="157467" y="376834"/>
                </a:lnTo>
                <a:lnTo>
                  <a:pt x="179565" y="376834"/>
                </a:lnTo>
                <a:lnTo>
                  <a:pt x="166090" y="345109"/>
                </a:lnTo>
                <a:lnTo>
                  <a:pt x="164431" y="341706"/>
                </a:lnTo>
                <a:close/>
              </a:path>
              <a:path w="950595" h="533400">
                <a:moveTo>
                  <a:pt x="179565" y="376834"/>
                </a:moveTo>
                <a:lnTo>
                  <a:pt x="157467" y="376834"/>
                </a:lnTo>
                <a:lnTo>
                  <a:pt x="160223" y="383628"/>
                </a:lnTo>
                <a:lnTo>
                  <a:pt x="163664" y="391731"/>
                </a:lnTo>
                <a:lnTo>
                  <a:pt x="165265" y="398284"/>
                </a:lnTo>
                <a:lnTo>
                  <a:pt x="133934" y="436994"/>
                </a:lnTo>
                <a:lnTo>
                  <a:pt x="127762" y="437680"/>
                </a:lnTo>
                <a:lnTo>
                  <a:pt x="162105" y="437680"/>
                </a:lnTo>
                <a:lnTo>
                  <a:pt x="165672" y="433876"/>
                </a:lnTo>
                <a:lnTo>
                  <a:pt x="169408" y="429018"/>
                </a:lnTo>
                <a:lnTo>
                  <a:pt x="172968" y="423475"/>
                </a:lnTo>
                <a:lnTo>
                  <a:pt x="176352" y="417245"/>
                </a:lnTo>
                <a:lnTo>
                  <a:pt x="200425" y="417245"/>
                </a:lnTo>
                <a:lnTo>
                  <a:pt x="185018" y="389484"/>
                </a:lnTo>
                <a:lnTo>
                  <a:pt x="179565" y="376834"/>
                </a:lnTo>
                <a:close/>
              </a:path>
              <a:path w="950595" h="533400">
                <a:moveTo>
                  <a:pt x="200425" y="417245"/>
                </a:moveTo>
                <a:lnTo>
                  <a:pt x="176352" y="417245"/>
                </a:lnTo>
                <a:lnTo>
                  <a:pt x="179095" y="422236"/>
                </a:lnTo>
                <a:lnTo>
                  <a:pt x="182232" y="426288"/>
                </a:lnTo>
                <a:lnTo>
                  <a:pt x="185737" y="429399"/>
                </a:lnTo>
                <a:lnTo>
                  <a:pt x="205092" y="421182"/>
                </a:lnTo>
                <a:lnTo>
                  <a:pt x="201053" y="417944"/>
                </a:lnTo>
                <a:lnTo>
                  <a:pt x="200425" y="417245"/>
                </a:lnTo>
                <a:close/>
              </a:path>
              <a:path w="950595" h="533400">
                <a:moveTo>
                  <a:pt x="189941" y="298729"/>
                </a:moveTo>
                <a:lnTo>
                  <a:pt x="170129" y="307136"/>
                </a:lnTo>
                <a:lnTo>
                  <a:pt x="257721" y="398843"/>
                </a:lnTo>
                <a:lnTo>
                  <a:pt x="275501" y="391299"/>
                </a:lnTo>
                <a:lnTo>
                  <a:pt x="274790" y="373252"/>
                </a:lnTo>
                <a:lnTo>
                  <a:pt x="257428" y="373252"/>
                </a:lnTo>
                <a:lnTo>
                  <a:pt x="252056" y="366547"/>
                </a:lnTo>
                <a:lnTo>
                  <a:pt x="246608" y="360197"/>
                </a:lnTo>
                <a:lnTo>
                  <a:pt x="237174" y="349999"/>
                </a:lnTo>
                <a:lnTo>
                  <a:pt x="189941" y="298729"/>
                </a:lnTo>
                <a:close/>
              </a:path>
              <a:path w="950595" h="533400">
                <a:moveTo>
                  <a:pt x="140665" y="323405"/>
                </a:moveTo>
                <a:lnTo>
                  <a:pt x="102958" y="333203"/>
                </a:lnTo>
                <a:lnTo>
                  <a:pt x="73025" y="368808"/>
                </a:lnTo>
                <a:lnTo>
                  <a:pt x="73104" y="376893"/>
                </a:lnTo>
                <a:lnTo>
                  <a:pt x="74625" y="384683"/>
                </a:lnTo>
                <a:lnTo>
                  <a:pt x="93789" y="379526"/>
                </a:lnTo>
                <a:lnTo>
                  <a:pt x="92481" y="370916"/>
                </a:lnTo>
                <a:lnTo>
                  <a:pt x="93256" y="364197"/>
                </a:lnTo>
                <a:lnTo>
                  <a:pt x="98971" y="354545"/>
                </a:lnTo>
                <a:lnTo>
                  <a:pt x="104762" y="350278"/>
                </a:lnTo>
                <a:lnTo>
                  <a:pt x="122834" y="342607"/>
                </a:lnTo>
                <a:lnTo>
                  <a:pt x="130759" y="341706"/>
                </a:lnTo>
                <a:lnTo>
                  <a:pt x="164431" y="341706"/>
                </a:lnTo>
                <a:lnTo>
                  <a:pt x="163385" y="339559"/>
                </a:lnTo>
                <a:lnTo>
                  <a:pt x="161408" y="336651"/>
                </a:lnTo>
                <a:lnTo>
                  <a:pt x="158165" y="332054"/>
                </a:lnTo>
                <a:lnTo>
                  <a:pt x="154457" y="328663"/>
                </a:lnTo>
                <a:lnTo>
                  <a:pt x="146126" y="324345"/>
                </a:lnTo>
                <a:lnTo>
                  <a:pt x="140665" y="323405"/>
                </a:lnTo>
                <a:close/>
              </a:path>
              <a:path w="950595" h="533400">
                <a:moveTo>
                  <a:pt x="270510" y="264528"/>
                </a:moveTo>
                <a:lnTo>
                  <a:pt x="251498" y="272605"/>
                </a:lnTo>
                <a:lnTo>
                  <a:pt x="255981" y="358889"/>
                </a:lnTo>
                <a:lnTo>
                  <a:pt x="256628" y="366788"/>
                </a:lnTo>
                <a:lnTo>
                  <a:pt x="257428" y="373252"/>
                </a:lnTo>
                <a:lnTo>
                  <a:pt x="274790" y="373252"/>
                </a:lnTo>
                <a:lnTo>
                  <a:pt x="270510" y="264528"/>
                </a:lnTo>
                <a:close/>
              </a:path>
              <a:path w="950595" h="533400">
                <a:moveTo>
                  <a:pt x="386676" y="247370"/>
                </a:moveTo>
                <a:lnTo>
                  <a:pt x="352996" y="247370"/>
                </a:lnTo>
                <a:lnTo>
                  <a:pt x="364312" y="251104"/>
                </a:lnTo>
                <a:lnTo>
                  <a:pt x="368312" y="255650"/>
                </a:lnTo>
                <a:lnTo>
                  <a:pt x="371792" y="263855"/>
                </a:lnTo>
                <a:lnTo>
                  <a:pt x="373443" y="268020"/>
                </a:lnTo>
                <a:lnTo>
                  <a:pt x="368154" y="272366"/>
                </a:lnTo>
                <a:lnTo>
                  <a:pt x="361334" y="277212"/>
                </a:lnTo>
                <a:lnTo>
                  <a:pt x="352980" y="282558"/>
                </a:lnTo>
                <a:lnTo>
                  <a:pt x="343090" y="288404"/>
                </a:lnTo>
                <a:lnTo>
                  <a:pt x="336130" y="292404"/>
                </a:lnTo>
                <a:lnTo>
                  <a:pt x="331025" y="295668"/>
                </a:lnTo>
                <a:lnTo>
                  <a:pt x="311403" y="329984"/>
                </a:lnTo>
                <a:lnTo>
                  <a:pt x="312254" y="335368"/>
                </a:lnTo>
                <a:lnTo>
                  <a:pt x="348243" y="360568"/>
                </a:lnTo>
                <a:lnTo>
                  <a:pt x="356384" y="359051"/>
                </a:lnTo>
                <a:lnTo>
                  <a:pt x="384354" y="343344"/>
                </a:lnTo>
                <a:lnTo>
                  <a:pt x="350012" y="343344"/>
                </a:lnTo>
                <a:lnTo>
                  <a:pt x="339750" y="339978"/>
                </a:lnTo>
                <a:lnTo>
                  <a:pt x="336156" y="336689"/>
                </a:lnTo>
                <a:lnTo>
                  <a:pt x="332714" y="328574"/>
                </a:lnTo>
                <a:lnTo>
                  <a:pt x="332333" y="325297"/>
                </a:lnTo>
                <a:lnTo>
                  <a:pt x="333540" y="318592"/>
                </a:lnTo>
                <a:lnTo>
                  <a:pt x="335140" y="315569"/>
                </a:lnTo>
                <a:lnTo>
                  <a:pt x="340309" y="310159"/>
                </a:lnTo>
                <a:lnTo>
                  <a:pt x="345173" y="306641"/>
                </a:lnTo>
                <a:lnTo>
                  <a:pt x="352348" y="302310"/>
                </a:lnTo>
                <a:lnTo>
                  <a:pt x="361180" y="296786"/>
                </a:lnTo>
                <a:lnTo>
                  <a:pt x="368684" y="291642"/>
                </a:lnTo>
                <a:lnTo>
                  <a:pt x="374858" y="286880"/>
                </a:lnTo>
                <a:lnTo>
                  <a:pt x="379704" y="282498"/>
                </a:lnTo>
                <a:lnTo>
                  <a:pt x="401803" y="282498"/>
                </a:lnTo>
                <a:lnTo>
                  <a:pt x="388340" y="250761"/>
                </a:lnTo>
                <a:lnTo>
                  <a:pt x="386676" y="247370"/>
                </a:lnTo>
                <a:close/>
              </a:path>
              <a:path w="950595" h="533400">
                <a:moveTo>
                  <a:pt x="401803" y="282498"/>
                </a:moveTo>
                <a:lnTo>
                  <a:pt x="379704" y="282498"/>
                </a:lnTo>
                <a:lnTo>
                  <a:pt x="382460" y="289293"/>
                </a:lnTo>
                <a:lnTo>
                  <a:pt x="385902" y="297395"/>
                </a:lnTo>
                <a:lnTo>
                  <a:pt x="387515" y="303949"/>
                </a:lnTo>
                <a:lnTo>
                  <a:pt x="356171" y="342658"/>
                </a:lnTo>
                <a:lnTo>
                  <a:pt x="350012" y="343344"/>
                </a:lnTo>
                <a:lnTo>
                  <a:pt x="384354" y="343344"/>
                </a:lnTo>
                <a:lnTo>
                  <a:pt x="387915" y="339540"/>
                </a:lnTo>
                <a:lnTo>
                  <a:pt x="391648" y="334683"/>
                </a:lnTo>
                <a:lnTo>
                  <a:pt x="395211" y="329139"/>
                </a:lnTo>
                <a:lnTo>
                  <a:pt x="398602" y="322910"/>
                </a:lnTo>
                <a:lnTo>
                  <a:pt x="422663" y="322910"/>
                </a:lnTo>
                <a:lnTo>
                  <a:pt x="407261" y="295149"/>
                </a:lnTo>
                <a:lnTo>
                  <a:pt x="401803" y="282498"/>
                </a:lnTo>
                <a:close/>
              </a:path>
              <a:path w="950595" h="533400">
                <a:moveTo>
                  <a:pt x="422663" y="322910"/>
                </a:moveTo>
                <a:lnTo>
                  <a:pt x="398602" y="322910"/>
                </a:lnTo>
                <a:lnTo>
                  <a:pt x="401345" y="327901"/>
                </a:lnTo>
                <a:lnTo>
                  <a:pt x="404469" y="331952"/>
                </a:lnTo>
                <a:lnTo>
                  <a:pt x="407974" y="335064"/>
                </a:lnTo>
                <a:lnTo>
                  <a:pt x="427342" y="326847"/>
                </a:lnTo>
                <a:lnTo>
                  <a:pt x="423290" y="323608"/>
                </a:lnTo>
                <a:lnTo>
                  <a:pt x="422663" y="322910"/>
                </a:lnTo>
                <a:close/>
              </a:path>
              <a:path w="950595" h="533400">
                <a:moveTo>
                  <a:pt x="362902" y="229057"/>
                </a:moveTo>
                <a:lnTo>
                  <a:pt x="325201" y="238867"/>
                </a:lnTo>
                <a:lnTo>
                  <a:pt x="295275" y="274472"/>
                </a:lnTo>
                <a:lnTo>
                  <a:pt x="295353" y="282558"/>
                </a:lnTo>
                <a:lnTo>
                  <a:pt x="296862" y="290347"/>
                </a:lnTo>
                <a:lnTo>
                  <a:pt x="316026" y="285191"/>
                </a:lnTo>
                <a:lnTo>
                  <a:pt x="314731" y="276580"/>
                </a:lnTo>
                <a:lnTo>
                  <a:pt x="315506" y="269862"/>
                </a:lnTo>
                <a:lnTo>
                  <a:pt x="321221" y="260210"/>
                </a:lnTo>
                <a:lnTo>
                  <a:pt x="327012" y="255943"/>
                </a:lnTo>
                <a:lnTo>
                  <a:pt x="345071" y="248272"/>
                </a:lnTo>
                <a:lnTo>
                  <a:pt x="352996" y="247370"/>
                </a:lnTo>
                <a:lnTo>
                  <a:pt x="386676" y="247370"/>
                </a:lnTo>
                <a:lnTo>
                  <a:pt x="385622" y="245224"/>
                </a:lnTo>
                <a:lnTo>
                  <a:pt x="383658" y="242315"/>
                </a:lnTo>
                <a:lnTo>
                  <a:pt x="380403" y="237718"/>
                </a:lnTo>
                <a:lnTo>
                  <a:pt x="376694" y="234327"/>
                </a:lnTo>
                <a:lnTo>
                  <a:pt x="368376" y="229997"/>
                </a:lnTo>
                <a:lnTo>
                  <a:pt x="362902" y="229057"/>
                </a:lnTo>
                <a:close/>
              </a:path>
              <a:path w="950595" h="533400">
                <a:moveTo>
                  <a:pt x="467753" y="131876"/>
                </a:moveTo>
                <a:lnTo>
                  <a:pt x="447763" y="140373"/>
                </a:lnTo>
                <a:lnTo>
                  <a:pt x="511721" y="291033"/>
                </a:lnTo>
                <a:lnTo>
                  <a:pt x="531710" y="282549"/>
                </a:lnTo>
                <a:lnTo>
                  <a:pt x="501523" y="211416"/>
                </a:lnTo>
                <a:lnTo>
                  <a:pt x="543141" y="193751"/>
                </a:lnTo>
                <a:lnTo>
                  <a:pt x="494017" y="193751"/>
                </a:lnTo>
                <a:lnTo>
                  <a:pt x="467753" y="131876"/>
                </a:lnTo>
                <a:close/>
              </a:path>
              <a:path w="950595" h="533400">
                <a:moveTo>
                  <a:pt x="602967" y="178371"/>
                </a:moveTo>
                <a:lnTo>
                  <a:pt x="579374" y="178371"/>
                </a:lnTo>
                <a:lnTo>
                  <a:pt x="609561" y="249504"/>
                </a:lnTo>
                <a:lnTo>
                  <a:pt x="629551" y="241007"/>
                </a:lnTo>
                <a:lnTo>
                  <a:pt x="602967" y="178371"/>
                </a:lnTo>
                <a:close/>
              </a:path>
              <a:path w="950595" h="533400">
                <a:moveTo>
                  <a:pt x="679354" y="92640"/>
                </a:moveTo>
                <a:lnTo>
                  <a:pt x="639094" y="109824"/>
                </a:lnTo>
                <a:lnTo>
                  <a:pt x="624814" y="150866"/>
                </a:lnTo>
                <a:lnTo>
                  <a:pt x="627014" y="163427"/>
                </a:lnTo>
                <a:lnTo>
                  <a:pt x="645152" y="198891"/>
                </a:lnTo>
                <a:lnTo>
                  <a:pt x="684307" y="216165"/>
                </a:lnTo>
                <a:lnTo>
                  <a:pt x="695570" y="214642"/>
                </a:lnTo>
                <a:lnTo>
                  <a:pt x="707288" y="210756"/>
                </a:lnTo>
                <a:lnTo>
                  <a:pt x="716101" y="206331"/>
                </a:lnTo>
                <a:lnTo>
                  <a:pt x="723582" y="201115"/>
                </a:lnTo>
                <a:lnTo>
                  <a:pt x="726226" y="198531"/>
                </a:lnTo>
                <a:lnTo>
                  <a:pt x="687312" y="198531"/>
                </a:lnTo>
                <a:lnTo>
                  <a:pt x="680634" y="197846"/>
                </a:lnTo>
                <a:lnTo>
                  <a:pt x="652195" y="172542"/>
                </a:lnTo>
                <a:lnTo>
                  <a:pt x="688941" y="156946"/>
                </a:lnTo>
                <a:lnTo>
                  <a:pt x="646811" y="156946"/>
                </a:lnTo>
                <a:lnTo>
                  <a:pt x="644877" y="149764"/>
                </a:lnTo>
                <a:lnTo>
                  <a:pt x="644217" y="142889"/>
                </a:lnTo>
                <a:lnTo>
                  <a:pt x="644828" y="136320"/>
                </a:lnTo>
                <a:lnTo>
                  <a:pt x="678356" y="109712"/>
                </a:lnTo>
                <a:lnTo>
                  <a:pt x="716992" y="109712"/>
                </a:lnTo>
                <a:lnTo>
                  <a:pt x="709467" y="102698"/>
                </a:lnTo>
                <a:lnTo>
                  <a:pt x="699935" y="97078"/>
                </a:lnTo>
                <a:lnTo>
                  <a:pt x="689750" y="93716"/>
                </a:lnTo>
                <a:lnTo>
                  <a:pt x="679354" y="92640"/>
                </a:lnTo>
                <a:close/>
              </a:path>
              <a:path w="950595" h="533400">
                <a:moveTo>
                  <a:pt x="740244" y="155282"/>
                </a:moveTo>
                <a:lnTo>
                  <a:pt x="720013" y="160896"/>
                </a:lnTo>
                <a:lnTo>
                  <a:pt x="720547" y="169938"/>
                </a:lnTo>
                <a:lnTo>
                  <a:pt x="719175" y="177253"/>
                </a:lnTo>
                <a:lnTo>
                  <a:pt x="687312" y="198531"/>
                </a:lnTo>
                <a:lnTo>
                  <a:pt x="726226" y="198531"/>
                </a:lnTo>
                <a:lnTo>
                  <a:pt x="740852" y="164332"/>
                </a:lnTo>
                <a:lnTo>
                  <a:pt x="740244" y="155282"/>
                </a:lnTo>
                <a:close/>
              </a:path>
              <a:path w="950595" h="533400">
                <a:moveTo>
                  <a:pt x="565607" y="90347"/>
                </a:moveTo>
                <a:lnTo>
                  <a:pt x="545617" y="98831"/>
                </a:lnTo>
                <a:lnTo>
                  <a:pt x="571868" y="160693"/>
                </a:lnTo>
                <a:lnTo>
                  <a:pt x="494017" y="193751"/>
                </a:lnTo>
                <a:lnTo>
                  <a:pt x="543141" y="193751"/>
                </a:lnTo>
                <a:lnTo>
                  <a:pt x="579374" y="178371"/>
                </a:lnTo>
                <a:lnTo>
                  <a:pt x="602967" y="178371"/>
                </a:lnTo>
                <a:lnTo>
                  <a:pt x="565607" y="90347"/>
                </a:lnTo>
                <a:close/>
              </a:path>
              <a:path w="950595" h="533400">
                <a:moveTo>
                  <a:pt x="731697" y="19850"/>
                </a:moveTo>
                <a:lnTo>
                  <a:pt x="713181" y="27698"/>
                </a:lnTo>
                <a:lnTo>
                  <a:pt x="777138" y="178371"/>
                </a:lnTo>
                <a:lnTo>
                  <a:pt x="795654" y="170510"/>
                </a:lnTo>
                <a:lnTo>
                  <a:pt x="731697" y="19850"/>
                </a:lnTo>
                <a:close/>
              </a:path>
              <a:path w="950595" h="533400">
                <a:moveTo>
                  <a:pt x="778446" y="0"/>
                </a:moveTo>
                <a:lnTo>
                  <a:pt x="759929" y="7861"/>
                </a:lnTo>
                <a:lnTo>
                  <a:pt x="823887" y="158521"/>
                </a:lnTo>
                <a:lnTo>
                  <a:pt x="842403" y="150660"/>
                </a:lnTo>
                <a:lnTo>
                  <a:pt x="778446" y="0"/>
                </a:lnTo>
                <a:close/>
              </a:path>
              <a:path w="950595" h="533400">
                <a:moveTo>
                  <a:pt x="716992" y="109712"/>
                </a:moveTo>
                <a:lnTo>
                  <a:pt x="678356" y="109712"/>
                </a:lnTo>
                <a:lnTo>
                  <a:pt x="685163" y="110767"/>
                </a:lnTo>
                <a:lnTo>
                  <a:pt x="691883" y="113436"/>
                </a:lnTo>
                <a:lnTo>
                  <a:pt x="697661" y="116395"/>
                </a:lnTo>
                <a:lnTo>
                  <a:pt x="702906" y="122300"/>
                </a:lnTo>
                <a:lnTo>
                  <a:pt x="707631" y="131140"/>
                </a:lnTo>
                <a:lnTo>
                  <a:pt x="646811" y="156946"/>
                </a:lnTo>
                <a:lnTo>
                  <a:pt x="688941" y="156946"/>
                </a:lnTo>
                <a:lnTo>
                  <a:pt x="733526" y="138023"/>
                </a:lnTo>
                <a:lnTo>
                  <a:pt x="732002" y="134150"/>
                </a:lnTo>
                <a:lnTo>
                  <a:pt x="731532" y="133057"/>
                </a:lnTo>
                <a:lnTo>
                  <a:pt x="725265" y="120687"/>
                </a:lnTo>
                <a:lnTo>
                  <a:pt x="717910" y="110567"/>
                </a:lnTo>
                <a:lnTo>
                  <a:pt x="716992" y="109712"/>
                </a:lnTo>
                <a:close/>
              </a:path>
              <a:path w="950595" h="533400">
                <a:moveTo>
                  <a:pt x="889971" y="3192"/>
                </a:moveTo>
                <a:lnTo>
                  <a:pt x="850534" y="19165"/>
                </a:lnTo>
                <a:lnTo>
                  <a:pt x="833969" y="58724"/>
                </a:lnTo>
                <a:lnTo>
                  <a:pt x="835980" y="72250"/>
                </a:lnTo>
                <a:lnTo>
                  <a:pt x="854818" y="109712"/>
                </a:lnTo>
                <a:lnTo>
                  <a:pt x="894000" y="127168"/>
                </a:lnTo>
                <a:lnTo>
                  <a:pt x="904980" y="125751"/>
                </a:lnTo>
                <a:lnTo>
                  <a:pt x="916279" y="122034"/>
                </a:lnTo>
                <a:lnTo>
                  <a:pt x="923108" y="118645"/>
                </a:lnTo>
                <a:lnTo>
                  <a:pt x="929308" y="114539"/>
                </a:lnTo>
                <a:lnTo>
                  <a:pt x="934904" y="109685"/>
                </a:lnTo>
                <a:lnTo>
                  <a:pt x="896024" y="109685"/>
                </a:lnTo>
                <a:lnTo>
                  <a:pt x="889170" y="108760"/>
                </a:lnTo>
                <a:lnTo>
                  <a:pt x="859891" y="78854"/>
                </a:lnTo>
                <a:lnTo>
                  <a:pt x="854274" y="52018"/>
                </a:lnTo>
                <a:lnTo>
                  <a:pt x="854325" y="50914"/>
                </a:lnTo>
                <a:lnTo>
                  <a:pt x="881327" y="21420"/>
                </a:lnTo>
                <a:lnTo>
                  <a:pt x="888163" y="20818"/>
                </a:lnTo>
                <a:lnTo>
                  <a:pt x="929559" y="20818"/>
                </a:lnTo>
                <a:lnTo>
                  <a:pt x="929151" y="20273"/>
                </a:lnTo>
                <a:lnTo>
                  <a:pt x="920669" y="12702"/>
                </a:lnTo>
                <a:lnTo>
                  <a:pt x="910996" y="7289"/>
                </a:lnTo>
                <a:lnTo>
                  <a:pt x="900606" y="4103"/>
                </a:lnTo>
                <a:lnTo>
                  <a:pt x="889971" y="3192"/>
                </a:lnTo>
                <a:close/>
              </a:path>
              <a:path w="950595" h="533400">
                <a:moveTo>
                  <a:pt x="929559" y="20818"/>
                </a:moveTo>
                <a:lnTo>
                  <a:pt x="888163" y="20818"/>
                </a:lnTo>
                <a:lnTo>
                  <a:pt x="894991" y="21754"/>
                </a:lnTo>
                <a:lnTo>
                  <a:pt x="901814" y="24231"/>
                </a:lnTo>
                <a:lnTo>
                  <a:pt x="927707" y="61179"/>
                </a:lnTo>
                <a:lnTo>
                  <a:pt x="929888" y="79062"/>
                </a:lnTo>
                <a:lnTo>
                  <a:pt x="928382" y="86677"/>
                </a:lnTo>
                <a:lnTo>
                  <a:pt x="896024" y="109685"/>
                </a:lnTo>
                <a:lnTo>
                  <a:pt x="934904" y="109685"/>
                </a:lnTo>
                <a:lnTo>
                  <a:pt x="950264" y="77660"/>
                </a:lnTo>
                <a:lnTo>
                  <a:pt x="950238" y="69897"/>
                </a:lnTo>
                <a:lnTo>
                  <a:pt x="948942" y="61350"/>
                </a:lnTo>
                <a:lnTo>
                  <a:pt x="946376" y="52018"/>
                </a:lnTo>
                <a:lnTo>
                  <a:pt x="942543" y="41897"/>
                </a:lnTo>
                <a:lnTo>
                  <a:pt x="936442" y="30005"/>
                </a:lnTo>
                <a:lnTo>
                  <a:pt x="929559" y="20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78627" y="4413287"/>
            <a:ext cx="963930" cy="547370"/>
          </a:xfrm>
          <a:custGeom>
            <a:avLst/>
            <a:gdLst/>
            <a:ahLst/>
            <a:cxnLst/>
            <a:rect l="l" t="t" r="r" b="b"/>
            <a:pathLst>
              <a:path w="963929" h="547370">
                <a:moveTo>
                  <a:pt x="111633" y="0"/>
                </a:moveTo>
                <a:lnTo>
                  <a:pt x="101777" y="21132"/>
                </a:lnTo>
                <a:lnTo>
                  <a:pt x="120014" y="29629"/>
                </a:lnTo>
                <a:lnTo>
                  <a:pt x="129870" y="8496"/>
                </a:lnTo>
                <a:lnTo>
                  <a:pt x="111633" y="0"/>
                </a:lnTo>
                <a:close/>
              </a:path>
              <a:path w="963929" h="547370">
                <a:moveTo>
                  <a:pt x="186324" y="189141"/>
                </a:moveTo>
                <a:lnTo>
                  <a:pt x="165125" y="189141"/>
                </a:lnTo>
                <a:lnTo>
                  <a:pt x="163245" y="194525"/>
                </a:lnTo>
                <a:lnTo>
                  <a:pt x="162331" y="199567"/>
                </a:lnTo>
                <a:lnTo>
                  <a:pt x="162369" y="204254"/>
                </a:lnTo>
                <a:lnTo>
                  <a:pt x="181419" y="213144"/>
                </a:lnTo>
                <a:lnTo>
                  <a:pt x="181127" y="207962"/>
                </a:lnTo>
                <a:lnTo>
                  <a:pt x="181660" y="202933"/>
                </a:lnTo>
                <a:lnTo>
                  <a:pt x="183019" y="198069"/>
                </a:lnTo>
                <a:lnTo>
                  <a:pt x="184641" y="193296"/>
                </a:lnTo>
                <a:lnTo>
                  <a:pt x="186324" y="189141"/>
                </a:lnTo>
                <a:close/>
              </a:path>
              <a:path w="963929" h="547370">
                <a:moveTo>
                  <a:pt x="125349" y="118999"/>
                </a:moveTo>
                <a:lnTo>
                  <a:pt x="93240" y="145248"/>
                </a:lnTo>
                <a:lnTo>
                  <a:pt x="92317" y="151893"/>
                </a:lnTo>
                <a:lnTo>
                  <a:pt x="92864" y="158493"/>
                </a:lnTo>
                <a:lnTo>
                  <a:pt x="125285" y="189738"/>
                </a:lnTo>
                <a:lnTo>
                  <a:pt x="145615" y="192330"/>
                </a:lnTo>
                <a:lnTo>
                  <a:pt x="151723" y="191858"/>
                </a:lnTo>
                <a:lnTo>
                  <a:pt x="158226" y="190796"/>
                </a:lnTo>
                <a:lnTo>
                  <a:pt x="165125" y="189141"/>
                </a:lnTo>
                <a:lnTo>
                  <a:pt x="186324" y="189141"/>
                </a:lnTo>
                <a:lnTo>
                  <a:pt x="187485" y="186275"/>
                </a:lnTo>
                <a:lnTo>
                  <a:pt x="190762" y="178803"/>
                </a:lnTo>
                <a:lnTo>
                  <a:pt x="143141" y="178803"/>
                </a:lnTo>
                <a:lnTo>
                  <a:pt x="136182" y="177406"/>
                </a:lnTo>
                <a:lnTo>
                  <a:pt x="122059" y="170827"/>
                </a:lnTo>
                <a:lnTo>
                  <a:pt x="117424" y="166700"/>
                </a:lnTo>
                <a:lnTo>
                  <a:pt x="113068" y="156832"/>
                </a:lnTo>
                <a:lnTo>
                  <a:pt x="113135" y="151893"/>
                </a:lnTo>
                <a:lnTo>
                  <a:pt x="116827" y="143967"/>
                </a:lnTo>
                <a:lnTo>
                  <a:pt x="119011" y="141490"/>
                </a:lnTo>
                <a:lnTo>
                  <a:pt x="124802" y="137909"/>
                </a:lnTo>
                <a:lnTo>
                  <a:pt x="128117" y="137071"/>
                </a:lnTo>
                <a:lnTo>
                  <a:pt x="210090" y="137071"/>
                </a:lnTo>
                <a:lnTo>
                  <a:pt x="211654" y="133718"/>
                </a:lnTo>
                <a:lnTo>
                  <a:pt x="189077" y="133718"/>
                </a:lnTo>
                <a:lnTo>
                  <a:pt x="182310" y="132696"/>
                </a:lnTo>
                <a:lnTo>
                  <a:pt x="174143" y="130870"/>
                </a:lnTo>
                <a:lnTo>
                  <a:pt x="164579" y="128239"/>
                </a:lnTo>
                <a:lnTo>
                  <a:pt x="153619" y="124802"/>
                </a:lnTo>
                <a:lnTo>
                  <a:pt x="145986" y="122313"/>
                </a:lnTo>
                <a:lnTo>
                  <a:pt x="140157" y="120700"/>
                </a:lnTo>
                <a:lnTo>
                  <a:pt x="136131" y="119976"/>
                </a:lnTo>
                <a:lnTo>
                  <a:pt x="130644" y="119049"/>
                </a:lnTo>
                <a:lnTo>
                  <a:pt x="125349" y="118999"/>
                </a:lnTo>
                <a:close/>
              </a:path>
              <a:path w="963929" h="547370">
                <a:moveTo>
                  <a:pt x="10579" y="165277"/>
                </a:moveTo>
                <a:lnTo>
                  <a:pt x="0" y="179171"/>
                </a:lnTo>
                <a:lnTo>
                  <a:pt x="4000" y="182587"/>
                </a:lnTo>
                <a:lnTo>
                  <a:pt x="8458" y="185445"/>
                </a:lnTo>
                <a:lnTo>
                  <a:pt x="13385" y="187744"/>
                </a:lnTo>
                <a:lnTo>
                  <a:pt x="20776" y="190420"/>
                </a:lnTo>
                <a:lnTo>
                  <a:pt x="27670" y="191325"/>
                </a:lnTo>
                <a:lnTo>
                  <a:pt x="34063" y="190458"/>
                </a:lnTo>
                <a:lnTo>
                  <a:pt x="39954" y="187820"/>
                </a:lnTo>
                <a:lnTo>
                  <a:pt x="44383" y="184229"/>
                </a:lnTo>
                <a:lnTo>
                  <a:pt x="48885" y="178803"/>
                </a:lnTo>
                <a:lnTo>
                  <a:pt x="52837" y="172529"/>
                </a:lnTo>
                <a:lnTo>
                  <a:pt x="25615" y="172529"/>
                </a:lnTo>
                <a:lnTo>
                  <a:pt x="22263" y="172466"/>
                </a:lnTo>
                <a:lnTo>
                  <a:pt x="16446" y="169760"/>
                </a:lnTo>
                <a:lnTo>
                  <a:pt x="13792" y="167932"/>
                </a:lnTo>
                <a:lnTo>
                  <a:pt x="10579" y="165277"/>
                </a:lnTo>
                <a:close/>
              </a:path>
              <a:path w="963929" h="547370">
                <a:moveTo>
                  <a:pt x="210090" y="137071"/>
                </a:moveTo>
                <a:lnTo>
                  <a:pt x="128117" y="137071"/>
                </a:lnTo>
                <a:lnTo>
                  <a:pt x="135597" y="137287"/>
                </a:lnTo>
                <a:lnTo>
                  <a:pt x="141465" y="138557"/>
                </a:lnTo>
                <a:lnTo>
                  <a:pt x="182511" y="148069"/>
                </a:lnTo>
                <a:lnTo>
                  <a:pt x="179311" y="154660"/>
                </a:lnTo>
                <a:lnTo>
                  <a:pt x="143141" y="178803"/>
                </a:lnTo>
                <a:lnTo>
                  <a:pt x="190762" y="178803"/>
                </a:lnTo>
                <a:lnTo>
                  <a:pt x="191587" y="176923"/>
                </a:lnTo>
                <a:lnTo>
                  <a:pt x="197038" y="165049"/>
                </a:lnTo>
                <a:lnTo>
                  <a:pt x="210090" y="137071"/>
                </a:lnTo>
                <a:close/>
              </a:path>
              <a:path w="963929" h="547370">
                <a:moveTo>
                  <a:pt x="92608" y="40817"/>
                </a:moveTo>
                <a:lnTo>
                  <a:pt x="35356" y="163588"/>
                </a:lnTo>
                <a:lnTo>
                  <a:pt x="31572" y="169316"/>
                </a:lnTo>
                <a:lnTo>
                  <a:pt x="25615" y="172529"/>
                </a:lnTo>
                <a:lnTo>
                  <a:pt x="52837" y="172529"/>
                </a:lnTo>
                <a:lnTo>
                  <a:pt x="53407" y="171623"/>
                </a:lnTo>
                <a:lnTo>
                  <a:pt x="58000" y="162610"/>
                </a:lnTo>
                <a:lnTo>
                  <a:pt x="110832" y="49314"/>
                </a:lnTo>
                <a:lnTo>
                  <a:pt x="92608" y="40817"/>
                </a:lnTo>
                <a:close/>
              </a:path>
              <a:path w="963929" h="547370">
                <a:moveTo>
                  <a:pt x="200820" y="89687"/>
                </a:moveTo>
                <a:lnTo>
                  <a:pt x="159943" y="89687"/>
                </a:lnTo>
                <a:lnTo>
                  <a:pt x="166979" y="91135"/>
                </a:lnTo>
                <a:lnTo>
                  <a:pt x="184772" y="99428"/>
                </a:lnTo>
                <a:lnTo>
                  <a:pt x="190741" y="104711"/>
                </a:lnTo>
                <a:lnTo>
                  <a:pt x="195541" y="115620"/>
                </a:lnTo>
                <a:lnTo>
                  <a:pt x="194830" y="121640"/>
                </a:lnTo>
                <a:lnTo>
                  <a:pt x="191071" y="129705"/>
                </a:lnTo>
                <a:lnTo>
                  <a:pt x="189077" y="133718"/>
                </a:lnTo>
                <a:lnTo>
                  <a:pt x="211654" y="133718"/>
                </a:lnTo>
                <a:lnTo>
                  <a:pt x="216293" y="113601"/>
                </a:lnTo>
                <a:lnTo>
                  <a:pt x="213944" y="104521"/>
                </a:lnTo>
                <a:lnTo>
                  <a:pt x="210985" y="99822"/>
                </a:lnTo>
                <a:lnTo>
                  <a:pt x="201498" y="90131"/>
                </a:lnTo>
                <a:lnTo>
                  <a:pt x="200820" y="89687"/>
                </a:lnTo>
                <a:close/>
              </a:path>
              <a:path w="963929" h="547370">
                <a:moveTo>
                  <a:pt x="150863" y="72923"/>
                </a:moveTo>
                <a:lnTo>
                  <a:pt x="143802" y="74028"/>
                </a:lnTo>
                <a:lnTo>
                  <a:pt x="131978" y="79946"/>
                </a:lnTo>
                <a:lnTo>
                  <a:pt x="126428" y="84874"/>
                </a:lnTo>
                <a:lnTo>
                  <a:pt x="121246" y="91757"/>
                </a:lnTo>
                <a:lnTo>
                  <a:pt x="137909" y="102552"/>
                </a:lnTo>
                <a:lnTo>
                  <a:pt x="143433" y="95808"/>
                </a:lnTo>
                <a:lnTo>
                  <a:pt x="148945" y="91897"/>
                </a:lnTo>
                <a:lnTo>
                  <a:pt x="159943" y="89687"/>
                </a:lnTo>
                <a:lnTo>
                  <a:pt x="200820" y="89687"/>
                </a:lnTo>
                <a:lnTo>
                  <a:pt x="194525" y="85559"/>
                </a:lnTo>
                <a:lnTo>
                  <a:pt x="159092" y="73672"/>
                </a:lnTo>
                <a:lnTo>
                  <a:pt x="150863" y="72923"/>
                </a:lnTo>
                <a:close/>
              </a:path>
              <a:path w="963929" h="547370">
                <a:moveTo>
                  <a:pt x="405142" y="291172"/>
                </a:moveTo>
                <a:lnTo>
                  <a:pt x="383933" y="291172"/>
                </a:lnTo>
                <a:lnTo>
                  <a:pt x="382066" y="296557"/>
                </a:lnTo>
                <a:lnTo>
                  <a:pt x="381139" y="301599"/>
                </a:lnTo>
                <a:lnTo>
                  <a:pt x="381177" y="306285"/>
                </a:lnTo>
                <a:lnTo>
                  <a:pt x="400240" y="315175"/>
                </a:lnTo>
                <a:lnTo>
                  <a:pt x="399948" y="309994"/>
                </a:lnTo>
                <a:lnTo>
                  <a:pt x="400481" y="304977"/>
                </a:lnTo>
                <a:lnTo>
                  <a:pt x="401827" y="300101"/>
                </a:lnTo>
                <a:lnTo>
                  <a:pt x="403456" y="295328"/>
                </a:lnTo>
                <a:lnTo>
                  <a:pt x="405142" y="291172"/>
                </a:lnTo>
                <a:close/>
              </a:path>
              <a:path w="963929" h="547370">
                <a:moveTo>
                  <a:pt x="344157" y="221030"/>
                </a:moveTo>
                <a:lnTo>
                  <a:pt x="312056" y="247285"/>
                </a:lnTo>
                <a:lnTo>
                  <a:pt x="311134" y="253928"/>
                </a:lnTo>
                <a:lnTo>
                  <a:pt x="311683" y="260530"/>
                </a:lnTo>
                <a:lnTo>
                  <a:pt x="344093" y="291769"/>
                </a:lnTo>
                <a:lnTo>
                  <a:pt x="364424" y="294373"/>
                </a:lnTo>
                <a:lnTo>
                  <a:pt x="370532" y="293897"/>
                </a:lnTo>
                <a:lnTo>
                  <a:pt x="377035" y="292830"/>
                </a:lnTo>
                <a:lnTo>
                  <a:pt x="383933" y="291172"/>
                </a:lnTo>
                <a:lnTo>
                  <a:pt x="405142" y="291172"/>
                </a:lnTo>
                <a:lnTo>
                  <a:pt x="406304" y="288309"/>
                </a:lnTo>
                <a:lnTo>
                  <a:pt x="409584" y="280835"/>
                </a:lnTo>
                <a:lnTo>
                  <a:pt x="361950" y="280835"/>
                </a:lnTo>
                <a:lnTo>
                  <a:pt x="354990" y="279450"/>
                </a:lnTo>
                <a:lnTo>
                  <a:pt x="340880" y="272859"/>
                </a:lnTo>
                <a:lnTo>
                  <a:pt x="336245" y="268744"/>
                </a:lnTo>
                <a:lnTo>
                  <a:pt x="331876" y="258876"/>
                </a:lnTo>
                <a:lnTo>
                  <a:pt x="331941" y="253928"/>
                </a:lnTo>
                <a:lnTo>
                  <a:pt x="335635" y="246011"/>
                </a:lnTo>
                <a:lnTo>
                  <a:pt x="337820" y="243535"/>
                </a:lnTo>
                <a:lnTo>
                  <a:pt x="343611" y="239953"/>
                </a:lnTo>
                <a:lnTo>
                  <a:pt x="346925" y="239102"/>
                </a:lnTo>
                <a:lnTo>
                  <a:pt x="428901" y="239102"/>
                </a:lnTo>
                <a:lnTo>
                  <a:pt x="430457" y="235762"/>
                </a:lnTo>
                <a:lnTo>
                  <a:pt x="407885" y="235762"/>
                </a:lnTo>
                <a:lnTo>
                  <a:pt x="401120" y="234741"/>
                </a:lnTo>
                <a:lnTo>
                  <a:pt x="392958" y="232914"/>
                </a:lnTo>
                <a:lnTo>
                  <a:pt x="383398" y="230283"/>
                </a:lnTo>
                <a:lnTo>
                  <a:pt x="372440" y="226847"/>
                </a:lnTo>
                <a:lnTo>
                  <a:pt x="364807" y="224345"/>
                </a:lnTo>
                <a:lnTo>
                  <a:pt x="358978" y="222732"/>
                </a:lnTo>
                <a:lnTo>
                  <a:pt x="354952" y="222008"/>
                </a:lnTo>
                <a:lnTo>
                  <a:pt x="349465" y="221081"/>
                </a:lnTo>
                <a:lnTo>
                  <a:pt x="344157" y="221030"/>
                </a:lnTo>
                <a:close/>
              </a:path>
              <a:path w="963929" h="547370">
                <a:moveTo>
                  <a:pt x="428901" y="239102"/>
                </a:moveTo>
                <a:lnTo>
                  <a:pt x="346925" y="239102"/>
                </a:lnTo>
                <a:lnTo>
                  <a:pt x="354406" y="239331"/>
                </a:lnTo>
                <a:lnTo>
                  <a:pt x="360286" y="240601"/>
                </a:lnTo>
                <a:lnTo>
                  <a:pt x="401332" y="250101"/>
                </a:lnTo>
                <a:lnTo>
                  <a:pt x="398132" y="256692"/>
                </a:lnTo>
                <a:lnTo>
                  <a:pt x="361950" y="280835"/>
                </a:lnTo>
                <a:lnTo>
                  <a:pt x="409584" y="280835"/>
                </a:lnTo>
                <a:lnTo>
                  <a:pt x="410408" y="278961"/>
                </a:lnTo>
                <a:lnTo>
                  <a:pt x="415658" y="267525"/>
                </a:lnTo>
                <a:lnTo>
                  <a:pt x="428901" y="239102"/>
                </a:lnTo>
                <a:close/>
              </a:path>
              <a:path w="963929" h="547370">
                <a:moveTo>
                  <a:pt x="242785" y="110845"/>
                </a:moveTo>
                <a:lnTo>
                  <a:pt x="233235" y="237299"/>
                </a:lnTo>
                <a:lnTo>
                  <a:pt x="250748" y="245465"/>
                </a:lnTo>
                <a:lnTo>
                  <a:pt x="276932" y="219951"/>
                </a:lnTo>
                <a:lnTo>
                  <a:pt x="252069" y="219951"/>
                </a:lnTo>
                <a:lnTo>
                  <a:pt x="253466" y="211480"/>
                </a:lnTo>
                <a:lnTo>
                  <a:pt x="254520" y="203187"/>
                </a:lnTo>
                <a:lnTo>
                  <a:pt x="257136" y="174955"/>
                </a:lnTo>
                <a:lnTo>
                  <a:pt x="262280" y="119938"/>
                </a:lnTo>
                <a:lnTo>
                  <a:pt x="242785" y="110845"/>
                </a:lnTo>
                <a:close/>
              </a:path>
              <a:path w="963929" h="547370">
                <a:moveTo>
                  <a:pt x="419626" y="191719"/>
                </a:moveTo>
                <a:lnTo>
                  <a:pt x="378752" y="191719"/>
                </a:lnTo>
                <a:lnTo>
                  <a:pt x="385800" y="193167"/>
                </a:lnTo>
                <a:lnTo>
                  <a:pt x="403580" y="201460"/>
                </a:lnTo>
                <a:lnTo>
                  <a:pt x="409562" y="206743"/>
                </a:lnTo>
                <a:lnTo>
                  <a:pt x="414350" y="217652"/>
                </a:lnTo>
                <a:lnTo>
                  <a:pt x="413651" y="223672"/>
                </a:lnTo>
                <a:lnTo>
                  <a:pt x="409892" y="231736"/>
                </a:lnTo>
                <a:lnTo>
                  <a:pt x="407885" y="235762"/>
                </a:lnTo>
                <a:lnTo>
                  <a:pt x="430457" y="235762"/>
                </a:lnTo>
                <a:lnTo>
                  <a:pt x="435114" y="215633"/>
                </a:lnTo>
                <a:lnTo>
                  <a:pt x="432752" y="206552"/>
                </a:lnTo>
                <a:lnTo>
                  <a:pt x="429793" y="201853"/>
                </a:lnTo>
                <a:lnTo>
                  <a:pt x="420306" y="192163"/>
                </a:lnTo>
                <a:lnTo>
                  <a:pt x="419626" y="191719"/>
                </a:lnTo>
                <a:close/>
              </a:path>
              <a:path w="963929" h="547370">
                <a:moveTo>
                  <a:pt x="322897" y="148196"/>
                </a:moveTo>
                <a:lnTo>
                  <a:pt x="261772" y="209270"/>
                </a:lnTo>
                <a:lnTo>
                  <a:pt x="256324" y="215036"/>
                </a:lnTo>
                <a:lnTo>
                  <a:pt x="252069" y="219951"/>
                </a:lnTo>
                <a:lnTo>
                  <a:pt x="276932" y="219951"/>
                </a:lnTo>
                <a:lnTo>
                  <a:pt x="341617" y="156921"/>
                </a:lnTo>
                <a:lnTo>
                  <a:pt x="322897" y="148196"/>
                </a:lnTo>
                <a:close/>
              </a:path>
              <a:path w="963929" h="547370">
                <a:moveTo>
                  <a:pt x="369684" y="174955"/>
                </a:moveTo>
                <a:lnTo>
                  <a:pt x="362623" y="176060"/>
                </a:lnTo>
                <a:lnTo>
                  <a:pt x="350799" y="181991"/>
                </a:lnTo>
                <a:lnTo>
                  <a:pt x="345249" y="186905"/>
                </a:lnTo>
                <a:lnTo>
                  <a:pt x="340067" y="193789"/>
                </a:lnTo>
                <a:lnTo>
                  <a:pt x="356717" y="204584"/>
                </a:lnTo>
                <a:lnTo>
                  <a:pt x="362254" y="197853"/>
                </a:lnTo>
                <a:lnTo>
                  <a:pt x="367766" y="193929"/>
                </a:lnTo>
                <a:lnTo>
                  <a:pt x="378752" y="191719"/>
                </a:lnTo>
                <a:lnTo>
                  <a:pt x="419626" y="191719"/>
                </a:lnTo>
                <a:lnTo>
                  <a:pt x="413334" y="187604"/>
                </a:lnTo>
                <a:lnTo>
                  <a:pt x="377901" y="175704"/>
                </a:lnTo>
                <a:lnTo>
                  <a:pt x="369684" y="174955"/>
                </a:lnTo>
                <a:close/>
              </a:path>
              <a:path w="963929" h="547370">
                <a:moveTo>
                  <a:pt x="902264" y="423748"/>
                </a:moveTo>
                <a:lnTo>
                  <a:pt x="862876" y="448495"/>
                </a:lnTo>
                <a:lnTo>
                  <a:pt x="847639" y="487541"/>
                </a:lnTo>
                <a:lnTo>
                  <a:pt x="847609" y="499643"/>
                </a:lnTo>
                <a:lnTo>
                  <a:pt x="849858" y="510032"/>
                </a:lnTo>
                <a:lnTo>
                  <a:pt x="879614" y="541489"/>
                </a:lnTo>
                <a:lnTo>
                  <a:pt x="901212" y="547060"/>
                </a:lnTo>
                <a:lnTo>
                  <a:pt x="908634" y="547027"/>
                </a:lnTo>
                <a:lnTo>
                  <a:pt x="942747" y="529799"/>
                </a:lnTo>
                <a:lnTo>
                  <a:pt x="900214" y="529799"/>
                </a:lnTo>
                <a:lnTo>
                  <a:pt x="893374" y="528960"/>
                </a:lnTo>
                <a:lnTo>
                  <a:pt x="867534" y="499175"/>
                </a:lnTo>
                <a:lnTo>
                  <a:pt x="867409" y="497230"/>
                </a:lnTo>
                <a:lnTo>
                  <a:pt x="867833" y="489740"/>
                </a:lnTo>
                <a:lnTo>
                  <a:pt x="884612" y="453750"/>
                </a:lnTo>
                <a:lnTo>
                  <a:pt x="911109" y="441231"/>
                </a:lnTo>
                <a:lnTo>
                  <a:pt x="948966" y="441231"/>
                </a:lnTo>
                <a:lnTo>
                  <a:pt x="942031" y="435233"/>
                </a:lnTo>
                <a:lnTo>
                  <a:pt x="931875" y="429399"/>
                </a:lnTo>
                <a:lnTo>
                  <a:pt x="921943" y="425673"/>
                </a:lnTo>
                <a:lnTo>
                  <a:pt x="912072" y="423789"/>
                </a:lnTo>
                <a:lnTo>
                  <a:pt x="902264" y="423748"/>
                </a:lnTo>
                <a:close/>
              </a:path>
              <a:path w="963929" h="547370">
                <a:moveTo>
                  <a:pt x="948966" y="441231"/>
                </a:moveTo>
                <a:lnTo>
                  <a:pt x="911109" y="441231"/>
                </a:lnTo>
                <a:lnTo>
                  <a:pt x="917973" y="442106"/>
                </a:lnTo>
                <a:lnTo>
                  <a:pt x="924882" y="444558"/>
                </a:lnTo>
                <a:lnTo>
                  <a:pt x="943814" y="475129"/>
                </a:lnTo>
                <a:lnTo>
                  <a:pt x="943527" y="481118"/>
                </a:lnTo>
                <a:lnTo>
                  <a:pt x="926801" y="516995"/>
                </a:lnTo>
                <a:lnTo>
                  <a:pt x="900214" y="529799"/>
                </a:lnTo>
                <a:lnTo>
                  <a:pt x="942747" y="529799"/>
                </a:lnTo>
                <a:lnTo>
                  <a:pt x="961500" y="494885"/>
                </a:lnTo>
                <a:lnTo>
                  <a:pt x="963852" y="482955"/>
                </a:lnTo>
                <a:lnTo>
                  <a:pt x="963801" y="471587"/>
                </a:lnTo>
                <a:lnTo>
                  <a:pt x="961351" y="460781"/>
                </a:lnTo>
                <a:lnTo>
                  <a:pt x="956767" y="450925"/>
                </a:lnTo>
                <a:lnTo>
                  <a:pt x="950328" y="442409"/>
                </a:lnTo>
                <a:lnTo>
                  <a:pt x="948966" y="441231"/>
                </a:lnTo>
                <a:close/>
              </a:path>
              <a:path w="963929" h="547370">
                <a:moveTo>
                  <a:pt x="859840" y="348894"/>
                </a:moveTo>
                <a:lnTo>
                  <a:pt x="790676" y="497230"/>
                </a:lnTo>
                <a:lnTo>
                  <a:pt x="808901" y="505739"/>
                </a:lnTo>
                <a:lnTo>
                  <a:pt x="878077" y="357390"/>
                </a:lnTo>
                <a:lnTo>
                  <a:pt x="859840" y="348894"/>
                </a:lnTo>
                <a:close/>
              </a:path>
              <a:path w="963929" h="547370">
                <a:moveTo>
                  <a:pt x="813815" y="327431"/>
                </a:moveTo>
                <a:lnTo>
                  <a:pt x="744639" y="475767"/>
                </a:lnTo>
                <a:lnTo>
                  <a:pt x="762876" y="484276"/>
                </a:lnTo>
                <a:lnTo>
                  <a:pt x="832040" y="335927"/>
                </a:lnTo>
                <a:lnTo>
                  <a:pt x="813815" y="327431"/>
                </a:lnTo>
                <a:close/>
              </a:path>
              <a:path w="963929" h="547370">
                <a:moveTo>
                  <a:pt x="703213" y="327320"/>
                </a:moveTo>
                <a:lnTo>
                  <a:pt x="663160" y="344169"/>
                </a:lnTo>
                <a:lnTo>
                  <a:pt x="643573" y="379324"/>
                </a:lnTo>
                <a:lnTo>
                  <a:pt x="640986" y="402864"/>
                </a:lnTo>
                <a:lnTo>
                  <a:pt x="643293" y="413651"/>
                </a:lnTo>
                <a:lnTo>
                  <a:pt x="673836" y="445528"/>
                </a:lnTo>
                <a:lnTo>
                  <a:pt x="700484" y="451734"/>
                </a:lnTo>
                <a:lnTo>
                  <a:pt x="708761" y="450761"/>
                </a:lnTo>
                <a:lnTo>
                  <a:pt x="716621" y="448339"/>
                </a:lnTo>
                <a:lnTo>
                  <a:pt x="724012" y="444525"/>
                </a:lnTo>
                <a:lnTo>
                  <a:pt x="730798" y="439418"/>
                </a:lnTo>
                <a:lnTo>
                  <a:pt x="735468" y="434606"/>
                </a:lnTo>
                <a:lnTo>
                  <a:pt x="693966" y="434606"/>
                </a:lnTo>
                <a:lnTo>
                  <a:pt x="687451" y="433717"/>
                </a:lnTo>
                <a:lnTo>
                  <a:pt x="661177" y="403679"/>
                </a:lnTo>
                <a:lnTo>
                  <a:pt x="661093" y="396030"/>
                </a:lnTo>
                <a:lnTo>
                  <a:pt x="662488" y="387810"/>
                </a:lnTo>
                <a:lnTo>
                  <a:pt x="665365" y="379018"/>
                </a:lnTo>
                <a:lnTo>
                  <a:pt x="704302" y="379018"/>
                </a:lnTo>
                <a:lnTo>
                  <a:pt x="673353" y="364591"/>
                </a:lnTo>
                <a:lnTo>
                  <a:pt x="705745" y="344663"/>
                </a:lnTo>
                <a:lnTo>
                  <a:pt x="741703" y="344663"/>
                </a:lnTo>
                <a:lnTo>
                  <a:pt x="734928" y="338671"/>
                </a:lnTo>
                <a:lnTo>
                  <a:pt x="725093" y="332968"/>
                </a:lnTo>
                <a:lnTo>
                  <a:pt x="714070" y="328970"/>
                </a:lnTo>
                <a:lnTo>
                  <a:pt x="703213" y="327320"/>
                </a:lnTo>
                <a:close/>
              </a:path>
              <a:path w="963929" h="547370">
                <a:moveTo>
                  <a:pt x="719404" y="421627"/>
                </a:moveTo>
                <a:lnTo>
                  <a:pt x="713041" y="428066"/>
                </a:lnTo>
                <a:lnTo>
                  <a:pt x="706678" y="431952"/>
                </a:lnTo>
                <a:lnTo>
                  <a:pt x="693966" y="434606"/>
                </a:lnTo>
                <a:lnTo>
                  <a:pt x="735468" y="434606"/>
                </a:lnTo>
                <a:lnTo>
                  <a:pt x="737108" y="432917"/>
                </a:lnTo>
                <a:lnTo>
                  <a:pt x="719404" y="421627"/>
                </a:lnTo>
                <a:close/>
              </a:path>
              <a:path w="963929" h="547370">
                <a:moveTo>
                  <a:pt x="704302" y="379018"/>
                </a:moveTo>
                <a:lnTo>
                  <a:pt x="665365" y="379018"/>
                </a:lnTo>
                <a:lnTo>
                  <a:pt x="745439" y="416369"/>
                </a:lnTo>
                <a:lnTo>
                  <a:pt x="754099" y="392506"/>
                </a:lnTo>
                <a:lnTo>
                  <a:pt x="733234" y="392506"/>
                </a:lnTo>
                <a:lnTo>
                  <a:pt x="704302" y="379018"/>
                </a:lnTo>
                <a:close/>
              </a:path>
              <a:path w="963929" h="547370">
                <a:moveTo>
                  <a:pt x="581096" y="293065"/>
                </a:moveTo>
                <a:lnTo>
                  <a:pt x="535660" y="293065"/>
                </a:lnTo>
                <a:lnTo>
                  <a:pt x="612317" y="328815"/>
                </a:lnTo>
                <a:lnTo>
                  <a:pt x="579653" y="398843"/>
                </a:lnTo>
                <a:lnTo>
                  <a:pt x="599338" y="408012"/>
                </a:lnTo>
                <a:lnTo>
                  <a:pt x="644392" y="311404"/>
                </a:lnTo>
                <a:lnTo>
                  <a:pt x="620433" y="311404"/>
                </a:lnTo>
                <a:lnTo>
                  <a:pt x="581096" y="293065"/>
                </a:lnTo>
                <a:close/>
              </a:path>
              <a:path w="963929" h="547370">
                <a:moveTo>
                  <a:pt x="741703" y="344663"/>
                </a:moveTo>
                <a:lnTo>
                  <a:pt x="705745" y="344663"/>
                </a:lnTo>
                <a:lnTo>
                  <a:pt x="711993" y="345660"/>
                </a:lnTo>
                <a:lnTo>
                  <a:pt x="718248" y="347941"/>
                </a:lnTo>
                <a:lnTo>
                  <a:pt x="737514" y="375246"/>
                </a:lnTo>
                <a:lnTo>
                  <a:pt x="736638" y="383095"/>
                </a:lnTo>
                <a:lnTo>
                  <a:pt x="733234" y="392506"/>
                </a:lnTo>
                <a:lnTo>
                  <a:pt x="754099" y="392506"/>
                </a:lnTo>
                <a:lnTo>
                  <a:pt x="755397" y="386391"/>
                </a:lnTo>
                <a:lnTo>
                  <a:pt x="755597" y="374846"/>
                </a:lnTo>
                <a:lnTo>
                  <a:pt x="753402" y="363994"/>
                </a:lnTo>
                <a:lnTo>
                  <a:pt x="749082" y="354183"/>
                </a:lnTo>
                <a:lnTo>
                  <a:pt x="742924" y="345743"/>
                </a:lnTo>
                <a:lnTo>
                  <a:pt x="741703" y="344663"/>
                </a:lnTo>
                <a:close/>
              </a:path>
              <a:path w="963929" h="547370">
                <a:moveTo>
                  <a:pt x="552488" y="205574"/>
                </a:moveTo>
                <a:lnTo>
                  <a:pt x="483323" y="353910"/>
                </a:lnTo>
                <a:lnTo>
                  <a:pt x="502996" y="363093"/>
                </a:lnTo>
                <a:lnTo>
                  <a:pt x="535660" y="293065"/>
                </a:lnTo>
                <a:lnTo>
                  <a:pt x="581096" y="293065"/>
                </a:lnTo>
                <a:lnTo>
                  <a:pt x="543775" y="275666"/>
                </a:lnTo>
                <a:lnTo>
                  <a:pt x="572173" y="214744"/>
                </a:lnTo>
                <a:lnTo>
                  <a:pt x="552488" y="205574"/>
                </a:lnTo>
                <a:close/>
              </a:path>
              <a:path w="963929" h="547370">
                <a:moveTo>
                  <a:pt x="648830" y="250494"/>
                </a:moveTo>
                <a:lnTo>
                  <a:pt x="620433" y="311404"/>
                </a:lnTo>
                <a:lnTo>
                  <a:pt x="644392" y="311404"/>
                </a:lnTo>
                <a:lnTo>
                  <a:pt x="668515" y="259676"/>
                </a:lnTo>
                <a:lnTo>
                  <a:pt x="648830" y="2504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881092" y="3576446"/>
            <a:ext cx="2035810" cy="727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95" marR="5080" indent="-11430" algn="just">
              <a:lnSpc>
                <a:spcPts val="1900"/>
              </a:lnSpc>
            </a:pPr>
            <a:r>
              <a:rPr sz="1600" dirty="0">
                <a:solidFill>
                  <a:srgbClr val="330066"/>
                </a:solidFill>
                <a:latin typeface="Arial"/>
                <a:cs typeface="Arial"/>
              </a:rPr>
              <a:t>Java interpreter</a:t>
            </a:r>
            <a:r>
              <a:rPr sz="1600" spc="-10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0066"/>
                </a:solidFill>
                <a:latin typeface="Arial"/>
                <a:cs typeface="Arial"/>
              </a:rPr>
              <a:t>(JVM)  translates bytecode</a:t>
            </a:r>
            <a:r>
              <a:rPr sz="1600" spc="-9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0066"/>
                </a:solidFill>
                <a:latin typeface="Arial"/>
                <a:cs typeface="Arial"/>
              </a:rPr>
              <a:t>to  machine code in</a:t>
            </a:r>
            <a:r>
              <a:rPr sz="1600" spc="-10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0066"/>
                </a:solidFill>
                <a:latin typeface="Arial"/>
                <a:cs typeface="Arial"/>
              </a:rPr>
              <a:t>JRE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6301" y="2987357"/>
            <a:ext cx="2491105" cy="69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Java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Basics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57200" y="76200"/>
            <a:ext cx="10058402" cy="984250"/>
          </a:xfrm>
          <a:prstGeom prst="rect">
            <a:avLst/>
          </a:prstGeom>
        </p:spPr>
        <p:txBody>
          <a:bodyPr vert="horz" wrap="square" lIns="0" tIns="267017" rIns="0" bIns="0" rtlCol="0">
            <a:spAutoFit/>
          </a:bodyPr>
          <a:lstStyle/>
          <a:p>
            <a:pPr marL="1209040" algn="ctr">
              <a:lnSpc>
                <a:spcPct val="100000"/>
              </a:lnSpc>
            </a:pPr>
            <a:r>
              <a:rPr sz="4400" dirty="0"/>
              <a:t>Simple Java</a:t>
            </a:r>
            <a:r>
              <a:rPr lang="en-US" sz="4400" dirty="0"/>
              <a:t> Program</a:t>
            </a:r>
            <a:endParaRPr sz="4400" dirty="0">
              <a:latin typeface="MS PGothic"/>
              <a:cs typeface="MS P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1671320"/>
            <a:ext cx="6427470" cy="1320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  <a:tabLst>
                <a:tab pos="3213100" algn="l"/>
              </a:tabLst>
            </a:pPr>
            <a:r>
              <a:rPr sz="2000" b="1" spc="-5" dirty="0">
                <a:latin typeface="Courier New"/>
                <a:cs typeface="Courier New"/>
              </a:rPr>
              <a:t>public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class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dirty="0" err="1">
                <a:latin typeface="Courier New"/>
                <a:cs typeface="Courier New"/>
              </a:rPr>
              <a:t>MyClass</a:t>
            </a:r>
            <a:r>
              <a:rPr sz="2000" b="1" dirty="0">
                <a:latin typeface="Courier New"/>
                <a:cs typeface="Courier New"/>
              </a:rPr>
              <a:t>	{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 b="1" dirty="0">
              <a:latin typeface="Times New Roman"/>
              <a:cs typeface="Times New Roman"/>
            </a:endParaRPr>
          </a:p>
          <a:p>
            <a:pPr marL="622300" marR="5080" indent="-305435">
              <a:lnSpc>
                <a:spcPts val="1920"/>
              </a:lnSpc>
              <a:spcBef>
                <a:spcPts val="5"/>
              </a:spcBef>
              <a:tabLst>
                <a:tab pos="6261735" algn="l"/>
              </a:tabLst>
            </a:pPr>
            <a:r>
              <a:rPr sz="2000" b="1" spc="-5" dirty="0">
                <a:latin typeface="Courier New"/>
                <a:cs typeface="Courier New"/>
              </a:rPr>
              <a:t>publi</a:t>
            </a:r>
            <a:r>
              <a:rPr sz="2000" b="1" dirty="0">
                <a:latin typeface="Courier New"/>
                <a:cs typeface="Courier New"/>
              </a:rPr>
              <a:t>c </a:t>
            </a:r>
            <a:r>
              <a:rPr sz="2000" b="1" spc="-5" dirty="0">
                <a:latin typeface="Courier New"/>
                <a:cs typeface="Courier New"/>
              </a:rPr>
              <a:t>stati</a:t>
            </a:r>
            <a:r>
              <a:rPr sz="2000" b="1" dirty="0">
                <a:latin typeface="Courier New"/>
                <a:cs typeface="Courier New"/>
              </a:rPr>
              <a:t>c </a:t>
            </a:r>
            <a:r>
              <a:rPr sz="2000" b="1" spc="-5" dirty="0">
                <a:latin typeface="Courier New"/>
                <a:cs typeface="Courier New"/>
              </a:rPr>
              <a:t>voi</a:t>
            </a:r>
            <a:r>
              <a:rPr sz="2000" b="1" dirty="0">
                <a:latin typeface="Courier New"/>
                <a:cs typeface="Courier New"/>
              </a:rPr>
              <a:t>d </a:t>
            </a:r>
            <a:r>
              <a:rPr sz="2000" b="1" spc="-5" dirty="0">
                <a:latin typeface="Courier New"/>
                <a:cs typeface="Courier New"/>
              </a:rPr>
              <a:t>main(String[</a:t>
            </a:r>
            <a:r>
              <a:rPr sz="2000" b="1" dirty="0">
                <a:latin typeface="Courier New"/>
                <a:cs typeface="Courier New"/>
              </a:rPr>
              <a:t>] </a:t>
            </a:r>
            <a:r>
              <a:rPr sz="2000" b="1" dirty="0" err="1">
                <a:latin typeface="Courier New"/>
                <a:cs typeface="Courier New"/>
              </a:rPr>
              <a:t>args</a:t>
            </a:r>
            <a:r>
              <a:rPr sz="2000" b="1" dirty="0">
                <a:latin typeface="Courier New"/>
                <a:cs typeface="Courier New"/>
              </a:rPr>
              <a:t>)	{  </a:t>
            </a:r>
            <a:endParaRPr lang="en-US" sz="2000" b="1" dirty="0">
              <a:latin typeface="Courier New"/>
              <a:cs typeface="Courier New"/>
            </a:endParaRPr>
          </a:p>
          <a:p>
            <a:pPr marL="622300" marR="5080" indent="-305435">
              <a:lnSpc>
                <a:spcPts val="1920"/>
              </a:lnSpc>
              <a:spcBef>
                <a:spcPts val="5"/>
              </a:spcBef>
              <a:tabLst>
                <a:tab pos="6261735" algn="l"/>
              </a:tabLst>
            </a:pPr>
            <a:endParaRPr lang="en-US" sz="2000" b="1" spc="-5" dirty="0">
              <a:latin typeface="Courier New"/>
              <a:cs typeface="Courier New"/>
            </a:endParaRPr>
          </a:p>
          <a:p>
            <a:pPr marL="622300" marR="5080" indent="-305435">
              <a:lnSpc>
                <a:spcPts val="1920"/>
              </a:lnSpc>
              <a:spcBef>
                <a:spcPts val="5"/>
              </a:spcBef>
              <a:tabLst>
                <a:tab pos="6261735" algn="l"/>
              </a:tabLst>
            </a:pPr>
            <a:r>
              <a:rPr lang="en-US" sz="2000" b="1" spc="-5" dirty="0">
                <a:latin typeface="Courier New"/>
                <a:cs typeface="Courier New"/>
              </a:rPr>
              <a:t>	</a:t>
            </a:r>
            <a:r>
              <a:rPr sz="2000" b="1" spc="-5" dirty="0" err="1">
                <a:latin typeface="Courier New"/>
                <a:cs typeface="Courier New"/>
              </a:rPr>
              <a:t>System.out.print</a:t>
            </a:r>
            <a:r>
              <a:rPr sz="2000" b="1" spc="-5" dirty="0">
                <a:latin typeface="Courier New"/>
                <a:cs typeface="Courier New"/>
              </a:rPr>
              <a:t>(</a:t>
            </a:r>
            <a:r>
              <a:rPr sz="2000" b="1" spc="-5" dirty="0">
                <a:latin typeface="MS PGothic"/>
                <a:cs typeface="MS PGothic"/>
              </a:rPr>
              <a:t>“</a:t>
            </a:r>
            <a:r>
              <a:rPr sz="2000" b="1" spc="-5" dirty="0">
                <a:latin typeface="Courier New"/>
                <a:cs typeface="Courier New"/>
              </a:rPr>
              <a:t>Hello,</a:t>
            </a:r>
            <a:r>
              <a:rPr sz="2000" b="1" spc="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world</a:t>
            </a:r>
            <a:r>
              <a:rPr sz="2000" b="1" spc="-5" dirty="0">
                <a:latin typeface="MS PGothic"/>
                <a:cs typeface="MS PGothic"/>
              </a:rPr>
              <a:t>”</a:t>
            </a:r>
            <a:r>
              <a:rPr sz="2000" b="1" spc="-5" dirty="0">
                <a:latin typeface="Courier New"/>
                <a:cs typeface="Courier New"/>
              </a:rPr>
              <a:t>);</a:t>
            </a:r>
            <a:endParaRPr sz="2000" b="1" dirty="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1600" y="3276600"/>
            <a:ext cx="1784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17" name="object 15"/>
          <p:cNvSpPr txBox="1"/>
          <p:nvPr/>
        </p:nvSpPr>
        <p:spPr>
          <a:xfrm>
            <a:off x="827721" y="3773437"/>
            <a:ext cx="1784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228600"/>
            <a:ext cx="530542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48105" algn="l"/>
              </a:tabLst>
            </a:pPr>
            <a:r>
              <a:rPr sz="4400" dirty="0"/>
              <a:t>Java	Program</a:t>
            </a:r>
            <a:r>
              <a:rPr sz="4400" spc="-105" dirty="0"/>
              <a:t> </a:t>
            </a:r>
            <a:r>
              <a:rPr sz="440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2072640"/>
            <a:ext cx="7995920" cy="3493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All code has to be inside some class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definition</a:t>
            </a:r>
          </a:p>
          <a:p>
            <a:pPr marL="748665" marR="652780" indent="-279400">
              <a:lnSpc>
                <a:spcPts val="2220"/>
              </a:lnSpc>
              <a:spcBef>
                <a:spcPts val="360"/>
              </a:spcBef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–		For </a:t>
            </a:r>
            <a:r>
              <a:rPr sz="2000" spc="-30" dirty="0">
                <a:latin typeface="Arial"/>
                <a:cs typeface="Arial"/>
              </a:rPr>
              <a:t>now, </a:t>
            </a:r>
            <a:r>
              <a:rPr sz="2000" dirty="0">
                <a:latin typeface="Arial"/>
                <a:cs typeface="Arial"/>
              </a:rPr>
              <a:t>we can think of this like in terms of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file/module,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  namespace</a:t>
            </a:r>
          </a:p>
          <a:p>
            <a:pPr marL="355600" indent="-342900">
              <a:lnSpc>
                <a:spcPct val="100000"/>
              </a:lnSpc>
              <a:spcBef>
                <a:spcPts val="1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All programs begin execution at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Arial"/>
                <a:cs typeface="Arial"/>
              </a:rPr>
              <a:t>main()</a:t>
            </a:r>
            <a:endParaRPr sz="2400" dirty="0">
              <a:latin typeface="Arial"/>
              <a:cs typeface="Arial"/>
            </a:endParaRPr>
          </a:p>
          <a:p>
            <a:pPr marL="749300" lvl="1" indent="-342900">
              <a:lnSpc>
                <a:spcPct val="100000"/>
              </a:lnSpc>
              <a:spcBef>
                <a:spcPts val="265"/>
              </a:spcBef>
              <a:buChar char="•"/>
              <a:tabLst>
                <a:tab pos="748665" algn="l"/>
                <a:tab pos="749300" algn="l"/>
              </a:tabLst>
            </a:pPr>
            <a:r>
              <a:rPr sz="2000" dirty="0">
                <a:latin typeface="Arial"/>
                <a:cs typeface="Arial"/>
              </a:rPr>
              <a:t>This is much like in C,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but…</a:t>
            </a:r>
          </a:p>
          <a:p>
            <a:pPr marL="749300" lvl="1" indent="-342900">
              <a:lnSpc>
                <a:spcPct val="100000"/>
              </a:lnSpc>
              <a:spcBef>
                <a:spcPts val="300"/>
              </a:spcBef>
              <a:buChar char="•"/>
              <a:tabLst>
                <a:tab pos="748665" algn="l"/>
                <a:tab pos="749300" algn="l"/>
              </a:tabLst>
            </a:pPr>
            <a:r>
              <a:rPr sz="2000" spc="-65" dirty="0">
                <a:latin typeface="Arial"/>
                <a:cs typeface="Arial"/>
              </a:rPr>
              <a:t>You </a:t>
            </a:r>
            <a:r>
              <a:rPr sz="2000" dirty="0">
                <a:latin typeface="Arial"/>
                <a:cs typeface="Arial"/>
              </a:rPr>
              <a:t>can have a </a:t>
            </a:r>
            <a:r>
              <a:rPr sz="2000" spc="-5" dirty="0">
                <a:latin typeface="Arial"/>
                <a:cs typeface="Arial"/>
              </a:rPr>
              <a:t>different </a:t>
            </a:r>
            <a:r>
              <a:rPr sz="2000" dirty="0">
                <a:latin typeface="Arial"/>
                <a:cs typeface="Arial"/>
              </a:rPr>
              <a:t>main() in every class: pick at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runtime</a:t>
            </a:r>
          </a:p>
          <a:p>
            <a:pPr marL="355600" indent="-34290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System.out.print()</a:t>
            </a:r>
            <a:endParaRPr sz="2400" dirty="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Outputs text to 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screen</a:t>
            </a:r>
          </a:p>
          <a:p>
            <a:pPr marL="538480" algn="ctr">
              <a:lnSpc>
                <a:spcPct val="100000"/>
              </a:lnSpc>
              <a:spcBef>
                <a:spcPts val="200"/>
              </a:spcBef>
            </a:pPr>
            <a:r>
              <a:rPr sz="2000" spc="-5" dirty="0">
                <a:solidFill>
                  <a:srgbClr val="034CA1"/>
                </a:solidFill>
                <a:latin typeface="Arial"/>
                <a:cs typeface="Arial"/>
              </a:rPr>
              <a:t>System.out.print(</a:t>
            </a:r>
            <a:r>
              <a:rPr sz="2000" spc="-5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2000" spc="-5" dirty="0">
                <a:solidFill>
                  <a:srgbClr val="034CA1"/>
                </a:solidFill>
                <a:latin typeface="Arial"/>
                <a:cs typeface="Arial"/>
              </a:rPr>
              <a:t>Hello</a:t>
            </a:r>
            <a:r>
              <a:rPr sz="2000" spc="-5" dirty="0">
                <a:solidFill>
                  <a:srgbClr val="0062B1"/>
                </a:solidFill>
                <a:latin typeface="MS PGothic"/>
                <a:cs typeface="MS PGothic"/>
              </a:rPr>
              <a:t>”</a:t>
            </a:r>
            <a:r>
              <a:rPr sz="2000" spc="-5" dirty="0">
                <a:solidFill>
                  <a:srgbClr val="034CA1"/>
                </a:solidFill>
                <a:latin typeface="Arial"/>
                <a:cs typeface="Arial"/>
              </a:rPr>
              <a:t>);</a:t>
            </a:r>
            <a:endParaRPr sz="2000" dirty="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2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There is also </a:t>
            </a:r>
            <a:r>
              <a:rPr sz="2000" b="1" dirty="0">
                <a:latin typeface="Arial"/>
                <a:cs typeface="Arial"/>
              </a:rPr>
              <a:t>System.out.println( )</a:t>
            </a:r>
            <a:r>
              <a:rPr sz="2000" dirty="0">
                <a:latin typeface="Arial"/>
                <a:cs typeface="Arial"/>
              </a:rPr>
              <a:t>, which terminates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w/newline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462" y="701040"/>
            <a:ext cx="887347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7945">
              <a:lnSpc>
                <a:spcPct val="100000"/>
              </a:lnSpc>
            </a:pPr>
            <a:r>
              <a:rPr sz="3200" spc="-5" dirty="0"/>
              <a:t>Primitive</a:t>
            </a:r>
            <a:r>
              <a:rPr lang="en-US" sz="3200" spc="-5" dirty="0"/>
              <a:t> Data</a:t>
            </a:r>
            <a:r>
              <a:rPr sz="3200" spc="-100" dirty="0"/>
              <a:t> </a:t>
            </a:r>
            <a:r>
              <a:rPr sz="3200" spc="-40" dirty="0"/>
              <a:t>Types</a:t>
            </a:r>
            <a:endParaRPr sz="3200" dirty="0"/>
          </a:p>
        </p:txBody>
      </p:sp>
      <p:sp>
        <p:nvSpPr>
          <p:cNvPr id="4" name="object 4"/>
          <p:cNvSpPr/>
          <p:nvPr/>
        </p:nvSpPr>
        <p:spPr>
          <a:xfrm>
            <a:off x="457200" y="1219200"/>
            <a:ext cx="9144000" cy="5518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152400"/>
            <a:ext cx="529590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76145" algn="l"/>
              </a:tabLst>
            </a:pPr>
            <a:r>
              <a:rPr sz="4400" spc="-45" dirty="0"/>
              <a:t>Variable	</a:t>
            </a:r>
            <a:r>
              <a:rPr sz="4400" spc="-5" dirty="0"/>
              <a:t>Declarations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-24130" y="1278836"/>
            <a:ext cx="10082530" cy="4588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  <a:tab pos="1778000" algn="l"/>
              </a:tabLst>
            </a:pPr>
            <a:r>
              <a:rPr sz="2800" spc="-5" dirty="0">
                <a:latin typeface="Arial"/>
                <a:cs typeface="Arial"/>
              </a:rPr>
              <a:t>Format:	</a:t>
            </a:r>
            <a:r>
              <a:rPr sz="2800" i="1" dirty="0">
                <a:latin typeface="Arial"/>
                <a:cs typeface="Arial"/>
              </a:rPr>
              <a:t>type</a:t>
            </a:r>
            <a:r>
              <a:rPr sz="2800" i="1" spc="-10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variable-name;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Examples:</a:t>
            </a:r>
          </a:p>
          <a:p>
            <a:pPr marL="1383665" marR="4796790">
              <a:lnSpc>
                <a:spcPct val="107600"/>
              </a:lnSpc>
              <a:spcBef>
                <a:spcPts val="65"/>
              </a:spcBef>
            </a:pPr>
            <a:r>
              <a:rPr sz="2400" spc="-5" dirty="0">
                <a:solidFill>
                  <a:srgbClr val="034CA1"/>
                </a:solidFill>
                <a:latin typeface="Arial"/>
                <a:cs typeface="Arial"/>
              </a:rPr>
              <a:t>int </a:t>
            </a:r>
            <a:r>
              <a:rPr sz="2400" dirty="0">
                <a:solidFill>
                  <a:srgbClr val="034CA1"/>
                </a:solidFill>
                <a:latin typeface="Arial"/>
                <a:cs typeface="Arial"/>
              </a:rPr>
              <a:t>total;  float</a:t>
            </a:r>
            <a:r>
              <a:rPr sz="2400" spc="-105" dirty="0">
                <a:solidFill>
                  <a:srgbClr val="034CA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4CA1"/>
                </a:solidFill>
                <a:latin typeface="Arial"/>
                <a:cs typeface="Arial"/>
              </a:rPr>
              <a:t>salary;</a:t>
            </a:r>
            <a:endParaRPr lang="en-US" sz="2400" dirty="0">
              <a:solidFill>
                <a:srgbClr val="034CA1"/>
              </a:solidFill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lang="en-IE" sz="2800" i="1" dirty="0">
                <a:latin typeface="Arial"/>
                <a:cs typeface="Arial"/>
              </a:rPr>
              <a:t>When we declare a variable, we tell Java:</a:t>
            </a:r>
          </a:p>
          <a:p>
            <a:pPr marL="749300" marR="5080" lvl="1" indent="-279400">
              <a:lnSpc>
                <a:spcPts val="3329"/>
              </a:lnSpc>
              <a:spcBef>
                <a:spcPts val="765"/>
              </a:spcBef>
              <a:buChar char="–"/>
              <a:tabLst>
                <a:tab pos="755650" algn="l"/>
              </a:tabLst>
            </a:pPr>
            <a:r>
              <a:rPr lang="en-IE" sz="2400" i="1" dirty="0">
                <a:latin typeface="Arial"/>
                <a:cs typeface="Arial"/>
              </a:rPr>
              <a:t>When and where to set aside memory space for  the variable</a:t>
            </a:r>
          </a:p>
          <a:p>
            <a:pPr marL="755650" lvl="1" indent="-285750">
              <a:lnSpc>
                <a:spcPct val="100000"/>
              </a:lnSpc>
              <a:spcBef>
                <a:spcPts val="605"/>
              </a:spcBef>
              <a:buChar char="–"/>
              <a:tabLst>
                <a:tab pos="755650" algn="l"/>
              </a:tabLst>
            </a:pPr>
            <a:r>
              <a:rPr lang="en-IE" sz="2400" i="1" dirty="0">
                <a:latin typeface="Arial"/>
                <a:cs typeface="Arial"/>
              </a:rPr>
              <a:t>How much memory to set aside</a:t>
            </a:r>
          </a:p>
          <a:p>
            <a:pPr marL="749300" marR="440055" lvl="1" indent="-279400">
              <a:lnSpc>
                <a:spcPts val="3329"/>
              </a:lnSpc>
              <a:spcBef>
                <a:spcPts val="775"/>
              </a:spcBef>
              <a:buChar char="–"/>
              <a:tabLst>
                <a:tab pos="755650" algn="l"/>
              </a:tabLst>
            </a:pPr>
            <a:r>
              <a:rPr lang="en-IE" sz="2400" i="1" dirty="0">
                <a:latin typeface="Arial"/>
                <a:cs typeface="Arial"/>
              </a:rPr>
              <a:t>How to interpret the contents of that memory:  the specified data type</a:t>
            </a:r>
          </a:p>
          <a:p>
            <a:pPr marL="749300" marR="261620" lvl="1" indent="-279400">
              <a:lnSpc>
                <a:spcPts val="3329"/>
              </a:lnSpc>
              <a:spcBef>
                <a:spcPts val="740"/>
              </a:spcBef>
              <a:buChar char="–"/>
              <a:tabLst>
                <a:tab pos="755650" algn="l"/>
              </a:tabLst>
            </a:pPr>
            <a:r>
              <a:rPr lang="en-IE" sz="2400" i="1" dirty="0">
                <a:latin typeface="Arial"/>
                <a:cs typeface="Arial"/>
              </a:rPr>
              <a:t>What name we will be referring to that location  by: its identifier</a:t>
            </a:r>
          </a:p>
          <a:p>
            <a:pPr marL="1383665" marR="4796790">
              <a:lnSpc>
                <a:spcPct val="107600"/>
              </a:lnSpc>
              <a:spcBef>
                <a:spcPts val="65"/>
              </a:spcBef>
            </a:pP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245" y="830745"/>
            <a:ext cx="521335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92960" algn="l"/>
              </a:tabLst>
            </a:pPr>
            <a:r>
              <a:rPr sz="4400" dirty="0"/>
              <a:t>Naming	</a:t>
            </a:r>
            <a:r>
              <a:rPr sz="4400" spc="-5" dirty="0"/>
              <a:t>Conventions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803400"/>
            <a:ext cx="7712075" cy="4729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31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Arial"/>
                <a:cs typeface="Arial"/>
              </a:rPr>
              <a:t>Variables, </a:t>
            </a:r>
            <a:r>
              <a:rPr sz="2800" dirty="0">
                <a:latin typeface="Arial"/>
                <a:cs typeface="Arial"/>
              </a:rPr>
              <a:t>methods, and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objects</a:t>
            </a:r>
            <a:endParaRPr sz="2800">
              <a:latin typeface="Arial"/>
              <a:cs typeface="Arial"/>
            </a:endParaRPr>
          </a:p>
          <a:p>
            <a:pPr marL="749300" lvl="1" indent="-279400">
              <a:lnSpc>
                <a:spcPts val="2830"/>
              </a:lnSpc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Start with a lowercase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letter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Indicate "word" boundaries with an uppercase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letter</a:t>
            </a:r>
            <a:endParaRPr sz="2400">
              <a:latin typeface="Arial"/>
              <a:cs typeface="Arial"/>
            </a:endParaRPr>
          </a:p>
          <a:p>
            <a:pPr marL="749300" marR="747395" lvl="1" indent="-279400">
              <a:lnSpc>
                <a:spcPts val="2320"/>
              </a:lnSpc>
              <a:spcBef>
                <a:spcPts val="56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Restrict the remaining characters to digits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  lowercase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letters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Can use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underscores</a:t>
            </a:r>
            <a:endParaRPr sz="2400">
              <a:latin typeface="Arial"/>
              <a:cs typeface="Arial"/>
            </a:endParaRPr>
          </a:p>
          <a:p>
            <a:pPr marL="822325" algn="ctr">
              <a:lnSpc>
                <a:spcPct val="100000"/>
              </a:lnSpc>
              <a:spcBef>
                <a:spcPts val="1220"/>
              </a:spcBef>
              <a:tabLst>
                <a:tab pos="2834640" algn="l"/>
                <a:tab pos="5029200" algn="l"/>
              </a:tabLst>
            </a:pP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topSpeed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bankRate1	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timeOfArrival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Classes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Start with an uppercase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letter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Otherwise, adhere to the rules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above</a:t>
            </a:r>
            <a:endParaRPr sz="2400">
              <a:latin typeface="Arial"/>
              <a:cs typeface="Arial"/>
            </a:endParaRPr>
          </a:p>
          <a:p>
            <a:pPr marL="822325" algn="ctr">
              <a:lnSpc>
                <a:spcPct val="100000"/>
              </a:lnSpc>
              <a:spcBef>
                <a:spcPts val="1120"/>
              </a:spcBef>
              <a:tabLst>
                <a:tab pos="3749040" algn="l"/>
                <a:tab pos="5760720" algn="l"/>
              </a:tabLst>
            </a:pP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FirstProgram	MyClass	String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Java Keywords </a:t>
            </a:r>
            <a:r>
              <a:rPr lang="en-US" altLang="en-US" dirty="0">
                <a:solidFill>
                  <a:srgbClr val="FF0000"/>
                </a:solidFill>
              </a:rPr>
              <a:t>(till Java 6)</a:t>
            </a:r>
          </a:p>
        </p:txBody>
      </p:sp>
      <p:graphicFrame>
        <p:nvGraphicFramePr>
          <p:cNvPr id="195587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477744"/>
              </p:ext>
            </p:extLst>
          </p:nvPr>
        </p:nvGraphicFramePr>
        <p:xfrm>
          <a:off x="197327" y="1371600"/>
          <a:ext cx="9585167" cy="5613400"/>
        </p:xfrm>
        <a:graphic>
          <a:graphicData uri="http://schemas.openxmlformats.org/drawingml/2006/table">
            <a:tbl>
              <a:tblPr/>
              <a:tblGrid>
                <a:gridCol w="1370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10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73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08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024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</a:t>
                      </a:r>
                    </a:p>
                  </a:txBody>
                  <a:tcPr marL="100584" marR="100584" marT="51816" marB="5181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boolean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break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byte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catch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6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marL="100584" marR="100584" marT="51816" marB="5181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continue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default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double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else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4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extends</a:t>
                      </a:r>
                    </a:p>
                  </a:txBody>
                  <a:tcPr marL="100584" marR="100584" marT="51816" marB="5181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finally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float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for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4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implements</a:t>
                      </a:r>
                    </a:p>
                  </a:txBody>
                  <a:tcPr marL="100584" marR="100584" marT="51816" marB="5181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import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instanceof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long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native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4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new</a:t>
                      </a:r>
                    </a:p>
                  </a:txBody>
                  <a:tcPr marL="100584" marR="100584" marT="51816" marB="5181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package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protected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short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63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static</a:t>
                      </a:r>
                    </a:p>
                  </a:txBody>
                  <a:tcPr marL="100584" marR="100584" marT="51816" marB="5181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switch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synchronized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this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throw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throws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24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transient</a:t>
                      </a:r>
                    </a:p>
                  </a:txBody>
                  <a:tcPr marL="100584" marR="100584" marT="51816" marB="5181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try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void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volatile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while</a:t>
                      </a: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625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00584" marR="100584" marT="51816" marB="5181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448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017" rIns="0" bIns="0" rtlCol="0">
            <a:spAutoFit/>
          </a:bodyPr>
          <a:lstStyle/>
          <a:p>
            <a:pPr marL="32893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Operators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2103120"/>
            <a:ext cx="2404745" cy="284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Assignment: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Numeric: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Relational: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Boolean: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Bitwise: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36340" y="2103120"/>
            <a:ext cx="4112260" cy="2859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" dirty="0">
                <a:latin typeface="Calibri"/>
                <a:cs typeface="Calibri"/>
              </a:rPr>
              <a:t>=, +=, </a:t>
            </a:r>
            <a:r>
              <a:rPr sz="3200" spc="-395" dirty="0">
                <a:latin typeface="Calibri"/>
                <a:cs typeface="Calibri"/>
              </a:rPr>
              <a:t>-­‐=,  </a:t>
            </a:r>
            <a:r>
              <a:rPr sz="3200" spc="-5" dirty="0">
                <a:latin typeface="Calibri"/>
                <a:cs typeface="Calibri"/>
              </a:rPr>
              <a:t>*=, /=,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%=…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3200" spc="-5" dirty="0">
                <a:latin typeface="Calibri"/>
                <a:cs typeface="Calibri"/>
              </a:rPr>
              <a:t>+, </a:t>
            </a:r>
            <a:r>
              <a:rPr sz="3200" spc="-490" dirty="0">
                <a:latin typeface="Calibri"/>
                <a:cs typeface="Calibri"/>
              </a:rPr>
              <a:t>-­‐,   </a:t>
            </a:r>
            <a:r>
              <a:rPr sz="3200" spc="-5" dirty="0">
                <a:latin typeface="Calibri"/>
                <a:cs typeface="Calibri"/>
              </a:rPr>
              <a:t>*, </a:t>
            </a:r>
            <a:r>
              <a:rPr sz="3200" dirty="0">
                <a:latin typeface="Calibri"/>
                <a:cs typeface="Calibri"/>
              </a:rPr>
              <a:t>/, </a:t>
            </a:r>
            <a:r>
              <a:rPr sz="3200" spc="-5" dirty="0">
                <a:latin typeface="Calibri"/>
                <a:cs typeface="Calibri"/>
              </a:rPr>
              <a:t>%, ++, </a:t>
            </a:r>
            <a:r>
              <a:rPr lang="en-US" sz="3200" spc="-5" dirty="0">
                <a:latin typeface="Calibri"/>
                <a:cs typeface="Calibri"/>
              </a:rPr>
              <a:t>- -</a:t>
            </a:r>
            <a:r>
              <a:rPr sz="3200" spc="-560" dirty="0">
                <a:latin typeface="Calibri"/>
                <a:cs typeface="Calibri"/>
              </a:rPr>
              <a:t>   </a:t>
            </a:r>
            <a:r>
              <a:rPr sz="3200" spc="-5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…</a:t>
            </a: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3200" spc="-5" dirty="0">
                <a:latin typeface="Calibri"/>
                <a:cs typeface="Calibri"/>
              </a:rPr>
              <a:t>==, !=, &lt;, &gt;, &lt;=, &gt;=,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…</a:t>
            </a: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lang="en-US" sz="3200" dirty="0">
                <a:latin typeface="Calibri"/>
                <a:cs typeface="Calibri"/>
              </a:rPr>
              <a:t>&amp;, </a:t>
            </a:r>
            <a:r>
              <a:rPr sz="3200" dirty="0">
                <a:latin typeface="Calibri"/>
                <a:cs typeface="Calibri"/>
              </a:rPr>
              <a:t>&amp;&amp;,</a:t>
            </a:r>
            <a:r>
              <a:rPr lang="en-US" sz="3200" dirty="0">
                <a:latin typeface="Calibri"/>
                <a:cs typeface="Calibri"/>
              </a:rPr>
              <a:t> |,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||,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!</a:t>
            </a: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3200" dirty="0">
                <a:latin typeface="Calibri"/>
                <a:cs typeface="Calibri"/>
              </a:rPr>
              <a:t>&amp;, </a:t>
            </a:r>
            <a:r>
              <a:rPr sz="3200" spc="-5" dirty="0">
                <a:latin typeface="Calibri"/>
                <a:cs typeface="Calibri"/>
              </a:rPr>
              <a:t>|, ^, ~, &lt;&lt;, &gt;&gt;,</a:t>
            </a:r>
            <a:r>
              <a:rPr lang="en-US" sz="3200" spc="-5" dirty="0">
                <a:latin typeface="Calibri"/>
                <a:cs typeface="Calibri"/>
              </a:rPr>
              <a:t> &gt;&gt;&gt;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04" y="198487"/>
            <a:ext cx="9900996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718820">
              <a:lnSpc>
                <a:spcPts val="3800"/>
              </a:lnSpc>
            </a:pPr>
            <a:r>
              <a:rPr sz="3200" spc="-5" dirty="0">
                <a:latin typeface="Calibri"/>
                <a:cs typeface="Calibri"/>
              </a:rPr>
              <a:t>Arithmetic Operators  </a:t>
            </a:r>
            <a:r>
              <a:rPr sz="3200" dirty="0">
                <a:latin typeface="Calibri"/>
                <a:cs typeface="Calibri"/>
              </a:rPr>
              <a:t>Rules </a:t>
            </a:r>
            <a:r>
              <a:rPr sz="3200" spc="-5" dirty="0">
                <a:latin typeface="Calibri"/>
                <a:cs typeface="Calibri"/>
              </a:rPr>
              <a:t>of Operator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Precedence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7487" y="2405979"/>
            <a:ext cx="1713864" cy="955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 marR="5080" indent="-79375">
              <a:lnSpc>
                <a:spcPct val="119400"/>
              </a:lnSpc>
            </a:pPr>
            <a:r>
              <a:rPr sz="2600" u="heavy" dirty="0">
                <a:latin typeface="Arial"/>
                <a:cs typeface="Arial"/>
              </a:rPr>
              <a:t>Operator(s) </a:t>
            </a:r>
            <a:r>
              <a:rPr sz="2600" dirty="0">
                <a:latin typeface="Arial"/>
                <a:cs typeface="Arial"/>
              </a:rPr>
              <a:t> (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)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4787" y="4305045"/>
            <a:ext cx="109093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16559" algn="l"/>
                <a:tab pos="783590" algn="l"/>
              </a:tabLst>
            </a:pPr>
            <a:r>
              <a:rPr sz="2600" dirty="0">
                <a:latin typeface="Arial"/>
                <a:cs typeface="Arial"/>
              </a:rPr>
              <a:t>*	/	%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4787" y="5244845"/>
            <a:ext cx="67754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80059" algn="l"/>
              </a:tabLst>
            </a:pPr>
            <a:r>
              <a:rPr sz="2600" dirty="0">
                <a:latin typeface="Arial"/>
                <a:cs typeface="Arial"/>
              </a:rPr>
              <a:t>+	–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8246" y="6197346"/>
            <a:ext cx="21844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latin typeface="Arial"/>
                <a:cs typeface="Arial"/>
              </a:rPr>
              <a:t>=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5687" y="2482850"/>
            <a:ext cx="4778375" cy="412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ct val="100000"/>
              </a:lnSpc>
            </a:pPr>
            <a:r>
              <a:rPr sz="2600" u="heavy" dirty="0">
                <a:latin typeface="Arial"/>
                <a:cs typeface="Arial"/>
              </a:rPr>
              <a:t>Precedence &amp;</a:t>
            </a:r>
            <a:r>
              <a:rPr sz="2600" u="heavy" spc="-245" dirty="0">
                <a:latin typeface="Arial"/>
                <a:cs typeface="Arial"/>
              </a:rPr>
              <a:t> </a:t>
            </a:r>
            <a:r>
              <a:rPr sz="2600" u="heavy" dirty="0">
                <a:latin typeface="Arial"/>
                <a:cs typeface="Arial"/>
              </a:rPr>
              <a:t>Associativity</a:t>
            </a:r>
            <a:endParaRPr sz="2600" dirty="0">
              <a:latin typeface="Arial"/>
              <a:cs typeface="Arial"/>
            </a:endParaRPr>
          </a:p>
          <a:p>
            <a:pPr marL="12700" marR="5080" indent="1270">
              <a:lnSpc>
                <a:spcPct val="99000"/>
              </a:lnSpc>
              <a:spcBef>
                <a:spcPts val="635"/>
              </a:spcBef>
              <a:tabLst>
                <a:tab pos="2360930" algn="l"/>
              </a:tabLst>
            </a:pPr>
            <a:r>
              <a:rPr sz="2600" dirty="0">
                <a:latin typeface="Arial"/>
                <a:cs typeface="Arial"/>
              </a:rPr>
              <a:t>Evaluated first. If </a:t>
            </a:r>
            <a:r>
              <a:rPr sz="2600" b="1" spc="-5" dirty="0">
                <a:latin typeface="Arial"/>
                <a:cs typeface="Arial"/>
              </a:rPr>
              <a:t>nested</a:t>
            </a:r>
            <a:r>
              <a:rPr sz="2600" spc="-5" dirty="0">
                <a:latin typeface="Arial"/>
                <a:cs typeface="Arial"/>
              </a:rPr>
              <a:t>,  </a:t>
            </a:r>
            <a:r>
              <a:rPr sz="2600" dirty="0">
                <a:latin typeface="Arial"/>
                <a:cs typeface="Arial"/>
              </a:rPr>
              <a:t>innermost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first.	If on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same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level,  left to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right.</a:t>
            </a:r>
          </a:p>
          <a:p>
            <a:pPr marL="12700" marR="259079" indent="1270">
              <a:lnSpc>
                <a:spcPts val="3050"/>
              </a:lnSpc>
              <a:spcBef>
                <a:spcPts val="1485"/>
              </a:spcBef>
              <a:tabLst>
                <a:tab pos="2914650" algn="l"/>
              </a:tabLst>
            </a:pPr>
            <a:r>
              <a:rPr sz="2600" dirty="0">
                <a:latin typeface="Arial"/>
                <a:cs typeface="Arial"/>
              </a:rPr>
              <a:t>Evaluated second.	If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there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are  several, evaluated left to</a:t>
            </a:r>
            <a:r>
              <a:rPr sz="2600" spc="-1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right.</a:t>
            </a:r>
          </a:p>
          <a:p>
            <a:pPr marL="12700" marR="352425" indent="1270">
              <a:lnSpc>
                <a:spcPct val="101000"/>
              </a:lnSpc>
              <a:spcBef>
                <a:spcPts val="1105"/>
              </a:spcBef>
              <a:tabLst>
                <a:tab pos="2491740" algn="l"/>
              </a:tabLst>
            </a:pPr>
            <a:r>
              <a:rPr sz="2600" dirty="0">
                <a:latin typeface="Arial"/>
                <a:cs typeface="Arial"/>
              </a:rPr>
              <a:t>Evaluated third.	If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there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are  several, evaluated left to</a:t>
            </a:r>
            <a:r>
              <a:rPr sz="2600" spc="-1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right.</a:t>
            </a:r>
          </a:p>
          <a:p>
            <a:pPr marL="13970">
              <a:lnSpc>
                <a:spcPct val="100000"/>
              </a:lnSpc>
              <a:spcBef>
                <a:spcPts val="1225"/>
              </a:spcBef>
            </a:pPr>
            <a:r>
              <a:rPr sz="2600" dirty="0">
                <a:latin typeface="Arial"/>
                <a:cs typeface="Arial"/>
              </a:rPr>
              <a:t>Evaluated last, right to</a:t>
            </a:r>
            <a:r>
              <a:rPr sz="2600" spc="-1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left.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2462" y="6350"/>
            <a:ext cx="8873474" cy="984250"/>
          </a:xfrm>
          <a:prstGeom prst="rect">
            <a:avLst/>
          </a:prstGeom>
        </p:spPr>
        <p:txBody>
          <a:bodyPr vert="horz" wrap="square" lIns="0" tIns="297497" rIns="0" bIns="0" rtlCol="0">
            <a:spAutoFit/>
          </a:bodyPr>
          <a:lstStyle/>
          <a:p>
            <a:pPr marL="66484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Practice With Evaluating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Expressions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87439" y="1143000"/>
            <a:ext cx="8861361" cy="6575361"/>
            <a:chOff x="587439" y="1143000"/>
            <a:chExt cx="8861361" cy="6575361"/>
          </a:xfrm>
        </p:grpSpPr>
        <p:sp>
          <p:nvSpPr>
            <p:cNvPr id="2" name="object 2"/>
            <p:cNvSpPr/>
            <p:nvPr/>
          </p:nvSpPr>
          <p:spPr>
            <a:xfrm>
              <a:off x="587439" y="1143000"/>
              <a:ext cx="8861361" cy="657536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/>
            <p:nvPr/>
          </p:nvSpPr>
          <p:spPr>
            <a:xfrm>
              <a:off x="685800" y="1143000"/>
              <a:ext cx="8763000" cy="6477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5800" y="1143000"/>
              <a:ext cx="8763000" cy="6477000"/>
            </a:xfrm>
            <a:custGeom>
              <a:avLst/>
              <a:gdLst/>
              <a:ahLst/>
              <a:cxnLst/>
              <a:rect l="l" t="t" r="r" b="b"/>
              <a:pathLst>
                <a:path w="8763000" h="6477000">
                  <a:moveTo>
                    <a:pt x="0" y="0"/>
                  </a:moveTo>
                  <a:lnTo>
                    <a:pt x="8762993" y="0"/>
                  </a:lnTo>
                  <a:lnTo>
                    <a:pt x="8762993" y="6476995"/>
                  </a:lnTo>
                  <a:lnTo>
                    <a:pt x="0" y="647699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1563687" y="2210358"/>
              <a:ext cx="7209790" cy="46767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marR="5080">
                <a:lnSpc>
                  <a:spcPct val="109000"/>
                </a:lnSpc>
              </a:pPr>
              <a:r>
                <a:rPr sz="3200" spc="-5" dirty="0">
                  <a:latin typeface="Arial"/>
                  <a:cs typeface="Arial"/>
                </a:rPr>
                <a:t>Given integer </a:t>
              </a:r>
              <a:r>
                <a:rPr sz="3200" dirty="0">
                  <a:latin typeface="Arial"/>
                  <a:cs typeface="Arial"/>
                </a:rPr>
                <a:t>variables a, b, c, d, and</a:t>
              </a:r>
              <a:r>
                <a:rPr sz="3200" spc="-70" dirty="0">
                  <a:latin typeface="Arial"/>
                  <a:cs typeface="Arial"/>
                </a:rPr>
                <a:t> </a:t>
              </a:r>
              <a:r>
                <a:rPr sz="3200" dirty="0">
                  <a:latin typeface="Arial"/>
                  <a:cs typeface="Arial"/>
                </a:rPr>
                <a:t>e,  where a = 1, b = 2, c = 3, d = 4,  </a:t>
              </a:r>
              <a:r>
                <a:rPr sz="3200" spc="-5" dirty="0">
                  <a:latin typeface="Arial"/>
                  <a:cs typeface="Arial"/>
                </a:rPr>
                <a:t>evaluate the following </a:t>
              </a:r>
              <a:r>
                <a:rPr sz="3200" dirty="0">
                  <a:latin typeface="Arial"/>
                  <a:cs typeface="Arial"/>
                </a:rPr>
                <a:t>expressions:</a:t>
              </a:r>
            </a:p>
            <a:p>
              <a:pPr marL="127000" marR="4906010">
                <a:lnSpc>
                  <a:spcPct val="121000"/>
                </a:lnSpc>
                <a:spcBef>
                  <a:spcPts val="1105"/>
                </a:spcBef>
              </a:pPr>
              <a:r>
                <a:rPr sz="3200" dirty="0">
                  <a:latin typeface="Arial"/>
                  <a:cs typeface="Arial"/>
                </a:rPr>
                <a:t>a + b - c +</a:t>
              </a:r>
              <a:r>
                <a:rPr sz="3200" spc="-110" dirty="0">
                  <a:latin typeface="Arial"/>
                  <a:cs typeface="Arial"/>
                </a:rPr>
                <a:t> </a:t>
              </a:r>
              <a:r>
                <a:rPr sz="3200" dirty="0">
                  <a:latin typeface="Arial"/>
                  <a:cs typeface="Arial"/>
                </a:rPr>
                <a:t>d  a * b /</a:t>
              </a:r>
              <a:r>
                <a:rPr sz="3200" spc="-105" dirty="0">
                  <a:latin typeface="Arial"/>
                  <a:cs typeface="Arial"/>
                </a:rPr>
                <a:t> </a:t>
              </a:r>
              <a:r>
                <a:rPr sz="3200" dirty="0">
                  <a:latin typeface="Arial"/>
                  <a:cs typeface="Arial"/>
                </a:rPr>
                <a:t>c</a:t>
              </a:r>
            </a:p>
            <a:p>
              <a:pPr marL="127000" marR="4758690">
                <a:lnSpc>
                  <a:spcPct val="119800"/>
                </a:lnSpc>
              </a:pPr>
              <a:r>
                <a:rPr sz="3200" dirty="0">
                  <a:latin typeface="Arial"/>
                  <a:cs typeface="Arial"/>
                </a:rPr>
                <a:t>1 + a * b %</a:t>
              </a:r>
              <a:r>
                <a:rPr sz="3200" spc="-100" dirty="0">
                  <a:latin typeface="Arial"/>
                  <a:cs typeface="Arial"/>
                </a:rPr>
                <a:t> </a:t>
              </a:r>
              <a:r>
                <a:rPr sz="3200" dirty="0">
                  <a:latin typeface="Arial"/>
                  <a:cs typeface="Arial"/>
                </a:rPr>
                <a:t>c  a + d % b -</a:t>
              </a:r>
              <a:r>
                <a:rPr sz="3200" spc="-105" dirty="0">
                  <a:latin typeface="Arial"/>
                  <a:cs typeface="Arial"/>
                </a:rPr>
                <a:t> </a:t>
              </a:r>
              <a:r>
                <a:rPr sz="3200" dirty="0">
                  <a:latin typeface="Arial"/>
                  <a:cs typeface="Arial"/>
                </a:rPr>
                <a:t>c</a:t>
              </a:r>
            </a:p>
            <a:p>
              <a:pPr marL="127000">
                <a:lnSpc>
                  <a:spcPct val="100000"/>
                </a:lnSpc>
                <a:spcBef>
                  <a:spcPts val="760"/>
                </a:spcBef>
              </a:pPr>
              <a:r>
                <a:rPr sz="3200" dirty="0">
                  <a:latin typeface="Arial"/>
                  <a:cs typeface="Arial"/>
                </a:rPr>
                <a:t>e = b = d + c / b -</a:t>
              </a:r>
              <a:r>
                <a:rPr sz="3200" spc="-114" dirty="0">
                  <a:latin typeface="Arial"/>
                  <a:cs typeface="Arial"/>
                </a:rPr>
                <a:t> </a:t>
              </a:r>
              <a:r>
                <a:rPr sz="3200" dirty="0">
                  <a:latin typeface="Arial"/>
                  <a:cs typeface="Arial"/>
                </a:rPr>
                <a:t>a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923" y="656710"/>
            <a:ext cx="8861361" cy="6575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85800"/>
            <a:ext cx="8763000" cy="647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685800"/>
            <a:ext cx="8763000" cy="6477000"/>
          </a:xfrm>
          <a:custGeom>
            <a:avLst/>
            <a:gdLst/>
            <a:ahLst/>
            <a:cxnLst/>
            <a:rect l="l" t="t" r="r" b="b"/>
            <a:pathLst>
              <a:path w="8763000" h="6477000">
                <a:moveTo>
                  <a:pt x="0" y="0"/>
                </a:moveTo>
                <a:lnTo>
                  <a:pt x="8762993" y="0"/>
                </a:lnTo>
                <a:lnTo>
                  <a:pt x="8762993" y="6476995"/>
                </a:lnTo>
                <a:lnTo>
                  <a:pt x="0" y="647699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B92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18406" y="678345"/>
            <a:ext cx="5741035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53460" algn="l"/>
              </a:tabLst>
            </a:pPr>
            <a:r>
              <a:rPr sz="4400" dirty="0"/>
              <a:t>A</a:t>
            </a:r>
            <a:r>
              <a:rPr sz="4400" spc="-245" dirty="0"/>
              <a:t> </a:t>
            </a:r>
            <a:r>
              <a:rPr sz="4400" dirty="0"/>
              <a:t>Hand</a:t>
            </a:r>
            <a:r>
              <a:rPr sz="4400" spc="-80" dirty="0"/>
              <a:t> </a:t>
            </a:r>
            <a:r>
              <a:rPr sz="4400" spc="-165" dirty="0"/>
              <a:t>T</a:t>
            </a:r>
            <a:r>
              <a:rPr sz="4400" dirty="0"/>
              <a:t>race	Example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2687" y="2116602"/>
            <a:ext cx="2613025" cy="773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200"/>
              </a:lnSpc>
            </a:pPr>
            <a:r>
              <a:rPr sz="2100" dirty="0">
                <a:latin typeface="Arial"/>
                <a:cs typeface="Arial"/>
              </a:rPr>
              <a:t>int </a:t>
            </a:r>
            <a:r>
              <a:rPr sz="2100" spc="-20" dirty="0">
                <a:latin typeface="Arial"/>
                <a:cs typeface="Arial"/>
              </a:rPr>
              <a:t>answer, </a:t>
            </a:r>
            <a:r>
              <a:rPr sz="2100" dirty="0">
                <a:latin typeface="Arial"/>
                <a:cs typeface="Arial"/>
              </a:rPr>
              <a:t>value = 4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;  </a:t>
            </a:r>
            <a:r>
              <a:rPr sz="2100" u="sng" dirty="0">
                <a:latin typeface="Arial"/>
                <a:cs typeface="Arial"/>
              </a:rPr>
              <a:t>Code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4387" y="2559558"/>
            <a:ext cx="13322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9259" algn="l"/>
              </a:tabLst>
            </a:pPr>
            <a:r>
              <a:rPr sz="2100" u="sng" dirty="0">
                <a:latin typeface="Arial"/>
                <a:cs typeface="Arial"/>
              </a:rPr>
              <a:t> 	Answer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0187" y="2559558"/>
            <a:ext cx="1511300" cy="69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85">
              <a:lnSpc>
                <a:spcPct val="100000"/>
              </a:lnSpc>
            </a:pPr>
            <a:r>
              <a:rPr sz="2100" u="sng" spc="-35" dirty="0">
                <a:latin typeface="Arial"/>
                <a:cs typeface="Arial"/>
              </a:rPr>
              <a:t>Value</a:t>
            </a:r>
            <a:r>
              <a:rPr sz="2100" u="sng" spc="45" dirty="0">
                <a:latin typeface="Arial"/>
                <a:cs typeface="Arial"/>
              </a:rPr>
              <a:t> 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  <a:tabLst>
                <a:tab pos="469265" algn="l"/>
              </a:tabLst>
            </a:pPr>
            <a:r>
              <a:rPr sz="2000" dirty="0">
                <a:latin typeface="Arial"/>
                <a:cs typeface="Arial"/>
              </a:rPr>
              <a:t>	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2687" y="3248050"/>
            <a:ext cx="2687320" cy="3464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86409">
              <a:lnSpc>
                <a:spcPct val="119000"/>
              </a:lnSpc>
            </a:pPr>
            <a:r>
              <a:rPr sz="2100" dirty="0">
                <a:latin typeface="Arial"/>
                <a:cs typeface="Arial"/>
              </a:rPr>
              <a:t>value = value + 1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;  value++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latin typeface="Arial"/>
                <a:cs typeface="Arial"/>
              </a:rPr>
              <a:t>++value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latin typeface="Arial"/>
                <a:cs typeface="Arial"/>
              </a:rPr>
              <a:t>answer = 2 * value++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;</a:t>
            </a:r>
          </a:p>
          <a:p>
            <a:pPr marL="12700" marR="34290">
              <a:lnSpc>
                <a:spcPct val="119000"/>
              </a:lnSpc>
              <a:spcBef>
                <a:spcPts val="100"/>
              </a:spcBef>
            </a:pPr>
            <a:r>
              <a:rPr sz="2100" dirty="0">
                <a:latin typeface="Arial"/>
                <a:cs typeface="Arial"/>
              </a:rPr>
              <a:t>answer = ++value / 2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;  value--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latin typeface="Arial"/>
                <a:cs typeface="Arial"/>
              </a:rPr>
              <a:t>--value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;</a:t>
            </a:r>
          </a:p>
          <a:p>
            <a:pPr marL="12700" marR="138430">
              <a:lnSpc>
                <a:spcPts val="3100"/>
              </a:lnSpc>
              <a:spcBef>
                <a:spcPts val="100"/>
              </a:spcBef>
            </a:pPr>
            <a:r>
              <a:rPr sz="2100" dirty="0">
                <a:latin typeface="Arial"/>
                <a:cs typeface="Arial"/>
              </a:rPr>
              <a:t>answer = --value * 2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;  answer = value-- / 3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923" y="656710"/>
            <a:ext cx="8861361" cy="6575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85800"/>
            <a:ext cx="8763000" cy="647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685800"/>
            <a:ext cx="8763000" cy="6477000"/>
          </a:xfrm>
          <a:custGeom>
            <a:avLst/>
            <a:gdLst/>
            <a:ahLst/>
            <a:cxnLst/>
            <a:rect l="l" t="t" r="r" b="b"/>
            <a:pathLst>
              <a:path w="8763000" h="6477000">
                <a:moveTo>
                  <a:pt x="0" y="0"/>
                </a:moveTo>
                <a:lnTo>
                  <a:pt x="8762993" y="0"/>
                </a:lnTo>
                <a:lnTo>
                  <a:pt x="8762993" y="6476995"/>
                </a:lnTo>
                <a:lnTo>
                  <a:pt x="0" y="647699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B92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52508" y="754545"/>
            <a:ext cx="3472815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40815" algn="l"/>
              </a:tabLst>
            </a:pPr>
            <a:r>
              <a:rPr sz="4400" dirty="0"/>
              <a:t>More	</a:t>
            </a:r>
            <a:r>
              <a:rPr sz="4400" spc="-5" dirty="0"/>
              <a:t>Practice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335087" y="2101850"/>
            <a:ext cx="7639050" cy="3895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" dirty="0">
                <a:latin typeface="Arial"/>
                <a:cs typeface="Arial"/>
              </a:rPr>
              <a:t>Given</a:t>
            </a:r>
            <a:endParaRPr sz="3200">
              <a:latin typeface="Arial"/>
              <a:cs typeface="Arial"/>
            </a:endParaRPr>
          </a:p>
          <a:p>
            <a:pPr marL="576580">
              <a:lnSpc>
                <a:spcPct val="100000"/>
              </a:lnSpc>
              <a:spcBef>
                <a:spcPts val="725"/>
              </a:spcBef>
            </a:pPr>
            <a:r>
              <a:rPr sz="3200" dirty="0">
                <a:latin typeface="Arial"/>
                <a:cs typeface="Arial"/>
              </a:rPr>
              <a:t>int a = 1, b = 2, c = 3, d = 4</a:t>
            </a:r>
            <a:r>
              <a:rPr sz="3200" spc="-1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60"/>
              </a:spcBef>
            </a:pPr>
            <a:r>
              <a:rPr sz="3200" spc="-5" dirty="0">
                <a:latin typeface="Arial"/>
                <a:cs typeface="Arial"/>
              </a:rPr>
              <a:t>What </a:t>
            </a:r>
            <a:r>
              <a:rPr sz="3200" dirty="0">
                <a:latin typeface="Arial"/>
                <a:cs typeface="Arial"/>
              </a:rPr>
              <a:t>is </a:t>
            </a:r>
            <a:r>
              <a:rPr sz="3200" spc="-5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value of </a:t>
            </a:r>
            <a:r>
              <a:rPr sz="3200" spc="-5" dirty="0">
                <a:latin typeface="Arial"/>
                <a:cs typeface="Arial"/>
              </a:rPr>
              <a:t>this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expression?</a:t>
            </a:r>
            <a:endParaRPr sz="32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  <a:spcBef>
                <a:spcPts val="2660"/>
              </a:spcBef>
            </a:pPr>
            <a:r>
              <a:rPr sz="3200" dirty="0">
                <a:latin typeface="Arial"/>
                <a:cs typeface="Arial"/>
              </a:rPr>
              <a:t>++b / c + a *</a:t>
            </a:r>
            <a:r>
              <a:rPr sz="3200" spc="-1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d++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5" dirty="0">
                <a:latin typeface="Arial"/>
                <a:cs typeface="Arial"/>
              </a:rPr>
              <a:t>What </a:t>
            </a:r>
            <a:r>
              <a:rPr sz="3200" dirty="0">
                <a:latin typeface="Arial"/>
                <a:cs typeface="Arial"/>
              </a:rPr>
              <a:t>are </a:t>
            </a:r>
            <a:r>
              <a:rPr sz="3200" spc="-5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new values of a, b, c, and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d?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16355">
              <a:lnSpc>
                <a:spcPct val="100000"/>
              </a:lnSpc>
            </a:pPr>
            <a:r>
              <a:rPr sz="4400" dirty="0"/>
              <a:t>Assignment</a:t>
            </a:r>
            <a:r>
              <a:rPr sz="4400" spc="-70" dirty="0"/>
              <a:t> </a:t>
            </a:r>
            <a:r>
              <a:rPr sz="4400" spc="-5" dirty="0"/>
              <a:t>Operators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58887" y="2139950"/>
            <a:ext cx="2458085" cy="449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=        </a:t>
            </a:r>
            <a:r>
              <a:rPr sz="3000" spc="-5" dirty="0">
                <a:latin typeface="Calibri"/>
                <a:cs typeface="Calibri"/>
              </a:rPr>
              <a:t>+=      </a:t>
            </a:r>
            <a:r>
              <a:rPr sz="3000" spc="575" dirty="0">
                <a:latin typeface="Calibri"/>
                <a:cs typeface="Calibri"/>
              </a:rPr>
              <a:t> </a:t>
            </a:r>
            <a:r>
              <a:rPr sz="3000" spc="-459" dirty="0">
                <a:latin typeface="Calibri"/>
                <a:cs typeface="Calibri"/>
              </a:rPr>
              <a:t>-­‐=</a:t>
            </a:r>
            <a:endParaRPr sz="30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320"/>
              </a:spcBef>
            </a:pPr>
            <a:r>
              <a:rPr sz="3000" u="heavy" dirty="0">
                <a:latin typeface="Calibri"/>
                <a:cs typeface="Calibri"/>
              </a:rPr>
              <a:t>Statement</a:t>
            </a:r>
            <a:endParaRPr sz="3000">
              <a:latin typeface="Calibri"/>
              <a:cs typeface="Calibri"/>
            </a:endParaRPr>
          </a:p>
          <a:p>
            <a:pPr marL="12700" marR="883919" algn="just">
              <a:lnSpc>
                <a:spcPct val="109700"/>
              </a:lnSpc>
              <a:spcBef>
                <a:spcPts val="50"/>
              </a:spcBef>
            </a:pPr>
            <a:r>
              <a:rPr sz="3000" dirty="0">
                <a:latin typeface="Calibri"/>
                <a:cs typeface="Calibri"/>
              </a:rPr>
              <a:t>a = a + 2 ;  a = a </a:t>
            </a:r>
            <a:r>
              <a:rPr sz="3000" spc="-615" dirty="0">
                <a:latin typeface="Calibri"/>
                <a:cs typeface="Calibri"/>
              </a:rPr>
              <a:t>-­‐ </a:t>
            </a:r>
            <a:r>
              <a:rPr sz="3000" dirty="0">
                <a:latin typeface="Calibri"/>
                <a:cs typeface="Calibri"/>
              </a:rPr>
              <a:t>3 ;  a = a * 2 ;  a = a / 4 ;  a = a % 2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;</a:t>
            </a:r>
            <a:endParaRPr sz="3000">
              <a:latin typeface="Calibri"/>
              <a:cs typeface="Calibri"/>
            </a:endParaRPr>
          </a:p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b = b + ( c + 2 )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;  d = d * ( e </a:t>
            </a:r>
            <a:r>
              <a:rPr sz="3000" spc="-615" dirty="0">
                <a:latin typeface="Calibri"/>
                <a:cs typeface="Calibri"/>
              </a:rPr>
              <a:t>-­‐           </a:t>
            </a:r>
            <a:r>
              <a:rPr sz="3000" dirty="0">
                <a:latin typeface="Calibri"/>
                <a:cs typeface="Calibri"/>
              </a:rPr>
              <a:t>5 )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;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1475" y="2139950"/>
            <a:ext cx="3712845" cy="449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99185" algn="l"/>
                <a:tab pos="2125980" algn="l"/>
              </a:tabLst>
            </a:pPr>
            <a:r>
              <a:rPr sz="3000" spc="-5" dirty="0">
                <a:latin typeface="Calibri"/>
                <a:cs typeface="Calibri"/>
              </a:rPr>
              <a:t>*=	/=	%=</a:t>
            </a:r>
            <a:endParaRPr sz="3000">
              <a:latin typeface="Calibri"/>
              <a:cs typeface="Calibri"/>
            </a:endParaRPr>
          </a:p>
          <a:p>
            <a:pPr marL="754380" marR="5080" indent="-398780">
              <a:lnSpc>
                <a:spcPts val="4000"/>
              </a:lnSpc>
              <a:spcBef>
                <a:spcPts val="120"/>
              </a:spcBef>
            </a:pPr>
            <a:r>
              <a:rPr sz="3000" u="heavy" dirty="0">
                <a:latin typeface="Calibri"/>
                <a:cs typeface="Calibri"/>
              </a:rPr>
              <a:t>Equivalent</a:t>
            </a:r>
            <a:r>
              <a:rPr sz="3000" u="heavy" spc="-100" dirty="0">
                <a:latin typeface="Calibri"/>
                <a:cs typeface="Calibri"/>
              </a:rPr>
              <a:t> </a:t>
            </a:r>
            <a:r>
              <a:rPr sz="3000" u="heavy" dirty="0">
                <a:latin typeface="Calibri"/>
                <a:cs typeface="Calibri"/>
              </a:rPr>
              <a:t>Statement 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+= </a:t>
            </a:r>
            <a:r>
              <a:rPr sz="3000" dirty="0">
                <a:latin typeface="Calibri"/>
                <a:cs typeface="Calibri"/>
              </a:rPr>
              <a:t>2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;</a:t>
            </a:r>
            <a:endParaRPr sz="3000">
              <a:latin typeface="Calibri"/>
              <a:cs typeface="Calibri"/>
            </a:endParaRPr>
          </a:p>
          <a:p>
            <a:pPr marL="754380" algn="just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a </a:t>
            </a:r>
            <a:r>
              <a:rPr sz="3000" spc="-459" dirty="0">
                <a:latin typeface="Calibri"/>
                <a:cs typeface="Calibri"/>
              </a:rPr>
              <a:t>-­‐=   </a:t>
            </a:r>
            <a:r>
              <a:rPr sz="3000" dirty="0">
                <a:latin typeface="Calibri"/>
                <a:cs typeface="Calibri"/>
              </a:rPr>
              <a:t>3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;</a:t>
            </a:r>
            <a:endParaRPr sz="3000">
              <a:latin typeface="Calibri"/>
              <a:cs typeface="Calibri"/>
            </a:endParaRPr>
          </a:p>
          <a:p>
            <a:pPr marL="754380" marR="1751964" algn="just">
              <a:lnSpc>
                <a:spcPct val="109700"/>
              </a:lnSpc>
              <a:spcBef>
                <a:spcPts val="50"/>
              </a:spcBef>
            </a:pP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*= </a:t>
            </a:r>
            <a:r>
              <a:rPr sz="3000" dirty="0">
                <a:latin typeface="Calibri"/>
                <a:cs typeface="Calibri"/>
              </a:rPr>
              <a:t>2 ;  a /= 4 ;  a </a:t>
            </a:r>
            <a:r>
              <a:rPr sz="3000" spc="-5" dirty="0">
                <a:latin typeface="Calibri"/>
                <a:cs typeface="Calibri"/>
              </a:rPr>
              <a:t>%= </a:t>
            </a:r>
            <a:r>
              <a:rPr sz="3000" dirty="0">
                <a:latin typeface="Calibri"/>
                <a:cs typeface="Calibri"/>
              </a:rPr>
              <a:t>2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;</a:t>
            </a:r>
            <a:endParaRPr sz="3000">
              <a:latin typeface="Calibri"/>
              <a:cs typeface="Calibri"/>
            </a:endParaRPr>
          </a:p>
          <a:p>
            <a:pPr marL="754380" algn="just">
              <a:lnSpc>
                <a:spcPct val="100000"/>
              </a:lnSpc>
              <a:spcBef>
                <a:spcPts val="400"/>
              </a:spcBef>
            </a:pPr>
            <a:r>
              <a:rPr sz="3000" dirty="0">
                <a:latin typeface="Calibri"/>
                <a:cs typeface="Calibri"/>
              </a:rPr>
              <a:t>b </a:t>
            </a:r>
            <a:r>
              <a:rPr sz="3000" spc="-5" dirty="0">
                <a:latin typeface="Calibri"/>
                <a:cs typeface="Calibri"/>
              </a:rPr>
              <a:t>+= </a:t>
            </a:r>
            <a:r>
              <a:rPr sz="3000" dirty="0">
                <a:latin typeface="Calibri"/>
                <a:cs typeface="Calibri"/>
              </a:rPr>
              <a:t>c + 2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;</a:t>
            </a:r>
            <a:endParaRPr sz="3000">
              <a:latin typeface="Calibri"/>
              <a:cs typeface="Calibri"/>
            </a:endParaRPr>
          </a:p>
          <a:p>
            <a:pPr marL="754380" algn="just">
              <a:lnSpc>
                <a:spcPct val="100000"/>
              </a:lnSpc>
              <a:spcBef>
                <a:spcPts val="300"/>
              </a:spcBef>
            </a:pPr>
            <a:r>
              <a:rPr sz="3000" dirty="0">
                <a:latin typeface="Calibri"/>
                <a:cs typeface="Calibri"/>
              </a:rPr>
              <a:t>d </a:t>
            </a:r>
            <a:r>
              <a:rPr sz="3000" spc="-5" dirty="0">
                <a:latin typeface="Calibri"/>
                <a:cs typeface="Calibri"/>
              </a:rPr>
              <a:t>*= </a:t>
            </a:r>
            <a:r>
              <a:rPr sz="3000" dirty="0">
                <a:latin typeface="Calibri"/>
                <a:cs typeface="Calibri"/>
              </a:rPr>
              <a:t>e </a:t>
            </a:r>
            <a:r>
              <a:rPr sz="3000" spc="-615" dirty="0">
                <a:latin typeface="Calibri"/>
                <a:cs typeface="Calibri"/>
              </a:rPr>
              <a:t>-­‐          </a:t>
            </a:r>
            <a:r>
              <a:rPr sz="3000" dirty="0">
                <a:latin typeface="Calibri"/>
                <a:cs typeface="Calibri"/>
              </a:rPr>
              <a:t>5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;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1147" y="860907"/>
            <a:ext cx="328739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79220" algn="l"/>
              </a:tabLst>
            </a:pPr>
            <a:r>
              <a:rPr sz="4400" spc="-65" dirty="0"/>
              <a:t>Type	</a:t>
            </a:r>
            <a:r>
              <a:rPr sz="4400" spc="-5" dirty="0"/>
              <a:t>Casting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535940" y="1894840"/>
            <a:ext cx="7621270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5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b="1" i="1" dirty="0">
                <a:latin typeface="Arial"/>
                <a:cs typeface="Arial"/>
              </a:rPr>
              <a:t>type cast </a:t>
            </a:r>
            <a:r>
              <a:rPr sz="2400" dirty="0">
                <a:latin typeface="Arial"/>
                <a:cs typeface="Arial"/>
              </a:rPr>
              <a:t>takes a value of one type and produces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  value of another type with an "equivalent"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339" y="2926318"/>
            <a:ext cx="1778635" cy="793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8700"/>
              </a:lnSpc>
            </a:pP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int n, m;  double</a:t>
            </a:r>
            <a:r>
              <a:rPr sz="23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ans</a:t>
            </a:r>
            <a:endParaRPr sz="23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8521" y="3337814"/>
            <a:ext cx="283019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3220" algn="l"/>
                <a:tab pos="713740" algn="l"/>
                <a:tab pos="1064260" algn="l"/>
              </a:tabLst>
            </a:pPr>
            <a:r>
              <a:rPr sz="2300" b="1" dirty="0">
                <a:solidFill>
                  <a:srgbClr val="034CA1"/>
                </a:solidFill>
                <a:latin typeface="Courier New"/>
                <a:cs typeface="Courier New"/>
              </a:rPr>
              <a:t>=	n	/	</a:t>
            </a: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(double)m;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4739" y="3718814"/>
            <a:ext cx="37592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OR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0339" y="4112514"/>
            <a:ext cx="107696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7364" y="4112514"/>
            <a:ext cx="353123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64260" algn="l"/>
                <a:tab pos="3167380" algn="l"/>
              </a:tabLst>
            </a:pP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an</a:t>
            </a:r>
            <a:r>
              <a:rPr sz="2300" b="1" dirty="0">
                <a:solidFill>
                  <a:srgbClr val="034CA1"/>
                </a:solidFill>
                <a:latin typeface="Courier New"/>
                <a:cs typeface="Courier New"/>
              </a:rPr>
              <a:t>s =	</a:t>
            </a: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(double)</a:t>
            </a:r>
            <a:r>
              <a:rPr sz="2300" b="1" dirty="0">
                <a:solidFill>
                  <a:srgbClr val="034CA1"/>
                </a:solidFill>
                <a:latin typeface="Courier New"/>
                <a:cs typeface="Courier New"/>
              </a:rPr>
              <a:t>n /	</a:t>
            </a: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m;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139" y="4493514"/>
            <a:ext cx="6617970" cy="153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3665">
              <a:lnSpc>
                <a:spcPct val="100000"/>
              </a:lnSpc>
            </a:pP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OR</a:t>
            </a:r>
            <a:endParaRPr sz="23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340"/>
              </a:spcBef>
              <a:tabLst>
                <a:tab pos="2748280" algn="l"/>
                <a:tab pos="4852035" algn="l"/>
              </a:tabLst>
            </a:pP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</a:t>
            </a:r>
            <a:r>
              <a:rPr sz="23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ans</a:t>
            </a:r>
            <a:r>
              <a:rPr sz="23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(double)n</a:t>
            </a:r>
            <a:r>
              <a:rPr sz="2300" b="1" dirty="0">
                <a:solidFill>
                  <a:srgbClr val="034CA1"/>
                </a:solidFill>
                <a:latin typeface="Courier New"/>
                <a:cs typeface="Courier New"/>
              </a:rPr>
              <a:t> /	</a:t>
            </a:r>
            <a:r>
              <a:rPr sz="2300" b="1" spc="-5" dirty="0">
                <a:solidFill>
                  <a:srgbClr val="034CA1"/>
                </a:solidFill>
                <a:latin typeface="Courier New"/>
                <a:cs typeface="Courier New"/>
              </a:rPr>
              <a:t>(double)m;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latin typeface="Arial"/>
                <a:cs typeface="Arial"/>
              </a:rPr>
              <a:t>–</a:t>
            </a:r>
            <a:r>
              <a:rPr sz="2300" spc="3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type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and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value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of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034CA1"/>
                </a:solidFill>
                <a:latin typeface="Courier New"/>
                <a:cs typeface="Courier New"/>
              </a:rPr>
              <a:t>n</a:t>
            </a:r>
            <a:r>
              <a:rPr sz="2300" b="1" spc="-75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latin typeface="Arial"/>
                <a:cs typeface="Arial"/>
              </a:rPr>
              <a:t>and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034CA1"/>
                </a:solidFill>
                <a:latin typeface="Courier New"/>
                <a:cs typeface="Courier New"/>
              </a:rPr>
              <a:t>m</a:t>
            </a:r>
            <a:r>
              <a:rPr sz="2300" b="1" spc="-75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Arial"/>
                <a:cs typeface="Arial"/>
              </a:rPr>
              <a:t>do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change.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7838" y="830745"/>
            <a:ext cx="7014209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48105" algn="l"/>
                <a:tab pos="4516120" algn="l"/>
              </a:tabLst>
            </a:pPr>
            <a:r>
              <a:rPr sz="4400" dirty="0"/>
              <a:t>Java	Comparison	</a:t>
            </a:r>
            <a:r>
              <a:rPr sz="4400" spc="-5" dirty="0"/>
              <a:t>Operators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457325" y="1676400"/>
            <a:ext cx="7515225" cy="42767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7004" y="830745"/>
            <a:ext cx="527558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18690" algn="l"/>
              </a:tabLst>
            </a:pPr>
            <a:r>
              <a:rPr sz="4400" dirty="0"/>
              <a:t>Boolean	Expressions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813559"/>
            <a:ext cx="7420609" cy="3665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  <a:tab pos="1964689" algn="l"/>
              </a:tabLst>
            </a:pPr>
            <a:r>
              <a:rPr sz="2400" dirty="0">
                <a:latin typeface="Arial"/>
                <a:cs typeface="Arial"/>
              </a:rPr>
              <a:t>Operators:	&amp;&amp;, ||,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!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2550"/>
              </a:lnSpc>
              <a:spcBef>
                <a:spcPts val="11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Boolean expression evaluates to the values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true</a:t>
            </a:r>
            <a:r>
              <a:rPr sz="2400" b="1" spc="-88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550"/>
              </a:lnSpc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false</a:t>
            </a:r>
            <a:endParaRPr sz="2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11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Simple Boolean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expressions:</a:t>
            </a:r>
            <a:endParaRPr sz="2400">
              <a:latin typeface="Arial"/>
              <a:cs typeface="Arial"/>
            </a:endParaRPr>
          </a:p>
          <a:p>
            <a:pPr marL="927100" marR="2827020">
              <a:lnSpc>
                <a:spcPct val="100699"/>
              </a:lnSpc>
              <a:spcBef>
                <a:spcPts val="1200"/>
              </a:spcBef>
              <a:tabLst>
                <a:tab pos="2207260" algn="l"/>
                <a:tab pos="2755900" algn="l"/>
              </a:tabLst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time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 &lt;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limit 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yourScore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==</a:t>
            </a:r>
            <a:r>
              <a:rPr sz="24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myScore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840"/>
              </a:lnSpc>
              <a:buChar char="–"/>
              <a:tabLst>
                <a:tab pos="755650" algn="l"/>
                <a:tab pos="3848735" algn="l"/>
              </a:tabLst>
            </a:pPr>
            <a:r>
              <a:rPr sz="2400" spc="-45" dirty="0">
                <a:latin typeface="Arial"/>
                <a:cs typeface="Arial"/>
              </a:rPr>
              <a:t>Two </a:t>
            </a:r>
            <a:r>
              <a:rPr sz="2400" dirty="0">
                <a:latin typeface="Arial"/>
                <a:cs typeface="Arial"/>
              </a:rPr>
              <a:t>equal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signs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==</a:t>
            </a:r>
            <a:r>
              <a:rPr sz="2400" spc="-5" dirty="0">
                <a:latin typeface="Arial"/>
                <a:cs typeface="Arial"/>
              </a:rPr>
              <a:t>):	</a:t>
            </a:r>
            <a:r>
              <a:rPr sz="2400" dirty="0">
                <a:latin typeface="Arial"/>
                <a:cs typeface="Arial"/>
              </a:rPr>
              <a:t>equality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testing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ts val="2840"/>
              </a:lnSpc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Single equal sign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=</a:t>
            </a:r>
            <a:r>
              <a:rPr sz="2400" spc="-5" dirty="0">
                <a:latin typeface="Arial"/>
                <a:cs typeface="Arial"/>
              </a:rPr>
              <a:t>):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assignment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3014" y="968057"/>
            <a:ext cx="449770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48105" algn="l"/>
                <a:tab pos="2682875" algn="l"/>
              </a:tabLst>
            </a:pPr>
            <a:r>
              <a:rPr sz="4400" dirty="0"/>
              <a:t>Java	</a:t>
            </a:r>
            <a:r>
              <a:rPr sz="4400" spc="-5" dirty="0"/>
              <a:t>Flow	Control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3139" y="2103120"/>
            <a:ext cx="6953250" cy="3909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329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Decisions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ts val="3329"/>
              </a:lnSpc>
            </a:pPr>
            <a:r>
              <a:rPr sz="2800" dirty="0">
                <a:solidFill>
                  <a:srgbClr val="C0504D"/>
                </a:solidFill>
                <a:latin typeface="Arial"/>
                <a:cs typeface="Arial"/>
              </a:rPr>
              <a:t>if, if-else,</a:t>
            </a:r>
            <a:r>
              <a:rPr sz="2800" spc="-11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C0504D"/>
                </a:solidFill>
                <a:latin typeface="Arial"/>
                <a:cs typeface="Arial"/>
              </a:rPr>
              <a:t>switch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ts val="3345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Loops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ts val="3345"/>
              </a:lnSpc>
            </a:pPr>
            <a:r>
              <a:rPr sz="2800" spc="-40" dirty="0">
                <a:solidFill>
                  <a:srgbClr val="C0504D"/>
                </a:solidFill>
                <a:latin typeface="Arial"/>
                <a:cs typeface="Arial"/>
              </a:rPr>
              <a:t>for, </a:t>
            </a:r>
            <a:r>
              <a:rPr sz="2800" dirty="0">
                <a:solidFill>
                  <a:srgbClr val="C0504D"/>
                </a:solidFill>
                <a:latin typeface="Arial"/>
                <a:cs typeface="Arial"/>
              </a:rPr>
              <a:t>while,</a:t>
            </a:r>
            <a:r>
              <a:rPr sz="2800" spc="-6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C0504D"/>
                </a:solidFill>
                <a:latin typeface="Arial"/>
                <a:cs typeface="Arial"/>
              </a:rPr>
              <a:t>do-while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Boolean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expressions</a:t>
            </a:r>
            <a:endParaRPr sz="2800">
              <a:latin typeface="Arial"/>
              <a:cs typeface="Arial"/>
            </a:endParaRPr>
          </a:p>
          <a:p>
            <a:pPr marL="749300" marR="5080" lvl="1" indent="-279400">
              <a:lnSpc>
                <a:spcPct val="101499"/>
              </a:lnSpc>
              <a:spcBef>
                <a:spcPts val="50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Java flow control constructs evaluate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Boolean  expressions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49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The expression </a:t>
            </a:r>
            <a:r>
              <a:rPr sz="2400" i="1" dirty="0">
                <a:latin typeface="Arial"/>
                <a:cs typeface="Arial"/>
              </a:rPr>
              <a:t>must </a:t>
            </a:r>
            <a:r>
              <a:rPr sz="2400" spc="-5" dirty="0">
                <a:latin typeface="Arial"/>
                <a:cs typeface="Arial"/>
              </a:rPr>
              <a:t>be of </a:t>
            </a:r>
            <a:r>
              <a:rPr sz="2400" dirty="0">
                <a:latin typeface="Arial"/>
                <a:cs typeface="Arial"/>
              </a:rPr>
              <a:t>boolean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type: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2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Arial"/>
                <a:cs typeface="Arial"/>
              </a:rPr>
              <a:t>Cannot do: </a:t>
            </a:r>
            <a:r>
              <a:rPr sz="2000" dirty="0">
                <a:latin typeface="MS PGothic"/>
                <a:cs typeface="MS PGothic"/>
              </a:rPr>
              <a:t>“</a:t>
            </a:r>
            <a:r>
              <a:rPr sz="2000" dirty="0">
                <a:latin typeface="Arial"/>
                <a:cs typeface="Arial"/>
              </a:rPr>
              <a:t>if (--c)…</a:t>
            </a:r>
            <a:r>
              <a:rPr sz="2000" dirty="0">
                <a:latin typeface="MS PGothic"/>
                <a:cs typeface="MS PGothic"/>
              </a:rPr>
              <a:t>”</a:t>
            </a:r>
            <a:r>
              <a:rPr sz="2000" dirty="0">
                <a:latin typeface="Arial"/>
                <a:cs typeface="Arial"/>
              </a:rPr>
              <a:t>; must do: </a:t>
            </a:r>
            <a:r>
              <a:rPr sz="2000" dirty="0">
                <a:latin typeface="MS PGothic"/>
                <a:cs typeface="MS PGothic"/>
              </a:rPr>
              <a:t>“</a:t>
            </a:r>
            <a:r>
              <a:rPr sz="2000" dirty="0">
                <a:latin typeface="Arial"/>
                <a:cs typeface="Arial"/>
              </a:rPr>
              <a:t>if (--c !=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0)…</a:t>
            </a:r>
            <a:r>
              <a:rPr sz="2000" dirty="0">
                <a:latin typeface="MS PGothic"/>
                <a:cs typeface="MS PGothic"/>
              </a:rPr>
              <a:t>”</a:t>
            </a:r>
            <a:endParaRPr sz="20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516" y="678345"/>
            <a:ext cx="6454775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57985" algn="l"/>
                <a:tab pos="2186305" algn="l"/>
                <a:tab pos="3615054" algn="l"/>
              </a:tabLst>
            </a:pPr>
            <a:r>
              <a:rPr sz="4400" spc="-5" dirty="0"/>
              <a:t>if-else	</a:t>
            </a:r>
            <a:r>
              <a:rPr sz="4400" dirty="0"/>
              <a:t>&amp;	while	</a:t>
            </a:r>
            <a:r>
              <a:rPr sz="4400" spc="-5" dirty="0"/>
              <a:t>Statements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335087" y="2178050"/>
            <a:ext cx="2689225" cy="1559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100" dirty="0">
                <a:latin typeface="Arial"/>
                <a:cs typeface="Arial"/>
              </a:rPr>
              <a:t>if ( </a:t>
            </a:r>
            <a:r>
              <a:rPr sz="2100" i="1" spc="-5" dirty="0">
                <a:latin typeface="Arial"/>
                <a:cs typeface="Arial"/>
              </a:rPr>
              <a:t>condition</a:t>
            </a:r>
            <a:r>
              <a:rPr sz="2100" i="1" spc="-7" baseline="-21825" dirty="0">
                <a:latin typeface="Arial"/>
                <a:cs typeface="Arial"/>
              </a:rPr>
              <a:t>1 </a:t>
            </a:r>
            <a:r>
              <a:rPr sz="2100" dirty="0">
                <a:latin typeface="Arial"/>
                <a:cs typeface="Arial"/>
              </a:rPr>
              <a:t>)</a:t>
            </a:r>
            <a:r>
              <a:rPr sz="2100" spc="-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{</a:t>
            </a:r>
            <a:endParaRPr sz="2100">
              <a:latin typeface="Arial"/>
              <a:cs typeface="Arial"/>
            </a:endParaRPr>
          </a:p>
          <a:p>
            <a:pPr marL="382905">
              <a:lnSpc>
                <a:spcPts val="2440"/>
              </a:lnSpc>
            </a:pPr>
            <a:r>
              <a:rPr sz="2100" i="1" dirty="0">
                <a:latin typeface="Arial"/>
                <a:cs typeface="Arial"/>
              </a:rPr>
              <a:t>statement(s)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2400"/>
              </a:lnSpc>
              <a:tabLst>
                <a:tab pos="2586990" algn="l"/>
              </a:tabLst>
            </a:pPr>
            <a:r>
              <a:rPr sz="2100" dirty="0">
                <a:latin typeface="Arial"/>
                <a:cs typeface="Arial"/>
              </a:rPr>
              <a:t>} else if</a:t>
            </a:r>
            <a:r>
              <a:rPr sz="2100" spc="-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( </a:t>
            </a:r>
            <a:r>
              <a:rPr sz="2100" i="1" dirty="0">
                <a:latin typeface="Arial"/>
                <a:cs typeface="Arial"/>
              </a:rPr>
              <a:t>conditio</a:t>
            </a:r>
            <a:r>
              <a:rPr sz="2100" i="1" spc="-5" dirty="0">
                <a:latin typeface="Arial"/>
                <a:cs typeface="Arial"/>
              </a:rPr>
              <a:t>n</a:t>
            </a:r>
            <a:r>
              <a:rPr sz="2100" i="1" baseline="-21825" dirty="0">
                <a:latin typeface="Arial"/>
                <a:cs typeface="Arial"/>
              </a:rPr>
              <a:t>2 </a:t>
            </a:r>
            <a:r>
              <a:rPr sz="2100" dirty="0">
                <a:latin typeface="Arial"/>
                <a:cs typeface="Arial"/>
              </a:rPr>
              <a:t>)	{</a:t>
            </a:r>
            <a:endParaRPr sz="2100">
              <a:latin typeface="Arial"/>
              <a:cs typeface="Arial"/>
            </a:endParaRPr>
          </a:p>
          <a:p>
            <a:pPr marL="308610">
              <a:lnSpc>
                <a:spcPts val="2400"/>
              </a:lnSpc>
            </a:pPr>
            <a:r>
              <a:rPr sz="2100" i="1" dirty="0">
                <a:latin typeface="Arial"/>
                <a:cs typeface="Arial"/>
              </a:rPr>
              <a:t>statement(s)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2460"/>
              </a:lnSpc>
            </a:pPr>
            <a:r>
              <a:rPr sz="2100" dirty="0">
                <a:latin typeface="Arial"/>
                <a:cs typeface="Arial"/>
              </a:rPr>
              <a:t>}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7859" y="3699383"/>
            <a:ext cx="44430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latin typeface="Arial"/>
                <a:cs typeface="Arial"/>
              </a:rPr>
              <a:t>/* more else if clauses may be here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*/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4016" y="4308982"/>
            <a:ext cx="25158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latin typeface="Arial"/>
                <a:cs typeface="Arial"/>
              </a:rPr>
              <a:t>/* the </a:t>
            </a:r>
            <a:r>
              <a:rPr sz="2100" b="1" dirty="0">
                <a:latin typeface="Arial"/>
                <a:cs typeface="Arial"/>
              </a:rPr>
              <a:t>default case</a:t>
            </a:r>
            <a:r>
              <a:rPr sz="2100" b="1" spc="-110" dirty="0">
                <a:latin typeface="Arial"/>
                <a:cs typeface="Arial"/>
              </a:rPr>
              <a:t> </a:t>
            </a:r>
            <a:r>
              <a:rPr sz="2100" spc="-5" dirty="0">
                <a:latin typeface="Arial"/>
                <a:cs typeface="Arial"/>
              </a:rPr>
              <a:t>*/</a:t>
            </a:r>
            <a:endParaRPr sz="2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5087" y="3699383"/>
            <a:ext cx="1804035" cy="1244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>
              <a:lnSpc>
                <a:spcPts val="2460"/>
              </a:lnSpc>
            </a:pPr>
            <a:r>
              <a:rPr sz="2100" b="1" dirty="0">
                <a:latin typeface="Arial"/>
                <a:cs typeface="Arial"/>
              </a:rPr>
              <a:t>. .</a:t>
            </a:r>
            <a:r>
              <a:rPr sz="2100" b="1" spc="-11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2400"/>
              </a:lnSpc>
            </a:pPr>
            <a:r>
              <a:rPr sz="2100" dirty="0">
                <a:latin typeface="Arial"/>
                <a:cs typeface="Arial"/>
              </a:rPr>
              <a:t>} else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{</a:t>
            </a:r>
            <a:endParaRPr sz="2100">
              <a:latin typeface="Arial"/>
              <a:cs typeface="Arial"/>
            </a:endParaRPr>
          </a:p>
          <a:p>
            <a:pPr marL="308610">
              <a:lnSpc>
                <a:spcPts val="2400"/>
              </a:lnSpc>
            </a:pPr>
            <a:r>
              <a:rPr sz="2100" i="1" dirty="0">
                <a:latin typeface="Arial"/>
                <a:cs typeface="Arial"/>
              </a:rPr>
              <a:t>statement(s)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2460"/>
              </a:lnSpc>
            </a:pPr>
            <a:r>
              <a:rPr sz="2100" dirty="0">
                <a:latin typeface="Arial"/>
                <a:cs typeface="Arial"/>
              </a:rPr>
              <a:t>}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5087" y="5290057"/>
            <a:ext cx="2264410" cy="949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95"/>
              </a:lnSpc>
            </a:pPr>
            <a:r>
              <a:rPr sz="2100" dirty="0">
                <a:latin typeface="Arial"/>
                <a:cs typeface="Arial"/>
              </a:rPr>
              <a:t>while ( </a:t>
            </a:r>
            <a:r>
              <a:rPr sz="2100" i="1" dirty="0">
                <a:latin typeface="Arial"/>
                <a:cs typeface="Arial"/>
              </a:rPr>
              <a:t>condition </a:t>
            </a:r>
            <a:r>
              <a:rPr sz="2100" dirty="0">
                <a:latin typeface="Arial"/>
                <a:cs typeface="Arial"/>
              </a:rPr>
              <a:t>)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{</a:t>
            </a:r>
            <a:endParaRPr sz="2100">
              <a:latin typeface="Arial"/>
              <a:cs typeface="Arial"/>
            </a:endParaRPr>
          </a:p>
          <a:p>
            <a:pPr marR="7620" algn="ctr">
              <a:lnSpc>
                <a:spcPts val="2440"/>
              </a:lnSpc>
            </a:pPr>
            <a:r>
              <a:rPr sz="2100" i="1" dirty="0">
                <a:latin typeface="Arial"/>
                <a:cs typeface="Arial"/>
              </a:rPr>
              <a:t>statement(s)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2460"/>
              </a:lnSpc>
            </a:pPr>
            <a:r>
              <a:rPr sz="2100" dirty="0">
                <a:latin typeface="Arial"/>
                <a:cs typeface="Arial"/>
              </a:rPr>
              <a:t>}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6127" y="5116484"/>
            <a:ext cx="7606144" cy="170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95400" y="5181600"/>
            <a:ext cx="7467600" cy="0"/>
          </a:xfrm>
          <a:custGeom>
            <a:avLst/>
            <a:gdLst/>
            <a:ahLst/>
            <a:cxnLst/>
            <a:rect l="l" t="t" r="r" b="b"/>
            <a:pathLst>
              <a:path w="7467600">
                <a:moveTo>
                  <a:pt x="0" y="0"/>
                </a:moveTo>
                <a:lnTo>
                  <a:pt x="7467594" y="0"/>
                </a:lnTo>
              </a:path>
            </a:pathLst>
          </a:custGeom>
          <a:ln w="25399">
            <a:solidFill>
              <a:srgbClr val="CD6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8938" y="754545"/>
            <a:ext cx="5400040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30300" algn="l"/>
                <a:tab pos="1596390" algn="l"/>
                <a:tab pos="4143375" algn="l"/>
              </a:tabLst>
            </a:pPr>
            <a:r>
              <a:rPr sz="4400" spc="-5" dirty="0"/>
              <a:t>T</a:t>
            </a:r>
            <a:r>
              <a:rPr sz="4400" dirty="0"/>
              <a:t>he	3	Par</a:t>
            </a:r>
            <a:r>
              <a:rPr sz="4400" spc="-5" dirty="0"/>
              <a:t>t</a:t>
            </a:r>
            <a:r>
              <a:rPr sz="4400" dirty="0"/>
              <a:t>s</a:t>
            </a:r>
            <a:r>
              <a:rPr sz="4400" spc="-5" dirty="0"/>
              <a:t> </a:t>
            </a:r>
            <a:r>
              <a:rPr sz="4400" dirty="0"/>
              <a:t>of</a:t>
            </a:r>
            <a:r>
              <a:rPr sz="4400" spc="-5" dirty="0"/>
              <a:t> </a:t>
            </a:r>
            <a:r>
              <a:rPr sz="4400" dirty="0"/>
              <a:t>a	Loop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335087" y="2077720"/>
            <a:ext cx="944244" cy="612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dirty="0">
                <a:latin typeface="Arial"/>
                <a:cs typeface="Arial"/>
              </a:rPr>
              <a:t>…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900" dirty="0">
                <a:latin typeface="Arial"/>
                <a:cs typeface="Arial"/>
              </a:rPr>
              <a:t>int i = 1</a:t>
            </a:r>
            <a:r>
              <a:rPr sz="1900" spc="-10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;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8187" y="2389632"/>
            <a:ext cx="3981450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dirty="0">
                <a:latin typeface="Arial"/>
                <a:cs typeface="Arial"/>
              </a:rPr>
              <a:t>initialization of </a:t>
            </a:r>
            <a:r>
              <a:rPr sz="1900" b="1" dirty="0">
                <a:latin typeface="Arial"/>
                <a:cs typeface="Arial"/>
              </a:rPr>
              <a:t>loop control</a:t>
            </a:r>
            <a:r>
              <a:rPr sz="1900" b="1" spc="-114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variable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0553" y="3342132"/>
            <a:ext cx="3792854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dirty="0">
                <a:latin typeface="Arial"/>
                <a:cs typeface="Arial"/>
              </a:rPr>
              <a:t>test of </a:t>
            </a:r>
            <a:r>
              <a:rPr sz="1900" b="1" dirty="0">
                <a:latin typeface="Arial"/>
                <a:cs typeface="Arial"/>
              </a:rPr>
              <a:t>loop termination</a:t>
            </a:r>
            <a:r>
              <a:rPr sz="1900" b="1" spc="-114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condition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5087" y="2996834"/>
            <a:ext cx="2553970" cy="962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9600"/>
              </a:lnSpc>
            </a:pPr>
            <a:r>
              <a:rPr sz="1900" dirty="0">
                <a:latin typeface="Arial"/>
                <a:cs typeface="Arial"/>
              </a:rPr>
              <a:t>// count from 1 to 100  while ( i &lt; 101 ) {  </a:t>
            </a:r>
            <a:r>
              <a:rPr sz="1900" spc="-5" dirty="0">
                <a:latin typeface="Arial"/>
                <a:cs typeface="Arial"/>
              </a:rPr>
              <a:t>System.out.println( </a:t>
            </a:r>
            <a:r>
              <a:rPr sz="1900" dirty="0">
                <a:latin typeface="Arial"/>
                <a:cs typeface="Arial"/>
              </a:rPr>
              <a:t>i )</a:t>
            </a:r>
            <a:r>
              <a:rPr sz="1900" spc="-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;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9387" y="3977132"/>
            <a:ext cx="951230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dirty="0">
                <a:latin typeface="Arial"/>
                <a:cs typeface="Arial"/>
              </a:rPr>
              <a:t>i = i + 1</a:t>
            </a:r>
            <a:r>
              <a:rPr sz="1900" spc="-10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;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5387" y="3977132"/>
            <a:ext cx="3808095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dirty="0">
                <a:latin typeface="Arial"/>
                <a:cs typeface="Arial"/>
              </a:rPr>
              <a:t>modification of loop control</a:t>
            </a:r>
            <a:r>
              <a:rPr sz="1900" spc="-10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variable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2187" y="4307332"/>
            <a:ext cx="1334135" cy="935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>
              <a:lnSpc>
                <a:spcPct val="100000"/>
              </a:lnSpc>
            </a:pPr>
            <a:r>
              <a:rPr sz="1900" dirty="0">
                <a:latin typeface="Arial"/>
                <a:cs typeface="Arial"/>
              </a:rPr>
              <a:t>}</a:t>
            </a:r>
            <a:endParaRPr sz="19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19"/>
              </a:spcBef>
            </a:pPr>
            <a:r>
              <a:rPr sz="1900" dirty="0">
                <a:latin typeface="Arial"/>
                <a:cs typeface="Arial"/>
              </a:rPr>
              <a:t>return 0</a:t>
            </a:r>
            <a:r>
              <a:rPr sz="1900" spc="-10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;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900" dirty="0">
                <a:latin typeface="Arial"/>
                <a:cs typeface="Arial"/>
              </a:rPr>
              <a:t>}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48953" y="2514600"/>
            <a:ext cx="914400" cy="88900"/>
          </a:xfrm>
          <a:custGeom>
            <a:avLst/>
            <a:gdLst/>
            <a:ahLst/>
            <a:cxnLst/>
            <a:rect l="l" t="t" r="r" b="b"/>
            <a:pathLst>
              <a:path w="914400" h="88900">
                <a:moveTo>
                  <a:pt x="421005" y="0"/>
                </a:moveTo>
                <a:lnTo>
                  <a:pt x="0" y="44450"/>
                </a:lnTo>
                <a:lnTo>
                  <a:pt x="421005" y="88900"/>
                </a:lnTo>
                <a:lnTo>
                  <a:pt x="421005" y="66675"/>
                </a:lnTo>
                <a:lnTo>
                  <a:pt x="914400" y="66675"/>
                </a:lnTo>
                <a:lnTo>
                  <a:pt x="914400" y="22225"/>
                </a:lnTo>
                <a:lnTo>
                  <a:pt x="421005" y="22225"/>
                </a:lnTo>
                <a:lnTo>
                  <a:pt x="421005" y="0"/>
                </a:lnTo>
                <a:close/>
              </a:path>
            </a:pathLst>
          </a:custGeom>
          <a:solidFill>
            <a:srgbClr val="6095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48954" y="2514600"/>
            <a:ext cx="914400" cy="88900"/>
          </a:xfrm>
          <a:custGeom>
            <a:avLst/>
            <a:gdLst/>
            <a:ahLst/>
            <a:cxnLst/>
            <a:rect l="l" t="t" r="r" b="b"/>
            <a:pathLst>
              <a:path w="914400" h="88900">
                <a:moveTo>
                  <a:pt x="914399" y="22225"/>
                </a:moveTo>
                <a:lnTo>
                  <a:pt x="421005" y="22225"/>
                </a:lnTo>
                <a:lnTo>
                  <a:pt x="421005" y="0"/>
                </a:lnTo>
                <a:lnTo>
                  <a:pt x="0" y="44449"/>
                </a:lnTo>
                <a:lnTo>
                  <a:pt x="421005" y="88899"/>
                </a:lnTo>
                <a:lnTo>
                  <a:pt x="421005" y="66674"/>
                </a:lnTo>
                <a:lnTo>
                  <a:pt x="914399" y="66674"/>
                </a:lnTo>
                <a:lnTo>
                  <a:pt x="914399" y="22225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76600" y="3429000"/>
            <a:ext cx="676275" cy="88900"/>
          </a:xfrm>
          <a:custGeom>
            <a:avLst/>
            <a:gdLst/>
            <a:ahLst/>
            <a:cxnLst/>
            <a:rect l="l" t="t" r="r" b="b"/>
            <a:pathLst>
              <a:path w="676275" h="88900">
                <a:moveTo>
                  <a:pt x="311175" y="0"/>
                </a:moveTo>
                <a:lnTo>
                  <a:pt x="0" y="44450"/>
                </a:lnTo>
                <a:lnTo>
                  <a:pt x="311175" y="88900"/>
                </a:lnTo>
                <a:lnTo>
                  <a:pt x="311175" y="66675"/>
                </a:lnTo>
                <a:lnTo>
                  <a:pt x="675855" y="66675"/>
                </a:lnTo>
                <a:lnTo>
                  <a:pt x="675855" y="22225"/>
                </a:lnTo>
                <a:lnTo>
                  <a:pt x="311175" y="22225"/>
                </a:lnTo>
                <a:lnTo>
                  <a:pt x="311175" y="0"/>
                </a:lnTo>
                <a:close/>
              </a:path>
            </a:pathLst>
          </a:custGeom>
          <a:solidFill>
            <a:srgbClr val="6095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76595" y="3429000"/>
            <a:ext cx="676275" cy="88900"/>
          </a:xfrm>
          <a:custGeom>
            <a:avLst/>
            <a:gdLst/>
            <a:ahLst/>
            <a:cxnLst/>
            <a:rect l="l" t="t" r="r" b="b"/>
            <a:pathLst>
              <a:path w="676275" h="88900">
                <a:moveTo>
                  <a:pt x="675860" y="22224"/>
                </a:moveTo>
                <a:lnTo>
                  <a:pt x="311177" y="22224"/>
                </a:lnTo>
                <a:lnTo>
                  <a:pt x="311177" y="0"/>
                </a:lnTo>
                <a:lnTo>
                  <a:pt x="0" y="44449"/>
                </a:lnTo>
                <a:lnTo>
                  <a:pt x="311177" y="88899"/>
                </a:lnTo>
                <a:lnTo>
                  <a:pt x="311177" y="66674"/>
                </a:lnTo>
                <a:lnTo>
                  <a:pt x="675860" y="66674"/>
                </a:lnTo>
                <a:lnTo>
                  <a:pt x="675860" y="22224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95600" y="4114800"/>
            <a:ext cx="744220" cy="88900"/>
          </a:xfrm>
          <a:custGeom>
            <a:avLst/>
            <a:gdLst/>
            <a:ahLst/>
            <a:cxnLst/>
            <a:rect l="l" t="t" r="r" b="b"/>
            <a:pathLst>
              <a:path w="744220" h="88900">
                <a:moveTo>
                  <a:pt x="342557" y="0"/>
                </a:moveTo>
                <a:lnTo>
                  <a:pt x="0" y="44450"/>
                </a:lnTo>
                <a:lnTo>
                  <a:pt x="342557" y="88900"/>
                </a:lnTo>
                <a:lnTo>
                  <a:pt x="342557" y="66675"/>
                </a:lnTo>
                <a:lnTo>
                  <a:pt x="744016" y="66675"/>
                </a:lnTo>
                <a:lnTo>
                  <a:pt x="744016" y="22225"/>
                </a:lnTo>
                <a:lnTo>
                  <a:pt x="342557" y="22225"/>
                </a:lnTo>
                <a:lnTo>
                  <a:pt x="342557" y="0"/>
                </a:lnTo>
                <a:close/>
              </a:path>
            </a:pathLst>
          </a:custGeom>
          <a:solidFill>
            <a:srgbClr val="6095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95602" y="4114800"/>
            <a:ext cx="744220" cy="88900"/>
          </a:xfrm>
          <a:custGeom>
            <a:avLst/>
            <a:gdLst/>
            <a:ahLst/>
            <a:cxnLst/>
            <a:rect l="l" t="t" r="r" b="b"/>
            <a:pathLst>
              <a:path w="744220" h="88900">
                <a:moveTo>
                  <a:pt x="744014" y="22225"/>
                </a:moveTo>
                <a:lnTo>
                  <a:pt x="342557" y="22225"/>
                </a:lnTo>
                <a:lnTo>
                  <a:pt x="342557" y="0"/>
                </a:lnTo>
                <a:lnTo>
                  <a:pt x="0" y="44449"/>
                </a:lnTo>
                <a:lnTo>
                  <a:pt x="342557" y="88899"/>
                </a:lnTo>
                <a:lnTo>
                  <a:pt x="342557" y="66674"/>
                </a:lnTo>
                <a:lnTo>
                  <a:pt x="744014" y="66674"/>
                </a:lnTo>
                <a:lnTo>
                  <a:pt x="744014" y="22225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08630">
              <a:lnSpc>
                <a:spcPct val="100000"/>
              </a:lnSpc>
            </a:pPr>
            <a:r>
              <a:rPr sz="4400" dirty="0"/>
              <a:t>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43000" y="922741"/>
            <a:ext cx="8037513" cy="2880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 marR="5080" indent="-114300">
              <a:lnSpc>
                <a:spcPct val="115900"/>
              </a:lnSpc>
            </a:pPr>
            <a:r>
              <a:rPr lang="en-US" sz="3200" dirty="0">
                <a:latin typeface="Arial"/>
                <a:cs typeface="Arial"/>
              </a:rPr>
              <a:t> </a:t>
            </a:r>
            <a:r>
              <a:rPr lang="en-US" sz="3200" dirty="0" err="1">
                <a:latin typeface="Arial"/>
                <a:cs typeface="Arial"/>
              </a:rPr>
              <a:t>int</a:t>
            </a:r>
            <a:r>
              <a:rPr lang="en-US" sz="3200" dirty="0">
                <a:latin typeface="Arial"/>
                <a:cs typeface="Arial"/>
              </a:rPr>
              <a:t> children = 10; cookies=0;</a:t>
            </a:r>
          </a:p>
          <a:p>
            <a:pPr marL="127000" marR="5080" indent="-114300">
              <a:lnSpc>
                <a:spcPct val="115900"/>
              </a:lnSpc>
            </a:pPr>
            <a:r>
              <a:rPr sz="3200" dirty="0">
                <a:latin typeface="Arial"/>
                <a:cs typeface="Arial"/>
              </a:rPr>
              <a:t>while ( children &gt; 0 ) {  </a:t>
            </a:r>
            <a:endParaRPr lang="en-US" sz="3200" dirty="0">
              <a:latin typeface="Arial"/>
              <a:cs typeface="Arial"/>
            </a:endParaRPr>
          </a:p>
          <a:p>
            <a:pPr marL="127000" marR="5080" indent="-114300">
              <a:lnSpc>
                <a:spcPct val="115900"/>
              </a:lnSpc>
            </a:pPr>
            <a:r>
              <a:rPr lang="en-US" sz="3200" dirty="0">
                <a:latin typeface="Arial"/>
                <a:cs typeface="Arial"/>
              </a:rPr>
              <a:t>		</a:t>
            </a:r>
            <a:r>
              <a:rPr sz="3200" dirty="0">
                <a:latin typeface="Arial"/>
                <a:cs typeface="Arial"/>
              </a:rPr>
              <a:t>children = children - 1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;  </a:t>
            </a:r>
            <a:endParaRPr lang="en-US" sz="3200" dirty="0">
              <a:latin typeface="Arial"/>
              <a:cs typeface="Arial"/>
            </a:endParaRPr>
          </a:p>
          <a:p>
            <a:pPr marL="127000" marR="5080" indent="-114300">
              <a:lnSpc>
                <a:spcPct val="115900"/>
              </a:lnSpc>
            </a:pPr>
            <a:r>
              <a:rPr lang="en-US" sz="3200" dirty="0">
                <a:latin typeface="Arial"/>
                <a:cs typeface="Arial"/>
              </a:rPr>
              <a:t>		</a:t>
            </a:r>
            <a:r>
              <a:rPr sz="3200" dirty="0">
                <a:latin typeface="Arial"/>
                <a:cs typeface="Arial"/>
              </a:rPr>
              <a:t>cookies = cookies * 2</a:t>
            </a:r>
            <a:r>
              <a:rPr sz="3200" spc="-1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3200" dirty="0">
                <a:latin typeface="Arial"/>
                <a:cs typeface="Arial"/>
              </a:rPr>
              <a:t>}</a:t>
            </a:r>
            <a:endParaRPr lang="en-US" sz="3200" dirty="0">
              <a:latin typeface="Arial"/>
              <a:cs typeface="Arial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874713" y="4191000"/>
            <a:ext cx="8305800" cy="2961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factorial =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1;</a:t>
            </a:r>
          </a:p>
          <a:p>
            <a:pPr marL="435609" marR="5080" indent="-423545">
              <a:lnSpc>
                <a:spcPct val="118100"/>
              </a:lnSpc>
              <a:spcBef>
                <a:spcPts val="95"/>
              </a:spcBef>
            </a:pPr>
            <a:r>
              <a:rPr sz="2400" dirty="0">
                <a:latin typeface="Arial"/>
                <a:cs typeface="Arial"/>
              </a:rPr>
              <a:t>while ( </a:t>
            </a:r>
            <a:r>
              <a:rPr sz="2400" dirty="0" err="1">
                <a:latin typeface="Arial"/>
                <a:cs typeface="Arial"/>
              </a:rPr>
              <a:t>myNumber</a:t>
            </a:r>
            <a:r>
              <a:rPr sz="2400" dirty="0">
                <a:latin typeface="Arial"/>
                <a:cs typeface="Arial"/>
              </a:rPr>
              <a:t> &gt; 0 ) {  </a:t>
            </a:r>
            <a:endParaRPr lang="en-US" sz="2400" dirty="0">
              <a:latin typeface="Arial"/>
              <a:cs typeface="Arial"/>
            </a:endParaRPr>
          </a:p>
          <a:p>
            <a:pPr marL="435609" marR="5080" indent="-423545">
              <a:lnSpc>
                <a:spcPct val="118100"/>
              </a:lnSpc>
              <a:spcBef>
                <a:spcPts val="95"/>
              </a:spcBef>
            </a:pPr>
            <a:r>
              <a:rPr lang="en-US" sz="2400" dirty="0">
                <a:latin typeface="Arial"/>
                <a:cs typeface="Arial"/>
              </a:rPr>
              <a:t>	</a:t>
            </a:r>
            <a:r>
              <a:rPr sz="2400" dirty="0">
                <a:latin typeface="Arial"/>
                <a:cs typeface="Arial"/>
              </a:rPr>
              <a:t>factorial *=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 err="1">
                <a:latin typeface="Arial"/>
                <a:cs typeface="Arial"/>
              </a:rPr>
              <a:t>myNumber</a:t>
            </a:r>
            <a:r>
              <a:rPr sz="2400" spc="-5" dirty="0">
                <a:latin typeface="Arial"/>
                <a:cs typeface="Arial"/>
              </a:rPr>
              <a:t>;</a:t>
            </a:r>
            <a:endParaRPr sz="2400" dirty="0">
              <a:latin typeface="Arial"/>
              <a:cs typeface="Arial"/>
            </a:endParaRPr>
          </a:p>
          <a:p>
            <a:pPr marL="435609">
              <a:lnSpc>
                <a:spcPct val="100000"/>
              </a:lnSpc>
              <a:spcBef>
                <a:spcPts val="620"/>
              </a:spcBef>
            </a:pPr>
            <a:r>
              <a:rPr sz="2400" spc="-5" dirty="0">
                <a:latin typeface="Arial"/>
                <a:cs typeface="Arial"/>
              </a:rPr>
              <a:t>--</a:t>
            </a:r>
            <a:r>
              <a:rPr sz="2400" spc="-5" dirty="0" err="1">
                <a:latin typeface="Arial"/>
                <a:cs typeface="Arial"/>
              </a:rPr>
              <a:t>myNumber</a:t>
            </a:r>
            <a:r>
              <a:rPr sz="2400" spc="-5" dirty="0">
                <a:latin typeface="Arial"/>
                <a:cs typeface="Arial"/>
              </a:rPr>
              <a:t>;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dirty="0">
                <a:latin typeface="Arial"/>
                <a:cs typeface="Arial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dirty="0">
                <a:latin typeface="Arial"/>
                <a:cs typeface="Arial"/>
              </a:rPr>
              <a:t>return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factorial;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5923" y="678345"/>
            <a:ext cx="5866130" cy="1307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8955" marR="5080" indent="-1786889">
              <a:lnSpc>
                <a:spcPts val="5200"/>
              </a:lnSpc>
              <a:tabLst>
                <a:tab pos="1130300" algn="l"/>
                <a:tab pos="3336290" algn="l"/>
              </a:tabLst>
            </a:pPr>
            <a:r>
              <a:rPr sz="4400" spc="-5" dirty="0"/>
              <a:t>T</a:t>
            </a:r>
            <a:r>
              <a:rPr sz="4400" dirty="0"/>
              <a:t>he	</a:t>
            </a:r>
            <a:r>
              <a:rPr sz="4400" spc="-5" dirty="0"/>
              <a:t>f</a:t>
            </a:r>
            <a:r>
              <a:rPr sz="4400" dirty="0"/>
              <a:t>or</a:t>
            </a:r>
            <a:r>
              <a:rPr sz="4400" spc="-5" dirty="0"/>
              <a:t> </a:t>
            </a:r>
            <a:r>
              <a:rPr sz="4400" dirty="0"/>
              <a:t>Loop	Repe</a:t>
            </a:r>
            <a:r>
              <a:rPr sz="4400" spc="-5" dirty="0"/>
              <a:t>t</a:t>
            </a:r>
            <a:r>
              <a:rPr sz="4400" dirty="0"/>
              <a:t>i</a:t>
            </a:r>
            <a:r>
              <a:rPr sz="4400" spc="-5" dirty="0"/>
              <a:t>t</a:t>
            </a:r>
            <a:r>
              <a:rPr sz="4400" dirty="0"/>
              <a:t>ion  </a:t>
            </a:r>
            <a:r>
              <a:rPr sz="4400" spc="-5" dirty="0"/>
              <a:t>Structure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2187" y="2807970"/>
            <a:ext cx="7535545" cy="2586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5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loop handles details of the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counter-controlled  </a:t>
            </a:r>
            <a:r>
              <a:rPr sz="2400" spc="-5" dirty="0">
                <a:latin typeface="Arial"/>
                <a:cs typeface="Arial"/>
              </a:rPr>
              <a:t>loop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MS PGothic"/>
                <a:cs typeface="MS PGothic"/>
              </a:rPr>
              <a:t>“</a:t>
            </a:r>
            <a:r>
              <a:rPr sz="2400" spc="-5" dirty="0">
                <a:latin typeface="Arial"/>
                <a:cs typeface="Arial"/>
              </a:rPr>
              <a:t>automatically</a:t>
            </a:r>
            <a:r>
              <a:rPr sz="2400" spc="-5" dirty="0">
                <a:latin typeface="MS PGothic"/>
                <a:cs typeface="MS PGothic"/>
              </a:rPr>
              <a:t>”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marR="224790" indent="-342900">
              <a:lnSpc>
                <a:spcPct val="90700"/>
              </a:lnSpc>
              <a:spcBef>
                <a:spcPts val="54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 initialization of the the loop control variable,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  termination condition test, and control variable  modification are handled in the </a:t>
            </a:r>
            <a:r>
              <a:rPr sz="2400" b="1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loop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structure.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Arial"/>
                <a:cs typeface="Arial"/>
              </a:rPr>
              <a:t>for ( i = 1; i &lt; 101; i = i + 1)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{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5087" y="5936233"/>
            <a:ext cx="160147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initialization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8187" y="5936233"/>
            <a:ext cx="165227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modification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5087" y="6348221"/>
            <a:ext cx="1276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7995" y="6348221"/>
            <a:ext cx="5168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test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33600" y="5334000"/>
            <a:ext cx="215900" cy="444500"/>
          </a:xfrm>
          <a:custGeom>
            <a:avLst/>
            <a:gdLst/>
            <a:ahLst/>
            <a:cxnLst/>
            <a:rect l="l" t="t" r="r" b="b"/>
            <a:pathLst>
              <a:path w="215900" h="444500">
                <a:moveTo>
                  <a:pt x="161925" y="222275"/>
                </a:moveTo>
                <a:lnTo>
                  <a:pt x="53975" y="222275"/>
                </a:lnTo>
                <a:lnTo>
                  <a:pt x="53975" y="444500"/>
                </a:lnTo>
                <a:lnTo>
                  <a:pt x="161925" y="444500"/>
                </a:lnTo>
                <a:lnTo>
                  <a:pt x="161925" y="222275"/>
                </a:lnTo>
                <a:close/>
              </a:path>
              <a:path w="215900" h="444500">
                <a:moveTo>
                  <a:pt x="107950" y="0"/>
                </a:moveTo>
                <a:lnTo>
                  <a:pt x="0" y="222275"/>
                </a:lnTo>
                <a:lnTo>
                  <a:pt x="215900" y="222275"/>
                </a:lnTo>
                <a:lnTo>
                  <a:pt x="107950" y="0"/>
                </a:lnTo>
                <a:close/>
              </a:path>
            </a:pathLst>
          </a:custGeom>
          <a:solidFill>
            <a:srgbClr val="CD66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33599" y="5334000"/>
            <a:ext cx="215900" cy="444500"/>
          </a:xfrm>
          <a:custGeom>
            <a:avLst/>
            <a:gdLst/>
            <a:ahLst/>
            <a:cxnLst/>
            <a:rect l="l" t="t" r="r" b="b"/>
            <a:pathLst>
              <a:path w="215900" h="444500">
                <a:moveTo>
                  <a:pt x="53974" y="444499"/>
                </a:moveTo>
                <a:lnTo>
                  <a:pt x="53974" y="222270"/>
                </a:lnTo>
                <a:lnTo>
                  <a:pt x="0" y="222270"/>
                </a:lnTo>
                <a:lnTo>
                  <a:pt x="107950" y="0"/>
                </a:lnTo>
                <a:lnTo>
                  <a:pt x="215899" y="222270"/>
                </a:lnTo>
                <a:lnTo>
                  <a:pt x="161924" y="222270"/>
                </a:lnTo>
                <a:lnTo>
                  <a:pt x="161924" y="444499"/>
                </a:lnTo>
                <a:lnTo>
                  <a:pt x="53974" y="44449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71800" y="5486400"/>
            <a:ext cx="215900" cy="901700"/>
          </a:xfrm>
          <a:custGeom>
            <a:avLst/>
            <a:gdLst/>
            <a:ahLst/>
            <a:cxnLst/>
            <a:rect l="l" t="t" r="r" b="b"/>
            <a:pathLst>
              <a:path w="215900" h="901700">
                <a:moveTo>
                  <a:pt x="161925" y="450888"/>
                </a:moveTo>
                <a:lnTo>
                  <a:pt x="53975" y="450888"/>
                </a:lnTo>
                <a:lnTo>
                  <a:pt x="53975" y="901700"/>
                </a:lnTo>
                <a:lnTo>
                  <a:pt x="161925" y="901700"/>
                </a:lnTo>
                <a:lnTo>
                  <a:pt x="161925" y="450888"/>
                </a:lnTo>
                <a:close/>
              </a:path>
              <a:path w="215900" h="901700">
                <a:moveTo>
                  <a:pt x="107950" y="0"/>
                </a:moveTo>
                <a:lnTo>
                  <a:pt x="0" y="450888"/>
                </a:lnTo>
                <a:lnTo>
                  <a:pt x="215900" y="450888"/>
                </a:lnTo>
                <a:lnTo>
                  <a:pt x="107950" y="0"/>
                </a:lnTo>
                <a:close/>
              </a:path>
            </a:pathLst>
          </a:custGeom>
          <a:solidFill>
            <a:srgbClr val="CD66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71800" y="5486400"/>
            <a:ext cx="215900" cy="901700"/>
          </a:xfrm>
          <a:custGeom>
            <a:avLst/>
            <a:gdLst/>
            <a:ahLst/>
            <a:cxnLst/>
            <a:rect l="l" t="t" r="r" b="b"/>
            <a:pathLst>
              <a:path w="215900" h="901700">
                <a:moveTo>
                  <a:pt x="53974" y="901699"/>
                </a:moveTo>
                <a:lnTo>
                  <a:pt x="53974" y="450891"/>
                </a:lnTo>
                <a:lnTo>
                  <a:pt x="0" y="450891"/>
                </a:lnTo>
                <a:lnTo>
                  <a:pt x="107949" y="0"/>
                </a:lnTo>
                <a:lnTo>
                  <a:pt x="215899" y="450891"/>
                </a:lnTo>
                <a:lnTo>
                  <a:pt x="161924" y="450891"/>
                </a:lnTo>
                <a:lnTo>
                  <a:pt x="161924" y="901699"/>
                </a:lnTo>
                <a:lnTo>
                  <a:pt x="53974" y="90169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95800" y="5410200"/>
            <a:ext cx="215900" cy="520700"/>
          </a:xfrm>
          <a:custGeom>
            <a:avLst/>
            <a:gdLst/>
            <a:ahLst/>
            <a:cxnLst/>
            <a:rect l="l" t="t" r="r" b="b"/>
            <a:pathLst>
              <a:path w="215900" h="520700">
                <a:moveTo>
                  <a:pt x="161925" y="260375"/>
                </a:moveTo>
                <a:lnTo>
                  <a:pt x="53975" y="260375"/>
                </a:lnTo>
                <a:lnTo>
                  <a:pt x="53975" y="520700"/>
                </a:lnTo>
                <a:lnTo>
                  <a:pt x="161925" y="520700"/>
                </a:lnTo>
                <a:lnTo>
                  <a:pt x="161925" y="260375"/>
                </a:lnTo>
                <a:close/>
              </a:path>
              <a:path w="215900" h="520700">
                <a:moveTo>
                  <a:pt x="107950" y="0"/>
                </a:moveTo>
                <a:lnTo>
                  <a:pt x="0" y="260375"/>
                </a:lnTo>
                <a:lnTo>
                  <a:pt x="215900" y="260375"/>
                </a:lnTo>
                <a:lnTo>
                  <a:pt x="107950" y="0"/>
                </a:lnTo>
                <a:close/>
              </a:path>
            </a:pathLst>
          </a:custGeom>
          <a:solidFill>
            <a:srgbClr val="CD66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5799" y="5410200"/>
            <a:ext cx="215900" cy="520700"/>
          </a:xfrm>
          <a:custGeom>
            <a:avLst/>
            <a:gdLst/>
            <a:ahLst/>
            <a:cxnLst/>
            <a:rect l="l" t="t" r="r" b="b"/>
            <a:pathLst>
              <a:path w="215900" h="520700">
                <a:moveTo>
                  <a:pt x="53974" y="520699"/>
                </a:moveTo>
                <a:lnTo>
                  <a:pt x="53974" y="260372"/>
                </a:lnTo>
                <a:lnTo>
                  <a:pt x="0" y="260372"/>
                </a:lnTo>
                <a:lnTo>
                  <a:pt x="107950" y="0"/>
                </a:lnTo>
                <a:lnTo>
                  <a:pt x="215900" y="260372"/>
                </a:lnTo>
                <a:lnTo>
                  <a:pt x="161925" y="260372"/>
                </a:lnTo>
                <a:lnTo>
                  <a:pt x="161925" y="520699"/>
                </a:lnTo>
                <a:lnTo>
                  <a:pt x="53974" y="52069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462" y="82550"/>
            <a:ext cx="9465938" cy="500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5625" marR="5080" indent="-3083560">
              <a:lnSpc>
                <a:spcPts val="3900"/>
              </a:lnSpc>
            </a:pPr>
            <a:r>
              <a:rPr sz="3300" spc="-5" dirty="0"/>
              <a:t>When </a:t>
            </a:r>
            <a:r>
              <a:rPr sz="3300" dirty="0"/>
              <a:t>Does a </a:t>
            </a:r>
            <a:r>
              <a:rPr sz="3300" spc="-5" dirty="0"/>
              <a:t>for </a:t>
            </a:r>
            <a:r>
              <a:rPr sz="3300" dirty="0"/>
              <a:t>Loop </a:t>
            </a:r>
            <a:r>
              <a:rPr sz="3300" spc="-5" dirty="0"/>
              <a:t>Initialize, </a:t>
            </a:r>
            <a:r>
              <a:rPr sz="3300" spc="-95" dirty="0"/>
              <a:t>Test </a:t>
            </a:r>
            <a:r>
              <a:rPr sz="3300" dirty="0"/>
              <a:t>and  </a:t>
            </a:r>
            <a:r>
              <a:rPr sz="3300" spc="-5" dirty="0"/>
              <a:t>Modify?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992187" y="2101850"/>
            <a:ext cx="8042909" cy="4293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Just as with a while loop, a for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loop</a:t>
            </a:r>
          </a:p>
          <a:p>
            <a:pPr marL="749300" marR="854710" lvl="1" indent="-279400">
              <a:lnSpc>
                <a:spcPts val="3329"/>
              </a:lnSpc>
              <a:spcBef>
                <a:spcPts val="785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initializes the loop control variable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before  beginning the first loop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iteration</a:t>
            </a:r>
          </a:p>
          <a:p>
            <a:pPr marL="749300" marR="5080" lvl="1" indent="-279400">
              <a:lnSpc>
                <a:spcPts val="3329"/>
              </a:lnSpc>
              <a:spcBef>
                <a:spcPts val="740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performs the loop termination test </a:t>
            </a:r>
            <a:r>
              <a:rPr sz="2800" dirty="0">
                <a:latin typeface="Arial"/>
                <a:cs typeface="Arial"/>
              </a:rPr>
              <a:t>before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each  iteration of the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loop</a:t>
            </a:r>
          </a:p>
          <a:p>
            <a:pPr marL="749300" marR="321310" lvl="1" indent="-279400">
              <a:lnSpc>
                <a:spcPts val="3329"/>
              </a:lnSpc>
              <a:spcBef>
                <a:spcPts val="74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modifies the loop control variable at the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very  end of each iteration of the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loop</a:t>
            </a:r>
          </a:p>
          <a:p>
            <a:pPr marL="355600" marR="156845" indent="-342900">
              <a:lnSpc>
                <a:spcPct val="102400"/>
              </a:lnSpc>
              <a:spcBef>
                <a:spcPts val="509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The for </a:t>
            </a:r>
            <a:r>
              <a:rPr sz="3200" dirty="0">
                <a:latin typeface="Arial"/>
                <a:cs typeface="Arial"/>
              </a:rPr>
              <a:t>loop is easier </a:t>
            </a:r>
            <a:r>
              <a:rPr sz="3200" spc="-5" dirty="0">
                <a:latin typeface="Arial"/>
                <a:cs typeface="Arial"/>
              </a:rPr>
              <a:t>to write </a:t>
            </a:r>
            <a:r>
              <a:rPr sz="3200" dirty="0">
                <a:latin typeface="Arial"/>
                <a:cs typeface="Arial"/>
              </a:rPr>
              <a:t>and read </a:t>
            </a:r>
            <a:r>
              <a:rPr sz="3200" spc="-5" dirty="0">
                <a:latin typeface="Arial"/>
                <a:cs typeface="Arial"/>
              </a:rPr>
              <a:t>for  counter-controlled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loops.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6375" y="1150620"/>
            <a:ext cx="468503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19785" algn="l"/>
                <a:tab pos="2218055" algn="l"/>
              </a:tabLst>
            </a:pPr>
            <a:r>
              <a:rPr sz="4400" i="1" spc="-5" dirty="0">
                <a:latin typeface="Arial"/>
                <a:cs typeface="Arial"/>
              </a:rPr>
              <a:t>fo</a:t>
            </a:r>
            <a:r>
              <a:rPr sz="4400" i="1" dirty="0">
                <a:latin typeface="Arial"/>
                <a:cs typeface="Arial"/>
              </a:rPr>
              <a:t>r	</a:t>
            </a:r>
            <a:r>
              <a:rPr sz="4400" dirty="0"/>
              <a:t>Loop	Examples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6987" y="2254250"/>
            <a:ext cx="5929630" cy="2085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A </a:t>
            </a:r>
            <a:r>
              <a:rPr sz="2600" i="1" dirty="0">
                <a:latin typeface="Arial"/>
                <a:cs typeface="Arial"/>
              </a:rPr>
              <a:t>for </a:t>
            </a:r>
            <a:r>
              <a:rPr sz="2600" dirty="0">
                <a:latin typeface="Arial"/>
                <a:cs typeface="Arial"/>
              </a:rPr>
              <a:t>loop that counts from 0 to</a:t>
            </a:r>
            <a:r>
              <a:rPr sz="2600" spc="-25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9:</a:t>
            </a:r>
            <a:endParaRPr sz="260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  <a:spcBef>
                <a:spcPts val="409"/>
              </a:spcBef>
            </a:pPr>
            <a:r>
              <a:rPr sz="1800" spc="-5" dirty="0">
                <a:latin typeface="Courier New"/>
                <a:cs typeface="Courier New"/>
              </a:rPr>
              <a:t>// modify part can be simply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MS PGothic"/>
                <a:cs typeface="MS PGothic"/>
              </a:rPr>
              <a:t>“</a:t>
            </a:r>
            <a:r>
              <a:rPr sz="1800" dirty="0">
                <a:latin typeface="Courier New"/>
                <a:cs typeface="Courier New"/>
              </a:rPr>
              <a:t>i++</a:t>
            </a:r>
            <a:r>
              <a:rPr sz="1800" dirty="0">
                <a:latin typeface="MS PGothic"/>
                <a:cs typeface="MS PGothic"/>
              </a:rPr>
              <a:t>”</a:t>
            </a:r>
            <a:endParaRPr sz="1800">
              <a:latin typeface="MS PGothic"/>
              <a:cs typeface="MS PGothic"/>
            </a:endParaRPr>
          </a:p>
          <a:p>
            <a:pPr marL="749300">
              <a:lnSpc>
                <a:spcPct val="100000"/>
              </a:lnSpc>
              <a:spcBef>
                <a:spcPts val="5"/>
              </a:spcBef>
              <a:tabLst>
                <a:tab pos="1572260" algn="l"/>
                <a:tab pos="1846580" algn="l"/>
                <a:tab pos="2120900" algn="l"/>
                <a:tab pos="2669540" algn="l"/>
                <a:tab pos="2943860" algn="l"/>
                <a:tab pos="3218180" algn="l"/>
                <a:tab pos="3903979" algn="l"/>
                <a:tab pos="4178300" algn="l"/>
                <a:tab pos="4452620" algn="l"/>
                <a:tab pos="4726940" algn="l"/>
                <a:tab pos="5001895" algn="l"/>
                <a:tab pos="5276215" algn="l"/>
                <a:tab pos="5550535" algn="l"/>
              </a:tabLst>
            </a:pPr>
            <a:r>
              <a:rPr sz="1800" spc="-5" dirty="0">
                <a:latin typeface="Courier New"/>
                <a:cs typeface="Courier New"/>
              </a:rPr>
              <a:t>for</a:t>
            </a:r>
            <a:r>
              <a:rPr sz="1800" dirty="0">
                <a:latin typeface="Courier New"/>
                <a:cs typeface="Courier New"/>
              </a:rPr>
              <a:t> (	i	=	</a:t>
            </a:r>
            <a:r>
              <a:rPr sz="1800" spc="-5" dirty="0">
                <a:latin typeface="Courier New"/>
                <a:cs typeface="Courier New"/>
              </a:rPr>
              <a:t>0;	</a:t>
            </a:r>
            <a:r>
              <a:rPr sz="1800" dirty="0">
                <a:latin typeface="Courier New"/>
                <a:cs typeface="Courier New"/>
              </a:rPr>
              <a:t>i	&lt;	</a:t>
            </a:r>
            <a:r>
              <a:rPr sz="1800" spc="-5" dirty="0">
                <a:latin typeface="Courier New"/>
                <a:cs typeface="Courier New"/>
              </a:rPr>
              <a:t>10;	</a:t>
            </a:r>
            <a:r>
              <a:rPr sz="1800" dirty="0">
                <a:latin typeface="Courier New"/>
                <a:cs typeface="Courier New"/>
              </a:rPr>
              <a:t>i	=	i	+	1	)	{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70"/>
              </a:spcBef>
              <a:tabLst>
                <a:tab pos="3944620" algn="l"/>
                <a:tab pos="4218940" algn="l"/>
              </a:tabLst>
            </a:pPr>
            <a:r>
              <a:rPr sz="1800" spc="-5" dirty="0">
                <a:latin typeface="Courier New"/>
                <a:cs typeface="Courier New"/>
              </a:rPr>
              <a:t>System.out.println(</a:t>
            </a:r>
            <a:r>
              <a:rPr sz="1800" dirty="0">
                <a:latin typeface="Courier New"/>
                <a:cs typeface="Courier New"/>
              </a:rPr>
              <a:t> i	)	;</a:t>
            </a:r>
            <a:endParaRPr sz="1800">
              <a:latin typeface="Courier New"/>
              <a:cs typeface="Courier New"/>
            </a:endParaRPr>
          </a:p>
          <a:p>
            <a:pPr marL="7493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…or we can count backwards by </a:t>
            </a:r>
            <a:r>
              <a:rPr sz="2600" spc="-434" dirty="0">
                <a:latin typeface="Arial"/>
                <a:cs typeface="Arial"/>
              </a:rPr>
              <a:t>2</a:t>
            </a:r>
            <a:r>
              <a:rPr sz="2600" spc="-434" dirty="0">
                <a:latin typeface="MS PGothic"/>
                <a:cs typeface="MS PGothic"/>
              </a:rPr>
              <a:t>ʼ</a:t>
            </a:r>
            <a:r>
              <a:rPr sz="2600" spc="-434" dirty="0">
                <a:latin typeface="Arial"/>
                <a:cs typeface="Arial"/>
              </a:rPr>
              <a:t>s </a:t>
            </a:r>
            <a:r>
              <a:rPr sz="2600" spc="-40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1387" y="4988814"/>
            <a:ext cx="318071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30220" algn="l"/>
              </a:tabLst>
            </a:pPr>
            <a:r>
              <a:rPr sz="1800" spc="-5" dirty="0">
                <a:latin typeface="Courier New"/>
                <a:cs typeface="Courier New"/>
              </a:rPr>
              <a:t>System.out.println</a:t>
            </a:r>
            <a:r>
              <a:rPr sz="1800" dirty="0">
                <a:latin typeface="Courier New"/>
                <a:cs typeface="Courier New"/>
              </a:rPr>
              <a:t>( i	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3587" y="4379214"/>
            <a:ext cx="4964430" cy="911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ct val="100000"/>
              </a:lnSpc>
              <a:tabLst>
                <a:tab pos="3425190" algn="l"/>
              </a:tabLst>
            </a:pPr>
            <a:r>
              <a:rPr sz="1800" spc="-5" dirty="0">
                <a:latin typeface="Courier New"/>
                <a:cs typeface="Courier New"/>
              </a:rPr>
              <a:t>// modify part can</a:t>
            </a:r>
            <a:r>
              <a:rPr sz="1800" spc="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be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dirty="0">
                <a:latin typeface="MS PGothic"/>
                <a:cs typeface="MS PGothic"/>
              </a:rPr>
              <a:t>“</a:t>
            </a:r>
            <a:r>
              <a:rPr sz="1800" dirty="0">
                <a:latin typeface="Courier New"/>
                <a:cs typeface="Courier New"/>
              </a:rPr>
              <a:t>i	</a:t>
            </a:r>
            <a:r>
              <a:rPr sz="1800" spc="-5" dirty="0">
                <a:latin typeface="Courier New"/>
                <a:cs typeface="Courier New"/>
              </a:rPr>
              <a:t>-=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2</a:t>
            </a:r>
            <a:r>
              <a:rPr sz="1800" dirty="0">
                <a:latin typeface="MS PGothic"/>
                <a:cs typeface="MS PGothic"/>
              </a:rPr>
              <a:t>”</a:t>
            </a:r>
            <a:endParaRPr sz="180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835660" algn="l"/>
                <a:tab pos="1109980" algn="l"/>
                <a:tab pos="1384300" algn="l"/>
                <a:tab pos="2070100" algn="l"/>
                <a:tab pos="2344420" algn="l"/>
                <a:tab pos="2618740" algn="l"/>
                <a:tab pos="3167380" algn="l"/>
                <a:tab pos="3441700" algn="l"/>
                <a:tab pos="3716020" algn="l"/>
                <a:tab pos="3990340" algn="l"/>
                <a:tab pos="4265295" algn="l"/>
                <a:tab pos="4539615" algn="l"/>
                <a:tab pos="4813935" algn="l"/>
              </a:tabLst>
            </a:pPr>
            <a:r>
              <a:rPr sz="1800" spc="-5" dirty="0">
                <a:latin typeface="Courier New"/>
                <a:cs typeface="Courier New"/>
              </a:rPr>
              <a:t>fo</a:t>
            </a:r>
            <a:r>
              <a:rPr sz="1800" dirty="0">
                <a:latin typeface="Courier New"/>
                <a:cs typeface="Courier New"/>
              </a:rPr>
              <a:t>r (	i	=	</a:t>
            </a:r>
            <a:r>
              <a:rPr sz="1800" spc="-5" dirty="0">
                <a:latin typeface="Courier New"/>
                <a:cs typeface="Courier New"/>
              </a:rPr>
              <a:t>10</a:t>
            </a:r>
            <a:r>
              <a:rPr sz="1800" dirty="0">
                <a:latin typeface="Courier New"/>
                <a:cs typeface="Courier New"/>
              </a:rPr>
              <a:t>;	i	&gt;	</a:t>
            </a:r>
            <a:r>
              <a:rPr sz="1800" spc="-5" dirty="0">
                <a:latin typeface="Courier New"/>
                <a:cs typeface="Courier New"/>
              </a:rPr>
              <a:t>0</a:t>
            </a:r>
            <a:r>
              <a:rPr sz="1800" dirty="0">
                <a:latin typeface="Courier New"/>
                <a:cs typeface="Courier New"/>
              </a:rPr>
              <a:t>;	i	=	i	-	2	)	{</a:t>
            </a:r>
            <a:endParaRPr sz="1800">
              <a:latin typeface="Courier New"/>
              <a:cs typeface="Courier New"/>
            </a:endParaRPr>
          </a:p>
          <a:p>
            <a:pPr marR="1336040" algn="r">
              <a:lnSpc>
                <a:spcPct val="100000"/>
              </a:lnSpc>
              <a:spcBef>
                <a:spcPts val="470"/>
              </a:spcBef>
            </a:pPr>
            <a:r>
              <a:rPr sz="1800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3587" y="5264150"/>
            <a:ext cx="16319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9353" y="647700"/>
            <a:ext cx="4977765" cy="1242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00" marR="5080" indent="-1511935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The </a:t>
            </a:r>
            <a:r>
              <a:rPr spc="-250" dirty="0">
                <a:latin typeface="Calibri"/>
                <a:cs typeface="Calibri"/>
              </a:rPr>
              <a:t>do-­‐while </a:t>
            </a:r>
            <a:r>
              <a:rPr spc="-10" dirty="0">
                <a:latin typeface="Calibri"/>
                <a:cs typeface="Calibri"/>
              </a:rPr>
              <a:t>Repetition  </a:t>
            </a:r>
            <a:r>
              <a:rPr spc="-5" dirty="0">
                <a:latin typeface="Calibri"/>
                <a:cs typeface="Calibri"/>
              </a:rPr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987" y="2559050"/>
            <a:ext cx="7439659" cy="3811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latin typeface="Arial"/>
                <a:cs typeface="Arial"/>
              </a:rPr>
              <a:t>do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{</a:t>
            </a:r>
            <a:endParaRPr sz="32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725"/>
              </a:spcBef>
            </a:pPr>
            <a:r>
              <a:rPr sz="3200" i="1" spc="-5" dirty="0">
                <a:latin typeface="Arial"/>
                <a:cs typeface="Arial"/>
              </a:rPr>
              <a:t>statement(s)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3200" dirty="0">
                <a:latin typeface="Arial"/>
                <a:cs typeface="Arial"/>
              </a:rPr>
              <a:t>} while ( </a:t>
            </a:r>
            <a:r>
              <a:rPr sz="3200" i="1" spc="-5" dirty="0">
                <a:latin typeface="Arial"/>
                <a:cs typeface="Arial"/>
              </a:rPr>
              <a:t>condition 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6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699"/>
              </a:lnSpc>
              <a:buChar char="•"/>
              <a:tabLst>
                <a:tab pos="354965" algn="l"/>
                <a:tab pos="355600" algn="l"/>
                <a:tab pos="2703830" algn="l"/>
                <a:tab pos="4760595" algn="l"/>
              </a:tabLst>
            </a:pPr>
            <a:r>
              <a:rPr sz="3200" spc="-5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body of a </a:t>
            </a:r>
            <a:r>
              <a:rPr sz="3200" b="1" spc="-5" dirty="0">
                <a:latin typeface="Arial"/>
                <a:cs typeface="Arial"/>
              </a:rPr>
              <a:t>do-while </a:t>
            </a:r>
            <a:r>
              <a:rPr sz="3200" dirty="0">
                <a:latin typeface="Arial"/>
                <a:cs typeface="Arial"/>
              </a:rPr>
              <a:t>is </a:t>
            </a:r>
            <a:r>
              <a:rPr sz="3200" spc="-100" dirty="0">
                <a:latin typeface="Arial"/>
                <a:cs typeface="Arial"/>
              </a:rPr>
              <a:t>ALWAYS  </a:t>
            </a:r>
            <a:r>
              <a:rPr sz="3200" spc="-5" dirty="0">
                <a:latin typeface="Arial"/>
                <a:cs typeface="Arial"/>
              </a:rPr>
              <a:t>executed </a:t>
            </a:r>
            <a:r>
              <a:rPr sz="3200" dirty="0">
                <a:latin typeface="Arial"/>
                <a:cs typeface="Arial"/>
              </a:rPr>
              <a:t>at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least once.	</a:t>
            </a:r>
            <a:r>
              <a:rPr sz="3200" spc="-5" dirty="0">
                <a:latin typeface="Arial"/>
                <a:cs typeface="Arial"/>
              </a:rPr>
              <a:t>Is this true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  </a:t>
            </a:r>
            <a:r>
              <a:rPr sz="3200" b="1" spc="-5" dirty="0">
                <a:latin typeface="Arial"/>
                <a:cs typeface="Arial"/>
              </a:rPr>
              <a:t>while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loop?	</a:t>
            </a:r>
            <a:r>
              <a:rPr sz="3200" dirty="0">
                <a:latin typeface="Arial"/>
                <a:cs typeface="Arial"/>
              </a:rPr>
              <a:t>What </a:t>
            </a:r>
            <a:r>
              <a:rPr sz="3200" spc="-5" dirty="0">
                <a:latin typeface="Arial"/>
                <a:cs typeface="Arial"/>
              </a:rPr>
              <a:t>about </a:t>
            </a:r>
            <a:r>
              <a:rPr sz="3200" dirty="0">
                <a:latin typeface="Arial"/>
                <a:cs typeface="Arial"/>
              </a:rPr>
              <a:t>a </a:t>
            </a:r>
            <a:r>
              <a:rPr sz="3200" b="1" spc="-5" dirty="0">
                <a:latin typeface="Arial"/>
                <a:cs typeface="Arial"/>
              </a:rPr>
              <a:t>for</a:t>
            </a:r>
            <a:r>
              <a:rPr sz="3200" b="1" spc="-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loop?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064" y="998537"/>
            <a:ext cx="7565390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21000" algn="l"/>
              </a:tabLst>
            </a:pPr>
            <a:r>
              <a:rPr dirty="0"/>
              <a:t>The</a:t>
            </a:r>
            <a:r>
              <a:rPr spc="-5" dirty="0"/>
              <a:t> </a:t>
            </a:r>
            <a:r>
              <a:rPr i="1" dirty="0">
                <a:latin typeface="Arial"/>
                <a:cs typeface="Arial"/>
              </a:rPr>
              <a:t>break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&amp;	</a:t>
            </a:r>
            <a:r>
              <a:rPr i="1" spc="-5" dirty="0">
                <a:latin typeface="Arial"/>
                <a:cs typeface="Arial"/>
              </a:rPr>
              <a:t>continue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spc="-5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187" y="2638663"/>
            <a:ext cx="8009890" cy="29502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marR="54610" indent="-342900">
              <a:lnSpc>
                <a:spcPts val="3300"/>
              </a:lnSpc>
              <a:spcBef>
                <a:spcPts val="13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The </a:t>
            </a:r>
            <a:r>
              <a:rPr sz="2800" dirty="0">
                <a:latin typeface="Courier New"/>
                <a:cs typeface="Courier New"/>
              </a:rPr>
              <a:t>break </a:t>
            </a:r>
            <a:r>
              <a:rPr sz="2800" dirty="0">
                <a:latin typeface="Arial"/>
                <a:cs typeface="Arial"/>
              </a:rPr>
              <a:t>&amp; </a:t>
            </a:r>
            <a:r>
              <a:rPr sz="2800" dirty="0">
                <a:latin typeface="Courier New"/>
                <a:cs typeface="Courier New"/>
              </a:rPr>
              <a:t>continue </a:t>
            </a:r>
            <a:r>
              <a:rPr sz="2800" dirty="0">
                <a:latin typeface="Arial"/>
                <a:cs typeface="Arial"/>
              </a:rPr>
              <a:t>statements can be  used in </a:t>
            </a:r>
            <a:r>
              <a:rPr sz="2800" b="1" dirty="0">
                <a:latin typeface="Arial"/>
                <a:cs typeface="Arial"/>
              </a:rPr>
              <a:t>while</a:t>
            </a:r>
            <a:r>
              <a:rPr sz="2800" dirty="0">
                <a:latin typeface="Arial"/>
                <a:cs typeface="Arial"/>
              </a:rPr>
              <a:t>, </a:t>
            </a:r>
            <a:r>
              <a:rPr sz="2800" b="1" spc="-5" dirty="0">
                <a:latin typeface="Arial"/>
                <a:cs typeface="Arial"/>
              </a:rPr>
              <a:t>do-while</a:t>
            </a:r>
            <a:r>
              <a:rPr sz="2800" spc="-5" dirty="0">
                <a:latin typeface="Arial"/>
                <a:cs typeface="Arial"/>
              </a:rPr>
              <a:t>, and </a:t>
            </a:r>
            <a:r>
              <a:rPr sz="2800" b="1" spc="-5" dirty="0">
                <a:latin typeface="Arial"/>
                <a:cs typeface="Arial"/>
              </a:rPr>
              <a:t>for </a:t>
            </a:r>
            <a:r>
              <a:rPr sz="2800" dirty="0">
                <a:latin typeface="Arial"/>
                <a:cs typeface="Arial"/>
              </a:rPr>
              <a:t>loops to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cause</a:t>
            </a:r>
            <a:endParaRPr sz="2800">
              <a:latin typeface="Arial"/>
              <a:cs typeface="Arial"/>
            </a:endParaRPr>
          </a:p>
          <a:p>
            <a:pPr marL="355600" marR="54610">
              <a:lnSpc>
                <a:spcPts val="33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the remaining statements in the body of the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loop  to be skipped;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then:</a:t>
            </a:r>
            <a:endParaRPr sz="2800">
              <a:latin typeface="Arial"/>
              <a:cs typeface="Arial"/>
            </a:endParaRPr>
          </a:p>
          <a:p>
            <a:pPr marL="749300" lvl="1" indent="-279400">
              <a:lnSpc>
                <a:spcPct val="100000"/>
              </a:lnSpc>
              <a:spcBef>
                <a:spcPts val="51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ourier New"/>
                <a:cs typeface="Courier New"/>
              </a:rPr>
              <a:t>break</a:t>
            </a:r>
            <a:r>
              <a:rPr sz="2400" spc="-885" dirty="0"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causes the looping itself to abort, while…</a:t>
            </a:r>
            <a:endParaRPr sz="2400">
              <a:latin typeface="Arial"/>
              <a:cs typeface="Arial"/>
            </a:endParaRPr>
          </a:p>
          <a:p>
            <a:pPr marL="749300" marR="5080" lvl="1" indent="-279400">
              <a:lnSpc>
                <a:spcPct val="101499"/>
              </a:lnSpc>
              <a:spcBef>
                <a:spcPts val="47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ourier New"/>
                <a:cs typeface="Courier New"/>
              </a:rPr>
              <a:t>continue</a:t>
            </a:r>
            <a:r>
              <a:rPr sz="2400" spc="-890" dirty="0"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causes the next turn of the loop to start. In  a </a:t>
            </a:r>
            <a:r>
              <a:rPr sz="2400" b="1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loop, the modification step will still be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executed.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923" y="656710"/>
            <a:ext cx="8861361" cy="6575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85800"/>
            <a:ext cx="8763000" cy="647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685800"/>
            <a:ext cx="8763000" cy="6477000"/>
          </a:xfrm>
          <a:custGeom>
            <a:avLst/>
            <a:gdLst/>
            <a:ahLst/>
            <a:cxnLst/>
            <a:rect l="l" t="t" r="r" b="b"/>
            <a:pathLst>
              <a:path w="8763000" h="6477000">
                <a:moveTo>
                  <a:pt x="0" y="0"/>
                </a:moveTo>
                <a:lnTo>
                  <a:pt x="8762993" y="0"/>
                </a:lnTo>
                <a:lnTo>
                  <a:pt x="8762993" y="6476995"/>
                </a:lnTo>
                <a:lnTo>
                  <a:pt x="0" y="647699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B92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81433" y="716445"/>
            <a:ext cx="7014845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41880" algn="l"/>
                <a:tab pos="4485005" algn="l"/>
                <a:tab pos="4951095" algn="l"/>
              </a:tabLst>
            </a:pPr>
            <a:r>
              <a:rPr sz="4400" dirty="0"/>
              <a:t>Example	break</a:t>
            </a:r>
            <a:r>
              <a:rPr sz="4400" spc="-5" dirty="0"/>
              <a:t> </a:t>
            </a:r>
            <a:r>
              <a:rPr sz="4400" dirty="0"/>
              <a:t>in	a	</a:t>
            </a:r>
            <a:r>
              <a:rPr sz="4400" spc="-5" dirty="0"/>
              <a:t>for</a:t>
            </a:r>
            <a:r>
              <a:rPr sz="4400" spc="-95" dirty="0"/>
              <a:t> </a:t>
            </a:r>
            <a:r>
              <a:rPr sz="4400" dirty="0"/>
              <a:t>Loop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921918" y="3353053"/>
            <a:ext cx="84836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break;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887" y="3657853"/>
            <a:ext cx="3157220" cy="911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</a:p>
          <a:p>
            <a:pPr marL="1270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ourier New"/>
                <a:cs typeface="Courier New"/>
              </a:rPr>
              <a:t>System.out.println(i);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58887" y="4559554"/>
            <a:ext cx="738759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162675" algn="l"/>
                <a:tab pos="6436995" algn="l"/>
                <a:tab pos="6688455" algn="l"/>
                <a:tab pos="6962775" algn="l"/>
              </a:tabLst>
            </a:pPr>
            <a:r>
              <a:rPr sz="1800" dirty="0">
                <a:latin typeface="Courier New"/>
                <a:cs typeface="Courier New"/>
              </a:rPr>
              <a:t>System.out.println</a:t>
            </a:r>
            <a:r>
              <a:rPr sz="1800" spc="-5" dirty="0">
                <a:latin typeface="Courier New"/>
                <a:cs typeface="Courier New"/>
              </a:rPr>
              <a:t>(</a:t>
            </a:r>
            <a:r>
              <a:rPr sz="1800" dirty="0">
                <a:latin typeface="MS PGothic"/>
                <a:cs typeface="MS PGothic"/>
              </a:rPr>
              <a:t>“</a:t>
            </a:r>
            <a:r>
              <a:rPr sz="1800" spc="-5" dirty="0">
                <a:latin typeface="Courier New"/>
                <a:cs typeface="Courier New"/>
              </a:rPr>
              <a:t>\nBrok</a:t>
            </a:r>
            <a:r>
              <a:rPr sz="1800" dirty="0">
                <a:latin typeface="Courier New"/>
                <a:cs typeface="Courier New"/>
              </a:rPr>
              <a:t>e </a:t>
            </a:r>
            <a:r>
              <a:rPr sz="1800" spc="-5" dirty="0">
                <a:latin typeface="Courier New"/>
                <a:cs typeface="Courier New"/>
              </a:rPr>
              <a:t>ou</a:t>
            </a:r>
            <a:r>
              <a:rPr sz="1800" dirty="0">
                <a:latin typeface="Courier New"/>
                <a:cs typeface="Courier New"/>
              </a:rPr>
              <a:t>t </a:t>
            </a:r>
            <a:r>
              <a:rPr sz="1800" spc="-5" dirty="0">
                <a:latin typeface="Courier New"/>
                <a:cs typeface="Courier New"/>
              </a:rPr>
              <a:t>o</a:t>
            </a:r>
            <a:r>
              <a:rPr sz="1800" dirty="0">
                <a:latin typeface="Courier New"/>
                <a:cs typeface="Courier New"/>
              </a:rPr>
              <a:t>f </a:t>
            </a:r>
            <a:r>
              <a:rPr sz="1800" spc="-5" dirty="0">
                <a:latin typeface="Courier New"/>
                <a:cs typeface="Courier New"/>
              </a:rPr>
              <a:t>loo</a:t>
            </a:r>
            <a:r>
              <a:rPr sz="1800" dirty="0">
                <a:latin typeface="Courier New"/>
                <a:cs typeface="Courier New"/>
              </a:rPr>
              <a:t>p </a:t>
            </a:r>
            <a:r>
              <a:rPr sz="1800" spc="-5" dirty="0">
                <a:latin typeface="Courier New"/>
                <a:cs typeface="Courier New"/>
              </a:rPr>
              <a:t>a</a:t>
            </a:r>
            <a:r>
              <a:rPr sz="1800" dirty="0">
                <a:latin typeface="Courier New"/>
                <a:cs typeface="Courier New"/>
              </a:rPr>
              <a:t>t i	=	</a:t>
            </a:r>
            <a:r>
              <a:rPr sz="1800" dirty="0">
                <a:latin typeface="MS PGothic"/>
                <a:cs typeface="MS PGothic"/>
              </a:rPr>
              <a:t>“	</a:t>
            </a:r>
            <a:r>
              <a:rPr sz="1800" dirty="0">
                <a:latin typeface="Courier New"/>
                <a:cs typeface="Courier New"/>
              </a:rPr>
              <a:t>+	</a:t>
            </a:r>
            <a:r>
              <a:rPr sz="1800" spc="-5" dirty="0">
                <a:latin typeface="Courier New"/>
                <a:cs typeface="Courier New"/>
              </a:rPr>
              <a:t>i);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249362" y="2152288"/>
          <a:ext cx="5920258" cy="12359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3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02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…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343">
                <a:tc>
                  <a:txBody>
                    <a:bodyPr/>
                    <a:lstStyle/>
                    <a:p>
                      <a:pPr marL="22225">
                        <a:lnSpc>
                          <a:spcPts val="2075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int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075"/>
                        </a:lnSpc>
                        <a:tabLst>
                          <a:tab pos="354330" algn="l"/>
                        </a:tabLst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i	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160"/>
                        </a:lnSpc>
                      </a:pPr>
                      <a:r>
                        <a:rPr sz="2000" spc="-30" dirty="0">
                          <a:latin typeface="Arial"/>
                          <a:cs typeface="Arial"/>
                        </a:rPr>
                        <a:t>•</a:t>
                      </a:r>
                      <a:r>
                        <a:rPr sz="2000" b="1" u="sng" spc="-30" dirty="0">
                          <a:latin typeface="Arial"/>
                          <a:cs typeface="Arial"/>
                        </a:rPr>
                        <a:t>OUTPUT</a:t>
                      </a:r>
                      <a:r>
                        <a:rPr sz="2000" b="1" spc="-30" dirty="0">
                          <a:latin typeface="Arial"/>
                          <a:cs typeface="Arial"/>
                        </a:rPr>
                        <a:t>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668">
                <a:tc>
                  <a:txBody>
                    <a:bodyPr/>
                    <a:lstStyle/>
                    <a:p>
                      <a:pPr marL="22225">
                        <a:lnSpc>
                          <a:spcPts val="1985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for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1985"/>
                        </a:lnSpc>
                        <a:tabLst>
                          <a:tab pos="765810" algn="l"/>
                          <a:tab pos="1451610" algn="l"/>
                          <a:tab pos="1725930" algn="l"/>
                          <a:tab pos="2548890" algn="l"/>
                          <a:tab pos="2823210" algn="l"/>
                          <a:tab pos="3097530" algn="l"/>
                        </a:tabLst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(i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 =	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1;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 i	&lt;	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10;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 i	=	i	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985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1)</a:t>
                      </a:r>
                      <a:r>
                        <a:rPr sz="18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31">
                <a:tc>
                  <a:txBody>
                    <a:bodyPr/>
                    <a:lstStyle/>
                    <a:p>
                      <a:pPr marL="136525">
                        <a:lnSpc>
                          <a:spcPts val="202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if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202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(i == 5)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{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185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•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1 2 3</a:t>
                      </a:r>
                      <a:r>
                        <a:rPr sz="2000" b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4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945187" y="3648709"/>
            <a:ext cx="315595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r>
              <a:rPr sz="2000" b="1" dirty="0">
                <a:latin typeface="Arial"/>
                <a:cs typeface="Arial"/>
              </a:rPr>
              <a:t>Broke out of loop at i =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5.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923" y="656710"/>
            <a:ext cx="8861361" cy="6575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85800"/>
            <a:ext cx="8763000" cy="647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685800"/>
            <a:ext cx="8763000" cy="6477000"/>
          </a:xfrm>
          <a:custGeom>
            <a:avLst/>
            <a:gdLst/>
            <a:ahLst/>
            <a:cxnLst/>
            <a:rect l="l" t="t" r="r" b="b"/>
            <a:pathLst>
              <a:path w="8763000" h="6477000">
                <a:moveTo>
                  <a:pt x="0" y="0"/>
                </a:moveTo>
                <a:lnTo>
                  <a:pt x="8762993" y="0"/>
                </a:lnTo>
                <a:lnTo>
                  <a:pt x="8762993" y="6476995"/>
                </a:lnTo>
                <a:lnTo>
                  <a:pt x="0" y="647699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B92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4179" y="746924"/>
            <a:ext cx="7029450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29790" algn="l"/>
                <a:tab pos="4191635" algn="l"/>
                <a:tab pos="4728210" algn="l"/>
                <a:tab pos="5152390" algn="l"/>
              </a:tabLst>
            </a:pPr>
            <a:r>
              <a:rPr dirty="0"/>
              <a:t>Example	</a:t>
            </a:r>
            <a:r>
              <a:rPr spc="-5" dirty="0"/>
              <a:t>continue	</a:t>
            </a:r>
            <a:r>
              <a:rPr dirty="0"/>
              <a:t>in	a	</a:t>
            </a:r>
            <a:r>
              <a:rPr spc="-5" dirty="0"/>
              <a:t>for</a:t>
            </a:r>
            <a:r>
              <a:rPr spc="-95" dirty="0"/>
              <a:t> </a:t>
            </a:r>
            <a:r>
              <a:rPr dirty="0"/>
              <a:t>Loop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8887" y="2155190"/>
            <a:ext cx="4415790" cy="149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spc="-5" dirty="0">
                <a:latin typeface="Courier New"/>
                <a:cs typeface="Courier New"/>
              </a:rPr>
              <a:t>int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i;</a:t>
            </a:r>
            <a:endParaRPr sz="1800">
              <a:latin typeface="Courier New"/>
              <a:cs typeface="Courier New"/>
            </a:endParaRPr>
          </a:p>
          <a:p>
            <a:pPr marL="127000" marR="5080" indent="-114300">
              <a:lnSpc>
                <a:spcPct val="106500"/>
              </a:lnSpc>
              <a:spcBef>
                <a:spcPts val="100"/>
              </a:spcBef>
              <a:tabLst>
                <a:tab pos="1247140" algn="l"/>
                <a:tab pos="1932939" algn="l"/>
                <a:tab pos="2207260" algn="l"/>
                <a:tab pos="3030220" algn="l"/>
                <a:tab pos="3304540" algn="l"/>
                <a:tab pos="3578860" algn="l"/>
                <a:tab pos="3853179" algn="l"/>
              </a:tabLst>
            </a:pPr>
            <a:r>
              <a:rPr sz="1800" spc="-5" dirty="0">
                <a:latin typeface="Courier New"/>
                <a:cs typeface="Courier New"/>
              </a:rPr>
              <a:t>for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(i</a:t>
            </a:r>
            <a:r>
              <a:rPr sz="1800" dirty="0">
                <a:latin typeface="Courier New"/>
                <a:cs typeface="Courier New"/>
              </a:rPr>
              <a:t> =	</a:t>
            </a:r>
            <a:r>
              <a:rPr sz="1800" spc="-5" dirty="0">
                <a:latin typeface="Courier New"/>
                <a:cs typeface="Courier New"/>
              </a:rPr>
              <a:t>1;</a:t>
            </a:r>
            <a:r>
              <a:rPr sz="1800" dirty="0">
                <a:latin typeface="Courier New"/>
                <a:cs typeface="Courier New"/>
              </a:rPr>
              <a:t> i	&lt;	</a:t>
            </a:r>
            <a:r>
              <a:rPr sz="1800" spc="-5" dirty="0">
                <a:latin typeface="Courier New"/>
                <a:cs typeface="Courier New"/>
              </a:rPr>
              <a:t>10;</a:t>
            </a:r>
            <a:r>
              <a:rPr sz="1800" dirty="0">
                <a:latin typeface="Courier New"/>
                <a:cs typeface="Courier New"/>
              </a:rPr>
              <a:t> i	=	i	+	</a:t>
            </a:r>
            <a:r>
              <a:rPr sz="1800" spc="-5" dirty="0">
                <a:latin typeface="Courier New"/>
                <a:cs typeface="Courier New"/>
              </a:rPr>
              <a:t>1)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  </a:t>
            </a:r>
            <a:r>
              <a:rPr sz="1800" spc="-5" dirty="0">
                <a:latin typeface="Courier New"/>
                <a:cs typeface="Courier New"/>
              </a:rPr>
              <a:t>if (i == 5)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67564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ourier New"/>
                <a:cs typeface="Courier New"/>
              </a:rPr>
              <a:t>continue;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887" y="3657853"/>
            <a:ext cx="3683635" cy="1203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ourier New"/>
                <a:cs typeface="Courier New"/>
              </a:rPr>
              <a:t>System.out.println(i);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5" dirty="0">
                <a:latin typeface="Courier New"/>
                <a:cs typeface="Courier New"/>
              </a:rPr>
              <a:t>System.out.println(</a:t>
            </a:r>
            <a:r>
              <a:rPr sz="1800" spc="-5" dirty="0">
                <a:latin typeface="MS PGothic"/>
                <a:cs typeface="MS PGothic"/>
              </a:rPr>
              <a:t>“</a:t>
            </a:r>
            <a:r>
              <a:rPr sz="1800" spc="-5" dirty="0">
                <a:latin typeface="Courier New"/>
                <a:cs typeface="Courier New"/>
              </a:rPr>
              <a:t>Done</a:t>
            </a:r>
            <a:r>
              <a:rPr sz="1800" spc="-5" dirty="0">
                <a:latin typeface="MS PGothic"/>
                <a:cs typeface="MS PGothic"/>
              </a:rPr>
              <a:t>”</a:t>
            </a:r>
            <a:r>
              <a:rPr sz="1800" spc="-5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6187" y="2432050"/>
            <a:ext cx="112649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u="sng" dirty="0">
                <a:latin typeface="Arial"/>
                <a:cs typeface="Arial"/>
              </a:rPr>
              <a:t>OUTPU</a:t>
            </a:r>
            <a:r>
              <a:rPr sz="2000" b="1" u="sng" spc="-225" dirty="0">
                <a:latin typeface="Arial"/>
                <a:cs typeface="Arial"/>
              </a:rPr>
              <a:t>T</a:t>
            </a:r>
            <a:r>
              <a:rPr sz="2000" b="1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96748" y="3039109"/>
            <a:ext cx="164909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1 2 3 4 6 7 8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9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6187" y="3648709"/>
            <a:ext cx="73088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Done.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923" y="656710"/>
            <a:ext cx="8861361" cy="6575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85800"/>
            <a:ext cx="8763000" cy="647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685800"/>
            <a:ext cx="8763000" cy="6477000"/>
          </a:xfrm>
          <a:custGeom>
            <a:avLst/>
            <a:gdLst/>
            <a:ahLst/>
            <a:cxnLst/>
            <a:rect l="l" t="t" r="r" b="b"/>
            <a:pathLst>
              <a:path w="8763000" h="6477000">
                <a:moveTo>
                  <a:pt x="0" y="0"/>
                </a:moveTo>
                <a:lnTo>
                  <a:pt x="8762993" y="0"/>
                </a:lnTo>
                <a:lnTo>
                  <a:pt x="8762993" y="6476995"/>
                </a:lnTo>
                <a:lnTo>
                  <a:pt x="0" y="647699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B92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75456" y="746924"/>
            <a:ext cx="7226934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48150" algn="l"/>
                <a:tab pos="4784725" algn="l"/>
                <a:tab pos="6083300" algn="l"/>
              </a:tabLst>
            </a:pPr>
            <a:r>
              <a:rPr dirty="0"/>
              <a:t>Problem:</a:t>
            </a:r>
            <a:r>
              <a:rPr spc="-5" dirty="0"/>
              <a:t> </a:t>
            </a:r>
            <a:r>
              <a:rPr dirty="0"/>
              <a:t>con</a:t>
            </a:r>
            <a:r>
              <a:rPr spc="-5" dirty="0"/>
              <a:t>t</a:t>
            </a:r>
            <a:r>
              <a:rPr dirty="0"/>
              <a:t>inue	in	while	Loop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8887" y="3657853"/>
            <a:ext cx="3683635" cy="211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if (i == 5)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</a:p>
          <a:p>
            <a:pPr marL="67564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ourier New"/>
                <a:cs typeface="Courier New"/>
              </a:rPr>
              <a:t>continue;</a:t>
            </a:r>
            <a:endParaRPr sz="1800" dirty="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</a:p>
          <a:p>
            <a:pPr marL="127000" marR="530860">
              <a:lnSpc>
                <a:spcPts val="2400"/>
              </a:lnSpc>
              <a:spcBef>
                <a:spcPts val="20"/>
              </a:spcBef>
              <a:tabLst>
                <a:tab pos="400685" algn="l"/>
                <a:tab pos="675640" algn="l"/>
                <a:tab pos="949960" algn="l"/>
                <a:tab pos="1224280" algn="l"/>
              </a:tabLst>
            </a:pPr>
            <a:r>
              <a:rPr sz="1800" spc="-5" dirty="0">
                <a:latin typeface="Courier New"/>
                <a:cs typeface="Courier New"/>
              </a:rPr>
              <a:t>System.out.println(i);  </a:t>
            </a:r>
            <a:r>
              <a:rPr sz="1800" dirty="0">
                <a:latin typeface="Courier New"/>
                <a:cs typeface="Courier New"/>
              </a:rPr>
              <a:t>i	=	i	+	</a:t>
            </a:r>
            <a:r>
              <a:rPr sz="1800" spc="-5" dirty="0">
                <a:latin typeface="Courier New"/>
                <a:cs typeface="Courier New"/>
              </a:rPr>
              <a:t>1;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ourier New"/>
                <a:cs typeface="Courier New"/>
              </a:rPr>
              <a:t>System.out.println(</a:t>
            </a:r>
            <a:r>
              <a:rPr sz="1800" spc="-5" dirty="0">
                <a:latin typeface="MS PGothic"/>
                <a:cs typeface="MS PGothic"/>
              </a:rPr>
              <a:t>“</a:t>
            </a:r>
            <a:r>
              <a:rPr sz="1800" spc="-5" dirty="0">
                <a:latin typeface="Courier New"/>
                <a:cs typeface="Courier New"/>
              </a:rPr>
              <a:t>Done</a:t>
            </a:r>
            <a:r>
              <a:rPr sz="1800" spc="-5" dirty="0">
                <a:latin typeface="MS PGothic"/>
                <a:cs typeface="MS PGothic"/>
              </a:rPr>
              <a:t>”</a:t>
            </a:r>
            <a:r>
              <a:rPr sz="1800" spc="-5" dirty="0">
                <a:latin typeface="Courier New"/>
                <a:cs typeface="Courier New"/>
              </a:rPr>
              <a:t>);</a:t>
            </a:r>
            <a:endParaRPr sz="1800" dirty="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249362" y="2152288"/>
          <a:ext cx="6364732" cy="15407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3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636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// This seems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equivalent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// in previous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slide—but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to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is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18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loop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it??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2000" b="1" u="sng" spc="-35" dirty="0">
                          <a:latin typeface="Arial"/>
                          <a:cs typeface="Arial"/>
                        </a:rPr>
                        <a:t>OUTPUT</a:t>
                      </a:r>
                      <a:r>
                        <a:rPr sz="2000" b="1" spc="-35" dirty="0">
                          <a:latin typeface="Arial"/>
                          <a:cs typeface="Arial"/>
                        </a:rPr>
                        <a:t>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818">
                <a:tc>
                  <a:txBody>
                    <a:bodyPr/>
                    <a:lstStyle/>
                    <a:p>
                      <a:pPr marL="22225">
                        <a:lnSpc>
                          <a:spcPts val="198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…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845185" algn="l"/>
                          <a:tab pos="1119505" algn="l"/>
                        </a:tabLst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 i	=	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1;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???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81">
                <a:tc>
                  <a:txBody>
                    <a:bodyPr/>
                    <a:lstStyle/>
                    <a:p>
                      <a:pPr marL="22225">
                        <a:lnSpc>
                          <a:spcPts val="1970"/>
                        </a:lnSpc>
                        <a:tabLst>
                          <a:tab pos="1530985" algn="l"/>
                        </a:tabLst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while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(i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 &lt;	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10)</a:t>
                      </a:r>
                      <a:r>
                        <a:rPr sz="18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{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457" rIns="0" bIns="0" rtlCol="0">
            <a:spAutoFit/>
          </a:bodyPr>
          <a:lstStyle/>
          <a:p>
            <a:pPr marL="926465">
              <a:lnSpc>
                <a:spcPct val="100000"/>
              </a:lnSpc>
            </a:pPr>
            <a:r>
              <a:rPr sz="3200" spc="-5" dirty="0"/>
              <a:t>The switch Multiple-Selection</a:t>
            </a:r>
            <a:r>
              <a:rPr sz="3200" spc="60" dirty="0"/>
              <a:t> </a:t>
            </a:r>
            <a:r>
              <a:rPr sz="3200" spc="-5" dirty="0"/>
              <a:t>Structure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0" dirty="0">
                <a:latin typeface="Arial"/>
                <a:cs typeface="Arial"/>
              </a:rPr>
              <a:t>switch ( </a:t>
            </a:r>
            <a:r>
              <a:rPr dirty="0"/>
              <a:t>integer expression</a:t>
            </a:r>
            <a:r>
              <a:rPr spc="-105" dirty="0"/>
              <a:t> </a:t>
            </a:r>
            <a:r>
              <a:rPr i="0" dirty="0">
                <a:latin typeface="Arial"/>
                <a:cs typeface="Arial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i="0" dirty="0">
                <a:latin typeface="Arial"/>
                <a:cs typeface="Arial"/>
              </a:rPr>
              <a:t>{</a:t>
            </a:r>
          </a:p>
          <a:p>
            <a:pPr marL="355600">
              <a:lnSpc>
                <a:spcPct val="100000"/>
              </a:lnSpc>
              <a:spcBef>
                <a:spcPts val="219"/>
              </a:spcBef>
            </a:pPr>
            <a:r>
              <a:rPr i="0" dirty="0">
                <a:latin typeface="Arial"/>
                <a:cs typeface="Arial"/>
              </a:rPr>
              <a:t>case </a:t>
            </a:r>
            <a:r>
              <a:rPr dirty="0"/>
              <a:t>constant</a:t>
            </a:r>
            <a:r>
              <a:rPr sz="1875" baseline="-22222" dirty="0"/>
              <a:t>1</a:t>
            </a:r>
            <a:r>
              <a:rPr sz="1875" spc="-150" baseline="-22222" dirty="0"/>
              <a:t> </a:t>
            </a:r>
            <a:r>
              <a:rPr sz="1900" i="0" dirty="0">
                <a:latin typeface="Arial"/>
                <a:cs typeface="Arial"/>
              </a:rPr>
              <a:t>:</a:t>
            </a:r>
            <a:endParaRPr sz="19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19"/>
              </a:spcBef>
            </a:pPr>
            <a:r>
              <a:rPr dirty="0"/>
              <a:t>statement(s)</a:t>
            </a:r>
          </a:p>
          <a:p>
            <a:pPr marL="355600" marR="953135" indent="535940">
              <a:lnSpc>
                <a:spcPct val="109600"/>
              </a:lnSpc>
            </a:pPr>
            <a:r>
              <a:rPr i="0" dirty="0">
                <a:latin typeface="Arial"/>
                <a:cs typeface="Arial"/>
              </a:rPr>
              <a:t>break ;  case </a:t>
            </a:r>
            <a:r>
              <a:rPr dirty="0"/>
              <a:t>constant</a:t>
            </a:r>
            <a:r>
              <a:rPr sz="1875" baseline="-22222" dirty="0"/>
              <a:t>2 </a:t>
            </a:r>
            <a:r>
              <a:rPr sz="1900" i="0" dirty="0">
                <a:latin typeface="Arial"/>
                <a:cs typeface="Arial"/>
              </a:rPr>
              <a:t>:  </a:t>
            </a:r>
            <a:r>
              <a:rPr sz="1900" dirty="0"/>
              <a:t>statement(s)</a:t>
            </a:r>
            <a:endParaRPr sz="19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20"/>
              </a:spcBef>
            </a:pPr>
            <a:r>
              <a:rPr i="0" dirty="0">
                <a:latin typeface="Arial"/>
                <a:cs typeface="Arial"/>
              </a:rPr>
              <a:t>break</a:t>
            </a:r>
            <a:r>
              <a:rPr i="0" spc="-10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;</a:t>
            </a:r>
          </a:p>
          <a:p>
            <a:pPr marL="469900">
              <a:lnSpc>
                <a:spcPct val="100000"/>
              </a:lnSpc>
              <a:spcBef>
                <a:spcPts val="345"/>
              </a:spcBef>
            </a:pPr>
            <a:r>
              <a:rPr sz="2800" b="1" i="0" dirty="0">
                <a:latin typeface="Arial"/>
                <a:cs typeface="Arial"/>
              </a:rPr>
              <a:t>. .</a:t>
            </a:r>
            <a:r>
              <a:rPr sz="2800" b="1" i="0" spc="-110" dirty="0">
                <a:latin typeface="Arial"/>
                <a:cs typeface="Arial"/>
              </a:rPr>
              <a:t> </a:t>
            </a:r>
            <a:r>
              <a:rPr sz="2800" b="1" i="0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469900" marR="1210310" indent="-114300">
              <a:lnSpc>
                <a:spcPts val="2500"/>
              </a:lnSpc>
              <a:spcBef>
                <a:spcPts val="115"/>
              </a:spcBef>
            </a:pPr>
            <a:r>
              <a:rPr i="0" spc="-5" dirty="0">
                <a:latin typeface="Arial"/>
                <a:cs typeface="Arial"/>
              </a:rPr>
              <a:t>default: </a:t>
            </a:r>
            <a:r>
              <a:rPr i="0" dirty="0">
                <a:latin typeface="Arial"/>
                <a:cs typeface="Arial"/>
              </a:rPr>
              <a:t>:  </a:t>
            </a:r>
            <a:r>
              <a:rPr dirty="0"/>
              <a:t>statement(s) </a:t>
            </a:r>
            <a:r>
              <a:rPr i="1" dirty="0"/>
              <a:t> </a:t>
            </a:r>
            <a:r>
              <a:rPr i="0" dirty="0">
                <a:latin typeface="Arial"/>
                <a:cs typeface="Arial"/>
              </a:rPr>
              <a:t>break</a:t>
            </a:r>
            <a:r>
              <a:rPr i="0" spc="-10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Arial"/>
                <a:cs typeface="Arial"/>
              </a:rPr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84140" y="2077720"/>
            <a:ext cx="76009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Notes: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4140" y="2405379"/>
            <a:ext cx="11303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034CA1"/>
                </a:solidFill>
                <a:latin typeface="Courier New"/>
                <a:cs typeface="Courier New"/>
              </a:rPr>
              <a:t>break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27040" y="2687320"/>
            <a:ext cx="109855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keywords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4140" y="2405379"/>
            <a:ext cx="3573145" cy="236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and </a:t>
            </a:r>
            <a:r>
              <a:rPr sz="2000" dirty="0">
                <a:solidFill>
                  <a:srgbClr val="034CA1"/>
                </a:solidFill>
                <a:latin typeface="Courier New"/>
                <a:cs typeface="Courier New"/>
              </a:rPr>
              <a:t>default</a:t>
            </a:r>
            <a:r>
              <a:rPr sz="2000" spc="-73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12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If </a:t>
            </a:r>
            <a:r>
              <a:rPr sz="2000" spc="-5" dirty="0">
                <a:latin typeface="Arial"/>
                <a:cs typeface="Arial"/>
              </a:rPr>
              <a:t>no </a:t>
            </a:r>
            <a:r>
              <a:rPr sz="2000" dirty="0">
                <a:solidFill>
                  <a:srgbClr val="034CA1"/>
                </a:solidFill>
                <a:latin typeface="Courier New"/>
                <a:cs typeface="Courier New"/>
              </a:rPr>
              <a:t>break</a:t>
            </a:r>
            <a:r>
              <a:rPr sz="2000" dirty="0">
                <a:latin typeface="Arial"/>
                <a:cs typeface="Arial"/>
              </a:rPr>
              <a:t>, execution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flows  through to next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case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5600" marR="39370" indent="-342900">
              <a:lnSpc>
                <a:spcPts val="222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If </a:t>
            </a:r>
            <a:r>
              <a:rPr sz="2000" spc="-5" dirty="0">
                <a:latin typeface="Arial"/>
                <a:cs typeface="Arial"/>
              </a:rPr>
              <a:t>no </a:t>
            </a:r>
            <a:r>
              <a:rPr sz="2000" dirty="0">
                <a:solidFill>
                  <a:srgbClr val="034CA1"/>
                </a:solidFill>
                <a:latin typeface="Courier New"/>
                <a:cs typeface="Courier New"/>
              </a:rPr>
              <a:t>default</a:t>
            </a:r>
            <a:r>
              <a:rPr sz="2000" dirty="0">
                <a:latin typeface="Arial"/>
                <a:cs typeface="Arial"/>
              </a:rPr>
              <a:t>, switch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might  not do execute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anything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046" y="640245"/>
            <a:ext cx="3907790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20214" algn="l"/>
              </a:tabLst>
            </a:pPr>
            <a:r>
              <a:rPr sz="4400" dirty="0"/>
              <a:t>swi</a:t>
            </a:r>
            <a:r>
              <a:rPr sz="4400" spc="-5" dirty="0"/>
              <a:t>t</a:t>
            </a:r>
            <a:r>
              <a:rPr sz="4400" dirty="0"/>
              <a:t>ch	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447800" y="1371600"/>
            <a:ext cx="7389813" cy="6212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switch ( day )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{</a:t>
            </a:r>
          </a:p>
          <a:p>
            <a:pPr marL="561340" marR="594360" indent="-206375">
              <a:lnSpc>
                <a:spcPts val="1880"/>
              </a:lnSpc>
              <a:spcBef>
                <a:spcPts val="170"/>
              </a:spcBef>
            </a:pPr>
            <a:r>
              <a:rPr sz="1600" b="1" dirty="0">
                <a:latin typeface="Arial"/>
                <a:cs typeface="Arial"/>
              </a:rPr>
              <a:t>case 1: </a:t>
            </a:r>
            <a:endParaRPr lang="en-US" sz="1600" b="1" dirty="0">
              <a:latin typeface="Arial"/>
              <a:cs typeface="Arial"/>
            </a:endParaRPr>
          </a:p>
          <a:p>
            <a:pPr marL="561340" marR="594360" indent="-206375">
              <a:lnSpc>
                <a:spcPts val="1880"/>
              </a:lnSpc>
              <a:spcBef>
                <a:spcPts val="170"/>
              </a:spcBef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 err="1">
                <a:latin typeface="Arial"/>
                <a:cs typeface="Arial"/>
              </a:rPr>
              <a:t>System.out.println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(</a:t>
            </a:r>
            <a:r>
              <a:rPr sz="1400" b="1" spc="-5" dirty="0">
                <a:latin typeface="MS PGothic"/>
                <a:cs typeface="MS PGothic"/>
              </a:rPr>
              <a:t>“</a:t>
            </a:r>
            <a:r>
              <a:rPr sz="1400" b="1" spc="-5" dirty="0">
                <a:latin typeface="Arial"/>
                <a:cs typeface="Arial"/>
              </a:rPr>
              <a:t>Monday\n</a:t>
            </a:r>
            <a:r>
              <a:rPr sz="1400" b="1" spc="-5" dirty="0">
                <a:latin typeface="MS PGothic"/>
                <a:cs typeface="MS PGothic"/>
              </a:rPr>
              <a:t>”</a:t>
            </a:r>
            <a:r>
              <a:rPr sz="1400" b="1" spc="-5" dirty="0">
                <a:latin typeface="Arial"/>
                <a:cs typeface="Arial"/>
              </a:rPr>
              <a:t>)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;  </a:t>
            </a:r>
            <a:endParaRPr lang="en-US" sz="1400" b="1" dirty="0">
              <a:latin typeface="Arial"/>
              <a:cs typeface="Arial"/>
            </a:endParaRPr>
          </a:p>
          <a:p>
            <a:pPr marL="561340" marR="594360" indent="-206375">
              <a:lnSpc>
                <a:spcPts val="1880"/>
              </a:lnSpc>
              <a:spcBef>
                <a:spcPts val="170"/>
              </a:spcBef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>
                <a:latin typeface="Arial"/>
                <a:cs typeface="Arial"/>
              </a:rPr>
              <a:t>break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</a:t>
            </a:r>
          </a:p>
          <a:p>
            <a:pPr marL="561340" marR="768985" indent="-206375">
              <a:lnSpc>
                <a:spcPts val="1900"/>
              </a:lnSpc>
              <a:spcBef>
                <a:spcPts val="5"/>
              </a:spcBef>
            </a:pPr>
            <a:r>
              <a:rPr sz="1600" b="1" dirty="0">
                <a:latin typeface="Arial"/>
                <a:cs typeface="Arial"/>
              </a:rPr>
              <a:t>case 2: </a:t>
            </a:r>
            <a:endParaRPr lang="en-US" sz="1600" b="1" dirty="0">
              <a:latin typeface="Arial"/>
              <a:cs typeface="Arial"/>
            </a:endParaRPr>
          </a:p>
          <a:p>
            <a:pPr marL="561340" marR="768985" indent="-206375">
              <a:lnSpc>
                <a:spcPts val="1900"/>
              </a:lnSpc>
              <a:spcBef>
                <a:spcPts val="5"/>
              </a:spcBef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 err="1">
                <a:latin typeface="Arial"/>
                <a:cs typeface="Arial"/>
              </a:rPr>
              <a:t>System.out.println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(</a:t>
            </a:r>
            <a:r>
              <a:rPr sz="1600" b="1" spc="-5" dirty="0">
                <a:latin typeface="MS PGothic"/>
                <a:cs typeface="MS PGothic"/>
              </a:rPr>
              <a:t>“</a:t>
            </a:r>
            <a:r>
              <a:rPr sz="1600" b="1" spc="-5" dirty="0">
                <a:latin typeface="Arial"/>
                <a:cs typeface="Arial"/>
              </a:rPr>
              <a:t>Tuesday\n</a:t>
            </a:r>
            <a:r>
              <a:rPr sz="1600" b="1" spc="-5" dirty="0">
                <a:latin typeface="MS PGothic"/>
                <a:cs typeface="MS PGothic"/>
              </a:rPr>
              <a:t>”</a:t>
            </a:r>
            <a:r>
              <a:rPr sz="1600" b="1" spc="-5" dirty="0">
                <a:latin typeface="Arial"/>
                <a:cs typeface="Arial"/>
              </a:rPr>
              <a:t>)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  </a:t>
            </a:r>
            <a:endParaRPr lang="en-US" sz="1600" b="1" dirty="0">
              <a:latin typeface="Arial"/>
              <a:cs typeface="Arial"/>
            </a:endParaRPr>
          </a:p>
          <a:p>
            <a:pPr marL="561340" marR="768985" indent="-206375">
              <a:lnSpc>
                <a:spcPts val="1900"/>
              </a:lnSpc>
              <a:spcBef>
                <a:spcPts val="5"/>
              </a:spcBef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>
                <a:latin typeface="Arial"/>
                <a:cs typeface="Arial"/>
              </a:rPr>
              <a:t>break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</a:t>
            </a: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latin typeface="Arial"/>
                <a:cs typeface="Arial"/>
              </a:rPr>
              <a:t>case 3: </a:t>
            </a:r>
            <a:endParaRPr lang="en-US" sz="1600" b="1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lang="en-US" sz="1600" b="1" dirty="0">
                <a:latin typeface="Arial"/>
                <a:cs typeface="Arial"/>
              </a:rPr>
              <a:t>	</a:t>
            </a:r>
            <a:r>
              <a:rPr sz="1600" b="1" dirty="0" err="1">
                <a:latin typeface="Arial"/>
                <a:cs typeface="Arial"/>
              </a:rPr>
              <a:t>System.out.println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(</a:t>
            </a:r>
            <a:r>
              <a:rPr sz="1600" b="1" spc="-5" dirty="0">
                <a:latin typeface="MS PGothic"/>
                <a:cs typeface="MS PGothic"/>
              </a:rPr>
              <a:t>“</a:t>
            </a:r>
            <a:r>
              <a:rPr sz="1600" b="1" spc="-5" dirty="0">
                <a:latin typeface="Arial"/>
                <a:cs typeface="Arial"/>
              </a:rPr>
              <a:t>Wednesday\n</a:t>
            </a:r>
            <a:r>
              <a:rPr sz="1600" b="1" spc="-5" dirty="0">
                <a:latin typeface="MS PGothic"/>
                <a:cs typeface="MS PGothic"/>
              </a:rPr>
              <a:t>”</a:t>
            </a:r>
            <a:r>
              <a:rPr sz="1600" b="1" spc="-5" dirty="0">
                <a:latin typeface="Arial"/>
                <a:cs typeface="Arial"/>
              </a:rPr>
              <a:t>)</a:t>
            </a:r>
            <a:r>
              <a:rPr sz="1600" b="1" spc="-9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</a:t>
            </a:r>
          </a:p>
          <a:p>
            <a:pPr marL="561340">
              <a:lnSpc>
                <a:spcPct val="100000"/>
              </a:lnSpc>
              <a:spcBef>
                <a:spcPts val="340"/>
              </a:spcBef>
            </a:pPr>
            <a:r>
              <a:rPr lang="en-US" sz="1600" b="1" dirty="0">
                <a:latin typeface="Arial"/>
                <a:cs typeface="Arial"/>
              </a:rPr>
              <a:t>	</a:t>
            </a:r>
            <a:r>
              <a:rPr sz="1600" b="1" dirty="0">
                <a:latin typeface="Arial"/>
                <a:cs typeface="Arial"/>
              </a:rPr>
              <a:t>break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</a:t>
            </a:r>
          </a:p>
          <a:p>
            <a:pPr marL="561340" marR="708025" indent="-206375">
              <a:lnSpc>
                <a:spcPct val="121800"/>
              </a:lnSpc>
            </a:pPr>
            <a:r>
              <a:rPr sz="1600" b="1" dirty="0">
                <a:latin typeface="Arial"/>
                <a:cs typeface="Arial"/>
              </a:rPr>
              <a:t>case 4: </a:t>
            </a:r>
            <a:endParaRPr lang="en-US" sz="1600" b="1" dirty="0">
              <a:latin typeface="Arial"/>
              <a:cs typeface="Arial"/>
            </a:endParaRPr>
          </a:p>
          <a:p>
            <a:pPr marL="561340" marR="708025" indent="-206375">
              <a:lnSpc>
                <a:spcPct val="121800"/>
              </a:lnSpc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 err="1">
                <a:latin typeface="Arial"/>
                <a:cs typeface="Arial"/>
              </a:rPr>
              <a:t>System.out.println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(</a:t>
            </a:r>
            <a:r>
              <a:rPr sz="1600" b="1" spc="-5" dirty="0">
                <a:latin typeface="MS PGothic"/>
                <a:cs typeface="MS PGothic"/>
              </a:rPr>
              <a:t>“</a:t>
            </a:r>
            <a:r>
              <a:rPr sz="1600" b="1" spc="-5" dirty="0">
                <a:latin typeface="Arial"/>
                <a:cs typeface="Arial"/>
              </a:rPr>
              <a:t>Thursday\n</a:t>
            </a:r>
            <a:r>
              <a:rPr sz="1600" b="1" spc="-5" dirty="0">
                <a:latin typeface="MS PGothic"/>
                <a:cs typeface="MS PGothic"/>
              </a:rPr>
              <a:t>”</a:t>
            </a:r>
            <a:r>
              <a:rPr sz="1600" b="1" spc="-5" dirty="0">
                <a:latin typeface="Arial"/>
                <a:cs typeface="Arial"/>
              </a:rPr>
              <a:t>)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  </a:t>
            </a:r>
            <a:endParaRPr lang="en-US" sz="1600" b="1" dirty="0">
              <a:latin typeface="Arial"/>
              <a:cs typeface="Arial"/>
            </a:endParaRPr>
          </a:p>
          <a:p>
            <a:pPr marL="561340" marR="708025" indent="-206375">
              <a:lnSpc>
                <a:spcPct val="121800"/>
              </a:lnSpc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>
                <a:latin typeface="Arial"/>
                <a:cs typeface="Arial"/>
              </a:rPr>
              <a:t>break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</a:t>
            </a:r>
          </a:p>
          <a:p>
            <a:pPr marL="561340" marR="937894" indent="-206375">
              <a:lnSpc>
                <a:spcPts val="1900"/>
              </a:lnSpc>
              <a:spcBef>
                <a:spcPts val="20"/>
              </a:spcBef>
            </a:pPr>
            <a:r>
              <a:rPr sz="1600" b="1" dirty="0">
                <a:latin typeface="Arial"/>
                <a:cs typeface="Arial"/>
              </a:rPr>
              <a:t>case 5: </a:t>
            </a:r>
            <a:endParaRPr lang="en-US" sz="1600" b="1" dirty="0">
              <a:latin typeface="Arial"/>
              <a:cs typeface="Arial"/>
            </a:endParaRPr>
          </a:p>
          <a:p>
            <a:pPr marL="561340" marR="937894" indent="-206375">
              <a:lnSpc>
                <a:spcPts val="1900"/>
              </a:lnSpc>
              <a:spcBef>
                <a:spcPts val="20"/>
              </a:spcBef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 err="1">
                <a:latin typeface="Arial"/>
                <a:cs typeface="Arial"/>
              </a:rPr>
              <a:t>System.out.println</a:t>
            </a:r>
            <a:r>
              <a:rPr sz="1600" b="1" dirty="0">
                <a:latin typeface="Arial"/>
                <a:cs typeface="Arial"/>
              </a:rPr>
              <a:t> (</a:t>
            </a:r>
            <a:r>
              <a:rPr sz="1600" b="1" dirty="0">
                <a:latin typeface="MS PGothic"/>
                <a:cs typeface="MS PGothic"/>
              </a:rPr>
              <a:t>“</a:t>
            </a:r>
            <a:r>
              <a:rPr sz="1600" b="1" dirty="0">
                <a:latin typeface="Arial"/>
                <a:cs typeface="Arial"/>
              </a:rPr>
              <a:t>Friday\n</a:t>
            </a:r>
            <a:r>
              <a:rPr sz="1600" b="1" dirty="0">
                <a:latin typeface="MS PGothic"/>
                <a:cs typeface="MS PGothic"/>
              </a:rPr>
              <a:t>”</a:t>
            </a:r>
            <a:r>
              <a:rPr sz="1600" b="1" dirty="0">
                <a:latin typeface="Arial"/>
                <a:cs typeface="Arial"/>
              </a:rPr>
              <a:t>)</a:t>
            </a:r>
            <a:r>
              <a:rPr sz="1600" b="1" spc="-1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  </a:t>
            </a:r>
            <a:endParaRPr lang="en-US" sz="1600" b="1" dirty="0">
              <a:latin typeface="Arial"/>
              <a:cs typeface="Arial"/>
            </a:endParaRPr>
          </a:p>
          <a:p>
            <a:pPr marL="561340" marR="937894" indent="-206375">
              <a:lnSpc>
                <a:spcPts val="1900"/>
              </a:lnSpc>
              <a:spcBef>
                <a:spcPts val="20"/>
              </a:spcBef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>
                <a:latin typeface="Arial"/>
                <a:cs typeface="Arial"/>
              </a:rPr>
              <a:t>break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</a:t>
            </a:r>
          </a:p>
          <a:p>
            <a:pPr marL="355600">
              <a:lnSpc>
                <a:spcPct val="100000"/>
              </a:lnSpc>
              <a:spcBef>
                <a:spcPts val="219"/>
              </a:spcBef>
            </a:pPr>
            <a:r>
              <a:rPr sz="1600" b="1" dirty="0">
                <a:latin typeface="Arial"/>
                <a:cs typeface="Arial"/>
              </a:rPr>
              <a:t>case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0:</a:t>
            </a:r>
          </a:p>
          <a:p>
            <a:pPr marL="561340" marR="701675" indent="-206375">
              <a:lnSpc>
                <a:spcPts val="1900"/>
              </a:lnSpc>
              <a:spcBef>
                <a:spcPts val="20"/>
              </a:spcBef>
            </a:pPr>
            <a:r>
              <a:rPr sz="1600" b="1" dirty="0">
                <a:latin typeface="Arial"/>
                <a:cs typeface="Arial"/>
              </a:rPr>
              <a:t>case 6: </a:t>
            </a:r>
            <a:endParaRPr lang="en-US" sz="1600" b="1" dirty="0">
              <a:latin typeface="Arial"/>
              <a:cs typeface="Arial"/>
            </a:endParaRPr>
          </a:p>
          <a:p>
            <a:pPr marL="561340" marR="701675" indent="-206375">
              <a:lnSpc>
                <a:spcPts val="1900"/>
              </a:lnSpc>
              <a:spcBef>
                <a:spcPts val="20"/>
              </a:spcBef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 err="1">
                <a:latin typeface="Arial"/>
                <a:cs typeface="Arial"/>
              </a:rPr>
              <a:t>System.out.println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(</a:t>
            </a:r>
            <a:r>
              <a:rPr sz="1600" b="1" spc="-5" dirty="0">
                <a:latin typeface="MS PGothic"/>
                <a:cs typeface="MS PGothic"/>
              </a:rPr>
              <a:t>“</a:t>
            </a:r>
            <a:r>
              <a:rPr sz="1600" b="1" spc="-5" dirty="0">
                <a:latin typeface="Arial"/>
                <a:cs typeface="Arial"/>
              </a:rPr>
              <a:t>Weekend\n</a:t>
            </a:r>
            <a:r>
              <a:rPr sz="1600" b="1" spc="-5" dirty="0">
                <a:latin typeface="MS PGothic"/>
                <a:cs typeface="MS PGothic"/>
              </a:rPr>
              <a:t>”</a:t>
            </a:r>
            <a:r>
              <a:rPr sz="1600" b="1" spc="-5" dirty="0">
                <a:latin typeface="Arial"/>
                <a:cs typeface="Arial"/>
              </a:rPr>
              <a:t>)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  </a:t>
            </a:r>
            <a:endParaRPr lang="en-US" sz="1600" b="1" dirty="0">
              <a:latin typeface="Arial"/>
              <a:cs typeface="Arial"/>
            </a:endParaRPr>
          </a:p>
          <a:p>
            <a:pPr marL="561340" marR="701675" indent="-206375">
              <a:lnSpc>
                <a:spcPts val="1900"/>
              </a:lnSpc>
              <a:spcBef>
                <a:spcPts val="20"/>
              </a:spcBef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>
                <a:latin typeface="Arial"/>
                <a:cs typeface="Arial"/>
              </a:rPr>
              <a:t>break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</a:t>
            </a:r>
          </a:p>
          <a:p>
            <a:pPr marL="561340" marR="5080" indent="-206375">
              <a:lnSpc>
                <a:spcPts val="1900"/>
              </a:lnSpc>
            </a:pPr>
            <a:r>
              <a:rPr sz="1600" b="1" spc="-5" dirty="0">
                <a:latin typeface="Arial"/>
                <a:cs typeface="Arial"/>
              </a:rPr>
              <a:t>default: </a:t>
            </a:r>
            <a:endParaRPr lang="en-US" sz="1600" b="1" spc="-5" dirty="0">
              <a:latin typeface="Arial"/>
              <a:cs typeface="Arial"/>
            </a:endParaRPr>
          </a:p>
          <a:p>
            <a:pPr marL="561340" marR="5080" indent="-206375">
              <a:lnSpc>
                <a:spcPts val="1900"/>
              </a:lnSpc>
            </a:pPr>
            <a:r>
              <a:rPr lang="en-US" sz="1600" b="1" spc="-5" dirty="0">
                <a:latin typeface="Arial"/>
                <a:cs typeface="Arial"/>
              </a:rPr>
              <a:t>		</a:t>
            </a:r>
            <a:r>
              <a:rPr sz="1600" b="1" dirty="0" err="1">
                <a:latin typeface="Arial"/>
                <a:cs typeface="Arial"/>
              </a:rPr>
              <a:t>System.out.println</a:t>
            </a:r>
            <a:r>
              <a:rPr sz="1600" b="1" dirty="0">
                <a:latin typeface="Arial"/>
                <a:cs typeface="Arial"/>
              </a:rPr>
              <a:t> (</a:t>
            </a:r>
            <a:r>
              <a:rPr sz="1600" b="1" dirty="0">
                <a:latin typeface="MS PGothic"/>
                <a:cs typeface="MS PGothic"/>
              </a:rPr>
              <a:t>“</a:t>
            </a:r>
            <a:r>
              <a:rPr sz="1600" b="1" dirty="0">
                <a:latin typeface="Arial"/>
                <a:cs typeface="Arial"/>
              </a:rPr>
              <a:t>Error -- invalid </a:t>
            </a:r>
            <a:r>
              <a:rPr sz="1600" b="1" spc="-15" dirty="0">
                <a:latin typeface="Arial"/>
                <a:cs typeface="Arial"/>
              </a:rPr>
              <a:t>day.\n</a:t>
            </a:r>
            <a:r>
              <a:rPr sz="1600" b="1" spc="-15" dirty="0">
                <a:latin typeface="MS PGothic"/>
                <a:cs typeface="MS PGothic"/>
              </a:rPr>
              <a:t>”</a:t>
            </a:r>
            <a:r>
              <a:rPr sz="1600" b="1" spc="-15" dirty="0">
                <a:latin typeface="Arial"/>
                <a:cs typeface="Arial"/>
              </a:rPr>
              <a:t>)</a:t>
            </a:r>
            <a:r>
              <a:rPr sz="1600" b="1" spc="-10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  </a:t>
            </a:r>
            <a:endParaRPr lang="en-US" sz="1600" b="1" dirty="0">
              <a:latin typeface="Arial"/>
              <a:cs typeface="Arial"/>
            </a:endParaRPr>
          </a:p>
          <a:p>
            <a:pPr marL="561340" marR="5080" indent="-206375">
              <a:lnSpc>
                <a:spcPts val="1900"/>
              </a:lnSpc>
            </a:pPr>
            <a:r>
              <a:rPr lang="en-US" sz="1600" b="1" dirty="0">
                <a:latin typeface="Arial"/>
                <a:cs typeface="Arial"/>
              </a:rPr>
              <a:t>		</a:t>
            </a:r>
            <a:r>
              <a:rPr sz="1600" b="1" dirty="0">
                <a:latin typeface="Arial"/>
                <a:cs typeface="Arial"/>
              </a:rPr>
              <a:t>break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latin typeface="Arial"/>
                <a:cs typeface="Arial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4824" y="968057"/>
            <a:ext cx="377444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76145" algn="l"/>
              </a:tabLst>
            </a:pPr>
            <a:r>
              <a:rPr sz="4400" spc="-330" dirty="0"/>
              <a:t>V</a:t>
            </a:r>
            <a:r>
              <a:rPr sz="4400" dirty="0"/>
              <a:t>ariable	Scope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3139" y="1838959"/>
            <a:ext cx="8087359" cy="4551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spc="-15" dirty="0">
                <a:latin typeface="Arial"/>
                <a:cs typeface="Arial"/>
              </a:rPr>
              <a:t>Variable</a:t>
            </a:r>
            <a:r>
              <a:rPr sz="2800" b="1" i="1" spc="-85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scope</a:t>
            </a:r>
            <a:r>
              <a:rPr sz="2800" b="1" spc="-5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355600" marR="14604" indent="-342900">
              <a:lnSpc>
                <a:spcPts val="3030"/>
              </a:lnSpc>
              <a:spcBef>
                <a:spcPts val="6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That </a:t>
            </a:r>
            <a:r>
              <a:rPr sz="2800" dirty="0">
                <a:latin typeface="Arial"/>
                <a:cs typeface="Arial"/>
              </a:rPr>
              <a:t>set of code statements in which the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variable  is known to the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compiler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86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Where </a:t>
            </a:r>
            <a:r>
              <a:rPr sz="2800" dirty="0">
                <a:latin typeface="Arial"/>
                <a:cs typeface="Arial"/>
              </a:rPr>
              <a:t>it can be referenced in your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program.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94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Limited to the </a:t>
            </a:r>
            <a:r>
              <a:rPr sz="2800" b="1" i="1" spc="-5" dirty="0">
                <a:latin typeface="Arial"/>
                <a:cs typeface="Arial"/>
              </a:rPr>
              <a:t>code </a:t>
            </a:r>
            <a:r>
              <a:rPr sz="2800" b="1" i="1" dirty="0">
                <a:latin typeface="Arial"/>
                <a:cs typeface="Arial"/>
              </a:rPr>
              <a:t>block </a:t>
            </a:r>
            <a:r>
              <a:rPr sz="2800" dirty="0">
                <a:latin typeface="Arial"/>
                <a:cs typeface="Arial"/>
              </a:rPr>
              <a:t>in which it is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defined.</a:t>
            </a:r>
            <a:endParaRPr sz="2800">
              <a:latin typeface="Arial"/>
              <a:cs typeface="Arial"/>
            </a:endParaRPr>
          </a:p>
          <a:p>
            <a:pPr marL="12700" indent="457200">
              <a:lnSpc>
                <a:spcPct val="100000"/>
              </a:lnSpc>
              <a:spcBef>
                <a:spcPts val="1785"/>
              </a:spcBef>
            </a:pPr>
            <a:r>
              <a:rPr sz="2400" dirty="0">
                <a:latin typeface="Arial"/>
                <a:cs typeface="Arial"/>
              </a:rPr>
              <a:t>– A </a:t>
            </a:r>
            <a:r>
              <a:rPr sz="2400" b="1" i="1" spc="-5" dirty="0">
                <a:latin typeface="Arial"/>
                <a:cs typeface="Arial"/>
              </a:rPr>
              <a:t>code </a:t>
            </a:r>
            <a:r>
              <a:rPr sz="2400" b="1" i="1" dirty="0">
                <a:latin typeface="Arial"/>
                <a:cs typeface="Arial"/>
              </a:rPr>
              <a:t>block </a:t>
            </a:r>
            <a:r>
              <a:rPr sz="2400" dirty="0">
                <a:latin typeface="Arial"/>
                <a:cs typeface="Arial"/>
              </a:rPr>
              <a:t>is a set of code enclosed in braces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b="1" i="1" spc="-5" dirty="0">
                <a:latin typeface="Arial"/>
                <a:cs typeface="Arial"/>
              </a:rPr>
              <a:t>{</a:t>
            </a:r>
            <a:r>
              <a:rPr sz="2400" b="1" i="1" spc="15" dirty="0">
                <a:latin typeface="Arial"/>
                <a:cs typeface="Arial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}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355600" marR="80010" indent="-342900">
              <a:lnSpc>
                <a:spcPts val="3030"/>
              </a:lnSpc>
              <a:spcBef>
                <a:spcPts val="1689"/>
              </a:spcBef>
            </a:pPr>
            <a:r>
              <a:rPr sz="2800" dirty="0">
                <a:latin typeface="Arial"/>
                <a:cs typeface="Arial"/>
              </a:rPr>
              <a:t>One interesting application of this principle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allowed  in Java involves the </a:t>
            </a:r>
            <a:r>
              <a:rPr sz="2800" dirty="0">
                <a:solidFill>
                  <a:srgbClr val="C0504D"/>
                </a:solidFill>
                <a:latin typeface="Arial"/>
                <a:cs typeface="Arial"/>
              </a:rPr>
              <a:t>for loop</a:t>
            </a:r>
            <a:r>
              <a:rPr sz="2800" spc="-1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construct.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6129" y="968057"/>
            <a:ext cx="3411854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62480" algn="l"/>
              </a:tabLst>
            </a:pPr>
            <a:r>
              <a:rPr sz="4400" spc="-5" dirty="0"/>
              <a:t>f</a:t>
            </a:r>
            <a:r>
              <a:rPr sz="4400" dirty="0"/>
              <a:t>or-loop	index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40739" y="1737359"/>
            <a:ext cx="8197215" cy="169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3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Can declare and initialize variables in the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heading 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dirty="0">
                <a:latin typeface="Arial"/>
                <a:cs typeface="Arial"/>
              </a:rPr>
              <a:t>a </a:t>
            </a:r>
            <a:r>
              <a:rPr sz="2800" dirty="0">
                <a:solidFill>
                  <a:srgbClr val="C0504D"/>
                </a:solidFill>
                <a:latin typeface="Arial"/>
                <a:cs typeface="Arial"/>
              </a:rPr>
              <a:t>for</a:t>
            </a:r>
            <a:r>
              <a:rPr sz="2800" spc="-8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C0504D"/>
                </a:solidFill>
                <a:latin typeface="Arial"/>
                <a:cs typeface="Arial"/>
              </a:rPr>
              <a:t>loop</a:t>
            </a:r>
            <a:r>
              <a:rPr sz="2800" spc="-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These </a:t>
            </a:r>
            <a:r>
              <a:rPr sz="2800" dirty="0">
                <a:latin typeface="Arial"/>
                <a:cs typeface="Arial"/>
              </a:rPr>
              <a:t>variables are local to the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for-loop.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They </a:t>
            </a:r>
            <a:r>
              <a:rPr sz="2800" dirty="0">
                <a:latin typeface="Arial"/>
                <a:cs typeface="Arial"/>
              </a:rPr>
              <a:t>may be reused in other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loops.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7939" y="3640328"/>
            <a:ext cx="14890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24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4134" y="3640328"/>
            <a:ext cx="28911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8460" algn="l"/>
              </a:tabLst>
            </a:pP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=	</a:t>
            </a:r>
            <a:r>
              <a:rPr sz="2400" b="1" spc="-5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hello</a:t>
            </a:r>
            <a:r>
              <a:rPr sz="2400" b="1" spc="-7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world</a:t>
            </a:r>
            <a:r>
              <a:rPr sz="2400" b="1" spc="-5" dirty="0">
                <a:solidFill>
                  <a:srgbClr val="0062B1"/>
                </a:solidFill>
                <a:latin typeface="MS PGothic"/>
                <a:cs typeface="MS PGothic"/>
              </a:rPr>
              <a:t>”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24494" y="4320540"/>
            <a:ext cx="27692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8460" algn="l"/>
                <a:tab pos="744220" algn="l"/>
              </a:tabLst>
            </a:pP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i	&lt;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s.length();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51062" y="4320540"/>
            <a:ext cx="7569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i++)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7939" y="4030980"/>
            <a:ext cx="2769235" cy="1091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00"/>
              </a:lnSpc>
              <a:tabLst>
                <a:tab pos="2024380" algn="l"/>
                <a:tab pos="2207260" algn="l"/>
                <a:tab pos="2390140" algn="l"/>
              </a:tabLst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int</a:t>
            </a:r>
            <a:r>
              <a:rPr sz="2400" b="1" spc="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count</a:t>
            </a:r>
            <a:r>
              <a:rPr sz="2400" b="1" spc="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=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1;  fo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r (</a:t>
            </a:r>
            <a:r>
              <a:rPr sz="2400" b="1" u="heavy" spc="-5" dirty="0">
                <a:solidFill>
                  <a:srgbClr val="034CA1"/>
                </a:solidFill>
                <a:latin typeface="Courier New"/>
                <a:cs typeface="Courier New"/>
              </a:rPr>
              <a:t>in</a:t>
            </a:r>
            <a:r>
              <a:rPr sz="2400" b="1" u="heavy" dirty="0">
                <a:solidFill>
                  <a:srgbClr val="034CA1"/>
                </a:solidFill>
                <a:latin typeface="Courier New"/>
                <a:cs typeface="Courier New"/>
              </a:rPr>
              <a:t>t i	=	0;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5139" y="5130292"/>
            <a:ext cx="203771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count *=</a:t>
            </a:r>
            <a:r>
              <a:rPr sz="24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2;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7939" y="5536692"/>
            <a:ext cx="2106295" cy="792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81280">
              <a:lnSpc>
                <a:spcPct val="100000"/>
              </a:lnSpc>
              <a:spcBef>
                <a:spcPts val="219"/>
              </a:spcBef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//using</a:t>
            </a:r>
            <a:r>
              <a:rPr sz="24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'i'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1476" y="5930391"/>
            <a:ext cx="7569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here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6028" y="5930391"/>
            <a:ext cx="16713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generates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05133" y="5930391"/>
            <a:ext cx="18548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8460" algn="l"/>
              </a:tabLst>
            </a:pP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a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compiler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17148" y="5930391"/>
            <a:ext cx="9404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error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2747" y="968057"/>
            <a:ext cx="449834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69135" algn="l"/>
              </a:tabLst>
            </a:pPr>
            <a:r>
              <a:rPr sz="4400" dirty="0"/>
              <a:t>Named	</a:t>
            </a:r>
            <a:r>
              <a:rPr sz="4400" spc="-5" dirty="0"/>
              <a:t>Constants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3139" y="2072640"/>
            <a:ext cx="7738109" cy="1095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No </a:t>
            </a:r>
            <a:r>
              <a:rPr sz="2400" dirty="0">
                <a:latin typeface="MS PGothic"/>
                <a:cs typeface="MS PGothic"/>
              </a:rPr>
              <a:t>“</a:t>
            </a:r>
            <a:r>
              <a:rPr sz="2400" dirty="0">
                <a:latin typeface="Arial"/>
                <a:cs typeface="Arial"/>
              </a:rPr>
              <a:t>hard </a:t>
            </a:r>
            <a:r>
              <a:rPr sz="2400" spc="-5" dirty="0">
                <a:latin typeface="Arial"/>
                <a:cs typeface="Arial"/>
              </a:rPr>
              <a:t>coded</a:t>
            </a:r>
            <a:r>
              <a:rPr sz="2400" spc="-5" dirty="0">
                <a:latin typeface="MS PGothic"/>
                <a:cs typeface="MS PGothic"/>
              </a:rPr>
              <a:t>” </a:t>
            </a:r>
            <a:r>
              <a:rPr sz="2400" dirty="0">
                <a:latin typeface="Arial"/>
                <a:cs typeface="Arial"/>
              </a:rPr>
              <a:t>values inside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code!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2620"/>
              </a:lnSpc>
              <a:spcBef>
                <a:spcPts val="5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Declare constants as </a:t>
            </a:r>
            <a:r>
              <a:rPr sz="2400" b="1" i="1" dirty="0">
                <a:latin typeface="Arial"/>
                <a:cs typeface="Arial"/>
              </a:rPr>
              <a:t>named constants</a:t>
            </a:r>
            <a:r>
              <a:rPr sz="2400" dirty="0">
                <a:latin typeface="Arial"/>
                <a:cs typeface="Arial"/>
              </a:rPr>
              <a:t>, and use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their  name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instead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40814" y="3372001"/>
          <a:ext cx="7589402" cy="774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3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R="53975" algn="ctr">
                        <a:lnSpc>
                          <a:spcPts val="2555"/>
                        </a:lnSpc>
                      </a:pP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public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2555"/>
                        </a:lnSpc>
                      </a:pP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static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2555"/>
                        </a:lnSpc>
                      </a:pP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final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2555"/>
                        </a:lnSpc>
                        <a:tabLst>
                          <a:tab pos="670560" algn="l"/>
                        </a:tabLst>
                      </a:pPr>
                      <a:r>
                        <a:rPr sz="22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int	</a:t>
                      </a: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INCHES_PER_FOOT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555"/>
                        </a:lnSpc>
                      </a:pPr>
                      <a:r>
                        <a:rPr sz="22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555"/>
                        </a:lnSpc>
                      </a:pP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12;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R="53975" algn="ctr">
                        <a:lnSpc>
                          <a:spcPts val="2405"/>
                        </a:lnSpc>
                      </a:pP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public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2405"/>
                        </a:lnSpc>
                      </a:pP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static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2405"/>
                        </a:lnSpc>
                      </a:pP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final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2405"/>
                        </a:lnSpc>
                        <a:tabLst>
                          <a:tab pos="2346960" algn="l"/>
                        </a:tabLst>
                      </a:pP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doubl</a:t>
                      </a:r>
                      <a:r>
                        <a:rPr sz="22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e </a:t>
                      </a: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RAT</a:t>
                      </a:r>
                      <a:r>
                        <a:rPr sz="22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E =	</a:t>
                      </a:r>
                      <a:r>
                        <a:rPr sz="22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0.14;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450339" y="4314444"/>
            <a:ext cx="7150100" cy="2012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00" marR="569595" indent="-279400">
              <a:lnSpc>
                <a:spcPts val="2370"/>
              </a:lnSpc>
              <a:buChar char="–"/>
              <a:tabLst>
                <a:tab pos="297815" algn="l"/>
                <a:tab pos="298450" algn="l"/>
              </a:tabLst>
            </a:pPr>
            <a:r>
              <a:rPr sz="2200" dirty="0">
                <a:latin typeface="Arial"/>
                <a:cs typeface="Arial"/>
              </a:rPr>
              <a:t>The </a:t>
            </a:r>
            <a:r>
              <a:rPr sz="2200" dirty="0">
                <a:latin typeface="MS PGothic"/>
                <a:cs typeface="MS PGothic"/>
              </a:rPr>
              <a:t>“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final</a:t>
            </a:r>
            <a:r>
              <a:rPr sz="2200" dirty="0">
                <a:latin typeface="MS PGothic"/>
                <a:cs typeface="MS PGothic"/>
              </a:rPr>
              <a:t>” </a:t>
            </a:r>
            <a:r>
              <a:rPr sz="2200" dirty="0">
                <a:latin typeface="Arial"/>
                <a:cs typeface="Arial"/>
              </a:rPr>
              <a:t>modifier prevents a value from</a:t>
            </a:r>
            <a:r>
              <a:rPr sz="2200" spc="-1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being  changed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inadvertently.</a:t>
            </a:r>
            <a:endParaRPr sz="22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50"/>
              </a:spcBef>
              <a:buChar char="–"/>
              <a:tabLst>
                <a:tab pos="297815" algn="l"/>
                <a:tab pos="298450" algn="l"/>
              </a:tabLst>
            </a:pPr>
            <a:r>
              <a:rPr sz="2200" dirty="0">
                <a:latin typeface="Arial"/>
                <a:cs typeface="Arial"/>
              </a:rPr>
              <a:t>More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about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public</a:t>
            </a:r>
            <a:r>
              <a:rPr sz="2200" b="1" spc="-73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latin typeface="Arial"/>
                <a:cs typeface="Arial"/>
              </a:rPr>
              <a:t>and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static</a:t>
            </a:r>
            <a:r>
              <a:rPr sz="2200" b="1" spc="-73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latin typeface="Arial"/>
                <a:cs typeface="Arial"/>
              </a:rPr>
              <a:t>later</a:t>
            </a:r>
            <a:endParaRPr sz="22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259"/>
              </a:spcBef>
              <a:buChar char="–"/>
              <a:tabLst>
                <a:tab pos="297815" algn="l"/>
                <a:tab pos="298450" algn="l"/>
              </a:tabLst>
            </a:pPr>
            <a:r>
              <a:rPr sz="2200" dirty="0">
                <a:latin typeface="Arial"/>
                <a:cs typeface="Arial"/>
              </a:rPr>
              <a:t>Naming convention for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constants</a:t>
            </a:r>
            <a:endParaRPr sz="22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Char char="•"/>
              <a:tabLst>
                <a:tab pos="697865" algn="l"/>
                <a:tab pos="698500" algn="l"/>
              </a:tabLst>
            </a:pPr>
            <a:r>
              <a:rPr sz="2000" dirty="0">
                <a:latin typeface="Arial"/>
                <a:cs typeface="Arial"/>
              </a:rPr>
              <a:t>Use all uppercase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letters</a:t>
            </a:r>
            <a:endParaRPr sz="20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300"/>
              </a:spcBef>
              <a:buChar char="•"/>
              <a:tabLst>
                <a:tab pos="697865" algn="l"/>
                <a:tab pos="698500" algn="l"/>
              </a:tabLst>
            </a:pPr>
            <a:r>
              <a:rPr sz="2000" dirty="0">
                <a:latin typeface="Arial"/>
                <a:cs typeface="Arial"/>
              </a:rPr>
              <a:t>Designate word boundaries with an underscore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character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04" rIns="0" bIns="0" rtlCol="0">
            <a:spAutoFit/>
          </a:bodyPr>
          <a:lstStyle/>
          <a:p>
            <a:pPr marL="2630805">
              <a:lnSpc>
                <a:spcPct val="100000"/>
              </a:lnSpc>
            </a:pPr>
            <a:r>
              <a:rPr sz="4400" spc="-5" dirty="0"/>
              <a:t>Comments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71320"/>
            <a:ext cx="7785100" cy="1226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39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latin typeface="Arial"/>
                <a:cs typeface="Arial"/>
              </a:rPr>
              <a:t>Line</a:t>
            </a:r>
            <a:r>
              <a:rPr sz="2000" b="1" i="1" spc="-10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comment</a:t>
            </a:r>
            <a:endParaRPr sz="2000">
              <a:latin typeface="Arial"/>
              <a:cs typeface="Arial"/>
            </a:endParaRPr>
          </a:p>
          <a:p>
            <a:pPr marL="755650" lvl="1" indent="-285750">
              <a:lnSpc>
                <a:spcPts val="2390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Begins with the symbols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//</a:t>
            </a:r>
            <a:endParaRPr sz="2000">
              <a:latin typeface="Courier New"/>
              <a:cs typeface="Courier New"/>
            </a:endParaRPr>
          </a:p>
          <a:p>
            <a:pPr marL="755650" lvl="1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Compiler ignores remainder of 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line</a:t>
            </a:r>
            <a:endParaRPr sz="20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Used for the coder or for a programmer who modifies 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7062" y="3039364"/>
            <a:ext cx="210947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34CA1"/>
                </a:solidFill>
                <a:latin typeface="Arial"/>
                <a:cs typeface="Arial"/>
              </a:rPr>
              <a:t>// birth year is</a:t>
            </a:r>
            <a:r>
              <a:rPr sz="1800" spc="-105" dirty="0">
                <a:solidFill>
                  <a:srgbClr val="034CA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4CA1"/>
                </a:solidFill>
                <a:latin typeface="Arial"/>
                <a:cs typeface="Arial"/>
              </a:rPr>
              <a:t>invalid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054604"/>
            <a:ext cx="3839210" cy="999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8600" marR="5080" indent="-343535">
              <a:lnSpc>
                <a:spcPts val="2100"/>
              </a:lnSpc>
            </a:pPr>
            <a:r>
              <a:rPr sz="1800" dirty="0">
                <a:solidFill>
                  <a:srgbClr val="034CA1"/>
                </a:solidFill>
                <a:latin typeface="Arial"/>
                <a:cs typeface="Arial"/>
              </a:rPr>
              <a:t>if </a:t>
            </a:r>
            <a:r>
              <a:rPr sz="1800" spc="-20" dirty="0">
                <a:solidFill>
                  <a:srgbClr val="034CA1"/>
                </a:solidFill>
                <a:latin typeface="Arial"/>
                <a:cs typeface="Arial"/>
              </a:rPr>
              <a:t>(birthYear </a:t>
            </a:r>
            <a:r>
              <a:rPr sz="1800" dirty="0">
                <a:solidFill>
                  <a:srgbClr val="034CA1"/>
                </a:solidFill>
                <a:latin typeface="Arial"/>
                <a:cs typeface="Arial"/>
              </a:rPr>
              <a:t>&gt;</a:t>
            </a:r>
            <a:r>
              <a:rPr sz="1800" spc="-45" dirty="0">
                <a:solidFill>
                  <a:srgbClr val="034CA1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034CA1"/>
                </a:solidFill>
                <a:latin typeface="Arial"/>
                <a:cs typeface="Arial"/>
              </a:rPr>
              <a:t>currentYear)  </a:t>
            </a:r>
            <a:r>
              <a:rPr sz="1800" dirty="0">
                <a:solidFill>
                  <a:srgbClr val="034CA1"/>
                </a:solidFill>
                <a:latin typeface="Arial"/>
                <a:cs typeface="Arial"/>
              </a:rPr>
              <a:t>then . .</a:t>
            </a:r>
            <a:r>
              <a:rPr sz="1800" spc="-114" dirty="0">
                <a:solidFill>
                  <a:srgbClr val="034CA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4CA1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latin typeface="Arial"/>
                <a:cs typeface="Arial"/>
              </a:rPr>
              <a:t>Block</a:t>
            </a:r>
            <a:r>
              <a:rPr sz="2000" b="1" i="1" spc="-10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comment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9" y="4043679"/>
            <a:ext cx="6241415" cy="2506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buChar char="–"/>
              <a:tabLst>
                <a:tab pos="297815" algn="l"/>
                <a:tab pos="298450" algn="l"/>
              </a:tabLst>
            </a:pPr>
            <a:r>
              <a:rPr sz="2000" dirty="0">
                <a:latin typeface="Arial"/>
                <a:cs typeface="Arial"/>
              </a:rPr>
              <a:t>Begins with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/*</a:t>
            </a:r>
            <a:r>
              <a:rPr sz="2000" b="1" spc="-75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and ends with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*/</a:t>
            </a:r>
            <a:endParaRPr sz="2000">
              <a:latin typeface="Courier New"/>
              <a:cs typeface="Courier New"/>
            </a:endParaRPr>
          </a:p>
          <a:p>
            <a:pPr marL="298450" indent="-285750">
              <a:lnSpc>
                <a:spcPct val="100000"/>
              </a:lnSpc>
              <a:buChar char="–"/>
              <a:tabLst>
                <a:tab pos="297815" algn="l"/>
                <a:tab pos="298450" algn="l"/>
              </a:tabLst>
            </a:pPr>
            <a:r>
              <a:rPr sz="2000" dirty="0">
                <a:latin typeface="Arial"/>
                <a:cs typeface="Arial"/>
              </a:rPr>
              <a:t>Compiler ignores anything in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between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har char="–"/>
              <a:tabLst>
                <a:tab pos="297815" algn="l"/>
                <a:tab pos="298450" algn="l"/>
              </a:tabLst>
            </a:pPr>
            <a:r>
              <a:rPr sz="2000" dirty="0">
                <a:latin typeface="Arial"/>
                <a:cs typeface="Arial"/>
              </a:rPr>
              <a:t>Can span several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lines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har char="–"/>
              <a:tabLst>
                <a:tab pos="297815" algn="l"/>
                <a:tab pos="298450" algn="l"/>
              </a:tabLst>
            </a:pPr>
            <a:r>
              <a:rPr sz="2000" dirty="0">
                <a:latin typeface="Arial"/>
                <a:cs typeface="Arial"/>
              </a:rPr>
              <a:t>Provides documentation for the users of 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program</a:t>
            </a:r>
            <a:endParaRPr sz="2000">
              <a:latin typeface="Arial"/>
              <a:cs typeface="Arial"/>
            </a:endParaRPr>
          </a:p>
          <a:p>
            <a:pPr marL="825500" marR="3590290" indent="-144145">
              <a:lnSpc>
                <a:spcPct val="101699"/>
              </a:lnSpc>
              <a:spcBef>
                <a:spcPts val="1360"/>
              </a:spcBef>
            </a:pPr>
            <a:r>
              <a:rPr sz="1800" dirty="0">
                <a:solidFill>
                  <a:srgbClr val="034CA1"/>
                </a:solidFill>
                <a:latin typeface="Arial"/>
                <a:cs typeface="Arial"/>
              </a:rPr>
              <a:t>/* File: </a:t>
            </a:r>
            <a:r>
              <a:rPr sz="1800" spc="-5" dirty="0">
                <a:solidFill>
                  <a:srgbClr val="034CA1"/>
                </a:solidFill>
                <a:latin typeface="Arial"/>
                <a:cs typeface="Arial"/>
              </a:rPr>
              <a:t>Date  </a:t>
            </a:r>
            <a:r>
              <a:rPr sz="1800" dirty="0">
                <a:solidFill>
                  <a:srgbClr val="034CA1"/>
                </a:solidFill>
                <a:latin typeface="Arial"/>
                <a:cs typeface="Arial"/>
              </a:rPr>
              <a:t>Author: Joe</a:t>
            </a:r>
            <a:r>
              <a:rPr sz="1800" spc="-105" dirty="0">
                <a:solidFill>
                  <a:srgbClr val="034CA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4CA1"/>
                </a:solidFill>
                <a:latin typeface="Arial"/>
                <a:cs typeface="Arial"/>
              </a:rPr>
              <a:t>Smith  </a:t>
            </a:r>
            <a:r>
              <a:rPr sz="1800" spc="-5" dirty="0">
                <a:solidFill>
                  <a:srgbClr val="034CA1"/>
                </a:solidFill>
                <a:latin typeface="Arial"/>
                <a:cs typeface="Arial"/>
              </a:rPr>
              <a:t>Date:</a:t>
            </a:r>
            <a:r>
              <a:rPr sz="1800" spc="-95" dirty="0">
                <a:solidFill>
                  <a:srgbClr val="034CA1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34CA1"/>
                </a:solidFill>
                <a:latin typeface="Arial"/>
                <a:cs typeface="Arial"/>
              </a:rPr>
              <a:t>9/1/09</a:t>
            </a:r>
            <a:endParaRPr sz="1800">
              <a:latin typeface="Arial"/>
              <a:cs typeface="Arial"/>
            </a:endParaRPr>
          </a:p>
          <a:p>
            <a:pPr marL="647700">
              <a:lnSpc>
                <a:spcPts val="2100"/>
              </a:lnSpc>
            </a:pPr>
            <a:r>
              <a:rPr sz="1800" spc="-5" dirty="0">
                <a:solidFill>
                  <a:srgbClr val="034CA1"/>
                </a:solidFill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04800"/>
            <a:ext cx="7883525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97250" algn="l"/>
                <a:tab pos="5353685" algn="l"/>
              </a:tabLst>
            </a:pPr>
            <a:r>
              <a:rPr sz="4400" spc="-5" dirty="0"/>
              <a:t>Comments</a:t>
            </a:r>
            <a:r>
              <a:rPr sz="4400" spc="10" dirty="0"/>
              <a:t> </a:t>
            </a:r>
            <a:r>
              <a:rPr sz="4400" dirty="0"/>
              <a:t>&amp;	Named	</a:t>
            </a:r>
            <a:r>
              <a:rPr sz="4400" spc="-5" dirty="0"/>
              <a:t>Constants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914400" y="976314"/>
            <a:ext cx="8305800" cy="67198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7959" y="2987357"/>
            <a:ext cx="1567815" cy="69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Strings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53564">
              <a:lnSpc>
                <a:spcPct val="100000"/>
              </a:lnSpc>
            </a:pPr>
            <a:r>
              <a:rPr dirty="0"/>
              <a:t>The </a:t>
            </a:r>
            <a:r>
              <a:rPr b="1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b="1" spc="-13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dirty="0"/>
              <a:t>Class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7905" indent="-342900">
              <a:lnSpc>
                <a:spcPct val="100000"/>
              </a:lnSpc>
              <a:buChar char="•"/>
              <a:tabLst>
                <a:tab pos="1017269" algn="l"/>
                <a:tab pos="1017905" algn="l"/>
              </a:tabLst>
            </a:pPr>
            <a:r>
              <a:rPr sz="2400" dirty="0"/>
              <a:t>No primitive type for strings in</a:t>
            </a:r>
            <a:r>
              <a:rPr sz="2400" spc="-100" dirty="0"/>
              <a:t> </a:t>
            </a:r>
            <a:r>
              <a:rPr sz="2400" dirty="0"/>
              <a:t>Java</a:t>
            </a:r>
            <a:endParaRPr sz="2400"/>
          </a:p>
          <a:p>
            <a:pPr marL="1017905" indent="-342900">
              <a:lnSpc>
                <a:spcPct val="100000"/>
              </a:lnSpc>
              <a:spcBef>
                <a:spcPts val="1195"/>
              </a:spcBef>
              <a:buFont typeface="Arial"/>
              <a:buChar char="•"/>
              <a:tabLst>
                <a:tab pos="1017269" algn="l"/>
                <a:tab pos="1017905" algn="l"/>
              </a:tabLst>
            </a:pP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2400" b="1" spc="-87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/>
              <a:t>is a predefined class in the Java language.</a:t>
            </a:r>
            <a:endParaRPr sz="2400">
              <a:latin typeface="Courier New"/>
              <a:cs typeface="Courier New"/>
            </a:endParaRPr>
          </a:p>
          <a:p>
            <a:pPr marL="1417955" lvl="1" indent="-285750">
              <a:lnSpc>
                <a:spcPct val="100000"/>
              </a:lnSpc>
              <a:spcBef>
                <a:spcPts val="1100"/>
              </a:spcBef>
              <a:buChar char="–"/>
              <a:tabLst>
                <a:tab pos="1417320" algn="l"/>
                <a:tab pos="1417955" algn="l"/>
              </a:tabLst>
            </a:pPr>
            <a:r>
              <a:rPr sz="2000" dirty="0">
                <a:latin typeface="Arial"/>
                <a:cs typeface="Arial"/>
              </a:rPr>
              <a:t>Used to store </a:t>
            </a:r>
            <a:r>
              <a:rPr sz="2000" i="1" dirty="0">
                <a:latin typeface="Arial"/>
                <a:cs typeface="Arial"/>
              </a:rPr>
              <a:t>and process</a:t>
            </a:r>
            <a:r>
              <a:rPr sz="2000" i="1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strings</a:t>
            </a:r>
            <a:endParaRPr sz="2000">
              <a:latin typeface="Arial"/>
              <a:cs typeface="Arial"/>
            </a:endParaRPr>
          </a:p>
          <a:p>
            <a:pPr marL="1017905" marR="1089660" indent="-342900">
              <a:lnSpc>
                <a:spcPts val="2320"/>
              </a:lnSpc>
              <a:spcBef>
                <a:spcPts val="1660"/>
              </a:spcBef>
              <a:buChar char="•"/>
              <a:tabLst>
                <a:tab pos="1017269" algn="l"/>
                <a:tab pos="1017905" algn="l"/>
              </a:tabLst>
            </a:pPr>
            <a:r>
              <a:rPr sz="2400" dirty="0"/>
              <a:t>Objects of type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2400" b="1" spc="-8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/>
              <a:t>are made up of strings of  characters within double</a:t>
            </a:r>
            <a:r>
              <a:rPr sz="2400" spc="-100" dirty="0"/>
              <a:t> </a:t>
            </a:r>
            <a:r>
              <a:rPr sz="2400" dirty="0"/>
              <a:t>quotes.</a:t>
            </a:r>
            <a:endParaRPr sz="2400">
              <a:latin typeface="Courier New"/>
              <a:cs typeface="Courier New"/>
            </a:endParaRPr>
          </a:p>
          <a:p>
            <a:pPr marL="1417955" lvl="1" indent="-285750">
              <a:lnSpc>
                <a:spcPct val="100000"/>
              </a:lnSpc>
              <a:spcBef>
                <a:spcPts val="1205"/>
              </a:spcBef>
              <a:buChar char="–"/>
              <a:tabLst>
                <a:tab pos="1417320" algn="l"/>
                <a:tab pos="1417955" algn="l"/>
              </a:tabLst>
            </a:pPr>
            <a:r>
              <a:rPr sz="2200" dirty="0">
                <a:latin typeface="Arial"/>
                <a:cs typeface="Arial"/>
              </a:rPr>
              <a:t>Any quoted string is a constant of type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2200" b="1" dirty="0">
                <a:latin typeface="Courier New"/>
                <a:cs typeface="Courier New"/>
              </a:rPr>
              <a:t>.</a:t>
            </a:r>
            <a:endParaRPr sz="2200">
              <a:latin typeface="Courier New"/>
              <a:cs typeface="Courier New"/>
            </a:endParaRPr>
          </a:p>
          <a:p>
            <a:pPr marL="2045970">
              <a:lnSpc>
                <a:spcPct val="100000"/>
              </a:lnSpc>
              <a:spcBef>
                <a:spcPts val="1150"/>
              </a:spcBef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"Live long and</a:t>
            </a:r>
            <a:r>
              <a:rPr sz="2000" b="1" spc="-7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prosper."</a:t>
            </a:r>
            <a:endParaRPr sz="2000">
              <a:latin typeface="Courier New"/>
              <a:cs typeface="Courier New"/>
            </a:endParaRPr>
          </a:p>
          <a:p>
            <a:pPr marL="1017905" marR="5080" indent="-342900">
              <a:lnSpc>
                <a:spcPts val="2320"/>
              </a:lnSpc>
              <a:spcBef>
                <a:spcPts val="1660"/>
              </a:spcBef>
              <a:buChar char="•"/>
              <a:tabLst>
                <a:tab pos="1017269" algn="l"/>
                <a:tab pos="1017905" algn="l"/>
              </a:tabLst>
            </a:pPr>
            <a:r>
              <a:rPr sz="2400" dirty="0"/>
              <a:t>A variable (object) of type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2400" b="1" spc="-1019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/>
              <a:t>can be given the value  </a:t>
            </a:r>
            <a:r>
              <a:rPr sz="2400" spc="-5" dirty="0"/>
              <a:t>of </a:t>
            </a:r>
            <a:r>
              <a:rPr sz="2400" dirty="0"/>
              <a:t>a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2400" b="1" spc="-869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/>
              <a:t>constant.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9374" y="5510403"/>
            <a:ext cx="530987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89100" algn="l"/>
              </a:tabLst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blessing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000" b="1" spc="-5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Live long and</a:t>
            </a:r>
            <a:r>
              <a:rPr sz="2000" b="1" spc="-4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prosper.</a:t>
            </a:r>
            <a:r>
              <a:rPr sz="2000" b="1" spc="-5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endParaRPr sz="2000">
              <a:latin typeface="MS PGothic"/>
              <a:cs typeface="MS P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4543" y="5824854"/>
            <a:ext cx="12446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greeting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6371" y="5824854"/>
            <a:ext cx="14992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6865" algn="l"/>
              </a:tabLst>
            </a:pP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=	</a:t>
            </a:r>
            <a:r>
              <a:rPr sz="2000" b="1" spc="-10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2000" b="1" spc="-10" dirty="0">
                <a:solidFill>
                  <a:srgbClr val="034CA1"/>
                </a:solidFill>
                <a:latin typeface="Courier New"/>
                <a:cs typeface="Courier New"/>
              </a:rPr>
              <a:t>Hello</a:t>
            </a:r>
            <a:r>
              <a:rPr sz="2000" b="1" spc="-10" dirty="0">
                <a:solidFill>
                  <a:srgbClr val="0062B1"/>
                </a:solidFill>
                <a:latin typeface="MS PGothic"/>
                <a:cs typeface="MS PGothic"/>
              </a:rPr>
              <a:t>”</a:t>
            </a:r>
            <a:r>
              <a:rPr sz="2000" b="1" spc="-10" dirty="0">
                <a:solidFill>
                  <a:srgbClr val="034CA1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92396" y="5505526"/>
            <a:ext cx="955040" cy="958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 marR="5080" indent="-15240" algn="just">
              <a:lnSpc>
                <a:spcPct val="101600"/>
              </a:lnSpc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String  String  String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543" y="6129654"/>
            <a:ext cx="21088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31900" algn="l"/>
              </a:tabLst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nam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e =	</a:t>
            </a:r>
            <a:r>
              <a:rPr sz="2000" b="1" spc="-10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Bob</a:t>
            </a:r>
            <a:r>
              <a:rPr sz="2000" b="1" spc="-10" dirty="0">
                <a:solidFill>
                  <a:srgbClr val="0062B1"/>
                </a:solidFill>
                <a:latin typeface="MS PGothic"/>
                <a:cs typeface="MS PGothic"/>
              </a:rPr>
              <a:t>”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421" y="830745"/>
            <a:ext cx="524446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7505" algn="l"/>
              </a:tabLst>
            </a:pPr>
            <a:r>
              <a:rPr sz="4400" spc="-5" dirty="0"/>
              <a:t>String	Concatenation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21739" y="1828800"/>
            <a:ext cx="8017509" cy="2280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Use the </a:t>
            </a:r>
            <a:r>
              <a:rPr sz="1800" dirty="0">
                <a:solidFill>
                  <a:srgbClr val="034CA1"/>
                </a:solidFill>
                <a:latin typeface="Arial"/>
                <a:cs typeface="Arial"/>
              </a:rPr>
              <a:t>+</a:t>
            </a:r>
            <a:r>
              <a:rPr sz="1800" spc="-105" dirty="0">
                <a:solidFill>
                  <a:srgbClr val="034CA1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operator</a:t>
            </a:r>
            <a:endParaRPr sz="1800">
              <a:latin typeface="Arial"/>
              <a:cs typeface="Arial"/>
            </a:endParaRPr>
          </a:p>
          <a:p>
            <a:pPr marL="469265" marR="4409440">
              <a:lnSpc>
                <a:spcPct val="109800"/>
              </a:lnSpc>
              <a:spcBef>
                <a:spcPts val="975"/>
              </a:spcBef>
              <a:tabLst>
                <a:tab pos="2298700" algn="l"/>
              </a:tabLst>
            </a:pP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String greeting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= </a:t>
            </a:r>
            <a:r>
              <a:rPr sz="1600" b="1" spc="-5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Hello</a:t>
            </a:r>
            <a:r>
              <a:rPr sz="1600" b="1" spc="-5" dirty="0">
                <a:solidFill>
                  <a:srgbClr val="0062B1"/>
                </a:solidFill>
                <a:latin typeface="MS PGothic"/>
                <a:cs typeface="MS PGothic"/>
              </a:rPr>
              <a:t>”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;  String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name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1600" b="1" spc="-5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Bob</a:t>
            </a:r>
            <a:r>
              <a:rPr sz="1600" b="1" spc="-5" dirty="0">
                <a:solidFill>
                  <a:srgbClr val="0062B1"/>
                </a:solidFill>
                <a:latin typeface="MS PGothic"/>
                <a:cs typeface="MS PGothic"/>
              </a:rPr>
              <a:t>”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80"/>
              </a:spcBef>
              <a:tabLst>
                <a:tab pos="1978660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greeting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 +	name </a:t>
            </a:r>
            <a:r>
              <a:rPr sz="1800" dirty="0">
                <a:latin typeface="Arial"/>
                <a:cs typeface="Arial"/>
              </a:rPr>
              <a:t>is equal to </a:t>
            </a:r>
            <a:r>
              <a:rPr sz="1800" spc="355" dirty="0">
                <a:latin typeface="Arial"/>
                <a:cs typeface="Arial"/>
              </a:rPr>
              <a:t> </a:t>
            </a:r>
            <a:r>
              <a:rPr sz="1800" spc="-5" dirty="0">
                <a:latin typeface="MS PGothic"/>
                <a:cs typeface="MS PGothic"/>
              </a:rPr>
              <a:t>“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HelloBob</a:t>
            </a:r>
            <a:r>
              <a:rPr sz="1800" b="1" spc="-5" dirty="0">
                <a:solidFill>
                  <a:srgbClr val="034CA1"/>
                </a:solidFill>
                <a:latin typeface="MS PGothic"/>
                <a:cs typeface="MS PGothic"/>
              </a:rPr>
              <a:t>”</a:t>
            </a:r>
            <a:endParaRPr sz="1800">
              <a:latin typeface="MS PGothic"/>
              <a:cs typeface="MS PGothic"/>
            </a:endParaRPr>
          </a:p>
          <a:p>
            <a:pPr marL="355600" indent="-342900">
              <a:lnSpc>
                <a:spcPct val="100000"/>
              </a:lnSpc>
              <a:spcBef>
                <a:spcPts val="114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Any number of strings can be concatenated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together.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77200"/>
              </a:lnSpc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When a string is combined with almost any other type of item, the result is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  string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43779" y="4239910"/>
          <a:ext cx="4314192" cy="650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2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1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3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034CA1"/>
                          </a:solidFill>
                          <a:latin typeface="MS PGothic"/>
                          <a:cs typeface="MS PGothic"/>
                        </a:rPr>
                        <a:t>“</a:t>
                      </a:r>
                      <a:r>
                        <a:rPr sz="1800" b="1" spc="-10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5"/>
                        </a:spcBef>
                        <a:tabLst>
                          <a:tab pos="737235" algn="l"/>
                          <a:tab pos="1011555" algn="l"/>
                        </a:tabLst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8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34CA1"/>
                          </a:solidFill>
                          <a:latin typeface="MS PGothic"/>
                          <a:cs typeface="MS PGothic"/>
                        </a:rPr>
                        <a:t>“	</a:t>
                      </a:r>
                      <a:r>
                        <a:rPr sz="18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+	42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evaluates</a:t>
                      </a:r>
                      <a:r>
                        <a:rPr sz="1800" spc="3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375">
                <a:tc>
                  <a:txBody>
                    <a:bodyPr/>
                    <a:lstStyle/>
                    <a:p>
                      <a:pPr marL="22225">
                        <a:lnSpc>
                          <a:spcPts val="1945"/>
                        </a:lnSpc>
                      </a:pPr>
                      <a:r>
                        <a:rPr sz="1800" spc="-5" dirty="0">
                          <a:solidFill>
                            <a:srgbClr val="0062B1"/>
                          </a:solidFill>
                          <a:latin typeface="MS PGothic"/>
                          <a:cs typeface="MS PGothic"/>
                        </a:rPr>
                        <a:t>“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94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94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800" b="1" spc="-90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42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MS PGothic"/>
                          <a:cs typeface="MS PGothic"/>
                        </a:rPr>
                        <a:t>“</a:t>
                      </a:r>
                      <a:endParaRPr sz="1800">
                        <a:latin typeface="MS PGothic"/>
                        <a:cs typeface="MS P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21739" y="5084064"/>
            <a:ext cx="4202430" cy="734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Strings also support the +=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operator</a:t>
            </a:r>
            <a:endParaRPr sz="1800">
              <a:latin typeface="Arial"/>
              <a:cs typeface="Arial"/>
            </a:endParaRPr>
          </a:p>
          <a:p>
            <a:pPr marL="755015">
              <a:lnSpc>
                <a:spcPct val="100000"/>
              </a:lnSpc>
              <a:spcBef>
                <a:spcPts val="1240"/>
              </a:spcBef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String 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greeting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0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MS PGothic"/>
                <a:cs typeface="MS PGothic"/>
              </a:rPr>
              <a:t>”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Hello</a:t>
            </a:r>
            <a:r>
              <a:rPr sz="1800" b="1" spc="-5" dirty="0">
                <a:solidFill>
                  <a:srgbClr val="034CA1"/>
                </a:solidFill>
                <a:latin typeface="MS PGothic"/>
                <a:cs typeface="MS PGothic"/>
              </a:rPr>
              <a:t>”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4689" y="5795264"/>
            <a:ext cx="258635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10080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greetin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g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+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= </a:t>
            </a:r>
            <a:r>
              <a:rPr sz="1800" b="1" spc="-10" dirty="0">
                <a:solidFill>
                  <a:srgbClr val="034CA1"/>
                </a:solidFill>
                <a:latin typeface="MS PGothic"/>
                <a:cs typeface="MS PGothic"/>
              </a:rPr>
              <a:t>“</a:t>
            </a:r>
            <a:r>
              <a:rPr sz="1800" b="1" dirty="0">
                <a:solidFill>
                  <a:srgbClr val="034CA1"/>
                </a:solidFill>
                <a:latin typeface="MS PGothic"/>
                <a:cs typeface="MS PGothic"/>
              </a:rPr>
              <a:t>	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Bob</a:t>
            </a:r>
            <a:r>
              <a:rPr sz="1800" b="1" spc="-10" dirty="0">
                <a:solidFill>
                  <a:srgbClr val="034CA1"/>
                </a:solidFill>
                <a:latin typeface="MS PGothic"/>
                <a:cs typeface="MS PGothic"/>
              </a:rPr>
              <a:t>”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6081" y="5795264"/>
            <a:ext cx="402272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changes  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greeting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b="1" spc="-5" dirty="0">
                <a:solidFill>
                  <a:srgbClr val="034CA1"/>
                </a:solidFill>
                <a:latin typeface="MS PGothic"/>
                <a:cs typeface="MS PGothic"/>
              </a:rPr>
              <a:t>“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Hello</a:t>
            </a:r>
            <a:r>
              <a:rPr sz="1800" b="1" spc="-17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Bob</a:t>
            </a:r>
            <a:r>
              <a:rPr sz="1800" b="1" spc="-5" dirty="0">
                <a:solidFill>
                  <a:srgbClr val="034CA1"/>
                </a:solidFill>
                <a:latin typeface="MS PGothic"/>
                <a:cs typeface="MS PGothic"/>
              </a:rPr>
              <a:t>”</a:t>
            </a:r>
            <a:endParaRPr sz="18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2709" y="830745"/>
            <a:ext cx="378396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27505" algn="l"/>
              </a:tabLst>
            </a:pPr>
            <a:r>
              <a:rPr sz="4400" spc="-5" dirty="0"/>
              <a:t>String	Methods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813560"/>
            <a:ext cx="8595360" cy="2392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10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The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2000" b="1" spc="-75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class contains many useful </a:t>
            </a:r>
            <a:r>
              <a:rPr sz="2000" b="1" i="1" dirty="0">
                <a:latin typeface="Arial"/>
                <a:cs typeface="Arial"/>
              </a:rPr>
              <a:t>methods </a:t>
            </a:r>
            <a:r>
              <a:rPr sz="2000" dirty="0">
                <a:latin typeface="Arial"/>
                <a:cs typeface="Arial"/>
              </a:rPr>
              <a:t>(operations) for string-  processing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applications.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Calling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2400" b="1" spc="-96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method: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6116320" algn="l"/>
              </a:tabLst>
            </a:pPr>
            <a:r>
              <a:rPr sz="2000" i="1" dirty="0">
                <a:latin typeface="Arial"/>
                <a:cs typeface="Arial"/>
              </a:rPr>
              <a:t>String-object-name.method-name</a:t>
            </a:r>
            <a:r>
              <a:rPr sz="2000" i="1" spc="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(</a:t>
            </a:r>
            <a:r>
              <a:rPr sz="2000" i="1" spc="-5" dirty="0">
                <a:latin typeface="Arial"/>
                <a:cs typeface="Arial"/>
              </a:rPr>
              <a:t>arguments</a:t>
            </a:r>
            <a:r>
              <a:rPr sz="2000" spc="-5" dirty="0">
                <a:latin typeface="Arial"/>
                <a:cs typeface="Arial"/>
              </a:rPr>
              <a:t>);	</a:t>
            </a:r>
            <a:r>
              <a:rPr sz="2000" dirty="0">
                <a:latin typeface="Arial"/>
                <a:cs typeface="Arial"/>
              </a:rPr>
              <a:t>OR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i="1" dirty="0">
                <a:latin typeface="Arial"/>
                <a:cs typeface="Arial"/>
              </a:rPr>
              <a:t>variable = String-object-name.method-name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(</a:t>
            </a:r>
            <a:r>
              <a:rPr sz="2000" i="1" spc="-5" dirty="0">
                <a:latin typeface="Arial"/>
                <a:cs typeface="Arial"/>
              </a:rPr>
              <a:t>arguments</a:t>
            </a:r>
            <a:r>
              <a:rPr sz="2000" spc="-5" dirty="0">
                <a:latin typeface="Arial"/>
                <a:cs typeface="Arial"/>
              </a:rPr>
              <a:t>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551679"/>
            <a:ext cx="2769235" cy="880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20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greeting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1946" y="5097779"/>
            <a:ext cx="14992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6865" algn="l"/>
              </a:tabLst>
            </a:pP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=	</a:t>
            </a:r>
            <a:r>
              <a:rPr sz="2000" b="1" spc="-10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2000" b="1" spc="-10" dirty="0">
                <a:solidFill>
                  <a:srgbClr val="034CA1"/>
                </a:solidFill>
                <a:latin typeface="Courier New"/>
                <a:cs typeface="Courier New"/>
              </a:rPr>
              <a:t>Hello</a:t>
            </a:r>
            <a:r>
              <a:rPr sz="2000" b="1" spc="-10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2000" b="1" spc="-10" dirty="0">
                <a:solidFill>
                  <a:srgbClr val="034CA1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10187" y="5097779"/>
            <a:ext cx="35312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//greeting is an</a:t>
            </a:r>
            <a:r>
              <a:rPr sz="2000" b="1" spc="-7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object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5402681"/>
            <a:ext cx="8053705" cy="689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8300"/>
              </a:lnSpc>
              <a:tabLst>
                <a:tab pos="1841500" algn="l"/>
                <a:tab pos="4839335" algn="l"/>
                <a:tab pos="5144135" algn="l"/>
              </a:tabLst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int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count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greeting.length(); 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System.out.println(</a:t>
            </a:r>
            <a:r>
              <a:rPr sz="2000" b="1" spc="-10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Lengt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h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i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s </a:t>
            </a:r>
            <a:r>
              <a:rPr sz="2000" b="1" spc="-10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2000" b="1" dirty="0">
                <a:solidFill>
                  <a:srgbClr val="0062B1"/>
                </a:solidFill>
                <a:latin typeface="MS PGothic"/>
                <a:cs typeface="MS PGothic"/>
              </a:rPr>
              <a:t>	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+	greeting.length());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457" rIns="0" bIns="0" rtlCol="0">
            <a:spAutoFit/>
          </a:bodyPr>
          <a:lstStyle/>
          <a:p>
            <a:pPr marL="808990">
              <a:lnSpc>
                <a:spcPct val="100000"/>
              </a:lnSpc>
            </a:pPr>
            <a:r>
              <a:rPr sz="3200" dirty="0"/>
              <a:t>Some </a:t>
            </a:r>
            <a:r>
              <a:rPr sz="3200" spc="-5" dirty="0"/>
              <a:t>Methods </a:t>
            </a:r>
            <a:r>
              <a:rPr sz="3200" dirty="0"/>
              <a:t>in </a:t>
            </a:r>
            <a:r>
              <a:rPr sz="3200" spc="-5" dirty="0"/>
              <a:t>the </a:t>
            </a:r>
            <a:r>
              <a:rPr sz="3200" dirty="0"/>
              <a:t>Class </a:t>
            </a:r>
            <a:r>
              <a:rPr sz="3200" b="1" dirty="0">
                <a:latin typeface="Courier New"/>
                <a:cs typeface="Courier New"/>
              </a:rPr>
              <a:t>String</a:t>
            </a:r>
            <a:r>
              <a:rPr sz="3200" b="1" spc="-1100" dirty="0">
                <a:latin typeface="Courier New"/>
                <a:cs typeface="Courier New"/>
              </a:rPr>
              <a:t> </a:t>
            </a:r>
            <a:r>
              <a:rPr sz="3200" dirty="0"/>
              <a:t>(1 of 4)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800" y="1524000"/>
            <a:ext cx="8915400" cy="54181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457" rIns="0" bIns="0" rtlCol="0">
            <a:spAutoFit/>
          </a:bodyPr>
          <a:lstStyle/>
          <a:p>
            <a:pPr marL="808990">
              <a:lnSpc>
                <a:spcPct val="100000"/>
              </a:lnSpc>
            </a:pPr>
            <a:r>
              <a:rPr sz="3200" dirty="0"/>
              <a:t>Some </a:t>
            </a:r>
            <a:r>
              <a:rPr sz="3200" spc="-5" dirty="0"/>
              <a:t>Methods </a:t>
            </a:r>
            <a:r>
              <a:rPr sz="3200" dirty="0"/>
              <a:t>in </a:t>
            </a:r>
            <a:r>
              <a:rPr sz="3200" spc="-5" dirty="0"/>
              <a:t>the </a:t>
            </a:r>
            <a:r>
              <a:rPr sz="3200" dirty="0"/>
              <a:t>Class </a:t>
            </a:r>
            <a:r>
              <a:rPr sz="3200" b="1" dirty="0">
                <a:latin typeface="Courier New"/>
                <a:cs typeface="Courier New"/>
              </a:rPr>
              <a:t>String</a:t>
            </a:r>
            <a:r>
              <a:rPr sz="3200" b="1" spc="-1100" dirty="0">
                <a:latin typeface="Courier New"/>
                <a:cs typeface="Courier New"/>
              </a:rPr>
              <a:t> </a:t>
            </a:r>
            <a:r>
              <a:rPr sz="3200" dirty="0"/>
              <a:t>(2 of 4)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90600" y="1676400"/>
            <a:ext cx="8229600" cy="472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457" rIns="0" bIns="0" rtlCol="0">
            <a:spAutoFit/>
          </a:bodyPr>
          <a:lstStyle/>
          <a:p>
            <a:pPr marL="808990">
              <a:lnSpc>
                <a:spcPct val="100000"/>
              </a:lnSpc>
            </a:pPr>
            <a:r>
              <a:rPr sz="3200" dirty="0"/>
              <a:t>Some </a:t>
            </a:r>
            <a:r>
              <a:rPr sz="3200" spc="-5" dirty="0"/>
              <a:t>Methods </a:t>
            </a:r>
            <a:r>
              <a:rPr sz="3200" dirty="0"/>
              <a:t>in </a:t>
            </a:r>
            <a:r>
              <a:rPr sz="3200" spc="-5" dirty="0"/>
              <a:t>the </a:t>
            </a:r>
            <a:r>
              <a:rPr sz="3200" dirty="0"/>
              <a:t>Class </a:t>
            </a:r>
            <a:r>
              <a:rPr sz="3200" b="1" dirty="0">
                <a:latin typeface="Courier New"/>
                <a:cs typeface="Courier New"/>
              </a:rPr>
              <a:t>String</a:t>
            </a:r>
            <a:r>
              <a:rPr sz="3200" b="1" spc="-1100" dirty="0">
                <a:latin typeface="Courier New"/>
                <a:cs typeface="Courier New"/>
              </a:rPr>
              <a:t> </a:t>
            </a:r>
            <a:r>
              <a:rPr sz="3200" dirty="0"/>
              <a:t>(3 of 4)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90600" y="1600200"/>
            <a:ext cx="8229600" cy="495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457" rIns="0" bIns="0" rtlCol="0">
            <a:spAutoFit/>
          </a:bodyPr>
          <a:lstStyle/>
          <a:p>
            <a:pPr marL="694690">
              <a:lnSpc>
                <a:spcPct val="100000"/>
              </a:lnSpc>
            </a:pPr>
            <a:r>
              <a:rPr sz="3200" dirty="0"/>
              <a:t>Some </a:t>
            </a:r>
            <a:r>
              <a:rPr sz="3200" spc="-5" dirty="0"/>
              <a:t>Methods </a:t>
            </a:r>
            <a:r>
              <a:rPr sz="3200" dirty="0"/>
              <a:t>in </a:t>
            </a:r>
            <a:r>
              <a:rPr sz="3200" spc="-5" dirty="0"/>
              <a:t>the </a:t>
            </a:r>
            <a:r>
              <a:rPr sz="3200" dirty="0"/>
              <a:t>Class </a:t>
            </a:r>
            <a:r>
              <a:rPr sz="3200" b="1" dirty="0">
                <a:latin typeface="Courier New"/>
                <a:cs typeface="Courier New"/>
              </a:rPr>
              <a:t>String</a:t>
            </a:r>
            <a:r>
              <a:rPr sz="3200" b="1" spc="-1100" dirty="0">
                <a:latin typeface="Courier New"/>
                <a:cs typeface="Courier New"/>
              </a:rPr>
              <a:t> </a:t>
            </a:r>
            <a:r>
              <a:rPr sz="3200" dirty="0"/>
              <a:t>(4 of 4)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600201"/>
            <a:ext cx="8305800" cy="49450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4199" y="632307"/>
            <a:ext cx="4841240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31364" algn="l"/>
              </a:tabLst>
            </a:pPr>
            <a:r>
              <a:rPr sz="4400" dirty="0"/>
              <a:t>Escape	Sequences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838200" y="1447800"/>
            <a:ext cx="8382000" cy="396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5354472"/>
            <a:ext cx="7979409" cy="1140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79500"/>
              </a:lnSpc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latin typeface="Arial"/>
                <a:cs typeface="Arial"/>
              </a:rPr>
              <a:t>The character following the backslash does not have its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usual  meaning.</a:t>
            </a:r>
            <a:endParaRPr sz="2200">
              <a:latin typeface="Arial"/>
              <a:cs typeface="Arial"/>
            </a:endParaRPr>
          </a:p>
          <a:p>
            <a:pPr marL="355600" marR="720090" indent="-342900">
              <a:lnSpc>
                <a:spcPct val="78500"/>
              </a:lnSpc>
              <a:spcBef>
                <a:spcPts val="555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latin typeface="Arial"/>
                <a:cs typeface="Arial"/>
              </a:rPr>
              <a:t>It is formed using two symbols, but regarded as a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single  </a:t>
            </a:r>
            <a:r>
              <a:rPr sz="2200" spc="-15" dirty="0">
                <a:latin typeface="Arial"/>
                <a:cs typeface="Arial"/>
              </a:rPr>
              <a:t>character.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762" y="830745"/>
            <a:ext cx="7155815" cy="720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844675" algn="l"/>
                <a:tab pos="5403215" algn="l"/>
              </a:tabLst>
            </a:pPr>
            <a:r>
              <a:rPr sz="4400" spc="-5" dirty="0"/>
              <a:t>Pitfall:	</a:t>
            </a:r>
            <a:r>
              <a:rPr sz="4400" dirty="0"/>
              <a:t>Using </a:t>
            </a:r>
            <a:r>
              <a:rPr sz="4400" b="1" dirty="0">
                <a:latin typeface="Courier New"/>
                <a:cs typeface="Courier New"/>
              </a:rPr>
              <a:t>==</a:t>
            </a:r>
            <a:r>
              <a:rPr sz="4400" b="1" spc="-1415" dirty="0">
                <a:latin typeface="Courier New"/>
                <a:cs typeface="Courier New"/>
              </a:rPr>
              <a:t> </a:t>
            </a:r>
            <a:r>
              <a:rPr sz="4400" spc="-5" dirty="0"/>
              <a:t>with	Strings</a:t>
            </a:r>
            <a:endParaRPr sz="4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0339" y="1681479"/>
            <a:ext cx="8044180" cy="166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The equality operator </a:t>
            </a:r>
            <a:r>
              <a:rPr sz="1600" spc="-5" dirty="0">
                <a:latin typeface="Arial"/>
                <a:cs typeface="Arial"/>
              </a:rPr>
              <a:t>(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==</a:t>
            </a:r>
            <a:r>
              <a:rPr sz="1600" spc="-5" dirty="0">
                <a:latin typeface="Arial"/>
                <a:cs typeface="Arial"/>
              </a:rPr>
              <a:t>) </a:t>
            </a:r>
            <a:r>
              <a:rPr sz="1600" dirty="0">
                <a:latin typeface="Arial"/>
                <a:cs typeface="Arial"/>
              </a:rPr>
              <a:t>can test the stored values of two values of a </a:t>
            </a:r>
            <a:r>
              <a:rPr sz="1600" i="1" dirty="0">
                <a:latin typeface="Arial"/>
                <a:cs typeface="Arial"/>
              </a:rPr>
              <a:t>primitive</a:t>
            </a:r>
            <a:r>
              <a:rPr sz="1600" i="1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69265">
              <a:lnSpc>
                <a:spcPts val="1910"/>
              </a:lnSpc>
              <a:spcBef>
                <a:spcPts val="5"/>
              </a:spcBef>
            </a:pP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int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x = 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5,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y =</a:t>
            </a:r>
            <a:r>
              <a:rPr sz="1600" b="1" spc="-8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5;</a:t>
            </a:r>
            <a:endParaRPr sz="1600">
              <a:latin typeface="Courier New"/>
              <a:cs typeface="Courier New"/>
            </a:endParaRPr>
          </a:p>
          <a:p>
            <a:pPr marL="469265">
              <a:lnSpc>
                <a:spcPts val="1910"/>
              </a:lnSpc>
              <a:tabLst>
                <a:tab pos="3517900" algn="l"/>
              </a:tabLst>
            </a:pP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if (x == y)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.</a:t>
            </a:r>
            <a:r>
              <a:rPr sz="1600" b="1" spc="3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. .	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// returns</a:t>
            </a:r>
            <a:r>
              <a:rPr sz="16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true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>
              <a:latin typeface="Times New Roman"/>
              <a:cs typeface="Times New Roman"/>
            </a:endParaRPr>
          </a:p>
          <a:p>
            <a:pPr marL="355600" marR="219710" indent="-342900">
              <a:lnSpc>
                <a:spcPct val="79000"/>
              </a:lnSpc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When </a:t>
            </a:r>
            <a:r>
              <a:rPr sz="1600" spc="-5" dirty="0">
                <a:latin typeface="Arial"/>
                <a:cs typeface="Arial"/>
              </a:rPr>
              <a:t>applied </a:t>
            </a:r>
            <a:r>
              <a:rPr sz="1600" dirty="0">
                <a:latin typeface="Arial"/>
                <a:cs typeface="Arial"/>
              </a:rPr>
              <a:t>to two </a:t>
            </a:r>
            <a:r>
              <a:rPr sz="1600" i="1" spc="-5" dirty="0">
                <a:latin typeface="Arial"/>
                <a:cs typeface="Arial"/>
              </a:rPr>
              <a:t>objects</a:t>
            </a:r>
            <a:r>
              <a:rPr sz="1600" spc="-5" dirty="0">
                <a:latin typeface="Arial"/>
                <a:cs typeface="Arial"/>
              </a:rPr>
              <a:t>,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==</a:t>
            </a:r>
            <a:r>
              <a:rPr sz="1600" b="1" spc="-5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"/>
                <a:cs typeface="Arial"/>
              </a:rPr>
              <a:t>tests to see if they are stored in the </a:t>
            </a:r>
            <a:r>
              <a:rPr sz="1600" i="1" dirty="0">
                <a:latin typeface="Arial"/>
                <a:cs typeface="Arial"/>
              </a:rPr>
              <a:t>same memory  location.</a:t>
            </a:r>
            <a:r>
              <a:rPr sz="1600" i="1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Example: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7539" y="3567846"/>
            <a:ext cx="1732914" cy="76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1600"/>
              </a:lnSpc>
            </a:pP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1600" b="1" spc="-9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string1  String</a:t>
            </a:r>
            <a:r>
              <a:rPr sz="1600" b="1" spc="-9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string2  if (string1</a:t>
            </a:r>
            <a:r>
              <a:rPr sz="16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==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6644" y="3571747"/>
            <a:ext cx="1732914" cy="765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=</a:t>
            </a:r>
            <a:r>
              <a:rPr sz="1600" b="1" spc="-7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hello</a:t>
            </a:r>
            <a:r>
              <a:rPr sz="1600" b="1" spc="-5" dirty="0">
                <a:solidFill>
                  <a:srgbClr val="0062B1"/>
                </a:solidFill>
                <a:latin typeface="MS PGothic"/>
                <a:cs typeface="MS PGothic"/>
              </a:rPr>
              <a:t>”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10"/>
              </a:lnSpc>
              <a:spcBef>
                <a:spcPts val="80"/>
              </a:spcBef>
            </a:pP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=</a:t>
            </a:r>
            <a:r>
              <a:rPr sz="1600" b="1" spc="-7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hello</a:t>
            </a:r>
            <a:r>
              <a:rPr sz="1600" b="1" spc="-5" dirty="0">
                <a:solidFill>
                  <a:srgbClr val="0062B1"/>
                </a:solidFill>
                <a:latin typeface="MS PGothic"/>
                <a:cs typeface="MS PGothic"/>
              </a:rPr>
              <a:t>”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10"/>
              </a:lnSpc>
            </a:pP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string2)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. .</a:t>
            </a:r>
            <a:r>
              <a:rPr sz="1600" b="1" spc="-9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3511" y="4067047"/>
            <a:ext cx="197675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// returns</a:t>
            </a:r>
            <a:r>
              <a:rPr sz="16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34CA1"/>
                </a:solidFill>
                <a:latin typeface="Courier New"/>
                <a:cs typeface="Courier New"/>
              </a:rPr>
              <a:t>false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339" y="4600854"/>
            <a:ext cx="8044180" cy="1345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79000"/>
              </a:lnSpc>
              <a:buChar char="•"/>
              <a:tabLst>
                <a:tab pos="354965" algn="l"/>
                <a:tab pos="355600" algn="l"/>
              </a:tabLst>
            </a:pPr>
            <a:r>
              <a:rPr sz="1600" spc="-90" dirty="0">
                <a:latin typeface="Arial"/>
                <a:cs typeface="Arial"/>
              </a:rPr>
              <a:t>To </a:t>
            </a:r>
            <a:r>
              <a:rPr sz="1600" dirty="0">
                <a:latin typeface="Arial"/>
                <a:cs typeface="Arial"/>
              </a:rPr>
              <a:t>test two strings to see if they have equal </a:t>
            </a:r>
            <a:r>
              <a:rPr sz="1600" i="1" spc="-5" dirty="0">
                <a:latin typeface="Arial"/>
                <a:cs typeface="Arial"/>
              </a:rPr>
              <a:t>values</a:t>
            </a:r>
            <a:r>
              <a:rPr sz="1600" spc="-5" dirty="0">
                <a:latin typeface="Arial"/>
                <a:cs typeface="Arial"/>
              </a:rPr>
              <a:t>, </a:t>
            </a:r>
            <a:r>
              <a:rPr sz="1600" dirty="0">
                <a:latin typeface="Arial"/>
                <a:cs typeface="Arial"/>
              </a:rPr>
              <a:t>use the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1600" b="1" spc="-51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"/>
                <a:cs typeface="Arial"/>
              </a:rPr>
              <a:t>method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equals</a:t>
            </a:r>
            <a:r>
              <a:rPr sz="1600" dirty="0">
                <a:latin typeface="Arial"/>
                <a:cs typeface="Arial"/>
              </a:rPr>
              <a:t>,  or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equalsIgnoreCase</a:t>
            </a:r>
            <a:r>
              <a:rPr sz="1600" b="1" dirty="0">
                <a:latin typeface="Courier New"/>
                <a:cs typeface="Courier New"/>
              </a:rPr>
              <a:t>.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1383665" marR="1621790" indent="-457200">
              <a:lnSpc>
                <a:spcPct val="100000"/>
              </a:lnSpc>
              <a:tabLst>
                <a:tab pos="4699000" algn="l"/>
              </a:tabLst>
            </a:pPr>
            <a:r>
              <a:rPr sz="1500" b="1" spc="-5" dirty="0">
                <a:solidFill>
                  <a:srgbClr val="034CA1"/>
                </a:solidFill>
                <a:latin typeface="Courier New"/>
                <a:cs typeface="Courier New"/>
              </a:rPr>
              <a:t>if</a:t>
            </a:r>
            <a:r>
              <a:rPr sz="1500" b="1" spc="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500" b="1" spc="-5" dirty="0">
                <a:solidFill>
                  <a:srgbClr val="034CA1"/>
                </a:solidFill>
                <a:latin typeface="Courier New"/>
                <a:cs typeface="Courier New"/>
              </a:rPr>
              <a:t>(string1.equals(string2))	//</a:t>
            </a:r>
            <a:r>
              <a:rPr sz="1500" b="1" spc="-4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500" b="1" spc="-5" dirty="0">
                <a:solidFill>
                  <a:srgbClr val="034CA1"/>
                </a:solidFill>
                <a:latin typeface="Courier New"/>
                <a:cs typeface="Courier New"/>
              </a:rPr>
              <a:t>returns</a:t>
            </a:r>
            <a:r>
              <a:rPr sz="1500" b="1" spc="-4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500" b="1" spc="-5" dirty="0">
                <a:solidFill>
                  <a:srgbClr val="034CA1"/>
                </a:solidFill>
                <a:latin typeface="Courier New"/>
                <a:cs typeface="Courier New"/>
              </a:rPr>
              <a:t>true  </a:t>
            </a:r>
            <a:r>
              <a:rPr sz="1500" b="1" spc="-5" dirty="0">
                <a:latin typeface="Courier New"/>
                <a:cs typeface="Courier New"/>
              </a:rPr>
              <a:t>or</a:t>
            </a:r>
            <a:endParaRPr sz="15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tabLst>
                <a:tab pos="5842635" algn="l"/>
              </a:tabLst>
            </a:pPr>
            <a:r>
              <a:rPr sz="1500" b="1" spc="-5" dirty="0">
                <a:solidFill>
                  <a:srgbClr val="034CA1"/>
                </a:solidFill>
                <a:latin typeface="Courier New"/>
                <a:cs typeface="Courier New"/>
              </a:rPr>
              <a:t>if</a:t>
            </a:r>
            <a:r>
              <a:rPr sz="1500" b="1" spc="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500" b="1" spc="-5" dirty="0">
                <a:solidFill>
                  <a:srgbClr val="034CA1"/>
                </a:solidFill>
                <a:latin typeface="Courier New"/>
                <a:cs typeface="Courier New"/>
              </a:rPr>
              <a:t>(string1.equalsIgnoreCase(string2))	// returns</a:t>
            </a:r>
            <a:r>
              <a:rPr sz="15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034CA1"/>
                </a:solidFill>
                <a:latin typeface="Courier New"/>
                <a:cs typeface="Courier New"/>
              </a:rPr>
              <a:t>true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8027" y="968057"/>
            <a:ext cx="626808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15485" algn="l"/>
              </a:tabLst>
            </a:pPr>
            <a:r>
              <a:rPr sz="4400" spc="-5" dirty="0"/>
              <a:t>Other</a:t>
            </a:r>
            <a:r>
              <a:rPr sz="4400" spc="10" dirty="0"/>
              <a:t> </a:t>
            </a:r>
            <a:r>
              <a:rPr sz="4400" spc="-5" dirty="0"/>
              <a:t>Pitfalls</a:t>
            </a:r>
            <a:r>
              <a:rPr sz="4400" spc="10" dirty="0"/>
              <a:t> </a:t>
            </a:r>
            <a:r>
              <a:rPr sz="4400" spc="-5" dirty="0"/>
              <a:t>with	Strings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3139" y="2123440"/>
            <a:ext cx="6756400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5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Be careful with concatenation: </a:t>
            </a:r>
          </a:p>
          <a:p>
            <a:pPr marL="469900">
              <a:lnSpc>
                <a:spcPct val="100000"/>
              </a:lnSpc>
              <a:spcBef>
                <a:spcPts val="315"/>
              </a:spcBef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–	Consider the following two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expressions: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24496" y="3152140"/>
            <a:ext cx="356933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the answer to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everything</a:t>
            </a:r>
            <a:r>
              <a:rPr sz="1800" spc="-5" dirty="0">
                <a:latin typeface="MS PGothic"/>
                <a:cs typeface="MS PGothic"/>
              </a:rPr>
              <a:t>”</a:t>
            </a:r>
            <a:r>
              <a:rPr sz="1800" spc="-5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9739" y="3152140"/>
            <a:ext cx="1683385" cy="894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>
              <a:lnSpc>
                <a:spcPts val="2080"/>
              </a:lnSpc>
              <a:tabLst>
                <a:tab pos="457834" algn="l"/>
                <a:tab pos="732790" algn="l"/>
                <a:tab pos="1007110" algn="l"/>
                <a:tab pos="1281430" algn="l"/>
              </a:tabLst>
            </a:pPr>
            <a:r>
              <a:rPr sz="1800" dirty="0">
                <a:latin typeface="Courier New"/>
                <a:cs typeface="Courier New"/>
              </a:rPr>
              <a:t>4	+	2	+	</a:t>
            </a:r>
            <a:r>
              <a:rPr sz="1800" dirty="0">
                <a:latin typeface="MS PGothic"/>
                <a:cs typeface="MS PGothic"/>
              </a:rPr>
              <a:t>“</a:t>
            </a:r>
            <a:r>
              <a:rPr sz="1800" spc="-5" dirty="0">
                <a:latin typeface="Courier New"/>
                <a:cs typeface="Courier New"/>
              </a:rPr>
              <a:t>is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ts val="2690"/>
              </a:lnSpc>
            </a:pPr>
            <a:r>
              <a:rPr sz="2400" dirty="0">
                <a:latin typeface="Arial"/>
                <a:cs typeface="Arial"/>
              </a:rPr>
              <a:t>vs.:</a:t>
            </a:r>
          </a:p>
          <a:p>
            <a:pPr marL="184150">
              <a:lnSpc>
                <a:spcPts val="2050"/>
              </a:lnSpc>
            </a:pPr>
            <a:r>
              <a:rPr sz="1800" spc="-5" dirty="0">
                <a:latin typeface="MS PGothic"/>
                <a:cs typeface="MS PGothic"/>
              </a:rPr>
              <a:t>“</a:t>
            </a:r>
            <a:r>
              <a:rPr sz="1800" spc="-5" dirty="0">
                <a:latin typeface="Courier New"/>
                <a:cs typeface="Courier New"/>
              </a:rPr>
              <a:t>The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answer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4501" y="3743959"/>
            <a:ext cx="370649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44420" algn="l"/>
                <a:tab pos="2595880" algn="l"/>
                <a:tab pos="2870200" algn="l"/>
                <a:tab pos="3144520" algn="l"/>
                <a:tab pos="3418840" algn="l"/>
              </a:tabLst>
            </a:pPr>
            <a:r>
              <a:rPr sz="1800" spc="-5" dirty="0">
                <a:latin typeface="Courier New"/>
                <a:cs typeface="Courier New"/>
              </a:rPr>
              <a:t>t</a:t>
            </a:r>
            <a:r>
              <a:rPr sz="1800" dirty="0">
                <a:latin typeface="Courier New"/>
                <a:cs typeface="Courier New"/>
              </a:rPr>
              <a:t>o </a:t>
            </a:r>
            <a:r>
              <a:rPr sz="1800" spc="-5" dirty="0">
                <a:latin typeface="Courier New"/>
                <a:cs typeface="Courier New"/>
              </a:rPr>
              <a:t>everythin</a:t>
            </a:r>
            <a:r>
              <a:rPr sz="1800" dirty="0">
                <a:latin typeface="Courier New"/>
                <a:cs typeface="Courier New"/>
              </a:rPr>
              <a:t>g </a:t>
            </a:r>
            <a:r>
              <a:rPr sz="1800" spc="-5" dirty="0">
                <a:latin typeface="Courier New"/>
                <a:cs typeface="Courier New"/>
              </a:rPr>
              <a:t>i</a:t>
            </a:r>
            <a:r>
              <a:rPr sz="1800" dirty="0">
                <a:latin typeface="Courier New"/>
                <a:cs typeface="Courier New"/>
              </a:rPr>
              <a:t>s	</a:t>
            </a:r>
            <a:r>
              <a:rPr sz="1800" dirty="0">
                <a:latin typeface="MS PGothic"/>
                <a:cs typeface="MS PGothic"/>
              </a:rPr>
              <a:t>“	</a:t>
            </a:r>
            <a:r>
              <a:rPr sz="1800" dirty="0">
                <a:latin typeface="Courier New"/>
                <a:cs typeface="Courier New"/>
              </a:rPr>
              <a:t>+	4	+	</a:t>
            </a:r>
            <a:r>
              <a:rPr sz="1800" spc="-5" dirty="0">
                <a:latin typeface="Courier New"/>
                <a:cs typeface="Courier New"/>
              </a:rPr>
              <a:t>2;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4050791"/>
            <a:ext cx="8077200" cy="2172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 String is</a:t>
            </a:r>
            <a:r>
              <a:rPr sz="2400" spc="-2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immutable</a:t>
            </a: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There is no way to modify any chars in 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String:</a:t>
            </a:r>
          </a:p>
          <a:p>
            <a:pPr marL="1155700" lvl="2" indent="-228600">
              <a:lnSpc>
                <a:spcPct val="100000"/>
              </a:lnSpc>
              <a:spcBef>
                <a:spcPts val="170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E.g.: </a:t>
            </a:r>
            <a:r>
              <a:rPr sz="1800" spc="-5" dirty="0">
                <a:latin typeface="MS PGothic"/>
                <a:cs typeface="MS PGothic"/>
              </a:rPr>
              <a:t>“</a:t>
            </a:r>
            <a:r>
              <a:rPr sz="1800" spc="-5" dirty="0">
                <a:latin typeface="Arial"/>
                <a:cs typeface="Arial"/>
              </a:rPr>
              <a:t>someString.charAt(x)</a:t>
            </a:r>
            <a:r>
              <a:rPr sz="1800" spc="-5" dirty="0">
                <a:latin typeface="MS PGothic"/>
                <a:cs typeface="MS PGothic"/>
              </a:rPr>
              <a:t>” </a:t>
            </a:r>
            <a:r>
              <a:rPr sz="1800" spc="-130" dirty="0">
                <a:latin typeface="Arial"/>
                <a:cs typeface="Arial"/>
              </a:rPr>
              <a:t>doesn</a:t>
            </a:r>
            <a:r>
              <a:rPr sz="1800" spc="-130" dirty="0">
                <a:latin typeface="MS PGothic"/>
                <a:cs typeface="MS PGothic"/>
              </a:rPr>
              <a:t>ʼ</a:t>
            </a:r>
            <a:r>
              <a:rPr sz="1800" spc="-130" dirty="0">
                <a:latin typeface="Arial"/>
                <a:cs typeface="Arial"/>
              </a:rPr>
              <a:t>t </a:t>
            </a:r>
            <a:r>
              <a:rPr sz="1800" dirty="0">
                <a:latin typeface="Arial"/>
                <a:cs typeface="Arial"/>
              </a:rPr>
              <a:t>let you change that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char</a:t>
            </a: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But what does </a:t>
            </a:r>
            <a:r>
              <a:rPr sz="2000" spc="-5" dirty="0">
                <a:latin typeface="MS PGothic"/>
                <a:cs typeface="MS PGothic"/>
              </a:rPr>
              <a:t>“</a:t>
            </a:r>
            <a:r>
              <a:rPr sz="2000" spc="-5" dirty="0">
                <a:latin typeface="Arial"/>
                <a:cs typeface="Arial"/>
              </a:rPr>
              <a:t>immutable</a:t>
            </a:r>
            <a:r>
              <a:rPr sz="2000" spc="-5" dirty="0">
                <a:latin typeface="MS PGothic"/>
                <a:cs typeface="MS PGothic"/>
              </a:rPr>
              <a:t>” </a:t>
            </a:r>
            <a:r>
              <a:rPr sz="2000" dirty="0">
                <a:latin typeface="Arial"/>
                <a:cs typeface="Arial"/>
              </a:rPr>
              <a:t>really mean?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Consider:</a:t>
            </a:r>
          </a:p>
          <a:p>
            <a:pPr marL="748665" marR="3930015" indent="6350">
              <a:lnSpc>
                <a:spcPts val="1970"/>
              </a:lnSpc>
              <a:spcBef>
                <a:spcPts val="395"/>
              </a:spcBef>
              <a:tabLst>
                <a:tab pos="2395220" algn="l"/>
              </a:tabLst>
            </a:pPr>
            <a:r>
              <a:rPr sz="1800" spc="-5" dirty="0">
                <a:latin typeface="Courier New"/>
                <a:cs typeface="Courier New"/>
              </a:rPr>
              <a:t>String immutable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MS PGothic"/>
                <a:cs typeface="MS PGothic"/>
              </a:rPr>
              <a:t>“</a:t>
            </a:r>
            <a:r>
              <a:rPr sz="1800" dirty="0">
                <a:latin typeface="Courier New"/>
                <a:cs typeface="Courier New"/>
              </a:rPr>
              <a:t>Yes</a:t>
            </a:r>
            <a:r>
              <a:rPr sz="1800" dirty="0">
                <a:latin typeface="MS PGothic"/>
                <a:cs typeface="MS PGothic"/>
              </a:rPr>
              <a:t>”</a:t>
            </a:r>
            <a:r>
              <a:rPr sz="1800" dirty="0">
                <a:latin typeface="Courier New"/>
                <a:cs typeface="Courier New"/>
              </a:rPr>
              <a:t>;  </a:t>
            </a:r>
            <a:r>
              <a:rPr sz="1800" spc="-5" dirty="0">
                <a:latin typeface="Courier New"/>
                <a:cs typeface="Courier New"/>
              </a:rPr>
              <a:t>immutable</a:t>
            </a:r>
            <a:r>
              <a:rPr sz="1800" dirty="0">
                <a:latin typeface="Courier New"/>
                <a:cs typeface="Courier New"/>
              </a:rPr>
              <a:t> =	</a:t>
            </a:r>
            <a:r>
              <a:rPr sz="1800" dirty="0">
                <a:latin typeface="MS PGothic"/>
                <a:cs typeface="MS PGothic"/>
              </a:rPr>
              <a:t>“</a:t>
            </a:r>
            <a:r>
              <a:rPr sz="1800" dirty="0">
                <a:latin typeface="Courier New"/>
                <a:cs typeface="Courier New"/>
              </a:rPr>
              <a:t>No</a:t>
            </a:r>
            <a:r>
              <a:rPr sz="1800" dirty="0">
                <a:latin typeface="MS PGothic"/>
                <a:cs typeface="MS PGothic"/>
              </a:rPr>
              <a:t>”</a:t>
            </a:r>
            <a:r>
              <a:rPr sz="1800" dirty="0">
                <a:latin typeface="Courier New"/>
                <a:cs typeface="Courier New"/>
              </a:rPr>
              <a:t>;</a:t>
            </a:r>
          </a:p>
          <a:p>
            <a:pPr marL="748665">
              <a:lnSpc>
                <a:spcPts val="1864"/>
              </a:lnSpc>
              <a:tabLst>
                <a:tab pos="5687695" algn="l"/>
              </a:tabLst>
            </a:pPr>
            <a:r>
              <a:rPr sz="1800" spc="-5" dirty="0">
                <a:latin typeface="Courier New"/>
                <a:cs typeface="Courier New"/>
              </a:rPr>
              <a:t>// Why is this allowed? And</a:t>
            </a:r>
            <a:r>
              <a:rPr sz="1800" spc="5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what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of</a:t>
            </a:r>
            <a:r>
              <a:rPr sz="1800" spc="-5">
                <a:latin typeface="Courier New"/>
                <a:cs typeface="Courier New"/>
              </a:rPr>
              <a:t>	</a:t>
            </a:r>
            <a:r>
              <a:rPr sz="1800">
                <a:latin typeface="MS PGothic"/>
                <a:cs typeface="MS PGothic"/>
              </a:rPr>
              <a:t>“</a:t>
            </a:r>
            <a:r>
              <a:rPr sz="1800">
                <a:latin typeface="Courier New"/>
                <a:cs typeface="Courier New"/>
              </a:rPr>
              <a:t>+=</a:t>
            </a:r>
            <a:r>
              <a:rPr sz="1800">
                <a:latin typeface="MS PGothic"/>
                <a:cs typeface="MS PGothic"/>
              </a:rPr>
              <a:t>“</a:t>
            </a:r>
            <a:r>
              <a:rPr sz="1800">
                <a:latin typeface="Courier New"/>
                <a:cs typeface="Courier New"/>
              </a:rPr>
              <a:t>?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2980" y="2987357"/>
            <a:ext cx="1477645" cy="69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>
                <a:latin typeface="Calibri"/>
                <a:cs typeface="Calibri"/>
              </a:rPr>
              <a:t>A</a:t>
            </a:r>
            <a:r>
              <a:rPr sz="4400" spc="-5" dirty="0">
                <a:latin typeface="Calibri"/>
                <a:cs typeface="Calibri"/>
              </a:rPr>
              <a:t>rr</a:t>
            </a:r>
            <a:r>
              <a:rPr sz="4400" dirty="0">
                <a:latin typeface="Calibri"/>
                <a:cs typeface="Calibri"/>
              </a:rPr>
              <a:t>a</a:t>
            </a:r>
            <a:r>
              <a:rPr sz="4400" spc="-5" dirty="0">
                <a:latin typeface="Calibri"/>
                <a:cs typeface="Calibri"/>
              </a:rPr>
              <a:t>y</a:t>
            </a:r>
            <a:r>
              <a:rPr sz="4400" dirty="0">
                <a:latin typeface="Calibri"/>
                <a:cs typeface="Calibri"/>
              </a:rPr>
              <a:t>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04" rIns="0" bIns="0" rtlCol="0">
            <a:spAutoFit/>
          </a:bodyPr>
          <a:lstStyle/>
          <a:p>
            <a:pPr marL="3174365">
              <a:lnSpc>
                <a:spcPct val="100000"/>
              </a:lnSpc>
            </a:pPr>
            <a:r>
              <a:rPr sz="4400" dirty="0"/>
              <a:t>Arrays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889759"/>
            <a:ext cx="7788909" cy="2280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427355" indent="-342900">
              <a:lnSpc>
                <a:spcPts val="3000"/>
              </a:lnSpc>
              <a:buFont typeface="Arial"/>
              <a:buChar char="•"/>
              <a:tabLst>
                <a:tab pos="354965" algn="l"/>
                <a:tab pos="355600" algn="l"/>
                <a:tab pos="1560830" algn="l"/>
              </a:tabLst>
            </a:pPr>
            <a:r>
              <a:rPr sz="2800" b="1" i="1" spc="-5" dirty="0">
                <a:latin typeface="Arial"/>
                <a:cs typeface="Arial"/>
              </a:rPr>
              <a:t>Array</a:t>
            </a:r>
            <a:r>
              <a:rPr sz="2800" spc="-5" dirty="0">
                <a:latin typeface="Arial"/>
                <a:cs typeface="Arial"/>
              </a:rPr>
              <a:t>:	</a:t>
            </a:r>
            <a:r>
              <a:rPr sz="2800" dirty="0">
                <a:latin typeface="Arial"/>
                <a:cs typeface="Arial"/>
              </a:rPr>
              <a:t>A data structure used to</a:t>
            </a:r>
            <a:r>
              <a:rPr sz="2800" spc="-2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process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  collection of data that is all of the same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type.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ts val="3195"/>
              </a:lnSpc>
              <a:spcBef>
                <a:spcPts val="1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An array is declared and created using the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endParaRPr sz="2800">
              <a:latin typeface="Courier New"/>
              <a:cs typeface="Courier New"/>
            </a:endParaRPr>
          </a:p>
          <a:p>
            <a:pPr marL="355600">
              <a:lnSpc>
                <a:spcPts val="3195"/>
              </a:lnSpc>
            </a:pPr>
            <a:r>
              <a:rPr sz="2800" spc="-20" dirty="0">
                <a:latin typeface="Arial"/>
                <a:cs typeface="Arial"/>
              </a:rPr>
              <a:t>operator.</a:t>
            </a:r>
            <a:endParaRPr sz="2800">
              <a:latin typeface="Arial"/>
              <a:cs typeface="Arial"/>
            </a:endParaRPr>
          </a:p>
          <a:p>
            <a:pPr marL="837565">
              <a:lnSpc>
                <a:spcPct val="100000"/>
              </a:lnSpc>
              <a:spcBef>
                <a:spcPts val="1600"/>
              </a:spcBef>
              <a:tabLst>
                <a:tab pos="4037965" algn="l"/>
                <a:tab pos="4343400" algn="l"/>
              </a:tabLst>
            </a:pPr>
            <a:r>
              <a:rPr sz="2000" b="1" i="1" spc="-5" dirty="0">
                <a:solidFill>
                  <a:srgbClr val="034CA1"/>
                </a:solidFill>
                <a:latin typeface="Courier New"/>
                <a:cs typeface="Courier New"/>
              </a:rPr>
              <a:t>BaseType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[]</a:t>
            </a:r>
            <a:r>
              <a:rPr sz="2000" b="1" spc="2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i="1" dirty="0">
                <a:solidFill>
                  <a:srgbClr val="034CA1"/>
                </a:solidFill>
                <a:latin typeface="Courier New"/>
                <a:cs typeface="Courier New"/>
              </a:rPr>
              <a:t>ArrayName	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=	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2000" b="1" spc="-3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i="1" spc="-5" dirty="0">
                <a:solidFill>
                  <a:srgbClr val="034CA1"/>
                </a:solidFill>
                <a:latin typeface="Courier New"/>
                <a:cs typeface="Courier New"/>
              </a:rPr>
              <a:t>BaseType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[</a:t>
            </a:r>
            <a:r>
              <a:rPr sz="2000" b="1" i="1" spc="-5" dirty="0">
                <a:solidFill>
                  <a:srgbClr val="034CA1"/>
                </a:solidFill>
                <a:latin typeface="Courier New"/>
                <a:cs typeface="Courier New"/>
              </a:rPr>
              <a:t>size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];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375404"/>
            <a:ext cx="193357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The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034CA1"/>
                </a:solidFill>
                <a:latin typeface="Courier New"/>
                <a:cs typeface="Courier New"/>
              </a:rPr>
              <a:t>size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7360" y="4375404"/>
            <a:ext cx="214058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may be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given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0339" y="4831079"/>
            <a:ext cx="6679565" cy="157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as a non-negative </a:t>
            </a:r>
            <a:r>
              <a:rPr sz="2000" spc="-15" dirty="0">
                <a:latin typeface="Arial"/>
                <a:cs typeface="Arial"/>
              </a:rPr>
              <a:t>integer,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0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as an expression that evaluates to a nonnegative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integer.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  <a:tabLst>
                <a:tab pos="2359660" algn="l"/>
              </a:tabLst>
            </a:pP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char[]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line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22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char[80];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  <a:tabLst>
                <a:tab pos="3197860" algn="l"/>
              </a:tabLst>
            </a:pP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double[]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reading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22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double[count];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2738" y="785024"/>
            <a:ext cx="6604000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99335" algn="l"/>
              </a:tabLst>
            </a:pPr>
            <a:r>
              <a:rPr dirty="0"/>
              <a:t>Declaring	vs. </a:t>
            </a:r>
            <a:r>
              <a:rPr spc="-5" dirty="0"/>
              <a:t>Creating</a:t>
            </a:r>
            <a:r>
              <a:rPr spc="-295" dirty="0"/>
              <a:t> </a:t>
            </a:r>
            <a:r>
              <a:rPr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1767840"/>
            <a:ext cx="5360035" cy="143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Example</a:t>
            </a:r>
            <a:endParaRPr sz="2400">
              <a:latin typeface="Arial"/>
              <a:cs typeface="Arial"/>
            </a:endParaRPr>
          </a:p>
          <a:p>
            <a:pPr marL="622300">
              <a:lnSpc>
                <a:spcPct val="100000"/>
              </a:lnSpc>
              <a:spcBef>
                <a:spcPts val="1540"/>
              </a:spcBef>
              <a:tabLst>
                <a:tab pos="3213100" algn="l"/>
              </a:tabLst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double[]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score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20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double[5];</a:t>
            </a:r>
            <a:endParaRPr sz="20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1555"/>
              </a:spcBef>
            </a:pPr>
            <a:r>
              <a:rPr sz="2400" spc="-45" dirty="0">
                <a:latin typeface="Arial"/>
                <a:cs typeface="Arial"/>
              </a:rPr>
              <a:t>or, </a:t>
            </a:r>
            <a:r>
              <a:rPr sz="2400" dirty="0">
                <a:latin typeface="Arial"/>
                <a:cs typeface="Arial"/>
              </a:rPr>
              <a:t>using two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statements: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65" y="3395979"/>
            <a:ext cx="3378835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double[]</a:t>
            </a:r>
            <a:r>
              <a:rPr sz="20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score;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1231900" algn="l"/>
              </a:tabLst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score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20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double[5];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8175" y="3395979"/>
            <a:ext cx="1702435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//</a:t>
            </a:r>
            <a:r>
              <a:rPr sz="20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declares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//</a:t>
            </a:r>
            <a:r>
              <a:rPr sz="20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creates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0339" y="4241292"/>
            <a:ext cx="743330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 1st statement declares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score</a:t>
            </a:r>
            <a:r>
              <a:rPr sz="2400" b="1" spc="-894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to be of the array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3239" y="4574540"/>
            <a:ext cx="21494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type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0220" y="4574540"/>
            <a:ext cx="29229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(</a:t>
            </a:r>
            <a:r>
              <a:rPr sz="2400" dirty="0">
                <a:latin typeface="Arial"/>
                <a:cs typeface="Arial"/>
              </a:rPr>
              <a:t>an array of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doubles).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0339" y="5371592"/>
            <a:ext cx="7429500" cy="1063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 2nd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statement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6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creates an array with five numbered values of type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</a:t>
            </a:r>
            <a:endParaRPr sz="2000">
              <a:latin typeface="Courier New"/>
              <a:cs typeface="Courier New"/>
            </a:endParaRPr>
          </a:p>
          <a:p>
            <a:pPr marL="755650" lvl="1" indent="-285750">
              <a:lnSpc>
                <a:spcPct val="100000"/>
              </a:lnSpc>
              <a:spcBef>
                <a:spcPts val="2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makes the variable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score</a:t>
            </a:r>
            <a:r>
              <a:rPr sz="2000" b="1" spc="-75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a name for the array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0935" y="830745"/>
            <a:ext cx="758761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565140" algn="l"/>
              </a:tabLst>
            </a:pPr>
            <a:r>
              <a:rPr sz="4400" dirty="0"/>
              <a:t>The</a:t>
            </a:r>
            <a:r>
              <a:rPr sz="4400" spc="5" dirty="0"/>
              <a:t> </a:t>
            </a:r>
            <a:r>
              <a:rPr sz="4400" b="1" dirty="0">
                <a:solidFill>
                  <a:srgbClr val="034CA1"/>
                </a:solidFill>
                <a:latin typeface="Courier New"/>
                <a:cs typeface="Courier New"/>
              </a:rPr>
              <a:t>length</a:t>
            </a:r>
            <a:r>
              <a:rPr sz="4400" b="1" spc="-141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4400" spc="-5" dirty="0"/>
              <a:t>Instance	</a:t>
            </a:r>
            <a:r>
              <a:rPr sz="4400" spc="-45" dirty="0"/>
              <a:t>Variable</a:t>
            </a:r>
            <a:endParaRPr sz="4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844040"/>
            <a:ext cx="7646034" cy="4284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An array is considered to be an</a:t>
            </a:r>
            <a:r>
              <a:rPr sz="2400" b="1" spc="-1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object.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950">
              <a:latin typeface="Times New Roman"/>
              <a:cs typeface="Times New Roman"/>
            </a:endParaRPr>
          </a:p>
          <a:p>
            <a:pPr marL="355600" indent="-342900">
              <a:lnSpc>
                <a:spcPts val="275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Every array has exactly one </a:t>
            </a:r>
            <a:r>
              <a:rPr sz="2400" b="1" i="1" dirty="0">
                <a:latin typeface="Arial"/>
                <a:cs typeface="Arial"/>
              </a:rPr>
              <a:t>instance</a:t>
            </a:r>
            <a:r>
              <a:rPr sz="2400" b="1" i="1" spc="-10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variable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750"/>
              </a:lnSpc>
            </a:pPr>
            <a:r>
              <a:rPr sz="2400" dirty="0">
                <a:latin typeface="Arial"/>
                <a:cs typeface="Arial"/>
              </a:rPr>
              <a:t>(characteristic) named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length</a:t>
            </a:r>
            <a:r>
              <a:rPr sz="2400" b="1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  <a:p>
            <a:pPr marL="749300" lvl="1" indent="-279400">
              <a:lnSpc>
                <a:spcPts val="2610"/>
              </a:lnSpc>
              <a:spcBef>
                <a:spcPts val="1580"/>
              </a:spcBef>
              <a:buChar char="–"/>
              <a:tabLst>
                <a:tab pos="755650" algn="l"/>
              </a:tabLst>
            </a:pPr>
            <a:r>
              <a:rPr sz="2300" spc="-5" dirty="0">
                <a:latin typeface="Arial"/>
                <a:cs typeface="Arial"/>
              </a:rPr>
              <a:t>When </a:t>
            </a:r>
            <a:r>
              <a:rPr sz="2300" dirty="0">
                <a:latin typeface="Arial"/>
                <a:cs typeface="Arial"/>
              </a:rPr>
              <a:t>an array is created, the instance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variable</a:t>
            </a:r>
            <a:endParaRPr sz="2300">
              <a:latin typeface="Arial"/>
              <a:cs typeface="Arial"/>
            </a:endParaRPr>
          </a:p>
          <a:p>
            <a:pPr marR="614680" algn="ctr">
              <a:lnSpc>
                <a:spcPts val="2490"/>
              </a:lnSpc>
            </a:pP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length</a:t>
            </a:r>
            <a:r>
              <a:rPr sz="2200" b="1" spc="-819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latin typeface="Arial"/>
                <a:cs typeface="Arial"/>
              </a:rPr>
              <a:t>is automatically set equal to its </a:t>
            </a:r>
            <a:r>
              <a:rPr sz="2200" i="1" dirty="0">
                <a:latin typeface="Arial"/>
                <a:cs typeface="Arial"/>
              </a:rPr>
              <a:t>size</a:t>
            </a:r>
            <a:r>
              <a:rPr sz="2200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 marL="749300" marR="5080" lvl="1" indent="-279400">
              <a:lnSpc>
                <a:spcPts val="2370"/>
              </a:lnSpc>
              <a:spcBef>
                <a:spcPts val="1889"/>
              </a:spcBef>
              <a:buChar char="–"/>
              <a:tabLst>
                <a:tab pos="755015" algn="l"/>
                <a:tab pos="755650" algn="l"/>
              </a:tabLst>
            </a:pPr>
            <a:r>
              <a:rPr sz="2200" dirty="0">
                <a:latin typeface="Arial"/>
                <a:cs typeface="Arial"/>
              </a:rPr>
              <a:t>The value of 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length</a:t>
            </a:r>
            <a:r>
              <a:rPr sz="2200" b="1" spc="-819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latin typeface="Arial"/>
                <a:cs typeface="Arial"/>
              </a:rPr>
              <a:t>cannot be changed (other than by  creating an entirely new array using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2200" dirty="0">
                <a:latin typeface="Arial"/>
                <a:cs typeface="Arial"/>
              </a:rPr>
              <a:t>).</a:t>
            </a:r>
            <a:endParaRPr sz="2200">
              <a:latin typeface="Arial"/>
              <a:cs typeface="Arial"/>
            </a:endParaRPr>
          </a:p>
          <a:p>
            <a:pPr marR="586740" algn="ctr">
              <a:lnSpc>
                <a:spcPct val="100000"/>
              </a:lnSpc>
              <a:spcBef>
                <a:spcPts val="1550"/>
              </a:spcBef>
              <a:tabLst>
                <a:tab pos="2849880" algn="l"/>
              </a:tabLst>
            </a:pP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double[]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score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22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double[5];</a:t>
            </a:r>
            <a:endParaRPr sz="2200">
              <a:latin typeface="Courier New"/>
              <a:cs typeface="Courier New"/>
            </a:endParaRPr>
          </a:p>
          <a:p>
            <a:pPr marL="755650" lvl="1" indent="-285750">
              <a:lnSpc>
                <a:spcPct val="100000"/>
              </a:lnSpc>
              <a:spcBef>
                <a:spcPts val="1560"/>
              </a:spcBef>
              <a:buChar char="–"/>
              <a:tabLst>
                <a:tab pos="755015" algn="l"/>
                <a:tab pos="755650" algn="l"/>
              </a:tabLst>
            </a:pPr>
            <a:r>
              <a:rPr sz="2200" dirty="0">
                <a:latin typeface="Arial"/>
                <a:cs typeface="Arial"/>
              </a:rPr>
              <a:t>Given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score</a:t>
            </a:r>
            <a:r>
              <a:rPr sz="2200" b="1" spc="-72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latin typeface="Arial"/>
                <a:cs typeface="Arial"/>
              </a:rPr>
              <a:t>above,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score.length</a:t>
            </a:r>
            <a:r>
              <a:rPr sz="2200" b="1" spc="-72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latin typeface="Arial"/>
                <a:cs typeface="Arial"/>
              </a:rPr>
              <a:t>has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value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5.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04" rIns="0" bIns="0" rtlCol="0">
            <a:spAutoFit/>
          </a:bodyPr>
          <a:lstStyle/>
          <a:p>
            <a:pPr marL="1885314">
              <a:lnSpc>
                <a:spcPct val="100000"/>
              </a:lnSpc>
            </a:pPr>
            <a:r>
              <a:rPr sz="4400" spc="-5" dirty="0"/>
              <a:t>Initializing</a:t>
            </a:r>
            <a:r>
              <a:rPr sz="4400" spc="-295" dirty="0"/>
              <a:t> </a:t>
            </a:r>
            <a:r>
              <a:rPr sz="4400" dirty="0"/>
              <a:t>Arrays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874520"/>
            <a:ext cx="7609840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An array can be initialized when it is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declared.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1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Example:</a:t>
            </a:r>
            <a:endParaRPr sz="2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95"/>
              </a:spcBef>
              <a:tabLst>
                <a:tab pos="2938780" algn="l"/>
              </a:tabLst>
            </a:pP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int[]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age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{2, 12,</a:t>
            </a:r>
            <a:r>
              <a:rPr sz="22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1};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329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Given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34CA1"/>
                </a:solidFill>
                <a:latin typeface="Courier New"/>
                <a:cs typeface="Courier New"/>
              </a:rPr>
              <a:t>age</a:t>
            </a:r>
            <a:r>
              <a:rPr sz="2800" b="1" spc="-93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Arial"/>
                <a:cs typeface="Arial"/>
              </a:rPr>
              <a:t>above,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34CA1"/>
                </a:solidFill>
                <a:latin typeface="Courier New"/>
                <a:cs typeface="Courier New"/>
              </a:rPr>
              <a:t>age.length</a:t>
            </a:r>
            <a:r>
              <a:rPr sz="2800" b="1" spc="-93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Arial"/>
                <a:cs typeface="Arial"/>
              </a:rPr>
              <a:t>automatically  has a value of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3.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4991735" algn="l"/>
                <a:tab pos="5296535" algn="l"/>
              </a:tabLst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System.out.print(</a:t>
            </a:r>
            <a:r>
              <a:rPr sz="2000" b="1" spc="-5" dirty="0">
                <a:solidFill>
                  <a:srgbClr val="0062B1"/>
                </a:solidFill>
                <a:latin typeface="MS PGothic"/>
                <a:cs typeface="MS PGothic"/>
              </a:rPr>
              <a:t>“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Length</a:t>
            </a:r>
            <a:r>
              <a:rPr sz="2000" b="1" spc="3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is</a:t>
            </a:r>
            <a:r>
              <a:rPr sz="2000" b="1" spc="3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0062B1"/>
                </a:solidFill>
                <a:latin typeface="MS PGothic"/>
                <a:cs typeface="MS PGothic"/>
              </a:rPr>
              <a:t>“	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+	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age.length);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23500" y="5300979"/>
            <a:ext cx="1702435" cy="70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038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prints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Length is</a:t>
            </a:r>
            <a:r>
              <a:rPr sz="20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017" rIns="0" bIns="0" rtlCol="0">
            <a:spAutoFit/>
          </a:bodyPr>
          <a:lstStyle/>
          <a:p>
            <a:pPr marL="2623185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Notes on</a:t>
            </a:r>
            <a:r>
              <a:rPr sz="4400" spc="-55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Arrays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2103120"/>
            <a:ext cx="6530975" cy="2747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index </a:t>
            </a:r>
            <a:r>
              <a:rPr sz="3200" spc="-5" dirty="0">
                <a:latin typeface="Calibri"/>
                <a:cs typeface="Calibri"/>
              </a:rPr>
              <a:t>starts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0.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arrays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dirty="0">
                <a:latin typeface="Arial"/>
                <a:cs typeface="Arial"/>
              </a:rPr>
              <a:t>’</a:t>
            </a:r>
            <a:r>
              <a:rPr sz="3200" dirty="0">
                <a:latin typeface="Calibri"/>
                <a:cs typeface="Calibri"/>
              </a:rPr>
              <a:t>t </a:t>
            </a:r>
            <a:r>
              <a:rPr sz="3200" spc="-5" dirty="0">
                <a:latin typeface="Calibri"/>
                <a:cs typeface="Calibri"/>
              </a:rPr>
              <a:t>shrink or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grow.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each element is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initialized.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array bounds </a:t>
            </a:r>
            <a:r>
              <a:rPr sz="3200" dirty="0">
                <a:latin typeface="Calibri"/>
                <a:cs typeface="Calibri"/>
              </a:rPr>
              <a:t>checking (no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overﬂow!)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5" dirty="0">
                <a:latin typeface="Calibri"/>
                <a:cs typeface="Calibri"/>
              </a:rPr>
              <a:t>ArrayIndexOutOfBoundsException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04" rIns="0" bIns="0" rtlCol="0">
            <a:spAutoFit/>
          </a:bodyPr>
          <a:lstStyle/>
          <a:p>
            <a:pPr marL="1885314">
              <a:lnSpc>
                <a:spcPct val="100000"/>
              </a:lnSpc>
            </a:pPr>
            <a:r>
              <a:rPr sz="4400" spc="-5" dirty="0"/>
              <a:t>Initializing</a:t>
            </a:r>
            <a:r>
              <a:rPr sz="4400" spc="-295" dirty="0"/>
              <a:t> </a:t>
            </a:r>
            <a:r>
              <a:rPr sz="4400" dirty="0"/>
              <a:t>Arrays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64540" y="1727200"/>
            <a:ext cx="3181985" cy="42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Using a </a:t>
            </a:r>
            <a:r>
              <a:rPr sz="2800" b="1" dirty="0">
                <a:solidFill>
                  <a:srgbClr val="034CA1"/>
                </a:solidFill>
                <a:latin typeface="Courier New"/>
                <a:cs typeface="Courier New"/>
              </a:rPr>
              <a:t>for</a:t>
            </a:r>
            <a:r>
              <a:rPr sz="2800" b="1" spc="-101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latin typeface="Arial"/>
                <a:cs typeface="Arial"/>
              </a:rPr>
              <a:t>loop,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131984"/>
            <a:ext cx="9293860" cy="1381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299"/>
              </a:lnSpc>
              <a:tabLst>
                <a:tab pos="1353820" algn="l"/>
                <a:tab pos="2694940" algn="l"/>
                <a:tab pos="3197860" algn="l"/>
                <a:tab pos="4539615" algn="l"/>
              </a:tabLst>
            </a:pP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double[]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reading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22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double[100</a:t>
            </a:r>
            <a:r>
              <a:rPr sz="2200" b="1" spc="-5">
                <a:solidFill>
                  <a:srgbClr val="034CA1"/>
                </a:solidFill>
                <a:latin typeface="Courier New"/>
                <a:cs typeface="Courier New"/>
              </a:rPr>
              <a:t>];  </a:t>
            </a:r>
            <a:endParaRPr lang="en-US" sz="2200" b="1" spc="-5">
              <a:solidFill>
                <a:srgbClr val="034CA1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02299"/>
              </a:lnSpc>
              <a:tabLst>
                <a:tab pos="1353820" algn="l"/>
                <a:tab pos="2694940" algn="l"/>
                <a:tab pos="3197860" algn="l"/>
                <a:tab pos="4539615" algn="l"/>
              </a:tabLst>
            </a:pPr>
            <a:r>
              <a:rPr sz="2200" b="1">
                <a:solidFill>
                  <a:srgbClr val="034CA1"/>
                </a:solidFill>
                <a:latin typeface="Courier New"/>
                <a:cs typeface="Courier New"/>
              </a:rPr>
              <a:t>for(</a:t>
            </a:r>
            <a:r>
              <a:rPr sz="2200" b="1" dirty="0" err="1">
                <a:solidFill>
                  <a:srgbClr val="034CA1"/>
                </a:solidFill>
                <a:latin typeface="Courier New"/>
                <a:cs typeface="Courier New"/>
              </a:rPr>
              <a:t>int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	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inde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x =	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0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; </a:t>
            </a:r>
            <a:r>
              <a:rPr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inde</a:t>
            </a:r>
            <a:r>
              <a:rPr sz="2200" b="1" dirty="0">
                <a:solidFill>
                  <a:srgbClr val="034CA1"/>
                </a:solidFill>
                <a:latin typeface="Courier New"/>
                <a:cs typeface="Courier New"/>
              </a:rPr>
              <a:t>x &lt;</a:t>
            </a:r>
            <a:r>
              <a:rPr lang="en-US" sz="22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lang="en-IE" sz="2200" b="1" dirty="0">
                <a:solidFill>
                  <a:srgbClr val="034CA1"/>
                </a:solidFill>
                <a:latin typeface="Courier New"/>
                <a:cs typeface="Courier New"/>
              </a:rPr>
              <a:t>	</a:t>
            </a:r>
            <a:r>
              <a:rPr lang="en-IE" sz="2200" b="1" dirty="0" err="1">
                <a:solidFill>
                  <a:srgbClr val="034CA1"/>
                </a:solidFill>
                <a:latin typeface="Courier New"/>
                <a:cs typeface="Courier New"/>
              </a:rPr>
              <a:t>reading.length</a:t>
            </a:r>
            <a:r>
              <a:rPr lang="en-IE" sz="2200" b="1" dirty="0">
                <a:solidFill>
                  <a:srgbClr val="034CA1"/>
                </a:solidFill>
                <a:latin typeface="Courier New"/>
                <a:cs typeface="Courier New"/>
              </a:rPr>
              <a:t>;</a:t>
            </a:r>
            <a:r>
              <a:rPr lang="en-US" sz="2200" b="1" dirty="0">
                <a:solidFill>
                  <a:srgbClr val="034CA1"/>
                </a:solidFill>
                <a:latin typeface="Courier New"/>
                <a:cs typeface="Courier New"/>
              </a:rPr>
              <a:t>  </a:t>
            </a:r>
            <a:r>
              <a:rPr lang="en-IE" sz="2200" b="1" spc="-5" dirty="0">
                <a:solidFill>
                  <a:srgbClr val="034CA1"/>
                </a:solidFill>
                <a:latin typeface="Courier New"/>
                <a:cs typeface="Courier New"/>
              </a:rPr>
              <a:t>index++){</a:t>
            </a:r>
            <a:endParaRPr lang="en-IE" sz="2200" dirty="0">
              <a:latin typeface="Courier New"/>
              <a:cs typeface="Courier New"/>
            </a:endParaRPr>
          </a:p>
          <a:p>
            <a:pPr marL="12700" marR="5080">
              <a:lnSpc>
                <a:spcPct val="102299"/>
              </a:lnSpc>
              <a:tabLst>
                <a:tab pos="1353820" algn="l"/>
                <a:tab pos="2694940" algn="l"/>
                <a:tab pos="3197860" algn="l"/>
                <a:tab pos="4539615" algn="l"/>
              </a:tabLst>
            </a:pPr>
            <a:r>
              <a:rPr lang="en-US" sz="2200" b="1" dirty="0">
                <a:solidFill>
                  <a:srgbClr val="034CA1"/>
                </a:solidFill>
                <a:latin typeface="Courier New"/>
                <a:cs typeface="Courier New"/>
              </a:rPr>
              <a:t>	reading[index] = 42</a:t>
            </a:r>
          </a:p>
          <a:p>
            <a:pPr marL="12700" marR="5080">
              <a:lnSpc>
                <a:spcPct val="102299"/>
              </a:lnSpc>
              <a:tabLst>
                <a:tab pos="1353820" algn="l"/>
                <a:tab pos="2694940" algn="l"/>
                <a:tab pos="3197860" algn="l"/>
                <a:tab pos="4539615" algn="l"/>
              </a:tabLst>
            </a:pPr>
            <a:r>
              <a:rPr lang="en-US" sz="2200" b="1" dirty="0">
                <a:solidFill>
                  <a:srgbClr val="034CA1"/>
                </a:solidFill>
                <a:latin typeface="Courier New"/>
                <a:cs typeface="Courier New"/>
              </a:rPr>
              <a:t>}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365" y="3505200"/>
            <a:ext cx="4217035" cy="807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Using array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literals: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  <a:tabLst>
                <a:tab pos="2024380" algn="l"/>
              </a:tabLst>
            </a:pPr>
            <a:r>
              <a:rPr sz="2200" b="1" spc="-5" dirty="0">
                <a:solidFill>
                  <a:srgbClr val="1F497D"/>
                </a:solidFill>
                <a:latin typeface="Courier New"/>
                <a:cs typeface="Courier New"/>
              </a:rPr>
              <a:t>int[]</a:t>
            </a:r>
            <a:r>
              <a:rPr sz="2200" b="1" spc="5" dirty="0">
                <a:solidFill>
                  <a:srgbClr val="1F497D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1F497D"/>
                </a:solidFill>
                <a:latin typeface="Courier New"/>
                <a:cs typeface="Courier New"/>
              </a:rPr>
              <a:t>foo</a:t>
            </a:r>
            <a:r>
              <a:rPr sz="2200" b="1" spc="5" dirty="0">
                <a:solidFill>
                  <a:srgbClr val="1F497D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1F497D"/>
                </a:solidFill>
                <a:latin typeface="Courier New"/>
                <a:cs typeface="Courier New"/>
              </a:rPr>
              <a:t>=	</a:t>
            </a:r>
            <a:r>
              <a:rPr sz="2200" b="1" spc="-5" dirty="0">
                <a:solidFill>
                  <a:srgbClr val="1F497D"/>
                </a:solidFill>
                <a:latin typeface="Courier New"/>
                <a:cs typeface="Courier New"/>
              </a:rPr>
              <a:t>{1,2,3,4,5};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4352035"/>
            <a:ext cx="237299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1F497D"/>
                </a:solidFill>
                <a:latin typeface="Courier New"/>
                <a:cs typeface="Courier New"/>
              </a:rPr>
              <a:t>String[]</a:t>
            </a:r>
            <a:r>
              <a:rPr sz="2200" b="1" spc="-95" dirty="0">
                <a:solidFill>
                  <a:srgbClr val="1F497D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1F497D"/>
                </a:solidFill>
                <a:latin typeface="Courier New"/>
                <a:cs typeface="Courier New"/>
              </a:rPr>
              <a:t>names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9559" y="4352035"/>
            <a:ext cx="27641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7980" algn="l"/>
                <a:tab pos="1633220" algn="l"/>
              </a:tabLst>
            </a:pPr>
            <a:r>
              <a:rPr sz="2200" b="1" dirty="0">
                <a:solidFill>
                  <a:srgbClr val="1F497D"/>
                </a:solidFill>
                <a:latin typeface="Courier New"/>
                <a:cs typeface="Courier New"/>
              </a:rPr>
              <a:t>=	{</a:t>
            </a:r>
            <a:r>
              <a:rPr sz="2200" b="1" spc="-10" dirty="0">
                <a:solidFill>
                  <a:srgbClr val="275D90"/>
                </a:solidFill>
                <a:latin typeface="MS PGothic"/>
                <a:cs typeface="MS PGothic"/>
              </a:rPr>
              <a:t>“</a:t>
            </a:r>
            <a:r>
              <a:rPr sz="2200" b="1" spc="-10" dirty="0">
                <a:solidFill>
                  <a:srgbClr val="1F497D"/>
                </a:solidFill>
                <a:latin typeface="Courier New"/>
                <a:cs typeface="Courier New"/>
              </a:rPr>
              <a:t>Joe</a:t>
            </a:r>
            <a:r>
              <a:rPr sz="2200" b="1" spc="-10" dirty="0">
                <a:solidFill>
                  <a:srgbClr val="275D90"/>
                </a:solidFill>
                <a:latin typeface="MS PGothic"/>
                <a:cs typeface="MS PGothic"/>
              </a:rPr>
              <a:t>”</a:t>
            </a:r>
            <a:r>
              <a:rPr sz="2200" b="1" spc="-10" dirty="0">
                <a:solidFill>
                  <a:srgbClr val="1F497D"/>
                </a:solidFill>
                <a:latin typeface="Courier New"/>
                <a:cs typeface="Courier New"/>
              </a:rPr>
              <a:t>,	</a:t>
            </a:r>
            <a:r>
              <a:rPr sz="2200" b="1" spc="-10" dirty="0">
                <a:solidFill>
                  <a:srgbClr val="275D90"/>
                </a:solidFill>
                <a:latin typeface="MS PGothic"/>
                <a:cs typeface="MS PGothic"/>
              </a:rPr>
              <a:t>“</a:t>
            </a:r>
            <a:r>
              <a:rPr sz="2200" b="1" spc="-10" dirty="0">
                <a:solidFill>
                  <a:srgbClr val="1F497D"/>
                </a:solidFill>
                <a:latin typeface="Courier New"/>
                <a:cs typeface="Courier New"/>
              </a:rPr>
              <a:t>Sam</a:t>
            </a:r>
            <a:r>
              <a:rPr sz="2200" b="1" spc="-10" dirty="0">
                <a:solidFill>
                  <a:srgbClr val="275D90"/>
                </a:solidFill>
                <a:latin typeface="MS PGothic"/>
                <a:cs typeface="MS PGothic"/>
              </a:rPr>
              <a:t>”</a:t>
            </a:r>
            <a:r>
              <a:rPr sz="2200" b="1" spc="-5" dirty="0">
                <a:solidFill>
                  <a:srgbClr val="1F497D"/>
                </a:solidFill>
                <a:latin typeface="Courier New"/>
                <a:cs typeface="Courier New"/>
              </a:rPr>
              <a:t>};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5107574"/>
            <a:ext cx="8366759" cy="1043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4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If the elements of an array are not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initialized</a:t>
            </a:r>
            <a:endParaRPr sz="2800">
              <a:latin typeface="Arial"/>
              <a:cs typeface="Arial"/>
            </a:endParaRPr>
          </a:p>
          <a:p>
            <a:pPr marL="355600" marR="5080">
              <a:lnSpc>
                <a:spcPts val="2700"/>
              </a:lnSpc>
              <a:spcBef>
                <a:spcPts val="320"/>
              </a:spcBef>
            </a:pPr>
            <a:r>
              <a:rPr sz="2800" spc="-20" dirty="0">
                <a:latin typeface="Arial"/>
                <a:cs typeface="Arial"/>
              </a:rPr>
              <a:t>explicitly, </a:t>
            </a:r>
            <a:r>
              <a:rPr sz="2800" dirty="0">
                <a:latin typeface="Arial"/>
                <a:cs typeface="Arial"/>
              </a:rPr>
              <a:t>they will automatically be initialized to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  default value for their </a:t>
            </a:r>
            <a:r>
              <a:rPr sz="2800" b="1" i="1" spc="-5" dirty="0">
                <a:latin typeface="Arial"/>
                <a:cs typeface="Arial"/>
              </a:rPr>
              <a:t>base</a:t>
            </a:r>
            <a:r>
              <a:rPr sz="2800" b="1" i="1" spc="-85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type</a:t>
            </a:r>
            <a:r>
              <a:rPr sz="2800" spc="-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923" y="656710"/>
            <a:ext cx="8861361" cy="6575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685800"/>
            <a:ext cx="8763000" cy="647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685800"/>
            <a:ext cx="8763000" cy="6477000"/>
          </a:xfrm>
          <a:custGeom>
            <a:avLst/>
            <a:gdLst/>
            <a:ahLst/>
            <a:cxnLst/>
            <a:rect l="l" t="t" r="r" b="b"/>
            <a:pathLst>
              <a:path w="8763000" h="6477000">
                <a:moveTo>
                  <a:pt x="0" y="0"/>
                </a:moveTo>
                <a:lnTo>
                  <a:pt x="8762993" y="0"/>
                </a:lnTo>
                <a:lnTo>
                  <a:pt x="8762993" y="6476995"/>
                </a:lnTo>
                <a:lnTo>
                  <a:pt x="0" y="647699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B92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35544" y="968057"/>
            <a:ext cx="639318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36720" algn="l"/>
              </a:tabLst>
            </a:pPr>
            <a:r>
              <a:rPr sz="4400" dirty="0"/>
              <a:t>An</a:t>
            </a:r>
            <a:r>
              <a:rPr sz="4400" spc="-245" dirty="0"/>
              <a:t> </a:t>
            </a:r>
            <a:r>
              <a:rPr sz="4400" dirty="0"/>
              <a:t>Array</a:t>
            </a:r>
            <a:r>
              <a:rPr sz="4400" spc="-5" dirty="0"/>
              <a:t> </a:t>
            </a:r>
            <a:r>
              <a:rPr sz="4400" dirty="0"/>
              <a:t>Coding	Exercise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993139" y="2123440"/>
            <a:ext cx="7099934" cy="965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Arial"/>
                <a:cs typeface="Arial"/>
              </a:rPr>
              <a:t>Write </a:t>
            </a:r>
            <a:r>
              <a:rPr sz="3200" dirty="0">
                <a:latin typeface="Arial"/>
                <a:cs typeface="Arial"/>
              </a:rPr>
              <a:t>a code </a:t>
            </a:r>
            <a:r>
              <a:rPr sz="3200" spc="-5" dirty="0">
                <a:latin typeface="Arial"/>
                <a:cs typeface="Arial"/>
              </a:rPr>
              <a:t>fragment that finds the  </a:t>
            </a:r>
            <a:r>
              <a:rPr sz="3200" dirty="0">
                <a:latin typeface="Arial"/>
                <a:cs typeface="Arial"/>
              </a:rPr>
              <a:t>smallest value in an array of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integers.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0194" y="579119"/>
            <a:ext cx="542925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/>
              <a:t>Arrays as</a:t>
            </a:r>
            <a:r>
              <a:rPr sz="4400" spc="-65" dirty="0"/>
              <a:t> </a:t>
            </a:r>
            <a:r>
              <a:rPr sz="4400" spc="-5" dirty="0"/>
              <a:t>Parameters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97939" y="1524000"/>
            <a:ext cx="5171440" cy="27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An array may be a method argument.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1146" y="2061464"/>
            <a:ext cx="194627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98500" algn="l"/>
                <a:tab pos="972819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/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/ a	=	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address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1143" y="2620264"/>
            <a:ext cx="1946275" cy="568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0"/>
              </a:lnSpc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// notice</a:t>
            </a:r>
            <a:r>
              <a:rPr sz="18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use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  <a:tabLst>
                <a:tab pos="835660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/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/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o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f	a.length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854" y="2061464"/>
            <a:ext cx="5238750" cy="1407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public void doubleElements(double[]</a:t>
            </a:r>
            <a:r>
              <a:rPr sz="1800" b="1" spc="-1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a)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5660" marR="5080" indent="-274955">
              <a:lnSpc>
                <a:spcPts val="2100"/>
              </a:lnSpc>
              <a:spcBef>
                <a:spcPts val="160"/>
              </a:spcBef>
              <a:tabLst>
                <a:tab pos="1521460" algn="l"/>
                <a:tab pos="1795780" algn="l"/>
                <a:tab pos="2070100" algn="l"/>
                <a:tab pos="2344420" algn="l"/>
                <a:tab pos="3030220" algn="l"/>
                <a:tab pos="3304540" algn="l"/>
                <a:tab pos="4676775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fo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r (int	i	=	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0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; i	&lt;	a.length;	i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++)  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a[i]	=	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a[i]*2;</a:t>
            </a:r>
            <a:endParaRPr sz="1800">
              <a:latin typeface="Courier New"/>
              <a:cs typeface="Courier New"/>
            </a:endParaRPr>
          </a:p>
          <a:p>
            <a:pPr marL="57785">
              <a:lnSpc>
                <a:spcPts val="2140"/>
              </a:lnSpc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7939" y="3712464"/>
            <a:ext cx="6228715" cy="2258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Given arrays of 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double</a:t>
            </a:r>
            <a:r>
              <a:rPr sz="1800" b="1" spc="-69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"/>
                <a:cs typeface="Arial"/>
              </a:rPr>
              <a:t>as follows:</a:t>
            </a:r>
            <a:endParaRPr sz="1800">
              <a:latin typeface="Arial"/>
              <a:cs typeface="Arial"/>
            </a:endParaRPr>
          </a:p>
          <a:p>
            <a:pPr marL="1155700" marR="1223645">
              <a:lnSpc>
                <a:spcPts val="2100"/>
              </a:lnSpc>
              <a:spcBef>
                <a:spcPts val="1360"/>
              </a:spcBef>
              <a:tabLst>
                <a:tab pos="2664460" algn="l"/>
                <a:tab pos="2938780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double[]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 a	=	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18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double[10];  double[]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 b	=	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18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double[30];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the method 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doubleElements</a:t>
            </a:r>
            <a:r>
              <a:rPr sz="1800" b="1" spc="-69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"/>
                <a:cs typeface="Arial"/>
              </a:rPr>
              <a:t>can be invoked as follows:</a:t>
            </a:r>
            <a:endParaRPr sz="1800">
              <a:latin typeface="Arial"/>
              <a:cs typeface="Arial"/>
            </a:endParaRPr>
          </a:p>
          <a:p>
            <a:pPr marL="1167130" marR="2583815">
              <a:lnSpc>
                <a:spcPct val="101899"/>
              </a:lnSpc>
              <a:spcBef>
                <a:spcPts val="1195"/>
              </a:spcBef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doubleElements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(a);  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doubleElements(b);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4608271" y="6899290"/>
            <a:ext cx="6184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z="1200" dirty="0">
                <a:solidFill>
                  <a:srgbClr val="898989"/>
                </a:solidFill>
                <a:latin typeface="Arial"/>
                <a:cs typeface="Arial"/>
              </a:rPr>
              <a:t>reserved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9526" y="891705"/>
            <a:ext cx="5610225" cy="548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11300" algn="l"/>
              </a:tabLst>
            </a:pPr>
            <a:r>
              <a:rPr sz="3600" spc="-5" dirty="0"/>
              <a:t>Pitfall:	</a:t>
            </a:r>
            <a:r>
              <a:rPr sz="3600" dirty="0"/>
              <a:t>Use of </a:t>
            </a:r>
            <a:r>
              <a:rPr sz="3600" b="1" dirty="0">
                <a:latin typeface="Courier New"/>
                <a:cs typeface="Courier New"/>
              </a:rPr>
              <a:t>=</a:t>
            </a:r>
            <a:r>
              <a:rPr sz="3600" b="1" spc="-1450" dirty="0">
                <a:latin typeface="Courier New"/>
                <a:cs typeface="Courier New"/>
              </a:rPr>
              <a:t> </a:t>
            </a:r>
            <a:r>
              <a:rPr sz="3600" spc="-5" dirty="0"/>
              <a:t>with </a:t>
            </a:r>
            <a:r>
              <a:rPr sz="3600" dirty="0"/>
              <a:t>Arrays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42439"/>
            <a:ext cx="7660005" cy="200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340360" indent="-342900">
              <a:lnSpc>
                <a:spcPts val="34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An array variable </a:t>
            </a:r>
            <a:r>
              <a:rPr sz="3200" spc="-5" dirty="0">
                <a:latin typeface="Arial"/>
                <a:cs typeface="Arial"/>
              </a:rPr>
              <a:t>contains the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memory  address </a:t>
            </a:r>
            <a:r>
              <a:rPr sz="3200" dirty="0">
                <a:latin typeface="Arial"/>
                <a:cs typeface="Arial"/>
              </a:rPr>
              <a:t>of </a:t>
            </a:r>
            <a:r>
              <a:rPr sz="3200" spc="-5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array it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names.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ts val="3429"/>
              </a:lnSpc>
              <a:spcBef>
                <a:spcPts val="214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assignment </a:t>
            </a:r>
            <a:r>
              <a:rPr sz="3200" spc="-5" dirty="0">
                <a:latin typeface="Arial"/>
                <a:cs typeface="Arial"/>
              </a:rPr>
              <a:t>operator (</a:t>
            </a:r>
            <a:r>
              <a:rPr sz="3200" b="1" spc="-5" dirty="0">
                <a:solidFill>
                  <a:srgbClr val="034CA1"/>
                </a:solidFill>
                <a:latin typeface="Courier New"/>
                <a:cs typeface="Courier New"/>
              </a:rPr>
              <a:t>=</a:t>
            </a:r>
            <a:r>
              <a:rPr sz="3200" spc="-5" dirty="0">
                <a:latin typeface="Arial"/>
                <a:cs typeface="Arial"/>
              </a:rPr>
              <a:t>) </a:t>
            </a:r>
            <a:r>
              <a:rPr sz="3200" dirty="0">
                <a:latin typeface="Arial"/>
                <a:cs typeface="Arial"/>
              </a:rPr>
              <a:t>only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copies  </a:t>
            </a:r>
            <a:r>
              <a:rPr sz="3200" spc="-5" dirty="0">
                <a:latin typeface="Arial"/>
                <a:cs typeface="Arial"/>
              </a:rPr>
              <a:t>this </a:t>
            </a:r>
            <a:r>
              <a:rPr sz="3200" dirty="0">
                <a:latin typeface="Arial"/>
                <a:cs typeface="Arial"/>
              </a:rPr>
              <a:t>memory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address.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339" y="4177791"/>
            <a:ext cx="4781550" cy="1376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58620" algn="l"/>
                <a:tab pos="2024380" algn="l"/>
              </a:tabLst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int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a[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 ]	=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{1, 2,</a:t>
            </a:r>
            <a:r>
              <a:rPr sz="24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3};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1658620" algn="l"/>
                <a:tab pos="2024380" algn="l"/>
              </a:tabLst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int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b[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 ]	=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24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int[3];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  <a:tabLst>
                <a:tab pos="378460" algn="l"/>
                <a:tab pos="744220" algn="l"/>
                <a:tab pos="1475740" algn="l"/>
                <a:tab pos="2390140" algn="l"/>
                <a:tab pos="3487420" algn="l"/>
              </a:tabLst>
            </a:pP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b	=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a;	//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 b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and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 a	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are</a:t>
            </a:r>
            <a:r>
              <a:rPr sz="24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now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8923" y="5155692"/>
            <a:ext cx="16719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names</a:t>
            </a:r>
            <a:r>
              <a:rPr sz="24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for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6271" y="5562092"/>
            <a:ext cx="31349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// the same</a:t>
            </a:r>
            <a:r>
              <a:rPr sz="2400" b="1" spc="-7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34CA1"/>
                </a:solidFill>
                <a:latin typeface="Courier New"/>
                <a:cs typeface="Courier New"/>
              </a:rPr>
              <a:t>array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4821" y="6705282"/>
            <a:ext cx="3605529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98989"/>
                </a:solidFill>
                <a:latin typeface="Arial"/>
                <a:cs typeface="Arial"/>
              </a:rPr>
              <a:t>Copyright © 2008 Pearson </a:t>
            </a:r>
            <a:r>
              <a:rPr sz="1200" spc="-10" dirty="0">
                <a:solidFill>
                  <a:srgbClr val="898989"/>
                </a:solidFill>
                <a:latin typeface="Arial"/>
                <a:cs typeface="Arial"/>
              </a:rPr>
              <a:t>Addison-Wesley. </a:t>
            </a:r>
            <a:r>
              <a:rPr sz="1200" dirty="0">
                <a:solidFill>
                  <a:srgbClr val="898989"/>
                </a:solidFill>
                <a:latin typeface="Arial"/>
                <a:cs typeface="Arial"/>
              </a:rPr>
              <a:t>All</a:t>
            </a:r>
            <a:r>
              <a:rPr sz="1200" spc="-19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898989"/>
                </a:solidFill>
                <a:latin typeface="Arial"/>
                <a:cs typeface="Arial"/>
              </a:rPr>
              <a:t>rights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9526" y="891705"/>
            <a:ext cx="5610225" cy="591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11300" algn="l"/>
              </a:tabLst>
            </a:pPr>
            <a:r>
              <a:rPr sz="3600" spc="-5" dirty="0"/>
              <a:t>Pitfall:	</a:t>
            </a:r>
            <a:r>
              <a:rPr sz="3600" dirty="0"/>
              <a:t>Use of </a:t>
            </a:r>
            <a:r>
              <a:rPr sz="3600" b="1" dirty="0">
                <a:latin typeface="Courier New"/>
                <a:cs typeface="Courier New"/>
              </a:rPr>
              <a:t>=</a:t>
            </a:r>
            <a:r>
              <a:rPr sz="3600" b="1" spc="-1450" dirty="0">
                <a:latin typeface="Courier New"/>
                <a:cs typeface="Courier New"/>
              </a:rPr>
              <a:t> </a:t>
            </a:r>
            <a:r>
              <a:rPr sz="3600" spc="-5" dirty="0"/>
              <a:t>with </a:t>
            </a:r>
            <a:r>
              <a:rPr sz="3600" dirty="0"/>
              <a:t>Arrays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55175"/>
            <a:ext cx="7920990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997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 </a:t>
            </a:r>
            <a:r>
              <a:rPr sz="2800" b="1" dirty="0">
                <a:solidFill>
                  <a:srgbClr val="034CA1"/>
                </a:solidFill>
                <a:latin typeface="Courier New"/>
                <a:cs typeface="Courier New"/>
              </a:rPr>
              <a:t>for</a:t>
            </a:r>
            <a:r>
              <a:rPr sz="2800" b="1" spc="-112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Arial"/>
                <a:cs typeface="Arial"/>
              </a:rPr>
              <a:t>loop is usually used to make two </a:t>
            </a:r>
            <a:r>
              <a:rPr sz="2800" spc="-10" dirty="0">
                <a:latin typeface="Arial"/>
                <a:cs typeface="Arial"/>
              </a:rPr>
              <a:t>different  </a:t>
            </a:r>
            <a:r>
              <a:rPr sz="2800" dirty="0">
                <a:latin typeface="Arial"/>
                <a:cs typeface="Arial"/>
              </a:rPr>
              <a:t>arrays have the same values in each indexed  position.</a:t>
            </a:r>
            <a:endParaRPr sz="2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83614" y="3466357"/>
          <a:ext cx="7040684" cy="133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R="3873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i;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R="38735" algn="ctr">
                        <a:lnSpc>
                          <a:spcPts val="208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208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a[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18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tabLst>
                          <a:tab pos="273685" algn="l"/>
                        </a:tabLst>
                      </a:pPr>
                      <a:r>
                        <a:rPr sz="18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=	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{1,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8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2,</a:t>
                      </a:r>
                      <a:r>
                        <a:rPr sz="1800" b="1" spc="-9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3};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R="38735" algn="ctr">
                        <a:lnSpc>
                          <a:spcPts val="208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208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b[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18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tabLst>
                          <a:tab pos="273685" algn="l"/>
                        </a:tabLst>
                      </a:pPr>
                      <a:r>
                        <a:rPr sz="18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=	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8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int[3];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R="38735" algn="ctr">
                        <a:lnSpc>
                          <a:spcPts val="203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203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(i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5"/>
                        </a:lnSpc>
                      </a:pPr>
                      <a:r>
                        <a:rPr sz="18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5"/>
                        </a:lnSpc>
                      </a:pP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0;</a:t>
                      </a:r>
                      <a:r>
                        <a:rPr sz="1800" b="1" spc="-9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(i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35"/>
                        </a:lnSpc>
                        <a:tabLst>
                          <a:tab pos="342900" algn="l"/>
                          <a:tab pos="1851660" algn="l"/>
                          <a:tab pos="2948940" algn="l"/>
                        </a:tabLst>
                      </a:pPr>
                      <a:r>
                        <a:rPr sz="18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&lt;	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a.length)	&amp;&amp;</a:t>
                      </a:r>
                      <a:r>
                        <a:rPr sz="18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(i</a:t>
                      </a:r>
                      <a:r>
                        <a:rPr sz="1800" b="1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 &lt;	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b.length);</a:t>
                      </a:r>
                      <a:r>
                        <a:rPr sz="1800" b="1" spc="-9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34CA1"/>
                          </a:solidFill>
                          <a:latin typeface="Courier New"/>
                          <a:cs typeface="Courier New"/>
                        </a:rPr>
                        <a:t>i++)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93139" y="4777358"/>
            <a:ext cx="7068184" cy="1296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4180">
              <a:lnSpc>
                <a:spcPct val="100000"/>
              </a:lnSpc>
              <a:tabLst>
                <a:tab pos="1384300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b[i]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a[i];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imes New Roman"/>
              <a:cs typeface="Times New Roman"/>
            </a:endParaRPr>
          </a:p>
          <a:p>
            <a:pPr marL="292100" marR="5080" indent="-279400">
              <a:lnSpc>
                <a:spcPts val="2820"/>
              </a:lnSpc>
            </a:pPr>
            <a:r>
              <a:rPr sz="2400" dirty="0">
                <a:latin typeface="Arial"/>
                <a:cs typeface="Arial"/>
              </a:rPr>
              <a:t>– Note that the above code will not make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b</a:t>
            </a:r>
            <a:r>
              <a:rPr sz="2400" b="1" spc="-64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an exact  copy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a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unless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a</a:t>
            </a:r>
            <a:r>
              <a:rPr sz="2400" b="1" spc="-7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b</a:t>
            </a:r>
            <a:r>
              <a:rPr sz="2400" b="1" spc="-7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same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length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2344" y="891705"/>
            <a:ext cx="5884545" cy="548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11300" algn="l"/>
              </a:tabLst>
            </a:pPr>
            <a:r>
              <a:rPr sz="3600" spc="-5" dirty="0"/>
              <a:t>Pitfall:	</a:t>
            </a:r>
            <a:r>
              <a:rPr sz="3600" dirty="0"/>
              <a:t>Use of </a:t>
            </a:r>
            <a:r>
              <a:rPr sz="3600" b="1" dirty="0">
                <a:latin typeface="Courier New"/>
                <a:cs typeface="Courier New"/>
              </a:rPr>
              <a:t>==</a:t>
            </a:r>
            <a:r>
              <a:rPr sz="3600" b="1" spc="-1450" dirty="0">
                <a:latin typeface="Courier New"/>
                <a:cs typeface="Courier New"/>
              </a:rPr>
              <a:t> </a:t>
            </a:r>
            <a:r>
              <a:rPr sz="3600" spc="-5" dirty="0"/>
              <a:t>with </a:t>
            </a:r>
            <a:r>
              <a:rPr sz="3600" dirty="0"/>
              <a:t>Arrays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813559"/>
            <a:ext cx="7831455" cy="261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3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equality operator </a:t>
            </a:r>
            <a:r>
              <a:rPr sz="2800" b="1" dirty="0">
                <a:solidFill>
                  <a:srgbClr val="034CA1"/>
                </a:solidFill>
                <a:latin typeface="Arial"/>
                <a:cs typeface="Arial"/>
              </a:rPr>
              <a:t>(</a:t>
            </a:r>
            <a:r>
              <a:rPr sz="2800" b="1" dirty="0">
                <a:solidFill>
                  <a:srgbClr val="034CA1"/>
                </a:solidFill>
                <a:latin typeface="Courier New"/>
                <a:cs typeface="Courier New"/>
              </a:rPr>
              <a:t>==</a:t>
            </a:r>
            <a:r>
              <a:rPr sz="2800" b="1" dirty="0">
                <a:solidFill>
                  <a:srgbClr val="034CA1"/>
                </a:solidFill>
                <a:latin typeface="Arial"/>
                <a:cs typeface="Arial"/>
              </a:rPr>
              <a:t>) </a:t>
            </a:r>
            <a:r>
              <a:rPr sz="2800" dirty="0">
                <a:latin typeface="Arial"/>
                <a:cs typeface="Arial"/>
              </a:rPr>
              <a:t>only tests two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  to see if they are stored in the same </a:t>
            </a:r>
            <a:r>
              <a:rPr sz="2800" i="1" dirty="0">
                <a:latin typeface="Arial"/>
                <a:cs typeface="Arial"/>
              </a:rPr>
              <a:t>memory  </a:t>
            </a:r>
            <a:r>
              <a:rPr sz="2800" i="1" spc="-5" dirty="0">
                <a:latin typeface="Arial"/>
                <a:cs typeface="Arial"/>
              </a:rPr>
              <a:t>location</a:t>
            </a:r>
            <a:r>
              <a:rPr sz="2800" spc="-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321945" algn="ctr">
              <a:lnSpc>
                <a:spcPct val="100000"/>
              </a:lnSpc>
              <a:spcBef>
                <a:spcPts val="270"/>
              </a:spcBef>
            </a:pPr>
            <a:r>
              <a:rPr sz="2800" b="1" spc="-5" dirty="0">
                <a:solidFill>
                  <a:srgbClr val="034CA1"/>
                </a:solidFill>
                <a:latin typeface="Courier New"/>
                <a:cs typeface="Courier New"/>
              </a:rPr>
              <a:t>(a ==</a:t>
            </a:r>
            <a:r>
              <a:rPr sz="28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034CA1"/>
                </a:solidFill>
                <a:latin typeface="Courier New"/>
                <a:cs typeface="Courier New"/>
              </a:rPr>
              <a:t>b)</a:t>
            </a:r>
            <a:endParaRPr sz="2800">
              <a:latin typeface="Courier New"/>
              <a:cs typeface="Courier New"/>
            </a:endParaRPr>
          </a:p>
          <a:p>
            <a:pPr marL="927100" marR="919480">
              <a:lnSpc>
                <a:spcPct val="111100"/>
              </a:lnSpc>
              <a:spcBef>
                <a:spcPts val="1565"/>
              </a:spcBef>
            </a:pPr>
            <a:r>
              <a:rPr sz="2400" dirty="0">
                <a:latin typeface="Arial"/>
                <a:cs typeface="Arial"/>
              </a:rPr>
              <a:t>is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true</a:t>
            </a:r>
            <a:r>
              <a:rPr sz="2400" b="1" spc="-7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latin typeface="Arial"/>
                <a:cs typeface="Arial"/>
              </a:rPr>
              <a:t>if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a</a:t>
            </a:r>
            <a:r>
              <a:rPr sz="2400" b="1" spc="-7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b</a:t>
            </a:r>
            <a:r>
              <a:rPr sz="2400" b="1" spc="-7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reference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same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array</a:t>
            </a:r>
            <a:r>
              <a:rPr sz="2400" spc="-5" dirty="0">
                <a:latin typeface="Arial"/>
                <a:cs typeface="Arial"/>
              </a:rPr>
              <a:t>.  </a:t>
            </a:r>
            <a:r>
              <a:rPr sz="2400" dirty="0">
                <a:latin typeface="Arial"/>
                <a:cs typeface="Arial"/>
              </a:rPr>
              <a:t>Otherwise, it is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false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667504"/>
            <a:ext cx="3348354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  <a:tab pos="988060" algn="l"/>
              </a:tabLst>
            </a:pPr>
            <a:r>
              <a:rPr sz="2800" dirty="0">
                <a:latin typeface="Arial"/>
                <a:cs typeface="Arial"/>
              </a:rPr>
              <a:t>An	</a:t>
            </a:r>
            <a:r>
              <a:rPr sz="2800" b="1" spc="-5" dirty="0">
                <a:solidFill>
                  <a:srgbClr val="034CA1"/>
                </a:solidFill>
                <a:latin typeface="Courier New"/>
                <a:cs typeface="Courier New"/>
              </a:rPr>
              <a:t>equalsArray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2115" y="4667504"/>
            <a:ext cx="403923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method can be defined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5052059"/>
            <a:ext cx="7710805" cy="1333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test arrays for </a:t>
            </a:r>
            <a:r>
              <a:rPr sz="2800" i="1" dirty="0">
                <a:latin typeface="Arial"/>
                <a:cs typeface="Arial"/>
              </a:rPr>
              <a:t>value</a:t>
            </a:r>
            <a:r>
              <a:rPr sz="2800" i="1" spc="-6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equality</a:t>
            </a:r>
            <a:r>
              <a:rPr sz="2800" spc="-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406400" marR="5080" indent="-279400">
              <a:lnSpc>
                <a:spcPts val="2520"/>
              </a:lnSpc>
              <a:spcBef>
                <a:spcPts val="2039"/>
              </a:spcBef>
            </a:pPr>
            <a:r>
              <a:rPr sz="2400" dirty="0">
                <a:latin typeface="Arial"/>
                <a:cs typeface="Arial"/>
              </a:rPr>
              <a:t>– The following method tests two integer arrays to see if  they contain the same integer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467" y="830745"/>
            <a:ext cx="7646670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03680" algn="l"/>
                <a:tab pos="5645150" algn="l"/>
              </a:tabLst>
            </a:pPr>
            <a:r>
              <a:rPr sz="4400" dirty="0"/>
              <a:t>Code	</a:t>
            </a:r>
            <a:r>
              <a:rPr sz="4400" spc="-5" dirty="0"/>
              <a:t>to </a:t>
            </a:r>
            <a:r>
              <a:rPr sz="4400" spc="-125" dirty="0"/>
              <a:t>Test</a:t>
            </a:r>
            <a:r>
              <a:rPr sz="4400" spc="-60" dirty="0"/>
              <a:t> </a:t>
            </a:r>
            <a:r>
              <a:rPr sz="4400" spc="-5" dirty="0"/>
              <a:t>for</a:t>
            </a:r>
            <a:r>
              <a:rPr sz="4400" spc="5" dirty="0"/>
              <a:t> </a:t>
            </a:r>
            <a:r>
              <a:rPr sz="4400" spc="-70" dirty="0"/>
              <a:t>Value	</a:t>
            </a:r>
            <a:r>
              <a:rPr sz="4400" spc="-5" dirty="0"/>
              <a:t>Equality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602739" y="1882140"/>
            <a:ext cx="6061710" cy="424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45"/>
              </a:lnSpc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public boolean equalsArray(int[] a, int[]</a:t>
            </a:r>
            <a:r>
              <a:rPr sz="1800" b="1" spc="-5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b)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14"/>
              </a:lnSpc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ts val="1950"/>
              </a:lnSpc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if (a.length ==</a:t>
            </a:r>
            <a:r>
              <a:rPr sz="1800" b="1" spc="-7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b.length)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ts val="1950"/>
              </a:lnSpc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92759">
              <a:lnSpc>
                <a:spcPts val="1900"/>
              </a:lnSpc>
              <a:tabLst>
                <a:tab pos="1315720" algn="l"/>
                <a:tab pos="1590040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int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 i	=	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0;</a:t>
            </a:r>
            <a:endParaRPr sz="1800">
              <a:latin typeface="Courier New"/>
              <a:cs typeface="Courier New"/>
            </a:endParaRPr>
          </a:p>
          <a:p>
            <a:pPr marL="492759">
              <a:lnSpc>
                <a:spcPts val="1950"/>
              </a:lnSpc>
              <a:tabLst>
                <a:tab pos="3784600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boolean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elementsMatch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true;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ts val="1950"/>
              </a:lnSpc>
              <a:tabLst>
                <a:tab pos="2070100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while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(i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 &lt;	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a.length &amp;&amp;</a:t>
            </a:r>
            <a:r>
              <a:rPr sz="18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elementsMatch)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ts val="1950"/>
              </a:lnSpc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109980" marR="1925320" indent="-274955">
              <a:lnSpc>
                <a:spcPts val="1900"/>
              </a:lnSpc>
              <a:spcBef>
                <a:spcPts val="200"/>
              </a:spcBef>
              <a:tabLst>
                <a:tab pos="3304540" algn="l"/>
              </a:tabLst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if (a[i] != b[i])  elementsMatc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h =	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false;</a:t>
            </a:r>
            <a:endParaRPr sz="1800">
              <a:latin typeface="Courier New"/>
              <a:cs typeface="Courier New"/>
            </a:endParaRPr>
          </a:p>
          <a:p>
            <a:pPr marL="835660">
              <a:lnSpc>
                <a:spcPts val="1850"/>
              </a:lnSpc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i++;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ts val="1900"/>
              </a:lnSpc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629920">
              <a:lnSpc>
                <a:spcPts val="1950"/>
              </a:lnSpc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return</a:t>
            </a:r>
            <a:r>
              <a:rPr sz="18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elementsMatch;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ts val="1950"/>
              </a:lnSpc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R="4793615" algn="ctr">
              <a:lnSpc>
                <a:spcPts val="1950"/>
              </a:lnSpc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else</a:t>
            </a:r>
            <a:endParaRPr sz="1800">
              <a:latin typeface="Courier New"/>
              <a:cs typeface="Courier New"/>
            </a:endParaRPr>
          </a:p>
          <a:p>
            <a:pPr marL="629920">
              <a:lnSpc>
                <a:spcPts val="1950"/>
              </a:lnSpc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return</a:t>
            </a:r>
            <a:r>
              <a:rPr sz="18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false;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4398" y="968057"/>
            <a:ext cx="763524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727700" algn="l"/>
              </a:tabLst>
            </a:pPr>
            <a:r>
              <a:rPr sz="4400" spc="-5" dirty="0"/>
              <a:t>Strings </a:t>
            </a:r>
            <a:r>
              <a:rPr sz="4400" dirty="0"/>
              <a:t>and</a:t>
            </a:r>
            <a:r>
              <a:rPr sz="4400" spc="-229" dirty="0"/>
              <a:t> </a:t>
            </a:r>
            <a:r>
              <a:rPr sz="4400" dirty="0"/>
              <a:t>Arrays</a:t>
            </a:r>
            <a:r>
              <a:rPr sz="4400" spc="-240" dirty="0"/>
              <a:t> </a:t>
            </a:r>
            <a:r>
              <a:rPr sz="4400" dirty="0"/>
              <a:t>Are	</a:t>
            </a:r>
            <a:r>
              <a:rPr sz="4400" spc="-5" dirty="0"/>
              <a:t>Objects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3139" y="2123440"/>
            <a:ext cx="7962900" cy="332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6835" indent="-342900">
              <a:lnSpc>
                <a:spcPts val="38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405" dirty="0" err="1">
                <a:latin typeface="Arial"/>
                <a:cs typeface="Arial"/>
              </a:rPr>
              <a:t>It</a:t>
            </a:r>
            <a:r>
              <a:rPr sz="3200" spc="-405" dirty="0" err="1">
                <a:latin typeface="MS PGothic"/>
                <a:cs typeface="MS PGothic"/>
              </a:rPr>
              <a:t>ʼ</a:t>
            </a:r>
            <a:r>
              <a:rPr sz="3200" spc="-405" dirty="0" err="1">
                <a:latin typeface="Arial"/>
                <a:cs typeface="Arial"/>
              </a:rPr>
              <a:t>s</a:t>
            </a:r>
            <a:r>
              <a:rPr sz="3200" spc="-405" dirty="0">
                <a:latin typeface="Arial"/>
                <a:cs typeface="Arial"/>
              </a:rPr>
              <a:t> </a:t>
            </a:r>
            <a:r>
              <a:rPr lang="en-US" sz="3200" spc="-405" dirty="0">
                <a:latin typeface="Arial"/>
                <a:cs typeface="Arial"/>
              </a:rPr>
              <a:t>  </a:t>
            </a:r>
            <a:r>
              <a:rPr sz="3200" spc="-5" dirty="0">
                <a:latin typeface="Arial"/>
                <a:cs typeface="Arial"/>
              </a:rPr>
              <a:t>important to </a:t>
            </a:r>
            <a:r>
              <a:rPr sz="3200" dirty="0">
                <a:latin typeface="Arial"/>
                <a:cs typeface="Arial"/>
              </a:rPr>
              <a:t>keep in mind </a:t>
            </a:r>
            <a:r>
              <a:rPr sz="3200" spc="-5" dirty="0">
                <a:latin typeface="Arial"/>
                <a:cs typeface="Arial"/>
              </a:rPr>
              <a:t>that despite  syntactic shortcuts (e.g., </a:t>
            </a:r>
            <a:r>
              <a:rPr sz="3200" spc="-5" dirty="0">
                <a:latin typeface="MS PGothic"/>
                <a:cs typeface="MS PGothic"/>
              </a:rPr>
              <a:t>“</a:t>
            </a:r>
            <a:r>
              <a:rPr sz="3200" spc="-5" dirty="0">
                <a:latin typeface="Arial"/>
                <a:cs typeface="Arial"/>
              </a:rPr>
              <a:t>hello</a:t>
            </a:r>
            <a:r>
              <a:rPr sz="3200" spc="-5" dirty="0">
                <a:latin typeface="MS PGothic"/>
                <a:cs typeface="MS PGothic"/>
              </a:rPr>
              <a:t>” </a:t>
            </a:r>
            <a:r>
              <a:rPr sz="3200" dirty="0">
                <a:latin typeface="Arial"/>
                <a:cs typeface="Arial"/>
              </a:rPr>
              <a:t>+ </a:t>
            </a:r>
            <a:r>
              <a:rPr sz="3200" spc="-5" dirty="0">
                <a:latin typeface="MS PGothic"/>
                <a:cs typeface="MS PGothic"/>
              </a:rPr>
              <a:t>“</a:t>
            </a:r>
            <a:r>
              <a:rPr sz="3200" spc="-5" dirty="0">
                <a:latin typeface="Arial"/>
                <a:cs typeface="Arial"/>
              </a:rPr>
              <a:t>bye</a:t>
            </a:r>
            <a:r>
              <a:rPr sz="3200" spc="-5" dirty="0">
                <a:latin typeface="MS PGothic"/>
                <a:cs typeface="MS PGothic"/>
              </a:rPr>
              <a:t>”</a:t>
            </a:r>
            <a:r>
              <a:rPr sz="3200" spc="-5" dirty="0">
                <a:latin typeface="Arial"/>
                <a:cs typeface="Arial"/>
              </a:rPr>
              <a:t>,  foo[x]), strings </a:t>
            </a:r>
            <a:r>
              <a:rPr sz="3200" dirty="0">
                <a:latin typeface="Arial"/>
                <a:cs typeface="Arial"/>
              </a:rPr>
              <a:t>and arrays </a:t>
            </a:r>
            <a:r>
              <a:rPr sz="3200" i="1" dirty="0">
                <a:latin typeface="Arial"/>
                <a:cs typeface="Arial"/>
              </a:rPr>
              <a:t>are</a:t>
            </a:r>
            <a:r>
              <a:rPr sz="3200" i="1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objects</a:t>
            </a:r>
            <a:endParaRPr sz="3200" dirty="0">
              <a:latin typeface="Arial"/>
              <a:cs typeface="Arial"/>
            </a:endParaRPr>
          </a:p>
          <a:p>
            <a:pPr marL="749300" lvl="1" indent="-279400">
              <a:lnSpc>
                <a:spcPct val="100000"/>
              </a:lnSpc>
              <a:spcBef>
                <a:spcPts val="61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They </a:t>
            </a:r>
            <a:r>
              <a:rPr sz="2800" dirty="0">
                <a:latin typeface="Arial"/>
                <a:cs typeface="Arial"/>
              </a:rPr>
              <a:t>have real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methods</a:t>
            </a:r>
          </a:p>
          <a:p>
            <a:pPr marL="749300" marR="5080" lvl="1" indent="-279400">
              <a:lnSpc>
                <a:spcPts val="3329"/>
              </a:lnSpc>
              <a:spcBef>
                <a:spcPts val="7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They </a:t>
            </a:r>
            <a:r>
              <a:rPr sz="2800" dirty="0">
                <a:latin typeface="Arial"/>
                <a:cs typeface="Arial"/>
              </a:rPr>
              <a:t>have constructors, which must be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called  to create new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instances.</a:t>
            </a:r>
          </a:p>
          <a:p>
            <a:pPr marL="1155700" lvl="2" indent="-228600">
              <a:lnSpc>
                <a:spcPct val="100000"/>
              </a:lnSpc>
              <a:spcBef>
                <a:spcPts val="509"/>
              </a:spcBef>
              <a:buChar char="•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Otherwise, you just have null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references.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6633" y="2987357"/>
            <a:ext cx="4390390" cy="69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Exception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Handling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017" rIns="0" bIns="0" rtlCol="0">
            <a:spAutoFit/>
          </a:bodyPr>
          <a:lstStyle/>
          <a:p>
            <a:pPr marL="3218815">
              <a:lnSpc>
                <a:spcPct val="100000"/>
              </a:lnSpc>
            </a:pPr>
            <a:r>
              <a:rPr sz="4400" spc="-10" dirty="0">
                <a:latin typeface="Calibri"/>
                <a:cs typeface="Calibri"/>
              </a:rPr>
              <a:t>Exceptions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2103120"/>
            <a:ext cx="7535545" cy="396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Terminology:</a:t>
            </a:r>
            <a:endParaRPr sz="3200">
              <a:latin typeface="Calibri"/>
              <a:cs typeface="Calibri"/>
            </a:endParaRPr>
          </a:p>
          <a:p>
            <a:pPr marL="749300" marR="5080" lvl="1" indent="-279400">
              <a:lnSpc>
                <a:spcPts val="3329"/>
              </a:lnSpc>
              <a:spcBef>
                <a:spcPts val="765"/>
              </a:spcBef>
              <a:buFont typeface="Arial"/>
              <a:buChar char="–"/>
              <a:tabLst>
                <a:tab pos="755650" algn="l"/>
              </a:tabLst>
            </a:pPr>
            <a:r>
              <a:rPr sz="2800" i="1" dirty="0">
                <a:latin typeface="Calibri"/>
                <a:cs typeface="Calibri"/>
              </a:rPr>
              <a:t>throw an </a:t>
            </a:r>
            <a:r>
              <a:rPr sz="2800" i="1" spc="-5" dirty="0">
                <a:latin typeface="Calibri"/>
                <a:cs typeface="Calibri"/>
              </a:rPr>
              <a:t>exception</a:t>
            </a:r>
            <a:r>
              <a:rPr sz="2800" spc="-5" dirty="0">
                <a:latin typeface="Calibri"/>
                <a:cs typeface="Calibri"/>
              </a:rPr>
              <a:t>: </a:t>
            </a:r>
            <a:r>
              <a:rPr sz="2800" dirty="0">
                <a:latin typeface="Calibri"/>
                <a:cs typeface="Calibri"/>
              </a:rPr>
              <a:t>signal that </a:t>
            </a:r>
            <a:r>
              <a:rPr sz="2800" spc="-5" dirty="0">
                <a:latin typeface="Calibri"/>
                <a:cs typeface="Calibri"/>
              </a:rPr>
              <a:t>some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condition  (possibly </a:t>
            </a:r>
            <a:r>
              <a:rPr sz="2800" dirty="0">
                <a:latin typeface="Calibri"/>
                <a:cs typeface="Calibri"/>
              </a:rPr>
              <a:t>an </a:t>
            </a:r>
            <a:r>
              <a:rPr sz="2800" spc="-5" dirty="0">
                <a:latin typeface="Calibri"/>
                <a:cs typeface="Calibri"/>
              </a:rPr>
              <a:t>error)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occurred.</a:t>
            </a:r>
            <a:endParaRPr sz="2800">
              <a:latin typeface="Calibri"/>
              <a:cs typeface="Calibri"/>
            </a:endParaRPr>
          </a:p>
          <a:p>
            <a:pPr marL="749300" marR="683895" lvl="1" indent="-279400">
              <a:lnSpc>
                <a:spcPts val="3329"/>
              </a:lnSpc>
              <a:spcBef>
                <a:spcPts val="740"/>
              </a:spcBef>
              <a:buFont typeface="Arial"/>
              <a:buChar char="–"/>
              <a:tabLst>
                <a:tab pos="755650" algn="l"/>
              </a:tabLst>
            </a:pPr>
            <a:r>
              <a:rPr sz="2800" i="1" dirty="0">
                <a:latin typeface="Calibri"/>
                <a:cs typeface="Calibri"/>
              </a:rPr>
              <a:t>catch an </a:t>
            </a:r>
            <a:r>
              <a:rPr sz="2800" i="1" spc="-5" dirty="0">
                <a:latin typeface="Calibri"/>
                <a:cs typeface="Calibri"/>
              </a:rPr>
              <a:t>exception</a:t>
            </a:r>
            <a:r>
              <a:rPr sz="2800" spc="-5" dirty="0">
                <a:latin typeface="Calibri"/>
                <a:cs typeface="Calibri"/>
              </a:rPr>
              <a:t>: </a:t>
            </a:r>
            <a:r>
              <a:rPr sz="2800" dirty="0">
                <a:latin typeface="Calibri"/>
                <a:cs typeface="Calibri"/>
              </a:rPr>
              <a:t>deal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error (or  whatever).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–"/>
            </a:pPr>
            <a:endParaRPr sz="4050">
              <a:latin typeface="Times New Roman"/>
              <a:cs typeface="Times New Roman"/>
            </a:endParaRPr>
          </a:p>
          <a:p>
            <a:pPr marL="355600" marR="66548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 </a:t>
            </a:r>
            <a:r>
              <a:rPr sz="3200" spc="-5" dirty="0">
                <a:latin typeface="Calibri"/>
                <a:cs typeface="Calibri"/>
              </a:rPr>
              <a:t>Java, exception </a:t>
            </a:r>
            <a:r>
              <a:rPr sz="3200" dirty="0">
                <a:latin typeface="Calibri"/>
                <a:cs typeface="Calibri"/>
              </a:rPr>
              <a:t>handling is </a:t>
            </a:r>
            <a:r>
              <a:rPr sz="3200" spc="-5" dirty="0">
                <a:latin typeface="Calibri"/>
                <a:cs typeface="Calibri"/>
              </a:rPr>
              <a:t>necessary  (forced </a:t>
            </a:r>
            <a:r>
              <a:rPr sz="3200" dirty="0">
                <a:latin typeface="Calibri"/>
                <a:cs typeface="Calibri"/>
              </a:rPr>
              <a:t>by the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compiler)!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4022" y="1074420"/>
            <a:ext cx="3916045" cy="69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Try/Catch/Finally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838959"/>
            <a:ext cx="1862455" cy="929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66140" algn="l"/>
              </a:tabLst>
            </a:pPr>
            <a:r>
              <a:rPr sz="2800" b="1" dirty="0">
                <a:solidFill>
                  <a:srgbClr val="1F497D"/>
                </a:solidFill>
                <a:latin typeface="Courier New"/>
                <a:cs typeface="Courier New"/>
              </a:rPr>
              <a:t>try	</a:t>
            </a:r>
            <a:r>
              <a:rPr sz="2800" b="1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310"/>
              </a:spcBef>
            </a:pPr>
            <a:r>
              <a:rPr sz="2800" b="1" spc="-5" dirty="0">
                <a:latin typeface="Courier New"/>
                <a:cs typeface="Courier New"/>
              </a:rPr>
              <a:t>//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code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7004" y="2305303"/>
            <a:ext cx="301307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that can</a:t>
            </a:r>
            <a:r>
              <a:rPr sz="2800" b="1" spc="-8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throw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775203"/>
            <a:ext cx="151955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9420" algn="l"/>
              </a:tabLst>
            </a:pPr>
            <a:r>
              <a:rPr sz="2800" b="1" dirty="0">
                <a:latin typeface="Courier New"/>
                <a:cs typeface="Courier New"/>
              </a:rPr>
              <a:t>}	</a:t>
            </a:r>
            <a:r>
              <a:rPr sz="2800" b="1" dirty="0">
                <a:solidFill>
                  <a:srgbClr val="1F497D"/>
                </a:solidFill>
                <a:latin typeface="Courier New"/>
                <a:cs typeface="Courier New"/>
              </a:rPr>
              <a:t>catch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4096" y="2775203"/>
            <a:ext cx="322580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(ExceptionType1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245103"/>
            <a:ext cx="4933950" cy="932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942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// code to handle</a:t>
            </a:r>
            <a:r>
              <a:rPr sz="2800" b="1" spc="-6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the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439420" algn="l"/>
                <a:tab pos="1719580" algn="l"/>
              </a:tabLst>
            </a:pPr>
            <a:r>
              <a:rPr sz="2800" b="1" dirty="0">
                <a:latin typeface="Courier New"/>
                <a:cs typeface="Courier New"/>
              </a:rPr>
              <a:t>}	</a:t>
            </a:r>
            <a:r>
              <a:rPr sz="2800" b="1" dirty="0">
                <a:solidFill>
                  <a:srgbClr val="1F497D"/>
                </a:solidFill>
                <a:latin typeface="Courier New"/>
                <a:cs typeface="Courier New"/>
              </a:rPr>
              <a:t>catch	</a:t>
            </a:r>
            <a:r>
              <a:rPr sz="2800" b="1" spc="-5" dirty="0">
                <a:latin typeface="Courier New"/>
                <a:cs typeface="Courier New"/>
              </a:rPr>
              <a:t>(ExceptionType2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8425" y="2262205"/>
            <a:ext cx="2715895" cy="1915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28905">
              <a:lnSpc>
                <a:spcPct val="110100"/>
              </a:lnSpc>
            </a:pPr>
            <a:r>
              <a:rPr sz="2800" b="1" spc="-5" dirty="0">
                <a:latin typeface="Courier New"/>
                <a:cs typeface="Courier New"/>
              </a:rPr>
              <a:t>an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exception  e1)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12700" marR="774700">
              <a:lnSpc>
                <a:spcPct val="110100"/>
              </a:lnSpc>
            </a:pPr>
            <a:r>
              <a:rPr sz="2800" b="1" spc="-5" dirty="0">
                <a:latin typeface="Courier New"/>
                <a:cs typeface="Courier New"/>
              </a:rPr>
              <a:t>exception  e2)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335" y="4184904"/>
            <a:ext cx="3653154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// code to</a:t>
            </a:r>
            <a:r>
              <a:rPr sz="2800" b="1" spc="-7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handle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4654804"/>
            <a:ext cx="386651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9420" algn="l"/>
                <a:tab pos="1719580" algn="l"/>
              </a:tabLst>
            </a:pPr>
            <a:r>
              <a:rPr sz="2800" b="1" dirty="0">
                <a:latin typeface="Courier New"/>
                <a:cs typeface="Courier New"/>
              </a:rPr>
              <a:t>}	</a:t>
            </a:r>
            <a:r>
              <a:rPr sz="2800" b="1" dirty="0">
                <a:solidFill>
                  <a:srgbClr val="1F497D"/>
                </a:solidFill>
                <a:latin typeface="Courier New"/>
                <a:cs typeface="Courier New"/>
              </a:rPr>
              <a:t>catch	</a:t>
            </a:r>
            <a:r>
              <a:rPr sz="2800" b="1" spc="-5" dirty="0">
                <a:latin typeface="Courier New"/>
                <a:cs typeface="Courier New"/>
              </a:rPr>
              <a:t>(Exception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1448" y="4184904"/>
            <a:ext cx="2799715" cy="932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the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exception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Courier New"/>
                <a:cs typeface="Courier New"/>
              </a:rPr>
              <a:t>e)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0335" y="5112004"/>
            <a:ext cx="151955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//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code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1829" y="5112004"/>
            <a:ext cx="215900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exceptions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6939" y="5581904"/>
            <a:ext cx="194627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9420" algn="l"/>
              </a:tabLst>
            </a:pPr>
            <a:r>
              <a:rPr sz="2800" b="1" dirty="0">
                <a:latin typeface="Courier New"/>
                <a:cs typeface="Courier New"/>
              </a:rPr>
              <a:t>}	</a:t>
            </a:r>
            <a:r>
              <a:rPr sz="2800" b="1" dirty="0">
                <a:solidFill>
                  <a:srgbClr val="1F497D"/>
                </a:solidFill>
                <a:latin typeface="Courier New"/>
                <a:cs typeface="Courier New"/>
              </a:rPr>
              <a:t>finally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7686" y="6051803"/>
            <a:ext cx="194627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run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after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11642" y="6051803"/>
            <a:ext cx="215963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try or</a:t>
            </a:r>
            <a:r>
              <a:rPr sz="2800" b="1" spc="-8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any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58994" y="6051803"/>
            <a:ext cx="109220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catch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939" y="5112004"/>
            <a:ext cx="5147310" cy="1872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2939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to handle</a:t>
            </a:r>
            <a:r>
              <a:rPr sz="2800" b="1" spc="-8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other</a:t>
            </a:r>
            <a:endParaRPr sz="2800">
              <a:latin typeface="Courier New"/>
              <a:cs typeface="Courier New"/>
            </a:endParaRPr>
          </a:p>
          <a:p>
            <a:pPr marR="631825" algn="ctr">
              <a:lnSpc>
                <a:spcPct val="100000"/>
              </a:lnSpc>
              <a:spcBef>
                <a:spcPts val="340"/>
              </a:spcBef>
            </a:pPr>
            <a:r>
              <a:rPr sz="2800" b="1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Courier New"/>
                <a:cs typeface="Courier New"/>
              </a:rPr>
              <a:t>// code</a:t>
            </a:r>
            <a:r>
              <a:rPr sz="2800" b="1" spc="-8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to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b="1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017" rIns="0" bIns="0" rtlCol="0">
            <a:spAutoFit/>
          </a:bodyPr>
          <a:lstStyle/>
          <a:p>
            <a:pPr marL="225679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Exception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Handling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2062479"/>
            <a:ext cx="7775575" cy="3288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Exceptions take care of </a:t>
            </a:r>
            <a:r>
              <a:rPr sz="3200" dirty="0">
                <a:latin typeface="Calibri"/>
                <a:cs typeface="Calibri"/>
              </a:rPr>
              <a:t>handling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errors</a:t>
            </a:r>
            <a:endParaRPr sz="3200">
              <a:latin typeface="Calibri"/>
              <a:cs typeface="Calibri"/>
            </a:endParaRPr>
          </a:p>
          <a:p>
            <a:pPr marL="748665" marR="5080" indent="-279400">
              <a:lnSpc>
                <a:spcPts val="3030"/>
              </a:lnSpc>
              <a:spcBef>
                <a:spcPts val="645"/>
              </a:spcBef>
            </a:pPr>
            <a:r>
              <a:rPr sz="2800" dirty="0">
                <a:latin typeface="Arial"/>
                <a:cs typeface="Arial"/>
              </a:rPr>
              <a:t>– </a:t>
            </a:r>
            <a:r>
              <a:rPr sz="2800" dirty="0">
                <a:latin typeface="Calibri"/>
                <a:cs typeface="Calibri"/>
              </a:rPr>
              <a:t>instead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returning an </a:t>
            </a:r>
            <a:r>
              <a:rPr sz="2800" spc="-5" dirty="0">
                <a:latin typeface="Calibri"/>
                <a:cs typeface="Calibri"/>
              </a:rPr>
              <a:t>error, some method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calls  </a:t>
            </a:r>
            <a:r>
              <a:rPr sz="2800" spc="-5" dirty="0">
                <a:latin typeface="Calibri"/>
                <a:cs typeface="Calibri"/>
              </a:rPr>
              <a:t>will throw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exception.</a:t>
            </a:r>
            <a:endParaRPr sz="2800">
              <a:latin typeface="Calibri"/>
              <a:cs typeface="Calibri"/>
            </a:endParaRPr>
          </a:p>
          <a:p>
            <a:pPr marL="355600" marR="14604" indent="-342900">
              <a:lnSpc>
                <a:spcPts val="3529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Can be dealt </a:t>
            </a:r>
            <a:r>
              <a:rPr sz="3200" spc="-5" dirty="0">
                <a:latin typeface="Calibri"/>
                <a:cs typeface="Calibri"/>
              </a:rPr>
              <a:t>with </a:t>
            </a:r>
            <a:r>
              <a:rPr sz="3200" dirty="0">
                <a:latin typeface="Calibri"/>
                <a:cs typeface="Calibri"/>
              </a:rPr>
              <a:t>at any </a:t>
            </a:r>
            <a:r>
              <a:rPr sz="3200" spc="-5" dirty="0">
                <a:latin typeface="Calibri"/>
                <a:cs typeface="Calibri"/>
              </a:rPr>
              <a:t>point </a:t>
            </a:r>
            <a:r>
              <a:rPr sz="3200" dirty="0">
                <a:latin typeface="Calibri"/>
                <a:cs typeface="Calibri"/>
              </a:rPr>
              <a:t>in the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method  invocation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stack.</a:t>
            </a:r>
            <a:endParaRPr sz="3200">
              <a:latin typeface="Calibri"/>
              <a:cs typeface="Calibri"/>
            </a:endParaRPr>
          </a:p>
          <a:p>
            <a:pPr marL="355600" marR="87630" indent="-342900">
              <a:lnSpc>
                <a:spcPts val="3429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Forces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programmer </a:t>
            </a:r>
            <a:r>
              <a:rPr sz="3200" dirty="0">
                <a:latin typeface="Calibri"/>
                <a:cs typeface="Calibri"/>
              </a:rPr>
              <a:t>to be </a:t>
            </a:r>
            <a:r>
              <a:rPr sz="3200" spc="-5" dirty="0">
                <a:latin typeface="Calibri"/>
                <a:cs typeface="Calibri"/>
              </a:rPr>
              <a:t>aware of what  errors </a:t>
            </a:r>
            <a:r>
              <a:rPr sz="3200" dirty="0">
                <a:latin typeface="Calibri"/>
                <a:cs typeface="Calibri"/>
              </a:rPr>
              <a:t>can </a:t>
            </a:r>
            <a:r>
              <a:rPr sz="3200" spc="-5" dirty="0">
                <a:latin typeface="Calibri"/>
                <a:cs typeface="Calibri"/>
              </a:rPr>
              <a:t>occur </a:t>
            </a:r>
            <a:r>
              <a:rPr sz="3200" dirty="0">
                <a:latin typeface="Calibri"/>
                <a:cs typeface="Calibri"/>
              </a:rPr>
              <a:t>and to deal </a:t>
            </a:r>
            <a:r>
              <a:rPr sz="3200" spc="-5" dirty="0">
                <a:latin typeface="Calibri"/>
                <a:cs typeface="Calibri"/>
              </a:rPr>
              <a:t>with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them.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017" rIns="0" bIns="0" rtlCol="0">
            <a:spAutoFit/>
          </a:bodyPr>
          <a:lstStyle/>
          <a:p>
            <a:pPr marL="229997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Exception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Example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35923" y="1219200"/>
            <a:ext cx="8861361" cy="6575361"/>
            <a:chOff x="635923" y="656710"/>
            <a:chExt cx="8861361" cy="6575361"/>
          </a:xfrm>
        </p:grpSpPr>
        <p:sp>
          <p:nvSpPr>
            <p:cNvPr id="2" name="object 2"/>
            <p:cNvSpPr/>
            <p:nvPr/>
          </p:nvSpPr>
          <p:spPr>
            <a:xfrm>
              <a:off x="635923" y="656710"/>
              <a:ext cx="8861361" cy="657536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/>
            <p:nvPr/>
          </p:nvSpPr>
          <p:spPr>
            <a:xfrm>
              <a:off x="685800" y="685800"/>
              <a:ext cx="8763000" cy="6477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5800" y="685800"/>
              <a:ext cx="8763000" cy="6477000"/>
            </a:xfrm>
            <a:custGeom>
              <a:avLst/>
              <a:gdLst/>
              <a:ahLst/>
              <a:cxnLst/>
              <a:rect l="l" t="t" r="r" b="b"/>
              <a:pathLst>
                <a:path w="8763000" h="6477000">
                  <a:moveTo>
                    <a:pt x="0" y="0"/>
                  </a:moveTo>
                  <a:lnTo>
                    <a:pt x="8762993" y="0"/>
                  </a:lnTo>
                  <a:lnTo>
                    <a:pt x="8762993" y="6476995"/>
                  </a:lnTo>
                  <a:lnTo>
                    <a:pt x="0" y="647699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993139" y="2040209"/>
              <a:ext cx="8039734" cy="43757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469900" marR="2440940" indent="-457200">
                <a:lnSpc>
                  <a:spcPct val="117200"/>
                </a:lnSpc>
              </a:pPr>
              <a:r>
                <a:rPr sz="2400" spc="-5" dirty="0">
                  <a:latin typeface="Calibri"/>
                  <a:cs typeface="Calibri"/>
                </a:rPr>
                <a:t>static </a:t>
              </a:r>
              <a:r>
                <a:rPr sz="2400" dirty="0">
                  <a:latin typeface="Calibri"/>
                  <a:cs typeface="Calibri"/>
                </a:rPr>
                <a:t>String </a:t>
              </a:r>
              <a:r>
                <a:rPr sz="2400" spc="-5" dirty="0">
                  <a:latin typeface="Calibri"/>
                  <a:cs typeface="Calibri"/>
                </a:rPr>
                <a:t>squareNumberString(String </a:t>
              </a:r>
              <a:r>
                <a:rPr sz="2400" dirty="0">
                  <a:latin typeface="Calibri"/>
                  <a:cs typeface="Calibri"/>
                </a:rPr>
                <a:t>str) {  int</a:t>
              </a:r>
              <a:r>
                <a:rPr sz="2400" spc="-100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n;</a:t>
              </a:r>
              <a:endParaRPr sz="2400">
                <a:latin typeface="Calibri"/>
                <a:cs typeface="Calibri"/>
              </a:endParaRPr>
            </a:p>
            <a:p>
              <a:pPr marL="469900">
                <a:lnSpc>
                  <a:spcPct val="100000"/>
                </a:lnSpc>
                <a:spcBef>
                  <a:spcPts val="620"/>
                </a:spcBef>
                <a:tabLst>
                  <a:tab pos="953769" algn="l"/>
                </a:tabLst>
              </a:pPr>
              <a:r>
                <a:rPr sz="2400" dirty="0">
                  <a:latin typeface="Calibri"/>
                  <a:cs typeface="Calibri"/>
                </a:rPr>
                <a:t>try	{</a:t>
              </a:r>
              <a:endParaRPr sz="2400">
                <a:latin typeface="Calibri"/>
                <a:cs typeface="Calibri"/>
              </a:endParaRPr>
            </a:p>
            <a:p>
              <a:pPr marL="926465">
                <a:lnSpc>
                  <a:spcPct val="100000"/>
                </a:lnSpc>
                <a:spcBef>
                  <a:spcPts val="520"/>
                </a:spcBef>
              </a:pPr>
              <a:r>
                <a:rPr sz="2400" dirty="0">
                  <a:latin typeface="Calibri"/>
                  <a:cs typeface="Calibri"/>
                </a:rPr>
                <a:t>n =</a:t>
              </a:r>
              <a:r>
                <a:rPr sz="2400" spc="5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Integer.parseInt(str);</a:t>
              </a:r>
              <a:endParaRPr sz="2400">
                <a:latin typeface="Calibri"/>
                <a:cs typeface="Calibri"/>
              </a:endParaRPr>
            </a:p>
            <a:p>
              <a:pPr marL="926465" marR="5080" indent="-457200">
                <a:lnSpc>
                  <a:spcPct val="119800"/>
                </a:lnSpc>
                <a:spcBef>
                  <a:spcPts val="50"/>
                </a:spcBef>
                <a:tabLst>
                  <a:tab pos="702945" algn="l"/>
                  <a:tab pos="4235450" algn="l"/>
                  <a:tab pos="5110480" algn="l"/>
                </a:tabLst>
              </a:pPr>
              <a:r>
                <a:rPr sz="2400" dirty="0">
                  <a:latin typeface="Calibri"/>
                  <a:cs typeface="Calibri"/>
                </a:rPr>
                <a:t>}	catch</a:t>
              </a:r>
              <a:r>
                <a:rPr sz="2400" spc="20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(NumberFormatException</a:t>
              </a:r>
              <a:r>
                <a:rPr sz="2400" spc="20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e)	</a:t>
              </a:r>
              <a:r>
                <a:rPr sz="2400" dirty="0">
                  <a:latin typeface="Calibri"/>
                  <a:cs typeface="Calibri"/>
                </a:rPr>
                <a:t>{  </a:t>
              </a:r>
              <a:r>
                <a:rPr sz="2400" spc="-5" dirty="0">
                  <a:latin typeface="Calibri"/>
                  <a:cs typeface="Calibri"/>
                </a:rPr>
                <a:t>System.err.println(“Error:	</a:t>
              </a:r>
              <a:r>
                <a:rPr sz="2400" dirty="0">
                  <a:latin typeface="Calibri"/>
                  <a:cs typeface="Calibri"/>
                </a:rPr>
                <a:t>invalid integer \”” + str</a:t>
              </a:r>
              <a:r>
                <a:rPr sz="2400" spc="-90" dirty="0">
                  <a:latin typeface="Calibri"/>
                  <a:cs typeface="Calibri"/>
                </a:rPr>
                <a:t> </a:t>
              </a:r>
              <a:r>
                <a:rPr sz="2400" dirty="0">
                  <a:latin typeface="Calibri"/>
                  <a:cs typeface="Calibri"/>
                </a:rPr>
                <a:t>+</a:t>
              </a:r>
              <a:r>
                <a:rPr sz="2400" spc="-20" dirty="0">
                  <a:latin typeface="Calibri"/>
                  <a:cs typeface="Calibri"/>
                </a:rPr>
                <a:t> </a:t>
              </a:r>
              <a:r>
                <a:rPr sz="2400" dirty="0">
                  <a:latin typeface="Calibri"/>
                  <a:cs typeface="Calibri"/>
                </a:rPr>
                <a:t>”\””);  System.exit(1);</a:t>
              </a:r>
              <a:endParaRPr sz="2400">
                <a:latin typeface="Calibri"/>
                <a:cs typeface="Calibri"/>
              </a:endParaRPr>
            </a:p>
            <a:p>
              <a:pPr marL="469900">
                <a:lnSpc>
                  <a:spcPct val="100000"/>
                </a:lnSpc>
                <a:spcBef>
                  <a:spcPts val="620"/>
                </a:spcBef>
              </a:pPr>
              <a:r>
                <a:rPr sz="2400" dirty="0">
                  <a:latin typeface="Calibri"/>
                  <a:cs typeface="Calibri"/>
                </a:rPr>
                <a:t>}</a:t>
              </a:r>
              <a:endParaRPr sz="2400">
                <a:latin typeface="Calibri"/>
                <a:cs typeface="Calibri"/>
              </a:endParaRPr>
            </a:p>
            <a:p>
              <a:pPr marL="469900">
                <a:lnSpc>
                  <a:spcPct val="100000"/>
                </a:lnSpc>
                <a:spcBef>
                  <a:spcPts val="520"/>
                </a:spcBef>
              </a:pPr>
              <a:r>
                <a:rPr sz="2400" dirty="0">
                  <a:latin typeface="Calibri"/>
                  <a:cs typeface="Calibri"/>
                </a:rPr>
                <a:t>return “”+</a:t>
              </a:r>
              <a:r>
                <a:rPr sz="2400" spc="-45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Math.pow(n,2);</a:t>
              </a:r>
              <a:endParaRPr sz="240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  <a:spcBef>
                  <a:spcPts val="620"/>
                </a:spcBef>
              </a:pPr>
              <a:r>
                <a:rPr sz="2400" dirty="0">
                  <a:latin typeface="Calibri"/>
                  <a:cs typeface="Calibri"/>
                </a:rPr>
                <a:t>}</a:t>
              </a:r>
              <a:endParaRPr sz="240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017" rIns="0" bIns="0" rtlCol="0">
            <a:spAutoFit/>
          </a:bodyPr>
          <a:lstStyle/>
          <a:p>
            <a:pPr marL="1307465">
              <a:lnSpc>
                <a:spcPct val="100000"/>
              </a:lnSpc>
            </a:pPr>
            <a:r>
              <a:rPr sz="4400" dirty="0">
                <a:latin typeface="Calibri"/>
                <a:cs typeface="Calibri"/>
              </a:rPr>
              <a:t>A </a:t>
            </a:r>
            <a:r>
              <a:rPr sz="4400" spc="-30" dirty="0">
                <a:latin typeface="Calibri"/>
                <a:cs typeface="Calibri"/>
              </a:rPr>
              <a:t>Better </a:t>
            </a:r>
            <a:r>
              <a:rPr sz="4400" spc="-5" dirty="0">
                <a:latin typeface="Calibri"/>
                <a:cs typeface="Calibri"/>
              </a:rPr>
              <a:t>Exception</a:t>
            </a:r>
            <a:r>
              <a:rPr sz="4400" spc="-2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Example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35923" y="1044639"/>
            <a:ext cx="8861361" cy="6575361"/>
            <a:chOff x="635923" y="656710"/>
            <a:chExt cx="8861361" cy="6575361"/>
          </a:xfrm>
        </p:grpSpPr>
        <p:sp>
          <p:nvSpPr>
            <p:cNvPr id="2" name="object 2"/>
            <p:cNvSpPr/>
            <p:nvPr/>
          </p:nvSpPr>
          <p:spPr>
            <a:xfrm>
              <a:off x="635923" y="656710"/>
              <a:ext cx="8861361" cy="657536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/>
            <p:nvPr/>
          </p:nvSpPr>
          <p:spPr>
            <a:xfrm>
              <a:off x="685800" y="685800"/>
              <a:ext cx="8763000" cy="6477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5800" y="685800"/>
              <a:ext cx="8763000" cy="6477000"/>
            </a:xfrm>
            <a:custGeom>
              <a:avLst/>
              <a:gdLst/>
              <a:ahLst/>
              <a:cxnLst/>
              <a:rect l="l" t="t" r="r" b="b"/>
              <a:pathLst>
                <a:path w="8763000" h="6477000">
                  <a:moveTo>
                    <a:pt x="0" y="0"/>
                  </a:moveTo>
                  <a:lnTo>
                    <a:pt x="8762993" y="0"/>
                  </a:lnTo>
                  <a:lnTo>
                    <a:pt x="8762993" y="6476995"/>
                  </a:lnTo>
                  <a:lnTo>
                    <a:pt x="0" y="647699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993139" y="2040209"/>
              <a:ext cx="8084184" cy="42995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469900" marR="2486025" indent="-457200">
                <a:lnSpc>
                  <a:spcPct val="117200"/>
                </a:lnSpc>
              </a:pPr>
              <a:r>
                <a:rPr sz="2400" spc="-5" dirty="0">
                  <a:latin typeface="Calibri"/>
                  <a:cs typeface="Calibri"/>
                </a:rPr>
                <a:t>static </a:t>
              </a:r>
              <a:r>
                <a:rPr sz="2400" dirty="0">
                  <a:latin typeface="Calibri"/>
                  <a:cs typeface="Calibri"/>
                </a:rPr>
                <a:t>String </a:t>
              </a:r>
              <a:r>
                <a:rPr sz="2400" spc="-5" dirty="0">
                  <a:latin typeface="Calibri"/>
                  <a:cs typeface="Calibri"/>
                </a:rPr>
                <a:t>squareNumberString(String </a:t>
              </a:r>
              <a:r>
                <a:rPr sz="2400" dirty="0">
                  <a:latin typeface="Calibri"/>
                  <a:cs typeface="Calibri"/>
                </a:rPr>
                <a:t>str) {  int</a:t>
              </a:r>
              <a:r>
                <a:rPr sz="2400" spc="-100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n;</a:t>
              </a:r>
              <a:endParaRPr sz="2400">
                <a:latin typeface="Calibri"/>
                <a:cs typeface="Calibri"/>
              </a:endParaRPr>
            </a:p>
            <a:p>
              <a:pPr marL="469900">
                <a:lnSpc>
                  <a:spcPct val="100000"/>
                </a:lnSpc>
                <a:spcBef>
                  <a:spcPts val="620"/>
                </a:spcBef>
                <a:tabLst>
                  <a:tab pos="953769" algn="l"/>
                </a:tabLst>
              </a:pPr>
              <a:r>
                <a:rPr sz="2400" dirty="0">
                  <a:latin typeface="Calibri"/>
                  <a:cs typeface="Calibri"/>
                </a:rPr>
                <a:t>try	{</a:t>
              </a:r>
              <a:endParaRPr sz="2400">
                <a:latin typeface="Calibri"/>
                <a:cs typeface="Calibri"/>
              </a:endParaRPr>
            </a:p>
            <a:p>
              <a:pPr marL="926465">
                <a:lnSpc>
                  <a:spcPct val="100000"/>
                </a:lnSpc>
                <a:spcBef>
                  <a:spcPts val="520"/>
                </a:spcBef>
              </a:pPr>
              <a:r>
                <a:rPr sz="2400" dirty="0">
                  <a:latin typeface="Calibri"/>
                  <a:cs typeface="Calibri"/>
                </a:rPr>
                <a:t>n =</a:t>
              </a:r>
              <a:r>
                <a:rPr sz="2400" spc="5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Integer.parseInt(str);</a:t>
              </a:r>
              <a:endParaRPr sz="2400">
                <a:latin typeface="Calibri"/>
                <a:cs typeface="Calibri"/>
              </a:endParaRPr>
            </a:p>
            <a:p>
              <a:pPr marL="469900">
                <a:lnSpc>
                  <a:spcPct val="100000"/>
                </a:lnSpc>
                <a:spcBef>
                  <a:spcPts val="620"/>
                </a:spcBef>
                <a:tabLst>
                  <a:tab pos="702945" algn="l"/>
                  <a:tab pos="5110480" algn="l"/>
                </a:tabLst>
              </a:pPr>
              <a:r>
                <a:rPr sz="2400" dirty="0">
                  <a:latin typeface="Calibri"/>
                  <a:cs typeface="Calibri"/>
                </a:rPr>
                <a:t>}	catch</a:t>
              </a:r>
              <a:r>
                <a:rPr sz="2400" spc="20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(NumberFormatException</a:t>
              </a:r>
              <a:r>
                <a:rPr sz="2400" spc="20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e)	</a:t>
              </a:r>
              <a:r>
                <a:rPr sz="2400" dirty="0">
                  <a:latin typeface="Calibri"/>
                  <a:cs typeface="Calibri"/>
                </a:rPr>
                <a:t>{</a:t>
              </a:r>
              <a:endParaRPr sz="2400">
                <a:latin typeface="Calibri"/>
                <a:cs typeface="Calibri"/>
              </a:endParaRPr>
            </a:p>
            <a:p>
              <a:pPr marL="2755900" marR="5080" indent="-1828800">
                <a:lnSpc>
                  <a:spcPts val="2820"/>
                </a:lnSpc>
                <a:spcBef>
                  <a:spcPts val="765"/>
                </a:spcBef>
              </a:pPr>
              <a:r>
                <a:rPr sz="2400" spc="-5" dirty="0">
                  <a:latin typeface="Calibri"/>
                  <a:cs typeface="Calibri"/>
                </a:rPr>
                <a:t>throw </a:t>
              </a:r>
              <a:r>
                <a:rPr sz="2400" dirty="0">
                  <a:latin typeface="Calibri"/>
                  <a:cs typeface="Calibri"/>
                </a:rPr>
                <a:t>new </a:t>
              </a:r>
              <a:r>
                <a:rPr sz="2400" spc="-5" dirty="0">
                  <a:latin typeface="Calibri"/>
                  <a:cs typeface="Calibri"/>
                </a:rPr>
                <a:t>InvalidArgumentException(“str </a:t>
              </a:r>
              <a:r>
                <a:rPr sz="2400" dirty="0">
                  <a:latin typeface="Calibri"/>
                  <a:cs typeface="Calibri"/>
                </a:rPr>
                <a:t>must </a:t>
              </a:r>
              <a:r>
                <a:rPr sz="2400" spc="-5" dirty="0">
                  <a:latin typeface="Calibri"/>
                  <a:cs typeface="Calibri"/>
                </a:rPr>
                <a:t>contain </a:t>
              </a:r>
              <a:r>
                <a:rPr sz="2400" dirty="0">
                  <a:latin typeface="Calibri"/>
                  <a:cs typeface="Calibri"/>
                </a:rPr>
                <a:t>a  valid</a:t>
              </a:r>
              <a:r>
                <a:rPr sz="2400" spc="-100" dirty="0">
                  <a:latin typeface="Calibri"/>
                  <a:cs typeface="Calibri"/>
                </a:rPr>
                <a:t> </a:t>
              </a:r>
              <a:r>
                <a:rPr sz="2400" dirty="0">
                  <a:latin typeface="Calibri"/>
                  <a:cs typeface="Calibri"/>
                </a:rPr>
                <a:t>integer”);</a:t>
              </a:r>
              <a:endParaRPr sz="2400">
                <a:latin typeface="Calibri"/>
                <a:cs typeface="Calibri"/>
              </a:endParaRPr>
            </a:p>
            <a:p>
              <a:pPr marL="469900">
                <a:lnSpc>
                  <a:spcPct val="100000"/>
                </a:lnSpc>
                <a:spcBef>
                  <a:spcPts val="509"/>
                </a:spcBef>
              </a:pPr>
              <a:r>
                <a:rPr sz="2400" dirty="0">
                  <a:latin typeface="Calibri"/>
                  <a:cs typeface="Calibri"/>
                </a:rPr>
                <a:t>}</a:t>
              </a:r>
              <a:endParaRPr sz="2400">
                <a:latin typeface="Calibri"/>
                <a:cs typeface="Calibri"/>
              </a:endParaRPr>
            </a:p>
            <a:p>
              <a:pPr marL="469900">
                <a:lnSpc>
                  <a:spcPct val="100000"/>
                </a:lnSpc>
                <a:spcBef>
                  <a:spcPts val="520"/>
                </a:spcBef>
              </a:pPr>
              <a:r>
                <a:rPr sz="2400" dirty="0">
                  <a:latin typeface="Calibri"/>
                  <a:cs typeface="Calibri"/>
                </a:rPr>
                <a:t>return “”+</a:t>
              </a:r>
              <a:r>
                <a:rPr sz="2400" spc="-45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Math.pow(n,2);</a:t>
              </a:r>
              <a:endParaRPr sz="240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  <a:spcBef>
                  <a:spcPts val="620"/>
                </a:spcBef>
              </a:pPr>
              <a:r>
                <a:rPr sz="2400" dirty="0">
                  <a:latin typeface="Calibri"/>
                  <a:cs typeface="Calibri"/>
                </a:rPr>
                <a:t>}</a:t>
              </a:r>
              <a:endParaRPr sz="240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2844" y="2987357"/>
            <a:ext cx="4478020" cy="69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>
                <a:latin typeface="Calibri"/>
                <a:cs typeface="Calibri"/>
              </a:rPr>
              <a:t>Objects and</a:t>
            </a:r>
            <a:r>
              <a:rPr sz="4400" spc="-10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Classes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5443" y="800100"/>
            <a:ext cx="416687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02840" algn="l"/>
              </a:tabLst>
            </a:pPr>
            <a:r>
              <a:rPr spc="-15" dirty="0"/>
              <a:t>What’s</a:t>
            </a:r>
            <a:r>
              <a:rPr spc="-5" dirty="0"/>
              <a:t> </a:t>
            </a:r>
            <a:r>
              <a:rPr dirty="0"/>
              <a:t>an	</a:t>
            </a:r>
            <a:r>
              <a:rPr spc="-5" dirty="0"/>
              <a:t>Object?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17804">
              <a:lnSpc>
                <a:spcPct val="100000"/>
              </a:lnSpc>
            </a:pPr>
            <a:r>
              <a:rPr sz="2200" spc="-82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sz="2200" spc="150" dirty="0">
                <a:solidFill>
                  <a:srgbClr val="330066"/>
                </a:solidFill>
                <a:latin typeface="Times New Roman"/>
                <a:cs typeface="Times New Roman"/>
              </a:rPr>
              <a:t> </a:t>
            </a:r>
            <a:r>
              <a:rPr dirty="0"/>
              <a:t>Must </a:t>
            </a:r>
            <a:r>
              <a:rPr spc="-5" dirty="0"/>
              <a:t>first define </a:t>
            </a:r>
            <a:r>
              <a:rPr dirty="0"/>
              <a:t>a</a:t>
            </a:r>
            <a:r>
              <a:rPr spc="-55" dirty="0"/>
              <a:t> </a:t>
            </a:r>
            <a:r>
              <a:rPr b="1" i="1" spc="-5" dirty="0">
                <a:latin typeface="Arial"/>
                <a:cs typeface="Arial"/>
              </a:rPr>
              <a:t>class</a:t>
            </a:r>
            <a:endParaRPr sz="2200">
              <a:latin typeface="Arial"/>
              <a:cs typeface="Arial"/>
            </a:endParaRPr>
          </a:p>
          <a:p>
            <a:pPr marL="560705">
              <a:lnSpc>
                <a:spcPct val="100000"/>
              </a:lnSpc>
              <a:spcBef>
                <a:spcPts val="630"/>
              </a:spcBef>
            </a:pPr>
            <a:r>
              <a:rPr sz="1950" spc="-725" dirty="0">
                <a:solidFill>
                  <a:srgbClr val="669999"/>
                </a:solidFill>
                <a:latin typeface="Wingdings"/>
                <a:cs typeface="Wingdings"/>
              </a:rPr>
              <a:t></a:t>
            </a:r>
            <a:r>
              <a:rPr sz="1950" spc="370" dirty="0">
                <a:solidFill>
                  <a:srgbClr val="669999"/>
                </a:solidFill>
                <a:latin typeface="Times New Roman"/>
                <a:cs typeface="Times New Roman"/>
              </a:rPr>
              <a:t> </a:t>
            </a:r>
            <a:r>
              <a:rPr sz="2800" dirty="0"/>
              <a:t>A data type</a:t>
            </a:r>
            <a:r>
              <a:rPr sz="2800" spc="-225" dirty="0"/>
              <a:t> </a:t>
            </a:r>
            <a:r>
              <a:rPr sz="2800" dirty="0"/>
              <a:t>containing</a:t>
            </a:r>
            <a:endParaRPr sz="2800">
              <a:latin typeface="Times New Roman"/>
              <a:cs typeface="Times New Roman"/>
            </a:endParaRPr>
          </a:p>
          <a:p>
            <a:pPr marL="903605">
              <a:lnSpc>
                <a:spcPct val="100000"/>
              </a:lnSpc>
              <a:spcBef>
                <a:spcPts val="540"/>
              </a:spcBef>
            </a:pPr>
            <a:r>
              <a:rPr sz="1650" spc="-605" dirty="0">
                <a:solidFill>
                  <a:srgbClr val="CCCC00"/>
                </a:solidFill>
                <a:latin typeface="Wingdings"/>
                <a:cs typeface="Wingdings"/>
              </a:rPr>
              <a:t></a:t>
            </a:r>
            <a:r>
              <a:rPr sz="1650" spc="305" dirty="0">
                <a:solidFill>
                  <a:srgbClr val="CCCC00"/>
                </a:solidFill>
                <a:latin typeface="Times New Roman"/>
                <a:cs typeface="Times New Roman"/>
              </a:rPr>
              <a:t> </a:t>
            </a:r>
            <a:r>
              <a:rPr sz="2400" dirty="0"/>
              <a:t>Attributes - make up the </a:t>
            </a:r>
            <a:r>
              <a:rPr sz="2400" spc="-10" dirty="0"/>
              <a:t>object’s</a:t>
            </a:r>
            <a:r>
              <a:rPr sz="2400" spc="-55" dirty="0"/>
              <a:t> </a:t>
            </a:r>
            <a:r>
              <a:rPr sz="2400" dirty="0"/>
              <a:t>“state”</a:t>
            </a:r>
            <a:endParaRPr sz="2400">
              <a:latin typeface="Times New Roman"/>
              <a:cs typeface="Times New Roman"/>
            </a:endParaRPr>
          </a:p>
          <a:p>
            <a:pPr marL="903605">
              <a:lnSpc>
                <a:spcPct val="100000"/>
              </a:lnSpc>
              <a:spcBef>
                <a:spcPts val="620"/>
              </a:spcBef>
            </a:pPr>
            <a:r>
              <a:rPr sz="1650" spc="-605" dirty="0">
                <a:solidFill>
                  <a:srgbClr val="CCCC00"/>
                </a:solidFill>
                <a:latin typeface="Wingdings"/>
                <a:cs typeface="Wingdings"/>
              </a:rPr>
              <a:t></a:t>
            </a:r>
            <a:r>
              <a:rPr sz="1650" spc="305" dirty="0">
                <a:solidFill>
                  <a:srgbClr val="CCCC00"/>
                </a:solidFill>
                <a:latin typeface="Times New Roman"/>
                <a:cs typeface="Times New Roman"/>
              </a:rPr>
              <a:t> </a:t>
            </a:r>
            <a:r>
              <a:rPr sz="2400" dirty="0"/>
              <a:t>Operations - define the </a:t>
            </a:r>
            <a:r>
              <a:rPr sz="2400" spc="-10" dirty="0"/>
              <a:t>object’s</a:t>
            </a:r>
            <a:r>
              <a:rPr sz="2400" spc="-55" dirty="0"/>
              <a:t> </a:t>
            </a:r>
            <a:r>
              <a:rPr sz="2400" dirty="0"/>
              <a:t>“behaviors”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00" y="3714751"/>
            <a:ext cx="2209800" cy="2971800"/>
          </a:xfrm>
          <a:custGeom>
            <a:avLst/>
            <a:gdLst/>
            <a:ahLst/>
            <a:cxnLst/>
            <a:rect l="l" t="t" r="r" b="b"/>
            <a:pathLst>
              <a:path w="2209800" h="2971800">
                <a:moveTo>
                  <a:pt x="0" y="2971800"/>
                </a:moveTo>
                <a:lnTo>
                  <a:pt x="2209800" y="2971800"/>
                </a:lnTo>
                <a:lnTo>
                  <a:pt x="2209800" y="0"/>
                </a:lnTo>
                <a:lnTo>
                  <a:pt x="0" y="0"/>
                </a:lnTo>
                <a:lnTo>
                  <a:pt x="0" y="2971800"/>
                </a:lnTo>
                <a:close/>
              </a:path>
            </a:pathLst>
          </a:custGeom>
          <a:solidFill>
            <a:srgbClr val="D5D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28800" y="5391150"/>
            <a:ext cx="2209800" cy="1905"/>
          </a:xfrm>
          <a:custGeom>
            <a:avLst/>
            <a:gdLst/>
            <a:ahLst/>
            <a:cxnLst/>
            <a:rect l="l" t="t" r="r" b="b"/>
            <a:pathLst>
              <a:path w="2209800" h="1904">
                <a:moveTo>
                  <a:pt x="0" y="0"/>
                </a:moveTo>
                <a:lnTo>
                  <a:pt x="2209798" y="1588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28800" y="3714750"/>
            <a:ext cx="2209800" cy="2971800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389890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latin typeface="Arial"/>
                <a:cs typeface="Arial"/>
              </a:rPr>
              <a:t>Bank</a:t>
            </a:r>
            <a:r>
              <a:rPr sz="1800" spc="-2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Account</a:t>
            </a:r>
            <a:endParaRPr sz="1800">
              <a:latin typeface="Arial"/>
              <a:cs typeface="Arial"/>
            </a:endParaRPr>
          </a:p>
          <a:p>
            <a:pPr marL="161290" marR="574040">
              <a:lnSpc>
                <a:spcPts val="1900"/>
              </a:lnSpc>
              <a:spcBef>
                <a:spcPts val="655"/>
              </a:spcBef>
            </a:pPr>
            <a:r>
              <a:rPr sz="1600" dirty="0">
                <a:latin typeface="Arial"/>
                <a:cs typeface="Arial"/>
              </a:rPr>
              <a:t>account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  owner’s name  balance</a:t>
            </a:r>
            <a:endParaRPr sz="1600">
              <a:latin typeface="Arial"/>
              <a:cs typeface="Arial"/>
            </a:endParaRPr>
          </a:p>
          <a:p>
            <a:pPr marL="161290" marR="958215">
              <a:lnSpc>
                <a:spcPts val="1900"/>
              </a:lnSpc>
            </a:pPr>
            <a:r>
              <a:rPr sz="1600" dirty="0">
                <a:latin typeface="Arial"/>
                <a:cs typeface="Arial"/>
              </a:rPr>
              <a:t>interest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rate  more?</a:t>
            </a:r>
            <a:endParaRPr sz="1600">
              <a:latin typeface="Arial"/>
              <a:cs typeface="Arial"/>
            </a:endParaRPr>
          </a:p>
          <a:p>
            <a:pPr marL="161290" marR="562610">
              <a:lnSpc>
                <a:spcPts val="1900"/>
              </a:lnSpc>
              <a:spcBef>
                <a:spcPts val="850"/>
              </a:spcBef>
            </a:pPr>
            <a:r>
              <a:rPr sz="1600" dirty="0">
                <a:latin typeface="Arial"/>
                <a:cs typeface="Arial"/>
              </a:rPr>
              <a:t>deposit money  withdraw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money  check balance  transfer money  more?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00800" y="4095750"/>
            <a:ext cx="2514600" cy="2286000"/>
          </a:xfrm>
          <a:custGeom>
            <a:avLst/>
            <a:gdLst/>
            <a:ahLst/>
            <a:cxnLst/>
            <a:rect l="l" t="t" r="r" b="b"/>
            <a:pathLst>
              <a:path w="2514600" h="2286000">
                <a:moveTo>
                  <a:pt x="0" y="2286000"/>
                </a:moveTo>
                <a:lnTo>
                  <a:pt x="2514600" y="2286000"/>
                </a:lnTo>
                <a:lnTo>
                  <a:pt x="2514600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D5D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00799" y="5162550"/>
            <a:ext cx="2514600" cy="1905"/>
          </a:xfrm>
          <a:custGeom>
            <a:avLst/>
            <a:gdLst/>
            <a:ahLst/>
            <a:cxnLst/>
            <a:rect l="l" t="t" r="r" b="b"/>
            <a:pathLst>
              <a:path w="2514600" h="1904">
                <a:moveTo>
                  <a:pt x="0" y="0"/>
                </a:moveTo>
                <a:lnTo>
                  <a:pt x="2514598" y="1588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00799" y="4095750"/>
            <a:ext cx="2514600" cy="2286000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864235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"/>
                <a:cs typeface="Arial"/>
              </a:rPr>
              <a:t>String</a:t>
            </a:r>
            <a:endParaRPr sz="1800">
              <a:latin typeface="Arial"/>
              <a:cs typeface="Arial"/>
            </a:endParaRPr>
          </a:p>
          <a:p>
            <a:pPr marL="170815" marR="213995">
              <a:lnSpc>
                <a:spcPts val="1900"/>
              </a:lnSpc>
              <a:spcBef>
                <a:spcPts val="895"/>
              </a:spcBef>
            </a:pPr>
            <a:r>
              <a:rPr sz="1600" dirty="0">
                <a:latin typeface="Arial"/>
                <a:cs typeface="Arial"/>
              </a:rPr>
              <a:t>sequence of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characters  more?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70815" marR="936625">
              <a:lnSpc>
                <a:spcPts val="1900"/>
              </a:lnSpc>
            </a:pPr>
            <a:r>
              <a:rPr sz="1600" dirty="0">
                <a:latin typeface="Arial"/>
                <a:cs typeface="Arial"/>
              </a:rPr>
              <a:t>compute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length  concatenate  test for equality  more?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76056" y="5834189"/>
            <a:ext cx="116903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7465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operations  (behaviors)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01692" y="4218749"/>
            <a:ext cx="5975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name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77632" y="4934077"/>
            <a:ext cx="96583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0" marR="5080" indent="-146685">
              <a:lnSpc>
                <a:spcPts val="2100"/>
              </a:lnSpc>
            </a:pPr>
            <a:r>
              <a:rPr sz="1800" dirty="0">
                <a:latin typeface="Arial"/>
                <a:cs typeface="Arial"/>
              </a:rPr>
              <a:t>attributes  (state)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62600" y="4325682"/>
            <a:ext cx="661035" cy="76835"/>
          </a:xfrm>
          <a:custGeom>
            <a:avLst/>
            <a:gdLst/>
            <a:ahLst/>
            <a:cxnLst/>
            <a:rect l="l" t="t" r="r" b="b"/>
            <a:pathLst>
              <a:path w="661035" h="76835">
                <a:moveTo>
                  <a:pt x="0" y="76454"/>
                </a:moveTo>
                <a:lnTo>
                  <a:pt x="660568" y="0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8326" y="4293679"/>
            <a:ext cx="80645" cy="76200"/>
          </a:xfrm>
          <a:custGeom>
            <a:avLst/>
            <a:gdLst/>
            <a:ahLst/>
            <a:cxnLst/>
            <a:rect l="l" t="t" r="r" b="b"/>
            <a:pathLst>
              <a:path w="80645" h="76200">
                <a:moveTo>
                  <a:pt x="0" y="0"/>
                </a:moveTo>
                <a:lnTo>
                  <a:pt x="8762" y="75692"/>
                </a:lnTo>
                <a:lnTo>
                  <a:pt x="80073" y="29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07372" y="3959722"/>
            <a:ext cx="442595" cy="442595"/>
          </a:xfrm>
          <a:custGeom>
            <a:avLst/>
            <a:gdLst/>
            <a:ahLst/>
            <a:cxnLst/>
            <a:rect l="l" t="t" r="r" b="b"/>
            <a:pathLst>
              <a:path w="442595" h="442595">
                <a:moveTo>
                  <a:pt x="442414" y="442414"/>
                </a:moveTo>
                <a:lnTo>
                  <a:pt x="0" y="0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89412" y="3941762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0" y="0"/>
                </a:moveTo>
                <a:lnTo>
                  <a:pt x="26936" y="80822"/>
                </a:lnTo>
                <a:lnTo>
                  <a:pt x="80822" y="269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67400" y="4865764"/>
            <a:ext cx="357505" cy="146050"/>
          </a:xfrm>
          <a:custGeom>
            <a:avLst/>
            <a:gdLst/>
            <a:ahLst/>
            <a:cxnLst/>
            <a:rect l="l" t="t" r="r" b="b"/>
            <a:pathLst>
              <a:path w="357504" h="146050">
                <a:moveTo>
                  <a:pt x="0" y="145973"/>
                </a:moveTo>
                <a:lnTo>
                  <a:pt x="357484" y="0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63449" y="4849698"/>
            <a:ext cx="85090" cy="71120"/>
          </a:xfrm>
          <a:custGeom>
            <a:avLst/>
            <a:gdLst/>
            <a:ahLst/>
            <a:cxnLst/>
            <a:rect l="l" t="t" r="r" b="b"/>
            <a:pathLst>
              <a:path w="85089" h="71120">
                <a:moveTo>
                  <a:pt x="0" y="0"/>
                </a:moveTo>
                <a:lnTo>
                  <a:pt x="28803" y="70548"/>
                </a:lnTo>
                <a:lnTo>
                  <a:pt x="84950" y="646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33030" y="4795849"/>
            <a:ext cx="364490" cy="292100"/>
          </a:xfrm>
          <a:custGeom>
            <a:avLst/>
            <a:gdLst/>
            <a:ahLst/>
            <a:cxnLst/>
            <a:rect l="l" t="t" r="r" b="b"/>
            <a:pathLst>
              <a:path w="364489" h="292100">
                <a:moveTo>
                  <a:pt x="364356" y="292087"/>
                </a:moveTo>
                <a:lnTo>
                  <a:pt x="0" y="0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13212" y="4779962"/>
            <a:ext cx="83820" cy="77470"/>
          </a:xfrm>
          <a:custGeom>
            <a:avLst/>
            <a:gdLst/>
            <a:ahLst/>
            <a:cxnLst/>
            <a:rect l="l" t="t" r="r" b="b"/>
            <a:pathLst>
              <a:path w="83820" h="77470">
                <a:moveTo>
                  <a:pt x="0" y="0"/>
                </a:moveTo>
                <a:lnTo>
                  <a:pt x="35623" y="77393"/>
                </a:lnTo>
                <a:lnTo>
                  <a:pt x="83286" y="179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91200" y="5783263"/>
            <a:ext cx="511809" cy="295275"/>
          </a:xfrm>
          <a:custGeom>
            <a:avLst/>
            <a:gdLst/>
            <a:ahLst/>
            <a:cxnLst/>
            <a:rect l="l" t="t" r="r" b="b"/>
            <a:pathLst>
              <a:path w="511810" h="295275">
                <a:moveTo>
                  <a:pt x="0" y="295273"/>
                </a:moveTo>
                <a:lnTo>
                  <a:pt x="511403" y="0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39560" y="5770562"/>
            <a:ext cx="85090" cy="71120"/>
          </a:xfrm>
          <a:custGeom>
            <a:avLst/>
            <a:gdLst/>
            <a:ahLst/>
            <a:cxnLst/>
            <a:rect l="l" t="t" r="r" b="b"/>
            <a:pathLst>
              <a:path w="85089" h="71120">
                <a:moveTo>
                  <a:pt x="85039" y="0"/>
                </a:moveTo>
                <a:lnTo>
                  <a:pt x="0" y="5105"/>
                </a:lnTo>
                <a:lnTo>
                  <a:pt x="38100" y="71094"/>
                </a:lnTo>
                <a:lnTo>
                  <a:pt x="85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34960" y="5859883"/>
            <a:ext cx="362585" cy="219075"/>
          </a:xfrm>
          <a:custGeom>
            <a:avLst/>
            <a:gdLst/>
            <a:ahLst/>
            <a:cxnLst/>
            <a:rect l="l" t="t" r="r" b="b"/>
            <a:pathLst>
              <a:path w="362585" h="219075">
                <a:moveTo>
                  <a:pt x="362426" y="218653"/>
                </a:moveTo>
                <a:lnTo>
                  <a:pt x="0" y="0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13212" y="5846762"/>
            <a:ext cx="85090" cy="72390"/>
          </a:xfrm>
          <a:custGeom>
            <a:avLst/>
            <a:gdLst/>
            <a:ahLst/>
            <a:cxnLst/>
            <a:rect l="l" t="t" r="r" b="b"/>
            <a:pathLst>
              <a:path w="85089" h="72389">
                <a:moveTo>
                  <a:pt x="0" y="0"/>
                </a:moveTo>
                <a:lnTo>
                  <a:pt x="45567" y="71983"/>
                </a:lnTo>
                <a:lnTo>
                  <a:pt x="84924" y="67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8745" y="845820"/>
            <a:ext cx="456057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83080" algn="l"/>
              </a:tabLst>
            </a:pPr>
            <a:r>
              <a:rPr sz="4400" dirty="0"/>
              <a:t>So,</a:t>
            </a:r>
            <a:r>
              <a:rPr sz="4400" spc="-5" dirty="0"/>
              <a:t> </a:t>
            </a:r>
            <a:r>
              <a:rPr sz="4400" dirty="0"/>
              <a:t>an	object is</a:t>
            </a:r>
            <a:r>
              <a:rPr sz="4400" spc="-110" dirty="0"/>
              <a:t> </a:t>
            </a:r>
            <a:r>
              <a:rPr sz="4400" dirty="0"/>
              <a:t>…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3139" y="1915795"/>
            <a:ext cx="621728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825" dirty="0">
                <a:solidFill>
                  <a:srgbClr val="330066"/>
                </a:solidFill>
                <a:latin typeface="Wingdings"/>
                <a:cs typeface="Wingdings"/>
              </a:rPr>
              <a:t></a:t>
            </a:r>
            <a:r>
              <a:rPr sz="2200" spc="155" dirty="0">
                <a:solidFill>
                  <a:srgbClr val="330066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Arial"/>
                <a:cs typeface="Arial"/>
              </a:rPr>
              <a:t>a </a:t>
            </a:r>
            <a:r>
              <a:rPr sz="3200" spc="-5" dirty="0">
                <a:latin typeface="Arial"/>
                <a:cs typeface="Arial"/>
              </a:rPr>
              <a:t>particular “instance” </a:t>
            </a:r>
            <a:r>
              <a:rPr sz="3200" dirty="0">
                <a:latin typeface="Arial"/>
                <a:cs typeface="Arial"/>
              </a:rPr>
              <a:t>of a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class.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8904" y="2758249"/>
            <a:ext cx="151257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Berg’s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Account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4492" y="2758249"/>
            <a:ext cx="16027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Frede’s</a:t>
            </a:r>
            <a:r>
              <a:rPr sz="1600" b="1" spc="-15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Account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9104" y="2758249"/>
            <a:ext cx="1805939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Mitchell’s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Account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29400" y="3048000"/>
            <a:ext cx="2209800" cy="1447800"/>
          </a:xfrm>
          <a:custGeom>
            <a:avLst/>
            <a:gdLst/>
            <a:ahLst/>
            <a:cxnLst/>
            <a:rect l="l" t="t" r="r" b="b"/>
            <a:pathLst>
              <a:path w="2209800" h="1447800">
                <a:moveTo>
                  <a:pt x="0" y="1447800"/>
                </a:moveTo>
                <a:lnTo>
                  <a:pt x="2209800" y="1447800"/>
                </a:lnTo>
                <a:lnTo>
                  <a:pt x="2209800" y="0"/>
                </a:lnTo>
                <a:lnTo>
                  <a:pt x="0" y="0"/>
                </a:lnTo>
                <a:lnTo>
                  <a:pt x="0" y="1447800"/>
                </a:lnTo>
                <a:close/>
              </a:path>
            </a:pathLst>
          </a:custGeom>
          <a:solidFill>
            <a:srgbClr val="D5D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9400" y="3048000"/>
            <a:ext cx="2209800" cy="1447800"/>
          </a:xfrm>
          <a:custGeom>
            <a:avLst/>
            <a:gdLst/>
            <a:ahLst/>
            <a:cxnLst/>
            <a:rect l="l" t="t" r="r" b="b"/>
            <a:pathLst>
              <a:path w="2209800" h="1447800">
                <a:moveTo>
                  <a:pt x="0" y="0"/>
                </a:moveTo>
                <a:lnTo>
                  <a:pt x="2209798" y="0"/>
                </a:lnTo>
                <a:lnTo>
                  <a:pt x="2209798" y="1447798"/>
                </a:lnTo>
                <a:lnTo>
                  <a:pt x="0" y="1447798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53904" y="4771199"/>
            <a:ext cx="3596640" cy="1951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For any of these accounts, one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endParaRPr sz="1800">
              <a:latin typeface="Arial"/>
              <a:cs typeface="Arial"/>
            </a:endParaRPr>
          </a:p>
          <a:p>
            <a:pPr marL="613410" indent="-143510">
              <a:lnSpc>
                <a:spcPct val="100000"/>
              </a:lnSpc>
              <a:spcBef>
                <a:spcPts val="1065"/>
              </a:spcBef>
              <a:buChar char="•"/>
              <a:tabLst>
                <a:tab pos="614045" algn="l"/>
              </a:tabLst>
            </a:pPr>
            <a:r>
              <a:rPr sz="1800" dirty="0">
                <a:latin typeface="Arial"/>
                <a:cs typeface="Arial"/>
              </a:rPr>
              <a:t>deposit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money</a:t>
            </a:r>
            <a:endParaRPr sz="1800">
              <a:latin typeface="Arial"/>
              <a:cs typeface="Arial"/>
            </a:endParaRPr>
          </a:p>
          <a:p>
            <a:pPr marL="613410" indent="-143510">
              <a:lnSpc>
                <a:spcPct val="100000"/>
              </a:lnSpc>
              <a:spcBef>
                <a:spcPts val="1140"/>
              </a:spcBef>
              <a:buChar char="•"/>
              <a:tabLst>
                <a:tab pos="614045" algn="l"/>
              </a:tabLst>
            </a:pPr>
            <a:r>
              <a:rPr sz="1800" dirty="0">
                <a:latin typeface="Arial"/>
                <a:cs typeface="Arial"/>
              </a:rPr>
              <a:t>withdraw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money</a:t>
            </a:r>
            <a:endParaRPr sz="1800">
              <a:latin typeface="Arial"/>
              <a:cs typeface="Arial"/>
            </a:endParaRPr>
          </a:p>
          <a:p>
            <a:pPr marL="613410" indent="-143510">
              <a:lnSpc>
                <a:spcPct val="100000"/>
              </a:lnSpc>
              <a:spcBef>
                <a:spcPts val="1140"/>
              </a:spcBef>
              <a:buChar char="•"/>
              <a:tabLst>
                <a:tab pos="614045" algn="l"/>
              </a:tabLst>
            </a:pPr>
            <a:r>
              <a:rPr sz="1800" dirty="0">
                <a:latin typeface="Arial"/>
                <a:cs typeface="Arial"/>
              </a:rPr>
              <a:t>check the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balance</a:t>
            </a:r>
            <a:endParaRPr sz="1800">
              <a:latin typeface="Arial"/>
              <a:cs typeface="Arial"/>
            </a:endParaRPr>
          </a:p>
          <a:p>
            <a:pPr marL="613410" indent="-143510">
              <a:lnSpc>
                <a:spcPct val="100000"/>
              </a:lnSpc>
              <a:spcBef>
                <a:spcPts val="1140"/>
              </a:spcBef>
              <a:buChar char="•"/>
              <a:tabLst>
                <a:tab pos="614045" algn="l"/>
              </a:tabLst>
            </a:pPr>
            <a:r>
              <a:rPr sz="1800" dirty="0">
                <a:latin typeface="Arial"/>
                <a:cs typeface="Arial"/>
              </a:rPr>
              <a:t>transfer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money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95400" y="3048000"/>
            <a:ext cx="2209800" cy="1447800"/>
          </a:xfrm>
          <a:custGeom>
            <a:avLst/>
            <a:gdLst/>
            <a:ahLst/>
            <a:cxnLst/>
            <a:rect l="l" t="t" r="r" b="b"/>
            <a:pathLst>
              <a:path w="2209800" h="1447800">
                <a:moveTo>
                  <a:pt x="0" y="1447800"/>
                </a:moveTo>
                <a:lnTo>
                  <a:pt x="2209800" y="1447800"/>
                </a:lnTo>
                <a:lnTo>
                  <a:pt x="2209800" y="0"/>
                </a:lnTo>
                <a:lnTo>
                  <a:pt x="0" y="0"/>
                </a:lnTo>
                <a:lnTo>
                  <a:pt x="0" y="1447800"/>
                </a:lnTo>
                <a:close/>
              </a:path>
            </a:pathLst>
          </a:custGeom>
          <a:solidFill>
            <a:srgbClr val="D5D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95400" y="3048000"/>
            <a:ext cx="2209800" cy="1447800"/>
          </a:xfrm>
          <a:custGeom>
            <a:avLst/>
            <a:gdLst/>
            <a:ahLst/>
            <a:cxnLst/>
            <a:rect l="l" t="t" r="r" b="b"/>
            <a:pathLst>
              <a:path w="2209800" h="1447800">
                <a:moveTo>
                  <a:pt x="0" y="0"/>
                </a:moveTo>
                <a:lnTo>
                  <a:pt x="2209798" y="0"/>
                </a:lnTo>
                <a:lnTo>
                  <a:pt x="2209798" y="1447798"/>
                </a:lnTo>
                <a:lnTo>
                  <a:pt x="0" y="1447798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439379" y="3048000"/>
          <a:ext cx="6742157" cy="14503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5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21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1768">
                <a:tc>
                  <a:txBody>
                    <a:bodyPr/>
                    <a:lstStyle/>
                    <a:p>
                      <a:pPr marL="22225">
                        <a:lnSpc>
                          <a:spcPts val="1910"/>
                        </a:lnSpc>
                        <a:spcBef>
                          <a:spcPts val="141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12-345-6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2225">
                        <a:lnSpc>
                          <a:spcPts val="191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Jen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Berg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5D200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359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61290">
                        <a:lnSpc>
                          <a:spcPts val="191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65-432-1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161290">
                        <a:lnSpc>
                          <a:spcPts val="191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Dennis</a:t>
                      </a:r>
                      <a:r>
                        <a:rPr sz="16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Frede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359">
                      <a:solidFill>
                        <a:srgbClr val="000000"/>
                      </a:solidFill>
                      <a:prstDash val="solid"/>
                    </a:lnL>
                    <a:lnR w="9359">
                      <a:solidFill>
                        <a:srgbClr val="000000"/>
                      </a:solidFill>
                      <a:prstDash val="solid"/>
                    </a:lnR>
                    <a:lnT w="9359">
                      <a:solidFill>
                        <a:srgbClr val="000000"/>
                      </a:solidFill>
                      <a:prstDash val="solid"/>
                    </a:lnT>
                    <a:solidFill>
                      <a:srgbClr val="D5D200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359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241935">
                        <a:lnSpc>
                          <a:spcPts val="191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43-261-5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41935">
                        <a:lnSpc>
                          <a:spcPts val="191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Sarah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Mitchell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5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22225">
                        <a:lnSpc>
                          <a:spcPts val="1689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$1,250.86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5D200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359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ts val="1839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$5.50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359">
                      <a:solidFill>
                        <a:srgbClr val="000000"/>
                      </a:solidFill>
                      <a:prstDash val="solid"/>
                    </a:lnL>
                    <a:lnR w="9359">
                      <a:solidFill>
                        <a:srgbClr val="000000"/>
                      </a:solidFill>
                      <a:prstDash val="solid"/>
                    </a:lnR>
                    <a:solidFill>
                      <a:srgbClr val="D5D200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359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1839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$825.50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5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730">
                <a:tc>
                  <a:txBody>
                    <a:bodyPr/>
                    <a:lstStyle/>
                    <a:p>
                      <a:pPr marL="22225">
                        <a:lnSpc>
                          <a:spcPts val="1689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1.5%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5D200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359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ts val="1839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2.7%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359">
                      <a:solidFill>
                        <a:srgbClr val="000000"/>
                      </a:solidFill>
                      <a:prstDash val="solid"/>
                    </a:lnL>
                    <a:lnR w="9359">
                      <a:solidFill>
                        <a:srgbClr val="000000"/>
                      </a:solidFill>
                      <a:prstDash val="solid"/>
                    </a:lnR>
                    <a:lnB w="9359">
                      <a:solidFill>
                        <a:srgbClr val="000000"/>
                      </a:solidFill>
                      <a:prstDash val="solid"/>
                    </a:lnB>
                    <a:solidFill>
                      <a:srgbClr val="D5D200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359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1839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2.5%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D5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84" rIns="0" bIns="0" rtlCol="0">
            <a:spAutoFit/>
          </a:bodyPr>
          <a:lstStyle/>
          <a:p>
            <a:pPr marL="2547620">
              <a:lnSpc>
                <a:spcPct val="100000"/>
              </a:lnSpc>
            </a:pPr>
            <a:r>
              <a:rPr dirty="0"/>
              <a:t>Class</a:t>
            </a:r>
            <a:r>
              <a:rPr spc="-60" dirty="0"/>
              <a:t> </a:t>
            </a:r>
            <a:r>
              <a:rPr spc="-5" dirty="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81479"/>
            <a:ext cx="8049895" cy="3359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You already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know</a:t>
            </a:r>
            <a:endParaRPr sz="3200">
              <a:latin typeface="Arial"/>
              <a:cs typeface="Arial"/>
            </a:endParaRPr>
          </a:p>
          <a:p>
            <a:pPr marL="749300" marR="485775" lvl="1" indent="-279400">
              <a:lnSpc>
                <a:spcPts val="3030"/>
              </a:lnSpc>
              <a:spcBef>
                <a:spcPts val="64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how to use classes and the objects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created  from them,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how to invoke their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methods.</a:t>
            </a:r>
            <a:endParaRPr sz="2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Arial"/>
              <a:buChar char="–"/>
            </a:pP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529"/>
              </a:lnSpc>
              <a:spcBef>
                <a:spcPts val="175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For </a:t>
            </a:r>
            <a:r>
              <a:rPr sz="3200" dirty="0">
                <a:latin typeface="Arial"/>
                <a:cs typeface="Arial"/>
              </a:rPr>
              <a:t>example, you have already been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using  </a:t>
            </a:r>
            <a:r>
              <a:rPr sz="3200" spc="-5" dirty="0">
                <a:latin typeface="Arial"/>
                <a:cs typeface="Arial"/>
              </a:rPr>
              <a:t>the predefined </a:t>
            </a:r>
            <a:r>
              <a:rPr sz="3200" b="1" dirty="0">
                <a:solidFill>
                  <a:srgbClr val="034CA1"/>
                </a:solidFill>
                <a:latin typeface="Courier New"/>
                <a:cs typeface="Courier New"/>
              </a:rPr>
              <a:t>String</a:t>
            </a:r>
            <a:r>
              <a:rPr sz="3200" b="1" spc="-107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latin typeface="Arial"/>
                <a:cs typeface="Arial"/>
              </a:rPr>
              <a:t>class.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339" y="5186679"/>
            <a:ext cx="9398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String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7317" y="5186679"/>
            <a:ext cx="21088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79500" algn="l"/>
              </a:tabLst>
            </a:pPr>
            <a:r>
              <a:rPr sz="2000" b="1" spc="-5" dirty="0">
                <a:latin typeface="Courier New"/>
                <a:cs typeface="Courier New"/>
              </a:rPr>
              <a:t>nam</a:t>
            </a:r>
            <a:r>
              <a:rPr sz="2000" b="1" dirty="0">
                <a:latin typeface="Courier New"/>
                <a:cs typeface="Courier New"/>
              </a:rPr>
              <a:t>e =	</a:t>
            </a:r>
            <a:r>
              <a:rPr sz="2000" b="1" spc="-10" dirty="0">
                <a:latin typeface="MS PGothic"/>
                <a:cs typeface="MS PGothic"/>
              </a:rPr>
              <a:t>“</a:t>
            </a:r>
            <a:r>
              <a:rPr sz="2000" b="1" dirty="0">
                <a:latin typeface="Courier New"/>
                <a:cs typeface="Courier New"/>
              </a:rPr>
              <a:t>Fido</a:t>
            </a:r>
            <a:r>
              <a:rPr sz="2000" b="1" spc="-10" dirty="0">
                <a:latin typeface="MS PGothic"/>
                <a:cs typeface="MS PGothic"/>
              </a:rPr>
              <a:t>”</a:t>
            </a:r>
            <a:r>
              <a:rPr sz="2000" b="1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02514" y="5529579"/>
            <a:ext cx="2591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6865" algn="l"/>
                <a:tab pos="596900" algn="l"/>
                <a:tab pos="901700" algn="l"/>
              </a:tabLst>
            </a:pPr>
            <a:r>
              <a:rPr sz="2000" b="1" dirty="0">
                <a:latin typeface="Courier New"/>
                <a:cs typeface="Courier New"/>
              </a:rPr>
              <a:t>=	</a:t>
            </a:r>
            <a:r>
              <a:rPr sz="2000" b="1" spc="-10" dirty="0">
                <a:latin typeface="MS PGothic"/>
                <a:cs typeface="MS PGothic"/>
              </a:rPr>
              <a:t>“	</a:t>
            </a:r>
            <a:r>
              <a:rPr sz="2000" b="1" spc="-10" dirty="0">
                <a:latin typeface="Courier New"/>
                <a:cs typeface="Courier New"/>
              </a:rPr>
              <a:t>+	name.length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339" y="5568188"/>
            <a:ext cx="4725035" cy="56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1465" marR="5080" indent="-279400">
              <a:lnSpc>
                <a:spcPts val="2120"/>
              </a:lnSpc>
            </a:pPr>
            <a:r>
              <a:rPr sz="2000" b="1" spc="-5" dirty="0">
                <a:latin typeface="Courier New"/>
                <a:cs typeface="Courier New"/>
              </a:rPr>
              <a:t>System.out.println(</a:t>
            </a:r>
            <a:r>
              <a:rPr sz="2000" b="1" spc="-5" dirty="0">
                <a:latin typeface="MS PGothic"/>
                <a:cs typeface="MS PGothic"/>
              </a:rPr>
              <a:t>“</a:t>
            </a:r>
            <a:r>
              <a:rPr sz="2000" b="1" spc="-5" dirty="0">
                <a:latin typeface="Courier New"/>
                <a:cs typeface="Courier New"/>
              </a:rPr>
              <a:t>name length  </a:t>
            </a:r>
            <a:r>
              <a:rPr sz="2000" b="1" dirty="0">
                <a:latin typeface="Courier New"/>
                <a:cs typeface="Courier New"/>
              </a:rPr>
              <a:t>());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8708" y="785024"/>
            <a:ext cx="400621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2125" algn="l"/>
                <a:tab pos="2863850" algn="l"/>
              </a:tabLst>
            </a:pPr>
            <a:r>
              <a:rPr dirty="0"/>
              <a:t>A	Class</a:t>
            </a:r>
            <a:r>
              <a:rPr spc="-5" dirty="0"/>
              <a:t> I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a	</a:t>
            </a:r>
            <a:r>
              <a:rPr spc="-5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51000"/>
            <a:ext cx="7148830" cy="4789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 class is a programmer-defined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type.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Variables can be declared of a class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type.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ts val="3045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 value of a class variable type is called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ts val="3045"/>
              </a:lnSpc>
            </a:pPr>
            <a:r>
              <a:rPr sz="2800" b="1" i="1" spc="-5" dirty="0">
                <a:latin typeface="Arial"/>
                <a:cs typeface="Arial"/>
              </a:rPr>
              <a:t>object </a:t>
            </a:r>
            <a:r>
              <a:rPr sz="2800" dirty="0">
                <a:latin typeface="Arial"/>
                <a:cs typeface="Arial"/>
              </a:rPr>
              <a:t>or an </a:t>
            </a:r>
            <a:r>
              <a:rPr sz="2800" b="1" i="1" spc="-5" dirty="0">
                <a:latin typeface="Arial"/>
                <a:cs typeface="Arial"/>
              </a:rPr>
              <a:t>instance </a:t>
            </a:r>
            <a:r>
              <a:rPr sz="2800" dirty="0">
                <a:latin typeface="Arial"/>
                <a:cs typeface="Arial"/>
              </a:rPr>
              <a:t>of the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class</a:t>
            </a:r>
            <a:r>
              <a:rPr sz="2800" i="1" spc="-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19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If A is a class, then the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phrases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110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MS PGothic"/>
                <a:cs typeface="MS PGothic"/>
              </a:rPr>
              <a:t>“</a:t>
            </a:r>
            <a:r>
              <a:rPr sz="2000" dirty="0">
                <a:latin typeface="Arial"/>
                <a:cs typeface="Arial"/>
              </a:rPr>
              <a:t>X is of type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dirty="0">
                <a:latin typeface="MS PGothic"/>
                <a:cs typeface="MS PGothic"/>
              </a:rPr>
              <a:t>“</a:t>
            </a:r>
            <a:endParaRPr sz="2000">
              <a:latin typeface="MS PGothic"/>
              <a:cs typeface="MS PGothic"/>
            </a:endParaRPr>
          </a:p>
          <a:p>
            <a:pPr marL="1155700" lvl="2" indent="-228600">
              <a:lnSpc>
                <a:spcPct val="100000"/>
              </a:lnSpc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MS PGothic"/>
                <a:cs typeface="MS PGothic"/>
              </a:rPr>
              <a:t>“</a:t>
            </a:r>
            <a:r>
              <a:rPr sz="2000" dirty="0">
                <a:latin typeface="Arial"/>
                <a:cs typeface="Arial"/>
              </a:rPr>
              <a:t>X is an object of the class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A"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MS PGothic"/>
                <a:cs typeface="MS PGothic"/>
              </a:rPr>
              <a:t>“</a:t>
            </a:r>
            <a:r>
              <a:rPr sz="2000" dirty="0">
                <a:latin typeface="Arial"/>
                <a:cs typeface="Arial"/>
              </a:rPr>
              <a:t>X is an instance of the class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A"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Times New Roman"/>
              <a:cs typeface="Times New Roman"/>
            </a:endParaRPr>
          </a:p>
          <a:p>
            <a:pPr marL="75501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mean the same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64" rIns="0" bIns="0" rtlCol="0">
            <a:spAutoFit/>
          </a:bodyPr>
          <a:lstStyle/>
          <a:p>
            <a:pPr marL="3663950">
              <a:lnSpc>
                <a:spcPct val="100000"/>
              </a:lnSpc>
            </a:pPr>
            <a:r>
              <a:rPr sz="3600" spc="-5" dirty="0"/>
              <a:t>O</a:t>
            </a:r>
            <a:r>
              <a:rPr sz="3600" dirty="0"/>
              <a:t>bjec</a:t>
            </a:r>
            <a:r>
              <a:rPr sz="3600" spc="-5" dirty="0"/>
              <a:t>t</a:t>
            </a:r>
            <a:r>
              <a:rPr sz="3600" dirty="0"/>
              <a:t>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45539" y="1686559"/>
            <a:ext cx="7682230" cy="337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All objects of a class have the same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methods.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30"/>
              </a:lnSpc>
              <a:buChar char="•"/>
              <a:tabLst>
                <a:tab pos="354965" algn="l"/>
                <a:tab pos="355600" algn="l"/>
                <a:tab pos="6205855" algn="l"/>
              </a:tabLst>
            </a:pPr>
            <a:r>
              <a:rPr sz="2800" dirty="0">
                <a:latin typeface="Arial"/>
                <a:cs typeface="Arial"/>
              </a:rPr>
              <a:t>All objects of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 class have the same	attributes  (i.e., name, type, and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number).</a:t>
            </a:r>
            <a:endParaRPr sz="2800">
              <a:latin typeface="Arial"/>
              <a:cs typeface="Arial"/>
            </a:endParaRPr>
          </a:p>
          <a:p>
            <a:pPr marL="749300" marR="716915" lvl="1" indent="-279400">
              <a:lnSpc>
                <a:spcPts val="2620"/>
              </a:lnSpc>
              <a:spcBef>
                <a:spcPts val="181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For different objects, each attribute can hold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  different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value.</a:t>
            </a:r>
            <a:endParaRPr sz="2400">
              <a:latin typeface="Arial"/>
              <a:cs typeface="Arial"/>
            </a:endParaRPr>
          </a:p>
          <a:p>
            <a:pPr marL="749300" marR="38735" lvl="1" indent="-279400">
              <a:lnSpc>
                <a:spcPts val="2520"/>
              </a:lnSpc>
              <a:spcBef>
                <a:spcPts val="63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The values of the attributes define the object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state</a:t>
            </a:r>
            <a:r>
              <a:rPr sz="2400" spc="-5" dirty="0">
                <a:latin typeface="Arial"/>
                <a:cs typeface="Arial"/>
              </a:rPr>
              <a:t>,  </a:t>
            </a:r>
            <a:r>
              <a:rPr sz="2400" dirty="0">
                <a:latin typeface="Arial"/>
                <a:cs typeface="Arial"/>
              </a:rPr>
              <a:t>which is what makes each object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unique.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6184" y="785024"/>
            <a:ext cx="457136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28700" algn="l"/>
              </a:tabLst>
            </a:pPr>
            <a:r>
              <a:rPr spc="-5" dirty="0"/>
              <a:t>The	</a:t>
            </a:r>
            <a:r>
              <a:rPr dirty="0"/>
              <a:t>Class</a:t>
            </a:r>
            <a:r>
              <a:rPr spc="-65" dirty="0"/>
              <a:t> </a:t>
            </a:r>
            <a:r>
              <a:rPr spc="-5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2120"/>
            <a:ext cx="8057515" cy="453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 </a:t>
            </a:r>
            <a:r>
              <a:rPr sz="2800" b="1" i="1" dirty="0">
                <a:latin typeface="Arial"/>
                <a:cs typeface="Arial"/>
              </a:rPr>
              <a:t>class </a:t>
            </a:r>
            <a:r>
              <a:rPr sz="2800" b="1" i="1" spc="-5" dirty="0">
                <a:latin typeface="Arial"/>
                <a:cs typeface="Arial"/>
              </a:rPr>
              <a:t>definition </a:t>
            </a:r>
            <a:r>
              <a:rPr sz="2800" dirty="0">
                <a:latin typeface="Arial"/>
                <a:cs typeface="Arial"/>
              </a:rPr>
              <a:t>implements the class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model.</a:t>
            </a:r>
          </a:p>
          <a:p>
            <a:pPr marL="749300" marR="296545" lvl="1" indent="-279400">
              <a:lnSpc>
                <a:spcPct val="101499"/>
              </a:lnSpc>
              <a:spcBef>
                <a:spcPts val="4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The class behaviors/services/actions/operations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  implemented by class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methods</a:t>
            </a:r>
            <a:r>
              <a:rPr sz="2400" i="1" dirty="0">
                <a:solidFill>
                  <a:srgbClr val="034CA1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49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The class attributes (data items) are called </a:t>
            </a:r>
            <a:r>
              <a:rPr sz="2400" b="1" i="1" dirty="0">
                <a:latin typeface="Arial"/>
                <a:cs typeface="Arial"/>
              </a:rPr>
              <a:t>fields</a:t>
            </a:r>
            <a:r>
              <a:rPr sz="2400" b="1" i="1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</a:p>
          <a:p>
            <a:pPr marL="748665">
              <a:lnSpc>
                <a:spcPct val="100000"/>
              </a:lnSpc>
              <a:spcBef>
                <a:spcPts val="45"/>
              </a:spcBef>
            </a:pPr>
            <a:r>
              <a:rPr sz="2400" b="1" i="1" dirty="0">
                <a:latin typeface="Arial"/>
                <a:cs typeface="Arial"/>
              </a:rPr>
              <a:t>instance</a:t>
            </a:r>
            <a:r>
              <a:rPr sz="2400" b="1" i="1" spc="-55" dirty="0">
                <a:latin typeface="Arial"/>
                <a:cs typeface="Arial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variables</a:t>
            </a:r>
            <a:r>
              <a:rPr sz="2400" i="1" spc="-5" dirty="0">
                <a:solidFill>
                  <a:srgbClr val="034CA1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355600" marR="5080" indent="-342900">
              <a:lnSpc>
                <a:spcPct val="102000"/>
              </a:lnSpc>
              <a:spcBef>
                <a:spcPts val="202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 Java, classes are defined in files with the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.java  extension.</a:t>
            </a:r>
          </a:p>
          <a:p>
            <a:pPr marL="355600" marR="44450" indent="-342900">
              <a:lnSpc>
                <a:spcPts val="3329"/>
              </a:lnSpc>
              <a:spcBef>
                <a:spcPts val="74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name of the file must match the name of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  class defined within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it.</a:t>
            </a:r>
          </a:p>
          <a:p>
            <a:pPr marL="755650" lvl="1" indent="-285750">
              <a:lnSpc>
                <a:spcPct val="100000"/>
              </a:lnSpc>
              <a:spcBef>
                <a:spcPts val="509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e.g. class </a:t>
            </a:r>
            <a:r>
              <a:rPr sz="2400" spc="-345" dirty="0">
                <a:latin typeface="MS PGothic"/>
                <a:cs typeface="MS PGothic"/>
              </a:rPr>
              <a:t>ʻ</a:t>
            </a:r>
            <a:r>
              <a:rPr sz="2400" spc="-345" dirty="0">
                <a:latin typeface="Arial"/>
                <a:cs typeface="Arial"/>
              </a:rPr>
              <a:t>Baker</a:t>
            </a:r>
            <a:r>
              <a:rPr sz="2400" spc="-345" dirty="0">
                <a:latin typeface="MS PGothic"/>
                <a:cs typeface="MS PGothic"/>
              </a:rPr>
              <a:t>ʼ  </a:t>
            </a:r>
            <a:r>
              <a:rPr sz="2400" dirty="0">
                <a:latin typeface="Arial"/>
                <a:cs typeface="Arial"/>
              </a:rPr>
              <a:t>must be in</a:t>
            </a:r>
            <a:r>
              <a:rPr sz="2400" spc="-2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Baker.java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64" rIns="0" bIns="0" rtlCol="0">
            <a:spAutoFit/>
          </a:bodyPr>
          <a:lstStyle/>
          <a:p>
            <a:pPr marL="1910714">
              <a:lnSpc>
                <a:spcPct val="100000"/>
              </a:lnSpc>
            </a:pPr>
            <a:r>
              <a:rPr sz="3600" spc="-5" dirty="0"/>
              <a:t>Anatomy </a:t>
            </a:r>
            <a:r>
              <a:rPr sz="3600" dirty="0"/>
              <a:t>of a Java</a:t>
            </a:r>
            <a:r>
              <a:rPr sz="3600" spc="-70" dirty="0"/>
              <a:t> </a:t>
            </a:r>
            <a:r>
              <a:rPr sz="3600" dirty="0"/>
              <a:t>Class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447800" y="2362200"/>
            <a:ext cx="2362200" cy="533400"/>
          </a:xfrm>
          <a:prstGeom prst="rect">
            <a:avLst/>
          </a:prstGeom>
          <a:solidFill>
            <a:srgbClr val="C6E6E9"/>
          </a:solidFill>
          <a:ln w="9524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24460" marR="113030" indent="88900">
              <a:lnSpc>
                <a:spcPts val="2100"/>
              </a:lnSpc>
              <a:spcBef>
                <a:spcPts val="20"/>
              </a:spcBef>
            </a:pPr>
            <a:r>
              <a:rPr sz="1800" dirty="0">
                <a:latin typeface="Comic Sans MS"/>
                <a:cs typeface="Comic Sans MS"/>
              </a:rPr>
              <a:t>Visibility </a:t>
            </a:r>
            <a:r>
              <a:rPr sz="1800" spc="-5" dirty="0">
                <a:latin typeface="Comic Sans MS"/>
                <a:cs typeface="Comic Sans MS"/>
              </a:rPr>
              <a:t>modifier  (More </a:t>
            </a:r>
            <a:r>
              <a:rPr sz="1800" dirty="0">
                <a:latin typeface="Comic Sans MS"/>
                <a:cs typeface="Comic Sans MS"/>
              </a:rPr>
              <a:t>on </a:t>
            </a:r>
            <a:r>
              <a:rPr sz="1800" spc="-5" dirty="0">
                <a:latin typeface="Comic Sans MS"/>
                <a:cs typeface="Comic Sans MS"/>
              </a:rPr>
              <a:t>this</a:t>
            </a:r>
            <a:r>
              <a:rPr sz="1800" spc="-7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later)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6999" y="2514600"/>
            <a:ext cx="2286000" cy="381000"/>
          </a:xfrm>
          <a:prstGeom prst="rect">
            <a:avLst/>
          </a:prstGeom>
          <a:solidFill>
            <a:srgbClr val="C6E6E9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380"/>
              </a:spcBef>
            </a:pPr>
            <a:r>
              <a:rPr sz="1800" dirty="0">
                <a:latin typeface="Comic Sans MS"/>
                <a:cs typeface="Comic Sans MS"/>
              </a:rPr>
              <a:t>Name of </a:t>
            </a:r>
            <a:r>
              <a:rPr sz="1800" spc="-5" dirty="0">
                <a:latin typeface="Comic Sans MS"/>
                <a:cs typeface="Comic Sans MS"/>
              </a:rPr>
              <a:t>the</a:t>
            </a:r>
            <a:r>
              <a:rPr sz="1800" spc="-10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class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7199" y="2438400"/>
            <a:ext cx="1905000" cy="381000"/>
          </a:xfrm>
          <a:prstGeom prst="rect">
            <a:avLst/>
          </a:prstGeom>
          <a:solidFill>
            <a:srgbClr val="C6E6E9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380"/>
              </a:spcBef>
            </a:pPr>
            <a:r>
              <a:rPr sz="1800" dirty="0">
                <a:latin typeface="Comic Sans MS"/>
                <a:cs typeface="Comic Sans MS"/>
              </a:rPr>
              <a:t>Keyword</a:t>
            </a:r>
            <a:r>
              <a:rPr sz="1800" spc="-10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urier New"/>
                <a:cs typeface="Courier New"/>
              </a:rPr>
              <a:t>class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0200" y="3581400"/>
            <a:ext cx="1676400" cy="381000"/>
          </a:xfrm>
          <a:custGeom>
            <a:avLst/>
            <a:gdLst/>
            <a:ahLst/>
            <a:cxnLst/>
            <a:rect l="l" t="t" r="r" b="b"/>
            <a:pathLst>
              <a:path w="1676400" h="381000">
                <a:moveTo>
                  <a:pt x="0" y="381000"/>
                </a:moveTo>
                <a:lnTo>
                  <a:pt x="1676400" y="381000"/>
                </a:lnTo>
                <a:lnTo>
                  <a:pt x="16764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C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0199" y="3581400"/>
            <a:ext cx="1676400" cy="381000"/>
          </a:xfrm>
          <a:custGeom>
            <a:avLst/>
            <a:gdLst/>
            <a:ahLst/>
            <a:cxnLst/>
            <a:rect l="l" t="t" r="r" b="b"/>
            <a:pathLst>
              <a:path w="1676400" h="381000">
                <a:moveTo>
                  <a:pt x="0" y="0"/>
                </a:moveTo>
                <a:lnTo>
                  <a:pt x="1676398" y="0"/>
                </a:lnTo>
                <a:lnTo>
                  <a:pt x="1676398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82139" y="3589020"/>
            <a:ext cx="11226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public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9000" y="3581400"/>
            <a:ext cx="1676400" cy="381000"/>
          </a:xfrm>
          <a:custGeom>
            <a:avLst/>
            <a:gdLst/>
            <a:ahLst/>
            <a:cxnLst/>
            <a:rect l="l" t="t" r="r" b="b"/>
            <a:pathLst>
              <a:path w="1676400" h="381000">
                <a:moveTo>
                  <a:pt x="0" y="381000"/>
                </a:moveTo>
                <a:lnTo>
                  <a:pt x="1676400" y="381000"/>
                </a:lnTo>
                <a:lnTo>
                  <a:pt x="16764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C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9000" y="3581400"/>
            <a:ext cx="1676400" cy="381000"/>
          </a:xfrm>
          <a:custGeom>
            <a:avLst/>
            <a:gdLst/>
            <a:ahLst/>
            <a:cxnLst/>
            <a:rect l="l" t="t" r="r" b="b"/>
            <a:pathLst>
              <a:path w="1676400" h="381000">
                <a:moveTo>
                  <a:pt x="0" y="0"/>
                </a:moveTo>
                <a:lnTo>
                  <a:pt x="1676398" y="0"/>
                </a:lnTo>
                <a:lnTo>
                  <a:pt x="1676398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99840" y="3589020"/>
            <a:ext cx="9398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10200" y="3581400"/>
            <a:ext cx="1905000" cy="381000"/>
          </a:xfrm>
          <a:prstGeom prst="rect">
            <a:avLst/>
          </a:prstGeom>
          <a:solidFill>
            <a:srgbClr val="FFFC78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607060">
              <a:lnSpc>
                <a:spcPct val="100000"/>
              </a:lnSpc>
              <a:spcBef>
                <a:spcPts val="380"/>
              </a:spcBef>
            </a:pPr>
            <a:r>
              <a:rPr sz="1800" spc="-5" dirty="0">
                <a:latin typeface="Courier New"/>
                <a:cs typeface="Courier New"/>
              </a:rPr>
              <a:t>Date1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2739" y="4389120"/>
            <a:ext cx="1022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2739" y="5760720"/>
            <a:ext cx="1022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5000" y="4800600"/>
            <a:ext cx="5867400" cy="762000"/>
          </a:xfrm>
          <a:prstGeom prst="rect">
            <a:avLst/>
          </a:prstGeom>
          <a:solidFill>
            <a:srgbClr val="FFFC78"/>
          </a:solidFill>
          <a:ln w="9524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Times New Roman"/>
              <a:cs typeface="Times New Roman"/>
            </a:endParaRPr>
          </a:p>
          <a:p>
            <a:pPr marL="822960">
              <a:lnSpc>
                <a:spcPct val="100000"/>
              </a:lnSpc>
            </a:pPr>
            <a:r>
              <a:rPr sz="1800" dirty="0">
                <a:latin typeface="Comic Sans MS"/>
                <a:cs typeface="Comic Sans MS"/>
              </a:rPr>
              <a:t>Class </a:t>
            </a:r>
            <a:r>
              <a:rPr sz="1800" spc="-5" dirty="0">
                <a:latin typeface="Comic Sans MS"/>
                <a:cs typeface="Comic Sans MS"/>
              </a:rPr>
              <a:t>body: instance variables,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methods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03449" y="2895600"/>
            <a:ext cx="539750" cy="662305"/>
          </a:xfrm>
          <a:custGeom>
            <a:avLst/>
            <a:gdLst/>
            <a:ahLst/>
            <a:cxnLst/>
            <a:rect l="l" t="t" r="r" b="b"/>
            <a:pathLst>
              <a:path w="539750" h="662304">
                <a:moveTo>
                  <a:pt x="539749" y="0"/>
                </a:moveTo>
                <a:lnTo>
                  <a:pt x="361949" y="100012"/>
                </a:lnTo>
                <a:lnTo>
                  <a:pt x="278605" y="149224"/>
                </a:lnTo>
                <a:lnTo>
                  <a:pt x="201611" y="197643"/>
                </a:lnTo>
                <a:lnTo>
                  <a:pt x="134144" y="245268"/>
                </a:lnTo>
                <a:lnTo>
                  <a:pt x="76994" y="292099"/>
                </a:lnTo>
                <a:lnTo>
                  <a:pt x="34131" y="337343"/>
                </a:lnTo>
                <a:lnTo>
                  <a:pt x="6349" y="380999"/>
                </a:lnTo>
                <a:lnTo>
                  <a:pt x="0" y="403224"/>
                </a:lnTo>
                <a:lnTo>
                  <a:pt x="0" y="425449"/>
                </a:lnTo>
                <a:lnTo>
                  <a:pt x="15081" y="471487"/>
                </a:lnTo>
                <a:lnTo>
                  <a:pt x="46037" y="517524"/>
                </a:lnTo>
                <a:lnTo>
                  <a:pt x="87312" y="561974"/>
                </a:lnTo>
                <a:lnTo>
                  <a:pt x="132556" y="602455"/>
                </a:lnTo>
                <a:lnTo>
                  <a:pt x="176211" y="638174"/>
                </a:lnTo>
                <a:lnTo>
                  <a:pt x="205355" y="66180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13622" y="3465017"/>
            <a:ext cx="125095" cy="116839"/>
          </a:xfrm>
          <a:custGeom>
            <a:avLst/>
            <a:gdLst/>
            <a:ahLst/>
            <a:cxnLst/>
            <a:rect l="l" t="t" r="r" b="b"/>
            <a:pathLst>
              <a:path w="125094" h="116839">
                <a:moveTo>
                  <a:pt x="71983" y="0"/>
                </a:moveTo>
                <a:lnTo>
                  <a:pt x="0" y="88785"/>
                </a:lnTo>
                <a:lnTo>
                  <a:pt x="124777" y="116382"/>
                </a:lnTo>
                <a:lnTo>
                  <a:pt x="719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50930" y="2819400"/>
            <a:ext cx="512445" cy="740410"/>
          </a:xfrm>
          <a:custGeom>
            <a:avLst/>
            <a:gdLst/>
            <a:ahLst/>
            <a:cxnLst/>
            <a:rect l="l" t="t" r="r" b="b"/>
            <a:pathLst>
              <a:path w="512445" h="740410">
                <a:moveTo>
                  <a:pt x="273469" y="0"/>
                </a:moveTo>
                <a:lnTo>
                  <a:pt x="375069" y="67468"/>
                </a:lnTo>
                <a:lnTo>
                  <a:pt x="420313" y="102393"/>
                </a:lnTo>
                <a:lnTo>
                  <a:pt x="459207" y="138112"/>
                </a:lnTo>
                <a:lnTo>
                  <a:pt x="488575" y="176212"/>
                </a:lnTo>
                <a:lnTo>
                  <a:pt x="507625" y="215899"/>
                </a:lnTo>
                <a:lnTo>
                  <a:pt x="512388" y="258762"/>
                </a:lnTo>
                <a:lnTo>
                  <a:pt x="502069" y="304799"/>
                </a:lnTo>
                <a:lnTo>
                  <a:pt x="474288" y="354012"/>
                </a:lnTo>
                <a:lnTo>
                  <a:pt x="431425" y="406399"/>
                </a:lnTo>
                <a:lnTo>
                  <a:pt x="374275" y="461962"/>
                </a:lnTo>
                <a:lnTo>
                  <a:pt x="306806" y="519112"/>
                </a:lnTo>
                <a:lnTo>
                  <a:pt x="229813" y="578643"/>
                </a:lnTo>
                <a:lnTo>
                  <a:pt x="146469" y="638968"/>
                </a:lnTo>
                <a:lnTo>
                  <a:pt x="0" y="74032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19600" y="3469360"/>
            <a:ext cx="127000" cy="112395"/>
          </a:xfrm>
          <a:custGeom>
            <a:avLst/>
            <a:gdLst/>
            <a:ahLst/>
            <a:cxnLst/>
            <a:rect l="l" t="t" r="r" b="b"/>
            <a:pathLst>
              <a:path w="127000" h="112395">
                <a:moveTo>
                  <a:pt x="61467" y="0"/>
                </a:moveTo>
                <a:lnTo>
                  <a:pt x="0" y="112039"/>
                </a:lnTo>
                <a:lnTo>
                  <a:pt x="126504" y="93992"/>
                </a:lnTo>
                <a:lnTo>
                  <a:pt x="61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63657" y="2895600"/>
            <a:ext cx="347345" cy="669290"/>
          </a:xfrm>
          <a:custGeom>
            <a:avLst/>
            <a:gdLst/>
            <a:ahLst/>
            <a:cxnLst/>
            <a:rect l="l" t="t" r="r" b="b"/>
            <a:pathLst>
              <a:path w="347345" h="669289">
                <a:moveTo>
                  <a:pt x="346742" y="0"/>
                </a:moveTo>
                <a:lnTo>
                  <a:pt x="341186" y="127793"/>
                </a:lnTo>
                <a:lnTo>
                  <a:pt x="330073" y="250030"/>
                </a:lnTo>
                <a:lnTo>
                  <a:pt x="308642" y="361949"/>
                </a:lnTo>
                <a:lnTo>
                  <a:pt x="291973" y="411955"/>
                </a:lnTo>
                <a:lnTo>
                  <a:pt x="270542" y="457199"/>
                </a:lnTo>
                <a:lnTo>
                  <a:pt x="244348" y="497681"/>
                </a:lnTo>
                <a:lnTo>
                  <a:pt x="213392" y="533399"/>
                </a:lnTo>
                <a:lnTo>
                  <a:pt x="139573" y="592930"/>
                </a:lnTo>
                <a:lnTo>
                  <a:pt x="55436" y="642143"/>
                </a:lnTo>
                <a:lnTo>
                  <a:pt x="0" y="669125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29400" y="3479990"/>
            <a:ext cx="128270" cy="102870"/>
          </a:xfrm>
          <a:custGeom>
            <a:avLst/>
            <a:gdLst/>
            <a:ahLst/>
            <a:cxnLst/>
            <a:rect l="l" t="t" r="r" b="b"/>
            <a:pathLst>
              <a:path w="128270" h="102870">
                <a:moveTo>
                  <a:pt x="77762" y="0"/>
                </a:moveTo>
                <a:lnTo>
                  <a:pt x="0" y="101409"/>
                </a:lnTo>
                <a:lnTo>
                  <a:pt x="127787" y="102781"/>
                </a:lnTo>
                <a:lnTo>
                  <a:pt x="777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09800" y="5791200"/>
            <a:ext cx="2438400" cy="37655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Arial"/>
                <a:cs typeface="Arial"/>
              </a:rPr>
              <a:t>NO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semi-colon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66900" y="5943600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>
                <a:moveTo>
                  <a:pt x="342899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8800" y="58864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9369" y="785024"/>
            <a:ext cx="420497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73910" algn="l"/>
              </a:tabLst>
            </a:pPr>
            <a:r>
              <a:rPr spc="-5" dirty="0"/>
              <a:t>I</a:t>
            </a:r>
            <a:r>
              <a:rPr dirty="0"/>
              <a:t>ns</a:t>
            </a:r>
            <a:r>
              <a:rPr spc="-5" dirty="0"/>
              <a:t>t</a:t>
            </a:r>
            <a:r>
              <a:rPr dirty="0"/>
              <a:t>ance	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86559"/>
            <a:ext cx="7939405" cy="29264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Defined inside the class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definition</a:t>
            </a:r>
          </a:p>
          <a:p>
            <a:pPr marL="355600" indent="-342900">
              <a:lnSpc>
                <a:spcPct val="100000"/>
              </a:lnSpc>
              <a:spcBef>
                <a:spcPts val="161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May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</a:p>
          <a:p>
            <a:pPr marL="755650" lvl="1" indent="-285750">
              <a:lnSpc>
                <a:spcPct val="100000"/>
              </a:lnSpc>
              <a:spcBef>
                <a:spcPts val="284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primitive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types</a:t>
            </a:r>
          </a:p>
          <a:p>
            <a:pPr marL="755650" lvl="1" indent="-285750">
              <a:lnSpc>
                <a:spcPct val="100000"/>
              </a:lnSpc>
              <a:spcBef>
                <a:spcPts val="32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other class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types</a:t>
            </a:r>
          </a:p>
          <a:p>
            <a:pPr marL="355600" indent="-342900">
              <a:lnSpc>
                <a:spcPct val="100000"/>
              </a:lnSpc>
              <a:spcBef>
                <a:spcPts val="1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Are accessible by all methods of the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class</a:t>
            </a:r>
          </a:p>
          <a:p>
            <a:pPr marL="755650" lvl="1" indent="-285750">
              <a:lnSpc>
                <a:spcPct val="100000"/>
              </a:lnSpc>
              <a:spcBef>
                <a:spcPts val="284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have </a:t>
            </a:r>
            <a:r>
              <a:rPr sz="2400" b="1" i="1" spc="-5" dirty="0">
                <a:latin typeface="Arial"/>
                <a:cs typeface="Arial"/>
              </a:rPr>
              <a:t>class</a:t>
            </a:r>
            <a:r>
              <a:rPr sz="2400" b="1" i="1" spc="-100" dirty="0">
                <a:latin typeface="Arial"/>
                <a:cs typeface="Arial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scope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4681" y="738987"/>
            <a:ext cx="4854575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58365" algn="l"/>
                <a:tab pos="3146425" algn="l"/>
              </a:tabLst>
            </a:pPr>
            <a:r>
              <a:rPr spc="-5" dirty="0"/>
              <a:t>Anatomy	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a	</a:t>
            </a:r>
            <a:r>
              <a:rPr spc="-5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98320"/>
            <a:ext cx="447230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Are very much like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functions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1600" y="3306762"/>
            <a:ext cx="2362200" cy="533400"/>
          </a:xfrm>
          <a:custGeom>
            <a:avLst/>
            <a:gdLst/>
            <a:ahLst/>
            <a:cxnLst/>
            <a:rect l="l" t="t" r="r" b="b"/>
            <a:pathLst>
              <a:path w="2362200" h="533400">
                <a:moveTo>
                  <a:pt x="0" y="533400"/>
                </a:moveTo>
                <a:lnTo>
                  <a:pt x="2362200" y="533400"/>
                </a:lnTo>
                <a:lnTo>
                  <a:pt x="2362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C6E6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71600" y="3306762"/>
            <a:ext cx="2362200" cy="5334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24460" marR="113030" indent="88900">
              <a:lnSpc>
                <a:spcPts val="2100"/>
              </a:lnSpc>
              <a:spcBef>
                <a:spcPts val="20"/>
              </a:spcBef>
            </a:pPr>
            <a:r>
              <a:rPr sz="1800" dirty="0">
                <a:latin typeface="Comic Sans MS"/>
                <a:cs typeface="Comic Sans MS"/>
              </a:rPr>
              <a:t>Visibility </a:t>
            </a:r>
            <a:r>
              <a:rPr sz="1800" spc="-5" dirty="0">
                <a:latin typeface="Comic Sans MS"/>
                <a:cs typeface="Comic Sans MS"/>
              </a:rPr>
              <a:t>modifier  (More </a:t>
            </a:r>
            <a:r>
              <a:rPr sz="1800" dirty="0">
                <a:latin typeface="Comic Sans MS"/>
                <a:cs typeface="Comic Sans MS"/>
              </a:rPr>
              <a:t>on </a:t>
            </a:r>
            <a:r>
              <a:rPr sz="1800" spc="-5" dirty="0">
                <a:latin typeface="Comic Sans MS"/>
                <a:cs typeface="Comic Sans MS"/>
              </a:rPr>
              <a:t>this</a:t>
            </a:r>
            <a:r>
              <a:rPr sz="1800" spc="-7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later)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1200" y="3001962"/>
            <a:ext cx="2590800" cy="304800"/>
          </a:xfrm>
          <a:prstGeom prst="rect">
            <a:avLst/>
          </a:prstGeom>
          <a:solidFill>
            <a:srgbClr val="C6E6E9"/>
          </a:solidFill>
          <a:ln w="9524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Comic Sans MS"/>
                <a:cs typeface="Comic Sans MS"/>
              </a:rPr>
              <a:t>Name of </a:t>
            </a:r>
            <a:r>
              <a:rPr sz="1800" spc="-5" dirty="0">
                <a:latin typeface="Comic Sans MS"/>
                <a:cs typeface="Comic Sans MS"/>
              </a:rPr>
              <a:t>the</a:t>
            </a:r>
            <a:r>
              <a:rPr sz="1800" spc="-10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method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10000" y="3382962"/>
            <a:ext cx="1905000" cy="457200"/>
          </a:xfrm>
          <a:custGeom>
            <a:avLst/>
            <a:gdLst/>
            <a:ahLst/>
            <a:cxnLst/>
            <a:rect l="l" t="t" r="r" b="b"/>
            <a:pathLst>
              <a:path w="1905000" h="457200">
                <a:moveTo>
                  <a:pt x="0" y="457200"/>
                </a:moveTo>
                <a:lnTo>
                  <a:pt x="1905000" y="457200"/>
                </a:lnTo>
                <a:lnTo>
                  <a:pt x="1905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C6E6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0000" y="3382962"/>
            <a:ext cx="1905000" cy="4572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latin typeface="Comic Sans MS"/>
                <a:cs typeface="Comic Sans MS"/>
              </a:rPr>
              <a:t>return</a:t>
            </a:r>
            <a:r>
              <a:rPr sz="1800" spc="-10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type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66800" y="4525962"/>
            <a:ext cx="1676400" cy="381000"/>
          </a:xfrm>
          <a:custGeom>
            <a:avLst/>
            <a:gdLst/>
            <a:ahLst/>
            <a:cxnLst/>
            <a:rect l="l" t="t" r="r" b="b"/>
            <a:pathLst>
              <a:path w="1676400" h="381000">
                <a:moveTo>
                  <a:pt x="0" y="381000"/>
                </a:moveTo>
                <a:lnTo>
                  <a:pt x="1676400" y="381000"/>
                </a:lnTo>
                <a:lnTo>
                  <a:pt x="16764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C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6799" y="4525962"/>
            <a:ext cx="1676400" cy="381000"/>
          </a:xfrm>
          <a:custGeom>
            <a:avLst/>
            <a:gdLst/>
            <a:ahLst/>
            <a:cxnLst/>
            <a:rect l="l" t="t" r="r" b="b"/>
            <a:pathLst>
              <a:path w="1676400" h="381000">
                <a:moveTo>
                  <a:pt x="0" y="0"/>
                </a:moveTo>
                <a:lnTo>
                  <a:pt x="1676398" y="0"/>
                </a:lnTo>
                <a:lnTo>
                  <a:pt x="1676398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95600" y="4525962"/>
            <a:ext cx="1676400" cy="381000"/>
          </a:xfrm>
          <a:custGeom>
            <a:avLst/>
            <a:gdLst/>
            <a:ahLst/>
            <a:cxnLst/>
            <a:rect l="l" t="t" r="r" b="b"/>
            <a:pathLst>
              <a:path w="1676400" h="381000">
                <a:moveTo>
                  <a:pt x="0" y="381000"/>
                </a:moveTo>
                <a:lnTo>
                  <a:pt x="1676400" y="381000"/>
                </a:lnTo>
                <a:lnTo>
                  <a:pt x="16764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C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95600" y="4525962"/>
            <a:ext cx="1676400" cy="381000"/>
          </a:xfrm>
          <a:custGeom>
            <a:avLst/>
            <a:gdLst/>
            <a:ahLst/>
            <a:cxnLst/>
            <a:rect l="l" t="t" r="r" b="b"/>
            <a:pathLst>
              <a:path w="1676400" h="381000">
                <a:moveTo>
                  <a:pt x="0" y="0"/>
                </a:moveTo>
                <a:lnTo>
                  <a:pt x="1676398" y="0"/>
                </a:lnTo>
                <a:lnTo>
                  <a:pt x="1676398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48739" y="4533582"/>
            <a:ext cx="29514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840864" algn="l"/>
              </a:tabLst>
            </a:pPr>
            <a:r>
              <a:rPr sz="2400" b="1" spc="-5" dirty="0">
                <a:latin typeface="Courier New"/>
                <a:cs typeface="Courier New"/>
              </a:rPr>
              <a:t>publi</a:t>
            </a:r>
            <a:r>
              <a:rPr sz="2400" b="1" dirty="0">
                <a:latin typeface="Courier New"/>
                <a:cs typeface="Courier New"/>
              </a:rPr>
              <a:t>c	</a:t>
            </a:r>
            <a:r>
              <a:rPr sz="2400" b="1" spc="-5" dirty="0">
                <a:latin typeface="Courier New"/>
                <a:cs typeface="Courier New"/>
              </a:rPr>
              <a:t>double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24400" y="4525962"/>
            <a:ext cx="2133600" cy="381000"/>
          </a:xfrm>
          <a:prstGeom prst="rect">
            <a:avLst/>
          </a:prstGeom>
          <a:solidFill>
            <a:srgbClr val="FFFC78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441959">
              <a:lnSpc>
                <a:spcPct val="100000"/>
              </a:lnSpc>
              <a:spcBef>
                <a:spcPts val="380"/>
              </a:spcBef>
            </a:pPr>
            <a:r>
              <a:rPr sz="1800" b="1" spc="-5" dirty="0">
                <a:latin typeface="Courier New"/>
                <a:cs typeface="Courier New"/>
              </a:rPr>
              <a:t>toCelcius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82650" y="3763962"/>
            <a:ext cx="539750" cy="962025"/>
          </a:xfrm>
          <a:custGeom>
            <a:avLst/>
            <a:gdLst/>
            <a:ahLst/>
            <a:cxnLst/>
            <a:rect l="l" t="t" r="r" b="b"/>
            <a:pathLst>
              <a:path w="539750" h="962025">
                <a:moveTo>
                  <a:pt x="539749" y="0"/>
                </a:moveTo>
                <a:lnTo>
                  <a:pt x="361949" y="144462"/>
                </a:lnTo>
                <a:lnTo>
                  <a:pt x="278605" y="215105"/>
                </a:lnTo>
                <a:lnTo>
                  <a:pt x="201611" y="285749"/>
                </a:lnTo>
                <a:lnTo>
                  <a:pt x="134143" y="354012"/>
                </a:lnTo>
                <a:lnTo>
                  <a:pt x="76993" y="421480"/>
                </a:lnTo>
                <a:lnTo>
                  <a:pt x="34131" y="486568"/>
                </a:lnTo>
                <a:lnTo>
                  <a:pt x="6349" y="550068"/>
                </a:lnTo>
                <a:lnTo>
                  <a:pt x="0" y="581818"/>
                </a:lnTo>
                <a:lnTo>
                  <a:pt x="0" y="614362"/>
                </a:lnTo>
                <a:lnTo>
                  <a:pt x="15081" y="681037"/>
                </a:lnTo>
                <a:lnTo>
                  <a:pt x="46037" y="747712"/>
                </a:lnTo>
                <a:lnTo>
                  <a:pt x="87312" y="812006"/>
                </a:lnTo>
                <a:lnTo>
                  <a:pt x="132555" y="870743"/>
                </a:lnTo>
                <a:lnTo>
                  <a:pt x="176211" y="921543"/>
                </a:lnTo>
                <a:lnTo>
                  <a:pt x="210264" y="96157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00011" y="4630470"/>
            <a:ext cx="118110" cy="124460"/>
          </a:xfrm>
          <a:custGeom>
            <a:avLst/>
            <a:gdLst/>
            <a:ahLst/>
            <a:cxnLst/>
            <a:rect l="l" t="t" r="r" b="b"/>
            <a:pathLst>
              <a:path w="118109" h="124460">
                <a:moveTo>
                  <a:pt x="87064" y="0"/>
                </a:moveTo>
                <a:lnTo>
                  <a:pt x="0" y="74053"/>
                </a:lnTo>
                <a:lnTo>
                  <a:pt x="117588" y="124091"/>
                </a:lnTo>
                <a:lnTo>
                  <a:pt x="87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74730" y="3763962"/>
            <a:ext cx="512445" cy="740410"/>
          </a:xfrm>
          <a:custGeom>
            <a:avLst/>
            <a:gdLst/>
            <a:ahLst/>
            <a:cxnLst/>
            <a:rect l="l" t="t" r="r" b="b"/>
            <a:pathLst>
              <a:path w="512445" h="740410">
                <a:moveTo>
                  <a:pt x="273469" y="0"/>
                </a:moveTo>
                <a:lnTo>
                  <a:pt x="375069" y="67468"/>
                </a:lnTo>
                <a:lnTo>
                  <a:pt x="420313" y="102393"/>
                </a:lnTo>
                <a:lnTo>
                  <a:pt x="459206" y="138112"/>
                </a:lnTo>
                <a:lnTo>
                  <a:pt x="488575" y="176212"/>
                </a:lnTo>
                <a:lnTo>
                  <a:pt x="507625" y="215899"/>
                </a:lnTo>
                <a:lnTo>
                  <a:pt x="512388" y="258762"/>
                </a:lnTo>
                <a:lnTo>
                  <a:pt x="502069" y="304799"/>
                </a:lnTo>
                <a:lnTo>
                  <a:pt x="474288" y="354012"/>
                </a:lnTo>
                <a:lnTo>
                  <a:pt x="431425" y="406399"/>
                </a:lnTo>
                <a:lnTo>
                  <a:pt x="374275" y="461962"/>
                </a:lnTo>
                <a:lnTo>
                  <a:pt x="306806" y="519112"/>
                </a:lnTo>
                <a:lnTo>
                  <a:pt x="229813" y="578643"/>
                </a:lnTo>
                <a:lnTo>
                  <a:pt x="146469" y="638968"/>
                </a:lnTo>
                <a:lnTo>
                  <a:pt x="0" y="74032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43400" y="4413923"/>
            <a:ext cx="127000" cy="112395"/>
          </a:xfrm>
          <a:custGeom>
            <a:avLst/>
            <a:gdLst/>
            <a:ahLst/>
            <a:cxnLst/>
            <a:rect l="l" t="t" r="r" b="b"/>
            <a:pathLst>
              <a:path w="127000" h="112395">
                <a:moveTo>
                  <a:pt x="61467" y="0"/>
                </a:moveTo>
                <a:lnTo>
                  <a:pt x="0" y="112039"/>
                </a:lnTo>
                <a:lnTo>
                  <a:pt x="126504" y="93992"/>
                </a:lnTo>
                <a:lnTo>
                  <a:pt x="61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81983" y="3306762"/>
            <a:ext cx="352425" cy="1194435"/>
          </a:xfrm>
          <a:custGeom>
            <a:avLst/>
            <a:gdLst/>
            <a:ahLst/>
            <a:cxnLst/>
            <a:rect l="l" t="t" r="r" b="b"/>
            <a:pathLst>
              <a:path w="352425" h="1194435">
                <a:moveTo>
                  <a:pt x="352216" y="0"/>
                </a:moveTo>
                <a:lnTo>
                  <a:pt x="346659" y="227012"/>
                </a:lnTo>
                <a:lnTo>
                  <a:pt x="335547" y="444499"/>
                </a:lnTo>
                <a:lnTo>
                  <a:pt x="326022" y="546893"/>
                </a:lnTo>
                <a:lnTo>
                  <a:pt x="314116" y="642937"/>
                </a:lnTo>
                <a:lnTo>
                  <a:pt x="297447" y="731837"/>
                </a:lnTo>
                <a:lnTo>
                  <a:pt x="276016" y="812799"/>
                </a:lnTo>
                <a:lnTo>
                  <a:pt x="249822" y="884237"/>
                </a:lnTo>
                <a:lnTo>
                  <a:pt x="218866" y="947737"/>
                </a:lnTo>
                <a:lnTo>
                  <a:pt x="183147" y="1004089"/>
                </a:lnTo>
                <a:lnTo>
                  <a:pt x="145047" y="1054099"/>
                </a:lnTo>
                <a:lnTo>
                  <a:pt x="60910" y="1141409"/>
                </a:lnTo>
                <a:lnTo>
                  <a:pt x="0" y="119423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53200" y="4407903"/>
            <a:ext cx="123825" cy="118110"/>
          </a:xfrm>
          <a:custGeom>
            <a:avLst/>
            <a:gdLst/>
            <a:ahLst/>
            <a:cxnLst/>
            <a:rect l="l" t="t" r="r" b="b"/>
            <a:pathLst>
              <a:path w="123825" h="118110">
                <a:moveTo>
                  <a:pt x="48907" y="0"/>
                </a:moveTo>
                <a:lnTo>
                  <a:pt x="0" y="118059"/>
                </a:lnTo>
                <a:lnTo>
                  <a:pt x="123786" y="86347"/>
                </a:lnTo>
                <a:lnTo>
                  <a:pt x="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74139" y="4952682"/>
            <a:ext cx="1022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4139" y="6324282"/>
            <a:ext cx="1022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81200" y="5364162"/>
            <a:ext cx="5867400" cy="762000"/>
          </a:xfrm>
          <a:prstGeom prst="rect">
            <a:avLst/>
          </a:prstGeom>
          <a:solidFill>
            <a:srgbClr val="FFFC78"/>
          </a:solidFill>
          <a:ln w="9524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Times New Roman"/>
              <a:cs typeface="Times New Roman"/>
            </a:endParaRPr>
          </a:p>
          <a:p>
            <a:pPr marL="556260">
              <a:lnSpc>
                <a:spcPct val="100000"/>
              </a:lnSpc>
            </a:pPr>
            <a:r>
              <a:rPr sz="1800" dirty="0">
                <a:latin typeface="Comic Sans MS"/>
                <a:cs typeface="Comic Sans MS"/>
              </a:rPr>
              <a:t>Method code: local variables and</a:t>
            </a:r>
            <a:r>
              <a:rPr sz="1800" spc="-7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statements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86600" y="4525962"/>
            <a:ext cx="2133600" cy="381000"/>
          </a:xfrm>
          <a:prstGeom prst="rect">
            <a:avLst/>
          </a:prstGeom>
          <a:solidFill>
            <a:srgbClr val="FFFC78"/>
          </a:solidFill>
          <a:ln w="9524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380"/>
              </a:spcBef>
            </a:pPr>
            <a:r>
              <a:rPr sz="1800" b="1" spc="-5" dirty="0">
                <a:latin typeface="Courier New"/>
                <a:cs typeface="Courier New"/>
              </a:rPr>
              <a:t>(double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fTemp</a:t>
            </a:r>
            <a:r>
              <a:rPr sz="1800" dirty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86600" y="3611562"/>
            <a:ext cx="2286000" cy="304800"/>
          </a:xfrm>
          <a:prstGeom prst="rect">
            <a:avLst/>
          </a:prstGeom>
          <a:solidFill>
            <a:srgbClr val="C6E6E9"/>
          </a:solidFill>
          <a:ln w="9524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80"/>
              </a:spcBef>
            </a:pPr>
            <a:r>
              <a:rPr sz="1800" spc="-5" dirty="0">
                <a:latin typeface="Comic Sans MS"/>
                <a:cs typeface="Comic Sans MS"/>
              </a:rPr>
              <a:t>Optional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parameters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59662" y="3916362"/>
            <a:ext cx="582295" cy="596265"/>
          </a:xfrm>
          <a:custGeom>
            <a:avLst/>
            <a:gdLst/>
            <a:ahLst/>
            <a:cxnLst/>
            <a:rect l="l" t="t" r="r" b="b"/>
            <a:pathLst>
              <a:path w="582295" h="596264">
                <a:moveTo>
                  <a:pt x="7937" y="0"/>
                </a:moveTo>
                <a:lnTo>
                  <a:pt x="0" y="103980"/>
                </a:lnTo>
                <a:lnTo>
                  <a:pt x="0" y="154780"/>
                </a:lnTo>
                <a:lnTo>
                  <a:pt x="3174" y="204787"/>
                </a:lnTo>
                <a:lnTo>
                  <a:pt x="11906" y="252412"/>
                </a:lnTo>
                <a:lnTo>
                  <a:pt x="27781" y="298449"/>
                </a:lnTo>
                <a:lnTo>
                  <a:pt x="50799" y="341312"/>
                </a:lnTo>
                <a:lnTo>
                  <a:pt x="84137" y="380999"/>
                </a:lnTo>
                <a:lnTo>
                  <a:pt x="132556" y="418305"/>
                </a:lnTo>
                <a:lnTo>
                  <a:pt x="197643" y="454024"/>
                </a:lnTo>
                <a:lnTo>
                  <a:pt x="273843" y="488155"/>
                </a:lnTo>
                <a:lnTo>
                  <a:pt x="355599" y="519112"/>
                </a:lnTo>
                <a:lnTo>
                  <a:pt x="436562" y="547687"/>
                </a:lnTo>
                <a:lnTo>
                  <a:pt x="511174" y="572293"/>
                </a:lnTo>
                <a:lnTo>
                  <a:pt x="573087" y="592930"/>
                </a:lnTo>
                <a:lnTo>
                  <a:pt x="581863" y="59622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950110" y="4432325"/>
            <a:ext cx="127635" cy="107314"/>
          </a:xfrm>
          <a:custGeom>
            <a:avLst/>
            <a:gdLst/>
            <a:ahLst/>
            <a:cxnLst/>
            <a:rect l="l" t="t" r="r" b="b"/>
            <a:pathLst>
              <a:path w="127634" h="107314">
                <a:moveTo>
                  <a:pt x="40131" y="0"/>
                </a:moveTo>
                <a:lnTo>
                  <a:pt x="0" y="107010"/>
                </a:lnTo>
                <a:lnTo>
                  <a:pt x="127088" y="93637"/>
                </a:lnTo>
                <a:lnTo>
                  <a:pt x="401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7475" y="723112"/>
            <a:ext cx="524891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50820" algn="l"/>
                <a:tab pos="3965575" algn="l"/>
              </a:tabLst>
            </a:pPr>
            <a:r>
              <a:rPr dirty="0"/>
              <a:t>Example:</a:t>
            </a:r>
            <a:r>
              <a:rPr spc="-5" dirty="0"/>
              <a:t> </a:t>
            </a:r>
            <a:r>
              <a:rPr dirty="0"/>
              <a:t>A	Da</a:t>
            </a:r>
            <a:r>
              <a:rPr spc="-5" dirty="0"/>
              <a:t>t</a:t>
            </a:r>
            <a:r>
              <a:rPr dirty="0"/>
              <a:t>e	Class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7607" rIns="0" bIns="0" rtlCol="0">
            <a:spAutoFit/>
          </a:bodyPr>
          <a:lstStyle/>
          <a:p>
            <a:pPr marL="789305" marR="5080" indent="-342900">
              <a:lnSpc>
                <a:spcPct val="78100"/>
              </a:lnSpc>
            </a:pPr>
            <a:r>
              <a:rPr spc="-5" dirty="0"/>
              <a:t>This </a:t>
            </a:r>
            <a:r>
              <a:rPr dirty="0"/>
              <a:t>class </a:t>
            </a:r>
            <a:r>
              <a:rPr spc="-5" dirty="0"/>
              <a:t>definition </a:t>
            </a:r>
            <a:r>
              <a:rPr dirty="0"/>
              <a:t>goes in a </a:t>
            </a:r>
            <a:r>
              <a:rPr spc="-5" dirty="0"/>
              <a:t>file </a:t>
            </a:r>
            <a:r>
              <a:rPr dirty="0"/>
              <a:t>named  </a:t>
            </a:r>
            <a:r>
              <a:rPr spc="-5" dirty="0">
                <a:solidFill>
                  <a:srgbClr val="034CA1"/>
                </a:solidFill>
              </a:rPr>
              <a:t>Date1.java</a:t>
            </a:r>
            <a:r>
              <a:rPr spc="-5" dirty="0"/>
              <a:t>.</a:t>
            </a:r>
          </a:p>
          <a:p>
            <a:pPr marL="446405">
              <a:lnSpc>
                <a:spcPct val="100000"/>
              </a:lnSpc>
              <a:spcBef>
                <a:spcPts val="1980"/>
              </a:spcBef>
            </a:pPr>
            <a:r>
              <a:rPr sz="2000" spc="-5" dirty="0">
                <a:latin typeface="Courier New"/>
                <a:cs typeface="Courier New"/>
              </a:rPr>
              <a:t>public class</a:t>
            </a:r>
            <a:r>
              <a:rPr sz="2000" spc="-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Date1</a:t>
            </a:r>
            <a:endParaRPr sz="2000">
              <a:latin typeface="Courier New"/>
              <a:cs typeface="Courier New"/>
            </a:endParaRPr>
          </a:p>
          <a:p>
            <a:pPr marL="446405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9217" y="3353308"/>
            <a:ext cx="2007235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20"/>
              </a:lnSpc>
            </a:pP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-9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month;  int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day;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2239" y="3353308"/>
            <a:ext cx="939800" cy="834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20"/>
              </a:lnSpc>
            </a:pPr>
            <a:r>
              <a:rPr sz="2000" spc="-5" dirty="0">
                <a:latin typeface="Courier New"/>
                <a:cs typeface="Courier New"/>
              </a:rPr>
              <a:t>public  public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79217" y="3853179"/>
            <a:ext cx="13976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int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year;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6195" y="4462779"/>
            <a:ext cx="1702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toString(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2239" y="4462779"/>
            <a:ext cx="2007235" cy="63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3739" y="5072379"/>
            <a:ext cx="18548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return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month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65270" y="5072379"/>
            <a:ext cx="966469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6865" algn="l"/>
                <a:tab pos="800735" algn="l"/>
              </a:tabLst>
            </a:pPr>
            <a:r>
              <a:rPr sz="2000" dirty="0">
                <a:latin typeface="Courier New"/>
                <a:cs typeface="Courier New"/>
              </a:rPr>
              <a:t>+	</a:t>
            </a:r>
            <a:r>
              <a:rPr sz="2000" dirty="0">
                <a:latin typeface="MS PGothic"/>
                <a:cs typeface="MS PGothic"/>
              </a:rPr>
              <a:t>“ “	</a:t>
            </a:r>
            <a:r>
              <a:rPr sz="2000" dirty="0">
                <a:latin typeface="Courier New"/>
                <a:cs typeface="Courier New"/>
              </a:rPr>
              <a:t>+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8778" y="5072379"/>
            <a:ext cx="2718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7100" algn="l"/>
                <a:tab pos="1358900" algn="l"/>
                <a:tab pos="1638300" algn="l"/>
                <a:tab pos="1943100" algn="l"/>
              </a:tabLst>
            </a:pPr>
            <a:r>
              <a:rPr sz="2000" spc="-5" dirty="0">
                <a:latin typeface="Courier New"/>
                <a:cs typeface="Courier New"/>
              </a:rPr>
              <a:t>da</a:t>
            </a:r>
            <a:r>
              <a:rPr sz="2000" dirty="0">
                <a:latin typeface="Courier New"/>
                <a:cs typeface="Courier New"/>
              </a:rPr>
              <a:t>y +	</a:t>
            </a:r>
            <a:r>
              <a:rPr sz="2000" dirty="0">
                <a:latin typeface="MS PGothic"/>
                <a:cs typeface="MS PGothic"/>
              </a:rPr>
              <a:t>“</a:t>
            </a:r>
            <a:r>
              <a:rPr sz="2000" dirty="0">
                <a:latin typeface="Courier New"/>
                <a:cs typeface="Courier New"/>
              </a:rPr>
              <a:t>,	</a:t>
            </a:r>
            <a:r>
              <a:rPr sz="2000" dirty="0">
                <a:latin typeface="MS PGothic"/>
                <a:cs typeface="MS PGothic"/>
              </a:rPr>
              <a:t>“	</a:t>
            </a:r>
            <a:r>
              <a:rPr sz="2000" dirty="0">
                <a:latin typeface="Courier New"/>
                <a:cs typeface="Courier New"/>
              </a:rPr>
              <a:t>+	</a:t>
            </a:r>
            <a:r>
              <a:rPr sz="2000" spc="-5" dirty="0">
                <a:latin typeface="Courier New"/>
                <a:cs typeface="Courier New"/>
              </a:rPr>
              <a:t>year;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0600" y="3352800"/>
            <a:ext cx="4279900" cy="762000"/>
          </a:xfrm>
          <a:prstGeom prst="rect">
            <a:avLst/>
          </a:prstGeom>
          <a:solidFill>
            <a:srgbClr val="C6E6E9"/>
          </a:solidFill>
          <a:ln w="9524">
            <a:solidFill>
              <a:srgbClr val="000000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86360">
              <a:lnSpc>
                <a:spcPts val="2130"/>
              </a:lnSpc>
              <a:spcBef>
                <a:spcPts val="800"/>
              </a:spcBef>
            </a:pPr>
            <a:r>
              <a:rPr sz="1800" dirty="0">
                <a:latin typeface="Arial"/>
                <a:cs typeface="Arial"/>
              </a:rPr>
              <a:t>These are the </a:t>
            </a:r>
            <a:r>
              <a:rPr sz="1800" spc="-5" dirty="0">
                <a:latin typeface="Arial"/>
                <a:cs typeface="Arial"/>
              </a:rPr>
              <a:t>(public)</a:t>
            </a:r>
            <a:r>
              <a:rPr sz="1800" spc="-5" dirty="0">
                <a:latin typeface="MS PGothic"/>
                <a:cs typeface="MS PGothic"/>
              </a:rPr>
              <a:t>“</a:t>
            </a:r>
            <a:r>
              <a:rPr sz="1800" spc="-5" dirty="0">
                <a:latin typeface="Arial"/>
                <a:cs typeface="Arial"/>
              </a:rPr>
              <a:t>data members</a:t>
            </a:r>
            <a:r>
              <a:rPr sz="1800" spc="-5" dirty="0">
                <a:latin typeface="MS PGothic"/>
                <a:cs typeface="MS PGothic"/>
              </a:rPr>
              <a:t>”</a:t>
            </a:r>
            <a:r>
              <a:rPr sz="1800" spc="-50" dirty="0">
                <a:latin typeface="MS PGothic"/>
                <a:cs typeface="MS PGothic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  <a:p>
            <a:pPr marL="86360" marR="3175">
              <a:lnSpc>
                <a:spcPts val="2130"/>
              </a:lnSpc>
            </a:pPr>
            <a:r>
              <a:rPr sz="1800" dirty="0">
                <a:latin typeface="MS PGothic"/>
                <a:cs typeface="MS PGothic"/>
              </a:rPr>
              <a:t>“</a:t>
            </a:r>
            <a:r>
              <a:rPr sz="1800" dirty="0">
                <a:latin typeface="Arial"/>
                <a:cs typeface="Arial"/>
              </a:rPr>
              <a:t>instance </a:t>
            </a:r>
            <a:r>
              <a:rPr sz="1800" spc="-5" dirty="0">
                <a:latin typeface="Arial"/>
                <a:cs typeface="Arial"/>
              </a:rPr>
              <a:t>variables</a:t>
            </a:r>
            <a:r>
              <a:rPr sz="1800" spc="-5" dirty="0">
                <a:latin typeface="MS PGothic"/>
                <a:cs typeface="MS PGothic"/>
              </a:rPr>
              <a:t>” </a:t>
            </a:r>
            <a:r>
              <a:rPr sz="1800" dirty="0">
                <a:latin typeface="Arial"/>
                <a:cs typeface="Arial"/>
              </a:rPr>
              <a:t>of the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class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10200" y="4419600"/>
            <a:ext cx="3733800" cy="533400"/>
          </a:xfrm>
          <a:prstGeom prst="rect">
            <a:avLst/>
          </a:prstGeom>
          <a:solidFill>
            <a:srgbClr val="C6E6E9"/>
          </a:solidFill>
          <a:ln w="9524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86360" marR="236854">
              <a:lnSpc>
                <a:spcPts val="2100"/>
              </a:lnSpc>
              <a:spcBef>
                <a:spcPts val="20"/>
              </a:spcBef>
            </a:pPr>
            <a:r>
              <a:rPr sz="1800" dirty="0">
                <a:latin typeface="Arial"/>
                <a:cs typeface="Arial"/>
              </a:rPr>
              <a:t>This is a method definition and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its  implementation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71800" y="5943600"/>
            <a:ext cx="5105400" cy="533400"/>
          </a:xfrm>
          <a:custGeom>
            <a:avLst/>
            <a:gdLst/>
            <a:ahLst/>
            <a:cxnLst/>
            <a:rect l="l" t="t" r="r" b="b"/>
            <a:pathLst>
              <a:path w="5105400" h="533400">
                <a:moveTo>
                  <a:pt x="0" y="533400"/>
                </a:moveTo>
                <a:lnTo>
                  <a:pt x="5105400" y="533400"/>
                </a:lnTo>
                <a:lnTo>
                  <a:pt x="51054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DFB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71800" y="5943600"/>
            <a:ext cx="5105400" cy="533400"/>
          </a:xfrm>
          <a:custGeom>
            <a:avLst/>
            <a:gdLst/>
            <a:ahLst/>
            <a:cxnLst/>
            <a:rect l="l" t="t" r="r" b="b"/>
            <a:pathLst>
              <a:path w="5105400" h="533400">
                <a:moveTo>
                  <a:pt x="0" y="0"/>
                </a:moveTo>
                <a:lnTo>
                  <a:pt x="5105396" y="0"/>
                </a:lnTo>
                <a:lnTo>
                  <a:pt x="5105396" y="533399"/>
                </a:lnTo>
                <a:lnTo>
                  <a:pt x="0" y="533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69339" y="5377179"/>
            <a:ext cx="6759575" cy="98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993900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latin typeface="Arial"/>
                <a:cs typeface="Arial"/>
              </a:rPr>
              <a:t>A method may use the class instance</a:t>
            </a:r>
            <a:r>
              <a:rPr sz="1800" spc="-2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variables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29000" y="5438775"/>
            <a:ext cx="0" cy="504825"/>
          </a:xfrm>
          <a:custGeom>
            <a:avLst/>
            <a:gdLst/>
            <a:ahLst/>
            <a:cxnLst/>
            <a:rect l="l" t="t" r="r" b="b"/>
            <a:pathLst>
              <a:path h="504825">
                <a:moveTo>
                  <a:pt x="0" y="50482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86137" y="541020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467600" y="5438775"/>
            <a:ext cx="0" cy="504825"/>
          </a:xfrm>
          <a:custGeom>
            <a:avLst/>
            <a:gdLst/>
            <a:ahLst/>
            <a:cxnLst/>
            <a:rect l="l" t="t" r="r" b="b"/>
            <a:pathLst>
              <a:path h="504825">
                <a:moveTo>
                  <a:pt x="0" y="50482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24737" y="541020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10200" y="5438775"/>
            <a:ext cx="0" cy="504825"/>
          </a:xfrm>
          <a:custGeom>
            <a:avLst/>
            <a:gdLst/>
            <a:ahLst/>
            <a:cxnLst/>
            <a:rect l="l" t="t" r="r" b="b"/>
            <a:pathLst>
              <a:path h="504825">
                <a:moveTo>
                  <a:pt x="0" y="504824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67337" y="541020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7554" y="785024"/>
            <a:ext cx="510857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09395" algn="l"/>
                <a:tab pos="3401060" algn="l"/>
              </a:tabLst>
            </a:pPr>
            <a:r>
              <a:rPr dirty="0"/>
              <a:t>Da</a:t>
            </a:r>
            <a:r>
              <a:rPr spc="-5" dirty="0"/>
              <a:t>t</a:t>
            </a:r>
            <a:r>
              <a:rPr dirty="0"/>
              <a:t>e1	</a:t>
            </a:r>
            <a:r>
              <a:rPr spc="-5" dirty="0"/>
              <a:t>t</a:t>
            </a:r>
            <a:r>
              <a:rPr dirty="0"/>
              <a:t>oS</a:t>
            </a:r>
            <a:r>
              <a:rPr spc="-5" dirty="0"/>
              <a:t>t</a:t>
            </a:r>
            <a:r>
              <a:rPr dirty="0"/>
              <a:t>ring	Me</a:t>
            </a:r>
            <a:r>
              <a:rPr spc="-5" dirty="0"/>
              <a:t>t</a:t>
            </a:r>
            <a:r>
              <a:rPr dirty="0"/>
              <a:t>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22120"/>
            <a:ext cx="8020684" cy="4665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034CA1"/>
                </a:solidFill>
                <a:latin typeface="Arial"/>
                <a:cs typeface="Arial"/>
              </a:rPr>
              <a:t>toString </a:t>
            </a:r>
            <a:r>
              <a:rPr sz="2800" dirty="0">
                <a:latin typeface="Arial"/>
                <a:cs typeface="Arial"/>
              </a:rPr>
              <a:t>is a method of the Date1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class.</a:t>
            </a:r>
            <a:endParaRPr sz="2800">
              <a:latin typeface="Arial"/>
              <a:cs typeface="Arial"/>
            </a:endParaRPr>
          </a:p>
          <a:p>
            <a:pPr marL="749300" marR="5080" lvl="1" indent="-279400">
              <a:lnSpc>
                <a:spcPct val="101499"/>
              </a:lnSpc>
              <a:spcBef>
                <a:spcPts val="4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Its definition and implementation are part of the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Date1  class.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Class methods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may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4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be void or return a value,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(optionally) have parameters, which may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2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primitive types passed by value,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and/or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objects (discussed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later).</a:t>
            </a:r>
            <a:endParaRPr sz="20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355600" marR="106045" indent="-342900">
              <a:lnSpc>
                <a:spcPct val="102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All of a </a:t>
            </a:r>
            <a:r>
              <a:rPr sz="2800" spc="-235" dirty="0">
                <a:latin typeface="Arial"/>
                <a:cs typeface="Arial"/>
              </a:rPr>
              <a:t>class</a:t>
            </a:r>
            <a:r>
              <a:rPr sz="2800" spc="-235" dirty="0">
                <a:latin typeface="MS PGothic"/>
                <a:cs typeface="MS PGothic"/>
              </a:rPr>
              <a:t>ʼ </a:t>
            </a:r>
            <a:r>
              <a:rPr sz="2800" dirty="0">
                <a:latin typeface="Arial"/>
                <a:cs typeface="Arial"/>
              </a:rPr>
              <a:t>methods have access to all of the  </a:t>
            </a:r>
            <a:r>
              <a:rPr sz="2800" spc="-235" dirty="0">
                <a:latin typeface="Arial"/>
                <a:cs typeface="Arial"/>
              </a:rPr>
              <a:t>class</a:t>
            </a:r>
            <a:r>
              <a:rPr sz="2800" spc="-235" dirty="0">
                <a:latin typeface="MS PGothic"/>
                <a:cs typeface="MS PGothic"/>
              </a:rPr>
              <a:t>ʼ </a:t>
            </a:r>
            <a:r>
              <a:rPr sz="2800" dirty="0">
                <a:latin typeface="Arial"/>
                <a:cs typeface="Arial"/>
              </a:rPr>
              <a:t>instance variables (class</a:t>
            </a:r>
            <a:r>
              <a:rPr sz="2800" spc="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scope).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1290" y="674687"/>
            <a:ext cx="282130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52245" algn="l"/>
              </a:tabLst>
            </a:pPr>
            <a:r>
              <a:rPr dirty="0"/>
              <a:t>Using	Da</a:t>
            </a:r>
            <a:r>
              <a:rPr spc="-5" dirty="0"/>
              <a:t>t</a:t>
            </a:r>
            <a:r>
              <a:rPr dirty="0"/>
              <a:t>e1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518920"/>
            <a:ext cx="6619240" cy="1216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This class definition goes in a file named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34CA1"/>
                </a:solidFill>
                <a:latin typeface="Arial"/>
                <a:cs typeface="Arial"/>
              </a:rPr>
              <a:t>Date1Demo.java.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public class</a:t>
            </a:r>
            <a:r>
              <a:rPr sz="2000" b="1" spc="-8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Date1Demo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6039" y="2735579"/>
            <a:ext cx="627507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47335" algn="l"/>
              </a:tabLst>
            </a:pPr>
            <a:r>
              <a:rPr sz="2000" b="1" spc="-5" dirty="0">
                <a:latin typeface="Courier New"/>
                <a:cs typeface="Courier New"/>
              </a:rPr>
              <a:t>public static void main(</a:t>
            </a:r>
            <a:r>
              <a:rPr sz="2000" b="1" spc="3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String[</a:t>
            </a:r>
            <a:r>
              <a:rPr sz="2000" b="1" dirty="0">
                <a:latin typeface="Courier New"/>
                <a:cs typeface="Courier New"/>
              </a:rPr>
              <a:t> ]	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9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6039" y="2979420"/>
            <a:ext cx="178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7539" y="3220720"/>
            <a:ext cx="3378835" cy="155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2000" b="1" spc="-5" dirty="0">
                <a:latin typeface="Courier New"/>
                <a:cs typeface="Courier New"/>
              </a:rPr>
              <a:t>Date1</a:t>
            </a:r>
            <a:r>
              <a:rPr sz="2000" b="1" spc="-9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myDate;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50"/>
              </a:lnSpc>
              <a:tabLst>
                <a:tab pos="1384300" algn="l"/>
              </a:tabLst>
            </a:pPr>
            <a:r>
              <a:rPr sz="2000" b="1" spc="-5" dirty="0">
                <a:latin typeface="Courier New"/>
                <a:cs typeface="Courier New"/>
              </a:rPr>
              <a:t>myDate</a:t>
            </a:r>
            <a:r>
              <a:rPr sz="2000" b="1" dirty="0">
                <a:latin typeface="Courier New"/>
                <a:cs typeface="Courier New"/>
              </a:rPr>
              <a:t> =	</a:t>
            </a:r>
            <a:r>
              <a:rPr sz="2000" b="1" spc="-5" dirty="0">
                <a:latin typeface="Courier New"/>
                <a:cs typeface="Courier New"/>
              </a:rPr>
              <a:t>new Date1(</a:t>
            </a:r>
            <a:r>
              <a:rPr sz="2000" b="1" spc="-8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2700" marR="55880">
              <a:lnSpc>
                <a:spcPts val="2000"/>
              </a:lnSpc>
              <a:spcBef>
                <a:spcPts val="1800"/>
              </a:spcBef>
              <a:tabLst>
                <a:tab pos="1993900" algn="l"/>
                <a:tab pos="2298700" algn="l"/>
              </a:tabLst>
            </a:pPr>
            <a:r>
              <a:rPr sz="2000" b="1" spc="-5" dirty="0">
                <a:latin typeface="Courier New"/>
                <a:cs typeface="Courier New"/>
              </a:rPr>
              <a:t>myDate.mont</a:t>
            </a:r>
            <a:r>
              <a:rPr sz="2000" b="1" dirty="0">
                <a:latin typeface="Courier New"/>
                <a:cs typeface="Courier New"/>
              </a:rPr>
              <a:t>h =	</a:t>
            </a:r>
            <a:r>
              <a:rPr sz="2000" b="1" spc="-10" dirty="0">
                <a:latin typeface="MS PGothic"/>
                <a:cs typeface="MS PGothic"/>
              </a:rPr>
              <a:t>“</a:t>
            </a:r>
            <a:r>
              <a:rPr sz="2000" b="1" dirty="0">
                <a:latin typeface="Courier New"/>
                <a:cs typeface="Courier New"/>
              </a:rPr>
              <a:t>July</a:t>
            </a:r>
            <a:r>
              <a:rPr sz="2000" b="1" spc="-10" dirty="0">
                <a:latin typeface="MS PGothic"/>
                <a:cs typeface="MS PGothic"/>
              </a:rPr>
              <a:t>”</a:t>
            </a:r>
            <a:r>
              <a:rPr sz="2000" b="1" dirty="0">
                <a:latin typeface="Courier New"/>
                <a:cs typeface="Courier New"/>
              </a:rPr>
              <a:t>;  </a:t>
            </a:r>
            <a:r>
              <a:rPr sz="2000" b="1" spc="-5" dirty="0">
                <a:latin typeface="Courier New"/>
                <a:cs typeface="Courier New"/>
              </a:rPr>
              <a:t>myDate.day</a:t>
            </a:r>
            <a:r>
              <a:rPr sz="2000" b="1" dirty="0">
                <a:latin typeface="Courier New"/>
                <a:cs typeface="Courier New"/>
              </a:rPr>
              <a:t> =	</a:t>
            </a:r>
            <a:r>
              <a:rPr sz="2000" b="1" spc="-5" dirty="0">
                <a:latin typeface="Courier New"/>
                <a:cs typeface="Courier New"/>
              </a:rPr>
              <a:t>4;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1900"/>
              </a:lnSpc>
              <a:tabLst>
                <a:tab pos="2146300" algn="l"/>
              </a:tabLst>
            </a:pPr>
            <a:r>
              <a:rPr sz="2000" b="1" spc="-5" dirty="0">
                <a:latin typeface="Courier New"/>
                <a:cs typeface="Courier New"/>
              </a:rPr>
              <a:t>myDate.year</a:t>
            </a:r>
            <a:r>
              <a:rPr sz="2000" b="1" dirty="0">
                <a:latin typeface="Courier New"/>
                <a:cs typeface="Courier New"/>
              </a:rPr>
              <a:t> =	</a:t>
            </a:r>
            <a:r>
              <a:rPr sz="2000" b="1" spc="-5" dirty="0">
                <a:latin typeface="Courier New"/>
                <a:cs typeface="Courier New"/>
              </a:rPr>
              <a:t>2007;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7539" y="4983479"/>
            <a:ext cx="5970270" cy="63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3060700" algn="l"/>
              </a:tabLst>
            </a:pP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dateString</a:t>
            </a:r>
            <a:r>
              <a:rPr sz="2000" b="1" dirty="0">
                <a:latin typeface="Courier New"/>
                <a:cs typeface="Courier New"/>
              </a:rPr>
              <a:t> =	</a:t>
            </a:r>
            <a:r>
              <a:rPr sz="2000" b="1" spc="-5" dirty="0">
                <a:latin typeface="Courier New"/>
                <a:cs typeface="Courier New"/>
              </a:rPr>
              <a:t>myDate.toString(</a:t>
            </a:r>
            <a:r>
              <a:rPr sz="2000" b="1" spc="-9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);  System.out.println(dateString);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6039" y="5897879"/>
            <a:ext cx="178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39" y="6202679"/>
            <a:ext cx="178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38800" y="3124200"/>
            <a:ext cx="2743200" cy="685800"/>
          </a:xfrm>
          <a:prstGeom prst="rect">
            <a:avLst/>
          </a:prstGeom>
          <a:solidFill>
            <a:srgbClr val="C6E6E9"/>
          </a:solidFill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594360" marR="250190" indent="-342900">
              <a:lnSpc>
                <a:spcPts val="2100"/>
              </a:lnSpc>
              <a:spcBef>
                <a:spcPts val="620"/>
              </a:spcBef>
            </a:pPr>
            <a:r>
              <a:rPr sz="1800" dirty="0">
                <a:latin typeface="Arial"/>
                <a:cs typeface="Arial"/>
              </a:rPr>
              <a:t>Create a Date1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object  named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myDate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8800" y="3962400"/>
            <a:ext cx="2590800" cy="914400"/>
          </a:xfrm>
          <a:prstGeom prst="rect">
            <a:avLst/>
          </a:prstGeom>
          <a:solidFill>
            <a:srgbClr val="C6E6E9"/>
          </a:solidFill>
          <a:ln w="9524">
            <a:solidFill>
              <a:srgbClr val="000000"/>
            </a:solidFill>
          </a:ln>
        </p:spPr>
        <p:txBody>
          <a:bodyPr vert="horz" wrap="square" lIns="0" tIns="193040" rIns="0" bIns="0" rtlCol="0">
            <a:spAutoFit/>
          </a:bodyPr>
          <a:lstStyle/>
          <a:p>
            <a:pPr marL="810260" marR="110489" indent="-685800">
              <a:lnSpc>
                <a:spcPts val="2100"/>
              </a:lnSpc>
              <a:spcBef>
                <a:spcPts val="1520"/>
              </a:spcBef>
            </a:pPr>
            <a:r>
              <a:rPr sz="1800" dirty="0">
                <a:latin typeface="Arial"/>
                <a:cs typeface="Arial"/>
              </a:rPr>
              <a:t>Give values to the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  members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72199" y="5715000"/>
            <a:ext cx="3124200" cy="457200"/>
          </a:xfrm>
          <a:prstGeom prst="rect">
            <a:avLst/>
          </a:prstGeom>
          <a:solidFill>
            <a:srgbClr val="C6E6E9"/>
          </a:solidFill>
          <a:ln w="9524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latin typeface="Arial"/>
                <a:cs typeface="Arial"/>
              </a:rPr>
              <a:t>Invoke the toString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62999" y="5105400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609599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02600" y="5105400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>
                <a:moveTo>
                  <a:pt x="66039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7720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2289" y="785024"/>
            <a:ext cx="589915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73910" algn="l"/>
                <a:tab pos="2921000" algn="l"/>
                <a:tab pos="4417695" algn="l"/>
              </a:tabLst>
            </a:pPr>
            <a:r>
              <a:rPr dirty="0"/>
              <a:t>Crea</a:t>
            </a:r>
            <a:r>
              <a:rPr spc="-5" dirty="0"/>
              <a:t>t</a:t>
            </a:r>
            <a:r>
              <a:rPr dirty="0"/>
              <a:t>ing	</a:t>
            </a:r>
            <a:r>
              <a:rPr spc="-5" dirty="0"/>
              <a:t>t</a:t>
            </a:r>
            <a:r>
              <a:rPr dirty="0"/>
              <a:t>he	Da</a:t>
            </a:r>
            <a:r>
              <a:rPr spc="-5" dirty="0"/>
              <a:t>t</a:t>
            </a:r>
            <a:r>
              <a:rPr dirty="0"/>
              <a:t>e1	</a:t>
            </a:r>
            <a:r>
              <a:rPr spc="-5" dirty="0"/>
              <a:t>O</a:t>
            </a:r>
            <a:r>
              <a:rPr dirty="0"/>
              <a:t>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912457"/>
            <a:ext cx="787400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77200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Arial"/>
                <a:cs typeface="Arial"/>
              </a:rPr>
              <a:t>The </a:t>
            </a:r>
            <a:r>
              <a:rPr sz="2700" dirty="0">
                <a:latin typeface="Arial"/>
                <a:cs typeface="Arial"/>
              </a:rPr>
              <a:t>statement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Date1 myDate; </a:t>
            </a:r>
            <a:r>
              <a:rPr sz="2700" dirty="0">
                <a:latin typeface="Arial"/>
                <a:cs typeface="Arial"/>
              </a:rPr>
              <a:t>defines a variable of  type</a:t>
            </a:r>
            <a:r>
              <a:rPr sz="2700" spc="-10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Date1.</a:t>
            </a:r>
            <a:endParaRPr sz="2700">
              <a:latin typeface="Arial"/>
              <a:cs typeface="Arial"/>
            </a:endParaRPr>
          </a:p>
          <a:p>
            <a:pPr marL="469900">
              <a:lnSpc>
                <a:spcPts val="2750"/>
              </a:lnSpc>
            </a:pPr>
            <a:r>
              <a:rPr sz="2300" dirty="0">
                <a:latin typeface="Arial"/>
                <a:cs typeface="Arial"/>
              </a:rPr>
              <a:t>– But there is no Date1 </a:t>
            </a:r>
            <a:r>
              <a:rPr sz="2300" u="sng" dirty="0">
                <a:latin typeface="Arial"/>
                <a:cs typeface="Arial"/>
              </a:rPr>
              <a:t>object</a:t>
            </a:r>
            <a:r>
              <a:rPr sz="2300" u="sng" spc="2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yet!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8420" y="3399535"/>
            <a:ext cx="295211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14780" algn="l"/>
              </a:tabLst>
            </a:pP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myDate</a:t>
            </a:r>
            <a:r>
              <a:rPr sz="2000" b="1" spc="24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=	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new</a:t>
            </a:r>
            <a:r>
              <a:rPr sz="20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Date1(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3310635"/>
            <a:ext cx="7682230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  <a:tab pos="5816600" algn="l"/>
              </a:tabLst>
            </a:pPr>
            <a:r>
              <a:rPr sz="2700" spc="-5" dirty="0">
                <a:latin typeface="Arial"/>
                <a:cs typeface="Arial"/>
              </a:rPr>
              <a:t>The</a:t>
            </a:r>
            <a:r>
              <a:rPr sz="2700" dirty="0">
                <a:latin typeface="Arial"/>
                <a:cs typeface="Arial"/>
              </a:rPr>
              <a:t> statement	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); </a:t>
            </a:r>
            <a:r>
              <a:rPr sz="2700" dirty="0">
                <a:latin typeface="Arial"/>
                <a:cs typeface="Arial"/>
              </a:rPr>
              <a:t>creates</a:t>
            </a:r>
            <a:r>
              <a:rPr sz="2700" spc="-50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9" y="3647440"/>
            <a:ext cx="7992745" cy="2537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>
              <a:lnSpc>
                <a:spcPts val="2920"/>
              </a:lnSpc>
            </a:pPr>
            <a:r>
              <a:rPr sz="2700" spc="-5" dirty="0">
                <a:latin typeface="MS PGothic"/>
                <a:cs typeface="MS PGothic"/>
              </a:rPr>
              <a:t>“</a:t>
            </a:r>
            <a:r>
              <a:rPr sz="2700" spc="-5" dirty="0">
                <a:latin typeface="Arial"/>
                <a:cs typeface="Arial"/>
              </a:rPr>
              <a:t>new</a:t>
            </a:r>
            <a:r>
              <a:rPr sz="2700" spc="-5" dirty="0">
                <a:latin typeface="MS PGothic"/>
                <a:cs typeface="MS PGothic"/>
              </a:rPr>
              <a:t>” </a:t>
            </a:r>
            <a:r>
              <a:rPr sz="2700" dirty="0">
                <a:latin typeface="Arial"/>
                <a:cs typeface="Arial"/>
              </a:rPr>
              <a:t>Date1 object and names it with the</a:t>
            </a:r>
            <a:r>
              <a:rPr sz="2700" spc="-16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variable</a:t>
            </a:r>
            <a:endParaRPr sz="2700">
              <a:latin typeface="Arial"/>
              <a:cs typeface="Arial"/>
            </a:endParaRPr>
          </a:p>
          <a:p>
            <a:pPr marL="355600">
              <a:lnSpc>
                <a:spcPts val="2915"/>
              </a:lnSpc>
            </a:pPr>
            <a:r>
              <a:rPr sz="2700" spc="-5" dirty="0">
                <a:latin typeface="MS PGothic"/>
                <a:cs typeface="MS PGothic"/>
              </a:rPr>
              <a:t>“</a:t>
            </a:r>
            <a:r>
              <a:rPr sz="2700" spc="-5" dirty="0">
                <a:latin typeface="Arial"/>
                <a:cs typeface="Arial"/>
              </a:rPr>
              <a:t>myDate</a:t>
            </a:r>
            <a:r>
              <a:rPr sz="2700" spc="-5" dirty="0">
                <a:latin typeface="MS PGothic"/>
                <a:cs typeface="MS PGothic"/>
              </a:rPr>
              <a:t>”</a:t>
            </a:r>
            <a:r>
              <a:rPr sz="2700" spc="-5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 marL="469900">
              <a:lnSpc>
                <a:spcPts val="2755"/>
              </a:lnSpc>
            </a:pPr>
            <a:r>
              <a:rPr sz="2300" dirty="0">
                <a:latin typeface="Arial"/>
                <a:cs typeface="Arial"/>
              </a:rPr>
              <a:t>– </a:t>
            </a:r>
            <a:r>
              <a:rPr sz="2300" spc="-5" dirty="0">
                <a:latin typeface="Arial"/>
                <a:cs typeface="Arial"/>
              </a:rPr>
              <a:t>Now </a:t>
            </a:r>
            <a:r>
              <a:rPr sz="2300" dirty="0">
                <a:latin typeface="MS PGothic"/>
                <a:cs typeface="MS PGothic"/>
              </a:rPr>
              <a:t>“</a:t>
            </a:r>
            <a:r>
              <a:rPr sz="2300" dirty="0">
                <a:latin typeface="Arial"/>
                <a:cs typeface="Arial"/>
              </a:rPr>
              <a:t>myDate</a:t>
            </a:r>
            <a:r>
              <a:rPr sz="2300" dirty="0">
                <a:latin typeface="MS PGothic"/>
                <a:cs typeface="MS PGothic"/>
              </a:rPr>
              <a:t>” </a:t>
            </a:r>
            <a:r>
              <a:rPr sz="2300" b="1" i="1" dirty="0">
                <a:latin typeface="Arial"/>
                <a:cs typeface="Arial"/>
              </a:rPr>
              <a:t>refers to </a:t>
            </a:r>
            <a:r>
              <a:rPr sz="2300" dirty="0">
                <a:latin typeface="Arial"/>
                <a:cs typeface="Arial"/>
              </a:rPr>
              <a:t>a Date1</a:t>
            </a:r>
            <a:r>
              <a:rPr sz="2300" spc="229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object.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Times New Roman"/>
              <a:cs typeface="Times New Roman"/>
            </a:endParaRPr>
          </a:p>
          <a:p>
            <a:pPr marL="355600" marR="1167130" indent="-342900">
              <a:lnSpc>
                <a:spcPts val="2650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Arial"/>
                <a:cs typeface="Arial"/>
              </a:rPr>
              <a:t>For </a:t>
            </a:r>
            <a:r>
              <a:rPr sz="2700" dirty="0">
                <a:latin typeface="Arial"/>
                <a:cs typeface="Arial"/>
              </a:rPr>
              <a:t>convenience, these statements can</a:t>
            </a:r>
            <a:r>
              <a:rPr sz="2700" spc="-9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be  combined.</a:t>
            </a:r>
            <a:endParaRPr sz="270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  <a:spcBef>
                <a:spcPts val="715"/>
              </a:spcBef>
              <a:tabLst>
                <a:tab pos="3213100" algn="l"/>
              </a:tabLst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Date1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myDate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 =	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new Date1(</a:t>
            </a:r>
            <a:r>
              <a:rPr sz="2000" b="1" spc="-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84" rIns="0" bIns="0" rtlCol="0">
            <a:spAutoFit/>
          </a:bodyPr>
          <a:lstStyle/>
          <a:p>
            <a:pPr marL="2773045">
              <a:lnSpc>
                <a:spcPct val="100000"/>
              </a:lnSpc>
            </a:pPr>
            <a:r>
              <a:rPr spc="-5" dirty="0">
                <a:latin typeface="MS PGothic"/>
                <a:cs typeface="MS PGothic"/>
              </a:rPr>
              <a:t>“</a:t>
            </a:r>
            <a:r>
              <a:rPr spc="-5" dirty="0"/>
              <a:t>Dot</a:t>
            </a:r>
            <a:r>
              <a:rPr spc="-5" dirty="0">
                <a:latin typeface="MS PGothic"/>
                <a:cs typeface="MS PGothic"/>
              </a:rPr>
              <a:t>”</a:t>
            </a:r>
            <a:r>
              <a:rPr spc="-190" dirty="0">
                <a:latin typeface="MS PGothic"/>
                <a:cs typeface="MS PGothic"/>
              </a:rPr>
              <a:t> </a:t>
            </a:r>
            <a:r>
              <a:rPr spc="-5"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339" y="1829988"/>
            <a:ext cx="6832600" cy="661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774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Public instance variables of an object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  referenced using the </a:t>
            </a:r>
            <a:r>
              <a:rPr sz="2800" spc="-5" dirty="0">
                <a:latin typeface="MS PGothic"/>
                <a:cs typeface="MS PGothic"/>
              </a:rPr>
              <a:t>“</a:t>
            </a:r>
            <a:r>
              <a:rPr sz="2800" spc="-5" dirty="0">
                <a:latin typeface="Arial"/>
                <a:cs typeface="Arial"/>
              </a:rPr>
              <a:t>dot</a:t>
            </a:r>
            <a:r>
              <a:rPr sz="2800" spc="-5" dirty="0">
                <a:latin typeface="MS PGothic"/>
                <a:cs typeface="MS PGothic"/>
              </a:rPr>
              <a:t>”</a:t>
            </a:r>
            <a:r>
              <a:rPr sz="2800" spc="-165" dirty="0">
                <a:latin typeface="MS PGothic"/>
                <a:cs typeface="MS PGothic"/>
              </a:rPr>
              <a:t> </a:t>
            </a:r>
            <a:r>
              <a:rPr sz="2800" dirty="0">
                <a:latin typeface="Arial"/>
                <a:cs typeface="Arial"/>
              </a:rPr>
              <a:t>operator.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3739" y="2644394"/>
            <a:ext cx="258635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myDate.month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7874" y="2644394"/>
            <a:ext cx="187515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9420" algn="l"/>
              </a:tabLst>
            </a:pPr>
            <a:r>
              <a:rPr sz="2800" b="1" dirty="0">
                <a:latin typeface="Courier New"/>
                <a:cs typeface="Courier New"/>
              </a:rPr>
              <a:t>=	</a:t>
            </a:r>
            <a:r>
              <a:rPr sz="2800" b="1" spc="-15" dirty="0">
                <a:latin typeface="MS PGothic"/>
                <a:cs typeface="MS PGothic"/>
              </a:rPr>
              <a:t>“</a:t>
            </a:r>
            <a:r>
              <a:rPr sz="2800" b="1" spc="-15" dirty="0">
                <a:latin typeface="Courier New"/>
                <a:cs typeface="Courier New"/>
              </a:rPr>
              <a:t>July</a:t>
            </a:r>
            <a:r>
              <a:rPr sz="2800" b="1" spc="-15" dirty="0">
                <a:latin typeface="MS PGothic"/>
                <a:cs typeface="MS PGothic"/>
              </a:rPr>
              <a:t>”</a:t>
            </a:r>
            <a:r>
              <a:rPr sz="2800" b="1" spc="-15" dirty="0">
                <a:latin typeface="Courier New"/>
                <a:cs typeface="Courier New"/>
              </a:rPr>
              <a:t>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739" y="2990850"/>
            <a:ext cx="322643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59660" algn="l"/>
                <a:tab pos="2786380" algn="l"/>
              </a:tabLst>
            </a:pPr>
            <a:r>
              <a:rPr sz="2800" b="1" dirty="0">
                <a:latin typeface="Courier New"/>
                <a:cs typeface="Courier New"/>
              </a:rPr>
              <a:t>myDate.day	=	</a:t>
            </a:r>
            <a:r>
              <a:rPr sz="2800" b="1" spc="-5" dirty="0">
                <a:latin typeface="Courier New"/>
                <a:cs typeface="Courier New"/>
              </a:rPr>
              <a:t>4;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3739" y="3333750"/>
            <a:ext cx="408051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73020" algn="l"/>
                <a:tab pos="2999740" algn="l"/>
              </a:tabLst>
            </a:pPr>
            <a:r>
              <a:rPr sz="2800" b="1" dirty="0">
                <a:latin typeface="Courier New"/>
                <a:cs typeface="Courier New"/>
              </a:rPr>
              <a:t>myDate.year	=	2011;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339" y="4005326"/>
            <a:ext cx="7939405" cy="1898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459105" indent="-342900">
              <a:lnSpc>
                <a:spcPts val="273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Instance variables can be used like any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other  variable of the same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type.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73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set of values stored in all instance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variables  </a:t>
            </a:r>
            <a:r>
              <a:rPr sz="2800" spc="-5" dirty="0">
                <a:latin typeface="Arial"/>
                <a:cs typeface="Arial"/>
              </a:rPr>
              <a:t>define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b="1" i="1" dirty="0">
                <a:latin typeface="Arial"/>
                <a:cs typeface="Arial"/>
              </a:rPr>
              <a:t>state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dirty="0">
                <a:latin typeface="Arial"/>
                <a:cs typeface="Arial"/>
              </a:rPr>
              <a:t>the myDate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object.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462" y="82550"/>
            <a:ext cx="8873474" cy="754052"/>
          </a:xfrm>
          <a:prstGeom prst="rect">
            <a:avLst/>
          </a:prstGeom>
        </p:spPr>
        <p:txBody>
          <a:bodyPr vert="horz" wrap="square" lIns="0" tIns="137159" rIns="0" bIns="0" rtlCol="0">
            <a:spAutoFit/>
          </a:bodyPr>
          <a:lstStyle/>
          <a:p>
            <a:pPr marL="2095500">
              <a:lnSpc>
                <a:spcPct val="100000"/>
              </a:lnSpc>
            </a:pPr>
            <a:r>
              <a:rPr dirty="0"/>
              <a:t>More </a:t>
            </a:r>
            <a:r>
              <a:rPr spc="-5" dirty="0">
                <a:latin typeface="MS PGothic"/>
                <a:cs typeface="MS PGothic"/>
              </a:rPr>
              <a:t>“</a:t>
            </a:r>
            <a:r>
              <a:rPr spc="-5" dirty="0"/>
              <a:t>Dot</a:t>
            </a:r>
            <a:r>
              <a:rPr spc="-5" dirty="0">
                <a:latin typeface="MS PGothic"/>
                <a:cs typeface="MS PGothic"/>
              </a:rPr>
              <a:t>”</a:t>
            </a:r>
            <a:r>
              <a:rPr spc="-165" dirty="0">
                <a:latin typeface="MS PGothic"/>
                <a:cs typeface="MS PGothic"/>
              </a:rPr>
              <a:t> </a:t>
            </a:r>
            <a:r>
              <a:rPr lang="en-US" spc="-5" dirty="0"/>
              <a:t>N</a:t>
            </a:r>
            <a:r>
              <a:rPr spc="-5" dirty="0"/>
              <a:t>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9740"/>
            <a:ext cx="7972425" cy="4510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Arial"/>
                <a:cs typeface="Arial"/>
              </a:rPr>
              <a:t>The</a:t>
            </a:r>
            <a:r>
              <a:rPr sz="2700" spc="-9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statement</a:t>
            </a:r>
            <a:endParaRPr sz="2700">
              <a:latin typeface="Arial"/>
              <a:cs typeface="Arial"/>
            </a:endParaRPr>
          </a:p>
          <a:p>
            <a:pPr marL="2121535">
              <a:lnSpc>
                <a:spcPct val="100000"/>
              </a:lnSpc>
              <a:spcBef>
                <a:spcPts val="1105"/>
              </a:spcBef>
            </a:pPr>
            <a:r>
              <a:rPr sz="2700" b="1" spc="-5" dirty="0">
                <a:solidFill>
                  <a:srgbClr val="034CA1"/>
                </a:solidFill>
                <a:latin typeface="Courier New"/>
                <a:cs typeface="Courier New"/>
              </a:rPr>
              <a:t>myDate.toString(</a:t>
            </a:r>
            <a:r>
              <a:rPr sz="2700" b="1" spc="-9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700" b="1" spc="-5" dirty="0">
                <a:solidFill>
                  <a:srgbClr val="034CA1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 marL="355600" marR="5080">
              <a:lnSpc>
                <a:spcPct val="78800"/>
              </a:lnSpc>
              <a:spcBef>
                <a:spcPts val="1945"/>
              </a:spcBef>
            </a:pPr>
            <a:r>
              <a:rPr sz="2700" dirty="0">
                <a:latin typeface="Arial"/>
                <a:cs typeface="Arial"/>
              </a:rPr>
              <a:t>invokes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034CA1"/>
                </a:solidFill>
                <a:latin typeface="Courier New"/>
                <a:cs typeface="Courier New"/>
              </a:rPr>
              <a:t>toString</a:t>
            </a:r>
            <a:r>
              <a:rPr sz="2700" b="1" spc="-894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method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of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034CA1"/>
                </a:solidFill>
                <a:latin typeface="Courier New"/>
                <a:cs typeface="Courier New"/>
              </a:rPr>
              <a:t>myDate</a:t>
            </a:r>
            <a:r>
              <a:rPr sz="2700" b="1" dirty="0">
                <a:latin typeface="Courier New"/>
                <a:cs typeface="Courier New"/>
              </a:rPr>
              <a:t>,</a:t>
            </a:r>
            <a:r>
              <a:rPr sz="2700" b="1" spc="-894" dirty="0"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which  refers to an object of type</a:t>
            </a:r>
            <a:r>
              <a:rPr sz="2700" spc="-1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Date1.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50">
              <a:latin typeface="Times New Roman"/>
              <a:cs typeface="Times New Roman"/>
            </a:endParaRPr>
          </a:p>
          <a:p>
            <a:pPr marL="355600" marR="92075" indent="-342900">
              <a:lnSpc>
                <a:spcPct val="79500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Arial"/>
                <a:cs typeface="Arial"/>
              </a:rPr>
              <a:t>In OO terminology, we say that we are </a:t>
            </a:r>
            <a:r>
              <a:rPr sz="2700" dirty="0">
                <a:latin typeface="MS PGothic"/>
                <a:cs typeface="MS PGothic"/>
              </a:rPr>
              <a:t>“</a:t>
            </a:r>
            <a:r>
              <a:rPr sz="2700" dirty="0">
                <a:latin typeface="Arial"/>
                <a:cs typeface="Arial"/>
              </a:rPr>
              <a:t>sending  the </a:t>
            </a:r>
            <a:r>
              <a:rPr sz="2700" b="1" dirty="0">
                <a:solidFill>
                  <a:srgbClr val="034CA1"/>
                </a:solidFill>
                <a:latin typeface="Courier New"/>
                <a:cs typeface="Courier New"/>
              </a:rPr>
              <a:t>toString</a:t>
            </a:r>
            <a:r>
              <a:rPr sz="2700" b="1" spc="-1019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700" spc="-5" dirty="0">
                <a:latin typeface="Arial"/>
                <a:cs typeface="Arial"/>
              </a:rPr>
              <a:t>message</a:t>
            </a:r>
            <a:r>
              <a:rPr sz="2700" spc="-5" dirty="0">
                <a:latin typeface="MS PGothic"/>
                <a:cs typeface="MS PGothic"/>
              </a:rPr>
              <a:t>” </a:t>
            </a:r>
            <a:r>
              <a:rPr sz="2700" dirty="0">
                <a:latin typeface="Arial"/>
                <a:cs typeface="Arial"/>
              </a:rPr>
              <a:t>to the object referred to  by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034CA1"/>
                </a:solidFill>
                <a:latin typeface="Courier New"/>
                <a:cs typeface="Courier New"/>
              </a:rPr>
              <a:t>myDate</a:t>
            </a:r>
            <a:r>
              <a:rPr sz="2700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250">
              <a:latin typeface="Times New Roman"/>
              <a:cs typeface="Times New Roman"/>
            </a:endParaRPr>
          </a:p>
          <a:p>
            <a:pPr marL="355600" marR="447040" indent="-342900">
              <a:lnSpc>
                <a:spcPts val="2650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Arial"/>
                <a:cs typeface="Arial"/>
              </a:rPr>
              <a:t>The </a:t>
            </a:r>
            <a:r>
              <a:rPr sz="2700" dirty="0">
                <a:latin typeface="Arial"/>
                <a:cs typeface="Arial"/>
              </a:rPr>
              <a:t>object </a:t>
            </a:r>
            <a:r>
              <a:rPr sz="2700" b="1" dirty="0">
                <a:solidFill>
                  <a:srgbClr val="034CA1"/>
                </a:solidFill>
                <a:latin typeface="Courier New"/>
                <a:cs typeface="Courier New"/>
              </a:rPr>
              <a:t>myDate</a:t>
            </a:r>
            <a:r>
              <a:rPr sz="2700" b="1" spc="-969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is referred to as the </a:t>
            </a:r>
            <a:r>
              <a:rPr sz="2700" b="1" i="1" spc="-5" dirty="0">
                <a:latin typeface="Arial"/>
                <a:cs typeface="Arial"/>
              </a:rPr>
              <a:t>calling  object </a:t>
            </a:r>
            <a:r>
              <a:rPr sz="2700" dirty="0">
                <a:latin typeface="Arial"/>
                <a:cs typeface="Arial"/>
              </a:rPr>
              <a:t>or </a:t>
            </a:r>
            <a:r>
              <a:rPr sz="2700" b="1" i="1" spc="-5" dirty="0">
                <a:latin typeface="Arial"/>
                <a:cs typeface="Arial"/>
              </a:rPr>
              <a:t>host</a:t>
            </a:r>
            <a:r>
              <a:rPr sz="2700" b="1" i="1" spc="-60" dirty="0">
                <a:latin typeface="Arial"/>
                <a:cs typeface="Arial"/>
              </a:rPr>
              <a:t> </a:t>
            </a:r>
            <a:r>
              <a:rPr sz="2700" b="1" i="1" spc="-5" dirty="0">
                <a:latin typeface="Arial"/>
                <a:cs typeface="Arial"/>
              </a:rPr>
              <a:t>object</a:t>
            </a:r>
            <a:r>
              <a:rPr sz="2700" spc="-5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1922" y="785024"/>
            <a:ext cx="459994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38425" algn="l"/>
              </a:tabLst>
            </a:pPr>
            <a:r>
              <a:rPr spc="-5" dirty="0"/>
              <a:t>Other</a:t>
            </a:r>
            <a:r>
              <a:rPr spc="10" dirty="0"/>
              <a:t> </a:t>
            </a:r>
            <a:r>
              <a:rPr spc="-5" dirty="0"/>
              <a:t>Date	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42440"/>
            <a:ext cx="8000365" cy="403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</a:pPr>
            <a:r>
              <a:rPr sz="3200" dirty="0">
                <a:latin typeface="Arial"/>
                <a:cs typeface="Arial"/>
              </a:rPr>
              <a:t>Some </a:t>
            </a:r>
            <a:r>
              <a:rPr sz="3200" spc="-5" dirty="0">
                <a:latin typeface="Arial"/>
                <a:cs typeface="Arial"/>
              </a:rPr>
              <a:t>other </a:t>
            </a:r>
            <a:r>
              <a:rPr sz="3200" dirty="0">
                <a:latin typeface="Arial"/>
                <a:cs typeface="Arial"/>
              </a:rPr>
              <a:t>possible services </a:t>
            </a:r>
            <a:r>
              <a:rPr sz="3200" spc="-5" dirty="0">
                <a:latin typeface="Arial"/>
                <a:cs typeface="Arial"/>
              </a:rPr>
              <a:t>that the Date1  </a:t>
            </a:r>
            <a:r>
              <a:rPr sz="3200" dirty="0">
                <a:latin typeface="Arial"/>
                <a:cs typeface="Arial"/>
              </a:rPr>
              <a:t>class might</a:t>
            </a:r>
            <a:r>
              <a:rPr sz="3200" spc="-1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provide:</a:t>
            </a:r>
            <a:endParaRPr sz="3200">
              <a:latin typeface="Arial"/>
              <a:cs typeface="Arial"/>
            </a:endParaRPr>
          </a:p>
          <a:p>
            <a:pPr marL="749300" indent="-279400">
              <a:lnSpc>
                <a:spcPts val="3345"/>
              </a:lnSpc>
              <a:spcBef>
                <a:spcPts val="2010"/>
              </a:spcBef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incrementDay - changes the date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endParaRPr sz="2800">
              <a:latin typeface="Arial"/>
              <a:cs typeface="Arial"/>
            </a:endParaRPr>
          </a:p>
          <a:p>
            <a:pPr marL="748665">
              <a:lnSpc>
                <a:spcPts val="3345"/>
              </a:lnSpc>
            </a:pPr>
            <a:r>
              <a:rPr sz="2800" spc="-5" dirty="0">
                <a:latin typeface="MS PGothic"/>
                <a:cs typeface="MS PGothic"/>
              </a:rPr>
              <a:t>“</a:t>
            </a:r>
            <a:r>
              <a:rPr sz="2800" spc="-5" dirty="0">
                <a:latin typeface="Arial"/>
                <a:cs typeface="Arial"/>
              </a:rPr>
              <a:t>tomorrow</a:t>
            </a:r>
            <a:r>
              <a:rPr sz="2800" spc="-5" dirty="0">
                <a:latin typeface="MS PGothic"/>
                <a:cs typeface="MS PGothic"/>
              </a:rPr>
              <a:t>”</a:t>
            </a:r>
            <a:endParaRPr sz="2800">
              <a:latin typeface="MS PGothic"/>
              <a:cs typeface="MS PGothic"/>
            </a:endParaRPr>
          </a:p>
          <a:p>
            <a:pPr marL="755650" indent="-285750">
              <a:lnSpc>
                <a:spcPct val="100000"/>
              </a:lnSpc>
              <a:spcBef>
                <a:spcPts val="710"/>
              </a:spcBef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DMYString – creates a different string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format</a:t>
            </a:r>
            <a:endParaRPr sz="2800">
              <a:latin typeface="Arial"/>
              <a:cs typeface="Arial"/>
            </a:endParaRPr>
          </a:p>
          <a:p>
            <a:pPr marL="749300" marR="495934" indent="-279400">
              <a:lnSpc>
                <a:spcPts val="3329"/>
              </a:lnSpc>
              <a:spcBef>
                <a:spcPts val="775"/>
              </a:spcBef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setDate - initialize/change the year,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month,  and/or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day</a:t>
            </a:r>
            <a:endParaRPr sz="280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605"/>
              </a:spcBef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What </a:t>
            </a:r>
            <a:r>
              <a:rPr sz="2800" dirty="0">
                <a:latin typeface="Arial"/>
                <a:cs typeface="Arial"/>
              </a:rPr>
              <a:t>others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8035" y="594359"/>
            <a:ext cx="370776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/>
              <a:t>New </a:t>
            </a:r>
            <a:r>
              <a:rPr sz="3200" spc="-5" dirty="0"/>
              <a:t>Date1</a:t>
            </a:r>
            <a:r>
              <a:rPr sz="3200" spc="-50" dirty="0"/>
              <a:t> </a:t>
            </a:r>
            <a:r>
              <a:rPr sz="3200" spc="-5" dirty="0"/>
              <a:t>Methods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313232" y="1229359"/>
            <a:ext cx="6450330" cy="214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">
              <a:lnSpc>
                <a:spcPts val="1660"/>
              </a:lnSpc>
            </a:pPr>
            <a:r>
              <a:rPr sz="1400" spc="-5" dirty="0">
                <a:latin typeface="Courier New"/>
                <a:cs typeface="Courier New"/>
              </a:rPr>
              <a:t>// change the month (using an int), day, and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year.</a:t>
            </a:r>
            <a:endParaRPr sz="1400">
              <a:latin typeface="Courier New"/>
              <a:cs typeface="Courier New"/>
            </a:endParaRPr>
          </a:p>
          <a:p>
            <a:pPr marL="34925">
              <a:lnSpc>
                <a:spcPts val="1660"/>
              </a:lnSpc>
            </a:pPr>
            <a:r>
              <a:rPr sz="1400" b="1" spc="-5" dirty="0">
                <a:latin typeface="Courier New"/>
                <a:cs typeface="Courier New"/>
              </a:rPr>
              <a:t>public </a:t>
            </a:r>
            <a:r>
              <a:rPr sz="1400" b="1" dirty="0">
                <a:latin typeface="Courier New"/>
                <a:cs typeface="Courier New"/>
              </a:rPr>
              <a:t>void </a:t>
            </a:r>
            <a:r>
              <a:rPr sz="1400" spc="-5" dirty="0">
                <a:latin typeface="Courier New"/>
                <a:cs typeface="Courier New"/>
              </a:rPr>
              <a:t>setDate( int newMonth, int newDay, int newYear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)</a:t>
            </a:r>
            <a:endParaRPr sz="1400">
              <a:latin typeface="Courier New"/>
              <a:cs typeface="Courier New"/>
            </a:endParaRPr>
          </a:p>
          <a:p>
            <a:pPr marL="34925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606425" marR="2420620">
              <a:lnSpc>
                <a:spcPts val="1600"/>
              </a:lnSpc>
              <a:spcBef>
                <a:spcPts val="140"/>
              </a:spcBef>
            </a:pPr>
            <a:r>
              <a:rPr sz="1400" spc="-5" dirty="0">
                <a:latin typeface="Courier New"/>
                <a:cs typeface="Courier New"/>
              </a:rPr>
              <a:t>month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monthString( newMonth );  day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9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newDay;</a:t>
            </a:r>
            <a:endParaRPr sz="1400">
              <a:latin typeface="Courier New"/>
              <a:cs typeface="Courier New"/>
            </a:endParaRPr>
          </a:p>
          <a:p>
            <a:pPr marL="606425">
              <a:lnSpc>
                <a:spcPts val="1660"/>
              </a:lnSpc>
            </a:pPr>
            <a:r>
              <a:rPr sz="1400" spc="-5" dirty="0">
                <a:latin typeface="Courier New"/>
                <a:cs typeface="Courier New"/>
              </a:rPr>
              <a:t>year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9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newYear;</a:t>
            </a:r>
            <a:endParaRPr sz="1400">
              <a:latin typeface="Courier New"/>
              <a:cs typeface="Courier New"/>
            </a:endParaRPr>
          </a:p>
          <a:p>
            <a:pPr marL="34925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Times New Roman"/>
              <a:cs typeface="Times New Roman"/>
            </a:endParaRPr>
          </a:p>
          <a:p>
            <a:pPr marL="34925">
              <a:lnSpc>
                <a:spcPts val="1639"/>
              </a:lnSpc>
            </a:pPr>
            <a:r>
              <a:rPr sz="1400" spc="-5" dirty="0">
                <a:latin typeface="Courier New"/>
                <a:cs typeface="Courier New"/>
              </a:rPr>
              <a:t>// change month number (int) to string </a:t>
            </a:r>
            <a:r>
              <a:rPr sz="1400" dirty="0">
                <a:latin typeface="Courier New"/>
                <a:cs typeface="Courier New"/>
              </a:rPr>
              <a:t>- </a:t>
            </a:r>
            <a:r>
              <a:rPr sz="1400" spc="-5" dirty="0">
                <a:latin typeface="Courier New"/>
                <a:cs typeface="Courier New"/>
              </a:rPr>
              <a:t>used by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setDate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9"/>
              </a:lnSpc>
            </a:pPr>
            <a:r>
              <a:rPr sz="1400" b="1" spc="-5" dirty="0">
                <a:latin typeface="Courier New"/>
                <a:cs typeface="Courier New"/>
              </a:rPr>
              <a:t>public </a:t>
            </a:r>
            <a:r>
              <a:rPr sz="1400" b="1" dirty="0">
                <a:latin typeface="Courier New"/>
                <a:cs typeface="Courier New"/>
              </a:rPr>
              <a:t>String </a:t>
            </a:r>
            <a:r>
              <a:rPr sz="1400" spc="-5" dirty="0">
                <a:latin typeface="Courier New"/>
                <a:cs typeface="Courier New"/>
              </a:rPr>
              <a:t>monthString( int monthNumber </a:t>
            </a:r>
            <a:r>
              <a:rPr sz="1400" dirty="0">
                <a:latin typeface="Courier New"/>
                <a:cs typeface="Courier New"/>
              </a:rPr>
              <a:t>)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7539" y="3354832"/>
            <a:ext cx="2372995" cy="23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switch </a:t>
            </a:r>
            <a:r>
              <a:rPr sz="1400" dirty="0">
                <a:latin typeface="Courier New"/>
                <a:cs typeface="Courier New"/>
              </a:rPr>
              <a:t>( </a:t>
            </a:r>
            <a:r>
              <a:rPr sz="1400" spc="-5" dirty="0">
                <a:latin typeface="Courier New"/>
                <a:cs typeface="Courier New"/>
              </a:rPr>
              <a:t>monthNumber</a:t>
            </a:r>
            <a:r>
              <a:rPr sz="1400" spc="-8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1939" y="3570518"/>
            <a:ext cx="498475" cy="2587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0" algn="just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case  case  case  case  case  case</a:t>
            </a:r>
            <a:endParaRPr sz="1400">
              <a:latin typeface="Courier New"/>
              <a:cs typeface="Courier New"/>
            </a:endParaRPr>
          </a:p>
          <a:p>
            <a:pPr marL="12700" marR="5080" algn="just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Courier New"/>
                <a:cs typeface="Courier New"/>
              </a:rPr>
              <a:t>case  case  case  case  case  case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5428" y="3570732"/>
            <a:ext cx="1092835" cy="2587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9420" algn="l"/>
              </a:tabLst>
            </a:pPr>
            <a:r>
              <a:rPr sz="1400" spc="-5" dirty="0">
                <a:latin typeface="Courier New"/>
                <a:cs typeface="Courier New"/>
              </a:rPr>
              <a:t>1</a:t>
            </a:r>
            <a:r>
              <a:rPr sz="1400" dirty="0">
                <a:latin typeface="Courier New"/>
                <a:cs typeface="Courier New"/>
              </a:rPr>
              <a:t>:	</a:t>
            </a:r>
            <a:r>
              <a:rPr sz="1400" spc="-5" dirty="0">
                <a:latin typeface="Courier New"/>
                <a:cs typeface="Courier New"/>
              </a:rPr>
              <a:t>return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439420" algn="l"/>
              </a:tabLst>
            </a:pPr>
            <a:r>
              <a:rPr sz="1400" spc="-5" dirty="0">
                <a:latin typeface="Courier New"/>
                <a:cs typeface="Courier New"/>
              </a:rPr>
              <a:t>2</a:t>
            </a:r>
            <a:r>
              <a:rPr sz="1400" dirty="0">
                <a:latin typeface="Courier New"/>
                <a:cs typeface="Courier New"/>
              </a:rPr>
              <a:t>:	</a:t>
            </a:r>
            <a:r>
              <a:rPr sz="1400" spc="-5" dirty="0">
                <a:latin typeface="Courier New"/>
                <a:cs typeface="Courier New"/>
              </a:rPr>
              <a:t>return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9"/>
              </a:lnSpc>
              <a:spcBef>
                <a:spcPts val="20"/>
              </a:spcBef>
              <a:tabLst>
                <a:tab pos="439420" algn="l"/>
              </a:tabLst>
            </a:pPr>
            <a:r>
              <a:rPr sz="1400" spc="-5" dirty="0">
                <a:latin typeface="Courier New"/>
                <a:cs typeface="Courier New"/>
              </a:rPr>
              <a:t>3</a:t>
            </a:r>
            <a:r>
              <a:rPr sz="1400" dirty="0">
                <a:latin typeface="Courier New"/>
                <a:cs typeface="Courier New"/>
              </a:rPr>
              <a:t>:	</a:t>
            </a:r>
            <a:r>
              <a:rPr sz="1400" spc="-5" dirty="0">
                <a:latin typeface="Courier New"/>
                <a:cs typeface="Courier New"/>
              </a:rPr>
              <a:t>return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9"/>
              </a:lnSpc>
              <a:tabLst>
                <a:tab pos="439420" algn="l"/>
              </a:tabLst>
            </a:pPr>
            <a:r>
              <a:rPr sz="1400" spc="-5" dirty="0">
                <a:latin typeface="Courier New"/>
                <a:cs typeface="Courier New"/>
              </a:rPr>
              <a:t>4</a:t>
            </a:r>
            <a:r>
              <a:rPr sz="1400" dirty="0">
                <a:latin typeface="Courier New"/>
                <a:cs typeface="Courier New"/>
              </a:rPr>
              <a:t>:	</a:t>
            </a:r>
            <a:r>
              <a:rPr sz="1400" spc="-5" dirty="0">
                <a:latin typeface="Courier New"/>
                <a:cs typeface="Courier New"/>
              </a:rPr>
              <a:t>return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439420" algn="l"/>
              </a:tabLst>
            </a:pPr>
            <a:r>
              <a:rPr sz="1400" spc="-5" dirty="0">
                <a:latin typeface="Courier New"/>
                <a:cs typeface="Courier New"/>
              </a:rPr>
              <a:t>5</a:t>
            </a:r>
            <a:r>
              <a:rPr sz="1400" dirty="0">
                <a:latin typeface="Courier New"/>
                <a:cs typeface="Courier New"/>
              </a:rPr>
              <a:t>:	</a:t>
            </a:r>
            <a:r>
              <a:rPr sz="1400" spc="-5" dirty="0">
                <a:latin typeface="Courier New"/>
                <a:cs typeface="Courier New"/>
              </a:rPr>
              <a:t>return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439420" algn="l"/>
              </a:tabLst>
            </a:pPr>
            <a:r>
              <a:rPr sz="1400" spc="-5" dirty="0">
                <a:latin typeface="Courier New"/>
                <a:cs typeface="Courier New"/>
              </a:rPr>
              <a:t>6</a:t>
            </a:r>
            <a:r>
              <a:rPr sz="1400" dirty="0">
                <a:latin typeface="Courier New"/>
                <a:cs typeface="Courier New"/>
              </a:rPr>
              <a:t>:	</a:t>
            </a:r>
            <a:r>
              <a:rPr sz="1400" spc="-5" dirty="0">
                <a:latin typeface="Courier New"/>
                <a:cs typeface="Courier New"/>
              </a:rPr>
              <a:t>return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439420" algn="l"/>
              </a:tabLst>
            </a:pPr>
            <a:r>
              <a:rPr sz="1400" spc="-5" dirty="0">
                <a:latin typeface="Courier New"/>
                <a:cs typeface="Courier New"/>
              </a:rPr>
              <a:t>7</a:t>
            </a:r>
            <a:r>
              <a:rPr sz="1400" dirty="0">
                <a:latin typeface="Courier New"/>
                <a:cs typeface="Courier New"/>
              </a:rPr>
              <a:t>:	</a:t>
            </a:r>
            <a:r>
              <a:rPr sz="1400" spc="-5" dirty="0">
                <a:latin typeface="Courier New"/>
                <a:cs typeface="Courier New"/>
              </a:rPr>
              <a:t>return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9"/>
              </a:lnSpc>
              <a:spcBef>
                <a:spcPts val="20"/>
              </a:spcBef>
              <a:tabLst>
                <a:tab pos="439420" algn="l"/>
              </a:tabLst>
            </a:pPr>
            <a:r>
              <a:rPr sz="1400" spc="-5" dirty="0">
                <a:latin typeface="Courier New"/>
                <a:cs typeface="Courier New"/>
              </a:rPr>
              <a:t>8</a:t>
            </a:r>
            <a:r>
              <a:rPr sz="1400" dirty="0">
                <a:latin typeface="Courier New"/>
                <a:cs typeface="Courier New"/>
              </a:rPr>
              <a:t>:	</a:t>
            </a:r>
            <a:r>
              <a:rPr sz="1400" spc="-5" dirty="0">
                <a:latin typeface="Courier New"/>
                <a:cs typeface="Courier New"/>
              </a:rPr>
              <a:t>return</a:t>
            </a:r>
            <a:endParaRPr sz="1400">
              <a:latin typeface="Courier New"/>
              <a:cs typeface="Courier New"/>
            </a:endParaRPr>
          </a:p>
          <a:p>
            <a:pPr marL="58419">
              <a:lnSpc>
                <a:spcPts val="1639"/>
              </a:lnSpc>
            </a:pPr>
            <a:r>
              <a:rPr sz="1400" spc="-5" dirty="0">
                <a:latin typeface="Courier New"/>
                <a:cs typeface="Courier New"/>
              </a:rPr>
              <a:t>9: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Courier New"/>
                <a:cs typeface="Courier New"/>
              </a:rPr>
              <a:t>10: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Courier New"/>
                <a:cs typeface="Courier New"/>
              </a:rPr>
              <a:t>11: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Courier New"/>
                <a:cs typeface="Courier New"/>
              </a:rPr>
              <a:t>12: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1939" y="6136132"/>
            <a:ext cx="878840" cy="23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default: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2219" y="5269971"/>
            <a:ext cx="711835" cy="1104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5720" algn="just">
              <a:lnSpc>
                <a:spcPct val="101200"/>
              </a:lnSpc>
            </a:pPr>
            <a:r>
              <a:rPr sz="1400" spc="-5" dirty="0">
                <a:latin typeface="Courier New"/>
                <a:cs typeface="Courier New"/>
              </a:rPr>
              <a:t>return  return  return  return  return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8286" y="3354832"/>
            <a:ext cx="1412875" cy="301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73025" marR="157480">
              <a:lnSpc>
                <a:spcPct val="101200"/>
              </a:lnSpc>
            </a:pPr>
            <a:r>
              <a:rPr sz="1400" spc="-5" dirty="0">
                <a:latin typeface="Courier New"/>
                <a:cs typeface="Courier New"/>
              </a:rPr>
              <a:t>"January";  "February";  </a:t>
            </a:r>
            <a:r>
              <a:rPr sz="1400" dirty="0">
                <a:latin typeface="Courier New"/>
                <a:cs typeface="Courier New"/>
              </a:rPr>
              <a:t>"March";</a:t>
            </a:r>
            <a:endParaRPr sz="1400">
              <a:latin typeface="Courier New"/>
              <a:cs typeface="Courier New"/>
            </a:endParaRPr>
          </a:p>
          <a:p>
            <a:pPr marL="73025">
              <a:lnSpc>
                <a:spcPts val="1600"/>
              </a:lnSpc>
            </a:pPr>
            <a:r>
              <a:rPr sz="1400" spc="-5" dirty="0">
                <a:latin typeface="Courier New"/>
                <a:cs typeface="Courier New"/>
              </a:rPr>
              <a:t>"April";</a:t>
            </a:r>
            <a:endParaRPr sz="1400">
              <a:latin typeface="Courier New"/>
              <a:cs typeface="Courier New"/>
            </a:endParaRPr>
          </a:p>
          <a:p>
            <a:pPr marL="73025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Courier New"/>
                <a:cs typeface="Courier New"/>
              </a:rPr>
              <a:t>"May";</a:t>
            </a:r>
            <a:endParaRPr sz="1400">
              <a:latin typeface="Courier New"/>
              <a:cs typeface="Courier New"/>
            </a:endParaRPr>
          </a:p>
          <a:p>
            <a:pPr marL="73025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Courier New"/>
                <a:cs typeface="Courier New"/>
              </a:rPr>
              <a:t>"June";</a:t>
            </a:r>
            <a:endParaRPr sz="1400">
              <a:latin typeface="Courier New"/>
              <a:cs typeface="Courier New"/>
            </a:endParaRPr>
          </a:p>
          <a:p>
            <a:pPr marL="73025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Courier New"/>
                <a:cs typeface="Courier New"/>
              </a:rPr>
              <a:t>"July";</a:t>
            </a:r>
            <a:endParaRPr sz="1400">
              <a:latin typeface="Courier New"/>
              <a:cs typeface="Courier New"/>
            </a:endParaRPr>
          </a:p>
          <a:p>
            <a:pPr marL="73025" marR="5080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latin typeface="Courier New"/>
                <a:cs typeface="Courier New"/>
              </a:rPr>
              <a:t>"August";  "September";  "October";  "November";  "December";  </a:t>
            </a:r>
            <a:r>
              <a:rPr sz="1400" dirty="0">
                <a:latin typeface="MS PGothic"/>
                <a:cs typeface="MS PGothic"/>
              </a:rPr>
              <a:t>“</a:t>
            </a:r>
            <a:r>
              <a:rPr sz="1400" dirty="0">
                <a:latin typeface="Courier New"/>
                <a:cs typeface="Courier New"/>
              </a:rPr>
              <a:t>????</a:t>
            </a:r>
            <a:r>
              <a:rPr sz="1400" dirty="0">
                <a:latin typeface="MS PGothic"/>
                <a:cs typeface="MS PGothic"/>
              </a:rPr>
              <a:t>”</a:t>
            </a:r>
            <a:r>
              <a:rPr sz="1400" dirty="0"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6039" y="6339332"/>
            <a:ext cx="70421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84" rIns="0" bIns="0" rtlCol="0">
            <a:spAutoFit/>
          </a:bodyPr>
          <a:lstStyle/>
          <a:p>
            <a:pPr marL="3154045">
              <a:lnSpc>
                <a:spcPct val="100000"/>
              </a:lnSpc>
            </a:pPr>
            <a:r>
              <a:rPr spc="-5" dirty="0"/>
              <a:t>Confusion?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4677"/>
            <a:ext cx="8110220" cy="886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799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In the preceding </a:t>
            </a:r>
            <a:r>
              <a:rPr sz="2400" b="1" dirty="0">
                <a:solidFill>
                  <a:srgbClr val="034CA1"/>
                </a:solidFill>
                <a:latin typeface="Arial"/>
                <a:cs typeface="Arial"/>
              </a:rPr>
              <a:t>setDate </a:t>
            </a:r>
            <a:r>
              <a:rPr sz="2400" dirty="0">
                <a:latin typeface="Arial"/>
                <a:cs typeface="Arial"/>
              </a:rPr>
              <a:t>method </a:t>
            </a:r>
            <a:r>
              <a:rPr sz="2400" spc="-305" dirty="0" err="1">
                <a:latin typeface="Arial"/>
                <a:cs typeface="Arial"/>
              </a:rPr>
              <a:t>it</a:t>
            </a:r>
            <a:r>
              <a:rPr sz="2400" spc="-305" dirty="0" err="1">
                <a:latin typeface="MS PGothic"/>
                <a:cs typeface="MS PGothic"/>
              </a:rPr>
              <a:t>ʼ</a:t>
            </a:r>
            <a:r>
              <a:rPr sz="2400" spc="-305" dirty="0" err="1">
                <a:latin typeface="Arial"/>
                <a:cs typeface="Arial"/>
              </a:rPr>
              <a:t>s</a:t>
            </a:r>
            <a:r>
              <a:rPr sz="2400" spc="-305" dirty="0">
                <a:latin typeface="Arial"/>
                <a:cs typeface="Arial"/>
              </a:rPr>
              <a:t> </a:t>
            </a:r>
            <a:r>
              <a:rPr lang="en-US" sz="2400" spc="-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tempting to define  the method using the common terms </a:t>
            </a:r>
            <a:r>
              <a:rPr sz="2400" dirty="0">
                <a:latin typeface="MS PGothic"/>
                <a:cs typeface="MS PGothic"/>
              </a:rPr>
              <a:t>“</a:t>
            </a:r>
            <a:r>
              <a:rPr sz="2400" dirty="0">
                <a:latin typeface="Arial"/>
                <a:cs typeface="Arial"/>
              </a:rPr>
              <a:t>month</a:t>
            </a:r>
            <a:r>
              <a:rPr sz="2400" dirty="0">
                <a:latin typeface="MS PGothic"/>
                <a:cs typeface="MS PGothic"/>
              </a:rPr>
              <a:t>”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MS PGothic"/>
                <a:cs typeface="MS PGothic"/>
              </a:rPr>
              <a:t>“</a:t>
            </a:r>
            <a:r>
              <a:rPr sz="2400" spc="-5" dirty="0">
                <a:latin typeface="Arial"/>
                <a:cs typeface="Arial"/>
              </a:rPr>
              <a:t>day</a:t>
            </a:r>
            <a:r>
              <a:rPr sz="2400" spc="-5" dirty="0">
                <a:latin typeface="MS PGothic"/>
                <a:cs typeface="MS PGothic"/>
              </a:rPr>
              <a:t>”</a:t>
            </a:r>
            <a:r>
              <a:rPr sz="2400" spc="-150" dirty="0">
                <a:latin typeface="MS PGothic"/>
                <a:cs typeface="MS PGothic"/>
              </a:rPr>
              <a:t> </a:t>
            </a:r>
            <a:r>
              <a:rPr sz="2400" spc="-5" dirty="0">
                <a:latin typeface="Arial"/>
                <a:cs typeface="Arial"/>
              </a:rPr>
              <a:t>and  </a:t>
            </a:r>
            <a:r>
              <a:rPr sz="2400" spc="-5" dirty="0">
                <a:latin typeface="MS PGothic"/>
                <a:cs typeface="MS PGothic"/>
              </a:rPr>
              <a:t>“</a:t>
            </a:r>
            <a:r>
              <a:rPr sz="2400" spc="-5" dirty="0">
                <a:latin typeface="Arial"/>
                <a:cs typeface="Arial"/>
              </a:rPr>
              <a:t>year</a:t>
            </a:r>
            <a:r>
              <a:rPr sz="2400" spc="-5" dirty="0">
                <a:latin typeface="MS PGothic"/>
                <a:cs typeface="MS PGothic"/>
              </a:rPr>
              <a:t>” </a:t>
            </a:r>
            <a:r>
              <a:rPr sz="2400" dirty="0">
                <a:latin typeface="Arial"/>
                <a:cs typeface="Arial"/>
              </a:rPr>
              <a:t>as the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parameters.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89411" y="2908300"/>
            <a:ext cx="345503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month, int day, int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year)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2180" y="3458464"/>
            <a:ext cx="71120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month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35277" y="3458464"/>
            <a:ext cx="1397635" cy="86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);//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which</a:t>
            </a:r>
            <a:endParaRPr sz="18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  <a:spcBef>
                <a:spcPts val="40"/>
              </a:spcBef>
            </a:pPr>
            <a:r>
              <a:rPr sz="1800" spc="-5" dirty="0">
                <a:latin typeface="Courier New"/>
                <a:cs typeface="Courier New"/>
              </a:rPr>
              <a:t>//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which</a:t>
            </a:r>
            <a:endParaRPr sz="18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  <a:spcBef>
                <a:spcPts val="40"/>
              </a:spcBef>
            </a:pPr>
            <a:r>
              <a:rPr sz="1800" spc="-5" dirty="0">
                <a:latin typeface="Courier New"/>
                <a:cs typeface="Courier New"/>
              </a:rPr>
              <a:t>//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which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97951" y="3453252"/>
            <a:ext cx="2129790" cy="866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5720">
              <a:lnSpc>
                <a:spcPct val="101899"/>
              </a:lnSpc>
            </a:pPr>
            <a:r>
              <a:rPr sz="1800" spc="-5" dirty="0">
                <a:latin typeface="Courier New"/>
                <a:cs typeface="Courier New"/>
              </a:rPr>
              <a:t>month is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which?  day is which?  year is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which?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9839" y="2908300"/>
            <a:ext cx="3340735" cy="1677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public void setDate(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int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  <a:spcBef>
                <a:spcPts val="70"/>
              </a:spcBef>
            </a:pP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83565" marR="5080">
              <a:lnSpc>
                <a:spcPts val="2200"/>
              </a:lnSpc>
              <a:spcBef>
                <a:spcPts val="10"/>
              </a:spcBef>
              <a:tabLst>
                <a:tab pos="1407160" algn="l"/>
                <a:tab pos="1681480" algn="l"/>
              </a:tabLst>
            </a:pPr>
            <a:r>
              <a:rPr sz="1800" spc="-5" dirty="0">
                <a:latin typeface="Courier New"/>
                <a:cs typeface="Courier New"/>
              </a:rPr>
              <a:t>mont</a:t>
            </a:r>
            <a:r>
              <a:rPr sz="1800" dirty="0">
                <a:latin typeface="Courier New"/>
                <a:cs typeface="Courier New"/>
              </a:rPr>
              <a:t>h =	</a:t>
            </a:r>
            <a:r>
              <a:rPr sz="1800" spc="-5" dirty="0">
                <a:latin typeface="Courier New"/>
                <a:cs typeface="Courier New"/>
              </a:rPr>
              <a:t>monthString(  day</a:t>
            </a:r>
            <a:r>
              <a:rPr sz="1800" dirty="0">
                <a:latin typeface="Courier New"/>
                <a:cs typeface="Courier New"/>
              </a:rPr>
              <a:t> =	day;</a:t>
            </a:r>
            <a:endParaRPr sz="1800">
              <a:latin typeface="Courier New"/>
              <a:cs typeface="Courier New"/>
            </a:endParaRPr>
          </a:p>
          <a:p>
            <a:pPr marL="583565">
              <a:lnSpc>
                <a:spcPts val="2090"/>
              </a:lnSpc>
              <a:tabLst>
                <a:tab pos="1544320" algn="l"/>
              </a:tabLst>
            </a:pPr>
            <a:r>
              <a:rPr sz="1800" spc="-5" dirty="0">
                <a:latin typeface="Courier New"/>
                <a:cs typeface="Courier New"/>
              </a:rPr>
              <a:t>year</a:t>
            </a:r>
            <a:r>
              <a:rPr sz="1800" dirty="0">
                <a:latin typeface="Courier New"/>
                <a:cs typeface="Courier New"/>
              </a:rPr>
              <a:t> =	year;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5044866"/>
            <a:ext cx="8094980" cy="890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5"/>
              </a:lnSpc>
            </a:pPr>
            <a:r>
              <a:rPr sz="2400" dirty="0">
                <a:latin typeface="Arial"/>
                <a:cs typeface="Arial"/>
              </a:rPr>
              <a:t>The compiler assumes that all uses of </a:t>
            </a:r>
            <a:r>
              <a:rPr sz="2400" b="1" dirty="0">
                <a:solidFill>
                  <a:srgbClr val="034CA1"/>
                </a:solidFill>
                <a:latin typeface="Arial"/>
                <a:cs typeface="Arial"/>
              </a:rPr>
              <a:t>day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b="1" dirty="0">
                <a:solidFill>
                  <a:srgbClr val="034CA1"/>
                </a:solidFill>
                <a:latin typeface="Arial"/>
                <a:cs typeface="Arial"/>
              </a:rPr>
              <a:t>month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355600" marR="5080">
              <a:lnSpc>
                <a:spcPct val="79900"/>
              </a:lnSpc>
              <a:spcBef>
                <a:spcPts val="300"/>
              </a:spcBef>
            </a:pPr>
            <a:r>
              <a:rPr sz="2400" b="1" dirty="0">
                <a:solidFill>
                  <a:srgbClr val="034CA1"/>
                </a:solidFill>
                <a:latin typeface="Arial"/>
                <a:cs typeface="Arial"/>
              </a:rPr>
              <a:t>year </a:t>
            </a:r>
            <a:r>
              <a:rPr sz="2400" dirty="0">
                <a:latin typeface="Arial"/>
                <a:cs typeface="Arial"/>
              </a:rPr>
              <a:t>refer to the </a:t>
            </a:r>
            <a:r>
              <a:rPr sz="2400" i="1" dirty="0">
                <a:latin typeface="Arial"/>
                <a:cs typeface="Arial"/>
              </a:rPr>
              <a:t>method parameters </a:t>
            </a:r>
            <a:r>
              <a:rPr sz="2400" dirty="0">
                <a:latin typeface="Arial"/>
                <a:cs typeface="Arial"/>
              </a:rPr>
              <a:t>and hence </a:t>
            </a:r>
            <a:r>
              <a:rPr sz="2400" u="heavy" dirty="0">
                <a:latin typeface="Arial"/>
                <a:cs typeface="Arial"/>
              </a:rPr>
              <a:t>this</a:t>
            </a:r>
            <a:r>
              <a:rPr sz="2400" u="heavy" spc="-114" dirty="0">
                <a:latin typeface="Arial"/>
                <a:cs typeface="Arial"/>
              </a:rPr>
              <a:t> </a:t>
            </a:r>
            <a:r>
              <a:rPr sz="2400" u="heavy" dirty="0">
                <a:latin typeface="Arial"/>
                <a:cs typeface="Arial"/>
              </a:rPr>
              <a:t>code  has no</a:t>
            </a:r>
            <a:r>
              <a:rPr sz="2400" u="heavy" spc="-70" dirty="0">
                <a:latin typeface="Arial"/>
                <a:cs typeface="Arial"/>
              </a:rPr>
              <a:t> </a:t>
            </a:r>
            <a:r>
              <a:rPr sz="2400" u="heavy" spc="-5" dirty="0">
                <a:latin typeface="Arial"/>
                <a:cs typeface="Arial"/>
              </a:rPr>
              <a:t>effect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7864" y="746125"/>
            <a:ext cx="318833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06880" algn="l"/>
              </a:tabLst>
            </a:pPr>
            <a:r>
              <a:rPr dirty="0"/>
              <a:t>Calling	</a:t>
            </a:r>
            <a:r>
              <a:rPr spc="-5" dirty="0"/>
              <a:t>O</a:t>
            </a:r>
            <a:r>
              <a:rPr dirty="0"/>
              <a:t>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58477"/>
            <a:ext cx="7869555" cy="5064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92100" indent="-342900" algn="just">
              <a:lnSpc>
                <a:spcPct val="79900"/>
              </a:lnSpc>
            </a:pPr>
            <a:r>
              <a:rPr sz="2400" spc="-5" dirty="0">
                <a:latin typeface="Arial"/>
                <a:cs typeface="Arial"/>
              </a:rPr>
              <a:t>When </a:t>
            </a:r>
            <a:r>
              <a:rPr sz="2400" dirty="0">
                <a:latin typeface="Arial"/>
                <a:cs typeface="Arial"/>
              </a:rPr>
              <a:t>any class method is called, the instance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variables  used within the method are assumed to belong to the  calling/host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object.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What </a:t>
            </a:r>
            <a:r>
              <a:rPr sz="2400" dirty="0">
                <a:latin typeface="Arial"/>
                <a:cs typeface="Arial"/>
              </a:rPr>
              <a:t>the code in </a:t>
            </a:r>
            <a:r>
              <a:rPr sz="2400" b="1" dirty="0">
                <a:solidFill>
                  <a:srgbClr val="034CA1"/>
                </a:solidFill>
                <a:latin typeface="Arial"/>
                <a:cs typeface="Arial"/>
              </a:rPr>
              <a:t>setDate </a:t>
            </a:r>
            <a:r>
              <a:rPr sz="2400" dirty="0">
                <a:latin typeface="Arial"/>
                <a:cs typeface="Arial"/>
              </a:rPr>
              <a:t>is really trying to do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sz="1800" spc="-5" dirty="0">
                <a:latin typeface="Courier New"/>
                <a:cs typeface="Courier New"/>
              </a:rPr>
              <a:t>public void setDate( int month, int day, int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year)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ts val="2130"/>
              </a:lnSpc>
            </a:pP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ts val="1964"/>
              </a:lnSpc>
              <a:spcBef>
                <a:spcPts val="40"/>
              </a:spcBef>
              <a:tabLst>
                <a:tab pos="4310380" algn="l"/>
              </a:tabLst>
            </a:pPr>
            <a:r>
              <a:rPr sz="1800" spc="-5" dirty="0">
                <a:latin typeface="MS PGothic"/>
                <a:cs typeface="MS PGothic"/>
              </a:rPr>
              <a:t>“</a:t>
            </a:r>
            <a:r>
              <a:rPr sz="1800" spc="-5" dirty="0">
                <a:latin typeface="Courier New"/>
                <a:cs typeface="Courier New"/>
              </a:rPr>
              <a:t>calling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object</a:t>
            </a:r>
            <a:r>
              <a:rPr sz="1800" spc="-5" dirty="0">
                <a:latin typeface="MS PGothic"/>
                <a:cs typeface="MS PGothic"/>
              </a:rPr>
              <a:t>”</a:t>
            </a:r>
            <a:r>
              <a:rPr sz="1800" spc="-5" dirty="0">
                <a:latin typeface="Courier New"/>
                <a:cs typeface="Courier New"/>
              </a:rPr>
              <a:t>.month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	</a:t>
            </a:r>
            <a:r>
              <a:rPr sz="1800" spc="-5" dirty="0">
                <a:latin typeface="Courier New"/>
                <a:cs typeface="Courier New"/>
              </a:rPr>
              <a:t>monthString( month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ts val="1950"/>
              </a:lnSpc>
              <a:tabLst>
                <a:tab pos="4036060" algn="l"/>
              </a:tabLst>
            </a:pPr>
            <a:r>
              <a:rPr sz="1800" spc="-5" dirty="0">
                <a:latin typeface="MS PGothic"/>
                <a:cs typeface="MS PGothic"/>
              </a:rPr>
              <a:t>“</a:t>
            </a:r>
            <a:r>
              <a:rPr sz="1800" spc="-5" dirty="0">
                <a:latin typeface="Courier New"/>
                <a:cs typeface="Courier New"/>
              </a:rPr>
              <a:t>calling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object</a:t>
            </a:r>
            <a:r>
              <a:rPr sz="1800" spc="-5" dirty="0">
                <a:latin typeface="MS PGothic"/>
                <a:cs typeface="MS PGothic"/>
              </a:rPr>
              <a:t>”</a:t>
            </a:r>
            <a:r>
              <a:rPr sz="1800" spc="-5" dirty="0">
                <a:latin typeface="Courier New"/>
                <a:cs typeface="Courier New"/>
              </a:rPr>
              <a:t>.day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	</a:t>
            </a:r>
            <a:r>
              <a:rPr sz="1800" spc="-5" dirty="0">
                <a:latin typeface="Courier New"/>
                <a:cs typeface="Courier New"/>
              </a:rPr>
              <a:t>day;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ts val="2145"/>
              </a:lnSpc>
              <a:tabLst>
                <a:tab pos="4173220" algn="l"/>
              </a:tabLst>
            </a:pPr>
            <a:r>
              <a:rPr sz="1800" spc="-5" dirty="0">
                <a:latin typeface="MS PGothic"/>
                <a:cs typeface="MS PGothic"/>
              </a:rPr>
              <a:t>“</a:t>
            </a:r>
            <a:r>
              <a:rPr sz="1800" spc="-5" dirty="0">
                <a:latin typeface="Courier New"/>
                <a:cs typeface="Courier New"/>
              </a:rPr>
              <a:t>calling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object</a:t>
            </a:r>
            <a:r>
              <a:rPr sz="1800" spc="-5" dirty="0">
                <a:latin typeface="MS PGothic"/>
                <a:cs typeface="MS PGothic"/>
              </a:rPr>
              <a:t>”</a:t>
            </a:r>
            <a:r>
              <a:rPr sz="1800" spc="-5" dirty="0">
                <a:latin typeface="Courier New"/>
                <a:cs typeface="Courier New"/>
              </a:rPr>
              <a:t>.year</a:t>
            </a:r>
            <a:r>
              <a:rPr sz="1800" spc="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	</a:t>
            </a:r>
            <a:r>
              <a:rPr sz="1800" spc="-5" dirty="0">
                <a:latin typeface="Courier New"/>
                <a:cs typeface="Courier New"/>
              </a:rPr>
              <a:t>year;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4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320"/>
              </a:lnSpc>
            </a:pPr>
            <a:r>
              <a:rPr sz="2400" spc="-300" dirty="0">
                <a:latin typeface="Arial"/>
                <a:cs typeface="Arial"/>
              </a:rPr>
              <a:t>It</a:t>
            </a:r>
            <a:r>
              <a:rPr sz="2400" spc="-300" dirty="0">
                <a:latin typeface="MS PGothic"/>
                <a:cs typeface="MS PGothic"/>
              </a:rPr>
              <a:t>ʼ</a:t>
            </a:r>
            <a:r>
              <a:rPr sz="2400" spc="-300" dirty="0">
                <a:latin typeface="Arial"/>
                <a:cs typeface="Arial"/>
              </a:rPr>
              <a:t>s </a:t>
            </a:r>
            <a:r>
              <a:rPr sz="2400" dirty="0">
                <a:latin typeface="Arial"/>
                <a:cs typeface="Arial"/>
              </a:rPr>
              <a:t>handy (and sometimes necessary) to have a name for  the calling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object.</a:t>
            </a:r>
            <a:endParaRPr sz="2400">
              <a:latin typeface="Arial"/>
              <a:cs typeface="Arial"/>
            </a:endParaRPr>
          </a:p>
          <a:p>
            <a:pPr marL="355600" marR="581025" indent="-342900">
              <a:lnSpc>
                <a:spcPct val="77200"/>
              </a:lnSpc>
              <a:spcBef>
                <a:spcPts val="665"/>
              </a:spcBef>
            </a:pPr>
            <a:r>
              <a:rPr sz="2400" dirty="0">
                <a:latin typeface="Arial"/>
                <a:cs typeface="Arial"/>
              </a:rPr>
              <a:t>In Java, we use the reserved word </a:t>
            </a:r>
            <a:r>
              <a:rPr sz="2400" b="1" dirty="0">
                <a:solidFill>
                  <a:srgbClr val="034CA1"/>
                </a:solidFill>
                <a:latin typeface="Arial"/>
                <a:cs typeface="Arial"/>
              </a:rPr>
              <a:t>this </a:t>
            </a:r>
            <a:r>
              <a:rPr sz="2400" dirty="0">
                <a:latin typeface="Arial"/>
                <a:cs typeface="Arial"/>
              </a:rPr>
              <a:t>as the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generic  name of the calling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object.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7710">
              <a:lnSpc>
                <a:spcPct val="100000"/>
              </a:lnSpc>
            </a:pPr>
            <a:r>
              <a:rPr dirty="0"/>
              <a:t>Using</a:t>
            </a:r>
            <a:r>
              <a:rPr spc="-95" dirty="0"/>
              <a:t> </a:t>
            </a:r>
            <a:r>
              <a:rPr b="1" spc="-5" dirty="0">
                <a:solidFill>
                  <a:srgbClr val="034CA1"/>
                </a:solidFill>
                <a:latin typeface="Arial"/>
                <a:cs typeface="Arial"/>
              </a:rPr>
              <a:t>this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4677"/>
            <a:ext cx="7531100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79900"/>
              </a:lnSpc>
            </a:pPr>
            <a:r>
              <a:rPr sz="2400" dirty="0">
                <a:latin typeface="Arial"/>
                <a:cs typeface="Arial"/>
              </a:rPr>
              <a:t>So, if we want to name our parameters the same as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our  instance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variables: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9839" y="2671064"/>
            <a:ext cx="6884670" cy="581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public void setDate( int month, int day, int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year)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69923" y="3229864"/>
            <a:ext cx="217487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// notice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MS PGothic"/>
                <a:cs typeface="MS PGothic"/>
              </a:rPr>
              <a:t>“</a:t>
            </a:r>
            <a:r>
              <a:rPr sz="1800" b="1" spc="-5" dirty="0">
                <a:latin typeface="Courier New"/>
                <a:cs typeface="Courier New"/>
              </a:rPr>
              <a:t>this</a:t>
            </a:r>
            <a:r>
              <a:rPr sz="1800" b="1" spc="-5" dirty="0">
                <a:latin typeface="MS PGothic"/>
                <a:cs typeface="MS PGothic"/>
              </a:rPr>
              <a:t>”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1339" y="3245104"/>
            <a:ext cx="4690110" cy="833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00"/>
              </a:lnSpc>
              <a:tabLst>
                <a:tab pos="1521460" algn="l"/>
                <a:tab pos="1795780" algn="l"/>
              </a:tabLst>
            </a:pPr>
            <a:r>
              <a:rPr sz="1800" b="1" spc="-5" dirty="0">
                <a:latin typeface="Courier New"/>
                <a:cs typeface="Courier New"/>
              </a:rPr>
              <a:t>this.month</a:t>
            </a:r>
            <a:r>
              <a:rPr sz="1800" b="1" dirty="0">
                <a:latin typeface="Courier New"/>
                <a:cs typeface="Courier New"/>
              </a:rPr>
              <a:t> =	</a:t>
            </a:r>
            <a:r>
              <a:rPr sz="1800" b="1" spc="-5" dirty="0">
                <a:latin typeface="Courier New"/>
                <a:cs typeface="Courier New"/>
              </a:rPr>
              <a:t>monthString(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month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);  this.day</a:t>
            </a:r>
            <a:r>
              <a:rPr sz="1800" b="1" dirty="0">
                <a:latin typeface="Courier New"/>
                <a:cs typeface="Courier New"/>
              </a:rPr>
              <a:t> =	</a:t>
            </a:r>
            <a:r>
              <a:rPr sz="1800" b="1" spc="-5" dirty="0">
                <a:latin typeface="Courier New"/>
                <a:cs typeface="Courier New"/>
              </a:rPr>
              <a:t>day;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40"/>
              </a:lnSpc>
              <a:tabLst>
                <a:tab pos="1658620" algn="l"/>
              </a:tabLst>
            </a:pPr>
            <a:r>
              <a:rPr sz="1800" b="1" spc="-5" dirty="0">
                <a:latin typeface="Courier New"/>
                <a:cs typeface="Courier New"/>
              </a:rPr>
              <a:t>this.year</a:t>
            </a:r>
            <a:r>
              <a:rPr sz="1800" b="1" dirty="0">
                <a:latin typeface="Courier New"/>
                <a:cs typeface="Courier New"/>
              </a:rPr>
              <a:t> =	</a:t>
            </a:r>
            <a:r>
              <a:rPr sz="1800" b="1" spc="-5" dirty="0">
                <a:latin typeface="Courier New"/>
                <a:cs typeface="Courier New"/>
              </a:rPr>
              <a:t>year;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4042664"/>
            <a:ext cx="8060055" cy="2337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7203440" algn="ctr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Note:</a:t>
            </a:r>
            <a:endParaRPr sz="2400">
              <a:latin typeface="Arial"/>
              <a:cs typeface="Arial"/>
            </a:endParaRPr>
          </a:p>
          <a:p>
            <a:pPr marL="355600" marR="393700" indent="-342900">
              <a:lnSpc>
                <a:spcPct val="772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Many examples in the text use this technique for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class  methods.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2320"/>
              </a:lnSpc>
              <a:spcBef>
                <a:spcPts val="54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Some Java programmer tools (including Eclipse) use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  technique when writing code for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84" rIns="0" bIns="0" rtlCol="0">
            <a:spAutoFit/>
          </a:bodyPr>
          <a:lstStyle/>
          <a:p>
            <a:pPr marL="3323590">
              <a:lnSpc>
                <a:spcPct val="100000"/>
              </a:lnSpc>
            </a:pPr>
            <a:r>
              <a:rPr spc="-5" dirty="0">
                <a:solidFill>
                  <a:srgbClr val="034CA1"/>
                </a:solidFill>
              </a:rPr>
              <a:t>this</a:t>
            </a:r>
            <a:r>
              <a:rPr spc="-95" dirty="0">
                <a:solidFill>
                  <a:srgbClr val="034CA1"/>
                </a:solidFill>
              </a:rPr>
              <a:t> </a:t>
            </a:r>
            <a:r>
              <a:rPr dirty="0"/>
              <a:t>Again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584959"/>
            <a:ext cx="5707380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Recall the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toString</a:t>
            </a:r>
            <a:r>
              <a:rPr sz="2400" b="1" spc="-88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method from Date1: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48312" y="2645664"/>
            <a:ext cx="251904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6385" algn="l"/>
                <a:tab pos="1109980" algn="l"/>
                <a:tab pos="1544955" algn="l"/>
                <a:tab pos="1819275" algn="l"/>
              </a:tabLst>
            </a:pPr>
            <a:r>
              <a:rPr sz="1800" b="1" dirty="0">
                <a:latin typeface="Courier New"/>
                <a:cs typeface="Courier New"/>
              </a:rPr>
              <a:t>+	</a:t>
            </a:r>
            <a:r>
              <a:rPr sz="1800" b="1" spc="-5" dirty="0">
                <a:latin typeface="Courier New"/>
                <a:cs typeface="Courier New"/>
              </a:rPr>
              <a:t>da</a:t>
            </a:r>
            <a:r>
              <a:rPr sz="1800" b="1" dirty="0">
                <a:latin typeface="Courier New"/>
                <a:cs typeface="Courier New"/>
              </a:rPr>
              <a:t>y +	</a:t>
            </a:r>
            <a:r>
              <a:rPr sz="1800" b="1" spc="-10" dirty="0">
                <a:latin typeface="MS PGothic"/>
                <a:cs typeface="MS PGothic"/>
              </a:rPr>
              <a:t>“ “</a:t>
            </a:r>
            <a:r>
              <a:rPr sz="1800" b="1" dirty="0">
                <a:latin typeface="MS PGothic"/>
                <a:cs typeface="MS PGothic"/>
              </a:rPr>
              <a:t>	</a:t>
            </a:r>
            <a:r>
              <a:rPr sz="1800" b="1" dirty="0">
                <a:latin typeface="Courier New"/>
                <a:cs typeface="Courier New"/>
              </a:rPr>
              <a:t>+	</a:t>
            </a:r>
            <a:r>
              <a:rPr sz="1800" b="1" spc="-5" dirty="0">
                <a:latin typeface="Courier New"/>
                <a:cs typeface="Courier New"/>
              </a:rPr>
              <a:t>year;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3639" y="2099564"/>
            <a:ext cx="3180715" cy="111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0"/>
              </a:lnSpc>
            </a:pPr>
            <a:r>
              <a:rPr sz="1800" b="1" spc="-5" dirty="0">
                <a:latin typeface="Courier New"/>
                <a:cs typeface="Courier New"/>
              </a:rPr>
              <a:t>public void toString(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83565">
              <a:lnSpc>
                <a:spcPts val="2130"/>
              </a:lnSpc>
              <a:spcBef>
                <a:spcPts val="40"/>
              </a:spcBef>
              <a:tabLst>
                <a:tab pos="2641600" algn="l"/>
              </a:tabLst>
            </a:pPr>
            <a:r>
              <a:rPr sz="1800" b="1" spc="-5" dirty="0">
                <a:latin typeface="Courier New"/>
                <a:cs typeface="Courier New"/>
              </a:rPr>
              <a:t>return</a:t>
            </a:r>
            <a:r>
              <a:rPr sz="1800" b="1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month</a:t>
            </a:r>
            <a:r>
              <a:rPr sz="1800" b="1" dirty="0">
                <a:latin typeface="Courier New"/>
                <a:cs typeface="Courier New"/>
              </a:rPr>
              <a:t> +	</a:t>
            </a:r>
            <a:r>
              <a:rPr sz="1800" b="1" spc="-10" dirty="0">
                <a:latin typeface="MS PGothic"/>
                <a:cs typeface="MS PGothic"/>
              </a:rPr>
              <a:t>“</a:t>
            </a:r>
            <a:r>
              <a:rPr sz="1800" b="1" spc="-105" dirty="0">
                <a:latin typeface="MS PGothic"/>
                <a:cs typeface="MS PGothic"/>
              </a:rPr>
              <a:t> </a:t>
            </a:r>
            <a:r>
              <a:rPr sz="1800" b="1" spc="-10" dirty="0">
                <a:latin typeface="MS PGothic"/>
                <a:cs typeface="MS PGothic"/>
              </a:rPr>
              <a:t>“</a:t>
            </a:r>
            <a:endParaRPr sz="1800">
              <a:latin typeface="MS PGothic"/>
              <a:cs typeface="MS PGothic"/>
            </a:endParaRPr>
          </a:p>
          <a:p>
            <a:pPr marL="12700">
              <a:lnSpc>
                <a:spcPts val="2130"/>
              </a:lnSpc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0739" y="3419266"/>
            <a:ext cx="8208009" cy="308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5"/>
              </a:lnSpc>
            </a:pPr>
            <a:r>
              <a:rPr sz="2400" spc="-300" dirty="0">
                <a:latin typeface="Arial"/>
                <a:cs typeface="Arial"/>
              </a:rPr>
              <a:t>It</a:t>
            </a:r>
            <a:r>
              <a:rPr sz="2400" spc="-300" dirty="0">
                <a:latin typeface="MS PGothic"/>
                <a:cs typeface="MS PGothic"/>
              </a:rPr>
              <a:t>ʼ</a:t>
            </a:r>
            <a:r>
              <a:rPr sz="2400" spc="-300" dirty="0">
                <a:latin typeface="Arial"/>
                <a:cs typeface="Arial"/>
              </a:rPr>
              <a:t>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clear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month,</a:t>
            </a:r>
            <a:r>
              <a:rPr sz="2400" b="1" spc="-7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day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4CA1"/>
                </a:solidFill>
                <a:latin typeface="Courier New"/>
                <a:cs typeface="Courier New"/>
              </a:rPr>
              <a:t>year</a:t>
            </a:r>
            <a:r>
              <a:rPr sz="2400" b="1" spc="-78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refer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instance</a:t>
            </a:r>
            <a:endParaRPr sz="2400">
              <a:latin typeface="Arial"/>
              <a:cs typeface="Arial"/>
            </a:endParaRPr>
          </a:p>
          <a:p>
            <a:pPr marL="355600" marR="964565">
              <a:lnSpc>
                <a:spcPct val="79900"/>
              </a:lnSpc>
              <a:spcBef>
                <a:spcPts val="300"/>
              </a:spcBef>
            </a:pPr>
            <a:r>
              <a:rPr sz="2400" dirty="0">
                <a:latin typeface="Arial"/>
                <a:cs typeface="Arial"/>
              </a:rPr>
              <a:t>variables of the calling object because there are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  parameters.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Arial"/>
                <a:cs typeface="Arial"/>
              </a:rPr>
              <a:t>We </a:t>
            </a:r>
            <a:r>
              <a:rPr sz="2400" dirty="0">
                <a:latin typeface="Arial"/>
                <a:cs typeface="Arial"/>
              </a:rPr>
              <a:t>could have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written: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00"/>
              </a:spcBef>
            </a:pPr>
            <a:r>
              <a:rPr sz="1800" b="1" spc="-5" dirty="0">
                <a:latin typeface="Courier New"/>
                <a:cs typeface="Courier New"/>
              </a:rPr>
              <a:t>public void toString(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ts val="2130"/>
              </a:lnSpc>
              <a:spcBef>
                <a:spcPts val="30"/>
              </a:spcBef>
            </a:pP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ts val="2130"/>
              </a:lnSpc>
              <a:tabLst>
                <a:tab pos="3670300" algn="l"/>
                <a:tab pos="4105910" algn="l"/>
                <a:tab pos="4380230" algn="l"/>
                <a:tab pos="5888990" algn="l"/>
                <a:tab pos="6324600" algn="l"/>
                <a:tab pos="6598920" algn="l"/>
              </a:tabLst>
            </a:pPr>
            <a:r>
              <a:rPr sz="1800" b="1" spc="-5" dirty="0">
                <a:latin typeface="Courier New"/>
                <a:cs typeface="Courier New"/>
              </a:rPr>
              <a:t>return</a:t>
            </a:r>
            <a:r>
              <a:rPr sz="1800" b="1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this.month</a:t>
            </a:r>
            <a:r>
              <a:rPr sz="1800" b="1" dirty="0">
                <a:latin typeface="Courier New"/>
                <a:cs typeface="Courier New"/>
              </a:rPr>
              <a:t> +	</a:t>
            </a:r>
            <a:r>
              <a:rPr sz="1800" b="1" spc="-10" dirty="0">
                <a:latin typeface="MS PGothic"/>
                <a:cs typeface="MS PGothic"/>
              </a:rPr>
              <a:t>“ “	</a:t>
            </a:r>
            <a:r>
              <a:rPr sz="1800" b="1" dirty="0">
                <a:latin typeface="Courier New"/>
                <a:cs typeface="Courier New"/>
              </a:rPr>
              <a:t>+	</a:t>
            </a:r>
            <a:r>
              <a:rPr sz="1800" b="1" spc="-5" dirty="0">
                <a:latin typeface="Courier New"/>
                <a:cs typeface="Courier New"/>
              </a:rPr>
              <a:t>this.day</a:t>
            </a:r>
            <a:r>
              <a:rPr sz="1800" b="1" dirty="0">
                <a:latin typeface="Courier New"/>
                <a:cs typeface="Courier New"/>
              </a:rPr>
              <a:t> +	</a:t>
            </a:r>
            <a:r>
              <a:rPr sz="1800" b="1" spc="-10" dirty="0">
                <a:latin typeface="MS PGothic"/>
                <a:cs typeface="MS PGothic"/>
              </a:rPr>
              <a:t>“ “	</a:t>
            </a:r>
            <a:r>
              <a:rPr sz="1800" b="1" dirty="0">
                <a:latin typeface="Courier New"/>
                <a:cs typeface="Courier New"/>
              </a:rPr>
              <a:t>+	</a:t>
            </a:r>
            <a:r>
              <a:rPr sz="1800" b="1" spc="-5" dirty="0">
                <a:latin typeface="Courier New"/>
                <a:cs typeface="Courier New"/>
              </a:rPr>
              <a:t>this.year;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40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If the prefix </a:t>
            </a:r>
            <a:r>
              <a:rPr sz="2800" dirty="0">
                <a:solidFill>
                  <a:srgbClr val="034CA1"/>
                </a:solidFill>
                <a:latin typeface="Arial"/>
                <a:cs typeface="Arial"/>
              </a:rPr>
              <a:t>this </a:t>
            </a:r>
            <a:r>
              <a:rPr sz="2800" dirty="0">
                <a:latin typeface="Arial"/>
                <a:cs typeface="Arial"/>
              </a:rPr>
              <a:t>is unnecessary, it is usually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omitted.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64" rIns="0" bIns="0" rtlCol="0">
            <a:spAutoFit/>
          </a:bodyPr>
          <a:lstStyle/>
          <a:p>
            <a:pPr marL="753745">
              <a:lnSpc>
                <a:spcPct val="100000"/>
              </a:lnSpc>
            </a:pPr>
            <a:r>
              <a:rPr sz="3600" dirty="0"/>
              <a:t>Sample Code Segment Using</a:t>
            </a:r>
            <a:r>
              <a:rPr sz="3600" spc="-85" dirty="0"/>
              <a:t> </a:t>
            </a:r>
            <a:r>
              <a:rPr sz="3600" spc="-5" dirty="0"/>
              <a:t>Date1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3139" y="1727707"/>
            <a:ext cx="1732914" cy="742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900"/>
              </a:lnSpc>
            </a:pPr>
            <a:r>
              <a:rPr sz="1600" b="1" spc="-5" dirty="0">
                <a:latin typeface="Courier New"/>
                <a:cs typeface="Courier New"/>
              </a:rPr>
              <a:t>Date1</a:t>
            </a:r>
            <a:r>
              <a:rPr sz="1600" b="1" spc="-9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newYears  newYears.month  newYears.day</a:t>
            </a:r>
            <a:r>
              <a:rPr sz="1600" b="1" spc="-10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2239" y="1717547"/>
            <a:ext cx="1854835" cy="752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10"/>
              </a:lnSpc>
            </a:pP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spc="-5" dirty="0">
                <a:latin typeface="Courier New"/>
                <a:cs typeface="Courier New"/>
              </a:rPr>
              <a:t>new Date1(</a:t>
            </a:r>
            <a:r>
              <a:rPr sz="1600" b="1" spc="-8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12700" marR="411480">
              <a:lnSpc>
                <a:spcPts val="1900"/>
              </a:lnSpc>
              <a:spcBef>
                <a:spcPts val="70"/>
              </a:spcBef>
            </a:pP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7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MS PGothic"/>
                <a:cs typeface="MS PGothic"/>
              </a:rPr>
              <a:t>“</a:t>
            </a:r>
            <a:r>
              <a:rPr sz="1600" b="1" spc="-5" dirty="0">
                <a:latin typeface="Courier New"/>
                <a:cs typeface="Courier New"/>
              </a:rPr>
              <a:t>January</a:t>
            </a:r>
            <a:r>
              <a:rPr sz="1600" b="1" spc="-5" dirty="0">
                <a:latin typeface="MS PGothic"/>
                <a:cs typeface="MS PGothic"/>
              </a:rPr>
              <a:t>”</a:t>
            </a:r>
            <a:r>
              <a:rPr sz="1600" b="1" spc="-5" dirty="0">
                <a:latin typeface="Courier New"/>
                <a:cs typeface="Courier New"/>
              </a:rPr>
              <a:t>;  1;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2454147"/>
            <a:ext cx="258635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newYears.year =</a:t>
            </a:r>
            <a:r>
              <a:rPr sz="1600" b="1" spc="-10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2011;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9" y="2946907"/>
            <a:ext cx="1732914" cy="742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900"/>
              </a:lnSpc>
            </a:pPr>
            <a:r>
              <a:rPr sz="1600" b="1" spc="-5" dirty="0">
                <a:latin typeface="Courier New"/>
                <a:cs typeface="Courier New"/>
              </a:rPr>
              <a:t>Date1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birthday  </a:t>
            </a:r>
            <a:r>
              <a:rPr sz="1600" b="1" dirty="0">
                <a:latin typeface="Courier New"/>
                <a:cs typeface="Courier New"/>
              </a:rPr>
              <a:t>birthday.month  birthday.day</a:t>
            </a:r>
            <a:r>
              <a:rPr sz="1600" b="1" spc="-10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2239" y="2936747"/>
            <a:ext cx="1854835" cy="752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10"/>
              </a:lnSpc>
            </a:pP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spc="-5" dirty="0">
                <a:latin typeface="Courier New"/>
                <a:cs typeface="Courier New"/>
              </a:rPr>
              <a:t>new Date1(</a:t>
            </a:r>
            <a:r>
              <a:rPr sz="1600" b="1" spc="-8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12700" marR="777240">
              <a:lnSpc>
                <a:spcPts val="1900"/>
              </a:lnSpc>
              <a:spcBef>
                <a:spcPts val="70"/>
              </a:spcBef>
            </a:pP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8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MS PGothic"/>
                <a:cs typeface="MS PGothic"/>
              </a:rPr>
              <a:t>“</a:t>
            </a:r>
            <a:r>
              <a:rPr sz="1600" b="1" spc="-5" dirty="0">
                <a:latin typeface="Courier New"/>
                <a:cs typeface="Courier New"/>
              </a:rPr>
              <a:t>July</a:t>
            </a:r>
            <a:r>
              <a:rPr sz="1600" b="1" spc="-5" dirty="0">
                <a:latin typeface="MS PGothic"/>
                <a:cs typeface="MS PGothic"/>
              </a:rPr>
              <a:t>”</a:t>
            </a:r>
            <a:r>
              <a:rPr sz="1600" b="1" spc="-5" dirty="0">
                <a:latin typeface="Courier New"/>
                <a:cs typeface="Courier New"/>
              </a:rPr>
              <a:t>;  4;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83614" y="3701813"/>
          <a:ext cx="7542710" cy="223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22225">
                        <a:lnSpc>
                          <a:spcPts val="169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birthday.year =</a:t>
                      </a:r>
                      <a:r>
                        <a:rPr sz="1600" b="1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1776;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System.out.println(newYears.toString(</a:t>
                      </a:r>
                      <a:r>
                        <a:rPr sz="1600" b="1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));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//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line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22225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System.out.println(birthday.toString(</a:t>
                      </a:r>
                      <a:r>
                        <a:rPr sz="1600" b="1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));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//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line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64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22225">
                        <a:lnSpc>
                          <a:spcPts val="164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System.out.println(birthday.monthString(6));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//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line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64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22225">
                        <a:lnSpc>
                          <a:spcPts val="169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birthday.setDate(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2, 2,</a:t>
                      </a:r>
                      <a:r>
                        <a:rPr sz="1600" b="1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2002);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69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//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line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69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22225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System.out.println(birthday.toString(</a:t>
                      </a:r>
                      <a:r>
                        <a:rPr sz="1600" b="1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));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//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line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64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22225">
                        <a:lnSpc>
                          <a:spcPts val="164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newYears.day =</a:t>
                      </a:r>
                      <a:r>
                        <a:rPr sz="1600" b="1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42;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//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line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64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2225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System.out.println(newYears.toString(</a:t>
                      </a:r>
                      <a:r>
                        <a:rPr sz="1600" b="1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));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//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line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64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84" rIns="0" bIns="0" rtlCol="0">
            <a:spAutoFit/>
          </a:bodyPr>
          <a:lstStyle/>
          <a:p>
            <a:pPr marL="2588895">
              <a:lnSpc>
                <a:spcPct val="100000"/>
              </a:lnSpc>
            </a:pPr>
            <a:r>
              <a:rPr dirty="0"/>
              <a:t>August 42,</a:t>
            </a:r>
            <a:r>
              <a:rPr spc="-110" dirty="0"/>
              <a:t> </a:t>
            </a:r>
            <a:r>
              <a:rPr dirty="0"/>
              <a:t>2011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42440"/>
            <a:ext cx="7959090" cy="48480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It </a:t>
            </a:r>
            <a:r>
              <a:rPr sz="3200" dirty="0">
                <a:latin typeface="Arial"/>
                <a:cs typeface="Arial"/>
              </a:rPr>
              <a:t>appears </a:t>
            </a:r>
            <a:r>
              <a:rPr sz="3200" spc="-5" dirty="0">
                <a:latin typeface="Arial"/>
                <a:cs typeface="Arial"/>
              </a:rPr>
              <a:t>that </a:t>
            </a:r>
            <a:r>
              <a:rPr sz="3200" dirty="0">
                <a:latin typeface="Arial"/>
                <a:cs typeface="Arial"/>
              </a:rPr>
              <a:t>classes allow </a:t>
            </a:r>
            <a:r>
              <a:rPr sz="3200" spc="-5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user </a:t>
            </a:r>
            <a:r>
              <a:rPr sz="3200" spc="-5" dirty="0">
                <a:latin typeface="Arial"/>
                <a:cs typeface="Arial"/>
              </a:rPr>
              <a:t>to  </a:t>
            </a:r>
            <a:r>
              <a:rPr sz="3200" dirty="0">
                <a:latin typeface="Arial"/>
                <a:cs typeface="Arial"/>
              </a:rPr>
              <a:t>change </a:t>
            </a:r>
            <a:r>
              <a:rPr sz="3200" spc="-5" dirty="0">
                <a:latin typeface="Arial"/>
                <a:cs typeface="Arial"/>
              </a:rPr>
              <a:t>the data anytime </a:t>
            </a:r>
            <a:r>
              <a:rPr sz="3200" dirty="0">
                <a:latin typeface="Arial"/>
                <a:cs typeface="Arial"/>
              </a:rPr>
              <a:t>he or she  chooses, possibly making </a:t>
            </a:r>
            <a:r>
              <a:rPr sz="3200" spc="-5" dirty="0">
                <a:latin typeface="Arial"/>
                <a:cs typeface="Arial"/>
              </a:rPr>
              <a:t>the data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invalid.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4600" dirty="0">
              <a:latin typeface="Times New Roman"/>
              <a:cs typeface="Times New Roman"/>
            </a:endParaRPr>
          </a:p>
          <a:p>
            <a:pPr marL="355600" marR="1158240" indent="-342900">
              <a:lnSpc>
                <a:spcPct val="994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270" dirty="0" err="1">
                <a:latin typeface="Arial"/>
                <a:cs typeface="Arial"/>
              </a:rPr>
              <a:t>That</a:t>
            </a:r>
            <a:r>
              <a:rPr sz="3200" spc="-270" dirty="0" err="1">
                <a:latin typeface="MS PGothic"/>
                <a:cs typeface="MS PGothic"/>
              </a:rPr>
              <a:t>ʼ</a:t>
            </a:r>
            <a:r>
              <a:rPr sz="3200" spc="-270" dirty="0" err="1">
                <a:latin typeface="Arial"/>
                <a:cs typeface="Arial"/>
              </a:rPr>
              <a:t>s</a:t>
            </a:r>
            <a:r>
              <a:rPr sz="3200" spc="-270" dirty="0">
                <a:latin typeface="Arial"/>
                <a:cs typeface="Arial"/>
              </a:rPr>
              <a:t> </a:t>
            </a:r>
            <a:r>
              <a:rPr lang="en-US" sz="3200" spc="-2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true </a:t>
            </a:r>
            <a:r>
              <a:rPr sz="3200" dirty="0">
                <a:latin typeface="Arial"/>
                <a:cs typeface="Arial"/>
              </a:rPr>
              <a:t>so </a:t>
            </a:r>
            <a:r>
              <a:rPr sz="3200" spc="-5" dirty="0">
                <a:latin typeface="Arial"/>
                <a:cs typeface="Arial"/>
              </a:rPr>
              <a:t>far </a:t>
            </a:r>
            <a:r>
              <a:rPr sz="3200" dirty="0">
                <a:latin typeface="Arial"/>
                <a:cs typeface="Arial"/>
              </a:rPr>
              <a:t>because we have  </a:t>
            </a:r>
            <a:r>
              <a:rPr sz="3200" spc="-5" dirty="0">
                <a:latin typeface="Arial"/>
                <a:cs typeface="Arial"/>
              </a:rPr>
              <a:t>defined </a:t>
            </a:r>
            <a:r>
              <a:rPr sz="3200" dirty="0">
                <a:latin typeface="Arial"/>
                <a:cs typeface="Arial"/>
              </a:rPr>
              <a:t>our </a:t>
            </a:r>
            <a:r>
              <a:rPr sz="3200" spc="-5" dirty="0">
                <a:latin typeface="Arial"/>
                <a:cs typeface="Arial"/>
              </a:rPr>
              <a:t>instance </a:t>
            </a:r>
            <a:r>
              <a:rPr sz="3200" dirty="0">
                <a:latin typeface="Arial"/>
                <a:cs typeface="Arial"/>
              </a:rPr>
              <a:t>variables </a:t>
            </a:r>
            <a:r>
              <a:rPr sz="3200" spc="-5" dirty="0">
                <a:latin typeface="Arial"/>
                <a:cs typeface="Arial"/>
              </a:rPr>
              <a:t>with  </a:t>
            </a:r>
            <a:r>
              <a:rPr sz="3200" b="1" dirty="0">
                <a:solidFill>
                  <a:srgbClr val="034CA1"/>
                </a:solidFill>
                <a:latin typeface="Courier New"/>
                <a:cs typeface="Courier New"/>
              </a:rPr>
              <a:t>public</a:t>
            </a:r>
            <a:r>
              <a:rPr sz="3200" b="1" spc="-113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latin typeface="Arial"/>
                <a:cs typeface="Arial"/>
              </a:rPr>
              <a:t>access.</a:t>
            </a: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47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This </a:t>
            </a:r>
            <a:r>
              <a:rPr sz="3200" dirty="0">
                <a:latin typeface="Arial"/>
                <a:cs typeface="Arial"/>
              </a:rPr>
              <a:t>is rarely </a:t>
            </a:r>
            <a:r>
              <a:rPr sz="3200" spc="-5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case in real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applications.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1234" y="785024"/>
            <a:ext cx="474154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10640" algn="l"/>
              </a:tabLst>
            </a:pPr>
            <a:r>
              <a:rPr dirty="0"/>
              <a:t>More	About</a:t>
            </a:r>
            <a:r>
              <a:rPr spc="-75" dirty="0"/>
              <a:t> </a:t>
            </a:r>
            <a:r>
              <a:rPr spc="-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42440"/>
            <a:ext cx="7908290" cy="461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479425" indent="-342900">
              <a:lnSpc>
                <a:spcPts val="25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Different classes can define a method with the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same  name.</a:t>
            </a:r>
            <a:endParaRPr sz="2400">
              <a:latin typeface="Arial"/>
              <a:cs typeface="Arial"/>
            </a:endParaRPr>
          </a:p>
          <a:p>
            <a:pPr marL="355600" marR="190500" indent="-342900">
              <a:lnSpc>
                <a:spcPts val="262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Java can determine which method to call based on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  type of the calling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object.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  <a:p>
            <a:pPr marL="926465" marR="2400300">
              <a:lnSpc>
                <a:spcPts val="2120"/>
              </a:lnSpc>
              <a:spcBef>
                <a:spcPts val="1864"/>
              </a:spcBef>
              <a:tabLst>
                <a:tab pos="2603500" algn="l"/>
                <a:tab pos="3517900" algn="l"/>
              </a:tabLst>
            </a:pPr>
            <a:r>
              <a:rPr sz="2000" spc="-5" dirty="0">
                <a:latin typeface="Courier New"/>
                <a:cs typeface="Courier New"/>
              </a:rPr>
              <a:t>Date1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birthday</a:t>
            </a:r>
            <a:r>
              <a:rPr sz="2000" dirty="0">
                <a:latin typeface="Courier New"/>
                <a:cs typeface="Courier New"/>
              </a:rPr>
              <a:t> =	</a:t>
            </a:r>
            <a:r>
              <a:rPr sz="2000" spc="-5" dirty="0">
                <a:latin typeface="Courier New"/>
                <a:cs typeface="Courier New"/>
              </a:rPr>
              <a:t>new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Date1(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);  Dog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fido</a:t>
            </a:r>
            <a:r>
              <a:rPr sz="2000" dirty="0">
                <a:latin typeface="Courier New"/>
                <a:cs typeface="Courier New"/>
              </a:rPr>
              <a:t> =	</a:t>
            </a:r>
            <a:r>
              <a:rPr sz="2000" spc="-5" dirty="0">
                <a:latin typeface="Courier New"/>
                <a:cs typeface="Courier New"/>
              </a:rPr>
              <a:t>new Dog(</a:t>
            </a:r>
            <a:r>
              <a:rPr sz="2000" spc="-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926465" marR="723265">
              <a:lnSpc>
                <a:spcPct val="108300"/>
              </a:lnSpc>
              <a:spcBef>
                <a:spcPts val="55"/>
              </a:spcBef>
            </a:pPr>
            <a:r>
              <a:rPr sz="2000" spc="-5" dirty="0">
                <a:latin typeface="Courier New"/>
                <a:cs typeface="Courier New"/>
              </a:rPr>
              <a:t>System.out.println(birthday.toString( ));  System.out.println(fido.toString(</a:t>
            </a:r>
            <a:r>
              <a:rPr sz="2000" spc="-9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));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749300" marR="279400" lvl="1" indent="-279400">
              <a:lnSpc>
                <a:spcPts val="2120"/>
              </a:lnSpc>
              <a:buChar char="–"/>
              <a:tabLst>
                <a:tab pos="755650" algn="l"/>
                <a:tab pos="5243830" algn="l"/>
              </a:tabLst>
            </a:pPr>
            <a:r>
              <a:rPr sz="2000" spc="-5" dirty="0">
                <a:latin typeface="Courier New"/>
                <a:cs typeface="Courier New"/>
              </a:rPr>
              <a:t>birthday.toString( </a:t>
            </a:r>
            <a:r>
              <a:rPr sz="2000" dirty="0">
                <a:latin typeface="Courier New"/>
                <a:cs typeface="Courier New"/>
              </a:rPr>
              <a:t>)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will call the	</a:t>
            </a:r>
            <a:r>
              <a:rPr sz="2000" dirty="0">
                <a:latin typeface="Courier New"/>
                <a:cs typeface="Courier New"/>
              </a:rPr>
              <a:t>toString</a:t>
            </a:r>
            <a:r>
              <a:rPr sz="2000" dirty="0">
                <a:latin typeface="Arial"/>
                <a:cs typeface="Arial"/>
              </a:rPr>
              <a:t>(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  defined in the Date1 class because </a:t>
            </a:r>
            <a:r>
              <a:rPr sz="2000" spc="-105" dirty="0">
                <a:latin typeface="Arial"/>
                <a:cs typeface="Arial"/>
              </a:rPr>
              <a:t>birthday</a:t>
            </a:r>
            <a:r>
              <a:rPr sz="2000" spc="-105" dirty="0">
                <a:latin typeface="MS PGothic"/>
                <a:cs typeface="MS PGothic"/>
              </a:rPr>
              <a:t>ʼ</a:t>
            </a:r>
            <a:r>
              <a:rPr sz="2000" spc="-105" dirty="0">
                <a:latin typeface="Arial"/>
                <a:cs typeface="Arial"/>
              </a:rPr>
              <a:t>s </a:t>
            </a:r>
            <a:r>
              <a:rPr sz="2000" dirty="0">
                <a:latin typeface="Arial"/>
                <a:cs typeface="Arial"/>
              </a:rPr>
              <a:t>type is</a:t>
            </a:r>
            <a:r>
              <a:rPr sz="2000" spc="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Date1.</a:t>
            </a:r>
            <a:endParaRPr sz="2000">
              <a:latin typeface="Arial"/>
              <a:cs typeface="Arial"/>
            </a:endParaRPr>
          </a:p>
          <a:p>
            <a:pPr marL="749300" marR="5080" lvl="1" indent="-279400">
              <a:lnSpc>
                <a:spcPts val="2120"/>
              </a:lnSpc>
              <a:spcBef>
                <a:spcPts val="560"/>
              </a:spcBef>
              <a:buChar char="–"/>
              <a:tabLst>
                <a:tab pos="755650" algn="l"/>
              </a:tabLst>
            </a:pPr>
            <a:r>
              <a:rPr sz="2000" dirty="0">
                <a:latin typeface="Courier New"/>
                <a:cs typeface="Courier New"/>
              </a:rPr>
              <a:t>fido.toString</a:t>
            </a:r>
            <a:r>
              <a:rPr sz="2000" dirty="0">
                <a:latin typeface="Arial"/>
                <a:cs typeface="Arial"/>
              </a:rPr>
              <a:t>( ) will call the </a:t>
            </a:r>
            <a:r>
              <a:rPr sz="2000" dirty="0">
                <a:latin typeface="Courier New"/>
                <a:cs typeface="Courier New"/>
              </a:rPr>
              <a:t>toString</a:t>
            </a:r>
            <a:r>
              <a:rPr sz="2000" dirty="0">
                <a:latin typeface="Arial"/>
                <a:cs typeface="Arial"/>
              </a:rPr>
              <a:t>( ) method defined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  the Dog class because </a:t>
            </a:r>
            <a:r>
              <a:rPr sz="2000" spc="-170" dirty="0">
                <a:latin typeface="Arial"/>
                <a:cs typeface="Arial"/>
              </a:rPr>
              <a:t>fido</a:t>
            </a:r>
            <a:r>
              <a:rPr sz="2000" spc="-170" dirty="0">
                <a:latin typeface="MS PGothic"/>
                <a:cs typeface="MS PGothic"/>
              </a:rPr>
              <a:t>ʼ</a:t>
            </a:r>
            <a:r>
              <a:rPr sz="2000" spc="-170" dirty="0">
                <a:latin typeface="Arial"/>
                <a:cs typeface="Arial"/>
              </a:rPr>
              <a:t>s </a:t>
            </a:r>
            <a:r>
              <a:rPr sz="2000" dirty="0">
                <a:latin typeface="Arial"/>
                <a:cs typeface="Arial"/>
              </a:rPr>
              <a:t>type is</a:t>
            </a:r>
            <a:r>
              <a:rPr sz="2000" spc="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Dog.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1681" y="785024"/>
            <a:ext cx="460057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847850" algn="l"/>
              </a:tabLst>
            </a:pPr>
            <a:r>
              <a:rPr spc="-5" dirty="0"/>
              <a:t>Method	Overloading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22120"/>
            <a:ext cx="7573645" cy="263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82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Two </a:t>
            </a:r>
            <a:r>
              <a:rPr sz="3200" dirty="0">
                <a:latin typeface="Arial"/>
                <a:cs typeface="Arial"/>
              </a:rPr>
              <a:t>or more </a:t>
            </a:r>
            <a:r>
              <a:rPr sz="3200" spc="-5" dirty="0">
                <a:latin typeface="Arial"/>
                <a:cs typeface="Arial"/>
              </a:rPr>
              <a:t>methods </a:t>
            </a:r>
            <a:r>
              <a:rPr sz="3200" i="1" u="heavy" dirty="0">
                <a:latin typeface="Arial"/>
                <a:cs typeface="Arial"/>
              </a:rPr>
              <a:t>in </a:t>
            </a:r>
            <a:r>
              <a:rPr sz="3200" i="1" u="heavy" spc="-5" dirty="0">
                <a:latin typeface="Arial"/>
                <a:cs typeface="Arial"/>
              </a:rPr>
              <a:t>the </a:t>
            </a:r>
            <a:r>
              <a:rPr sz="3200" i="1" u="heavy" dirty="0">
                <a:latin typeface="Arial"/>
                <a:cs typeface="Arial"/>
              </a:rPr>
              <a:t>same</a:t>
            </a:r>
            <a:r>
              <a:rPr sz="3200" i="1" u="heavy" spc="-45" dirty="0">
                <a:latin typeface="Arial"/>
                <a:cs typeface="Arial"/>
              </a:rPr>
              <a:t> </a:t>
            </a:r>
            <a:r>
              <a:rPr sz="3200" i="1" u="heavy" dirty="0">
                <a:latin typeface="Arial"/>
                <a:cs typeface="Arial"/>
              </a:rPr>
              <a:t>class</a:t>
            </a:r>
            <a:endParaRPr sz="3200">
              <a:latin typeface="Arial"/>
              <a:cs typeface="Arial"/>
            </a:endParaRPr>
          </a:p>
          <a:p>
            <a:pPr marL="355600">
              <a:lnSpc>
                <a:spcPts val="3820"/>
              </a:lnSpc>
            </a:pPr>
            <a:r>
              <a:rPr sz="3200" dirty="0">
                <a:latin typeface="Arial"/>
                <a:cs typeface="Arial"/>
              </a:rPr>
              <a:t>may also have </a:t>
            </a:r>
            <a:r>
              <a:rPr sz="3200" spc="-5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same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name.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00">
              <a:latin typeface="Times New Roman"/>
              <a:cs typeface="Times New Roman"/>
            </a:endParaRPr>
          </a:p>
          <a:p>
            <a:pPr marL="355600" marR="74993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This technique </a:t>
            </a:r>
            <a:r>
              <a:rPr sz="3200" dirty="0">
                <a:latin typeface="Arial"/>
                <a:cs typeface="Arial"/>
              </a:rPr>
              <a:t>is known as </a:t>
            </a:r>
            <a:r>
              <a:rPr sz="3200" b="1" i="1" spc="-5" dirty="0">
                <a:latin typeface="Arial"/>
                <a:cs typeface="Arial"/>
              </a:rPr>
              <a:t>method  overloading</a:t>
            </a:r>
            <a:r>
              <a:rPr sz="3200" spc="-5" dirty="0">
                <a:solidFill>
                  <a:srgbClr val="034CA1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951" y="785024"/>
            <a:ext cx="454406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80030" algn="l"/>
              </a:tabLst>
            </a:pPr>
            <a:r>
              <a:rPr spc="-5" dirty="0"/>
              <a:t>Overloaded	setDate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22120"/>
            <a:ext cx="8278495" cy="4665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The Date1 </a:t>
            </a:r>
            <a:r>
              <a:rPr sz="3200" dirty="0">
                <a:latin typeface="Arial"/>
                <a:cs typeface="Arial"/>
              </a:rPr>
              <a:t>class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setDate</a:t>
            </a:r>
            <a:r>
              <a:rPr sz="2000" b="1" spc="-68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3200" spc="-5" dirty="0">
                <a:latin typeface="Arial"/>
                <a:cs typeface="Arial"/>
              </a:rPr>
              <a:t>method:</a:t>
            </a:r>
            <a:endParaRPr sz="3200">
              <a:latin typeface="Arial"/>
              <a:cs typeface="Arial"/>
            </a:endParaRPr>
          </a:p>
          <a:p>
            <a:pPr marL="116205">
              <a:lnSpc>
                <a:spcPct val="100000"/>
              </a:lnSpc>
              <a:spcBef>
                <a:spcPts val="2140"/>
              </a:spcBef>
            </a:pP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public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boolean </a:t>
            </a:r>
            <a:r>
              <a:rPr sz="2000" b="1" spc="-5" dirty="0">
                <a:solidFill>
                  <a:srgbClr val="034CA1"/>
                </a:solidFill>
                <a:latin typeface="Courier New"/>
                <a:cs typeface="Courier New"/>
              </a:rPr>
              <a:t>setDate( int month, int day, int year</a:t>
            </a:r>
            <a:r>
              <a:rPr sz="2000" b="1" spc="-67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34CA1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Times New Roman"/>
              <a:cs typeface="Times New Roman"/>
            </a:endParaRPr>
          </a:p>
          <a:p>
            <a:pPr marL="355600" marR="5143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Suppose we </a:t>
            </a:r>
            <a:r>
              <a:rPr sz="3200" spc="-5" dirty="0">
                <a:latin typeface="Arial"/>
                <a:cs typeface="Arial"/>
              </a:rPr>
              <a:t>wanted to </a:t>
            </a:r>
            <a:r>
              <a:rPr sz="3200" dirty="0">
                <a:latin typeface="Arial"/>
                <a:cs typeface="Arial"/>
              </a:rPr>
              <a:t>change only </a:t>
            </a:r>
            <a:r>
              <a:rPr sz="3200" spc="-5" dirty="0">
                <a:latin typeface="Arial"/>
                <a:cs typeface="Arial"/>
              </a:rPr>
              <a:t>the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day  and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year?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730"/>
              </a:spcBef>
            </a:pPr>
            <a:r>
              <a:rPr sz="2800" dirty="0">
                <a:latin typeface="Arial"/>
                <a:cs typeface="Arial"/>
              </a:rPr>
              <a:t>– Define another method named</a:t>
            </a:r>
            <a:r>
              <a:rPr sz="2800" spc="-1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setDate:</a:t>
            </a:r>
            <a:endParaRPr sz="2800">
              <a:latin typeface="Arial"/>
              <a:cs typeface="Arial"/>
            </a:endParaRPr>
          </a:p>
          <a:p>
            <a:pPr marR="860425" algn="ctr">
              <a:lnSpc>
                <a:spcPct val="100000"/>
              </a:lnSpc>
              <a:spcBef>
                <a:spcPts val="1639"/>
              </a:spcBef>
            </a:pPr>
            <a:r>
              <a:rPr sz="1800" b="1" spc="-5" dirty="0">
                <a:solidFill>
                  <a:srgbClr val="034CA1"/>
                </a:solidFill>
                <a:latin typeface="Courier New"/>
                <a:cs typeface="Courier New"/>
              </a:rPr>
              <a:t>public boolean setDate( int day, int year</a:t>
            </a:r>
            <a:r>
              <a:rPr sz="1800" b="1" spc="-35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748665" marR="210820" indent="-279400">
              <a:lnSpc>
                <a:spcPct val="102000"/>
              </a:lnSpc>
              <a:spcBef>
                <a:spcPts val="1300"/>
              </a:spcBef>
            </a:pPr>
            <a:r>
              <a:rPr sz="2800" dirty="0">
                <a:latin typeface="Arial"/>
                <a:cs typeface="Arial"/>
              </a:rPr>
              <a:t>(After all, setDate is a good descriptive name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  what this method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does.)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7577" y="561504"/>
            <a:ext cx="6988809" cy="109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1135" marR="5080" indent="-2719070">
              <a:lnSpc>
                <a:spcPts val="4300"/>
              </a:lnSpc>
            </a:pPr>
            <a:r>
              <a:rPr sz="3600" spc="-5" dirty="0"/>
              <a:t>Date2 </a:t>
            </a:r>
            <a:r>
              <a:rPr sz="3600" dirty="0"/>
              <a:t>Class - </a:t>
            </a:r>
            <a:r>
              <a:rPr sz="3600" spc="-5" dirty="0"/>
              <a:t>Overloaded setDate  Method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3139" y="1681479"/>
            <a:ext cx="2220595" cy="483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public </a:t>
            </a:r>
            <a:r>
              <a:rPr sz="1600" b="1" spc="-5" dirty="0">
                <a:latin typeface="Courier New"/>
                <a:cs typeface="Courier New"/>
              </a:rPr>
              <a:t>class</a:t>
            </a:r>
            <a:r>
              <a:rPr sz="1600" b="1" spc="-9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Date2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00"/>
              </a:lnSpc>
            </a:pP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6039" y="2172207"/>
            <a:ext cx="757555" cy="742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1900"/>
              </a:lnSpc>
            </a:pP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public  public  public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9619" y="2172207"/>
            <a:ext cx="1610995" cy="742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00"/>
              </a:lnSpc>
            </a:pPr>
            <a:r>
              <a:rPr sz="1600" b="1" spc="-5" dirty="0">
                <a:latin typeface="Courier New"/>
                <a:cs typeface="Courier New"/>
              </a:rPr>
              <a:t>String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month;  int</a:t>
            </a:r>
            <a:r>
              <a:rPr sz="1600" b="1" spc="-9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day;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39"/>
              </a:lnSpc>
            </a:pPr>
            <a:r>
              <a:rPr sz="1600" b="1" spc="-5" dirty="0">
                <a:latin typeface="Courier New"/>
                <a:cs typeface="Courier New"/>
              </a:rPr>
              <a:t>int</a:t>
            </a:r>
            <a:r>
              <a:rPr sz="1600" b="1" spc="-9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year;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0740" y="2403347"/>
            <a:ext cx="1367155" cy="511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10"/>
              </a:lnSpc>
            </a:pPr>
            <a:r>
              <a:rPr sz="1600" b="1" spc="-5" dirty="0">
                <a:latin typeface="Courier New"/>
                <a:cs typeface="Courier New"/>
              </a:rPr>
              <a:t>// </a:t>
            </a:r>
            <a:r>
              <a:rPr sz="1600" b="1" dirty="0">
                <a:latin typeface="Courier New"/>
                <a:cs typeface="Courier New"/>
              </a:rPr>
              <a:t>1 -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31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10"/>
              </a:lnSpc>
            </a:pPr>
            <a:r>
              <a:rPr sz="1600" b="1" spc="-5" dirty="0">
                <a:latin typeface="Courier New"/>
                <a:cs typeface="Courier New"/>
              </a:rPr>
              <a:t>// </a:t>
            </a:r>
            <a:r>
              <a:rPr sz="1600" b="1" dirty="0">
                <a:latin typeface="Courier New"/>
                <a:cs typeface="Courier New"/>
              </a:rPr>
              <a:t>4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digits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2602" y="3139947"/>
            <a:ext cx="20986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int newMonth,</a:t>
            </a:r>
            <a:r>
              <a:rPr sz="1600" b="1" spc="-8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57528" y="3139947"/>
            <a:ext cx="136715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newDay,</a:t>
            </a:r>
            <a:r>
              <a:rPr sz="1600" b="1" spc="-9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0812" y="3139947"/>
            <a:ext cx="112331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newYear</a:t>
            </a:r>
            <a:r>
              <a:rPr sz="1600" b="1" spc="-9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6039" y="3139947"/>
            <a:ext cx="2830195" cy="511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10"/>
              </a:lnSpc>
            </a:pP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public boolean</a:t>
            </a:r>
            <a:r>
              <a:rPr sz="1600" b="1" spc="-100" dirty="0">
                <a:solidFill>
                  <a:srgbClr val="034CA1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setDate(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10"/>
              </a:lnSpc>
            </a:pP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139" y="3622547"/>
            <a:ext cx="6465570" cy="246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6465">
              <a:lnSpc>
                <a:spcPts val="1910"/>
              </a:lnSpc>
            </a:pPr>
            <a:r>
              <a:rPr sz="1600" b="1" spc="-5" dirty="0">
                <a:latin typeface="Courier New"/>
                <a:cs typeface="Courier New"/>
              </a:rPr>
              <a:t>// code</a:t>
            </a:r>
            <a:r>
              <a:rPr sz="1600" b="1" spc="-8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here</a:t>
            </a:r>
            <a:endParaRPr sz="1600">
              <a:latin typeface="Courier New"/>
              <a:cs typeface="Courier New"/>
            </a:endParaRPr>
          </a:p>
          <a:p>
            <a:pPr marL="355600">
              <a:lnSpc>
                <a:spcPts val="1910"/>
              </a:lnSpc>
            </a:pPr>
            <a:r>
              <a:rPr sz="1600" b="1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355600">
              <a:lnSpc>
                <a:spcPts val="1910"/>
              </a:lnSpc>
            </a:pPr>
            <a:r>
              <a:rPr sz="1600" b="1" dirty="0">
                <a:solidFill>
                  <a:srgbClr val="034CA1"/>
                </a:solidFill>
                <a:latin typeface="Courier New"/>
                <a:cs typeface="Courier New"/>
              </a:rPr>
              <a:t>public boolean </a:t>
            </a:r>
            <a:r>
              <a:rPr sz="1600" b="1" spc="-5" dirty="0">
                <a:latin typeface="Courier New"/>
                <a:cs typeface="Courier New"/>
              </a:rPr>
              <a:t>setDate( int newDay, int newYear</a:t>
            </a:r>
            <a:r>
              <a:rPr sz="1600" b="1" spc="-5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55600">
              <a:lnSpc>
                <a:spcPts val="1900"/>
              </a:lnSpc>
            </a:pP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ts val="1900"/>
              </a:lnSpc>
            </a:pPr>
            <a:r>
              <a:rPr sz="1600" b="1" spc="-5" dirty="0">
                <a:latin typeface="Courier New"/>
                <a:cs typeface="Courier New"/>
              </a:rPr>
              <a:t>// code here, </a:t>
            </a:r>
            <a:r>
              <a:rPr sz="1600" b="1" spc="-114" dirty="0">
                <a:latin typeface="Courier New"/>
                <a:cs typeface="Courier New"/>
              </a:rPr>
              <a:t>doesn</a:t>
            </a:r>
            <a:r>
              <a:rPr sz="1600" b="1" spc="-114" dirty="0">
                <a:latin typeface="MS PGothic"/>
                <a:cs typeface="MS PGothic"/>
              </a:rPr>
              <a:t>ʼ</a:t>
            </a:r>
            <a:r>
              <a:rPr sz="1600" b="1" spc="-114" dirty="0">
                <a:latin typeface="Courier New"/>
                <a:cs typeface="Courier New"/>
              </a:rPr>
              <a:t>t </a:t>
            </a:r>
            <a:r>
              <a:rPr sz="1600" b="1" spc="-5" dirty="0">
                <a:latin typeface="Courier New"/>
                <a:cs typeface="Courier New"/>
              </a:rPr>
              <a:t>change</a:t>
            </a:r>
            <a:r>
              <a:rPr sz="1600" b="1" spc="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month</a:t>
            </a:r>
            <a:endParaRPr sz="1600">
              <a:latin typeface="Courier New"/>
              <a:cs typeface="Courier New"/>
            </a:endParaRPr>
          </a:p>
          <a:p>
            <a:pPr marL="355600">
              <a:lnSpc>
                <a:spcPts val="1910"/>
              </a:lnSpc>
            </a:pPr>
            <a:r>
              <a:rPr sz="1600" b="1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355600">
              <a:lnSpc>
                <a:spcPts val="1910"/>
              </a:lnSpc>
            </a:pPr>
            <a:r>
              <a:rPr sz="1600" b="1" spc="-5" dirty="0">
                <a:latin typeface="Courier New"/>
                <a:cs typeface="Courier New"/>
              </a:rPr>
              <a:t>// toString( ), monthString( ), etc.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follow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10"/>
              </a:lnSpc>
            </a:pPr>
            <a:r>
              <a:rPr sz="1600" b="1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8020" y="785024"/>
            <a:ext cx="414782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64485" algn="l"/>
              </a:tabLst>
            </a:pPr>
            <a:r>
              <a:rPr dirty="0"/>
              <a:t>Da</a:t>
            </a:r>
            <a:r>
              <a:rPr spc="-5" dirty="0"/>
              <a:t>t</a:t>
            </a:r>
            <a:r>
              <a:rPr dirty="0"/>
              <a:t>e2Demo	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22120"/>
            <a:ext cx="7480300" cy="4335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72819" algn="l"/>
              </a:tabLst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public	</a:t>
            </a:r>
            <a:r>
              <a:rPr sz="1800" b="1" spc="-5" dirty="0">
                <a:latin typeface="Courier New"/>
                <a:cs typeface="Courier New"/>
              </a:rPr>
              <a:t>class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Date2Demo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439"/>
              </a:spcBef>
              <a:tabLst>
                <a:tab pos="1315720" algn="l"/>
                <a:tab pos="5156835" algn="l"/>
              </a:tabLst>
            </a:pPr>
            <a:r>
              <a:rPr sz="1800" b="1" dirty="0">
                <a:solidFill>
                  <a:srgbClr val="034CA1"/>
                </a:solidFill>
                <a:latin typeface="Courier New"/>
                <a:cs typeface="Courier New"/>
              </a:rPr>
              <a:t>public	</a:t>
            </a:r>
            <a:r>
              <a:rPr sz="1800" b="1" spc="-5" dirty="0">
                <a:latin typeface="Courier New"/>
                <a:cs typeface="Courier New"/>
              </a:rPr>
              <a:t>static void main</a:t>
            </a:r>
            <a:r>
              <a:rPr sz="1800" b="1" spc="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(String[</a:t>
            </a:r>
            <a:r>
              <a:rPr sz="1800" b="1" dirty="0">
                <a:latin typeface="Courier New"/>
                <a:cs typeface="Courier New"/>
              </a:rPr>
              <a:t> ]	</a:t>
            </a:r>
            <a:r>
              <a:rPr sz="1800" b="1" spc="-5" dirty="0">
                <a:latin typeface="Courier New"/>
                <a:cs typeface="Courier New"/>
              </a:rPr>
              <a:t>args)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439"/>
              </a:spcBef>
            </a:pP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439"/>
              </a:spcBef>
              <a:tabLst>
                <a:tab pos="2984500" algn="l"/>
              </a:tabLst>
            </a:pPr>
            <a:r>
              <a:rPr sz="1800" b="1" spc="-5" dirty="0">
                <a:latin typeface="Courier New"/>
                <a:cs typeface="Courier New"/>
              </a:rPr>
              <a:t>Date2</a:t>
            </a:r>
            <a:r>
              <a:rPr sz="1800" b="1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myDate</a:t>
            </a:r>
            <a:r>
              <a:rPr sz="1800" b="1" dirty="0">
                <a:latin typeface="Courier New"/>
                <a:cs typeface="Courier New"/>
              </a:rPr>
              <a:t> =	</a:t>
            </a:r>
            <a:r>
              <a:rPr sz="1800" b="1" spc="-5" dirty="0">
                <a:latin typeface="Courier New"/>
                <a:cs typeface="Courier New"/>
              </a:rPr>
              <a:t>new Date2(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50">
              <a:latin typeface="Times New Roman"/>
              <a:cs typeface="Times New Roman"/>
            </a:endParaRPr>
          </a:p>
          <a:p>
            <a:pPr marL="926465" marR="920750">
              <a:lnSpc>
                <a:spcPct val="118800"/>
              </a:lnSpc>
              <a:tabLst>
                <a:tab pos="6276975" algn="l"/>
              </a:tabLst>
            </a:pPr>
            <a:r>
              <a:rPr sz="1800" b="1" spc="-5" dirty="0">
                <a:latin typeface="Courier New"/>
                <a:cs typeface="Courier New"/>
              </a:rPr>
              <a:t>myDate.setDate( 1, 23, 1982 );  System.out.println</a:t>
            </a:r>
            <a:r>
              <a:rPr sz="1800" b="1" dirty="0">
                <a:latin typeface="Courier New"/>
                <a:cs typeface="Courier New"/>
              </a:rPr>
              <a:t>( </a:t>
            </a:r>
            <a:r>
              <a:rPr sz="1800" b="1" spc="-5" dirty="0">
                <a:latin typeface="Courier New"/>
                <a:cs typeface="Courier New"/>
              </a:rPr>
              <a:t>myDate.toString</a:t>
            </a:r>
            <a:r>
              <a:rPr sz="1800" b="1" dirty="0">
                <a:latin typeface="Courier New"/>
                <a:cs typeface="Courier New"/>
              </a:rPr>
              <a:t>( )	</a:t>
            </a:r>
            <a:r>
              <a:rPr sz="1800" b="1" spc="-5" dirty="0">
                <a:latin typeface="Courier New"/>
                <a:cs typeface="Courier New"/>
              </a:rPr>
              <a:t>);  myDate.setDate( 4, 1999 );  System.out.println</a:t>
            </a:r>
            <a:r>
              <a:rPr sz="1800" b="1" dirty="0">
                <a:latin typeface="Courier New"/>
                <a:cs typeface="Courier New"/>
              </a:rPr>
              <a:t>( </a:t>
            </a:r>
            <a:r>
              <a:rPr sz="1800" b="1" spc="-5" dirty="0">
                <a:latin typeface="Courier New"/>
                <a:cs typeface="Courier New"/>
              </a:rPr>
              <a:t>myDate.toString</a:t>
            </a:r>
            <a:r>
              <a:rPr sz="1800" b="1" dirty="0">
                <a:latin typeface="Courier New"/>
                <a:cs typeface="Courier New"/>
              </a:rPr>
              <a:t>( )	</a:t>
            </a:r>
            <a:r>
              <a:rPr sz="1800" b="1" spc="-5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440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400" dirty="0">
                <a:latin typeface="Arial"/>
                <a:cs typeface="Arial"/>
              </a:rPr>
              <a:t>How does Java know which setDate method to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invoke?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3951" y="785024"/>
            <a:ext cx="403606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847850" algn="l"/>
              </a:tabLst>
            </a:pPr>
            <a:r>
              <a:rPr spc="-5" dirty="0"/>
              <a:t>Method	Signature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93240"/>
            <a:ext cx="7646670" cy="314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795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A </a:t>
            </a:r>
            <a:r>
              <a:rPr sz="3200" spc="-5" dirty="0">
                <a:latin typeface="Arial"/>
                <a:cs typeface="Arial"/>
              </a:rPr>
              <a:t>method </a:t>
            </a:r>
            <a:r>
              <a:rPr sz="3200" dirty="0">
                <a:latin typeface="Arial"/>
                <a:cs typeface="Arial"/>
              </a:rPr>
              <a:t>is uniquely </a:t>
            </a:r>
            <a:r>
              <a:rPr sz="3200" spc="-5" dirty="0">
                <a:latin typeface="Arial"/>
                <a:cs typeface="Arial"/>
              </a:rPr>
              <a:t>identified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by</a:t>
            </a:r>
            <a:endParaRPr sz="3200">
              <a:latin typeface="Arial"/>
              <a:cs typeface="Arial"/>
            </a:endParaRPr>
          </a:p>
          <a:p>
            <a:pPr marL="749300" lvl="1" indent="-279400">
              <a:lnSpc>
                <a:spcPts val="3315"/>
              </a:lnSpc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its name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endParaRPr sz="2800">
              <a:latin typeface="Arial"/>
              <a:cs typeface="Arial"/>
            </a:endParaRPr>
          </a:p>
          <a:p>
            <a:pPr marL="749300" marR="5080" lvl="1" indent="-279400">
              <a:lnSpc>
                <a:spcPct val="78200"/>
              </a:lnSpc>
              <a:spcBef>
                <a:spcPts val="7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its parameter list (parameter types and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their  order).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This </a:t>
            </a:r>
            <a:r>
              <a:rPr sz="3200" dirty="0">
                <a:latin typeface="Arial"/>
                <a:cs typeface="Arial"/>
              </a:rPr>
              <a:t>is known as </a:t>
            </a:r>
            <a:r>
              <a:rPr sz="3200" spc="-5" dirty="0">
                <a:latin typeface="Arial"/>
                <a:cs typeface="Arial"/>
              </a:rPr>
              <a:t>its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signature</a:t>
            </a:r>
            <a:r>
              <a:rPr sz="3200" spc="-5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Arial"/>
                <a:cs typeface="Arial"/>
              </a:rPr>
              <a:t>Examples:</a:t>
            </a:r>
            <a:endParaRPr sz="3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83614" y="5162313"/>
          <a:ext cx="7848470" cy="1054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public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boolean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setDate(int newMonth, int newDay, int</a:t>
                      </a:r>
                      <a:r>
                        <a:rPr sz="1600" b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newYear)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R="31115"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public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boolean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setDate(String newMonth, int newDay, int</a:t>
                      </a:r>
                      <a:r>
                        <a:rPr sz="1600" b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newYear)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R="31115"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public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boolean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setDate(int newDay, int</a:t>
                      </a:r>
                      <a:r>
                        <a:rPr sz="1600" b="1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newYear)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31115"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public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boolean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45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setDate(int newDay, String</a:t>
                      </a:r>
                      <a:r>
                        <a:rPr sz="1600" b="1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newMonth)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5289" y="762000"/>
            <a:ext cx="615315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78305" algn="l"/>
                <a:tab pos="2948940" algn="l"/>
              </a:tabLst>
            </a:pPr>
            <a:r>
              <a:rPr spc="-5" dirty="0"/>
              <a:t>Return	Type	</a:t>
            </a:r>
            <a:r>
              <a:rPr dirty="0"/>
              <a:t>is Not</a:t>
            </a:r>
            <a:r>
              <a:rPr spc="-110" dirty="0"/>
              <a:t> </a:t>
            </a:r>
            <a:r>
              <a:rPr dirty="0"/>
              <a:t>Enough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74800"/>
            <a:ext cx="8334375" cy="3344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98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Suppose we attempt to create an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overloaded</a:t>
            </a:r>
            <a:endParaRPr sz="2800">
              <a:latin typeface="Arial"/>
              <a:cs typeface="Arial"/>
            </a:endParaRPr>
          </a:p>
          <a:p>
            <a:pPr marL="251460" algn="ctr">
              <a:lnSpc>
                <a:spcPts val="2980"/>
              </a:lnSpc>
            </a:pPr>
            <a:r>
              <a:rPr sz="2800" dirty="0">
                <a:latin typeface="Courier New"/>
                <a:cs typeface="Courier New"/>
              </a:rPr>
              <a:t>setDay()</a:t>
            </a:r>
            <a:r>
              <a:rPr sz="2800" spc="-1010" dirty="0">
                <a:latin typeface="Courier New"/>
                <a:cs typeface="Courier New"/>
              </a:rPr>
              <a:t> </a:t>
            </a:r>
            <a:r>
              <a:rPr sz="2800" dirty="0">
                <a:latin typeface="Arial"/>
                <a:cs typeface="Arial"/>
              </a:rPr>
              <a:t>method by using different return types.</a:t>
            </a:r>
            <a:endParaRPr sz="2800">
              <a:latin typeface="Arial"/>
              <a:cs typeface="Arial"/>
            </a:endParaRPr>
          </a:p>
          <a:p>
            <a:pPr marL="755650" marR="436880">
              <a:lnSpc>
                <a:spcPts val="2100"/>
              </a:lnSpc>
              <a:spcBef>
                <a:spcPts val="2290"/>
              </a:spcBef>
              <a:tabLst>
                <a:tab pos="5282565" algn="l"/>
                <a:tab pos="5556885" algn="l"/>
              </a:tabLst>
            </a:pPr>
            <a:r>
              <a:rPr sz="1800" spc="-5" dirty="0">
                <a:latin typeface="Courier New"/>
                <a:cs typeface="Courier New"/>
              </a:rPr>
              <a:t>public void setDay( int</a:t>
            </a:r>
            <a:r>
              <a:rPr sz="1800" spc="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day</a:t>
            </a:r>
            <a:r>
              <a:rPr sz="1800" dirty="0">
                <a:latin typeface="Courier New"/>
                <a:cs typeface="Courier New"/>
              </a:rPr>
              <a:t> )	{	</a:t>
            </a:r>
            <a:r>
              <a:rPr sz="1800" spc="-5" dirty="0">
                <a:latin typeface="Courier New"/>
                <a:cs typeface="Courier New"/>
              </a:rPr>
              <a:t>/* code here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*/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}  </a:t>
            </a:r>
            <a:r>
              <a:rPr sz="1800" spc="-5" dirty="0">
                <a:latin typeface="Courier New"/>
                <a:cs typeface="Courier New"/>
              </a:rPr>
              <a:t>public boolean setDay( int</a:t>
            </a:r>
            <a:r>
              <a:rPr sz="1800" spc="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day</a:t>
            </a:r>
            <a:r>
              <a:rPr sz="1800" dirty="0">
                <a:latin typeface="Courier New"/>
                <a:cs typeface="Courier New"/>
              </a:rPr>
              <a:t> )	{	</a:t>
            </a:r>
            <a:r>
              <a:rPr sz="1800" spc="-5" dirty="0">
                <a:latin typeface="Courier New"/>
                <a:cs typeface="Courier New"/>
              </a:rPr>
              <a:t>/* code here */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793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This </a:t>
            </a:r>
            <a:r>
              <a:rPr sz="2800" dirty="0">
                <a:latin typeface="Arial"/>
                <a:cs typeface="Arial"/>
              </a:rPr>
              <a:t>is NOT valid method overloading because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  code that calls </a:t>
            </a:r>
            <a:r>
              <a:rPr sz="2800" spc="-5" dirty="0">
                <a:latin typeface="Courier New"/>
                <a:cs typeface="Courier New"/>
              </a:rPr>
              <a:t>setDay( </a:t>
            </a:r>
            <a:r>
              <a:rPr sz="2800" dirty="0">
                <a:latin typeface="Courier New"/>
                <a:cs typeface="Courier New"/>
              </a:rPr>
              <a:t>) </a:t>
            </a:r>
            <a:r>
              <a:rPr sz="2800" dirty="0">
                <a:latin typeface="Arial"/>
                <a:cs typeface="Arial"/>
              </a:rPr>
              <a:t>can ignore the return  value.</a:t>
            </a:r>
            <a:endParaRPr sz="280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  <a:spcBef>
                <a:spcPts val="595"/>
              </a:spcBef>
            </a:pPr>
            <a:r>
              <a:rPr sz="1800" spc="-5" dirty="0">
                <a:latin typeface="Courier New"/>
                <a:cs typeface="Courier New"/>
              </a:rPr>
              <a:t>birthday.setDay( 22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5063744"/>
            <a:ext cx="652653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compiler </a:t>
            </a:r>
            <a:r>
              <a:rPr sz="2800" spc="-285" dirty="0">
                <a:latin typeface="Arial"/>
                <a:cs typeface="Arial"/>
              </a:rPr>
              <a:t>can</a:t>
            </a:r>
            <a:r>
              <a:rPr sz="2800" spc="-285" dirty="0">
                <a:latin typeface="MS PGothic"/>
                <a:cs typeface="MS PGothic"/>
              </a:rPr>
              <a:t>ʼ</a:t>
            </a:r>
            <a:r>
              <a:rPr sz="2800" spc="-285" dirty="0">
                <a:latin typeface="Arial"/>
                <a:cs typeface="Arial"/>
              </a:rPr>
              <a:t>t  </a:t>
            </a:r>
            <a:r>
              <a:rPr sz="2800" dirty="0">
                <a:latin typeface="Arial"/>
                <a:cs typeface="Arial"/>
              </a:rPr>
              <a:t>tell which</a:t>
            </a:r>
            <a:r>
              <a:rPr sz="2800" spc="-290" dirty="0">
                <a:latin typeface="Arial"/>
                <a:cs typeface="Arial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setDay(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02530" y="5063744"/>
            <a:ext cx="191960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ourier New"/>
                <a:cs typeface="Courier New"/>
              </a:rPr>
              <a:t>)</a:t>
            </a:r>
            <a:r>
              <a:rPr sz="2800" spc="-1005" dirty="0">
                <a:latin typeface="Courier New"/>
                <a:cs typeface="Courier New"/>
              </a:rPr>
              <a:t> </a:t>
            </a:r>
            <a:r>
              <a:rPr sz="2800" dirty="0">
                <a:latin typeface="Arial"/>
                <a:cs typeface="Arial"/>
              </a:rPr>
              <a:t>method to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239" y="5397500"/>
            <a:ext cx="115252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invoke.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40" y="5903976"/>
            <a:ext cx="7840980" cy="704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73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Just because a method returns a value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doesn</a:t>
            </a:r>
            <a:r>
              <a:rPr sz="2800" spc="-204" dirty="0">
                <a:latin typeface="MS PGothic"/>
                <a:cs typeface="MS PGothic"/>
              </a:rPr>
              <a:t>ʼ</a:t>
            </a:r>
            <a:r>
              <a:rPr sz="2800" spc="-204" dirty="0">
                <a:latin typeface="Arial"/>
                <a:cs typeface="Arial"/>
              </a:rPr>
              <a:t>t  </a:t>
            </a:r>
            <a:r>
              <a:rPr sz="2800" dirty="0">
                <a:latin typeface="Arial"/>
                <a:cs typeface="Arial"/>
              </a:rPr>
              <a:t>mean the caller has to use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it.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7580" y="609600"/>
            <a:ext cx="606869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28700" algn="l"/>
                <a:tab pos="2412365" algn="l"/>
                <a:tab pos="3400425" algn="l"/>
                <a:tab pos="4784725" algn="l"/>
              </a:tabLst>
            </a:pPr>
            <a:r>
              <a:rPr spc="-5" dirty="0"/>
              <a:t>T</a:t>
            </a:r>
            <a:r>
              <a:rPr dirty="0"/>
              <a:t>oo	Much	of</a:t>
            </a:r>
            <a:r>
              <a:rPr spc="-5" dirty="0"/>
              <a:t> </a:t>
            </a:r>
            <a:r>
              <a:rPr dirty="0"/>
              <a:t>a	</a:t>
            </a:r>
            <a:r>
              <a:rPr spc="-5" dirty="0"/>
              <a:t>G</a:t>
            </a:r>
            <a:r>
              <a:rPr dirty="0"/>
              <a:t>ood	</a:t>
            </a:r>
            <a:r>
              <a:rPr spc="-5" dirty="0"/>
              <a:t>T</a:t>
            </a:r>
            <a:r>
              <a:rPr dirty="0"/>
              <a:t>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36237"/>
            <a:ext cx="7359650" cy="1010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78900"/>
              </a:lnSpc>
            </a:pPr>
            <a:r>
              <a:rPr sz="2800" dirty="0">
                <a:latin typeface="Arial"/>
                <a:cs typeface="Arial"/>
              </a:rPr>
              <a:t>Automatic type promotion and overloading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can  sometimes interact in ways that confuse the  compiler.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Example: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4740" y="2938779"/>
            <a:ext cx="13970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//version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139" y="2633979"/>
            <a:ext cx="2464435" cy="63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98700" algn="l"/>
              </a:tabLst>
            </a:pPr>
            <a:r>
              <a:rPr sz="2000" spc="-5" dirty="0">
                <a:latin typeface="Courier New"/>
                <a:cs typeface="Courier New"/>
              </a:rPr>
              <a:t>publi</a:t>
            </a:r>
            <a:r>
              <a:rPr sz="2000" dirty="0">
                <a:latin typeface="Courier New"/>
                <a:cs typeface="Courier New"/>
              </a:rPr>
              <a:t>c </a:t>
            </a:r>
            <a:r>
              <a:rPr sz="2000" spc="-5" dirty="0">
                <a:latin typeface="Courier New"/>
                <a:cs typeface="Courier New"/>
              </a:rPr>
              <a:t>clas</a:t>
            </a:r>
            <a:r>
              <a:rPr sz="2000" dirty="0">
                <a:latin typeface="Courier New"/>
                <a:cs typeface="Courier New"/>
              </a:rPr>
              <a:t>s X	{</a:t>
            </a:r>
            <a:endParaRPr sz="2000">
              <a:latin typeface="Courier New"/>
              <a:cs typeface="Courier New"/>
            </a:endParaRPr>
          </a:p>
          <a:p>
            <a:pPr marR="176530" algn="r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4740" y="3243579"/>
            <a:ext cx="9398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public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1718" y="3243579"/>
            <a:ext cx="26168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void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printAverage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75376" y="3243579"/>
            <a:ext cx="12452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7500" algn="l"/>
              </a:tabLst>
            </a:pPr>
            <a:r>
              <a:rPr sz="2000" dirty="0">
                <a:latin typeface="Courier New"/>
                <a:cs typeface="Courier New"/>
              </a:rPr>
              <a:t>(	</a:t>
            </a:r>
            <a:r>
              <a:rPr sz="2000" spc="-5" dirty="0">
                <a:latin typeface="Courier New"/>
                <a:cs typeface="Courier New"/>
              </a:rPr>
              <a:t>int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47204" y="3243579"/>
            <a:ext cx="1702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double b)</a:t>
            </a:r>
            <a:r>
              <a:rPr sz="2000" spc="-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68092" y="3487420"/>
            <a:ext cx="12446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/*code*/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8390" y="3728720"/>
            <a:ext cx="178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64740" y="4335779"/>
            <a:ext cx="1702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//version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64740" y="4640579"/>
            <a:ext cx="9398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public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1718" y="4640579"/>
            <a:ext cx="26168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void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printAverage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75376" y="4640579"/>
            <a:ext cx="12452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7500" algn="l"/>
              </a:tabLst>
            </a:pPr>
            <a:r>
              <a:rPr sz="2000" dirty="0">
                <a:latin typeface="Courier New"/>
                <a:cs typeface="Courier New"/>
              </a:rPr>
              <a:t>(	</a:t>
            </a:r>
            <a:r>
              <a:rPr sz="2000" spc="-5" dirty="0">
                <a:latin typeface="Courier New"/>
                <a:cs typeface="Courier New"/>
              </a:rPr>
              <a:t>double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47204" y="4640579"/>
            <a:ext cx="1702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a, int b)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68092" y="4884420"/>
            <a:ext cx="12446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/*code*/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8390" y="5125720"/>
            <a:ext cx="17843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6939" y="5427979"/>
            <a:ext cx="4986655" cy="1176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Arial"/>
                <a:cs typeface="Arial"/>
              </a:rPr>
              <a:t>Why </a:t>
            </a:r>
            <a:r>
              <a:rPr sz="2800" dirty="0">
                <a:latin typeface="Arial"/>
                <a:cs typeface="Arial"/>
              </a:rPr>
              <a:t>might this be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problematic?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7580" y="609600"/>
            <a:ext cx="6068695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28700" algn="l"/>
                <a:tab pos="2412365" algn="l"/>
                <a:tab pos="3400425" algn="l"/>
                <a:tab pos="4784725" algn="l"/>
              </a:tabLst>
            </a:pPr>
            <a:r>
              <a:rPr spc="-5" dirty="0"/>
              <a:t>T</a:t>
            </a:r>
            <a:r>
              <a:rPr dirty="0"/>
              <a:t>oo	Much	of</a:t>
            </a:r>
            <a:r>
              <a:rPr spc="-5" dirty="0"/>
              <a:t> </a:t>
            </a:r>
            <a:r>
              <a:rPr dirty="0"/>
              <a:t>a	</a:t>
            </a:r>
            <a:r>
              <a:rPr spc="-5" dirty="0"/>
              <a:t>G</a:t>
            </a:r>
            <a:r>
              <a:rPr dirty="0"/>
              <a:t>ood	</a:t>
            </a:r>
            <a:r>
              <a:rPr spc="-5" dirty="0"/>
              <a:t>T</a:t>
            </a:r>
            <a:r>
              <a:rPr dirty="0"/>
              <a:t>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9839" y="1657604"/>
            <a:ext cx="3317875" cy="553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00"/>
              </a:lnSpc>
            </a:pPr>
            <a:r>
              <a:rPr sz="1800" spc="-5" dirty="0">
                <a:latin typeface="Courier New"/>
                <a:cs typeface="Courier New"/>
              </a:rPr>
              <a:t>public void printAverage  public void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printAverage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9411" y="1657604"/>
            <a:ext cx="4003675" cy="553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00"/>
              </a:lnSpc>
              <a:tabLst>
                <a:tab pos="286385" algn="l"/>
              </a:tabLst>
            </a:pPr>
            <a:r>
              <a:rPr sz="1800" dirty="0">
                <a:latin typeface="Courier New"/>
                <a:cs typeface="Courier New"/>
              </a:rPr>
              <a:t>(	</a:t>
            </a:r>
            <a:r>
              <a:rPr sz="1800" spc="-5" dirty="0">
                <a:latin typeface="Courier New"/>
                <a:cs typeface="Courier New"/>
              </a:rPr>
              <a:t>int a, double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b)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{/*code*/}  </a:t>
            </a:r>
            <a:r>
              <a:rPr sz="1800" dirty="0">
                <a:latin typeface="Courier New"/>
                <a:cs typeface="Courier New"/>
              </a:rPr>
              <a:t>(	</a:t>
            </a:r>
            <a:r>
              <a:rPr sz="1800" spc="-5" dirty="0">
                <a:latin typeface="Courier New"/>
                <a:cs typeface="Courier New"/>
              </a:rPr>
              <a:t>double a, int b)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{/*code*/}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472944"/>
            <a:ext cx="7227570" cy="404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Now, consider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this:</a:t>
            </a:r>
            <a:endParaRPr sz="2800">
              <a:latin typeface="Arial"/>
              <a:cs typeface="Arial"/>
            </a:endParaRPr>
          </a:p>
          <a:p>
            <a:pPr marL="926465" marR="2862580">
              <a:lnSpc>
                <a:spcPct val="101899"/>
              </a:lnSpc>
              <a:spcBef>
                <a:spcPts val="1055"/>
              </a:spcBef>
              <a:tabLst>
                <a:tab pos="1200785" algn="l"/>
                <a:tab pos="2024380" algn="l"/>
                <a:tab pos="4081779" algn="l"/>
              </a:tabLst>
            </a:pPr>
            <a:r>
              <a:rPr sz="1800" dirty="0">
                <a:latin typeface="Courier New"/>
                <a:cs typeface="Courier New"/>
              </a:rPr>
              <a:t>X	</a:t>
            </a:r>
            <a:r>
              <a:rPr sz="1800" spc="-5" dirty="0">
                <a:latin typeface="Courier New"/>
                <a:cs typeface="Courier New"/>
              </a:rPr>
              <a:t>myX</a:t>
            </a:r>
            <a:r>
              <a:rPr sz="1800" dirty="0">
                <a:latin typeface="Courier New"/>
                <a:cs typeface="Courier New"/>
              </a:rPr>
              <a:t> =	</a:t>
            </a:r>
            <a:r>
              <a:rPr sz="1800" spc="-5" dirty="0">
                <a:latin typeface="Courier New"/>
                <a:cs typeface="Courier New"/>
              </a:rPr>
              <a:t>new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X(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);  myX.printAverage</a:t>
            </a:r>
            <a:r>
              <a:rPr sz="1800" dirty="0">
                <a:latin typeface="Courier New"/>
                <a:cs typeface="Courier New"/>
              </a:rPr>
              <a:t>( </a:t>
            </a:r>
            <a:r>
              <a:rPr sz="1800" spc="-5" dirty="0">
                <a:latin typeface="Courier New"/>
                <a:cs typeface="Courier New"/>
              </a:rPr>
              <a:t>5</a:t>
            </a:r>
            <a:r>
              <a:rPr sz="1800" dirty="0">
                <a:latin typeface="Courier New"/>
                <a:cs typeface="Courier New"/>
              </a:rPr>
              <a:t>, 7	</a:t>
            </a:r>
            <a:r>
              <a:rPr sz="1800" spc="-5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Java compiler </a:t>
            </a:r>
            <a:r>
              <a:rPr sz="2800" spc="-285" dirty="0">
                <a:latin typeface="Arial"/>
                <a:cs typeface="Arial"/>
              </a:rPr>
              <a:t>can</a:t>
            </a:r>
            <a:r>
              <a:rPr sz="2800" spc="-285" dirty="0">
                <a:latin typeface="MS PGothic"/>
                <a:cs typeface="MS PGothic"/>
              </a:rPr>
              <a:t>ʼ</a:t>
            </a:r>
            <a:r>
              <a:rPr sz="2800" spc="-285" dirty="0">
                <a:latin typeface="Arial"/>
                <a:cs typeface="Arial"/>
              </a:rPr>
              <a:t>t  </a:t>
            </a:r>
            <a:r>
              <a:rPr sz="2800" dirty="0">
                <a:latin typeface="Arial"/>
                <a:cs typeface="Arial"/>
              </a:rPr>
              <a:t>decide whether</a:t>
            </a:r>
            <a:r>
              <a:rPr sz="2800" spc="-2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to:</a:t>
            </a:r>
            <a:endParaRPr sz="2800">
              <a:latin typeface="Arial"/>
              <a:cs typeface="Arial"/>
            </a:endParaRPr>
          </a:p>
          <a:p>
            <a:pPr marL="749300" marR="194310" lvl="1" indent="-279400">
              <a:lnSpc>
                <a:spcPct val="772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promote 7 to 7.0 and invoke the first version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  printAverage(),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ts val="2875"/>
              </a:lnSpc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promote 5 to 5.0 and invoke the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It will throw up its hands and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complain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782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Take-home </a:t>
            </a:r>
            <a:r>
              <a:rPr sz="2800" dirty="0">
                <a:latin typeface="Arial"/>
                <a:cs typeface="Arial"/>
              </a:rPr>
              <a:t>lesson: </a:t>
            </a:r>
            <a:r>
              <a:rPr sz="2800" spc="-285" dirty="0">
                <a:latin typeface="Arial"/>
                <a:cs typeface="Arial"/>
              </a:rPr>
              <a:t>don</a:t>
            </a:r>
            <a:r>
              <a:rPr sz="2800" spc="-285" dirty="0">
                <a:latin typeface="MS PGothic"/>
                <a:cs typeface="MS PGothic"/>
              </a:rPr>
              <a:t>ʼ</a:t>
            </a:r>
            <a:r>
              <a:rPr sz="2800" spc="-285" dirty="0">
                <a:latin typeface="Arial"/>
                <a:cs typeface="Arial"/>
              </a:rPr>
              <a:t>t </a:t>
            </a:r>
            <a:r>
              <a:rPr sz="2800" dirty="0">
                <a:latin typeface="Arial"/>
                <a:cs typeface="Arial"/>
              </a:rPr>
              <a:t>be too clever with  method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overloading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2D679B6F40C48B2519DEB851FE85E" ma:contentTypeVersion="3" ma:contentTypeDescription="Create a new document." ma:contentTypeScope="" ma:versionID="575d8b23c4b8b11c8120af33fe0370b6">
  <xsd:schema xmlns:xsd="http://www.w3.org/2001/XMLSchema" xmlns:xs="http://www.w3.org/2001/XMLSchema" xmlns:p="http://schemas.microsoft.com/office/2006/metadata/properties" xmlns:ns2="03033146-d356-4da8-83b8-91c471b948ed" targetNamespace="http://schemas.microsoft.com/office/2006/metadata/properties" ma:root="true" ma:fieldsID="bcaf4ecb0242332874b477bff2821e57" ns2:_="">
    <xsd:import namespace="03033146-d356-4da8-83b8-91c471b948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033146-d356-4da8-83b8-91c471b948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409C85-25EB-4009-AF0F-EF4202BCB972}"/>
</file>

<file path=customXml/itemProps2.xml><?xml version="1.0" encoding="utf-8"?>
<ds:datastoreItem xmlns:ds="http://schemas.openxmlformats.org/officeDocument/2006/customXml" ds:itemID="{CE904D58-2544-4ECD-B869-46A31CF93417}"/>
</file>

<file path=customXml/itemProps3.xml><?xml version="1.0" encoding="utf-8"?>
<ds:datastoreItem xmlns:ds="http://schemas.openxmlformats.org/officeDocument/2006/customXml" ds:itemID="{E78365A6-AAA4-41D1-B267-CC7D77D354A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967</TotalTime>
  <Words>7069</Words>
  <Application>Microsoft Office PowerPoint</Application>
  <PresentationFormat>Custom</PresentationFormat>
  <Paragraphs>1171</Paragraphs>
  <Slides>104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104</vt:i4>
      </vt:variant>
    </vt:vector>
  </HeadingPairs>
  <TitlesOfParts>
    <vt:vector size="113" baseType="lpstr">
      <vt:lpstr>MS PGothic</vt:lpstr>
      <vt:lpstr>Arial</vt:lpstr>
      <vt:lpstr>Calibri</vt:lpstr>
      <vt:lpstr>Comic Sans MS</vt:lpstr>
      <vt:lpstr>Courier New</vt:lpstr>
      <vt:lpstr>Times New Roman</vt:lpstr>
      <vt:lpstr>Wingdings</vt:lpstr>
      <vt:lpstr>Office Theme</vt:lpstr>
      <vt:lpstr>1_Office Theme</vt:lpstr>
      <vt:lpstr>Net Centric Programming Lecture 3</vt:lpstr>
      <vt:lpstr>Java Terminology</vt:lpstr>
      <vt:lpstr>The Eclipse IDE</vt:lpstr>
      <vt:lpstr>Eclipse IDE Screenshot</vt:lpstr>
      <vt:lpstr>Compiling and Running Java</vt:lpstr>
      <vt:lpstr>Java Basics</vt:lpstr>
      <vt:lpstr>Simple Java Program</vt:lpstr>
      <vt:lpstr>Java Program Basics</vt:lpstr>
      <vt:lpstr>Primitive Data Types</vt:lpstr>
      <vt:lpstr>Variable Declarations</vt:lpstr>
      <vt:lpstr>Naming Conventions</vt:lpstr>
      <vt:lpstr>Java Keywords (till Java 6)</vt:lpstr>
      <vt:lpstr>Operators</vt:lpstr>
      <vt:lpstr>Arithmetic Operators  Rules of Operator Precedence</vt:lpstr>
      <vt:lpstr>Practice With Evaluating Expressions</vt:lpstr>
      <vt:lpstr>A Hand Trace Example</vt:lpstr>
      <vt:lpstr>More Practice</vt:lpstr>
      <vt:lpstr>Assignment Operators</vt:lpstr>
      <vt:lpstr>Type Casting</vt:lpstr>
      <vt:lpstr>Java Comparison Operators</vt:lpstr>
      <vt:lpstr>Boolean Expressions</vt:lpstr>
      <vt:lpstr>Java Flow Control</vt:lpstr>
      <vt:lpstr>if-else &amp; while Statements</vt:lpstr>
      <vt:lpstr>The 3 Parts of a Loop</vt:lpstr>
      <vt:lpstr>Example</vt:lpstr>
      <vt:lpstr>The for Loop Repetition  Structure</vt:lpstr>
      <vt:lpstr>When Does a for Loop Initialize, Test and  Modify?</vt:lpstr>
      <vt:lpstr>for Loop Examples</vt:lpstr>
      <vt:lpstr>The do-­‐while Repetition  Structure</vt:lpstr>
      <vt:lpstr>The break &amp; continue Statements</vt:lpstr>
      <vt:lpstr>Example break in a for Loop</vt:lpstr>
      <vt:lpstr>Example continue in a for Loop</vt:lpstr>
      <vt:lpstr>Problem: continue in while Loop</vt:lpstr>
      <vt:lpstr>The switch Multiple-Selection Structure</vt:lpstr>
      <vt:lpstr>switch Example</vt:lpstr>
      <vt:lpstr>Variable Scope</vt:lpstr>
      <vt:lpstr>for-loop index</vt:lpstr>
      <vt:lpstr>Named Constants</vt:lpstr>
      <vt:lpstr>Comments</vt:lpstr>
      <vt:lpstr>Comments &amp; Named Constants</vt:lpstr>
      <vt:lpstr>Strings</vt:lpstr>
      <vt:lpstr>The String Class</vt:lpstr>
      <vt:lpstr>String Concatenation</vt:lpstr>
      <vt:lpstr>String Methods</vt:lpstr>
      <vt:lpstr>Some Methods in the Class String (1 of 4)</vt:lpstr>
      <vt:lpstr>Some Methods in the Class String (2 of 4)</vt:lpstr>
      <vt:lpstr>Some Methods in the Class String (3 of 4)</vt:lpstr>
      <vt:lpstr>Some Methods in the Class String (4 of 4)</vt:lpstr>
      <vt:lpstr>Escape Sequences</vt:lpstr>
      <vt:lpstr>Pitfall: Using == with Strings</vt:lpstr>
      <vt:lpstr>Other Pitfalls with Strings</vt:lpstr>
      <vt:lpstr>Arrays</vt:lpstr>
      <vt:lpstr>Arrays</vt:lpstr>
      <vt:lpstr>Declaring vs. Creating Arrays</vt:lpstr>
      <vt:lpstr>The length Instance Variable</vt:lpstr>
      <vt:lpstr>Initializing Arrays</vt:lpstr>
      <vt:lpstr>Notes on Arrays</vt:lpstr>
      <vt:lpstr>Initializing Arrays</vt:lpstr>
      <vt:lpstr>An Array Coding Exercise</vt:lpstr>
      <vt:lpstr>Arrays as Parameters</vt:lpstr>
      <vt:lpstr>Pitfall: Use of = with Arrays</vt:lpstr>
      <vt:lpstr>Pitfall: Use of = with Arrays</vt:lpstr>
      <vt:lpstr>Pitfall: Use of == with Arrays</vt:lpstr>
      <vt:lpstr>Code to Test for Value Equality</vt:lpstr>
      <vt:lpstr>Strings and Arrays Are Objects</vt:lpstr>
      <vt:lpstr>Exception Handling</vt:lpstr>
      <vt:lpstr>Exceptions</vt:lpstr>
      <vt:lpstr>Try/Catch/Finally</vt:lpstr>
      <vt:lpstr>Exception Handling</vt:lpstr>
      <vt:lpstr>Exception Example</vt:lpstr>
      <vt:lpstr>A Better Exception Example</vt:lpstr>
      <vt:lpstr>Objects and Classes</vt:lpstr>
      <vt:lpstr>What’s an Object?</vt:lpstr>
      <vt:lpstr>So, an object is …</vt:lpstr>
      <vt:lpstr>Class Definitions</vt:lpstr>
      <vt:lpstr>A Class Is a Type</vt:lpstr>
      <vt:lpstr>Objects</vt:lpstr>
      <vt:lpstr>The Class Definition</vt:lpstr>
      <vt:lpstr>Anatomy of a Java Class</vt:lpstr>
      <vt:lpstr>Instance Variables</vt:lpstr>
      <vt:lpstr>Anatomy of a Method</vt:lpstr>
      <vt:lpstr>Example: A Date Class</vt:lpstr>
      <vt:lpstr>Date1 toString Method</vt:lpstr>
      <vt:lpstr>Using Date1</vt:lpstr>
      <vt:lpstr>Creating the Date1 Object</vt:lpstr>
      <vt:lpstr>“Dot” Notation</vt:lpstr>
      <vt:lpstr>More “Dot” Notation</vt:lpstr>
      <vt:lpstr>Other Date Methods</vt:lpstr>
      <vt:lpstr>New Date1 Methods</vt:lpstr>
      <vt:lpstr>Confusion?</vt:lpstr>
      <vt:lpstr>Calling Object</vt:lpstr>
      <vt:lpstr>Using this</vt:lpstr>
      <vt:lpstr>this Again</vt:lpstr>
      <vt:lpstr>Sample Code Segment Using Date1</vt:lpstr>
      <vt:lpstr>August 42, 2011</vt:lpstr>
      <vt:lpstr>More About Methods</vt:lpstr>
      <vt:lpstr>Method Overloading</vt:lpstr>
      <vt:lpstr>Overloaded setDate</vt:lpstr>
      <vt:lpstr>Date2 Class - Overloaded setDate  Method</vt:lpstr>
      <vt:lpstr>Date2Demo Class</vt:lpstr>
      <vt:lpstr>Method Signature</vt:lpstr>
      <vt:lpstr>Return Type is Not Enough</vt:lpstr>
      <vt:lpstr>Too Much of a Good Thing</vt:lpstr>
      <vt:lpstr>Too Much of a Good Thing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Compiling and Running Java</dc:title>
  <dc:creator>Muhammad Imran</dc:creator>
  <cp:lastModifiedBy>Adeel-ur-Rehman Zafar</cp:lastModifiedBy>
  <cp:revision>116</cp:revision>
  <dcterms:created xsi:type="dcterms:W3CDTF">2017-02-16T04:57:34Z</dcterms:created>
  <dcterms:modified xsi:type="dcterms:W3CDTF">2024-10-10T10:48:15Z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2017-02-16T00:00:00Z</vt:filetime>
  </property>
  <property fmtid="{D5CDD505-2E9C-101B-9397-08002B2CF9AE}" pid="3" name="ContentTypeId">
    <vt:lpwstr>0x0101008242D679B6F40C48B2519DEB851FE85E</vt:lpwstr>
  </property>
</Properties>
</file>