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2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32.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26.xml" ContentType="application/vnd.openxmlformats-officedocument.presentationml.slide+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22.xml" ContentType="application/vnd.openxmlformats-officedocument.presentationml.notesSlide+xml"/>
  <Override PartName="/ppt/notesSlides/notesSlide16.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342" r:id="rId3"/>
    <p:sldId id="343" r:id="rId4"/>
    <p:sldId id="350" r:id="rId5"/>
    <p:sldId id="351" r:id="rId6"/>
    <p:sldId id="390" r:id="rId7"/>
    <p:sldId id="373" r:id="rId8"/>
    <p:sldId id="374" r:id="rId9"/>
    <p:sldId id="375" r:id="rId10"/>
    <p:sldId id="408" r:id="rId11"/>
    <p:sldId id="346" r:id="rId12"/>
    <p:sldId id="391" r:id="rId13"/>
    <p:sldId id="376" r:id="rId14"/>
    <p:sldId id="344" r:id="rId15"/>
    <p:sldId id="345" r:id="rId16"/>
    <p:sldId id="315" r:id="rId17"/>
    <p:sldId id="397" r:id="rId18"/>
    <p:sldId id="388" r:id="rId19"/>
    <p:sldId id="398" r:id="rId20"/>
    <p:sldId id="357" r:id="rId21"/>
    <p:sldId id="399" r:id="rId22"/>
    <p:sldId id="400" r:id="rId23"/>
    <p:sldId id="358" r:id="rId24"/>
    <p:sldId id="401" r:id="rId25"/>
    <p:sldId id="402" r:id="rId26"/>
    <p:sldId id="403" r:id="rId27"/>
    <p:sldId id="360" r:id="rId28"/>
    <p:sldId id="384" r:id="rId29"/>
    <p:sldId id="405" r:id="rId30"/>
    <p:sldId id="406" r:id="rId31"/>
    <p:sldId id="363" r:id="rId32"/>
    <p:sldId id="407"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4629" autoAdjust="0"/>
  </p:normalViewPr>
  <p:slideViewPr>
    <p:cSldViewPr>
      <p:cViewPr varScale="1">
        <p:scale>
          <a:sx n="69" d="100"/>
          <a:sy n="69" d="100"/>
        </p:scale>
        <p:origin x="792" y="54"/>
      </p:cViewPr>
      <p:guideLst>
        <p:guide orient="horz" pos="2160"/>
        <p:guide pos="2880"/>
      </p:guideLst>
    </p:cSldViewPr>
  </p:slideViewPr>
  <p:outlineViewPr>
    <p:cViewPr>
      <p:scale>
        <a:sx n="33" d="100"/>
        <a:sy n="33" d="100"/>
      </p:scale>
      <p:origin x="48" y="4295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0520FC-D788-48C1-BB99-0370BEB8FF51}" type="datetimeFigureOut">
              <a:rPr lang="en-IE" smtClean="0"/>
              <a:t>02/09/2019</a:t>
            </a:fld>
            <a:endParaRPr lang="en-I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48A391-A794-471D-B72A-F262B2B3B5B4}" type="slidenum">
              <a:rPr lang="en-IE" smtClean="0"/>
              <a:t>‹#›</a:t>
            </a:fld>
            <a:endParaRPr lang="en-IE"/>
          </a:p>
        </p:txBody>
      </p:sp>
    </p:spTree>
    <p:extLst>
      <p:ext uri="{BB962C8B-B14F-4D97-AF65-F5344CB8AC3E}">
        <p14:creationId xmlns:p14="http://schemas.microsoft.com/office/powerpoint/2010/main" val="40217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7542DB1-135D-4B9D-903A-B82DAF680E38}" type="slidenum">
              <a:rPr lang="en-US"/>
              <a:pPr>
                <a:defRPr/>
              </a:pPr>
              <a:t>2</a:t>
            </a:fld>
            <a:endParaRPr lang="en-US"/>
          </a:p>
        </p:txBody>
      </p:sp>
      <p:sp>
        <p:nvSpPr>
          <p:cNvPr id="716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31B698E-0A92-4C79-B07D-7FC2815676F1}" type="slidenum">
              <a:rPr lang="en-US"/>
              <a:pPr>
                <a:defRPr/>
              </a:pPr>
              <a:t>3</a:t>
            </a:fld>
            <a:endParaRPr lang="en-US"/>
          </a:p>
        </p:txBody>
      </p:sp>
      <p:sp>
        <p:nvSpPr>
          <p:cNvPr id="7270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10</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38E1D3D-9135-4F41-9346-284095C4AED6}" type="slidenum">
              <a:rPr lang="en-US"/>
              <a:pPr>
                <a:defRPr/>
              </a:pPr>
              <a:t>11</a:t>
            </a:fld>
            <a:endParaRPr lang="en-US"/>
          </a:p>
        </p:txBody>
      </p:sp>
      <p:sp>
        <p:nvSpPr>
          <p:cNvPr id="706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38E1D3D-9135-4F41-9346-284095C4AED6}" type="slidenum">
              <a:rPr lang="en-US"/>
              <a:pPr>
                <a:defRPr/>
              </a:pPr>
              <a:t>12</a:t>
            </a:fld>
            <a:endParaRPr lang="en-US"/>
          </a:p>
        </p:txBody>
      </p:sp>
      <p:sp>
        <p:nvSpPr>
          <p:cNvPr id="706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38E1D3D-9135-4F41-9346-284095C4AED6}" type="slidenum">
              <a:rPr lang="en-US"/>
              <a:pPr>
                <a:defRPr/>
              </a:pPr>
              <a:t>13</a:t>
            </a:fld>
            <a:endParaRPr lang="en-US"/>
          </a:p>
        </p:txBody>
      </p:sp>
      <p:sp>
        <p:nvSpPr>
          <p:cNvPr id="706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14</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A25B878-AF58-430A-8EFB-FEE8D9F79B95}" type="slidenum">
              <a:rPr lang="en-US"/>
              <a:pPr>
                <a:defRPr/>
              </a:pPr>
              <a:t>15</a:t>
            </a:fld>
            <a:endParaRPr lang="en-US"/>
          </a:p>
        </p:txBody>
      </p:sp>
      <p:sp>
        <p:nvSpPr>
          <p:cNvPr id="747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17</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19</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A848A391-A794-471D-B72A-F262B2B3B5B4}" type="slidenum">
              <a:rPr lang="en-IE" smtClean="0"/>
              <a:t>20</a:t>
            </a:fld>
            <a:endParaRPr lang="en-IE"/>
          </a:p>
        </p:txBody>
      </p:sp>
    </p:spTree>
    <p:extLst>
      <p:ext uri="{BB962C8B-B14F-4D97-AF65-F5344CB8AC3E}">
        <p14:creationId xmlns:p14="http://schemas.microsoft.com/office/powerpoint/2010/main" val="42532499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21</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22</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A848A391-A794-471D-B72A-F262B2B3B5B4}" type="slidenum">
              <a:rPr lang="en-IE" smtClean="0"/>
              <a:t>23</a:t>
            </a:fld>
            <a:endParaRPr lang="en-IE"/>
          </a:p>
        </p:txBody>
      </p:sp>
    </p:spTree>
    <p:extLst>
      <p:ext uri="{BB962C8B-B14F-4D97-AF65-F5344CB8AC3E}">
        <p14:creationId xmlns:p14="http://schemas.microsoft.com/office/powerpoint/2010/main" val="42532499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24</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25</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26</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A848A391-A794-471D-B72A-F262B2B3B5B4}" type="slidenum">
              <a:rPr lang="en-IE" smtClean="0"/>
              <a:t>27</a:t>
            </a:fld>
            <a:endParaRPr lang="en-IE"/>
          </a:p>
        </p:txBody>
      </p:sp>
    </p:spTree>
    <p:extLst>
      <p:ext uri="{BB962C8B-B14F-4D97-AF65-F5344CB8AC3E}">
        <p14:creationId xmlns:p14="http://schemas.microsoft.com/office/powerpoint/2010/main" val="42532499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29</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30</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A848A391-A794-471D-B72A-F262B2B3B5B4}" type="slidenum">
              <a:rPr lang="en-IE" smtClean="0"/>
              <a:t>31</a:t>
            </a:fld>
            <a:endParaRPr lang="en-IE"/>
          </a:p>
        </p:txBody>
      </p:sp>
    </p:spTree>
    <p:extLst>
      <p:ext uri="{BB962C8B-B14F-4D97-AF65-F5344CB8AC3E}">
        <p14:creationId xmlns:p14="http://schemas.microsoft.com/office/powerpoint/2010/main" val="42532499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32</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23B5AF71-02A3-46FB-8593-3D5F029059DF}" type="datetimeFigureOut">
              <a:rPr lang="en-IE" smtClean="0"/>
              <a:t>02/09/2019</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9284FB45-1ED6-41BB-A146-54B96BE78B7D}" type="slidenum">
              <a:rPr lang="en-IE" smtClean="0"/>
              <a:t>‹#›</a:t>
            </a:fld>
            <a:endParaRPr lang="en-IE"/>
          </a:p>
        </p:txBody>
      </p:sp>
    </p:spTree>
    <p:extLst>
      <p:ext uri="{BB962C8B-B14F-4D97-AF65-F5344CB8AC3E}">
        <p14:creationId xmlns:p14="http://schemas.microsoft.com/office/powerpoint/2010/main" val="225525871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lvl1pPr>
              <a:defRPr>
                <a:solidFill>
                  <a:srgbClr val="FF0000"/>
                </a:solidFill>
              </a:defRPr>
            </a:lvl1pPr>
            <a:lvl2pPr>
              <a:defRPr>
                <a:solidFill>
                  <a:schemeClr val="tx1"/>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Date Placeholder 3"/>
          <p:cNvSpPr>
            <a:spLocks noGrp="1"/>
          </p:cNvSpPr>
          <p:nvPr>
            <p:ph type="dt" sz="half" idx="10"/>
          </p:nvPr>
        </p:nvSpPr>
        <p:spPr/>
        <p:txBody>
          <a:bodyPr/>
          <a:lstStyle/>
          <a:p>
            <a:fld id="{23B5AF71-02A3-46FB-8593-3D5F029059DF}" type="datetimeFigureOut">
              <a:rPr lang="en-IE" smtClean="0"/>
              <a:t>02/09/2019</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9284FB45-1ED6-41BB-A146-54B96BE78B7D}" type="slidenum">
              <a:rPr lang="en-IE" smtClean="0"/>
              <a:t>‹#›</a:t>
            </a:fld>
            <a:endParaRPr lang="en-IE"/>
          </a:p>
        </p:txBody>
      </p:sp>
    </p:spTree>
    <p:extLst>
      <p:ext uri="{BB962C8B-B14F-4D97-AF65-F5344CB8AC3E}">
        <p14:creationId xmlns:p14="http://schemas.microsoft.com/office/powerpoint/2010/main" val="92322990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1087446F-131F-49E8-9A09-B9D4006C8898}" type="datetimeFigureOut">
              <a:rPr lang="en-US"/>
              <a:pPr>
                <a:defRPr/>
              </a:pPr>
              <a:t>9/2/2019</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16F6ED4-9845-4343-990B-CBA4C788D794}" type="slidenum">
              <a:rPr lang="en-US"/>
              <a:pPr>
                <a:defRPr/>
              </a:pPr>
              <a:t>‹#›</a:t>
            </a:fld>
            <a:endParaRPr lang="en-US"/>
          </a:p>
        </p:txBody>
      </p:sp>
    </p:spTree>
    <p:extLst>
      <p:ext uri="{BB962C8B-B14F-4D97-AF65-F5344CB8AC3E}">
        <p14:creationId xmlns:p14="http://schemas.microsoft.com/office/powerpoint/2010/main" val="83006549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8224199-4AE8-4982-A349-87F3A676B7DF}" type="datetimeFigureOut">
              <a:rPr lang="en-US"/>
              <a:pPr>
                <a:defRPr/>
              </a:pPr>
              <a:t>9/2/2019</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21889AAC-6978-4CBA-88B1-850DFC801B4C}" type="slidenum">
              <a:rPr lang="en-US"/>
              <a:pPr>
                <a:defRPr/>
              </a:pPr>
              <a:t>‹#›</a:t>
            </a:fld>
            <a:endParaRPr lang="en-US"/>
          </a:p>
        </p:txBody>
      </p:sp>
    </p:spTree>
    <p:extLst>
      <p:ext uri="{BB962C8B-B14F-4D97-AF65-F5344CB8AC3E}">
        <p14:creationId xmlns:p14="http://schemas.microsoft.com/office/powerpoint/2010/main" val="206685504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endParaRPr lang="en-IE"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5AF71-02A3-46FB-8593-3D5F029059DF}" type="datetimeFigureOut">
              <a:rPr lang="en-IE" smtClean="0"/>
              <a:t>02/09/2019</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7" name="TextBox 6"/>
          <p:cNvSpPr txBox="1"/>
          <p:nvPr userDrawn="1"/>
        </p:nvSpPr>
        <p:spPr>
          <a:xfrm>
            <a:off x="8458200" y="6477000"/>
            <a:ext cx="685800" cy="381000"/>
          </a:xfrm>
          <a:prstGeom prst="rect">
            <a:avLst/>
          </a:prstGeom>
          <a:noFill/>
        </p:spPr>
        <p:txBody>
          <a:bodyPr wrap="square" rtlCol="0">
            <a:spAutoFit/>
          </a:bodyPr>
          <a:lstStyle/>
          <a:p>
            <a:pPr algn="r"/>
            <a:fld id="{361424CE-21A9-40ED-A480-F74D0252FFC4}" type="slidenum">
              <a:rPr lang="en-IE" smtClean="0"/>
              <a:pPr algn="r"/>
              <a:t>‹#›</a:t>
            </a:fld>
            <a:endParaRPr lang="en-IE" dirty="0"/>
          </a:p>
        </p:txBody>
      </p:sp>
    </p:spTree>
    <p:extLst>
      <p:ext uri="{BB962C8B-B14F-4D97-AF65-F5344CB8AC3E}">
        <p14:creationId xmlns:p14="http://schemas.microsoft.com/office/powerpoint/2010/main" val="3243519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rgbClr val="FF0000"/>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11.wmf"/><Relationship Id="rId5" Type="http://schemas.openxmlformats.org/officeDocument/2006/relationships/oleObject" Target="../embeddings/oleObject2.bin"/><Relationship Id="rId4" Type="http://schemas.openxmlformats.org/officeDocument/2006/relationships/image" Target="../media/image10.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Net Centric Programming</a:t>
            </a:r>
            <a:br>
              <a:rPr lang="en-US" dirty="0" smtClean="0"/>
            </a:br>
            <a:r>
              <a:rPr lang="en-US" dirty="0" smtClean="0"/>
              <a:t>Lecture 2</a:t>
            </a:r>
            <a:endParaRPr lang="en-IE" dirty="0"/>
          </a:p>
        </p:txBody>
      </p:sp>
      <p:sp>
        <p:nvSpPr>
          <p:cNvPr id="3" name="Subtitle 2"/>
          <p:cNvSpPr>
            <a:spLocks noGrp="1"/>
          </p:cNvSpPr>
          <p:nvPr>
            <p:ph type="subTitle" idx="1"/>
          </p:nvPr>
        </p:nvSpPr>
        <p:spPr/>
        <p:txBody>
          <a:bodyPr/>
          <a:lstStyle/>
          <a:p>
            <a:r>
              <a:rPr lang="en-US" dirty="0" smtClean="0">
                <a:solidFill>
                  <a:srgbClr val="FF0000"/>
                </a:solidFill>
              </a:rPr>
              <a:t>Adeel-ur-Rehman</a:t>
            </a:r>
            <a:endParaRPr lang="en-IE" dirty="0">
              <a:solidFill>
                <a:srgbClr val="FF0000"/>
              </a:solidFill>
            </a:endParaRPr>
          </a:p>
        </p:txBody>
      </p:sp>
    </p:spTree>
    <p:extLst>
      <p:ext uri="{BB962C8B-B14F-4D97-AF65-F5344CB8AC3E}">
        <p14:creationId xmlns:p14="http://schemas.microsoft.com/office/powerpoint/2010/main" val="39935229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74638"/>
            <a:ext cx="8229600" cy="792162"/>
          </a:xfrm>
        </p:spPr>
        <p:txBody>
          <a:bodyPr/>
          <a:lstStyle/>
          <a:p>
            <a:r>
              <a:rPr lang="en-US" altLang="en-US" dirty="0" smtClean="0"/>
              <a:t>Transmission Control Protocol</a:t>
            </a:r>
          </a:p>
        </p:txBody>
      </p:sp>
      <p:sp>
        <p:nvSpPr>
          <p:cNvPr id="14339" name="Rectangle 3"/>
          <p:cNvSpPr>
            <a:spLocks noGrp="1" noChangeArrowheads="1"/>
          </p:cNvSpPr>
          <p:nvPr>
            <p:ph type="body" idx="1"/>
          </p:nvPr>
        </p:nvSpPr>
        <p:spPr>
          <a:xfrm>
            <a:off x="0" y="1066800"/>
            <a:ext cx="9144000" cy="5791200"/>
          </a:xfrm>
        </p:spPr>
        <p:txBody>
          <a:bodyPr/>
          <a:lstStyle/>
          <a:p>
            <a:r>
              <a:rPr lang="en-US" altLang="en-US" sz="2600" b="1" dirty="0" smtClean="0"/>
              <a:t>A </a:t>
            </a:r>
            <a:r>
              <a:rPr lang="en-US" altLang="en-US" sz="2600" b="1" dirty="0" smtClean="0">
                <a:solidFill>
                  <a:schemeClr val="tx2"/>
                </a:solidFill>
              </a:rPr>
              <a:t>connection-based protocol </a:t>
            </a:r>
            <a:r>
              <a:rPr lang="en-US" altLang="en-US" sz="2600" b="1" dirty="0" smtClean="0"/>
              <a:t>that provides a</a:t>
            </a:r>
            <a:r>
              <a:rPr lang="en-US" altLang="en-US" sz="2600" b="1" dirty="0" smtClean="0">
                <a:solidFill>
                  <a:schemeClr val="tx2"/>
                </a:solidFill>
              </a:rPr>
              <a:t> reliable flow of data </a:t>
            </a:r>
            <a:r>
              <a:rPr lang="en-US" altLang="en-US" sz="2600" b="1" dirty="0" smtClean="0"/>
              <a:t>between two computers. </a:t>
            </a:r>
          </a:p>
          <a:p>
            <a:r>
              <a:rPr lang="en-US" altLang="en-US" sz="2600" b="1" dirty="0" smtClean="0"/>
              <a:t>Provides a </a:t>
            </a:r>
            <a:r>
              <a:rPr lang="en-US" altLang="en-US" sz="2600" b="1" dirty="0" smtClean="0">
                <a:solidFill>
                  <a:schemeClr val="tx2"/>
                </a:solidFill>
              </a:rPr>
              <a:t>point-to-point channel for applications </a:t>
            </a:r>
            <a:r>
              <a:rPr lang="en-US" altLang="en-US" sz="2600" b="1" dirty="0" smtClean="0"/>
              <a:t>that require reliable communications. </a:t>
            </a:r>
          </a:p>
          <a:p>
            <a:pPr lvl="1"/>
            <a:r>
              <a:rPr lang="en-US" altLang="en-US" sz="2200" b="1" dirty="0" smtClean="0"/>
              <a:t>The Hypertext Transfer Protocol (</a:t>
            </a:r>
            <a:r>
              <a:rPr lang="en-US" altLang="en-US" sz="2200" b="1" dirty="0" smtClean="0">
                <a:solidFill>
                  <a:schemeClr val="tx2"/>
                </a:solidFill>
              </a:rPr>
              <a:t>HTTP</a:t>
            </a:r>
            <a:r>
              <a:rPr lang="en-US" altLang="en-US" sz="2200" b="1" dirty="0" smtClean="0"/>
              <a:t>), File Transfer Protocol (</a:t>
            </a:r>
            <a:r>
              <a:rPr lang="en-US" altLang="en-US" sz="2200" b="1" dirty="0" smtClean="0">
                <a:solidFill>
                  <a:schemeClr val="tx2"/>
                </a:solidFill>
              </a:rPr>
              <a:t>FTP</a:t>
            </a:r>
            <a:r>
              <a:rPr lang="en-US" altLang="en-US" sz="2200" b="1" dirty="0" smtClean="0"/>
              <a:t>), and </a:t>
            </a:r>
            <a:r>
              <a:rPr lang="en-US" altLang="en-US" sz="2200" b="1" dirty="0" smtClean="0">
                <a:solidFill>
                  <a:schemeClr val="tx2"/>
                </a:solidFill>
              </a:rPr>
              <a:t>Telnet</a:t>
            </a:r>
            <a:r>
              <a:rPr lang="en-US" altLang="en-US" sz="2200" b="1" dirty="0" smtClean="0"/>
              <a:t> are all examples of applications that require a reliable communication channel </a:t>
            </a:r>
          </a:p>
          <a:p>
            <a:r>
              <a:rPr lang="en-US" altLang="en-US" sz="2600" b="1" dirty="0" smtClean="0">
                <a:solidFill>
                  <a:schemeClr val="tx2"/>
                </a:solidFill>
              </a:rPr>
              <a:t>Guarantees</a:t>
            </a:r>
            <a:r>
              <a:rPr lang="en-US" altLang="en-US" sz="2600" b="1" dirty="0" smtClean="0"/>
              <a:t> that data sent from one end of the connection actually gets to the other end and in the </a:t>
            </a:r>
            <a:r>
              <a:rPr lang="en-US" altLang="en-US" sz="2600" b="1" dirty="0" smtClean="0">
                <a:solidFill>
                  <a:schemeClr val="tx2"/>
                </a:solidFill>
              </a:rPr>
              <a:t>same order </a:t>
            </a:r>
            <a:r>
              <a:rPr lang="en-US" altLang="en-US" sz="2600" b="1" dirty="0" smtClean="0"/>
              <a:t>it was sent. Otherwise, an error is reported. </a:t>
            </a:r>
          </a:p>
        </p:txBody>
      </p:sp>
    </p:spTree>
    <p:extLst>
      <p:ext uri="{BB962C8B-B14F-4D97-AF65-F5344CB8AC3E}">
        <p14:creationId xmlns:p14="http://schemas.microsoft.com/office/powerpoint/2010/main" val="1609325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smtClean="0"/>
              <a:t>User Datagram Protocol</a:t>
            </a:r>
          </a:p>
        </p:txBody>
      </p:sp>
      <p:sp>
        <p:nvSpPr>
          <p:cNvPr id="15363" name="Rectangle 3"/>
          <p:cNvSpPr>
            <a:spLocks noGrp="1" noChangeArrowheads="1"/>
          </p:cNvSpPr>
          <p:nvPr>
            <p:ph type="body" idx="1"/>
          </p:nvPr>
        </p:nvSpPr>
        <p:spPr>
          <a:xfrm>
            <a:off x="457200" y="1447800"/>
            <a:ext cx="8534400" cy="4525963"/>
          </a:xfrm>
        </p:spPr>
        <p:txBody>
          <a:bodyPr/>
          <a:lstStyle/>
          <a:p>
            <a:pPr>
              <a:lnSpc>
                <a:spcPct val="90000"/>
              </a:lnSpc>
            </a:pPr>
            <a:r>
              <a:rPr lang="en-US" altLang="en-US" sz="2800" b="1" dirty="0" smtClean="0">
                <a:solidFill>
                  <a:schemeClr val="tx2"/>
                </a:solidFill>
              </a:rPr>
              <a:t>A protocol that sends independent packets of data, called datagrams</a:t>
            </a:r>
            <a:r>
              <a:rPr lang="en-US" altLang="en-US" sz="2800" b="1" dirty="0" smtClean="0"/>
              <a:t>, from one computer to another with </a:t>
            </a:r>
            <a:r>
              <a:rPr lang="en-US" altLang="en-US" sz="2800" b="1" dirty="0" smtClean="0">
                <a:solidFill>
                  <a:schemeClr val="tx2"/>
                </a:solidFill>
              </a:rPr>
              <a:t>no guarantees </a:t>
            </a:r>
            <a:r>
              <a:rPr lang="en-US" altLang="en-US" sz="2800" b="1" dirty="0" smtClean="0"/>
              <a:t>about arrival. UDP is </a:t>
            </a:r>
            <a:r>
              <a:rPr lang="en-US" altLang="en-US" sz="2800" b="1" dirty="0" smtClean="0">
                <a:solidFill>
                  <a:schemeClr val="tx2"/>
                </a:solidFill>
              </a:rPr>
              <a:t>not connection-based</a:t>
            </a:r>
            <a:r>
              <a:rPr lang="en-US" altLang="en-US" sz="2800" b="1" dirty="0" smtClean="0"/>
              <a:t> like TCP and is </a:t>
            </a:r>
            <a:r>
              <a:rPr lang="en-US" altLang="en-US" sz="2800" b="1" dirty="0" smtClean="0">
                <a:solidFill>
                  <a:schemeClr val="tx2"/>
                </a:solidFill>
              </a:rPr>
              <a:t>not reliable</a:t>
            </a:r>
            <a:r>
              <a:rPr lang="en-US" altLang="en-US" sz="2800" b="1" dirty="0" smtClean="0"/>
              <a:t>:</a:t>
            </a:r>
          </a:p>
          <a:p>
            <a:pPr lvl="1">
              <a:lnSpc>
                <a:spcPct val="90000"/>
              </a:lnSpc>
            </a:pPr>
            <a:r>
              <a:rPr lang="en-US" altLang="en-US" sz="2400" b="1" dirty="0" smtClean="0"/>
              <a:t>Sender does </a:t>
            </a:r>
            <a:r>
              <a:rPr lang="en-US" altLang="en-US" sz="2400" b="1" dirty="0" smtClean="0">
                <a:solidFill>
                  <a:schemeClr val="tx2"/>
                </a:solidFill>
              </a:rPr>
              <a:t>not wait for acknowledgements </a:t>
            </a:r>
          </a:p>
          <a:p>
            <a:pPr lvl="1">
              <a:lnSpc>
                <a:spcPct val="90000"/>
              </a:lnSpc>
            </a:pPr>
            <a:r>
              <a:rPr lang="en-US" altLang="en-US" sz="2400" b="1" dirty="0" smtClean="0"/>
              <a:t>Arrival </a:t>
            </a:r>
            <a:r>
              <a:rPr lang="en-US" altLang="en-US" sz="2400" b="1" dirty="0" smtClean="0">
                <a:solidFill>
                  <a:schemeClr val="tx2"/>
                </a:solidFill>
              </a:rPr>
              <a:t>order is not guaranteed</a:t>
            </a:r>
          </a:p>
          <a:p>
            <a:pPr lvl="1">
              <a:lnSpc>
                <a:spcPct val="90000"/>
              </a:lnSpc>
            </a:pPr>
            <a:r>
              <a:rPr lang="en-US" altLang="en-US" sz="2400" b="1" dirty="0" smtClean="0">
                <a:solidFill>
                  <a:schemeClr val="tx2"/>
                </a:solidFill>
              </a:rPr>
              <a:t>Arrival is not guaranteed</a:t>
            </a:r>
          </a:p>
          <a:p>
            <a:pPr>
              <a:lnSpc>
                <a:spcPct val="90000"/>
              </a:lnSpc>
            </a:pPr>
            <a:r>
              <a:rPr lang="en-US" altLang="en-US" sz="2800" b="1" dirty="0" smtClean="0">
                <a:solidFill>
                  <a:schemeClr val="tx2"/>
                </a:solidFill>
              </a:rPr>
              <a:t>Used when speed is essential</a:t>
            </a:r>
            <a:r>
              <a:rPr lang="en-US" altLang="en-US" sz="2800" b="1" dirty="0" smtClean="0"/>
              <a:t>, even in cost of reliability</a:t>
            </a:r>
          </a:p>
          <a:p>
            <a:pPr lvl="1">
              <a:lnSpc>
                <a:spcPct val="90000"/>
              </a:lnSpc>
            </a:pPr>
            <a:r>
              <a:rPr lang="en-US" altLang="en-US" sz="2400" b="1" dirty="0" smtClean="0"/>
              <a:t>e.g. streaming media, games, Internet telephony, etc.</a:t>
            </a:r>
          </a:p>
          <a:p>
            <a:pPr>
              <a:lnSpc>
                <a:spcPct val="90000"/>
              </a:lnSpc>
            </a:pPr>
            <a:endParaRPr lang="en-US" altLang="en-US" b="1" dirty="0" smtClean="0"/>
          </a:p>
        </p:txBody>
      </p:sp>
    </p:spTree>
    <p:extLst>
      <p:ext uri="{BB962C8B-B14F-4D97-AF65-F5344CB8AC3E}">
        <p14:creationId xmlns:p14="http://schemas.microsoft.com/office/powerpoint/2010/main" val="2934395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36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36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altLang="en-US" smtClean="0"/>
              <a:t>TCP vs. UDP</a:t>
            </a:r>
            <a:endParaRPr lang="en-IN" altLang="en-US" smtClean="0"/>
          </a:p>
        </p:txBody>
      </p:sp>
      <p:graphicFrame>
        <p:nvGraphicFramePr>
          <p:cNvPr id="4" name="Table 3"/>
          <p:cNvGraphicFramePr>
            <a:graphicFrameLocks noGrp="1"/>
          </p:cNvGraphicFramePr>
          <p:nvPr/>
        </p:nvGraphicFramePr>
        <p:xfrm>
          <a:off x="762000" y="1600200"/>
          <a:ext cx="7848600" cy="4343402"/>
        </p:xfrm>
        <a:graphic>
          <a:graphicData uri="http://schemas.openxmlformats.org/drawingml/2006/table">
            <a:tbl>
              <a:tblPr firstRow="1" firstCol="1" lastRow="1" lastCol="1" bandRow="1" bandCol="1">
                <a:tableStyleId>{5940675A-B579-460E-94D1-54222C63F5DA}</a:tableStyleId>
              </a:tblPr>
              <a:tblGrid>
                <a:gridCol w="695780">
                  <a:extLst>
                    <a:ext uri="{9D8B030D-6E8A-4147-A177-3AD203B41FA5}">
                      <a16:colId xmlns:a16="http://schemas.microsoft.com/office/drawing/2014/main" val="20000"/>
                    </a:ext>
                  </a:extLst>
                </a:gridCol>
                <a:gridCol w="3571420">
                  <a:extLst>
                    <a:ext uri="{9D8B030D-6E8A-4147-A177-3AD203B41FA5}">
                      <a16:colId xmlns:a16="http://schemas.microsoft.com/office/drawing/2014/main" val="20001"/>
                    </a:ext>
                  </a:extLst>
                </a:gridCol>
                <a:gridCol w="3581400">
                  <a:extLst>
                    <a:ext uri="{9D8B030D-6E8A-4147-A177-3AD203B41FA5}">
                      <a16:colId xmlns:a16="http://schemas.microsoft.com/office/drawing/2014/main" val="20002"/>
                    </a:ext>
                  </a:extLst>
                </a:gridCol>
              </a:tblGrid>
              <a:tr h="310243">
                <a:tc>
                  <a:txBody>
                    <a:bodyPr/>
                    <a:lstStyle/>
                    <a:p>
                      <a:pPr algn="ctr">
                        <a:spcAft>
                          <a:spcPts val="0"/>
                        </a:spcAft>
                      </a:pPr>
                      <a:r>
                        <a:rPr lang="en-US" sz="1600">
                          <a:effectLst/>
                        </a:rPr>
                        <a:t>No.</a:t>
                      </a:r>
                      <a:endParaRPr lang="en-IN" sz="1600">
                        <a:effectLst/>
                        <a:latin typeface="Times New Roman"/>
                        <a:ea typeface="Times New Roman"/>
                      </a:endParaRPr>
                    </a:p>
                  </a:txBody>
                  <a:tcPr marL="68580" marR="68580" marT="0" marB="0" anchor="ctr"/>
                </a:tc>
                <a:tc>
                  <a:txBody>
                    <a:bodyPr/>
                    <a:lstStyle/>
                    <a:p>
                      <a:pPr algn="ctr">
                        <a:spcAft>
                          <a:spcPts val="0"/>
                        </a:spcAft>
                      </a:pPr>
                      <a:r>
                        <a:rPr lang="en-US" sz="1600">
                          <a:effectLst/>
                        </a:rPr>
                        <a:t>TCP</a:t>
                      </a:r>
                      <a:endParaRPr lang="en-IN" sz="1600">
                        <a:effectLst/>
                        <a:latin typeface="Times New Roman"/>
                        <a:ea typeface="Times New Roman"/>
                      </a:endParaRPr>
                    </a:p>
                  </a:txBody>
                  <a:tcPr marL="68580" marR="68580" marT="0" marB="0" anchor="ctr"/>
                </a:tc>
                <a:tc>
                  <a:txBody>
                    <a:bodyPr/>
                    <a:lstStyle/>
                    <a:p>
                      <a:pPr algn="ctr">
                        <a:spcAft>
                          <a:spcPts val="0"/>
                        </a:spcAft>
                      </a:pPr>
                      <a:r>
                        <a:rPr lang="en-US" sz="1600">
                          <a:effectLst/>
                        </a:rPr>
                        <a:t>UDP</a:t>
                      </a:r>
                      <a:endParaRPr lang="en-IN" sz="1600">
                        <a:effectLst/>
                        <a:latin typeface="Times New Roman"/>
                        <a:ea typeface="Times New Roman"/>
                      </a:endParaRPr>
                    </a:p>
                  </a:txBody>
                  <a:tcPr marL="68580" marR="68580" marT="0" marB="0" anchor="ctr"/>
                </a:tc>
                <a:extLst>
                  <a:ext uri="{0D108BD9-81ED-4DB2-BD59-A6C34878D82A}">
                    <a16:rowId xmlns:a16="http://schemas.microsoft.com/office/drawing/2014/main" val="10000"/>
                  </a:ext>
                </a:extLst>
              </a:tr>
              <a:tr h="310243">
                <a:tc>
                  <a:txBody>
                    <a:bodyPr/>
                    <a:lstStyle/>
                    <a:p>
                      <a:pPr algn="ctr">
                        <a:spcAft>
                          <a:spcPts val="0"/>
                        </a:spcAft>
                      </a:pPr>
                      <a:r>
                        <a:rPr lang="en-US" sz="1600">
                          <a:effectLst/>
                        </a:rPr>
                        <a:t>1</a:t>
                      </a:r>
                      <a:endParaRPr lang="en-IN" sz="1600">
                        <a:effectLst/>
                        <a:latin typeface="Times New Roman"/>
                        <a:ea typeface="Times New Roman"/>
                      </a:endParaRPr>
                    </a:p>
                  </a:txBody>
                  <a:tcPr marL="68580" marR="68580" marT="0" marB="0" anchor="ctr"/>
                </a:tc>
                <a:tc>
                  <a:txBody>
                    <a:bodyPr/>
                    <a:lstStyle/>
                    <a:p>
                      <a:pPr algn="just">
                        <a:spcAft>
                          <a:spcPts val="0"/>
                        </a:spcAft>
                      </a:pPr>
                      <a:r>
                        <a:rPr lang="en-US" sz="1600">
                          <a:effectLst/>
                        </a:rPr>
                        <a:t>This Connection oriented protocol </a:t>
                      </a:r>
                      <a:endParaRPr lang="en-IN" sz="1600">
                        <a:effectLst/>
                        <a:latin typeface="Times New Roman"/>
                        <a:ea typeface="Times New Roman"/>
                      </a:endParaRPr>
                    </a:p>
                  </a:txBody>
                  <a:tcPr marL="68580" marR="68580" marT="0" marB="0"/>
                </a:tc>
                <a:tc>
                  <a:txBody>
                    <a:bodyPr/>
                    <a:lstStyle/>
                    <a:p>
                      <a:pPr algn="just">
                        <a:spcAft>
                          <a:spcPts val="0"/>
                        </a:spcAft>
                      </a:pPr>
                      <a:r>
                        <a:rPr lang="en-US" sz="1600">
                          <a:effectLst/>
                        </a:rPr>
                        <a:t>This is connection-less protocol</a:t>
                      </a:r>
                      <a:endParaRPr lang="en-IN" sz="1600">
                        <a:effectLst/>
                        <a:latin typeface="Times New Roman"/>
                        <a:ea typeface="Times New Roman"/>
                      </a:endParaRPr>
                    </a:p>
                  </a:txBody>
                  <a:tcPr marL="68580" marR="68580" marT="0" marB="0"/>
                </a:tc>
                <a:extLst>
                  <a:ext uri="{0D108BD9-81ED-4DB2-BD59-A6C34878D82A}">
                    <a16:rowId xmlns:a16="http://schemas.microsoft.com/office/drawing/2014/main" val="10001"/>
                  </a:ext>
                </a:extLst>
              </a:tr>
              <a:tr h="620486">
                <a:tc>
                  <a:txBody>
                    <a:bodyPr/>
                    <a:lstStyle/>
                    <a:p>
                      <a:pPr algn="ctr">
                        <a:spcAft>
                          <a:spcPts val="0"/>
                        </a:spcAft>
                      </a:pPr>
                      <a:r>
                        <a:rPr lang="en-US" sz="1600">
                          <a:effectLst/>
                        </a:rPr>
                        <a:t>2</a:t>
                      </a:r>
                      <a:endParaRPr lang="en-IN" sz="1600">
                        <a:effectLst/>
                        <a:latin typeface="Times New Roman"/>
                        <a:ea typeface="Times New Roman"/>
                      </a:endParaRPr>
                    </a:p>
                  </a:txBody>
                  <a:tcPr marL="68580" marR="68580" marT="0" marB="0" anchor="ctr"/>
                </a:tc>
                <a:tc>
                  <a:txBody>
                    <a:bodyPr/>
                    <a:lstStyle/>
                    <a:p>
                      <a:pPr algn="just">
                        <a:spcAft>
                          <a:spcPts val="0"/>
                        </a:spcAft>
                      </a:pPr>
                      <a:r>
                        <a:rPr lang="en-US" sz="1600">
                          <a:effectLst/>
                        </a:rPr>
                        <a:t>The TCP connection is byte stream</a:t>
                      </a:r>
                      <a:endParaRPr lang="en-IN" sz="1600">
                        <a:effectLst/>
                        <a:latin typeface="Times New Roman"/>
                        <a:ea typeface="Times New Roman"/>
                      </a:endParaRPr>
                    </a:p>
                  </a:txBody>
                  <a:tcPr marL="68580" marR="68580" marT="0" marB="0"/>
                </a:tc>
                <a:tc>
                  <a:txBody>
                    <a:bodyPr/>
                    <a:lstStyle/>
                    <a:p>
                      <a:pPr algn="just">
                        <a:spcAft>
                          <a:spcPts val="0"/>
                        </a:spcAft>
                      </a:pPr>
                      <a:r>
                        <a:rPr lang="en-US" sz="1600">
                          <a:effectLst/>
                        </a:rPr>
                        <a:t>The UDP connection is a message stream</a:t>
                      </a:r>
                      <a:endParaRPr lang="en-IN" sz="1600">
                        <a:effectLst/>
                        <a:latin typeface="Times New Roman"/>
                        <a:ea typeface="Times New Roman"/>
                      </a:endParaRPr>
                    </a:p>
                  </a:txBody>
                  <a:tcPr marL="68580" marR="68580" marT="0" marB="0"/>
                </a:tc>
                <a:extLst>
                  <a:ext uri="{0D108BD9-81ED-4DB2-BD59-A6C34878D82A}">
                    <a16:rowId xmlns:a16="http://schemas.microsoft.com/office/drawing/2014/main" val="10002"/>
                  </a:ext>
                </a:extLst>
              </a:tr>
              <a:tr h="620486">
                <a:tc>
                  <a:txBody>
                    <a:bodyPr/>
                    <a:lstStyle/>
                    <a:p>
                      <a:pPr algn="ctr">
                        <a:spcAft>
                          <a:spcPts val="0"/>
                        </a:spcAft>
                      </a:pPr>
                      <a:r>
                        <a:rPr lang="en-US" sz="1600">
                          <a:effectLst/>
                        </a:rPr>
                        <a:t>3</a:t>
                      </a:r>
                      <a:endParaRPr lang="en-IN" sz="1600">
                        <a:effectLst/>
                        <a:latin typeface="Times New Roman"/>
                        <a:ea typeface="Times New Roman"/>
                      </a:endParaRPr>
                    </a:p>
                  </a:txBody>
                  <a:tcPr marL="68580" marR="68580" marT="0" marB="0" anchor="ctr"/>
                </a:tc>
                <a:tc>
                  <a:txBody>
                    <a:bodyPr/>
                    <a:lstStyle/>
                    <a:p>
                      <a:pPr algn="just">
                        <a:spcAft>
                          <a:spcPts val="0"/>
                        </a:spcAft>
                      </a:pPr>
                      <a:r>
                        <a:rPr lang="en-US" sz="1600">
                          <a:effectLst/>
                        </a:rPr>
                        <a:t>It does not support multicasting and broadcasting</a:t>
                      </a:r>
                      <a:endParaRPr lang="en-IN" sz="1600">
                        <a:effectLst/>
                        <a:latin typeface="Times New Roman"/>
                        <a:ea typeface="Times New Roman"/>
                      </a:endParaRPr>
                    </a:p>
                  </a:txBody>
                  <a:tcPr marL="68580" marR="68580" marT="0" marB="0"/>
                </a:tc>
                <a:tc>
                  <a:txBody>
                    <a:bodyPr/>
                    <a:lstStyle/>
                    <a:p>
                      <a:pPr algn="just">
                        <a:spcAft>
                          <a:spcPts val="0"/>
                        </a:spcAft>
                      </a:pPr>
                      <a:r>
                        <a:rPr lang="en-US" sz="1600">
                          <a:effectLst/>
                        </a:rPr>
                        <a:t>It supports broadcasting</a:t>
                      </a:r>
                      <a:endParaRPr lang="en-IN" sz="1600">
                        <a:effectLst/>
                        <a:latin typeface="Times New Roman"/>
                        <a:ea typeface="Times New Roman"/>
                      </a:endParaRPr>
                    </a:p>
                  </a:txBody>
                  <a:tcPr marL="68580" marR="68580" marT="0" marB="0"/>
                </a:tc>
                <a:extLst>
                  <a:ext uri="{0D108BD9-81ED-4DB2-BD59-A6C34878D82A}">
                    <a16:rowId xmlns:a16="http://schemas.microsoft.com/office/drawing/2014/main" val="10003"/>
                  </a:ext>
                </a:extLst>
              </a:tr>
              <a:tr h="620486">
                <a:tc>
                  <a:txBody>
                    <a:bodyPr/>
                    <a:lstStyle/>
                    <a:p>
                      <a:pPr algn="ctr">
                        <a:spcAft>
                          <a:spcPts val="0"/>
                        </a:spcAft>
                      </a:pPr>
                      <a:r>
                        <a:rPr lang="en-US" sz="1600">
                          <a:effectLst/>
                        </a:rPr>
                        <a:t>4</a:t>
                      </a:r>
                      <a:endParaRPr lang="en-IN" sz="1600">
                        <a:effectLst/>
                        <a:latin typeface="Times New Roman"/>
                        <a:ea typeface="Times New Roman"/>
                      </a:endParaRPr>
                    </a:p>
                  </a:txBody>
                  <a:tcPr marL="68580" marR="68580" marT="0" marB="0" anchor="ctr"/>
                </a:tc>
                <a:tc>
                  <a:txBody>
                    <a:bodyPr/>
                    <a:lstStyle/>
                    <a:p>
                      <a:pPr algn="just">
                        <a:spcAft>
                          <a:spcPts val="0"/>
                        </a:spcAft>
                      </a:pPr>
                      <a:r>
                        <a:rPr lang="en-US" sz="1600">
                          <a:effectLst/>
                        </a:rPr>
                        <a:t>It provides error control and flow control</a:t>
                      </a:r>
                      <a:endParaRPr lang="en-IN" sz="1600">
                        <a:effectLst/>
                        <a:latin typeface="Times New Roman"/>
                        <a:ea typeface="Times New Roman"/>
                      </a:endParaRPr>
                    </a:p>
                  </a:txBody>
                  <a:tcPr marL="68580" marR="68580" marT="0" marB="0"/>
                </a:tc>
                <a:tc>
                  <a:txBody>
                    <a:bodyPr/>
                    <a:lstStyle/>
                    <a:p>
                      <a:pPr algn="just">
                        <a:spcAft>
                          <a:spcPts val="0"/>
                        </a:spcAft>
                      </a:pPr>
                      <a:r>
                        <a:rPr lang="en-US" sz="1600" dirty="0">
                          <a:effectLst/>
                        </a:rPr>
                        <a:t>The error control and flow control is not provided</a:t>
                      </a:r>
                      <a:endParaRPr lang="en-IN" sz="1600" dirty="0">
                        <a:effectLst/>
                        <a:latin typeface="Times New Roman"/>
                        <a:ea typeface="Times New Roman"/>
                      </a:endParaRPr>
                    </a:p>
                  </a:txBody>
                  <a:tcPr marL="68580" marR="68580" marT="0" marB="0"/>
                </a:tc>
                <a:extLst>
                  <a:ext uri="{0D108BD9-81ED-4DB2-BD59-A6C34878D82A}">
                    <a16:rowId xmlns:a16="http://schemas.microsoft.com/office/drawing/2014/main" val="10004"/>
                  </a:ext>
                </a:extLst>
              </a:tr>
              <a:tr h="620486">
                <a:tc>
                  <a:txBody>
                    <a:bodyPr/>
                    <a:lstStyle/>
                    <a:p>
                      <a:pPr algn="ctr">
                        <a:spcAft>
                          <a:spcPts val="0"/>
                        </a:spcAft>
                      </a:pPr>
                      <a:r>
                        <a:rPr lang="en-US" sz="1600">
                          <a:effectLst/>
                        </a:rPr>
                        <a:t>5</a:t>
                      </a:r>
                      <a:endParaRPr lang="en-IN" sz="1600">
                        <a:effectLst/>
                        <a:latin typeface="Times New Roman"/>
                        <a:ea typeface="Times New Roman"/>
                      </a:endParaRPr>
                    </a:p>
                  </a:txBody>
                  <a:tcPr marL="68580" marR="68580" marT="0" marB="0" anchor="ctr"/>
                </a:tc>
                <a:tc>
                  <a:txBody>
                    <a:bodyPr/>
                    <a:lstStyle/>
                    <a:p>
                      <a:pPr algn="just">
                        <a:spcAft>
                          <a:spcPts val="0"/>
                        </a:spcAft>
                      </a:pPr>
                      <a:r>
                        <a:rPr lang="en-US" sz="1600">
                          <a:effectLst/>
                        </a:rPr>
                        <a:t>TCP supports full duplex transmission</a:t>
                      </a:r>
                      <a:endParaRPr lang="en-IN" sz="1600">
                        <a:effectLst/>
                        <a:latin typeface="Times New Roman"/>
                        <a:ea typeface="Times New Roman"/>
                      </a:endParaRPr>
                    </a:p>
                  </a:txBody>
                  <a:tcPr marL="68580" marR="68580" marT="0" marB="0"/>
                </a:tc>
                <a:tc>
                  <a:txBody>
                    <a:bodyPr/>
                    <a:lstStyle/>
                    <a:p>
                      <a:pPr algn="just">
                        <a:spcAft>
                          <a:spcPts val="0"/>
                        </a:spcAft>
                      </a:pPr>
                      <a:r>
                        <a:rPr lang="en-US" sz="1600">
                          <a:effectLst/>
                        </a:rPr>
                        <a:t>UDP does not support full duplex transmission</a:t>
                      </a:r>
                      <a:endParaRPr lang="en-IN" sz="1600">
                        <a:effectLst/>
                        <a:latin typeface="Times New Roman"/>
                        <a:ea typeface="Times New Roman"/>
                      </a:endParaRPr>
                    </a:p>
                  </a:txBody>
                  <a:tcPr marL="68580" marR="68580" marT="0" marB="0"/>
                </a:tc>
                <a:extLst>
                  <a:ext uri="{0D108BD9-81ED-4DB2-BD59-A6C34878D82A}">
                    <a16:rowId xmlns:a16="http://schemas.microsoft.com/office/drawing/2014/main" val="10005"/>
                  </a:ext>
                </a:extLst>
              </a:tr>
              <a:tr h="620486">
                <a:tc>
                  <a:txBody>
                    <a:bodyPr/>
                    <a:lstStyle/>
                    <a:p>
                      <a:pPr algn="ctr">
                        <a:spcAft>
                          <a:spcPts val="0"/>
                        </a:spcAft>
                      </a:pPr>
                      <a:r>
                        <a:rPr lang="en-US" sz="1600">
                          <a:effectLst/>
                        </a:rPr>
                        <a:t>6</a:t>
                      </a:r>
                      <a:endParaRPr lang="en-IN" sz="1600">
                        <a:effectLst/>
                        <a:latin typeface="Times New Roman"/>
                        <a:ea typeface="Times New Roman"/>
                      </a:endParaRPr>
                    </a:p>
                  </a:txBody>
                  <a:tcPr marL="68580" marR="68580" marT="0" marB="0" anchor="ctr"/>
                </a:tc>
                <a:tc>
                  <a:txBody>
                    <a:bodyPr/>
                    <a:lstStyle/>
                    <a:p>
                      <a:pPr algn="just">
                        <a:spcAft>
                          <a:spcPts val="0"/>
                        </a:spcAft>
                      </a:pPr>
                      <a:r>
                        <a:rPr lang="en-US" sz="1600">
                          <a:effectLst/>
                        </a:rPr>
                        <a:t>It is reliable service of data transmission</a:t>
                      </a:r>
                      <a:endParaRPr lang="en-IN" sz="1600">
                        <a:effectLst/>
                        <a:latin typeface="Times New Roman"/>
                        <a:ea typeface="Times New Roman"/>
                      </a:endParaRPr>
                    </a:p>
                  </a:txBody>
                  <a:tcPr marL="68580" marR="68580" marT="0" marB="0"/>
                </a:tc>
                <a:tc>
                  <a:txBody>
                    <a:bodyPr/>
                    <a:lstStyle/>
                    <a:p>
                      <a:pPr algn="just">
                        <a:spcAft>
                          <a:spcPts val="0"/>
                        </a:spcAft>
                      </a:pPr>
                      <a:r>
                        <a:rPr lang="en-US" sz="1600">
                          <a:effectLst/>
                        </a:rPr>
                        <a:t>This is an unreliable service of data transmission </a:t>
                      </a:r>
                      <a:endParaRPr lang="en-IN" sz="1600">
                        <a:effectLst/>
                        <a:latin typeface="Times New Roman"/>
                        <a:ea typeface="Times New Roman"/>
                      </a:endParaRPr>
                    </a:p>
                  </a:txBody>
                  <a:tcPr marL="68580" marR="68580" marT="0" marB="0"/>
                </a:tc>
                <a:extLst>
                  <a:ext uri="{0D108BD9-81ED-4DB2-BD59-A6C34878D82A}">
                    <a16:rowId xmlns:a16="http://schemas.microsoft.com/office/drawing/2014/main" val="10006"/>
                  </a:ext>
                </a:extLst>
              </a:tr>
              <a:tr h="620486">
                <a:tc>
                  <a:txBody>
                    <a:bodyPr/>
                    <a:lstStyle/>
                    <a:p>
                      <a:pPr algn="ctr">
                        <a:spcAft>
                          <a:spcPts val="0"/>
                        </a:spcAft>
                      </a:pPr>
                      <a:r>
                        <a:rPr lang="en-US" sz="1600">
                          <a:effectLst/>
                        </a:rPr>
                        <a:t>7</a:t>
                      </a:r>
                      <a:endParaRPr lang="en-IN" sz="1600">
                        <a:effectLst/>
                        <a:latin typeface="Times New Roman"/>
                        <a:ea typeface="Times New Roman"/>
                      </a:endParaRPr>
                    </a:p>
                  </a:txBody>
                  <a:tcPr marL="68580" marR="68580" marT="0" marB="0" anchor="ctr"/>
                </a:tc>
                <a:tc>
                  <a:txBody>
                    <a:bodyPr/>
                    <a:lstStyle/>
                    <a:p>
                      <a:pPr algn="just">
                        <a:spcAft>
                          <a:spcPts val="0"/>
                        </a:spcAft>
                      </a:pPr>
                      <a:r>
                        <a:rPr lang="en-US" sz="1600">
                          <a:effectLst/>
                        </a:rPr>
                        <a:t>The TCP packet is called as segment</a:t>
                      </a:r>
                      <a:endParaRPr lang="en-IN" sz="1600">
                        <a:effectLst/>
                        <a:latin typeface="Times New Roman"/>
                        <a:ea typeface="Times New Roman"/>
                      </a:endParaRPr>
                    </a:p>
                  </a:txBody>
                  <a:tcPr marL="68580" marR="68580" marT="0" marB="0"/>
                </a:tc>
                <a:tc>
                  <a:txBody>
                    <a:bodyPr/>
                    <a:lstStyle/>
                    <a:p>
                      <a:pPr algn="just">
                        <a:spcAft>
                          <a:spcPts val="0"/>
                        </a:spcAft>
                      </a:pPr>
                      <a:r>
                        <a:rPr lang="en-US" sz="1600" dirty="0">
                          <a:effectLst/>
                        </a:rPr>
                        <a:t>The UDP packet is called as user datagram.</a:t>
                      </a:r>
                      <a:endParaRPr lang="en-IN" sz="1600" dirty="0">
                        <a:effectLst/>
                        <a:latin typeface="Times New Roman"/>
                        <a:ea typeface="Times New Roman"/>
                      </a:endParaRP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4053836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IP Addresses</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400" b="1" dirty="0"/>
              <a:t>As a Java programmer, </a:t>
            </a:r>
            <a:r>
              <a:rPr lang="en-IE" sz="2400" b="1" dirty="0">
                <a:solidFill>
                  <a:schemeClr val="tx2"/>
                </a:solidFill>
              </a:rPr>
              <a:t>you don’t need to worry about the inner workings of IP</a:t>
            </a:r>
            <a:r>
              <a:rPr lang="en-IE" sz="2400" b="1" dirty="0"/>
              <a:t>, but </a:t>
            </a:r>
            <a:r>
              <a:rPr lang="en-IE" sz="2400" b="1" dirty="0" smtClean="0"/>
              <a:t>you do </a:t>
            </a:r>
            <a:r>
              <a:rPr lang="en-IE" sz="2400" b="1" dirty="0"/>
              <a:t>need to </a:t>
            </a:r>
            <a:r>
              <a:rPr lang="en-IE" sz="2400" b="1" dirty="0">
                <a:solidFill>
                  <a:schemeClr val="tx2"/>
                </a:solidFill>
              </a:rPr>
              <a:t>know about addressing</a:t>
            </a:r>
            <a:r>
              <a:rPr lang="en-IE" sz="2400" b="1" dirty="0"/>
              <a:t>. Every computer on an </a:t>
            </a:r>
            <a:r>
              <a:rPr lang="en-IE" sz="2400" b="1" dirty="0">
                <a:solidFill>
                  <a:schemeClr val="tx2"/>
                </a:solidFill>
              </a:rPr>
              <a:t>IPv4 network is identified </a:t>
            </a:r>
            <a:r>
              <a:rPr lang="en-IE" sz="2400" b="1" dirty="0" smtClean="0">
                <a:solidFill>
                  <a:schemeClr val="tx2"/>
                </a:solidFill>
              </a:rPr>
              <a:t>by a </a:t>
            </a:r>
            <a:r>
              <a:rPr lang="en-IE" sz="2400" b="1" dirty="0">
                <a:solidFill>
                  <a:schemeClr val="tx2"/>
                </a:solidFill>
              </a:rPr>
              <a:t>four-byte number</a:t>
            </a:r>
            <a:r>
              <a:rPr lang="en-IE" sz="2400" b="1" dirty="0"/>
              <a:t>. </a:t>
            </a:r>
            <a:endParaRPr lang="en-IE" sz="2400" b="1" dirty="0" smtClean="0"/>
          </a:p>
          <a:p>
            <a:r>
              <a:rPr lang="en-IE" sz="2400" b="1" dirty="0" smtClean="0"/>
              <a:t>This </a:t>
            </a:r>
            <a:r>
              <a:rPr lang="en-IE" sz="2400" b="1" dirty="0"/>
              <a:t>is normally written in a </a:t>
            </a:r>
            <a:r>
              <a:rPr lang="en-IE" sz="2400" b="1" i="1" dirty="0"/>
              <a:t>dotted quad </a:t>
            </a:r>
            <a:r>
              <a:rPr lang="en-IE" sz="2400" b="1" dirty="0"/>
              <a:t>format like </a:t>
            </a:r>
            <a:r>
              <a:rPr lang="en-IE" sz="2400" b="1" dirty="0">
                <a:solidFill>
                  <a:schemeClr val="tx2"/>
                </a:solidFill>
              </a:rPr>
              <a:t>199.1.32.90</a:t>
            </a:r>
            <a:r>
              <a:rPr lang="en-IE" sz="2400" b="1" dirty="0" smtClean="0"/>
              <a:t>, where </a:t>
            </a:r>
            <a:r>
              <a:rPr lang="en-IE" sz="2400" b="1" dirty="0"/>
              <a:t>each of the four numbers is one unsigned byte ranging in value from </a:t>
            </a:r>
            <a:r>
              <a:rPr lang="en-IE" sz="2400" b="1" dirty="0">
                <a:solidFill>
                  <a:schemeClr val="tx2"/>
                </a:solidFill>
              </a:rPr>
              <a:t>0 to 255</a:t>
            </a:r>
            <a:r>
              <a:rPr lang="en-IE" sz="2400" b="1" dirty="0" smtClean="0"/>
              <a:t>. </a:t>
            </a:r>
            <a:endParaRPr lang="en-IE" sz="2400" b="1" dirty="0"/>
          </a:p>
          <a:p>
            <a:r>
              <a:rPr lang="en-IE" sz="2400" b="1" dirty="0" smtClean="0">
                <a:solidFill>
                  <a:schemeClr val="tx2"/>
                </a:solidFill>
              </a:rPr>
              <a:t>When data </a:t>
            </a:r>
            <a:r>
              <a:rPr lang="en-IE" sz="2400" b="1" dirty="0">
                <a:solidFill>
                  <a:schemeClr val="tx2"/>
                </a:solidFill>
              </a:rPr>
              <a:t>is transmitted </a:t>
            </a:r>
            <a:r>
              <a:rPr lang="en-IE" sz="2400" b="1" dirty="0"/>
              <a:t>across the network, </a:t>
            </a:r>
            <a:r>
              <a:rPr lang="en-IE" sz="2400" b="1" dirty="0">
                <a:solidFill>
                  <a:schemeClr val="tx2"/>
                </a:solidFill>
              </a:rPr>
              <a:t>the packet’s header </a:t>
            </a:r>
            <a:r>
              <a:rPr lang="en-IE" sz="2400" b="1" dirty="0"/>
              <a:t>includes the address of </a:t>
            </a:r>
            <a:r>
              <a:rPr lang="en-IE" sz="2400" b="1" dirty="0" smtClean="0"/>
              <a:t>the machine </a:t>
            </a:r>
            <a:r>
              <a:rPr lang="en-IE" sz="2400" b="1" dirty="0"/>
              <a:t>for which the packet is intended (</a:t>
            </a:r>
            <a:r>
              <a:rPr lang="en-IE" sz="2400" b="1" dirty="0">
                <a:solidFill>
                  <a:schemeClr val="tx2"/>
                </a:solidFill>
              </a:rPr>
              <a:t>the destination address</a:t>
            </a:r>
            <a:r>
              <a:rPr lang="en-IE" sz="2400" b="1" dirty="0"/>
              <a:t>) and the address </a:t>
            </a:r>
            <a:r>
              <a:rPr lang="en-IE" sz="2400" b="1" dirty="0" smtClean="0"/>
              <a:t>of the </a:t>
            </a:r>
            <a:r>
              <a:rPr lang="en-IE" sz="2400" b="1" dirty="0"/>
              <a:t>machine that sent the packet (</a:t>
            </a:r>
            <a:r>
              <a:rPr lang="en-IE" sz="2400" b="1" dirty="0">
                <a:solidFill>
                  <a:schemeClr val="tx2"/>
                </a:solidFill>
              </a:rPr>
              <a:t>the source address</a:t>
            </a:r>
            <a:r>
              <a:rPr lang="en-IE" sz="2400" b="1" dirty="0"/>
              <a:t>). </a:t>
            </a:r>
            <a:endParaRPr lang="en-IE" sz="2400" b="1" dirty="0" smtClean="0"/>
          </a:p>
          <a:p>
            <a:r>
              <a:rPr lang="en-IE" sz="2400" b="1" dirty="0" smtClean="0">
                <a:solidFill>
                  <a:schemeClr val="tx2"/>
                </a:solidFill>
              </a:rPr>
              <a:t>Router</a:t>
            </a:r>
            <a:r>
              <a:rPr lang="en-IE" sz="2400" b="1" dirty="0" smtClean="0"/>
              <a:t>s </a:t>
            </a:r>
            <a:r>
              <a:rPr lang="en-IE" sz="2400" b="1" dirty="0"/>
              <a:t>along the way </a:t>
            </a:r>
            <a:r>
              <a:rPr lang="en-IE" sz="2400" b="1" dirty="0">
                <a:solidFill>
                  <a:schemeClr val="tx2"/>
                </a:solidFill>
              </a:rPr>
              <a:t>choose </a:t>
            </a:r>
            <a:r>
              <a:rPr lang="en-IE" sz="2400" b="1" dirty="0" smtClean="0">
                <a:solidFill>
                  <a:schemeClr val="tx2"/>
                </a:solidFill>
              </a:rPr>
              <a:t>the best </a:t>
            </a:r>
            <a:r>
              <a:rPr lang="en-IE" sz="2400" b="1" dirty="0">
                <a:solidFill>
                  <a:schemeClr val="tx2"/>
                </a:solidFill>
              </a:rPr>
              <a:t>route</a:t>
            </a:r>
            <a:r>
              <a:rPr lang="en-IE" sz="2400" b="1" dirty="0"/>
              <a:t> on which to send the packet by </a:t>
            </a:r>
            <a:r>
              <a:rPr lang="en-IE" sz="2400" b="1" dirty="0">
                <a:solidFill>
                  <a:schemeClr val="tx2"/>
                </a:solidFill>
              </a:rPr>
              <a:t>inspecting the destination address</a:t>
            </a:r>
            <a:r>
              <a:rPr lang="en-IE" sz="2400" b="1" dirty="0"/>
              <a:t>. </a:t>
            </a:r>
            <a:r>
              <a:rPr lang="en-IE" sz="2400" b="1" dirty="0" smtClean="0"/>
              <a:t>The </a:t>
            </a:r>
            <a:r>
              <a:rPr lang="en-IE" sz="2400" b="1" dirty="0" smtClean="0">
                <a:solidFill>
                  <a:schemeClr val="tx2"/>
                </a:solidFill>
              </a:rPr>
              <a:t>source address</a:t>
            </a:r>
            <a:r>
              <a:rPr lang="en-IE" sz="2400" b="1" dirty="0" smtClean="0"/>
              <a:t> </a:t>
            </a:r>
            <a:r>
              <a:rPr lang="en-IE" sz="2400" b="1" dirty="0"/>
              <a:t>is included so the </a:t>
            </a:r>
            <a:r>
              <a:rPr lang="en-IE" sz="2400" b="1" dirty="0">
                <a:solidFill>
                  <a:schemeClr val="tx2"/>
                </a:solidFill>
              </a:rPr>
              <a:t>recipient will know who to reply to</a:t>
            </a:r>
            <a:r>
              <a:rPr lang="en-IE" sz="2400" b="1" dirty="0" smtClean="0"/>
              <a:t>. </a:t>
            </a:r>
          </a:p>
          <a:p>
            <a:r>
              <a:rPr lang="en-IE" sz="2400" b="1" dirty="0" smtClean="0"/>
              <a:t>There </a:t>
            </a:r>
            <a:r>
              <a:rPr lang="en-IE" sz="2400" b="1" dirty="0"/>
              <a:t>are a little more than </a:t>
            </a:r>
            <a:r>
              <a:rPr lang="en-IE" sz="2400" b="1" dirty="0">
                <a:solidFill>
                  <a:schemeClr val="tx2"/>
                </a:solidFill>
              </a:rPr>
              <a:t>four billion possible IP addresses</a:t>
            </a:r>
            <a:r>
              <a:rPr lang="en-IE" sz="2400" b="1" dirty="0"/>
              <a:t>, not even one for </a:t>
            </a:r>
            <a:r>
              <a:rPr lang="en-IE" sz="2400" b="1" dirty="0" smtClean="0"/>
              <a:t>every person </a:t>
            </a:r>
            <a:r>
              <a:rPr lang="en-IE" sz="2400" b="1" dirty="0"/>
              <a:t>on the planet, much less for every computer. </a:t>
            </a:r>
            <a:endParaRPr lang="en-IE" sz="2400" b="1" dirty="0" smtClean="0"/>
          </a:p>
        </p:txBody>
      </p:sp>
    </p:spTree>
    <p:extLst>
      <p:ext uri="{BB962C8B-B14F-4D97-AF65-F5344CB8AC3E}">
        <p14:creationId xmlns:p14="http://schemas.microsoft.com/office/powerpoint/2010/main" val="3985671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IP Addresses</a:t>
            </a:r>
            <a:endParaRPr lang="en-IE" dirty="0"/>
          </a:p>
        </p:txBody>
      </p:sp>
      <p:pic>
        <p:nvPicPr>
          <p:cNvPr id="17410" name="Picture 2" descr="Image result for ip addr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14400"/>
            <a:ext cx="4572000" cy="2613660"/>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Image result for ip addre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3886200"/>
            <a:ext cx="4610100" cy="276606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mage result for ip addres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944080"/>
            <a:ext cx="4724400" cy="255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84585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IP Addresses…(2)</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400" b="1" dirty="0"/>
              <a:t>A </a:t>
            </a:r>
            <a:r>
              <a:rPr lang="en-IE" sz="2400" b="1" dirty="0">
                <a:solidFill>
                  <a:schemeClr val="tx2"/>
                </a:solidFill>
              </a:rPr>
              <a:t>slow transition is under way to IPv6</a:t>
            </a:r>
            <a:r>
              <a:rPr lang="en-IE" sz="2400" b="1" dirty="0"/>
              <a:t>, which will use </a:t>
            </a:r>
            <a:r>
              <a:rPr lang="en-IE" sz="2400" b="1" dirty="0">
                <a:solidFill>
                  <a:schemeClr val="tx2"/>
                </a:solidFill>
              </a:rPr>
              <a:t>16-byte addresses</a:t>
            </a:r>
            <a:r>
              <a:rPr lang="en-IE" sz="2400" b="1" dirty="0"/>
              <a:t>. </a:t>
            </a:r>
            <a:endParaRPr lang="en-IE" sz="2400" b="1" dirty="0" smtClean="0"/>
          </a:p>
          <a:p>
            <a:r>
              <a:rPr lang="en-IE" sz="2400" b="1" dirty="0" smtClean="0"/>
              <a:t>This </a:t>
            </a:r>
            <a:r>
              <a:rPr lang="en-IE" sz="2400" b="1" dirty="0"/>
              <a:t>provides </a:t>
            </a:r>
            <a:r>
              <a:rPr lang="en-IE" sz="2400" b="1" dirty="0">
                <a:solidFill>
                  <a:schemeClr val="tx2"/>
                </a:solidFill>
              </a:rPr>
              <a:t>enough IP addresses to identify every person</a:t>
            </a:r>
            <a:r>
              <a:rPr lang="en-IE" sz="2400" b="1" dirty="0"/>
              <a:t>, every computer, and indeed every device on the planet. </a:t>
            </a:r>
            <a:endParaRPr lang="en-IE" sz="2400" b="1" dirty="0" smtClean="0"/>
          </a:p>
          <a:p>
            <a:r>
              <a:rPr lang="en-IE" sz="2400" b="1" dirty="0" smtClean="0"/>
              <a:t>IPv6 </a:t>
            </a:r>
            <a:r>
              <a:rPr lang="en-IE" sz="2400" b="1" dirty="0"/>
              <a:t>addresses are customarily written in </a:t>
            </a:r>
            <a:r>
              <a:rPr lang="en-IE" sz="2400" b="1" dirty="0">
                <a:solidFill>
                  <a:schemeClr val="tx2"/>
                </a:solidFill>
              </a:rPr>
              <a:t>eight blocks of four hexadecimal digits</a:t>
            </a:r>
            <a:r>
              <a:rPr lang="en-IE" sz="2400" b="1" dirty="0"/>
              <a:t> separated by colons, such as </a:t>
            </a:r>
            <a:r>
              <a:rPr lang="en-IE" sz="2400" b="1" i="1" dirty="0">
                <a:solidFill>
                  <a:schemeClr val="tx2"/>
                </a:solidFill>
              </a:rPr>
              <a:t>FEDC:BA98:7654:3210:FEDC:BA98:7654:3210</a:t>
            </a:r>
            <a:r>
              <a:rPr lang="en-IE" sz="2400" b="1" dirty="0">
                <a:solidFill>
                  <a:schemeClr val="tx2"/>
                </a:solidFill>
              </a:rPr>
              <a:t>. </a:t>
            </a:r>
          </a:p>
          <a:p>
            <a:r>
              <a:rPr lang="en-IE" sz="2400" b="1" dirty="0"/>
              <a:t>Leading zeros do not need to be written. </a:t>
            </a:r>
            <a:r>
              <a:rPr lang="en-IE" sz="2400" b="1" dirty="0">
                <a:solidFill>
                  <a:schemeClr val="tx2"/>
                </a:solidFill>
              </a:rPr>
              <a:t>A double colon</a:t>
            </a:r>
            <a:r>
              <a:rPr lang="en-IE" sz="2400" b="1" dirty="0"/>
              <a:t>, at most one of which may appear in any address, </a:t>
            </a:r>
            <a:r>
              <a:rPr lang="en-IE" sz="2400" b="1" dirty="0">
                <a:solidFill>
                  <a:schemeClr val="tx2"/>
                </a:solidFill>
              </a:rPr>
              <a:t>indicates multiple zero blocks</a:t>
            </a:r>
            <a:r>
              <a:rPr lang="en-IE" sz="2400" b="1" dirty="0"/>
              <a:t>. For example, </a:t>
            </a:r>
            <a:r>
              <a:rPr lang="en-IE" sz="2400" b="1" i="1" dirty="0">
                <a:solidFill>
                  <a:schemeClr val="tx2"/>
                </a:solidFill>
              </a:rPr>
              <a:t>FEDC:0000:0000:0000:00DC:0000:7076:0010</a:t>
            </a:r>
            <a:r>
              <a:rPr lang="en-IE" sz="2400" b="1" i="1" dirty="0"/>
              <a:t> </a:t>
            </a:r>
            <a:r>
              <a:rPr lang="en-IE" sz="2400" b="1" dirty="0"/>
              <a:t>could be written more compactly as </a:t>
            </a:r>
            <a:r>
              <a:rPr lang="en-IE" sz="2400" b="1" i="1" dirty="0">
                <a:solidFill>
                  <a:schemeClr val="tx2"/>
                </a:solidFill>
              </a:rPr>
              <a:t>FEDC::DC:0:7076:10</a:t>
            </a:r>
            <a:r>
              <a:rPr lang="en-IE" sz="2400" b="1" dirty="0" smtClean="0"/>
              <a:t>.</a:t>
            </a:r>
          </a:p>
          <a:p>
            <a:r>
              <a:rPr lang="en-IE" sz="2400" b="1" dirty="0" smtClean="0"/>
              <a:t>In </a:t>
            </a:r>
            <a:r>
              <a:rPr lang="en-IE" sz="2400" b="1" dirty="0">
                <a:solidFill>
                  <a:schemeClr val="tx2"/>
                </a:solidFill>
              </a:rPr>
              <a:t>mixed networks </a:t>
            </a:r>
            <a:r>
              <a:rPr lang="en-IE" sz="2400" b="1" dirty="0"/>
              <a:t>of IPv6 and IPv4, the </a:t>
            </a:r>
            <a:r>
              <a:rPr lang="en-IE" sz="2400" b="1" dirty="0">
                <a:solidFill>
                  <a:schemeClr val="tx2"/>
                </a:solidFill>
              </a:rPr>
              <a:t>last four bytes of the IPv6 </a:t>
            </a:r>
            <a:r>
              <a:rPr lang="en-IE" sz="2400" b="1" dirty="0"/>
              <a:t>address are sometimes written as an </a:t>
            </a:r>
            <a:r>
              <a:rPr lang="en-IE" sz="2400" b="1" dirty="0">
                <a:solidFill>
                  <a:schemeClr val="tx2"/>
                </a:solidFill>
              </a:rPr>
              <a:t>IPv4 dotted quad address</a:t>
            </a:r>
            <a:r>
              <a:rPr lang="en-IE" sz="2400" b="1" dirty="0"/>
              <a:t>. For example, </a:t>
            </a:r>
            <a:r>
              <a:rPr lang="en-IE" sz="2400" b="1" i="1" dirty="0">
                <a:solidFill>
                  <a:schemeClr val="tx2"/>
                </a:solidFill>
              </a:rPr>
              <a:t>FEDC:BA98:7654:3210:FEDC:BA98:7654:3210</a:t>
            </a:r>
            <a:r>
              <a:rPr lang="en-IE" sz="2400" b="1" i="1" dirty="0"/>
              <a:t> </a:t>
            </a:r>
            <a:r>
              <a:rPr lang="en-IE" sz="2400" b="1" dirty="0"/>
              <a:t>could be written as </a:t>
            </a:r>
            <a:r>
              <a:rPr lang="en-IE" sz="2400" b="1" i="1" dirty="0">
                <a:solidFill>
                  <a:schemeClr val="tx2"/>
                </a:solidFill>
              </a:rPr>
              <a:t>FEDC:BA98:7654:3210:FEDC:BA98:118.84.50.16</a:t>
            </a:r>
            <a:r>
              <a:rPr lang="en-IE" sz="2400" b="1" dirty="0">
                <a:solidFill>
                  <a:schemeClr val="tx2"/>
                </a:solidFill>
              </a:rPr>
              <a:t>.</a:t>
            </a:r>
          </a:p>
        </p:txBody>
      </p:sp>
    </p:spTree>
    <p:extLst>
      <p:ext uri="{BB962C8B-B14F-4D97-AF65-F5344CB8AC3E}">
        <p14:creationId xmlns:p14="http://schemas.microsoft.com/office/powerpoint/2010/main" val="2822609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IP Addresses…(3)</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400" b="1" dirty="0" smtClean="0"/>
              <a:t>All </a:t>
            </a:r>
            <a:r>
              <a:rPr lang="en-IE" sz="2400" b="1" dirty="0"/>
              <a:t>IPv4 addresses that begin with </a:t>
            </a:r>
            <a:r>
              <a:rPr lang="en-IE" sz="2400" b="1" dirty="0">
                <a:solidFill>
                  <a:schemeClr val="tx2"/>
                </a:solidFill>
              </a:rPr>
              <a:t>10</a:t>
            </a:r>
            <a:r>
              <a:rPr lang="en-IE" sz="2400" b="1" dirty="0" smtClean="0">
                <a:solidFill>
                  <a:schemeClr val="tx2"/>
                </a:solidFill>
              </a:rPr>
              <a:t>.,172.16</a:t>
            </a:r>
            <a:r>
              <a:rPr lang="en-IE" sz="2400" b="1" dirty="0"/>
              <a:t>. through </a:t>
            </a:r>
            <a:r>
              <a:rPr lang="en-IE" sz="2400" b="1" dirty="0">
                <a:solidFill>
                  <a:schemeClr val="tx2"/>
                </a:solidFill>
              </a:rPr>
              <a:t>172.31.</a:t>
            </a:r>
            <a:r>
              <a:rPr lang="en-IE" sz="2400" b="1" dirty="0"/>
              <a:t> and </a:t>
            </a:r>
            <a:r>
              <a:rPr lang="en-IE" sz="2400" b="1" dirty="0">
                <a:solidFill>
                  <a:schemeClr val="tx2"/>
                </a:solidFill>
              </a:rPr>
              <a:t>192.168</a:t>
            </a:r>
            <a:r>
              <a:rPr lang="en-IE" sz="2400" b="1" dirty="0"/>
              <a:t>. are </a:t>
            </a:r>
            <a:r>
              <a:rPr lang="en-IE" sz="2400" b="1" dirty="0">
                <a:solidFill>
                  <a:schemeClr val="tx2"/>
                </a:solidFill>
              </a:rPr>
              <a:t>unassigned</a:t>
            </a:r>
            <a:r>
              <a:rPr lang="en-IE" sz="2400" b="1" dirty="0"/>
              <a:t>. </a:t>
            </a:r>
            <a:endParaRPr lang="en-IE" sz="2400" b="1" dirty="0" smtClean="0"/>
          </a:p>
          <a:p>
            <a:r>
              <a:rPr lang="en-IE" sz="2400" b="1" dirty="0" smtClean="0"/>
              <a:t>They </a:t>
            </a:r>
            <a:r>
              <a:rPr lang="en-IE" sz="2400" b="1" dirty="0"/>
              <a:t>can be used on </a:t>
            </a:r>
            <a:r>
              <a:rPr lang="en-IE" sz="2400" b="1" dirty="0" smtClean="0">
                <a:solidFill>
                  <a:schemeClr val="tx2"/>
                </a:solidFill>
              </a:rPr>
              <a:t>internal networks</a:t>
            </a:r>
            <a:r>
              <a:rPr lang="en-IE" sz="2400" b="1" dirty="0"/>
              <a:t>, but no host using addresses in these blocks is allowed onto the global Internet.</a:t>
            </a:r>
          </a:p>
          <a:p>
            <a:r>
              <a:rPr lang="en-IE" sz="2400" b="1" dirty="0"/>
              <a:t>These </a:t>
            </a:r>
            <a:r>
              <a:rPr lang="en-IE" sz="2400" b="1" i="1" dirty="0">
                <a:solidFill>
                  <a:schemeClr val="tx2"/>
                </a:solidFill>
              </a:rPr>
              <a:t>non-routable </a:t>
            </a:r>
            <a:r>
              <a:rPr lang="en-IE" sz="2400" b="1" dirty="0">
                <a:solidFill>
                  <a:schemeClr val="tx2"/>
                </a:solidFill>
              </a:rPr>
              <a:t>addresses </a:t>
            </a:r>
            <a:r>
              <a:rPr lang="en-IE" sz="2400" b="1" dirty="0"/>
              <a:t>are useful for building </a:t>
            </a:r>
            <a:r>
              <a:rPr lang="en-IE" sz="2400" b="1" dirty="0">
                <a:solidFill>
                  <a:schemeClr val="tx2"/>
                </a:solidFill>
              </a:rPr>
              <a:t>private networks</a:t>
            </a:r>
            <a:r>
              <a:rPr lang="en-IE" sz="2400" b="1" dirty="0"/>
              <a:t> that can’t be </a:t>
            </a:r>
            <a:r>
              <a:rPr lang="en-IE" sz="2400" b="1" dirty="0" smtClean="0"/>
              <a:t>seen on </a:t>
            </a:r>
            <a:r>
              <a:rPr lang="en-IE" sz="2400" b="1" dirty="0"/>
              <a:t>the Internet</a:t>
            </a:r>
            <a:r>
              <a:rPr lang="en-IE" sz="2400" b="1" dirty="0" smtClean="0"/>
              <a:t>.</a:t>
            </a:r>
          </a:p>
          <a:p>
            <a:r>
              <a:rPr lang="en-IE" sz="2400" b="1" dirty="0" smtClean="0"/>
              <a:t>IPv4 </a:t>
            </a:r>
            <a:r>
              <a:rPr lang="en-IE" sz="2400" b="1" dirty="0"/>
              <a:t>addresses beginning with 127 (most commonly </a:t>
            </a:r>
            <a:r>
              <a:rPr lang="en-IE" sz="2400" b="1" dirty="0">
                <a:solidFill>
                  <a:schemeClr val="tx2"/>
                </a:solidFill>
              </a:rPr>
              <a:t>127.0.0.1</a:t>
            </a:r>
            <a:r>
              <a:rPr lang="en-IE" sz="2400" b="1" dirty="0"/>
              <a:t>) </a:t>
            </a:r>
            <a:r>
              <a:rPr lang="en-IE" sz="2400" b="1" dirty="0" smtClean="0"/>
              <a:t>always mean </a:t>
            </a:r>
            <a:r>
              <a:rPr lang="en-IE" sz="2400" b="1" dirty="0"/>
              <a:t>the </a:t>
            </a:r>
            <a:r>
              <a:rPr lang="en-IE" sz="2400" b="1" i="1" dirty="0">
                <a:solidFill>
                  <a:schemeClr val="tx2"/>
                </a:solidFill>
              </a:rPr>
              <a:t>local loopback </a:t>
            </a:r>
            <a:r>
              <a:rPr lang="en-IE" sz="2400" b="1" i="1" dirty="0"/>
              <a:t>address</a:t>
            </a:r>
            <a:r>
              <a:rPr lang="en-IE" sz="2400" b="1" dirty="0"/>
              <a:t>. </a:t>
            </a:r>
            <a:endParaRPr lang="en-IE" sz="2400" b="1" dirty="0" smtClean="0"/>
          </a:p>
          <a:p>
            <a:r>
              <a:rPr lang="en-IE" sz="2400" b="1" dirty="0" smtClean="0"/>
              <a:t>That </a:t>
            </a:r>
            <a:r>
              <a:rPr lang="en-IE" sz="2400" b="1" dirty="0"/>
              <a:t>is, these addresses always point to the local computer</a:t>
            </a:r>
            <a:r>
              <a:rPr lang="en-IE" sz="2400" b="1" dirty="0" smtClean="0"/>
              <a:t>, no </a:t>
            </a:r>
            <a:r>
              <a:rPr lang="en-IE" sz="2400" b="1" dirty="0"/>
              <a:t>matter which computer you’re running on. </a:t>
            </a:r>
            <a:endParaRPr lang="en-IE" sz="2400" b="1" dirty="0" smtClean="0"/>
          </a:p>
          <a:p>
            <a:r>
              <a:rPr lang="en-IE" sz="2400" b="1" dirty="0" smtClean="0"/>
              <a:t>The </a:t>
            </a:r>
            <a:r>
              <a:rPr lang="en-IE" sz="2400" b="1" dirty="0"/>
              <a:t>hostname for this address </a:t>
            </a:r>
            <a:r>
              <a:rPr lang="en-IE" sz="2400" b="1" dirty="0" smtClean="0"/>
              <a:t>is often </a:t>
            </a:r>
            <a:r>
              <a:rPr lang="en-IE" sz="2400" b="1" i="1" dirty="0">
                <a:solidFill>
                  <a:schemeClr val="tx2"/>
                </a:solidFill>
              </a:rPr>
              <a:t>localhost</a:t>
            </a:r>
            <a:r>
              <a:rPr lang="en-IE" sz="2400" b="1" dirty="0"/>
              <a:t>. </a:t>
            </a:r>
            <a:endParaRPr lang="en-IE" sz="2400" b="1" dirty="0" smtClean="0"/>
          </a:p>
          <a:p>
            <a:r>
              <a:rPr lang="en-IE" sz="2400" b="1" dirty="0" smtClean="0"/>
              <a:t>In </a:t>
            </a:r>
            <a:r>
              <a:rPr lang="en-IE" sz="2400" b="1" dirty="0">
                <a:solidFill>
                  <a:schemeClr val="tx2"/>
                </a:solidFill>
              </a:rPr>
              <a:t>IPv6, 0:0:0:0:0:0:0:1 </a:t>
            </a:r>
            <a:r>
              <a:rPr lang="en-IE" sz="2400" b="1" dirty="0"/>
              <a:t>(a.k.a. ::1) is the loopback address. </a:t>
            </a:r>
            <a:endParaRPr lang="en-IE" sz="2400" b="1" dirty="0" smtClean="0"/>
          </a:p>
        </p:txBody>
      </p:sp>
    </p:spTree>
    <p:extLst>
      <p:ext uri="{BB962C8B-B14F-4D97-AF65-F5344CB8AC3E}">
        <p14:creationId xmlns:p14="http://schemas.microsoft.com/office/powerpoint/2010/main" val="225336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smtClean="0"/>
              <a:t>IP Addresses…(4)</a:t>
            </a:r>
            <a:endParaRPr lang="en-IE" dirty="0"/>
          </a:p>
        </p:txBody>
      </p:sp>
      <p:sp>
        <p:nvSpPr>
          <p:cNvPr id="3" name="Content Placeholder 2"/>
          <p:cNvSpPr>
            <a:spLocks noGrp="1"/>
          </p:cNvSpPr>
          <p:nvPr>
            <p:ph idx="1"/>
          </p:nvPr>
        </p:nvSpPr>
        <p:spPr>
          <a:xfrm>
            <a:off x="0" y="609600"/>
            <a:ext cx="9144000" cy="6248400"/>
          </a:xfrm>
        </p:spPr>
        <p:txBody>
          <a:bodyPr>
            <a:noAutofit/>
          </a:bodyPr>
          <a:lstStyle/>
          <a:p>
            <a:r>
              <a:rPr lang="en-IE" sz="2400" b="1" dirty="0">
                <a:solidFill>
                  <a:schemeClr val="tx2"/>
                </a:solidFill>
              </a:rPr>
              <a:t>The address 0.0.0.0 always refers to the originating host</a:t>
            </a:r>
            <a:r>
              <a:rPr lang="en-IE" sz="2400" b="1" dirty="0"/>
              <a:t>, but may only be used as a source address, not a destination. </a:t>
            </a:r>
            <a:endParaRPr lang="en-IE" sz="2400" b="1" dirty="0" smtClean="0"/>
          </a:p>
          <a:p>
            <a:r>
              <a:rPr lang="en-IE" sz="2400" b="1" dirty="0" smtClean="0"/>
              <a:t>Similarly</a:t>
            </a:r>
            <a:r>
              <a:rPr lang="en-IE" sz="2400" b="1" dirty="0"/>
              <a:t>, any IPv4 address that </a:t>
            </a:r>
            <a:r>
              <a:rPr lang="en-IE" sz="2400" b="1" dirty="0">
                <a:solidFill>
                  <a:schemeClr val="tx2"/>
                </a:solidFill>
              </a:rPr>
              <a:t>begins with 0</a:t>
            </a:r>
            <a:r>
              <a:rPr lang="en-IE" sz="2400" b="1" dirty="0"/>
              <a:t>. (eight zero bits) is assumed to </a:t>
            </a:r>
            <a:r>
              <a:rPr lang="en-IE" sz="2400" b="1" dirty="0">
                <a:solidFill>
                  <a:schemeClr val="tx2"/>
                </a:solidFill>
              </a:rPr>
              <a:t>refer to a host on the same local network</a:t>
            </a:r>
            <a:r>
              <a:rPr lang="en-IE" sz="2400" b="1" dirty="0"/>
              <a:t>.</a:t>
            </a:r>
          </a:p>
          <a:p>
            <a:r>
              <a:rPr lang="en-IE" sz="2400" b="1" dirty="0"/>
              <a:t>The IPv4 address that uses the same number for each of the four bytes (i.e.,</a:t>
            </a:r>
            <a:r>
              <a:rPr lang="en-IE" sz="2400" b="1" dirty="0">
                <a:solidFill>
                  <a:schemeClr val="tx2"/>
                </a:solidFill>
              </a:rPr>
              <a:t>255.255.255.255</a:t>
            </a:r>
            <a:r>
              <a:rPr lang="en-IE" sz="2400" b="1" dirty="0"/>
              <a:t>), is a </a:t>
            </a:r>
            <a:r>
              <a:rPr lang="en-IE" sz="2400" b="1" dirty="0">
                <a:solidFill>
                  <a:schemeClr val="tx2"/>
                </a:solidFill>
              </a:rPr>
              <a:t>broadcast address</a:t>
            </a:r>
            <a:r>
              <a:rPr lang="en-IE" sz="2400" b="1" dirty="0"/>
              <a:t>. Packets sent to this address are received by all nodes on the local network, though they are not routed beyond the local network. </a:t>
            </a:r>
          </a:p>
          <a:p>
            <a:r>
              <a:rPr lang="en-IE" sz="2400" b="1" dirty="0"/>
              <a:t>This is commonly used for </a:t>
            </a:r>
            <a:r>
              <a:rPr lang="en-IE" sz="2400" b="1" dirty="0">
                <a:solidFill>
                  <a:schemeClr val="tx2"/>
                </a:solidFill>
              </a:rPr>
              <a:t>discovery</a:t>
            </a:r>
            <a:r>
              <a:rPr lang="en-IE" sz="2400" b="1" dirty="0"/>
              <a:t>. </a:t>
            </a:r>
            <a:endParaRPr lang="en-IE" sz="2400" b="1" dirty="0" smtClean="0"/>
          </a:p>
          <a:p>
            <a:pPr lvl="1"/>
            <a:r>
              <a:rPr lang="en-IE" sz="1800" b="1" dirty="0" smtClean="0"/>
              <a:t>For </a:t>
            </a:r>
            <a:r>
              <a:rPr lang="en-IE" sz="1800" b="1" dirty="0"/>
              <a:t>instance, when an ephemeral client such as </a:t>
            </a:r>
            <a:r>
              <a:rPr lang="en-IE" sz="1800" b="1" dirty="0">
                <a:solidFill>
                  <a:schemeClr val="tx2"/>
                </a:solidFill>
              </a:rPr>
              <a:t>a laptop boots up</a:t>
            </a:r>
            <a:r>
              <a:rPr lang="en-IE" sz="1800" b="1" dirty="0"/>
              <a:t>, it will send a particular </a:t>
            </a:r>
            <a:r>
              <a:rPr lang="en-IE" sz="1800" b="1" dirty="0">
                <a:solidFill>
                  <a:schemeClr val="tx2"/>
                </a:solidFill>
              </a:rPr>
              <a:t>message to 255.255.255.255 </a:t>
            </a:r>
            <a:r>
              <a:rPr lang="en-IE" sz="1800" b="1" dirty="0"/>
              <a:t>to find the local </a:t>
            </a:r>
            <a:r>
              <a:rPr lang="en-IE" sz="1800" b="1" dirty="0">
                <a:solidFill>
                  <a:schemeClr val="tx2"/>
                </a:solidFill>
              </a:rPr>
              <a:t>DHCP server</a:t>
            </a:r>
            <a:r>
              <a:rPr lang="en-IE" sz="1800" b="1" dirty="0"/>
              <a:t>. All nodes on the network receive the packet, </a:t>
            </a:r>
            <a:r>
              <a:rPr lang="en-IE" sz="1800" b="1" dirty="0">
                <a:solidFill>
                  <a:schemeClr val="tx2"/>
                </a:solidFill>
              </a:rPr>
              <a:t>but only the DHCP server responds</a:t>
            </a:r>
            <a:r>
              <a:rPr lang="en-IE" sz="1800" b="1" dirty="0"/>
              <a:t>. </a:t>
            </a:r>
          </a:p>
          <a:p>
            <a:pPr lvl="1"/>
            <a:r>
              <a:rPr lang="en-IE" sz="2000" b="1" dirty="0"/>
              <a:t>In particular, </a:t>
            </a:r>
            <a:r>
              <a:rPr lang="en-IE" sz="2000" b="1" dirty="0" smtClean="0"/>
              <a:t>DHCP sends </a:t>
            </a:r>
            <a:r>
              <a:rPr lang="en-IE" sz="2000" b="1" dirty="0"/>
              <a:t>the </a:t>
            </a:r>
            <a:r>
              <a:rPr lang="en-IE" sz="2000" b="1" dirty="0">
                <a:solidFill>
                  <a:schemeClr val="tx2"/>
                </a:solidFill>
              </a:rPr>
              <a:t>laptop information about the local network configuration</a:t>
            </a:r>
            <a:r>
              <a:rPr lang="en-IE" sz="2000" b="1" dirty="0"/>
              <a:t>, including the </a:t>
            </a:r>
            <a:r>
              <a:rPr lang="en-IE" sz="2000" b="1" dirty="0">
                <a:solidFill>
                  <a:schemeClr val="tx2"/>
                </a:solidFill>
              </a:rPr>
              <a:t>IP address that laptop should use </a:t>
            </a:r>
            <a:r>
              <a:rPr lang="en-IE" sz="2000" b="1" dirty="0"/>
              <a:t>for the remainder of its session </a:t>
            </a:r>
            <a:r>
              <a:rPr lang="en-IE" sz="2000" b="1" dirty="0">
                <a:solidFill>
                  <a:schemeClr val="tx2"/>
                </a:solidFill>
              </a:rPr>
              <a:t>and the address of a DNS server </a:t>
            </a:r>
            <a:r>
              <a:rPr lang="en-IE" sz="2000" b="1" dirty="0"/>
              <a:t>it can use to resolve hostnames</a:t>
            </a:r>
          </a:p>
        </p:txBody>
      </p:sp>
    </p:spTree>
    <p:extLst>
      <p:ext uri="{BB962C8B-B14F-4D97-AF65-F5344CB8AC3E}">
        <p14:creationId xmlns:p14="http://schemas.microsoft.com/office/powerpoint/2010/main" val="2742093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smtClean="0"/>
              <a:t>IP Address Blocks</a:t>
            </a:r>
          </a:p>
        </p:txBody>
      </p:sp>
      <p:sp>
        <p:nvSpPr>
          <p:cNvPr id="16387" name="Rectangle 3"/>
          <p:cNvSpPr>
            <a:spLocks noGrp="1" noChangeArrowheads="1"/>
          </p:cNvSpPr>
          <p:nvPr>
            <p:ph type="body" idx="1"/>
          </p:nvPr>
        </p:nvSpPr>
        <p:spPr>
          <a:xfrm>
            <a:off x="76200" y="914400"/>
            <a:ext cx="8991600" cy="5943600"/>
          </a:xfrm>
        </p:spPr>
        <p:txBody>
          <a:bodyPr>
            <a:normAutofit fontScale="85000" lnSpcReduction="20000"/>
          </a:bodyPr>
          <a:lstStyle/>
          <a:p>
            <a:r>
              <a:rPr lang="en-IE" sz="2800" b="1" dirty="0">
                <a:solidFill>
                  <a:schemeClr val="tx2"/>
                </a:solidFill>
              </a:rPr>
              <a:t>Blocks of IPv4 addresses </a:t>
            </a:r>
            <a:r>
              <a:rPr lang="en-IE" sz="2800" b="1" dirty="0"/>
              <a:t>are assigned to Internet service providers (ISPs) by their regional Internet registry. </a:t>
            </a:r>
          </a:p>
          <a:p>
            <a:r>
              <a:rPr lang="en-IE" sz="2800" b="1" dirty="0"/>
              <a:t>When a </a:t>
            </a:r>
            <a:r>
              <a:rPr lang="en-IE" sz="2800" b="1" dirty="0">
                <a:solidFill>
                  <a:schemeClr val="tx2"/>
                </a:solidFill>
              </a:rPr>
              <a:t>company</a:t>
            </a:r>
            <a:r>
              <a:rPr lang="en-IE" sz="2800" b="1" dirty="0"/>
              <a:t> or an organization </a:t>
            </a:r>
            <a:r>
              <a:rPr lang="en-IE" sz="2800" b="1" dirty="0">
                <a:solidFill>
                  <a:schemeClr val="tx2"/>
                </a:solidFill>
              </a:rPr>
              <a:t>wants to set up an IP-based network</a:t>
            </a:r>
            <a:r>
              <a:rPr lang="en-IE" sz="2800" b="1" dirty="0"/>
              <a:t> connected to the Internet, </a:t>
            </a:r>
            <a:r>
              <a:rPr lang="en-IE" sz="2800" b="1" dirty="0">
                <a:solidFill>
                  <a:schemeClr val="tx2"/>
                </a:solidFill>
              </a:rPr>
              <a:t>their ISP assigns them a block of addresses</a:t>
            </a:r>
            <a:r>
              <a:rPr lang="en-IE" sz="2800" b="1" dirty="0"/>
              <a:t>. </a:t>
            </a:r>
          </a:p>
          <a:p>
            <a:r>
              <a:rPr lang="en-IE" sz="2800" b="1" dirty="0"/>
              <a:t>Each block has a </a:t>
            </a:r>
            <a:r>
              <a:rPr lang="en-IE" sz="2800" b="1" dirty="0">
                <a:solidFill>
                  <a:schemeClr val="tx2"/>
                </a:solidFill>
              </a:rPr>
              <a:t>fixed prefix</a:t>
            </a:r>
            <a:r>
              <a:rPr lang="en-IE" sz="2800" b="1" dirty="0"/>
              <a:t>. For instance if the prefix is </a:t>
            </a:r>
            <a:r>
              <a:rPr lang="en-IE" sz="2800" b="1" dirty="0">
                <a:solidFill>
                  <a:schemeClr val="tx2"/>
                </a:solidFill>
              </a:rPr>
              <a:t>216.254.85</a:t>
            </a:r>
            <a:r>
              <a:rPr lang="en-IE" sz="2800" b="1" dirty="0"/>
              <a:t>, then the local network can use addresses from </a:t>
            </a:r>
            <a:r>
              <a:rPr lang="en-IE" sz="2800" b="1" dirty="0">
                <a:solidFill>
                  <a:schemeClr val="tx2"/>
                </a:solidFill>
              </a:rPr>
              <a:t>216.254.85.0 to 216.254.85.255</a:t>
            </a:r>
            <a:r>
              <a:rPr lang="en-IE" sz="2800" b="1" dirty="0"/>
              <a:t>. </a:t>
            </a:r>
          </a:p>
          <a:p>
            <a:r>
              <a:rPr lang="en-IE" sz="2800" b="1" dirty="0"/>
              <a:t>Because this block fixes the first 24 bits, it’s called a /24. </a:t>
            </a:r>
          </a:p>
          <a:p>
            <a:r>
              <a:rPr lang="en-IE" sz="2800" b="1" dirty="0">
                <a:solidFill>
                  <a:schemeClr val="tx2"/>
                </a:solidFill>
              </a:rPr>
              <a:t>A /23 specifies the first 23 bits</a:t>
            </a:r>
            <a:r>
              <a:rPr lang="en-IE" sz="2800" b="1" dirty="0"/>
              <a:t>, leaving 9 bits for 512 total local IP addresses. </a:t>
            </a:r>
          </a:p>
          <a:p>
            <a:r>
              <a:rPr lang="en-IE" sz="2800" b="1" dirty="0">
                <a:solidFill>
                  <a:schemeClr val="tx2"/>
                </a:solidFill>
              </a:rPr>
              <a:t>A /30 subnet (</a:t>
            </a:r>
            <a:r>
              <a:rPr lang="en-IE" sz="2800" b="1" dirty="0"/>
              <a:t>the smallest possible) specifies the first 30 bits of the IP addresses within the subnetwork, leaving 2 bits for 4 total local IP addresses. </a:t>
            </a:r>
          </a:p>
          <a:p>
            <a:r>
              <a:rPr lang="en-IE" sz="2800" b="1" dirty="0"/>
              <a:t>However, the </a:t>
            </a:r>
            <a:r>
              <a:rPr lang="en-IE" sz="2800" b="1" dirty="0">
                <a:solidFill>
                  <a:schemeClr val="tx2"/>
                </a:solidFill>
              </a:rPr>
              <a:t>lowest address in all block used to identify the network itself</a:t>
            </a:r>
            <a:r>
              <a:rPr lang="en-IE" sz="2800" b="1" dirty="0"/>
              <a:t>, and the </a:t>
            </a:r>
            <a:r>
              <a:rPr lang="en-IE" sz="2800" b="1" dirty="0">
                <a:solidFill>
                  <a:schemeClr val="tx2"/>
                </a:solidFill>
              </a:rPr>
              <a:t>largest address is a broadcast address for the network,</a:t>
            </a:r>
            <a:r>
              <a:rPr lang="en-IE" sz="2800" b="1" dirty="0"/>
              <a:t> so you have two fewer available addresses than you might first expect.</a:t>
            </a:r>
            <a:endParaRPr lang="en-US" altLang="en-US" sz="2800" b="1" dirty="0"/>
          </a:p>
        </p:txBody>
      </p:sp>
    </p:spTree>
    <p:extLst>
      <p:ext uri="{BB962C8B-B14F-4D97-AF65-F5344CB8AC3E}">
        <p14:creationId xmlns:p14="http://schemas.microsoft.com/office/powerpoint/2010/main" val="3214914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457200" y="0"/>
            <a:ext cx="8229600" cy="639762"/>
          </a:xfrm>
        </p:spPr>
        <p:txBody>
          <a:bodyPr>
            <a:normAutofit fontScale="90000"/>
          </a:bodyPr>
          <a:lstStyle/>
          <a:p>
            <a:r>
              <a:rPr lang="en-US" altLang="en-US" dirty="0" smtClean="0"/>
              <a:t>DNS - Domain name system </a:t>
            </a:r>
          </a:p>
        </p:txBody>
      </p:sp>
      <p:sp>
        <p:nvSpPr>
          <p:cNvPr id="8196" name="Rectangle 3"/>
          <p:cNvSpPr>
            <a:spLocks noGrp="1" noChangeArrowheads="1"/>
          </p:cNvSpPr>
          <p:nvPr>
            <p:ph type="body" idx="1"/>
          </p:nvPr>
        </p:nvSpPr>
        <p:spPr>
          <a:xfrm>
            <a:off x="0" y="762000"/>
            <a:ext cx="9144000" cy="6096000"/>
          </a:xfrm>
        </p:spPr>
        <p:txBody>
          <a:bodyPr>
            <a:normAutofit/>
          </a:bodyPr>
          <a:lstStyle/>
          <a:p>
            <a:r>
              <a:rPr lang="en-IE" b="1" dirty="0"/>
              <a:t>Although </a:t>
            </a:r>
            <a:r>
              <a:rPr lang="en-IE" b="1" dirty="0">
                <a:solidFill>
                  <a:schemeClr val="tx2"/>
                </a:solidFill>
              </a:rPr>
              <a:t>computers are very comfortable with numbers</a:t>
            </a:r>
            <a:r>
              <a:rPr lang="en-IE" b="1" dirty="0"/>
              <a:t>, human beings </a:t>
            </a:r>
            <a:r>
              <a:rPr lang="en-IE" b="1" dirty="0">
                <a:solidFill>
                  <a:schemeClr val="tx2"/>
                </a:solidFill>
              </a:rPr>
              <a:t>aren’t very </a:t>
            </a:r>
            <a:r>
              <a:rPr lang="en-IE" b="1" dirty="0" smtClean="0">
                <a:solidFill>
                  <a:schemeClr val="tx2"/>
                </a:solidFill>
              </a:rPr>
              <a:t>good </a:t>
            </a:r>
            <a:r>
              <a:rPr lang="en-IE" b="1" dirty="0" smtClean="0"/>
              <a:t>at </a:t>
            </a:r>
            <a:r>
              <a:rPr lang="en-IE" b="1" dirty="0"/>
              <a:t>remembering them. </a:t>
            </a:r>
            <a:endParaRPr lang="en-IE" b="1" dirty="0" smtClean="0"/>
          </a:p>
          <a:p>
            <a:r>
              <a:rPr lang="en-IE" b="1" dirty="0" smtClean="0"/>
              <a:t>Therefore</a:t>
            </a:r>
            <a:r>
              <a:rPr lang="en-IE" b="1" dirty="0"/>
              <a:t>, the </a:t>
            </a:r>
            <a:r>
              <a:rPr lang="en-IE" b="1" dirty="0">
                <a:solidFill>
                  <a:schemeClr val="tx2"/>
                </a:solidFill>
              </a:rPr>
              <a:t>Domain Name System (DNS) </a:t>
            </a:r>
            <a:r>
              <a:rPr lang="en-IE" b="1" dirty="0"/>
              <a:t>was developed </a:t>
            </a:r>
            <a:r>
              <a:rPr lang="en-IE" b="1" dirty="0" smtClean="0"/>
              <a:t>to translate </a:t>
            </a:r>
            <a:r>
              <a:rPr lang="en-IE" b="1" dirty="0"/>
              <a:t>hostnames that humans can remember, such as “</a:t>
            </a:r>
            <a:r>
              <a:rPr lang="en-IE" b="1" dirty="0">
                <a:solidFill>
                  <a:schemeClr val="tx2"/>
                </a:solidFill>
              </a:rPr>
              <a:t>www.oreilly.com</a:t>
            </a:r>
            <a:r>
              <a:rPr lang="en-IE" b="1" dirty="0"/>
              <a:t>,” into </a:t>
            </a:r>
            <a:r>
              <a:rPr lang="en-IE" b="1" dirty="0" smtClean="0"/>
              <a:t>numeric Internet </a:t>
            </a:r>
            <a:r>
              <a:rPr lang="en-IE" b="1" dirty="0"/>
              <a:t>addresses such as </a:t>
            </a:r>
            <a:r>
              <a:rPr lang="en-IE" b="1" dirty="0">
                <a:solidFill>
                  <a:schemeClr val="tx2"/>
                </a:solidFill>
              </a:rPr>
              <a:t>208.201.239.101</a:t>
            </a:r>
            <a:r>
              <a:rPr lang="en-IE" b="1" dirty="0"/>
              <a:t>.</a:t>
            </a:r>
            <a:endParaRPr lang="en-US" altLang="en-US" b="1" dirty="0"/>
          </a:p>
          <a:p>
            <a:r>
              <a:rPr lang="en-US" altLang="en-US" b="1" dirty="0" smtClean="0"/>
              <a:t>The Domain Name system (DNS) associates various sorts of information with so-called </a:t>
            </a:r>
            <a:r>
              <a:rPr lang="en-US" altLang="en-US" b="1" dirty="0" smtClean="0">
                <a:solidFill>
                  <a:schemeClr val="tx2"/>
                </a:solidFill>
              </a:rPr>
              <a:t>domain names</a:t>
            </a:r>
            <a:r>
              <a:rPr lang="en-US" altLang="en-US" b="1" dirty="0" smtClean="0"/>
              <a:t>.</a:t>
            </a:r>
          </a:p>
        </p:txBody>
      </p:sp>
    </p:spTree>
    <p:extLst>
      <p:ext uri="{BB962C8B-B14F-4D97-AF65-F5344CB8AC3E}">
        <p14:creationId xmlns:p14="http://schemas.microsoft.com/office/powerpoint/2010/main" val="1435417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19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457200" y="0"/>
            <a:ext cx="8229600" cy="639762"/>
          </a:xfrm>
        </p:spPr>
        <p:txBody>
          <a:bodyPr>
            <a:normAutofit fontScale="90000"/>
          </a:bodyPr>
          <a:lstStyle/>
          <a:p>
            <a:r>
              <a:rPr lang="en-US" altLang="en-US" dirty="0" smtClean="0"/>
              <a:t>DNS - Domain name system </a:t>
            </a:r>
          </a:p>
        </p:txBody>
      </p:sp>
      <p:pic>
        <p:nvPicPr>
          <p:cNvPr id="19459"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35059" y="1066800"/>
            <a:ext cx="8473882" cy="5592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98644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457200" y="0"/>
            <a:ext cx="8229600" cy="639762"/>
          </a:xfrm>
        </p:spPr>
        <p:txBody>
          <a:bodyPr>
            <a:normAutofit fontScale="90000"/>
          </a:bodyPr>
          <a:lstStyle/>
          <a:p>
            <a:r>
              <a:rPr lang="en-US" altLang="en-US" dirty="0" smtClean="0"/>
              <a:t>DNS - Domain name system…(2) </a:t>
            </a:r>
          </a:p>
        </p:txBody>
      </p:sp>
      <p:sp>
        <p:nvSpPr>
          <p:cNvPr id="8196" name="Rectangle 3"/>
          <p:cNvSpPr>
            <a:spLocks noGrp="1" noChangeArrowheads="1"/>
          </p:cNvSpPr>
          <p:nvPr>
            <p:ph type="body" idx="1"/>
          </p:nvPr>
        </p:nvSpPr>
        <p:spPr>
          <a:xfrm>
            <a:off x="0" y="762000"/>
            <a:ext cx="9144000" cy="6096000"/>
          </a:xfrm>
        </p:spPr>
        <p:txBody>
          <a:bodyPr>
            <a:normAutofit/>
          </a:bodyPr>
          <a:lstStyle/>
          <a:p>
            <a:r>
              <a:rPr lang="en-US" altLang="en-US" sz="2800" b="1" dirty="0" smtClean="0"/>
              <a:t>Most importantly, it serves as the "</a:t>
            </a:r>
            <a:r>
              <a:rPr lang="en-US" altLang="en-US" sz="2800" b="1" dirty="0" smtClean="0">
                <a:solidFill>
                  <a:schemeClr val="tx2"/>
                </a:solidFill>
              </a:rPr>
              <a:t>phone book</a:t>
            </a:r>
            <a:r>
              <a:rPr lang="en-US" altLang="en-US" sz="2800" b="1" dirty="0" smtClean="0"/>
              <a:t>" for the Internet by </a:t>
            </a:r>
            <a:r>
              <a:rPr lang="en-US" altLang="en-US" sz="2800" b="1" dirty="0" smtClean="0">
                <a:solidFill>
                  <a:schemeClr val="tx2"/>
                </a:solidFill>
              </a:rPr>
              <a:t>translating human-readable computer hostnames</a:t>
            </a:r>
            <a:r>
              <a:rPr lang="en-US" altLang="en-US" sz="2800" b="1" dirty="0" smtClean="0"/>
              <a:t>.</a:t>
            </a:r>
          </a:p>
          <a:p>
            <a:r>
              <a:rPr lang="en-US" altLang="en-US" sz="2800" b="1" dirty="0" smtClean="0"/>
              <a:t>It also stores other information such as the </a:t>
            </a:r>
            <a:r>
              <a:rPr lang="en-US" altLang="en-US" sz="2800" b="1" dirty="0" smtClean="0">
                <a:solidFill>
                  <a:schemeClr val="tx2"/>
                </a:solidFill>
              </a:rPr>
              <a:t>list of mail exchange servers</a:t>
            </a:r>
            <a:r>
              <a:rPr lang="en-US" altLang="en-US" sz="2800" b="1" dirty="0" smtClean="0"/>
              <a:t> that accept email for a given domain. </a:t>
            </a:r>
          </a:p>
          <a:p>
            <a:r>
              <a:rPr lang="en-IE" sz="2800" b="1" dirty="0"/>
              <a:t>When Java programs access the network, they need to process both these numeric addresses and their corresponding hostnames.</a:t>
            </a:r>
          </a:p>
        </p:txBody>
      </p:sp>
    </p:spTree>
    <p:extLst>
      <p:ext uri="{BB962C8B-B14F-4D97-AF65-F5344CB8AC3E}">
        <p14:creationId xmlns:p14="http://schemas.microsoft.com/office/powerpoint/2010/main" val="31558989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smtClean="0"/>
              <a:t>Ports</a:t>
            </a:r>
          </a:p>
        </p:txBody>
      </p:sp>
      <p:sp>
        <p:nvSpPr>
          <p:cNvPr id="16387" name="Rectangle 3"/>
          <p:cNvSpPr>
            <a:spLocks noGrp="1" noChangeArrowheads="1"/>
          </p:cNvSpPr>
          <p:nvPr>
            <p:ph type="body" idx="1"/>
          </p:nvPr>
        </p:nvSpPr>
        <p:spPr>
          <a:xfrm>
            <a:off x="76200" y="914400"/>
            <a:ext cx="8991600" cy="5943600"/>
          </a:xfrm>
        </p:spPr>
        <p:txBody>
          <a:bodyPr>
            <a:normAutofit fontScale="85000" lnSpcReduction="10000"/>
          </a:bodyPr>
          <a:lstStyle/>
          <a:p>
            <a:r>
              <a:rPr lang="en-IE" b="1" dirty="0"/>
              <a:t>Addresses would be all you needed </a:t>
            </a:r>
            <a:r>
              <a:rPr lang="en-IE" b="1" dirty="0">
                <a:solidFill>
                  <a:schemeClr val="tx2"/>
                </a:solidFill>
              </a:rPr>
              <a:t>if each computer did no more than one thing at </a:t>
            </a:r>
            <a:r>
              <a:rPr lang="en-IE" b="1" dirty="0" smtClean="0">
                <a:solidFill>
                  <a:schemeClr val="tx2"/>
                </a:solidFill>
              </a:rPr>
              <a:t>a time</a:t>
            </a:r>
            <a:r>
              <a:rPr lang="en-IE" b="1" dirty="0"/>
              <a:t>. </a:t>
            </a:r>
            <a:endParaRPr lang="en-IE" b="1" dirty="0" smtClean="0"/>
          </a:p>
          <a:p>
            <a:r>
              <a:rPr lang="en-IE" b="1" dirty="0" smtClean="0"/>
              <a:t>However</a:t>
            </a:r>
            <a:r>
              <a:rPr lang="en-IE" b="1" dirty="0"/>
              <a:t>, </a:t>
            </a:r>
            <a:r>
              <a:rPr lang="en-IE" b="1" dirty="0">
                <a:solidFill>
                  <a:schemeClr val="tx2"/>
                </a:solidFill>
              </a:rPr>
              <a:t>modern computers do many different things </a:t>
            </a:r>
            <a:r>
              <a:rPr lang="en-IE" b="1" dirty="0"/>
              <a:t>at once. </a:t>
            </a:r>
            <a:endParaRPr lang="en-IE" b="1" dirty="0" smtClean="0"/>
          </a:p>
          <a:p>
            <a:r>
              <a:rPr lang="en-IE" b="1" dirty="0" smtClean="0">
                <a:solidFill>
                  <a:schemeClr val="tx2"/>
                </a:solidFill>
              </a:rPr>
              <a:t>Email</a:t>
            </a:r>
            <a:r>
              <a:rPr lang="en-IE" b="1" dirty="0" smtClean="0"/>
              <a:t> </a:t>
            </a:r>
            <a:r>
              <a:rPr lang="en-IE" b="1" dirty="0"/>
              <a:t>needs to </a:t>
            </a:r>
            <a:r>
              <a:rPr lang="en-IE" b="1" dirty="0" smtClean="0"/>
              <a:t>be separated </a:t>
            </a:r>
            <a:r>
              <a:rPr lang="en-IE" b="1" dirty="0"/>
              <a:t>from </a:t>
            </a:r>
            <a:r>
              <a:rPr lang="en-IE" b="1" dirty="0">
                <a:solidFill>
                  <a:schemeClr val="tx2"/>
                </a:solidFill>
              </a:rPr>
              <a:t>FTP</a:t>
            </a:r>
            <a:r>
              <a:rPr lang="en-IE" b="1" dirty="0"/>
              <a:t> requests, which need to be separated from web traffic. </a:t>
            </a:r>
            <a:endParaRPr lang="en-IE" b="1" dirty="0" smtClean="0"/>
          </a:p>
          <a:p>
            <a:r>
              <a:rPr lang="en-IE" b="1" dirty="0" smtClean="0"/>
              <a:t>This </a:t>
            </a:r>
            <a:r>
              <a:rPr lang="en-IE" b="1" dirty="0"/>
              <a:t>is </a:t>
            </a:r>
            <a:r>
              <a:rPr lang="en-IE" b="1" dirty="0" smtClean="0"/>
              <a:t>accomplished through </a:t>
            </a:r>
            <a:r>
              <a:rPr lang="en-IE" b="1" i="1" dirty="0">
                <a:solidFill>
                  <a:schemeClr val="tx2"/>
                </a:solidFill>
              </a:rPr>
              <a:t>ports</a:t>
            </a:r>
            <a:r>
              <a:rPr lang="en-IE" b="1" dirty="0"/>
              <a:t>. </a:t>
            </a:r>
            <a:endParaRPr lang="en-IE" b="1" dirty="0" smtClean="0"/>
          </a:p>
          <a:p>
            <a:r>
              <a:rPr lang="en-IE" b="1" dirty="0" smtClean="0"/>
              <a:t>Each </a:t>
            </a:r>
            <a:r>
              <a:rPr lang="en-IE" b="1" dirty="0"/>
              <a:t>computer with an IP address has several </a:t>
            </a:r>
            <a:r>
              <a:rPr lang="en-IE" b="1" dirty="0" smtClean="0"/>
              <a:t>thousand </a:t>
            </a:r>
            <a:r>
              <a:rPr lang="en-IE" b="1" dirty="0" smtClean="0">
                <a:solidFill>
                  <a:schemeClr val="tx2"/>
                </a:solidFill>
              </a:rPr>
              <a:t>logical </a:t>
            </a:r>
            <a:r>
              <a:rPr lang="en-IE" b="1" dirty="0">
                <a:solidFill>
                  <a:schemeClr val="tx2"/>
                </a:solidFill>
              </a:rPr>
              <a:t>ports </a:t>
            </a:r>
            <a:r>
              <a:rPr lang="en-IE" b="1" dirty="0"/>
              <a:t>(</a:t>
            </a:r>
            <a:r>
              <a:rPr lang="en-IE" b="1" dirty="0">
                <a:solidFill>
                  <a:schemeClr val="tx2"/>
                </a:solidFill>
              </a:rPr>
              <a:t>65,535</a:t>
            </a:r>
            <a:r>
              <a:rPr lang="en-IE" b="1" dirty="0"/>
              <a:t> per transport layer protocol, to be precise). </a:t>
            </a:r>
            <a:endParaRPr lang="en-IE" b="1" dirty="0" smtClean="0"/>
          </a:p>
          <a:p>
            <a:r>
              <a:rPr lang="en-IE" b="1" dirty="0" smtClean="0"/>
              <a:t>These </a:t>
            </a:r>
            <a:r>
              <a:rPr lang="en-IE" b="1" dirty="0"/>
              <a:t>are purely </a:t>
            </a:r>
            <a:r>
              <a:rPr lang="en-IE" b="1" dirty="0" smtClean="0"/>
              <a:t>abstractions in </a:t>
            </a:r>
            <a:r>
              <a:rPr lang="en-IE" b="1" dirty="0"/>
              <a:t>the computer’s memory and </a:t>
            </a:r>
            <a:r>
              <a:rPr lang="en-IE" b="1" dirty="0">
                <a:solidFill>
                  <a:schemeClr val="tx2"/>
                </a:solidFill>
              </a:rPr>
              <a:t>do not represent anything physical, like a </a:t>
            </a:r>
            <a:r>
              <a:rPr lang="en-IE" b="1" dirty="0" smtClean="0">
                <a:solidFill>
                  <a:schemeClr val="tx2"/>
                </a:solidFill>
              </a:rPr>
              <a:t>USB port</a:t>
            </a:r>
            <a:r>
              <a:rPr lang="en-IE" b="1" dirty="0"/>
              <a:t>. </a:t>
            </a:r>
            <a:endParaRPr lang="en-IE" b="1" dirty="0" smtClean="0"/>
          </a:p>
          <a:p>
            <a:r>
              <a:rPr lang="en-IE" b="1" dirty="0" smtClean="0"/>
              <a:t>Each </a:t>
            </a:r>
            <a:r>
              <a:rPr lang="en-IE" b="1" dirty="0"/>
              <a:t>port is identified by a number between </a:t>
            </a:r>
            <a:r>
              <a:rPr lang="en-IE" b="1" dirty="0">
                <a:solidFill>
                  <a:schemeClr val="tx2"/>
                </a:solidFill>
              </a:rPr>
              <a:t>1 and 65535</a:t>
            </a:r>
            <a:r>
              <a:rPr lang="en-IE" b="1" dirty="0"/>
              <a:t>. </a:t>
            </a:r>
            <a:endParaRPr lang="en-IE" b="1" dirty="0" smtClean="0"/>
          </a:p>
          <a:p>
            <a:r>
              <a:rPr lang="en-IE" b="1" dirty="0" smtClean="0"/>
              <a:t>Each </a:t>
            </a:r>
            <a:r>
              <a:rPr lang="en-IE" b="1" dirty="0">
                <a:solidFill>
                  <a:schemeClr val="tx2"/>
                </a:solidFill>
              </a:rPr>
              <a:t>port</a:t>
            </a:r>
            <a:r>
              <a:rPr lang="en-IE" b="1" dirty="0"/>
              <a:t> can be </a:t>
            </a:r>
            <a:r>
              <a:rPr lang="en-IE" b="1" dirty="0" smtClean="0"/>
              <a:t>allocated to </a:t>
            </a:r>
            <a:r>
              <a:rPr lang="en-IE" b="1" dirty="0"/>
              <a:t>a </a:t>
            </a:r>
            <a:r>
              <a:rPr lang="en-IE" b="1" dirty="0">
                <a:solidFill>
                  <a:schemeClr val="tx2"/>
                </a:solidFill>
              </a:rPr>
              <a:t>particular service</a:t>
            </a:r>
            <a:r>
              <a:rPr lang="en-IE" b="1" dirty="0" smtClean="0"/>
              <a:t>.</a:t>
            </a:r>
            <a:endParaRPr lang="en-US" altLang="en-US" b="1" dirty="0" smtClean="0"/>
          </a:p>
        </p:txBody>
      </p:sp>
    </p:spTree>
    <p:extLst>
      <p:ext uri="{BB962C8B-B14F-4D97-AF65-F5344CB8AC3E}">
        <p14:creationId xmlns:p14="http://schemas.microsoft.com/office/powerpoint/2010/main" val="3815002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38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8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smtClean="0"/>
              <a:t>Ports – Cont.</a:t>
            </a:r>
          </a:p>
        </p:txBody>
      </p:sp>
      <p:sp>
        <p:nvSpPr>
          <p:cNvPr id="17411" name="Rectangle 3"/>
          <p:cNvSpPr>
            <a:spLocks noGrp="1" noChangeArrowheads="1"/>
          </p:cNvSpPr>
          <p:nvPr>
            <p:ph type="body" idx="1"/>
          </p:nvPr>
        </p:nvSpPr>
        <p:spPr>
          <a:xfrm>
            <a:off x="468313" y="1125538"/>
            <a:ext cx="8229600" cy="4967287"/>
          </a:xfrm>
        </p:spPr>
        <p:txBody>
          <a:bodyPr>
            <a:normAutofit fontScale="92500" lnSpcReduction="10000"/>
          </a:bodyPr>
          <a:lstStyle/>
          <a:p>
            <a:r>
              <a:rPr lang="en-US" altLang="en-US" b="1" dirty="0" smtClean="0"/>
              <a:t>Port numbers range from 0 to 65,535 (16-bit)</a:t>
            </a:r>
          </a:p>
          <a:p>
            <a:pPr lvl="1"/>
            <a:r>
              <a:rPr lang="en-US" altLang="en-US" b="1" dirty="0" smtClean="0"/>
              <a:t>Ports </a:t>
            </a:r>
            <a:r>
              <a:rPr lang="en-US" altLang="en-US" b="1" dirty="0" smtClean="0">
                <a:solidFill>
                  <a:schemeClr val="tx2"/>
                </a:solidFill>
              </a:rPr>
              <a:t>0 - 1023 are called </a:t>
            </a:r>
            <a:r>
              <a:rPr lang="en-US" altLang="en-US" b="1" i="1" dirty="0" smtClean="0">
                <a:solidFill>
                  <a:schemeClr val="tx2"/>
                </a:solidFill>
              </a:rPr>
              <a:t>well-known ports</a:t>
            </a:r>
            <a:r>
              <a:rPr lang="en-US" altLang="en-US" b="1" i="1" dirty="0" smtClean="0"/>
              <a:t>.</a:t>
            </a:r>
            <a:r>
              <a:rPr lang="en-US" altLang="en-US" b="1" dirty="0" smtClean="0"/>
              <a:t> They are reserved for use by well-known services:</a:t>
            </a:r>
          </a:p>
          <a:p>
            <a:pPr lvl="2"/>
            <a:r>
              <a:rPr lang="en-US" altLang="en-US" sz="2600" b="1" dirty="0" smtClean="0"/>
              <a:t>20, 21: FTP</a:t>
            </a:r>
          </a:p>
          <a:p>
            <a:pPr lvl="2"/>
            <a:r>
              <a:rPr lang="en-US" altLang="en-US" sz="2600" b="1" dirty="0" smtClean="0"/>
              <a:t>23: TELNET</a:t>
            </a:r>
          </a:p>
          <a:p>
            <a:pPr lvl="2"/>
            <a:r>
              <a:rPr lang="en-US" altLang="en-US" sz="2600" b="1" dirty="0" smtClean="0"/>
              <a:t>25: SMTP</a:t>
            </a:r>
          </a:p>
          <a:p>
            <a:pPr lvl="2"/>
            <a:r>
              <a:rPr lang="en-US" altLang="en-US" sz="2600" b="1" dirty="0" smtClean="0"/>
              <a:t>110: POP3</a:t>
            </a:r>
          </a:p>
          <a:p>
            <a:pPr lvl="2"/>
            <a:r>
              <a:rPr lang="en-US" altLang="en-US" sz="2600" b="1" dirty="0" smtClean="0"/>
              <a:t>80: HTTP</a:t>
            </a:r>
          </a:p>
          <a:p>
            <a:pPr lvl="1"/>
            <a:endParaRPr lang="en-US" altLang="en-US" sz="3200" b="1" dirty="0" smtClean="0"/>
          </a:p>
          <a:p>
            <a:pPr lvl="1"/>
            <a:r>
              <a:rPr lang="en-US" altLang="en-US" sz="3200" b="1" dirty="0" smtClean="0"/>
              <a:t>User </a:t>
            </a:r>
            <a:r>
              <a:rPr lang="en-US" altLang="en-US" sz="3200" b="1" dirty="0"/>
              <a:t>level process/services generally use port number value &gt;= 1024</a:t>
            </a:r>
          </a:p>
          <a:p>
            <a:pPr lvl="1"/>
            <a:endParaRPr lang="en-US" altLang="en-US" sz="3000" b="1" dirty="0" smtClean="0"/>
          </a:p>
        </p:txBody>
      </p:sp>
      <p:pic>
        <p:nvPicPr>
          <p:cNvPr id="17412" name="Picture 5" descr="3tcpud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2514600"/>
            <a:ext cx="4608513" cy="233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95680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smtClean="0"/>
              <a:t>Understanding Ports</a:t>
            </a:r>
          </a:p>
        </p:txBody>
      </p:sp>
      <p:sp>
        <p:nvSpPr>
          <p:cNvPr id="9219" name="Rectangle 3"/>
          <p:cNvSpPr>
            <a:spLocks noGrp="1" noChangeArrowheads="1"/>
          </p:cNvSpPr>
          <p:nvPr>
            <p:ph type="body" sz="half" idx="1"/>
          </p:nvPr>
        </p:nvSpPr>
        <p:spPr/>
        <p:txBody>
          <a:bodyPr/>
          <a:lstStyle/>
          <a:p>
            <a:r>
              <a:rPr lang="en-US" altLang="en-US" b="1" dirty="0" smtClean="0"/>
              <a:t>The TCP and UDP protocols use </a:t>
            </a:r>
            <a:r>
              <a:rPr lang="en-US" altLang="en-US" b="1" i="1" dirty="0" smtClean="0">
                <a:solidFill>
                  <a:schemeClr val="tx2"/>
                </a:solidFill>
              </a:rPr>
              <a:t>ports</a:t>
            </a:r>
            <a:r>
              <a:rPr lang="en-US" altLang="en-US" b="1" i="1" dirty="0" smtClean="0"/>
              <a:t> </a:t>
            </a:r>
            <a:r>
              <a:rPr lang="en-US" altLang="en-US" b="1" dirty="0" smtClean="0"/>
              <a:t>to </a:t>
            </a:r>
            <a:r>
              <a:rPr lang="en-US" altLang="en-US" b="1" dirty="0" smtClean="0">
                <a:solidFill>
                  <a:schemeClr val="tx2"/>
                </a:solidFill>
              </a:rPr>
              <a:t>map incoming data to a particular </a:t>
            </a:r>
            <a:r>
              <a:rPr lang="en-US" altLang="en-US" b="1" i="1" dirty="0" smtClean="0">
                <a:solidFill>
                  <a:schemeClr val="tx2"/>
                </a:solidFill>
              </a:rPr>
              <a:t>proces</a:t>
            </a:r>
            <a:r>
              <a:rPr lang="en-US" altLang="en-US" b="1" i="1" dirty="0" smtClean="0"/>
              <a:t>s</a:t>
            </a:r>
            <a:r>
              <a:rPr lang="en-US" altLang="en-US" b="1" dirty="0" smtClean="0"/>
              <a:t> running on a computer.</a:t>
            </a:r>
          </a:p>
        </p:txBody>
      </p:sp>
      <p:sp>
        <p:nvSpPr>
          <p:cNvPr id="9220" name="Text Box 10"/>
          <p:cNvSpPr txBox="1">
            <a:spLocks noChangeArrowheads="1"/>
          </p:cNvSpPr>
          <p:nvPr/>
        </p:nvSpPr>
        <p:spPr bwMode="auto">
          <a:xfrm>
            <a:off x="4724400" y="1676400"/>
            <a:ext cx="1066800" cy="1320800"/>
          </a:xfrm>
          <a:prstGeom prst="rect">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50000"/>
              </a:spcBef>
              <a:buFont typeface="Wingdings" pitchFamily="2" charset="2"/>
              <a:buNone/>
            </a:pPr>
            <a:endParaRPr lang="en-US" altLang="en-US" b="1"/>
          </a:p>
          <a:p>
            <a:pPr algn="just" eaLnBrk="1" hangingPunct="1">
              <a:spcBef>
                <a:spcPct val="50000"/>
              </a:spcBef>
              <a:buFont typeface="Wingdings" pitchFamily="2" charset="2"/>
              <a:buNone/>
            </a:pPr>
            <a:r>
              <a:rPr lang="en-US" altLang="en-US" b="1"/>
              <a:t>server</a:t>
            </a:r>
          </a:p>
          <a:p>
            <a:pPr algn="just" eaLnBrk="1" hangingPunct="1">
              <a:spcBef>
                <a:spcPct val="50000"/>
              </a:spcBef>
              <a:buFont typeface="Wingdings" pitchFamily="2" charset="2"/>
              <a:buNone/>
            </a:pPr>
            <a:endParaRPr lang="en-US" altLang="en-US" b="1"/>
          </a:p>
        </p:txBody>
      </p:sp>
      <p:sp>
        <p:nvSpPr>
          <p:cNvPr id="9221" name="Text Box 12"/>
          <p:cNvSpPr txBox="1">
            <a:spLocks noChangeArrowheads="1"/>
          </p:cNvSpPr>
          <p:nvPr/>
        </p:nvSpPr>
        <p:spPr bwMode="auto">
          <a:xfrm>
            <a:off x="5791200" y="1676400"/>
            <a:ext cx="685800" cy="1320800"/>
          </a:xfrm>
          <a:prstGeom prst="rect">
            <a:avLst/>
          </a:prstGeom>
          <a:solidFill>
            <a:srgbClr val="CCFF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buFont typeface="Wingdings" pitchFamily="2" charset="2"/>
              <a:buNone/>
            </a:pPr>
            <a:r>
              <a:rPr lang="en-US" altLang="en-US" b="1"/>
              <a:t>    P</a:t>
            </a:r>
            <a:br>
              <a:rPr lang="en-US" altLang="en-US" b="1"/>
            </a:br>
            <a:r>
              <a:rPr lang="en-US" altLang="en-US" b="1"/>
              <a:t>o</a:t>
            </a:r>
            <a:br>
              <a:rPr lang="en-US" altLang="en-US" b="1"/>
            </a:br>
            <a:r>
              <a:rPr lang="en-US" altLang="en-US" b="1"/>
              <a:t>r</a:t>
            </a:r>
            <a:br>
              <a:rPr lang="en-US" altLang="en-US" b="1"/>
            </a:br>
            <a:r>
              <a:rPr lang="en-US" altLang="en-US" b="1"/>
              <a:t>t</a:t>
            </a:r>
          </a:p>
        </p:txBody>
      </p:sp>
      <p:sp>
        <p:nvSpPr>
          <p:cNvPr id="9222" name="Text Box 13"/>
          <p:cNvSpPr txBox="1">
            <a:spLocks noChangeArrowheads="1"/>
          </p:cNvSpPr>
          <p:nvPr/>
        </p:nvSpPr>
        <p:spPr bwMode="auto">
          <a:xfrm>
            <a:off x="7848600" y="2286000"/>
            <a:ext cx="1219200" cy="406400"/>
          </a:xfrm>
          <a:prstGeom prst="rect">
            <a:avLst/>
          </a:prstGeom>
          <a:solidFill>
            <a:srgbClr val="FFFF99"/>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buFont typeface="Wingdings" pitchFamily="2" charset="2"/>
              <a:buNone/>
            </a:pPr>
            <a:r>
              <a:rPr lang="en-US" altLang="en-US" b="1"/>
              <a:t>Client</a:t>
            </a:r>
          </a:p>
        </p:txBody>
      </p:sp>
      <p:cxnSp>
        <p:nvCxnSpPr>
          <p:cNvPr id="9223" name="AutoShape 16"/>
          <p:cNvCxnSpPr>
            <a:cxnSpLocks noChangeShapeType="1"/>
            <a:stCxn id="9222" idx="1"/>
          </p:cNvCxnSpPr>
          <p:nvPr/>
        </p:nvCxnSpPr>
        <p:spPr bwMode="auto">
          <a:xfrm rot="10800000">
            <a:off x="6477000" y="2108200"/>
            <a:ext cx="1371600" cy="381000"/>
          </a:xfrm>
          <a:prstGeom prst="curvedConnector5">
            <a:avLst>
              <a:gd name="adj1" fmla="val 250000"/>
              <a:gd name="adj2" fmla="val 193333"/>
              <a:gd name="adj3" fmla="val -16667"/>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24" name="Line 23"/>
          <p:cNvSpPr>
            <a:spLocks noChangeShapeType="1"/>
          </p:cNvSpPr>
          <p:nvPr/>
        </p:nvSpPr>
        <p:spPr bwMode="auto">
          <a:xfrm flipH="1" flipV="1">
            <a:off x="6477000" y="2286000"/>
            <a:ext cx="1295400" cy="152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en-IE"/>
          </a:p>
        </p:txBody>
      </p:sp>
      <p:sp>
        <p:nvSpPr>
          <p:cNvPr id="9225" name="Text Box 24"/>
          <p:cNvSpPr txBox="1">
            <a:spLocks noChangeArrowheads="1"/>
          </p:cNvSpPr>
          <p:nvPr/>
        </p:nvSpPr>
        <p:spPr bwMode="auto">
          <a:xfrm>
            <a:off x="6934200" y="2006600"/>
            <a:ext cx="6905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20000"/>
              </a:spcBef>
              <a:buFont typeface="Wingdings" pitchFamily="2" charset="2"/>
              <a:buNone/>
            </a:pPr>
            <a:r>
              <a:rPr lang="en-US" altLang="en-US"/>
              <a:t>TCP</a:t>
            </a:r>
          </a:p>
        </p:txBody>
      </p:sp>
      <p:sp>
        <p:nvSpPr>
          <p:cNvPr id="9226" name="Rectangle 27"/>
          <p:cNvSpPr>
            <a:spLocks noChangeArrowheads="1"/>
          </p:cNvSpPr>
          <p:nvPr/>
        </p:nvSpPr>
        <p:spPr bwMode="auto">
          <a:xfrm>
            <a:off x="2971800" y="5562600"/>
            <a:ext cx="3957638" cy="457200"/>
          </a:xfrm>
          <a:prstGeom prst="rect">
            <a:avLst/>
          </a:prstGeom>
          <a:solidFill>
            <a:srgbClr val="CCFFFF"/>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buFont typeface="Wingdings" pitchFamily="2" charset="2"/>
              <a:buNone/>
            </a:pPr>
            <a:r>
              <a:rPr lang="en-US" altLang="en-US"/>
              <a:t>TCP or UDP</a:t>
            </a:r>
          </a:p>
        </p:txBody>
      </p:sp>
      <p:sp>
        <p:nvSpPr>
          <p:cNvPr id="9227" name="Rectangle 29"/>
          <p:cNvSpPr>
            <a:spLocks noChangeArrowheads="1"/>
          </p:cNvSpPr>
          <p:nvPr/>
        </p:nvSpPr>
        <p:spPr bwMode="auto">
          <a:xfrm>
            <a:off x="3128963" y="5102225"/>
            <a:ext cx="685800" cy="457200"/>
          </a:xfrm>
          <a:prstGeom prst="rect">
            <a:avLst/>
          </a:prstGeom>
          <a:solidFill>
            <a:srgbClr val="CCFF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buFont typeface="Wingdings" pitchFamily="2" charset="2"/>
              <a:buNone/>
            </a:pPr>
            <a:r>
              <a:rPr lang="en-US" altLang="en-US"/>
              <a:t>port</a:t>
            </a:r>
          </a:p>
        </p:txBody>
      </p:sp>
      <p:sp>
        <p:nvSpPr>
          <p:cNvPr id="9228" name="Rectangle 31"/>
          <p:cNvSpPr>
            <a:spLocks noChangeArrowheads="1"/>
          </p:cNvSpPr>
          <p:nvPr/>
        </p:nvSpPr>
        <p:spPr bwMode="auto">
          <a:xfrm>
            <a:off x="4119563" y="5102225"/>
            <a:ext cx="685800" cy="457200"/>
          </a:xfrm>
          <a:prstGeom prst="rect">
            <a:avLst/>
          </a:prstGeom>
          <a:solidFill>
            <a:srgbClr val="CCFF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buFont typeface="Wingdings" pitchFamily="2" charset="2"/>
              <a:buNone/>
            </a:pPr>
            <a:r>
              <a:rPr lang="en-US" altLang="en-US"/>
              <a:t>port</a:t>
            </a:r>
          </a:p>
        </p:txBody>
      </p:sp>
      <p:sp>
        <p:nvSpPr>
          <p:cNvPr id="9229" name="Rectangle 32"/>
          <p:cNvSpPr>
            <a:spLocks noChangeArrowheads="1"/>
          </p:cNvSpPr>
          <p:nvPr/>
        </p:nvSpPr>
        <p:spPr bwMode="auto">
          <a:xfrm>
            <a:off x="5033963" y="5102225"/>
            <a:ext cx="685800" cy="457200"/>
          </a:xfrm>
          <a:prstGeom prst="rect">
            <a:avLst/>
          </a:prstGeom>
          <a:solidFill>
            <a:srgbClr val="CCFF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buFont typeface="Wingdings" pitchFamily="2" charset="2"/>
              <a:buNone/>
            </a:pPr>
            <a:r>
              <a:rPr lang="en-US" altLang="en-US"/>
              <a:t>port</a:t>
            </a:r>
          </a:p>
        </p:txBody>
      </p:sp>
      <p:sp>
        <p:nvSpPr>
          <p:cNvPr id="9230" name="Rectangle 33"/>
          <p:cNvSpPr>
            <a:spLocks noChangeArrowheads="1"/>
          </p:cNvSpPr>
          <p:nvPr/>
        </p:nvSpPr>
        <p:spPr bwMode="auto">
          <a:xfrm>
            <a:off x="6024563" y="5102225"/>
            <a:ext cx="685800" cy="457200"/>
          </a:xfrm>
          <a:prstGeom prst="rect">
            <a:avLst/>
          </a:prstGeom>
          <a:solidFill>
            <a:srgbClr val="CCFF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buFont typeface="Wingdings" pitchFamily="2" charset="2"/>
              <a:buNone/>
            </a:pPr>
            <a:r>
              <a:rPr lang="en-US" altLang="en-US"/>
              <a:t>port</a:t>
            </a:r>
          </a:p>
        </p:txBody>
      </p:sp>
      <p:sp>
        <p:nvSpPr>
          <p:cNvPr id="9231" name="Rectangle 35"/>
          <p:cNvSpPr>
            <a:spLocks noChangeArrowheads="1"/>
          </p:cNvSpPr>
          <p:nvPr/>
        </p:nvSpPr>
        <p:spPr bwMode="auto">
          <a:xfrm>
            <a:off x="3124200" y="4187825"/>
            <a:ext cx="685800" cy="457200"/>
          </a:xfrm>
          <a:prstGeom prst="rect">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buFont typeface="Wingdings" pitchFamily="2" charset="2"/>
              <a:buNone/>
            </a:pPr>
            <a:r>
              <a:rPr lang="en-US" altLang="en-US"/>
              <a:t>app</a:t>
            </a:r>
          </a:p>
        </p:txBody>
      </p:sp>
      <p:sp>
        <p:nvSpPr>
          <p:cNvPr id="9232" name="Rectangle 36"/>
          <p:cNvSpPr>
            <a:spLocks noChangeArrowheads="1"/>
          </p:cNvSpPr>
          <p:nvPr/>
        </p:nvSpPr>
        <p:spPr bwMode="auto">
          <a:xfrm>
            <a:off x="4114800" y="4187825"/>
            <a:ext cx="685800" cy="457200"/>
          </a:xfrm>
          <a:prstGeom prst="rect">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buFont typeface="Wingdings" pitchFamily="2" charset="2"/>
              <a:buNone/>
            </a:pPr>
            <a:r>
              <a:rPr lang="en-US" altLang="en-US"/>
              <a:t>app</a:t>
            </a:r>
          </a:p>
        </p:txBody>
      </p:sp>
      <p:sp>
        <p:nvSpPr>
          <p:cNvPr id="9233" name="Rectangle 37"/>
          <p:cNvSpPr>
            <a:spLocks noChangeArrowheads="1"/>
          </p:cNvSpPr>
          <p:nvPr/>
        </p:nvSpPr>
        <p:spPr bwMode="auto">
          <a:xfrm>
            <a:off x="5029200" y="4187825"/>
            <a:ext cx="685800" cy="457200"/>
          </a:xfrm>
          <a:prstGeom prst="rect">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buFont typeface="Wingdings" pitchFamily="2" charset="2"/>
              <a:buNone/>
            </a:pPr>
            <a:r>
              <a:rPr lang="en-US" altLang="en-US"/>
              <a:t>app</a:t>
            </a:r>
          </a:p>
        </p:txBody>
      </p:sp>
      <p:sp>
        <p:nvSpPr>
          <p:cNvPr id="9234" name="Rectangle 38"/>
          <p:cNvSpPr>
            <a:spLocks noChangeArrowheads="1"/>
          </p:cNvSpPr>
          <p:nvPr/>
        </p:nvSpPr>
        <p:spPr bwMode="auto">
          <a:xfrm>
            <a:off x="6019800" y="4187825"/>
            <a:ext cx="685800" cy="457200"/>
          </a:xfrm>
          <a:prstGeom prst="rect">
            <a:avLst/>
          </a:prstGeom>
          <a:solidFill>
            <a:srgbClr val="FFCC99"/>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buFont typeface="Wingdings" pitchFamily="2" charset="2"/>
              <a:buNone/>
            </a:pPr>
            <a:r>
              <a:rPr lang="en-US" altLang="en-US"/>
              <a:t>app</a:t>
            </a:r>
          </a:p>
        </p:txBody>
      </p:sp>
      <p:sp>
        <p:nvSpPr>
          <p:cNvPr id="9235" name="Line 39"/>
          <p:cNvSpPr>
            <a:spLocks noChangeShapeType="1"/>
          </p:cNvSpPr>
          <p:nvPr/>
        </p:nvSpPr>
        <p:spPr bwMode="auto">
          <a:xfrm flipV="1">
            <a:off x="3429000" y="4645025"/>
            <a:ext cx="0" cy="457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en-IE"/>
          </a:p>
        </p:txBody>
      </p:sp>
      <p:sp>
        <p:nvSpPr>
          <p:cNvPr id="9236" name="Line 40"/>
          <p:cNvSpPr>
            <a:spLocks noChangeShapeType="1"/>
          </p:cNvSpPr>
          <p:nvPr/>
        </p:nvSpPr>
        <p:spPr bwMode="auto">
          <a:xfrm flipV="1">
            <a:off x="4495800" y="4645025"/>
            <a:ext cx="0" cy="457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en-IE"/>
          </a:p>
        </p:txBody>
      </p:sp>
      <p:sp>
        <p:nvSpPr>
          <p:cNvPr id="9237" name="Line 41"/>
          <p:cNvSpPr>
            <a:spLocks noChangeShapeType="1"/>
          </p:cNvSpPr>
          <p:nvPr/>
        </p:nvSpPr>
        <p:spPr bwMode="auto">
          <a:xfrm flipV="1">
            <a:off x="5410200" y="4645025"/>
            <a:ext cx="0" cy="457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en-IE"/>
          </a:p>
        </p:txBody>
      </p:sp>
      <p:sp>
        <p:nvSpPr>
          <p:cNvPr id="9238" name="Line 42"/>
          <p:cNvSpPr>
            <a:spLocks noChangeShapeType="1"/>
          </p:cNvSpPr>
          <p:nvPr/>
        </p:nvSpPr>
        <p:spPr bwMode="auto">
          <a:xfrm flipV="1">
            <a:off x="6324600" y="4645025"/>
            <a:ext cx="0" cy="457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en-IE"/>
          </a:p>
        </p:txBody>
      </p:sp>
      <p:sp>
        <p:nvSpPr>
          <p:cNvPr id="9239" name="Rectangle 43"/>
          <p:cNvSpPr>
            <a:spLocks noChangeArrowheads="1"/>
          </p:cNvSpPr>
          <p:nvPr/>
        </p:nvSpPr>
        <p:spPr bwMode="auto">
          <a:xfrm>
            <a:off x="7396163" y="6248400"/>
            <a:ext cx="833437" cy="457200"/>
          </a:xfrm>
          <a:prstGeom prst="rect">
            <a:avLst/>
          </a:prstGeom>
          <a:solidFill>
            <a:srgbClr val="FFFF99"/>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buFont typeface="Wingdings" pitchFamily="2" charset="2"/>
              <a:buNone/>
            </a:pPr>
            <a:r>
              <a:rPr lang="en-US" altLang="en-US"/>
              <a:t>port#</a:t>
            </a:r>
          </a:p>
        </p:txBody>
      </p:sp>
      <p:sp>
        <p:nvSpPr>
          <p:cNvPr id="9240" name="Rectangle 44"/>
          <p:cNvSpPr>
            <a:spLocks noChangeArrowheads="1"/>
          </p:cNvSpPr>
          <p:nvPr/>
        </p:nvSpPr>
        <p:spPr bwMode="auto">
          <a:xfrm>
            <a:off x="8158163" y="6248400"/>
            <a:ext cx="833437" cy="457200"/>
          </a:xfrm>
          <a:prstGeom prst="rect">
            <a:avLst/>
          </a:prstGeom>
          <a:solidFill>
            <a:srgbClr val="FFFF99"/>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buFont typeface="Wingdings" pitchFamily="2" charset="2"/>
              <a:buNone/>
            </a:pPr>
            <a:r>
              <a:rPr lang="en-US" altLang="en-US"/>
              <a:t>data</a:t>
            </a:r>
          </a:p>
        </p:txBody>
      </p:sp>
      <p:sp>
        <p:nvSpPr>
          <p:cNvPr id="9241" name="Line 45"/>
          <p:cNvSpPr>
            <a:spLocks noChangeShapeType="1"/>
          </p:cNvSpPr>
          <p:nvPr/>
        </p:nvSpPr>
        <p:spPr bwMode="auto">
          <a:xfrm flipH="1" flipV="1">
            <a:off x="4876800" y="6096000"/>
            <a:ext cx="251460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en-IE"/>
          </a:p>
        </p:txBody>
      </p:sp>
      <p:sp>
        <p:nvSpPr>
          <p:cNvPr id="9242" name="Text Box 46"/>
          <p:cNvSpPr txBox="1">
            <a:spLocks noChangeArrowheads="1"/>
          </p:cNvSpPr>
          <p:nvPr/>
        </p:nvSpPr>
        <p:spPr bwMode="auto">
          <a:xfrm>
            <a:off x="5715000" y="6235700"/>
            <a:ext cx="71755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20000"/>
              </a:spcBef>
              <a:buFont typeface="Wingdings" pitchFamily="2" charset="2"/>
              <a:buNone/>
            </a:pPr>
            <a:r>
              <a:rPr lang="en-US" altLang="en-US"/>
              <a:t>Data</a:t>
            </a:r>
          </a:p>
        </p:txBody>
      </p:sp>
      <p:sp>
        <p:nvSpPr>
          <p:cNvPr id="9243" name="Text Box 47"/>
          <p:cNvSpPr txBox="1">
            <a:spLocks noChangeArrowheads="1"/>
          </p:cNvSpPr>
          <p:nvPr/>
        </p:nvSpPr>
        <p:spPr bwMode="auto">
          <a:xfrm>
            <a:off x="7283450" y="5867400"/>
            <a:ext cx="9572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marL="285750" indent="-2857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20000"/>
              </a:spcBef>
              <a:buFont typeface="Wingdings" pitchFamily="2" charset="2"/>
              <a:buNone/>
            </a:pPr>
            <a:r>
              <a:rPr lang="en-US" altLang="en-US"/>
              <a:t>Packet</a:t>
            </a:r>
          </a:p>
        </p:txBody>
      </p:sp>
    </p:spTree>
    <p:extLst>
      <p:ext uri="{BB962C8B-B14F-4D97-AF65-F5344CB8AC3E}">
        <p14:creationId xmlns:p14="http://schemas.microsoft.com/office/powerpoint/2010/main" val="324284616"/>
      </p:ext>
    </p:extLst>
  </p:cSld>
  <p:clrMapOvr>
    <a:masterClrMapping/>
  </p:clrMapOvr>
  <p:transition spd="slow" advTm="1000"/>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smtClean="0"/>
              <a:t>Network Address Translation</a:t>
            </a:r>
          </a:p>
        </p:txBody>
      </p:sp>
      <p:sp>
        <p:nvSpPr>
          <p:cNvPr id="16387" name="Rectangle 3"/>
          <p:cNvSpPr>
            <a:spLocks noGrp="1" noChangeArrowheads="1"/>
          </p:cNvSpPr>
          <p:nvPr>
            <p:ph type="body" idx="1"/>
          </p:nvPr>
        </p:nvSpPr>
        <p:spPr>
          <a:xfrm>
            <a:off x="76200" y="914400"/>
            <a:ext cx="8991600" cy="5943600"/>
          </a:xfrm>
        </p:spPr>
        <p:txBody>
          <a:bodyPr>
            <a:normAutofit fontScale="85000" lnSpcReduction="20000"/>
          </a:bodyPr>
          <a:lstStyle/>
          <a:p>
            <a:r>
              <a:rPr lang="en-IE" sz="2800" b="1" dirty="0"/>
              <a:t>Because of the increasing scarcity of and demand for raw IP addresses, most networks today use </a:t>
            </a:r>
            <a:r>
              <a:rPr lang="en-IE" sz="2800" b="1" dirty="0">
                <a:solidFill>
                  <a:schemeClr val="tx2"/>
                </a:solidFill>
              </a:rPr>
              <a:t>Network Address Translation (NAT). </a:t>
            </a:r>
          </a:p>
          <a:p>
            <a:r>
              <a:rPr lang="en-IE" sz="2800" b="1" dirty="0">
                <a:solidFill>
                  <a:schemeClr val="tx2"/>
                </a:solidFill>
              </a:rPr>
              <a:t>In NAT-based networks </a:t>
            </a:r>
            <a:r>
              <a:rPr lang="en-IE" sz="2800" b="1" dirty="0"/>
              <a:t>most nodes only have local, non-routable addresses selected from either </a:t>
            </a:r>
            <a:r>
              <a:rPr lang="en-IE" sz="2800" b="1" dirty="0">
                <a:solidFill>
                  <a:schemeClr val="tx2"/>
                </a:solidFill>
              </a:rPr>
              <a:t>10.x.x.x, 172.16.x.x to 172.31.x.x, or 192.168.x.x. </a:t>
            </a:r>
          </a:p>
          <a:p>
            <a:r>
              <a:rPr lang="en-IE" sz="2800" b="1" dirty="0"/>
              <a:t>The </a:t>
            </a:r>
            <a:r>
              <a:rPr lang="en-IE" sz="2800" b="1" dirty="0">
                <a:solidFill>
                  <a:schemeClr val="tx2"/>
                </a:solidFill>
              </a:rPr>
              <a:t>routers</a:t>
            </a:r>
            <a:r>
              <a:rPr lang="en-IE" sz="2800" b="1" dirty="0"/>
              <a:t> that connect the local networks to the ISP </a:t>
            </a:r>
            <a:r>
              <a:rPr lang="en-IE" sz="2800" b="1" dirty="0">
                <a:solidFill>
                  <a:schemeClr val="tx2"/>
                </a:solidFill>
              </a:rPr>
              <a:t>translate  these local addresses to a much smaller set of routable addresses</a:t>
            </a:r>
            <a:r>
              <a:rPr lang="en-IE" sz="2800" b="1" dirty="0"/>
              <a:t>.</a:t>
            </a:r>
          </a:p>
          <a:p>
            <a:r>
              <a:rPr lang="en-IE" sz="2800" b="1" dirty="0"/>
              <a:t>For instance, </a:t>
            </a:r>
            <a:r>
              <a:rPr lang="en-IE" sz="2800" b="1" dirty="0">
                <a:solidFill>
                  <a:schemeClr val="tx2"/>
                </a:solidFill>
              </a:rPr>
              <a:t>the dozen or so IP nodes</a:t>
            </a:r>
            <a:r>
              <a:rPr lang="en-IE" sz="2800" b="1" dirty="0"/>
              <a:t> in my apartment all share a single </a:t>
            </a:r>
            <a:r>
              <a:rPr lang="en-IE" sz="2800" b="1" dirty="0">
                <a:solidFill>
                  <a:schemeClr val="tx2"/>
                </a:solidFill>
              </a:rPr>
              <a:t>externally visible IP address</a:t>
            </a:r>
            <a:r>
              <a:rPr lang="en-IE" sz="2800" b="1" dirty="0"/>
              <a:t>. </a:t>
            </a:r>
          </a:p>
          <a:p>
            <a:r>
              <a:rPr lang="en-IE" sz="2800" b="1" dirty="0"/>
              <a:t>The computer has the </a:t>
            </a:r>
            <a:r>
              <a:rPr lang="en-IE" sz="2800" b="1" dirty="0">
                <a:solidFill>
                  <a:schemeClr val="tx2"/>
                </a:solidFill>
              </a:rPr>
              <a:t>IP address 192.168.1.5</a:t>
            </a:r>
            <a:r>
              <a:rPr lang="en-IE" sz="2800" b="1" dirty="0"/>
              <a:t>, but on your network that address </a:t>
            </a:r>
            <a:r>
              <a:rPr lang="en-IE" sz="2800" b="1" dirty="0">
                <a:solidFill>
                  <a:schemeClr val="tx2"/>
                </a:solidFill>
              </a:rPr>
              <a:t>may refer to a completely different ho</a:t>
            </a:r>
            <a:r>
              <a:rPr lang="en-IE" sz="2800" b="1" dirty="0"/>
              <a:t>st, if it exists at all. </a:t>
            </a:r>
          </a:p>
          <a:p>
            <a:r>
              <a:rPr lang="en-IE" sz="2800" b="1" dirty="0"/>
              <a:t>Nor could you reach my computer by sending data to </a:t>
            </a:r>
            <a:r>
              <a:rPr lang="en-IE" sz="2800" b="1" dirty="0">
                <a:solidFill>
                  <a:schemeClr val="tx2"/>
                </a:solidFill>
              </a:rPr>
              <a:t>192.168.1.5.</a:t>
            </a:r>
            <a:r>
              <a:rPr lang="en-IE" sz="2800" b="1" dirty="0"/>
              <a:t> Instead, you’d have to send to </a:t>
            </a:r>
            <a:r>
              <a:rPr lang="en-IE" sz="2800" b="1" dirty="0">
                <a:solidFill>
                  <a:schemeClr val="tx2"/>
                </a:solidFill>
              </a:rPr>
              <a:t>216.254.85.72 </a:t>
            </a:r>
            <a:r>
              <a:rPr lang="en-IE" sz="2800" b="1" dirty="0"/>
              <a:t>(and even then, the data would only get through </a:t>
            </a:r>
            <a:r>
              <a:rPr lang="en-IE" sz="2800" b="1" dirty="0">
                <a:solidFill>
                  <a:schemeClr val="tx2"/>
                </a:solidFill>
              </a:rPr>
              <a:t>if I had  configured my NAT router to pass incoming connections on to 192.168.1.5</a:t>
            </a:r>
            <a:r>
              <a:rPr lang="en-IE" sz="2800" b="1" dirty="0"/>
              <a:t>).</a:t>
            </a:r>
          </a:p>
        </p:txBody>
      </p:sp>
    </p:spTree>
    <p:extLst>
      <p:ext uri="{BB962C8B-B14F-4D97-AF65-F5344CB8AC3E}">
        <p14:creationId xmlns:p14="http://schemas.microsoft.com/office/powerpoint/2010/main" val="1644541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0"/>
            <a:ext cx="8229600" cy="762000"/>
          </a:xfrm>
        </p:spPr>
        <p:txBody>
          <a:bodyPr/>
          <a:lstStyle/>
          <a:p>
            <a:r>
              <a:rPr lang="en-US" altLang="en-US" dirty="0" smtClean="0"/>
              <a:t>Network Address Translation</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800100"/>
            <a:ext cx="7772400" cy="5829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29685129"/>
      </p:ext>
    </p:extLst>
  </p:cSld>
  <p:clrMapOvr>
    <a:masterClrMapping/>
  </p:clrMapOvr>
  <p:transition spd="slow" advTm="1000"/>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smtClean="0"/>
              <a:t>Network Address Translation</a:t>
            </a:r>
          </a:p>
        </p:txBody>
      </p:sp>
      <p:sp>
        <p:nvSpPr>
          <p:cNvPr id="16387" name="Rectangle 3"/>
          <p:cNvSpPr>
            <a:spLocks noGrp="1" noChangeArrowheads="1"/>
          </p:cNvSpPr>
          <p:nvPr>
            <p:ph type="body" idx="1"/>
          </p:nvPr>
        </p:nvSpPr>
        <p:spPr>
          <a:xfrm>
            <a:off x="76200" y="914400"/>
            <a:ext cx="8991600" cy="5943600"/>
          </a:xfrm>
        </p:spPr>
        <p:txBody>
          <a:bodyPr>
            <a:normAutofit fontScale="92500" lnSpcReduction="20000"/>
          </a:bodyPr>
          <a:lstStyle/>
          <a:p>
            <a:r>
              <a:rPr lang="en-IE" sz="2800" b="1" dirty="0">
                <a:solidFill>
                  <a:schemeClr val="tx2"/>
                </a:solidFill>
              </a:rPr>
              <a:t>The router watches my outgoing and incoming connections </a:t>
            </a:r>
            <a:r>
              <a:rPr lang="en-IE" sz="2800" b="1" dirty="0"/>
              <a:t>and </a:t>
            </a:r>
            <a:r>
              <a:rPr lang="en-IE" sz="2800" b="1" dirty="0">
                <a:solidFill>
                  <a:schemeClr val="tx2"/>
                </a:solidFill>
              </a:rPr>
              <a:t>adjusts the addresses  in the IP packets</a:t>
            </a:r>
            <a:r>
              <a:rPr lang="en-IE" sz="2800" b="1" dirty="0"/>
              <a:t>. </a:t>
            </a:r>
          </a:p>
          <a:p>
            <a:r>
              <a:rPr lang="en-IE" sz="2800" b="1" dirty="0"/>
              <a:t>For an outgoing packet, it </a:t>
            </a:r>
            <a:r>
              <a:rPr lang="en-IE" sz="2800" b="1" dirty="0">
                <a:solidFill>
                  <a:schemeClr val="tx2"/>
                </a:solidFill>
              </a:rPr>
              <a:t>changes the source address to the router’s  external address </a:t>
            </a:r>
            <a:r>
              <a:rPr lang="en-IE" sz="2800" b="1" dirty="0"/>
              <a:t>(216.254.85.72 on my network). </a:t>
            </a:r>
          </a:p>
          <a:p>
            <a:r>
              <a:rPr lang="en-IE" sz="2800" b="1" dirty="0"/>
              <a:t>For an incoming packet, it changes  the destination address to one of the local addresses, such as 192.168.1.12. </a:t>
            </a:r>
          </a:p>
          <a:p>
            <a:r>
              <a:rPr lang="en-IE" sz="2800" b="1" dirty="0"/>
              <a:t>Exactly </a:t>
            </a:r>
            <a:r>
              <a:rPr lang="en-IE" sz="2800" b="1" dirty="0">
                <a:solidFill>
                  <a:schemeClr val="tx2"/>
                </a:solidFill>
              </a:rPr>
              <a:t>how  it keeps track </a:t>
            </a:r>
            <a:r>
              <a:rPr lang="en-IE" sz="2800" b="1" dirty="0"/>
              <a:t>of which connections come from and are aimed at which internal computers is </a:t>
            </a:r>
            <a:r>
              <a:rPr lang="en-IE" sz="2800" b="1" dirty="0">
                <a:solidFill>
                  <a:schemeClr val="tx2"/>
                </a:solidFill>
              </a:rPr>
              <a:t>not particularly important to a Java programmer</a:t>
            </a:r>
            <a:r>
              <a:rPr lang="en-IE" sz="2800" b="1" dirty="0"/>
              <a:t>. </a:t>
            </a:r>
          </a:p>
          <a:p>
            <a:r>
              <a:rPr lang="en-IE" sz="2800" b="1" dirty="0"/>
              <a:t>As long as your machines are configured properly, this process is mostly </a:t>
            </a:r>
            <a:r>
              <a:rPr lang="en-IE" sz="2800" b="1" dirty="0">
                <a:solidFill>
                  <a:schemeClr val="tx2"/>
                </a:solidFill>
              </a:rPr>
              <a:t>transparent</a:t>
            </a:r>
            <a:r>
              <a:rPr lang="en-IE" sz="2800" b="1" dirty="0"/>
              <a:t>. </a:t>
            </a:r>
          </a:p>
          <a:p>
            <a:r>
              <a:rPr lang="en-IE" sz="2800" b="1" dirty="0"/>
              <a:t>You just need to </a:t>
            </a:r>
            <a:r>
              <a:rPr lang="en-IE" sz="2800" b="1" dirty="0">
                <a:solidFill>
                  <a:schemeClr val="tx2"/>
                </a:solidFill>
              </a:rPr>
              <a:t>remember that the external and internal addresses </a:t>
            </a:r>
            <a:r>
              <a:rPr lang="en-IE" sz="2800" b="1" dirty="0"/>
              <a:t>may not be the same.</a:t>
            </a:r>
          </a:p>
          <a:p>
            <a:r>
              <a:rPr lang="en-IE" sz="2800" b="1" dirty="0"/>
              <a:t>Eventually, </a:t>
            </a:r>
            <a:r>
              <a:rPr lang="en-IE" sz="2800" b="1" dirty="0">
                <a:solidFill>
                  <a:schemeClr val="tx2"/>
                </a:solidFill>
              </a:rPr>
              <a:t>IPv6 should make most of this obsolete</a:t>
            </a:r>
            <a:r>
              <a:rPr lang="en-IE" sz="2800" b="1" dirty="0"/>
              <a:t>. </a:t>
            </a:r>
          </a:p>
          <a:p>
            <a:r>
              <a:rPr lang="en-IE" sz="2800" b="1" dirty="0"/>
              <a:t>NAT will be pointless, though firewalls will still be useful. Subnets will still exist for routing, but they’ll be much larger.</a:t>
            </a:r>
            <a:endParaRPr lang="en-US" altLang="en-US" sz="2400" b="1" dirty="0"/>
          </a:p>
        </p:txBody>
      </p:sp>
    </p:spTree>
    <p:extLst>
      <p:ext uri="{BB962C8B-B14F-4D97-AF65-F5344CB8AC3E}">
        <p14:creationId xmlns:p14="http://schemas.microsoft.com/office/powerpoint/2010/main" val="179118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38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0"/>
            <a:ext cx="8229600" cy="762000"/>
          </a:xfrm>
        </p:spPr>
        <p:txBody>
          <a:bodyPr/>
          <a:lstStyle/>
          <a:p>
            <a:r>
              <a:rPr lang="en-US" altLang="en-US" dirty="0" smtClean="0"/>
              <a:t>Firewall</a:t>
            </a:r>
          </a:p>
        </p:txBody>
      </p:sp>
      <p:pic>
        <p:nvPicPr>
          <p:cNvPr id="20482" name="Picture 2" descr="Image result for firew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232" y="1406813"/>
            <a:ext cx="7126768" cy="3206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506590"/>
      </p:ext>
    </p:extLst>
  </p:cSld>
  <p:clrMapOvr>
    <a:masterClrMapping/>
  </p:clrMapOvr>
  <p:transition spd="slow" advTm="1000"/>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smtClean="0"/>
              <a:t>Firewall</a:t>
            </a:r>
          </a:p>
        </p:txBody>
      </p:sp>
      <p:sp>
        <p:nvSpPr>
          <p:cNvPr id="16387" name="Rectangle 3"/>
          <p:cNvSpPr>
            <a:spLocks noGrp="1" noChangeArrowheads="1"/>
          </p:cNvSpPr>
          <p:nvPr>
            <p:ph type="body" idx="1"/>
          </p:nvPr>
        </p:nvSpPr>
        <p:spPr>
          <a:xfrm>
            <a:off x="76200" y="914400"/>
            <a:ext cx="8991600" cy="5943600"/>
          </a:xfrm>
        </p:spPr>
        <p:txBody>
          <a:bodyPr>
            <a:normAutofit fontScale="92500" lnSpcReduction="20000"/>
          </a:bodyPr>
          <a:lstStyle/>
          <a:p>
            <a:r>
              <a:rPr lang="en-IE" sz="2800" b="1" dirty="0"/>
              <a:t>There are </a:t>
            </a:r>
            <a:r>
              <a:rPr lang="en-IE" sz="2800" b="1" dirty="0">
                <a:solidFill>
                  <a:schemeClr val="tx2"/>
                </a:solidFill>
              </a:rPr>
              <a:t>some naughty people on the Internet</a:t>
            </a:r>
            <a:r>
              <a:rPr lang="en-IE" sz="2800" b="1" dirty="0"/>
              <a:t>. To keep them out, it’s often helpful to set up </a:t>
            </a:r>
            <a:r>
              <a:rPr lang="en-IE" sz="2800" b="1" dirty="0">
                <a:solidFill>
                  <a:schemeClr val="tx2"/>
                </a:solidFill>
              </a:rPr>
              <a:t>one point of access to a to a local network </a:t>
            </a:r>
            <a:r>
              <a:rPr lang="en-IE" sz="2800" b="1" dirty="0"/>
              <a:t>and </a:t>
            </a:r>
            <a:r>
              <a:rPr lang="en-IE" sz="2800" b="1" dirty="0">
                <a:solidFill>
                  <a:schemeClr val="tx2"/>
                </a:solidFill>
              </a:rPr>
              <a:t>check all traffic </a:t>
            </a:r>
            <a:r>
              <a:rPr lang="en-IE" sz="2800" b="1" dirty="0"/>
              <a:t>into or out of that access point. </a:t>
            </a:r>
          </a:p>
          <a:p>
            <a:r>
              <a:rPr lang="en-IE" sz="2800" b="1" dirty="0"/>
              <a:t>The hardware and software that </a:t>
            </a:r>
            <a:r>
              <a:rPr lang="en-IE" sz="2800" b="1" dirty="0">
                <a:solidFill>
                  <a:schemeClr val="tx2"/>
                </a:solidFill>
              </a:rPr>
              <a:t>sit between the Internet and the local network</a:t>
            </a:r>
            <a:r>
              <a:rPr lang="en-IE" sz="2800" b="1" dirty="0"/>
              <a:t>, checking all the data that comes in or out to make sure it’s kosher, is called a </a:t>
            </a:r>
            <a:r>
              <a:rPr lang="en-IE" sz="2800" b="1" i="1" dirty="0">
                <a:solidFill>
                  <a:schemeClr val="tx2"/>
                </a:solidFill>
              </a:rPr>
              <a:t>firewall</a:t>
            </a:r>
            <a:r>
              <a:rPr lang="en-IE" sz="2800" b="1" dirty="0"/>
              <a:t>.</a:t>
            </a:r>
          </a:p>
          <a:p>
            <a:r>
              <a:rPr lang="en-IE" sz="2800" b="1" dirty="0"/>
              <a:t>The firewall is </a:t>
            </a:r>
            <a:r>
              <a:rPr lang="en-IE" sz="2800" b="1" dirty="0">
                <a:solidFill>
                  <a:schemeClr val="tx2"/>
                </a:solidFill>
              </a:rPr>
              <a:t>often part of the router that connects the local network </a:t>
            </a:r>
            <a:r>
              <a:rPr lang="en-IE" sz="2800" b="1" dirty="0"/>
              <a:t>to the broader Internet and may perform other tasks, such as </a:t>
            </a:r>
            <a:r>
              <a:rPr lang="en-IE" sz="2800" b="1" dirty="0">
                <a:solidFill>
                  <a:schemeClr val="tx2"/>
                </a:solidFill>
              </a:rPr>
              <a:t>network address translation</a:t>
            </a:r>
            <a:r>
              <a:rPr lang="en-IE" sz="2800" b="1" dirty="0"/>
              <a:t>. </a:t>
            </a:r>
          </a:p>
          <a:p>
            <a:r>
              <a:rPr lang="en-IE" sz="2800" b="1" dirty="0"/>
              <a:t>Then again, the firewall may be a separate machine. </a:t>
            </a:r>
            <a:r>
              <a:rPr lang="en-IE" sz="2800" b="1" dirty="0">
                <a:solidFill>
                  <a:schemeClr val="tx2"/>
                </a:solidFill>
              </a:rPr>
              <a:t>Modern operating systems like Windows,  Mac OS X and Red Hat Linux often have built-in personal firewalls </a:t>
            </a:r>
            <a:r>
              <a:rPr lang="en-IE" sz="2800" b="1" dirty="0"/>
              <a:t>that monitor just the traffic sent to that one machine. </a:t>
            </a:r>
          </a:p>
          <a:p>
            <a:r>
              <a:rPr lang="en-IE" sz="2800" b="1" dirty="0"/>
              <a:t>Either way, the firewall is responsible for </a:t>
            </a:r>
            <a:r>
              <a:rPr lang="en-IE" sz="2800" b="1" dirty="0">
                <a:solidFill>
                  <a:schemeClr val="tx2"/>
                </a:solidFill>
              </a:rPr>
              <a:t>inspecting each pack</a:t>
            </a:r>
            <a:r>
              <a:rPr lang="en-IE" sz="2800" b="1" dirty="0"/>
              <a:t>et that passes into or out of its network interface and accepting it or rejecting it according to a set of rules.</a:t>
            </a:r>
          </a:p>
        </p:txBody>
      </p:sp>
    </p:spTree>
    <p:extLst>
      <p:ext uri="{BB962C8B-B14F-4D97-AF65-F5344CB8AC3E}">
        <p14:creationId xmlns:p14="http://schemas.microsoft.com/office/powerpoint/2010/main" val="88175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smtClean="0"/>
              <a:t>Firewall</a:t>
            </a:r>
          </a:p>
        </p:txBody>
      </p:sp>
      <p:sp>
        <p:nvSpPr>
          <p:cNvPr id="16387" name="Rectangle 3"/>
          <p:cNvSpPr>
            <a:spLocks noGrp="1" noChangeArrowheads="1"/>
          </p:cNvSpPr>
          <p:nvPr>
            <p:ph type="body" idx="1"/>
          </p:nvPr>
        </p:nvSpPr>
        <p:spPr>
          <a:xfrm>
            <a:off x="76200" y="914400"/>
            <a:ext cx="8991600" cy="5943600"/>
          </a:xfrm>
        </p:spPr>
        <p:txBody>
          <a:bodyPr>
            <a:normAutofit fontScale="92500" lnSpcReduction="20000"/>
          </a:bodyPr>
          <a:lstStyle/>
          <a:p>
            <a:r>
              <a:rPr lang="en-IE" sz="2800" b="1" dirty="0">
                <a:solidFill>
                  <a:schemeClr val="tx2"/>
                </a:solidFill>
              </a:rPr>
              <a:t>Filtering</a:t>
            </a:r>
            <a:r>
              <a:rPr lang="en-IE" sz="2800" b="1" dirty="0"/>
              <a:t> is usually based on </a:t>
            </a:r>
            <a:r>
              <a:rPr lang="en-IE" sz="2800" b="1" dirty="0">
                <a:solidFill>
                  <a:schemeClr val="tx2"/>
                </a:solidFill>
              </a:rPr>
              <a:t>network addresses and ports. </a:t>
            </a:r>
          </a:p>
          <a:p>
            <a:r>
              <a:rPr lang="en-IE" sz="2800" b="1" dirty="0"/>
              <a:t>For example, all traffic coming from the </a:t>
            </a:r>
            <a:r>
              <a:rPr lang="en-IE" sz="2800" b="1" dirty="0">
                <a:solidFill>
                  <a:schemeClr val="tx2"/>
                </a:solidFill>
              </a:rPr>
              <a:t>Class C network 193.28.25.x </a:t>
            </a:r>
            <a:r>
              <a:rPr lang="en-IE" sz="2800" b="1" dirty="0"/>
              <a:t>may be </a:t>
            </a:r>
            <a:r>
              <a:rPr lang="en-IE" sz="2800" b="1" dirty="0">
                <a:solidFill>
                  <a:schemeClr val="tx2"/>
                </a:solidFill>
              </a:rPr>
              <a:t>rejected</a:t>
            </a:r>
            <a:r>
              <a:rPr lang="en-IE" sz="2800" b="1" dirty="0"/>
              <a:t> because you had </a:t>
            </a:r>
            <a:r>
              <a:rPr lang="en-IE" sz="2800" b="1" dirty="0">
                <a:solidFill>
                  <a:schemeClr val="tx2"/>
                </a:solidFill>
              </a:rPr>
              <a:t>bad experiences with hackers </a:t>
            </a:r>
            <a:r>
              <a:rPr lang="en-IE" sz="2800" b="1" dirty="0"/>
              <a:t>from that network in the past. </a:t>
            </a:r>
          </a:p>
          <a:p>
            <a:r>
              <a:rPr lang="en-IE" sz="2800" b="1" dirty="0"/>
              <a:t>Outgoing </a:t>
            </a:r>
            <a:r>
              <a:rPr lang="en-IE" sz="2800" b="1" dirty="0">
                <a:solidFill>
                  <a:schemeClr val="tx2"/>
                </a:solidFill>
              </a:rPr>
              <a:t>SSH connections </a:t>
            </a:r>
            <a:r>
              <a:rPr lang="en-IE" sz="2800" b="1" dirty="0"/>
              <a:t>may be allowed, </a:t>
            </a:r>
            <a:r>
              <a:rPr lang="en-IE" sz="2800" b="1" dirty="0">
                <a:solidFill>
                  <a:schemeClr val="tx2"/>
                </a:solidFill>
              </a:rPr>
              <a:t>but incoming SSH connections</a:t>
            </a:r>
            <a:r>
              <a:rPr lang="en-IE" sz="2800" b="1" dirty="0"/>
              <a:t> may not. </a:t>
            </a:r>
          </a:p>
          <a:p>
            <a:r>
              <a:rPr lang="en-IE" sz="2800" b="1" dirty="0"/>
              <a:t>Incoming connections on port 80 (web) may be allowed, but only to the corporate web server. </a:t>
            </a:r>
          </a:p>
          <a:p>
            <a:r>
              <a:rPr lang="en-IE" sz="2800" b="1" dirty="0"/>
              <a:t>More </a:t>
            </a:r>
            <a:r>
              <a:rPr lang="en-IE" sz="2800" b="1" dirty="0">
                <a:solidFill>
                  <a:schemeClr val="tx2"/>
                </a:solidFill>
              </a:rPr>
              <a:t>intelligent firewalls look at the contents of the packet</a:t>
            </a:r>
            <a:r>
              <a:rPr lang="en-IE" sz="2800" b="1" dirty="0"/>
              <a:t>s to determine whether to accept or reject them. </a:t>
            </a:r>
          </a:p>
          <a:p>
            <a:r>
              <a:rPr lang="en-IE" sz="2800" b="1" dirty="0"/>
              <a:t>The exact configuration of a firewall—which packets of data are and to pass through and which are </a:t>
            </a:r>
            <a:r>
              <a:rPr lang="en-IE" sz="2800" b="1" dirty="0">
                <a:solidFill>
                  <a:schemeClr val="tx2"/>
                </a:solidFill>
              </a:rPr>
              <a:t>not—depends on the security needs of an individual site</a:t>
            </a:r>
            <a:r>
              <a:rPr lang="en-IE" sz="2800" b="1" dirty="0"/>
              <a:t>. </a:t>
            </a:r>
          </a:p>
          <a:p>
            <a:r>
              <a:rPr lang="en-IE" sz="2800" b="1" dirty="0">
                <a:solidFill>
                  <a:schemeClr val="tx2"/>
                </a:solidFill>
              </a:rPr>
              <a:t>Java doesn’t have much to do with firewalls</a:t>
            </a:r>
            <a:r>
              <a:rPr lang="en-IE" sz="2800" b="1" dirty="0"/>
              <a:t>—except in so far as they often get in your way local network and check all traffic into or out of that access</a:t>
            </a:r>
            <a:endParaRPr lang="en-US" altLang="en-US" sz="4000" b="1" dirty="0"/>
          </a:p>
        </p:txBody>
      </p:sp>
    </p:spTree>
    <p:extLst>
      <p:ext uri="{BB962C8B-B14F-4D97-AF65-F5344CB8AC3E}">
        <p14:creationId xmlns:p14="http://schemas.microsoft.com/office/powerpoint/2010/main" val="865219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0"/>
            <a:ext cx="8229600" cy="762000"/>
          </a:xfrm>
        </p:spPr>
        <p:txBody>
          <a:bodyPr/>
          <a:lstStyle/>
          <a:p>
            <a:r>
              <a:rPr lang="en-US" altLang="en-US" dirty="0" smtClean="0"/>
              <a:t>Proxy Servers</a:t>
            </a:r>
          </a:p>
        </p:txBody>
      </p:sp>
      <p:pic>
        <p:nvPicPr>
          <p:cNvPr id="21506" name="Picture 2" descr="Image result for proxy serv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446" y="1295400"/>
            <a:ext cx="7167754" cy="4815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9747842"/>
      </p:ext>
    </p:extLst>
  </p:cSld>
  <p:clrMapOvr>
    <a:masterClrMapping/>
  </p:clrMapOvr>
  <p:transition spd="slow" advTm="1000"/>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smtClean="0"/>
              <a:t>Proxy Server</a:t>
            </a:r>
          </a:p>
        </p:txBody>
      </p:sp>
      <p:sp>
        <p:nvSpPr>
          <p:cNvPr id="16387" name="Rectangle 3"/>
          <p:cNvSpPr>
            <a:spLocks noGrp="1" noChangeArrowheads="1"/>
          </p:cNvSpPr>
          <p:nvPr>
            <p:ph type="body" idx="1"/>
          </p:nvPr>
        </p:nvSpPr>
        <p:spPr>
          <a:xfrm>
            <a:off x="76200" y="914400"/>
            <a:ext cx="8991600" cy="5943600"/>
          </a:xfrm>
        </p:spPr>
        <p:txBody>
          <a:bodyPr>
            <a:normAutofit fontScale="92500" lnSpcReduction="20000"/>
          </a:bodyPr>
          <a:lstStyle/>
          <a:p>
            <a:r>
              <a:rPr lang="en-IE" sz="2800" b="1" i="1" dirty="0">
                <a:solidFill>
                  <a:schemeClr val="tx2"/>
                </a:solidFill>
              </a:rPr>
              <a:t>Proxy servers </a:t>
            </a:r>
            <a:r>
              <a:rPr lang="en-IE" sz="2800" b="1" dirty="0"/>
              <a:t>are related to </a:t>
            </a:r>
            <a:r>
              <a:rPr lang="en-IE" sz="2800" b="1" dirty="0">
                <a:solidFill>
                  <a:schemeClr val="tx2"/>
                </a:solidFill>
              </a:rPr>
              <a:t>firewalls</a:t>
            </a:r>
            <a:r>
              <a:rPr lang="en-IE" sz="2800" b="1" dirty="0"/>
              <a:t>. If a </a:t>
            </a:r>
            <a:r>
              <a:rPr lang="en-IE" sz="2800" b="1" dirty="0">
                <a:solidFill>
                  <a:schemeClr val="tx2"/>
                </a:solidFill>
              </a:rPr>
              <a:t>firewall prevents hosts </a:t>
            </a:r>
            <a:r>
              <a:rPr lang="en-IE" sz="2800" b="1" dirty="0"/>
              <a:t>on a network from making direct connections to the outside world, a </a:t>
            </a:r>
            <a:r>
              <a:rPr lang="en-IE" sz="2800" b="1" dirty="0">
                <a:solidFill>
                  <a:schemeClr val="tx2"/>
                </a:solidFill>
              </a:rPr>
              <a:t>proxy server can act as a go-between</a:t>
            </a:r>
            <a:r>
              <a:rPr lang="en-IE" sz="2800" b="1" dirty="0"/>
              <a:t>.</a:t>
            </a:r>
          </a:p>
          <a:p>
            <a:r>
              <a:rPr lang="en-IE" sz="2800" b="1" dirty="0"/>
              <a:t>Thus, a </a:t>
            </a:r>
            <a:r>
              <a:rPr lang="en-IE" sz="2800" b="1" dirty="0">
                <a:solidFill>
                  <a:schemeClr val="tx2"/>
                </a:solidFill>
              </a:rPr>
              <a:t>machine that is prevented </a:t>
            </a:r>
            <a:r>
              <a:rPr lang="en-IE" sz="2800" b="1" dirty="0"/>
              <a:t>from connecting to the external network by a firewall </a:t>
            </a:r>
            <a:r>
              <a:rPr lang="en-IE" sz="2800" b="1" dirty="0">
                <a:solidFill>
                  <a:schemeClr val="tx2"/>
                </a:solidFill>
              </a:rPr>
              <a:t>would make a request for a web page from the local proxy server</a:t>
            </a:r>
            <a:r>
              <a:rPr lang="en-IE" sz="2800" b="1" dirty="0"/>
              <a:t> instead of requesting the web page directly from the remote web server. </a:t>
            </a:r>
          </a:p>
          <a:p>
            <a:r>
              <a:rPr lang="en-IE" sz="2800" b="1" dirty="0"/>
              <a:t>The </a:t>
            </a:r>
            <a:r>
              <a:rPr lang="en-IE" sz="2800" b="1" dirty="0">
                <a:solidFill>
                  <a:schemeClr val="tx2"/>
                </a:solidFill>
              </a:rPr>
              <a:t>proxy server would then request the page from the web server </a:t>
            </a:r>
            <a:r>
              <a:rPr lang="en-IE" sz="2800" b="1" dirty="0"/>
              <a:t>and </a:t>
            </a:r>
            <a:r>
              <a:rPr lang="en-IE" sz="2800" b="1" dirty="0">
                <a:solidFill>
                  <a:schemeClr val="tx2"/>
                </a:solidFill>
              </a:rPr>
              <a:t>forward the response back to the original requester</a:t>
            </a:r>
            <a:r>
              <a:rPr lang="en-IE" sz="2800" b="1" dirty="0"/>
              <a:t>. </a:t>
            </a:r>
          </a:p>
          <a:p>
            <a:r>
              <a:rPr lang="en-IE" sz="2800" b="1" dirty="0"/>
              <a:t>Proxies can also be used for FTP services and other connections. </a:t>
            </a:r>
          </a:p>
          <a:p>
            <a:r>
              <a:rPr lang="en-IE" sz="2800" b="1" dirty="0"/>
              <a:t>One of the </a:t>
            </a:r>
            <a:r>
              <a:rPr lang="en-IE" sz="2800" b="1" dirty="0">
                <a:solidFill>
                  <a:schemeClr val="tx2"/>
                </a:solidFill>
              </a:rPr>
              <a:t>security advantages </a:t>
            </a:r>
            <a:r>
              <a:rPr lang="en-IE" sz="2800" b="1" dirty="0"/>
              <a:t>of using a proxy server is that </a:t>
            </a:r>
            <a:r>
              <a:rPr lang="en-IE" sz="2800" b="1" dirty="0">
                <a:solidFill>
                  <a:schemeClr val="tx2"/>
                </a:solidFill>
              </a:rPr>
              <a:t>external hosts only find out about the proxy server</a:t>
            </a:r>
            <a:r>
              <a:rPr lang="en-IE" sz="2800" b="1" dirty="0"/>
              <a:t>. </a:t>
            </a:r>
          </a:p>
          <a:p>
            <a:r>
              <a:rPr lang="en-IE" sz="2800" b="1" dirty="0">
                <a:solidFill>
                  <a:schemeClr val="tx2"/>
                </a:solidFill>
              </a:rPr>
              <a:t>They do not learn the names and IP addresses of the internal machines, making it more difficult to hack into internal systems.</a:t>
            </a:r>
          </a:p>
        </p:txBody>
      </p:sp>
    </p:spTree>
    <p:extLst>
      <p:ext uri="{BB962C8B-B14F-4D97-AF65-F5344CB8AC3E}">
        <p14:creationId xmlns:p14="http://schemas.microsoft.com/office/powerpoint/2010/main" val="2222565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smtClean="0"/>
              <a:t>Proxy Server</a:t>
            </a:r>
          </a:p>
        </p:txBody>
      </p:sp>
      <p:sp>
        <p:nvSpPr>
          <p:cNvPr id="16387" name="Rectangle 3"/>
          <p:cNvSpPr>
            <a:spLocks noGrp="1" noChangeArrowheads="1"/>
          </p:cNvSpPr>
          <p:nvPr>
            <p:ph type="body" idx="1"/>
          </p:nvPr>
        </p:nvSpPr>
        <p:spPr>
          <a:xfrm>
            <a:off x="76200" y="914400"/>
            <a:ext cx="8991600" cy="5943600"/>
          </a:xfrm>
        </p:spPr>
        <p:txBody>
          <a:bodyPr>
            <a:normAutofit/>
          </a:bodyPr>
          <a:lstStyle/>
          <a:p>
            <a:r>
              <a:rPr lang="en-IE" sz="2800" b="1" dirty="0"/>
              <a:t>Whereas </a:t>
            </a:r>
            <a:r>
              <a:rPr lang="en-IE" sz="2800" b="1" dirty="0">
                <a:solidFill>
                  <a:schemeClr val="tx2"/>
                </a:solidFill>
              </a:rPr>
              <a:t>firewalls</a:t>
            </a:r>
            <a:r>
              <a:rPr lang="en-IE" sz="2800" b="1" dirty="0"/>
              <a:t> generally operate at the level of the </a:t>
            </a:r>
            <a:r>
              <a:rPr lang="en-IE" sz="2800" b="1" dirty="0">
                <a:solidFill>
                  <a:schemeClr val="tx2"/>
                </a:solidFill>
              </a:rPr>
              <a:t>transport</a:t>
            </a:r>
            <a:r>
              <a:rPr lang="en-IE" sz="2800" b="1" dirty="0"/>
              <a:t> or </a:t>
            </a:r>
            <a:r>
              <a:rPr lang="en-IE" sz="2800" b="1" dirty="0">
                <a:solidFill>
                  <a:schemeClr val="tx2"/>
                </a:solidFill>
              </a:rPr>
              <a:t>internet layer</a:t>
            </a:r>
            <a:r>
              <a:rPr lang="en-IE" sz="2800" b="1" dirty="0"/>
              <a:t>, </a:t>
            </a:r>
            <a:r>
              <a:rPr lang="en-IE" sz="2800" b="1" dirty="0">
                <a:solidFill>
                  <a:schemeClr val="tx2"/>
                </a:solidFill>
              </a:rPr>
              <a:t>proxy servers normally operate at the application layer</a:t>
            </a:r>
            <a:r>
              <a:rPr lang="en-IE" sz="2800" b="1" dirty="0"/>
              <a:t>. </a:t>
            </a:r>
          </a:p>
          <a:p>
            <a:r>
              <a:rPr lang="en-IE" sz="2800" b="1" dirty="0"/>
              <a:t>A proxy server has a </a:t>
            </a:r>
            <a:r>
              <a:rPr lang="en-IE" sz="2800" b="1" dirty="0">
                <a:solidFill>
                  <a:schemeClr val="tx2"/>
                </a:solidFill>
              </a:rPr>
              <a:t>detailed understanding </a:t>
            </a:r>
            <a:r>
              <a:rPr lang="en-IE" sz="2800" b="1" dirty="0"/>
              <a:t>of some application-level protocols, such as </a:t>
            </a:r>
            <a:r>
              <a:rPr lang="en-IE" sz="2800" b="1" dirty="0">
                <a:solidFill>
                  <a:schemeClr val="tx2"/>
                </a:solidFill>
              </a:rPr>
              <a:t>HTTP</a:t>
            </a:r>
            <a:r>
              <a:rPr lang="en-IE" sz="2800" b="1" dirty="0"/>
              <a:t> and </a:t>
            </a:r>
            <a:r>
              <a:rPr lang="en-IE" sz="2800" b="1" dirty="0">
                <a:solidFill>
                  <a:schemeClr val="tx2"/>
                </a:solidFill>
              </a:rPr>
              <a:t>FTP</a:t>
            </a:r>
            <a:r>
              <a:rPr lang="en-IE" sz="2800" b="1" dirty="0"/>
              <a:t>. (The notable exception are </a:t>
            </a:r>
            <a:r>
              <a:rPr lang="en-IE" sz="2800" b="1" dirty="0">
                <a:solidFill>
                  <a:schemeClr val="tx2"/>
                </a:solidFill>
              </a:rPr>
              <a:t>SOCKS proxy servers </a:t>
            </a:r>
            <a:r>
              <a:rPr lang="en-IE" sz="2800" b="1" dirty="0"/>
              <a:t>that operate at the transport layer, and can proxy for all TCP and UDP connections regardless of application layer protocol.) </a:t>
            </a:r>
          </a:p>
          <a:p>
            <a:r>
              <a:rPr lang="en-IE" sz="2800" b="1" dirty="0"/>
              <a:t>Packets that pass through the proxy server can be examined to ensure that they contain data appropriate for their type. </a:t>
            </a:r>
          </a:p>
          <a:p>
            <a:r>
              <a:rPr lang="en-IE" sz="2800" b="1" dirty="0"/>
              <a:t>For instance, FTP packets that seem to contain Telnet data can be rejected. </a:t>
            </a:r>
            <a:endParaRPr lang="en-US" altLang="en-US" sz="4000" b="1" dirty="0"/>
          </a:p>
        </p:txBody>
      </p:sp>
    </p:spTree>
    <p:extLst>
      <p:ext uri="{BB962C8B-B14F-4D97-AF65-F5344CB8AC3E}">
        <p14:creationId xmlns:p14="http://schemas.microsoft.com/office/powerpoint/2010/main" val="2401220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smtClean="0"/>
              <a:t>Proxy Server</a:t>
            </a:r>
          </a:p>
        </p:txBody>
      </p:sp>
      <p:sp>
        <p:nvSpPr>
          <p:cNvPr id="16387" name="Rectangle 3"/>
          <p:cNvSpPr>
            <a:spLocks noGrp="1" noChangeArrowheads="1"/>
          </p:cNvSpPr>
          <p:nvPr>
            <p:ph type="body" idx="1"/>
          </p:nvPr>
        </p:nvSpPr>
        <p:spPr>
          <a:xfrm>
            <a:off x="76200" y="914400"/>
            <a:ext cx="8991600" cy="5943600"/>
          </a:xfrm>
        </p:spPr>
        <p:txBody>
          <a:bodyPr>
            <a:normAutofit fontScale="85000" lnSpcReduction="20000"/>
          </a:bodyPr>
          <a:lstStyle/>
          <a:p>
            <a:r>
              <a:rPr lang="en-IE" sz="2800" b="1" dirty="0"/>
              <a:t>As long as </a:t>
            </a:r>
            <a:r>
              <a:rPr lang="en-IE" sz="2800" b="1" dirty="0">
                <a:solidFill>
                  <a:schemeClr val="tx2"/>
                </a:solidFill>
              </a:rPr>
              <a:t>all acces</a:t>
            </a:r>
            <a:r>
              <a:rPr lang="en-IE" sz="2800" b="1" dirty="0"/>
              <a:t>s to the Internet is forwarded through the </a:t>
            </a:r>
            <a:r>
              <a:rPr lang="en-IE" sz="2800" b="1" dirty="0">
                <a:solidFill>
                  <a:schemeClr val="tx2"/>
                </a:solidFill>
              </a:rPr>
              <a:t>proxy server</a:t>
            </a:r>
            <a:r>
              <a:rPr lang="en-IE" sz="2800" b="1" dirty="0"/>
              <a:t>, access can be </a:t>
            </a:r>
            <a:r>
              <a:rPr lang="en-IE" sz="2800" b="1" dirty="0">
                <a:solidFill>
                  <a:schemeClr val="tx2"/>
                </a:solidFill>
              </a:rPr>
              <a:t>tightly controlled</a:t>
            </a:r>
            <a:r>
              <a:rPr lang="en-IE" sz="2800" b="1" dirty="0"/>
              <a:t>. </a:t>
            </a:r>
          </a:p>
          <a:p>
            <a:r>
              <a:rPr lang="en-IE" sz="2800" b="1" dirty="0"/>
              <a:t>For instance, a company might choose to </a:t>
            </a:r>
            <a:r>
              <a:rPr lang="en-IE" sz="2800" b="1" dirty="0">
                <a:solidFill>
                  <a:schemeClr val="tx2"/>
                </a:solidFill>
              </a:rPr>
              <a:t>block access </a:t>
            </a:r>
            <a:r>
              <a:rPr lang="en-IE" sz="2800" b="1" dirty="0"/>
              <a:t>to </a:t>
            </a:r>
            <a:r>
              <a:rPr lang="en-IE" sz="2800" b="1" i="1" dirty="0">
                <a:solidFill>
                  <a:schemeClr val="tx2"/>
                </a:solidFill>
              </a:rPr>
              <a:t>www.facebook.com</a:t>
            </a:r>
            <a:r>
              <a:rPr lang="en-IE" sz="2800" b="1" i="1" dirty="0"/>
              <a:t> </a:t>
            </a:r>
            <a:r>
              <a:rPr lang="en-IE" sz="2800" b="1" dirty="0"/>
              <a:t>but </a:t>
            </a:r>
            <a:r>
              <a:rPr lang="en-IE" sz="2800" b="1" dirty="0">
                <a:solidFill>
                  <a:schemeClr val="tx2"/>
                </a:solidFill>
              </a:rPr>
              <a:t>allow access to </a:t>
            </a:r>
            <a:r>
              <a:rPr lang="en-IE" sz="2800" b="1" i="1" dirty="0">
                <a:solidFill>
                  <a:schemeClr val="tx2"/>
                </a:solidFill>
              </a:rPr>
              <a:t>www.google.com</a:t>
            </a:r>
            <a:r>
              <a:rPr lang="en-IE" sz="2800" b="1" dirty="0"/>
              <a:t>. </a:t>
            </a:r>
          </a:p>
          <a:p>
            <a:r>
              <a:rPr lang="en-IE" sz="2800" b="1" dirty="0"/>
              <a:t>Some </a:t>
            </a:r>
            <a:r>
              <a:rPr lang="en-IE" sz="2800" b="1" dirty="0">
                <a:solidFill>
                  <a:schemeClr val="tx2"/>
                </a:solidFill>
              </a:rPr>
              <a:t>companies allow incoming FTP </a:t>
            </a:r>
            <a:r>
              <a:rPr lang="en-IE" sz="2800" b="1" dirty="0"/>
              <a:t>but </a:t>
            </a:r>
            <a:r>
              <a:rPr lang="en-IE" sz="2800" b="1" dirty="0">
                <a:solidFill>
                  <a:schemeClr val="tx2"/>
                </a:solidFill>
              </a:rPr>
              <a:t>disallow outgoing FTP</a:t>
            </a:r>
            <a:r>
              <a:rPr lang="en-IE" sz="2800" b="1" dirty="0"/>
              <a:t> so </a:t>
            </a:r>
            <a:r>
              <a:rPr lang="en-IE" sz="2800" b="1" dirty="0">
                <a:solidFill>
                  <a:schemeClr val="tx2"/>
                </a:solidFill>
              </a:rPr>
              <a:t>confidential data cannot be as easily smuggled out </a:t>
            </a:r>
            <a:r>
              <a:rPr lang="en-IE" sz="2800" b="1" dirty="0"/>
              <a:t>of the company. </a:t>
            </a:r>
          </a:p>
          <a:p>
            <a:r>
              <a:rPr lang="en-IE" sz="2800" b="1" dirty="0"/>
              <a:t>Other companies use proxy servers to </a:t>
            </a:r>
            <a:r>
              <a:rPr lang="en-IE" sz="2800" b="1" dirty="0">
                <a:solidFill>
                  <a:schemeClr val="tx2"/>
                </a:solidFill>
              </a:rPr>
              <a:t>track their employees</a:t>
            </a:r>
            <a:r>
              <a:rPr lang="en-IE" sz="2800" b="1" dirty="0"/>
              <a:t>’ web usage so they can see </a:t>
            </a:r>
            <a:r>
              <a:rPr lang="en-IE" sz="2800" b="1" dirty="0">
                <a:solidFill>
                  <a:schemeClr val="tx2"/>
                </a:solidFill>
              </a:rPr>
              <a:t>who’s using the Internet to get tech support </a:t>
            </a:r>
            <a:r>
              <a:rPr lang="en-IE" sz="2800" b="1" dirty="0"/>
              <a:t>and who’s using it </a:t>
            </a:r>
            <a:r>
              <a:rPr lang="en-IE" sz="2800" b="1" dirty="0">
                <a:solidFill>
                  <a:schemeClr val="tx2"/>
                </a:solidFill>
              </a:rPr>
              <a:t>for social media</a:t>
            </a:r>
            <a:r>
              <a:rPr lang="en-IE" sz="2800" b="1" dirty="0"/>
              <a:t>. </a:t>
            </a:r>
          </a:p>
          <a:p>
            <a:r>
              <a:rPr lang="en-IE" sz="2800" b="1" dirty="0"/>
              <a:t>Proxy servers can also be used to implement </a:t>
            </a:r>
            <a:r>
              <a:rPr lang="en-IE" sz="2800" b="1" dirty="0">
                <a:solidFill>
                  <a:schemeClr val="tx2"/>
                </a:solidFill>
              </a:rPr>
              <a:t>local caching</a:t>
            </a:r>
            <a:r>
              <a:rPr lang="en-IE" sz="2800" b="1" dirty="0"/>
              <a:t>. </a:t>
            </a:r>
          </a:p>
          <a:p>
            <a:pPr lvl="1"/>
            <a:r>
              <a:rPr lang="en-IE" sz="2400" b="1" dirty="0"/>
              <a:t>When a file is requested from a web server, the proxy server first checks to see if the file </a:t>
            </a:r>
            <a:r>
              <a:rPr lang="en-IE" sz="2400" b="1" dirty="0">
                <a:solidFill>
                  <a:schemeClr val="tx2"/>
                </a:solidFill>
              </a:rPr>
              <a:t>is in its cache</a:t>
            </a:r>
            <a:r>
              <a:rPr lang="en-IE" sz="2400" b="1" dirty="0"/>
              <a:t>. If the file is in the cache, the proxy serves the file from the </a:t>
            </a:r>
            <a:r>
              <a:rPr lang="en-IE" sz="2400" b="1" dirty="0">
                <a:solidFill>
                  <a:schemeClr val="tx2"/>
                </a:solidFill>
              </a:rPr>
              <a:t>cache rather than from the Internet</a:t>
            </a:r>
            <a:r>
              <a:rPr lang="en-IE" sz="2400" b="1" dirty="0"/>
              <a:t>.</a:t>
            </a:r>
          </a:p>
          <a:p>
            <a:pPr lvl="1"/>
            <a:r>
              <a:rPr lang="en-IE" sz="2400" b="1" dirty="0"/>
              <a:t>If the file </a:t>
            </a:r>
            <a:r>
              <a:rPr lang="en-IE" sz="2400" b="1" dirty="0">
                <a:solidFill>
                  <a:schemeClr val="tx2"/>
                </a:solidFill>
              </a:rPr>
              <a:t>is not in the cache</a:t>
            </a:r>
            <a:r>
              <a:rPr lang="en-IE" sz="2400" b="1" dirty="0"/>
              <a:t>, the proxy server </a:t>
            </a:r>
            <a:r>
              <a:rPr lang="en-IE" sz="2400" b="1" dirty="0">
                <a:solidFill>
                  <a:schemeClr val="tx2"/>
                </a:solidFill>
              </a:rPr>
              <a:t>retrieves the file</a:t>
            </a:r>
            <a:r>
              <a:rPr lang="en-IE" sz="2400" b="1" dirty="0"/>
              <a:t>, forwards it to the requester, and stores it in the cache for the next time it is requested. </a:t>
            </a:r>
          </a:p>
          <a:p>
            <a:pPr lvl="1"/>
            <a:r>
              <a:rPr lang="en-IE" b="1" dirty="0"/>
              <a:t>This scheme can </a:t>
            </a:r>
            <a:r>
              <a:rPr lang="en-IE" b="1" dirty="0">
                <a:solidFill>
                  <a:schemeClr val="tx2"/>
                </a:solidFill>
              </a:rPr>
              <a:t>significantly reduce load on an Internet </a:t>
            </a:r>
            <a:r>
              <a:rPr lang="en-IE" b="1" dirty="0"/>
              <a:t>connection and greatly improve response time. </a:t>
            </a:r>
          </a:p>
        </p:txBody>
      </p:sp>
    </p:spTree>
    <p:extLst>
      <p:ext uri="{BB962C8B-B14F-4D97-AF65-F5344CB8AC3E}">
        <p14:creationId xmlns:p14="http://schemas.microsoft.com/office/powerpoint/2010/main" val="2783844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38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0"/>
            <a:ext cx="8229600" cy="762000"/>
          </a:xfrm>
        </p:spPr>
        <p:txBody>
          <a:bodyPr/>
          <a:lstStyle/>
          <a:p>
            <a:r>
              <a:rPr lang="en-US" altLang="en-US" dirty="0" smtClean="0"/>
              <a:t>Proxy Servers…(4)</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066800"/>
            <a:ext cx="933450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4500562"/>
      </p:ext>
    </p:extLst>
  </p:cSld>
  <p:clrMapOvr>
    <a:masterClrMapping/>
  </p:clrMapOvr>
  <p:transition spd="slow" advTm="1000"/>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reeform 2"/>
          <p:cNvSpPr>
            <a:spLocks/>
          </p:cNvSpPr>
          <p:nvPr/>
        </p:nvSpPr>
        <p:spPr bwMode="auto">
          <a:xfrm>
            <a:off x="3957638" y="3543300"/>
            <a:ext cx="1792287" cy="1392238"/>
          </a:xfrm>
          <a:custGeom>
            <a:avLst/>
            <a:gdLst>
              <a:gd name="T0" fmla="*/ 2147483647 w 1129"/>
              <a:gd name="T1" fmla="*/ 2147483647 h 877"/>
              <a:gd name="T2" fmla="*/ 2147483647 w 1129"/>
              <a:gd name="T3" fmla="*/ 2147483647 h 877"/>
              <a:gd name="T4" fmla="*/ 2147483647 w 1129"/>
              <a:gd name="T5" fmla="*/ 2147483647 h 877"/>
              <a:gd name="T6" fmla="*/ 2147483647 w 1129"/>
              <a:gd name="T7" fmla="*/ 2147483647 h 877"/>
              <a:gd name="T8" fmla="*/ 2147483647 w 1129"/>
              <a:gd name="T9" fmla="*/ 2147483647 h 877"/>
              <a:gd name="T10" fmla="*/ 2147483647 w 1129"/>
              <a:gd name="T11" fmla="*/ 2147483647 h 877"/>
              <a:gd name="T12" fmla="*/ 2147483647 w 1129"/>
              <a:gd name="T13" fmla="*/ 0 h 877"/>
              <a:gd name="T14" fmla="*/ 2147483647 w 1129"/>
              <a:gd name="T15" fmla="*/ 2147483647 h 877"/>
              <a:gd name="T16" fmla="*/ 2147483647 w 1129"/>
              <a:gd name="T17" fmla="*/ 2147483647 h 877"/>
              <a:gd name="T18" fmla="*/ 2147483647 w 1129"/>
              <a:gd name="T19" fmla="*/ 2147483647 h 877"/>
              <a:gd name="T20" fmla="*/ 2147483647 w 1129"/>
              <a:gd name="T21" fmla="*/ 2147483647 h 877"/>
              <a:gd name="T22" fmla="*/ 2147483647 w 1129"/>
              <a:gd name="T23" fmla="*/ 2147483647 h 877"/>
              <a:gd name="T24" fmla="*/ 2147483647 w 1129"/>
              <a:gd name="T25" fmla="*/ 2147483647 h 877"/>
              <a:gd name="T26" fmla="*/ 2147483647 w 1129"/>
              <a:gd name="T27" fmla="*/ 2147483647 h 877"/>
              <a:gd name="T28" fmla="*/ 2147483647 w 1129"/>
              <a:gd name="T29" fmla="*/ 2147483647 h 877"/>
              <a:gd name="T30" fmla="*/ 2147483647 w 1129"/>
              <a:gd name="T31" fmla="*/ 2147483647 h 877"/>
              <a:gd name="T32" fmla="*/ 2147483647 w 1129"/>
              <a:gd name="T33" fmla="*/ 2147483647 h 877"/>
              <a:gd name="T34" fmla="*/ 2147483647 w 1129"/>
              <a:gd name="T35" fmla="*/ 2147483647 h 877"/>
              <a:gd name="T36" fmla="*/ 2147483647 w 1129"/>
              <a:gd name="T37" fmla="*/ 2147483647 h 877"/>
              <a:gd name="T38" fmla="*/ 2147483647 w 1129"/>
              <a:gd name="T39" fmla="*/ 2147483647 h 877"/>
              <a:gd name="T40" fmla="*/ 2147483647 w 1129"/>
              <a:gd name="T41" fmla="*/ 2147483647 h 877"/>
              <a:gd name="T42" fmla="*/ 2147483647 w 1129"/>
              <a:gd name="T43" fmla="*/ 2147483647 h 877"/>
              <a:gd name="T44" fmla="*/ 2147483647 w 1129"/>
              <a:gd name="T45" fmla="*/ 2147483647 h 877"/>
              <a:gd name="T46" fmla="*/ 2147483647 w 1129"/>
              <a:gd name="T47" fmla="*/ 2147483647 h 877"/>
              <a:gd name="T48" fmla="*/ 2147483647 w 1129"/>
              <a:gd name="T49" fmla="*/ 2147483647 h 877"/>
              <a:gd name="T50" fmla="*/ 2147483647 w 1129"/>
              <a:gd name="T51" fmla="*/ 2147483647 h 877"/>
              <a:gd name="T52" fmla="*/ 2147483647 w 1129"/>
              <a:gd name="T53" fmla="*/ 2147483647 h 877"/>
              <a:gd name="T54" fmla="*/ 2147483647 w 1129"/>
              <a:gd name="T55" fmla="*/ 2147483647 h 877"/>
              <a:gd name="T56" fmla="*/ 2147483647 w 1129"/>
              <a:gd name="T57" fmla="*/ 2147483647 h 877"/>
              <a:gd name="T58" fmla="*/ 2147483647 w 1129"/>
              <a:gd name="T59" fmla="*/ 2147483647 h 877"/>
              <a:gd name="T60" fmla="*/ 2147483647 w 1129"/>
              <a:gd name="T61" fmla="*/ 2147483647 h 877"/>
              <a:gd name="T62" fmla="*/ 2147483647 w 1129"/>
              <a:gd name="T63" fmla="*/ 2147483647 h 877"/>
              <a:gd name="T64" fmla="*/ 2147483647 w 1129"/>
              <a:gd name="T65" fmla="*/ 2147483647 h 877"/>
              <a:gd name="T66" fmla="*/ 2147483647 w 1129"/>
              <a:gd name="T67" fmla="*/ 2147483647 h 877"/>
              <a:gd name="T68" fmla="*/ 2147483647 w 1129"/>
              <a:gd name="T69" fmla="*/ 2147483647 h 877"/>
              <a:gd name="T70" fmla="*/ 2147483647 w 1129"/>
              <a:gd name="T71" fmla="*/ 2147483647 h 877"/>
              <a:gd name="T72" fmla="*/ 2147483647 w 1129"/>
              <a:gd name="T73" fmla="*/ 2147483647 h 877"/>
              <a:gd name="T74" fmla="*/ 2147483647 w 1129"/>
              <a:gd name="T75" fmla="*/ 2147483647 h 877"/>
              <a:gd name="T76" fmla="*/ 0 w 1129"/>
              <a:gd name="T77" fmla="*/ 2147483647 h 877"/>
              <a:gd name="T78" fmla="*/ 2147483647 w 1129"/>
              <a:gd name="T79" fmla="*/ 2147483647 h 8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129" h="877">
                <a:moveTo>
                  <a:pt x="36" y="192"/>
                </a:moveTo>
                <a:lnTo>
                  <a:pt x="48" y="156"/>
                </a:lnTo>
                <a:lnTo>
                  <a:pt x="60" y="120"/>
                </a:lnTo>
                <a:lnTo>
                  <a:pt x="72" y="84"/>
                </a:lnTo>
                <a:lnTo>
                  <a:pt x="108" y="60"/>
                </a:lnTo>
                <a:lnTo>
                  <a:pt x="144" y="36"/>
                </a:lnTo>
                <a:lnTo>
                  <a:pt x="180" y="24"/>
                </a:lnTo>
                <a:lnTo>
                  <a:pt x="216" y="24"/>
                </a:lnTo>
                <a:lnTo>
                  <a:pt x="264" y="12"/>
                </a:lnTo>
                <a:lnTo>
                  <a:pt x="300" y="12"/>
                </a:lnTo>
                <a:lnTo>
                  <a:pt x="336" y="12"/>
                </a:lnTo>
                <a:lnTo>
                  <a:pt x="384" y="12"/>
                </a:lnTo>
                <a:lnTo>
                  <a:pt x="420" y="0"/>
                </a:lnTo>
                <a:lnTo>
                  <a:pt x="456" y="0"/>
                </a:lnTo>
                <a:lnTo>
                  <a:pt x="492" y="0"/>
                </a:lnTo>
                <a:lnTo>
                  <a:pt x="516" y="36"/>
                </a:lnTo>
                <a:lnTo>
                  <a:pt x="552" y="48"/>
                </a:lnTo>
                <a:lnTo>
                  <a:pt x="588" y="72"/>
                </a:lnTo>
                <a:lnTo>
                  <a:pt x="624" y="72"/>
                </a:lnTo>
                <a:lnTo>
                  <a:pt x="660" y="84"/>
                </a:lnTo>
                <a:lnTo>
                  <a:pt x="696" y="84"/>
                </a:lnTo>
                <a:lnTo>
                  <a:pt x="732" y="96"/>
                </a:lnTo>
                <a:lnTo>
                  <a:pt x="768" y="96"/>
                </a:lnTo>
                <a:lnTo>
                  <a:pt x="804" y="120"/>
                </a:lnTo>
                <a:lnTo>
                  <a:pt x="828" y="156"/>
                </a:lnTo>
                <a:lnTo>
                  <a:pt x="864" y="180"/>
                </a:lnTo>
                <a:lnTo>
                  <a:pt x="900" y="192"/>
                </a:lnTo>
                <a:lnTo>
                  <a:pt x="936" y="192"/>
                </a:lnTo>
                <a:lnTo>
                  <a:pt x="984" y="192"/>
                </a:lnTo>
                <a:lnTo>
                  <a:pt x="1020" y="204"/>
                </a:lnTo>
                <a:lnTo>
                  <a:pt x="1056" y="216"/>
                </a:lnTo>
                <a:lnTo>
                  <a:pt x="1080" y="252"/>
                </a:lnTo>
                <a:lnTo>
                  <a:pt x="1104" y="288"/>
                </a:lnTo>
                <a:lnTo>
                  <a:pt x="1116" y="324"/>
                </a:lnTo>
                <a:lnTo>
                  <a:pt x="1128" y="360"/>
                </a:lnTo>
                <a:lnTo>
                  <a:pt x="1128" y="396"/>
                </a:lnTo>
                <a:lnTo>
                  <a:pt x="1128" y="432"/>
                </a:lnTo>
                <a:lnTo>
                  <a:pt x="1128" y="468"/>
                </a:lnTo>
                <a:lnTo>
                  <a:pt x="1128" y="504"/>
                </a:lnTo>
                <a:lnTo>
                  <a:pt x="1128" y="540"/>
                </a:lnTo>
                <a:lnTo>
                  <a:pt x="1116" y="576"/>
                </a:lnTo>
                <a:lnTo>
                  <a:pt x="1104" y="612"/>
                </a:lnTo>
                <a:lnTo>
                  <a:pt x="1092" y="648"/>
                </a:lnTo>
                <a:lnTo>
                  <a:pt x="1080" y="684"/>
                </a:lnTo>
                <a:lnTo>
                  <a:pt x="1056" y="720"/>
                </a:lnTo>
                <a:lnTo>
                  <a:pt x="1032" y="756"/>
                </a:lnTo>
                <a:lnTo>
                  <a:pt x="996" y="780"/>
                </a:lnTo>
                <a:lnTo>
                  <a:pt x="984" y="816"/>
                </a:lnTo>
                <a:lnTo>
                  <a:pt x="948" y="840"/>
                </a:lnTo>
                <a:lnTo>
                  <a:pt x="912" y="864"/>
                </a:lnTo>
                <a:lnTo>
                  <a:pt x="876" y="864"/>
                </a:lnTo>
                <a:lnTo>
                  <a:pt x="804" y="876"/>
                </a:lnTo>
                <a:lnTo>
                  <a:pt x="756" y="876"/>
                </a:lnTo>
                <a:lnTo>
                  <a:pt x="720" y="876"/>
                </a:lnTo>
                <a:lnTo>
                  <a:pt x="672" y="876"/>
                </a:lnTo>
                <a:lnTo>
                  <a:pt x="588" y="876"/>
                </a:lnTo>
                <a:lnTo>
                  <a:pt x="552" y="864"/>
                </a:lnTo>
                <a:lnTo>
                  <a:pt x="516" y="864"/>
                </a:lnTo>
                <a:lnTo>
                  <a:pt x="480" y="852"/>
                </a:lnTo>
                <a:lnTo>
                  <a:pt x="444" y="840"/>
                </a:lnTo>
                <a:lnTo>
                  <a:pt x="408" y="828"/>
                </a:lnTo>
                <a:lnTo>
                  <a:pt x="360" y="804"/>
                </a:lnTo>
                <a:lnTo>
                  <a:pt x="324" y="780"/>
                </a:lnTo>
                <a:lnTo>
                  <a:pt x="288" y="768"/>
                </a:lnTo>
                <a:lnTo>
                  <a:pt x="252" y="744"/>
                </a:lnTo>
                <a:lnTo>
                  <a:pt x="216" y="720"/>
                </a:lnTo>
                <a:lnTo>
                  <a:pt x="180" y="696"/>
                </a:lnTo>
                <a:lnTo>
                  <a:pt x="144" y="672"/>
                </a:lnTo>
                <a:lnTo>
                  <a:pt x="108" y="636"/>
                </a:lnTo>
                <a:lnTo>
                  <a:pt x="72" y="600"/>
                </a:lnTo>
                <a:lnTo>
                  <a:pt x="48" y="564"/>
                </a:lnTo>
                <a:lnTo>
                  <a:pt x="36" y="528"/>
                </a:lnTo>
                <a:lnTo>
                  <a:pt x="24" y="492"/>
                </a:lnTo>
                <a:lnTo>
                  <a:pt x="12" y="456"/>
                </a:lnTo>
                <a:lnTo>
                  <a:pt x="12" y="420"/>
                </a:lnTo>
                <a:lnTo>
                  <a:pt x="12" y="384"/>
                </a:lnTo>
                <a:lnTo>
                  <a:pt x="0" y="348"/>
                </a:lnTo>
                <a:lnTo>
                  <a:pt x="0" y="312"/>
                </a:lnTo>
                <a:lnTo>
                  <a:pt x="0" y="276"/>
                </a:lnTo>
                <a:lnTo>
                  <a:pt x="12" y="240"/>
                </a:lnTo>
                <a:lnTo>
                  <a:pt x="36" y="204"/>
                </a:lnTo>
              </a:path>
            </a:pathLst>
          </a:custGeom>
          <a:gradFill rotWithShape="0">
            <a:gsLst>
              <a:gs pos="0">
                <a:srgbClr val="FFFFFF"/>
              </a:gs>
              <a:gs pos="100000">
                <a:srgbClr val="4C4C4C"/>
              </a:gs>
            </a:gsLst>
            <a:path path="rect">
              <a:fillToRect r="100000" b="100000"/>
            </a:path>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6147" name="Line 3"/>
          <p:cNvSpPr>
            <a:spLocks noChangeShapeType="1"/>
          </p:cNvSpPr>
          <p:nvPr/>
        </p:nvSpPr>
        <p:spPr bwMode="auto">
          <a:xfrm flipV="1">
            <a:off x="2243138" y="3848100"/>
            <a:ext cx="1809750" cy="55245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6148" name="Line 4"/>
          <p:cNvSpPr>
            <a:spLocks noChangeShapeType="1"/>
          </p:cNvSpPr>
          <p:nvPr/>
        </p:nvSpPr>
        <p:spPr bwMode="auto">
          <a:xfrm flipH="1">
            <a:off x="2281238" y="4248150"/>
            <a:ext cx="1695450" cy="32385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6149" name="Line 5"/>
          <p:cNvSpPr>
            <a:spLocks noChangeShapeType="1"/>
          </p:cNvSpPr>
          <p:nvPr/>
        </p:nvSpPr>
        <p:spPr bwMode="auto">
          <a:xfrm>
            <a:off x="5748338" y="4019550"/>
            <a:ext cx="933450" cy="51435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6150" name="Line 6"/>
          <p:cNvSpPr>
            <a:spLocks noChangeShapeType="1"/>
          </p:cNvSpPr>
          <p:nvPr/>
        </p:nvSpPr>
        <p:spPr bwMode="auto">
          <a:xfrm flipH="1" flipV="1">
            <a:off x="5729288" y="4438650"/>
            <a:ext cx="933450" cy="22860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E"/>
          </a:p>
        </p:txBody>
      </p:sp>
      <p:sp>
        <p:nvSpPr>
          <p:cNvPr id="106503" name="Rectangle 7"/>
          <p:cNvSpPr>
            <a:spLocks noChangeArrowheads="1"/>
          </p:cNvSpPr>
          <p:nvPr/>
        </p:nvSpPr>
        <p:spPr bwMode="auto">
          <a:xfrm>
            <a:off x="4189413" y="4022725"/>
            <a:ext cx="12890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sz="2400" b="1" dirty="0">
                <a:latin typeface="+mj-lt"/>
              </a:rPr>
              <a:t>Network</a:t>
            </a:r>
          </a:p>
        </p:txBody>
      </p:sp>
      <p:sp>
        <p:nvSpPr>
          <p:cNvPr id="106504" name="Rectangle 8"/>
          <p:cNvSpPr>
            <a:spLocks noChangeArrowheads="1"/>
          </p:cNvSpPr>
          <p:nvPr/>
        </p:nvSpPr>
        <p:spPr bwMode="auto">
          <a:xfrm rot="18840000">
            <a:off x="3153569" y="2958307"/>
            <a:ext cx="94138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dirty="0">
                <a:latin typeface="+mj-lt"/>
              </a:rPr>
              <a:t>Request</a:t>
            </a:r>
          </a:p>
        </p:txBody>
      </p:sp>
      <p:sp>
        <p:nvSpPr>
          <p:cNvPr id="106505" name="Rectangle 9"/>
          <p:cNvSpPr>
            <a:spLocks noChangeArrowheads="1"/>
          </p:cNvSpPr>
          <p:nvPr/>
        </p:nvSpPr>
        <p:spPr bwMode="auto">
          <a:xfrm rot="2580000">
            <a:off x="3311525" y="4578350"/>
            <a:ext cx="7604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dirty="0">
                <a:latin typeface="+mj-lt"/>
              </a:rPr>
              <a:t>Result</a:t>
            </a:r>
          </a:p>
        </p:txBody>
      </p:sp>
      <p:sp>
        <p:nvSpPr>
          <p:cNvPr id="6154" name="Rectangle 10"/>
          <p:cNvSpPr>
            <a:spLocks noChangeArrowheads="1"/>
          </p:cNvSpPr>
          <p:nvPr/>
        </p:nvSpPr>
        <p:spPr bwMode="auto">
          <a:xfrm>
            <a:off x="1752600" y="30163"/>
            <a:ext cx="7378700" cy="111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a:lnSpc>
                <a:spcPct val="90000"/>
              </a:lnSpc>
            </a:pPr>
            <a:endParaRPr lang="en-GB" altLang="en-US" sz="3600" b="1">
              <a:solidFill>
                <a:srgbClr val="FAFD00"/>
              </a:solidFill>
            </a:endParaRPr>
          </a:p>
        </p:txBody>
      </p:sp>
      <p:sp>
        <p:nvSpPr>
          <p:cNvPr id="106507" name="Rectangle 11"/>
          <p:cNvSpPr>
            <a:spLocks noChangeArrowheads="1"/>
          </p:cNvSpPr>
          <p:nvPr/>
        </p:nvSpPr>
        <p:spPr bwMode="auto">
          <a:xfrm>
            <a:off x="2436813" y="1881188"/>
            <a:ext cx="4557712"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sz="2800" dirty="0">
                <a:solidFill>
                  <a:schemeClr val="folHlink"/>
                </a:solidFill>
                <a:latin typeface="+mj-lt"/>
              </a:rPr>
              <a:t>a client, a server, and network</a:t>
            </a:r>
          </a:p>
        </p:txBody>
      </p:sp>
      <p:graphicFrame>
        <p:nvGraphicFramePr>
          <p:cNvPr id="6156" name="Object 12"/>
          <p:cNvGraphicFramePr>
            <a:graphicFrameLocks/>
          </p:cNvGraphicFramePr>
          <p:nvPr/>
        </p:nvGraphicFramePr>
        <p:xfrm>
          <a:off x="6453188" y="3336925"/>
          <a:ext cx="2538412" cy="1951038"/>
        </p:xfrm>
        <a:graphic>
          <a:graphicData uri="http://schemas.openxmlformats.org/presentationml/2006/ole">
            <mc:AlternateContent xmlns:mc="http://schemas.openxmlformats.org/markup-compatibility/2006">
              <mc:Choice xmlns:v="urn:schemas-microsoft-com:vml" Requires="v">
                <p:oleObj spid="_x0000_s11266" name="Microsoft ClipArt Gallery" r:id="rId3" imgW="4183063" imgH="3216275" progId="MS_ClipArt_Gallery">
                  <p:embed/>
                </p:oleObj>
              </mc:Choice>
              <mc:Fallback>
                <p:oleObj name="Microsoft ClipArt Gallery" r:id="rId3" imgW="4183063" imgH="3216275" progId="MS_ClipArt_Gallery">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3188" y="3336925"/>
                        <a:ext cx="2538412" cy="195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7" name="Object 13"/>
          <p:cNvGraphicFramePr>
            <a:graphicFrameLocks/>
          </p:cNvGraphicFramePr>
          <p:nvPr/>
        </p:nvGraphicFramePr>
        <p:xfrm>
          <a:off x="319088" y="3124200"/>
          <a:ext cx="2317750" cy="1847850"/>
        </p:xfrm>
        <a:graphic>
          <a:graphicData uri="http://schemas.openxmlformats.org/presentationml/2006/ole">
            <mc:AlternateContent xmlns:mc="http://schemas.openxmlformats.org/markup-compatibility/2006">
              <mc:Choice xmlns:v="urn:schemas-microsoft-com:vml" Requires="v">
                <p:oleObj spid="_x0000_s11267" name="Microsoft ClipArt Gallery" r:id="rId5" imgW="4006850" imgH="3192463" progId="MS_ClipArt_Gallery">
                  <p:embed/>
                </p:oleObj>
              </mc:Choice>
              <mc:Fallback>
                <p:oleObj name="Microsoft ClipArt Gallery" r:id="rId5" imgW="4006850" imgH="3192463" progId="MS_ClipArt_Gallery">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9088" y="3124200"/>
                        <a:ext cx="2317750"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6510" name="Rectangle 14"/>
          <p:cNvSpPr>
            <a:spLocks noChangeArrowheads="1"/>
          </p:cNvSpPr>
          <p:nvPr/>
        </p:nvSpPr>
        <p:spPr bwMode="auto">
          <a:xfrm>
            <a:off x="1046163" y="3375025"/>
            <a:ext cx="928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sz="2400" dirty="0">
                <a:solidFill>
                  <a:srgbClr val="FFFF00"/>
                </a:solidFill>
                <a:latin typeface="+mj-lt"/>
              </a:rPr>
              <a:t>Client</a:t>
            </a:r>
          </a:p>
        </p:txBody>
      </p:sp>
      <p:sp>
        <p:nvSpPr>
          <p:cNvPr id="106511" name="Rectangle 15"/>
          <p:cNvSpPr>
            <a:spLocks noChangeArrowheads="1"/>
          </p:cNvSpPr>
          <p:nvPr/>
        </p:nvSpPr>
        <p:spPr bwMode="auto">
          <a:xfrm>
            <a:off x="7218363" y="3660775"/>
            <a:ext cx="979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sz="2400" dirty="0">
                <a:solidFill>
                  <a:srgbClr val="FFFF00"/>
                </a:solidFill>
                <a:latin typeface="+mj-lt"/>
              </a:rPr>
              <a:t>Server</a:t>
            </a:r>
          </a:p>
        </p:txBody>
      </p:sp>
      <p:sp>
        <p:nvSpPr>
          <p:cNvPr id="106512" name="Rectangle 16"/>
          <p:cNvSpPr>
            <a:spLocks noChangeArrowheads="1"/>
          </p:cNvSpPr>
          <p:nvPr/>
        </p:nvSpPr>
        <p:spPr bwMode="auto">
          <a:xfrm>
            <a:off x="569913" y="5146675"/>
            <a:ext cx="20828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sz="2400" b="1" dirty="0">
                <a:solidFill>
                  <a:schemeClr val="folHlink"/>
                </a:solidFill>
                <a:latin typeface="+mj-lt"/>
              </a:rPr>
              <a:t>Client machine</a:t>
            </a:r>
          </a:p>
        </p:txBody>
      </p:sp>
      <p:sp>
        <p:nvSpPr>
          <p:cNvPr id="106513" name="Rectangle 17"/>
          <p:cNvSpPr>
            <a:spLocks noChangeArrowheads="1"/>
          </p:cNvSpPr>
          <p:nvPr/>
        </p:nvSpPr>
        <p:spPr bwMode="auto">
          <a:xfrm>
            <a:off x="6399213" y="5470525"/>
            <a:ext cx="2163762"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sz="2400" b="1" dirty="0">
                <a:solidFill>
                  <a:schemeClr val="folHlink"/>
                </a:solidFill>
                <a:latin typeface="+mj-lt"/>
              </a:rPr>
              <a:t>Server machine</a:t>
            </a:r>
          </a:p>
        </p:txBody>
      </p:sp>
      <p:sp>
        <p:nvSpPr>
          <p:cNvPr id="6162" name="Rectangle 18"/>
          <p:cNvSpPr>
            <a:spLocks noGrp="1" noChangeArrowheads="1"/>
          </p:cNvSpPr>
          <p:nvPr>
            <p:ph type="title"/>
          </p:nvPr>
        </p:nvSpPr>
        <p:spPr/>
        <p:txBody>
          <a:bodyPr/>
          <a:lstStyle/>
          <a:p>
            <a:r>
              <a:rPr lang="en-US" altLang="en-US" b="1" smtClean="0"/>
              <a:t>Elements of C-S Computing</a:t>
            </a:r>
          </a:p>
        </p:txBody>
      </p:sp>
    </p:spTree>
    <p:extLst>
      <p:ext uri="{BB962C8B-B14F-4D97-AF65-F5344CB8AC3E}">
        <p14:creationId xmlns:p14="http://schemas.microsoft.com/office/powerpoint/2010/main" val="905190815"/>
      </p:ext>
    </p:extLst>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smtClean="0"/>
              <a:t>Client Server Model</a:t>
            </a:r>
          </a:p>
        </p:txBody>
      </p:sp>
      <p:sp>
        <p:nvSpPr>
          <p:cNvPr id="16387" name="Rectangle 3"/>
          <p:cNvSpPr>
            <a:spLocks noGrp="1" noChangeArrowheads="1"/>
          </p:cNvSpPr>
          <p:nvPr>
            <p:ph type="body" idx="1"/>
          </p:nvPr>
        </p:nvSpPr>
        <p:spPr>
          <a:xfrm>
            <a:off x="76200" y="914400"/>
            <a:ext cx="8991600" cy="5943600"/>
          </a:xfrm>
        </p:spPr>
        <p:txBody>
          <a:bodyPr>
            <a:normAutofit fontScale="85000" lnSpcReduction="10000"/>
          </a:bodyPr>
          <a:lstStyle/>
          <a:p>
            <a:r>
              <a:rPr lang="en-IE" sz="2800" b="1" dirty="0"/>
              <a:t>Most modern network programming is based on a </a:t>
            </a:r>
            <a:r>
              <a:rPr lang="en-IE" sz="2800" b="1" dirty="0">
                <a:solidFill>
                  <a:schemeClr val="tx2"/>
                </a:solidFill>
              </a:rPr>
              <a:t>client/server model</a:t>
            </a:r>
            <a:r>
              <a:rPr lang="en-IE" sz="2800" b="1" dirty="0"/>
              <a:t>. </a:t>
            </a:r>
          </a:p>
          <a:p>
            <a:r>
              <a:rPr lang="en-IE" sz="2800" b="1" dirty="0"/>
              <a:t>A client/server application typically stores </a:t>
            </a:r>
            <a:r>
              <a:rPr lang="en-IE" sz="2800" b="1" dirty="0">
                <a:solidFill>
                  <a:schemeClr val="tx2"/>
                </a:solidFill>
              </a:rPr>
              <a:t>large quantities of data on an expensive, high-powered server or cloud of servers </a:t>
            </a:r>
            <a:r>
              <a:rPr lang="en-IE" sz="2800" b="1" dirty="0"/>
              <a:t>while most of the program logic and the user interface is handled by client software </a:t>
            </a:r>
            <a:r>
              <a:rPr lang="en-IE" sz="2800" b="1" dirty="0">
                <a:solidFill>
                  <a:schemeClr val="tx2"/>
                </a:solidFill>
              </a:rPr>
              <a:t>running on relatively cheap personal computers. </a:t>
            </a:r>
          </a:p>
          <a:p>
            <a:r>
              <a:rPr lang="en-IE" sz="2800" b="1" dirty="0"/>
              <a:t>In most cases, a </a:t>
            </a:r>
            <a:r>
              <a:rPr lang="en-IE" sz="2800" b="1" dirty="0">
                <a:solidFill>
                  <a:schemeClr val="tx2"/>
                </a:solidFill>
              </a:rPr>
              <a:t>server primarily sends data </a:t>
            </a:r>
            <a:r>
              <a:rPr lang="en-IE" sz="2800" b="1" dirty="0"/>
              <a:t>while a </a:t>
            </a:r>
            <a:r>
              <a:rPr lang="en-IE" sz="2800" b="1" dirty="0">
                <a:solidFill>
                  <a:schemeClr val="tx2"/>
                </a:solidFill>
              </a:rPr>
              <a:t>client primarily receives it</a:t>
            </a:r>
            <a:r>
              <a:rPr lang="en-IE" sz="2800" b="1" dirty="0"/>
              <a:t>.</a:t>
            </a:r>
          </a:p>
          <a:p>
            <a:r>
              <a:rPr lang="en-IE" sz="2800" b="1" dirty="0"/>
              <a:t>But it is rare for one program to send or receive exclusively.</a:t>
            </a:r>
          </a:p>
          <a:p>
            <a:r>
              <a:rPr lang="en-IE" sz="2800" b="1" dirty="0"/>
              <a:t>A more reliable distinction is that a </a:t>
            </a:r>
            <a:r>
              <a:rPr lang="en-IE" sz="2800" b="1" dirty="0">
                <a:solidFill>
                  <a:schemeClr val="tx2"/>
                </a:solidFill>
              </a:rPr>
              <a:t>client initiates a conversation</a:t>
            </a:r>
            <a:r>
              <a:rPr lang="en-IE" sz="2800" b="1" dirty="0"/>
              <a:t> while a </a:t>
            </a:r>
            <a:r>
              <a:rPr lang="en-IE" sz="2800" b="1" dirty="0">
                <a:solidFill>
                  <a:schemeClr val="tx2"/>
                </a:solidFill>
              </a:rPr>
              <a:t>server waits for clients to start conversations with it. </a:t>
            </a:r>
          </a:p>
          <a:p>
            <a:r>
              <a:rPr lang="en-IE" sz="2800" b="1" dirty="0"/>
              <a:t>In some cases, the </a:t>
            </a:r>
            <a:r>
              <a:rPr lang="en-IE" sz="2800" b="1" dirty="0">
                <a:solidFill>
                  <a:schemeClr val="tx2"/>
                </a:solidFill>
              </a:rPr>
              <a:t>same program may be both a client and a server</a:t>
            </a:r>
            <a:r>
              <a:rPr lang="en-IE" sz="2800" b="1" dirty="0"/>
              <a:t>.</a:t>
            </a:r>
          </a:p>
          <a:p>
            <a:r>
              <a:rPr lang="en-IE" sz="2800" b="1" dirty="0"/>
              <a:t>You are already familiar with many examples of client/server systems. </a:t>
            </a:r>
          </a:p>
        </p:txBody>
      </p:sp>
    </p:spTree>
    <p:extLst>
      <p:ext uri="{BB962C8B-B14F-4D97-AF65-F5344CB8AC3E}">
        <p14:creationId xmlns:p14="http://schemas.microsoft.com/office/powerpoint/2010/main" val="86351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smtClean="0"/>
              <a:t>Client Server Model</a:t>
            </a:r>
          </a:p>
        </p:txBody>
      </p:sp>
      <p:sp>
        <p:nvSpPr>
          <p:cNvPr id="16387" name="Rectangle 3"/>
          <p:cNvSpPr>
            <a:spLocks noGrp="1" noChangeArrowheads="1"/>
          </p:cNvSpPr>
          <p:nvPr>
            <p:ph type="body" idx="1"/>
          </p:nvPr>
        </p:nvSpPr>
        <p:spPr>
          <a:xfrm>
            <a:off x="76200" y="914400"/>
            <a:ext cx="8991600" cy="5943600"/>
          </a:xfrm>
        </p:spPr>
        <p:txBody>
          <a:bodyPr>
            <a:normAutofit fontScale="92500" lnSpcReduction="20000"/>
          </a:bodyPr>
          <a:lstStyle/>
          <a:p>
            <a:r>
              <a:rPr lang="en-IE" sz="2800" b="1" dirty="0"/>
              <a:t>The </a:t>
            </a:r>
            <a:r>
              <a:rPr lang="en-IE" sz="2800" b="1" dirty="0">
                <a:solidFill>
                  <a:schemeClr val="tx2"/>
                </a:solidFill>
              </a:rPr>
              <a:t>most popular client/server </a:t>
            </a:r>
            <a:r>
              <a:rPr lang="en-IE" sz="2800" b="1" dirty="0"/>
              <a:t>system on the Internet is the </a:t>
            </a:r>
            <a:r>
              <a:rPr lang="en-IE" sz="2800" b="1" dirty="0">
                <a:solidFill>
                  <a:schemeClr val="tx2"/>
                </a:solidFill>
              </a:rPr>
              <a:t>Web</a:t>
            </a:r>
            <a:r>
              <a:rPr lang="en-IE" sz="2800" b="1" dirty="0"/>
              <a:t>. </a:t>
            </a:r>
          </a:p>
          <a:p>
            <a:r>
              <a:rPr lang="en-IE" sz="2800" b="1" dirty="0"/>
              <a:t>Web servers like </a:t>
            </a:r>
            <a:r>
              <a:rPr lang="en-IE" sz="2800" b="1" dirty="0">
                <a:solidFill>
                  <a:schemeClr val="tx2"/>
                </a:solidFill>
              </a:rPr>
              <a:t>Apache</a:t>
            </a:r>
            <a:r>
              <a:rPr lang="en-IE" sz="2800" b="1" dirty="0"/>
              <a:t> respond to requests from web clients like </a:t>
            </a:r>
            <a:r>
              <a:rPr lang="en-IE" sz="2800" b="1" dirty="0">
                <a:solidFill>
                  <a:schemeClr val="tx2"/>
                </a:solidFill>
              </a:rPr>
              <a:t>Firefox</a:t>
            </a:r>
            <a:r>
              <a:rPr lang="en-IE" sz="2800" b="1" dirty="0"/>
              <a:t>. </a:t>
            </a:r>
          </a:p>
          <a:p>
            <a:r>
              <a:rPr lang="en-IE" sz="2800" b="1" dirty="0">
                <a:solidFill>
                  <a:schemeClr val="tx2"/>
                </a:solidFill>
              </a:rPr>
              <a:t>Data is stored on the web server </a:t>
            </a:r>
            <a:r>
              <a:rPr lang="en-IE" sz="2800" b="1" dirty="0"/>
              <a:t>and is sent out to the clients that request it. </a:t>
            </a:r>
          </a:p>
          <a:p>
            <a:r>
              <a:rPr lang="en-IE" sz="2800" b="1" dirty="0"/>
              <a:t>Aside from the initial request for a page, almost all </a:t>
            </a:r>
            <a:r>
              <a:rPr lang="en-IE" sz="2800" b="1" dirty="0">
                <a:solidFill>
                  <a:schemeClr val="tx2"/>
                </a:solidFill>
              </a:rPr>
              <a:t>data is transferred from the server to the client</a:t>
            </a:r>
            <a:r>
              <a:rPr lang="en-IE" sz="2800" b="1" dirty="0"/>
              <a:t>, not from the client to the server. </a:t>
            </a:r>
          </a:p>
          <a:p>
            <a:r>
              <a:rPr lang="en-IE" sz="2800" b="1" dirty="0">
                <a:solidFill>
                  <a:schemeClr val="tx2"/>
                </a:solidFill>
              </a:rPr>
              <a:t>FTP</a:t>
            </a:r>
            <a:r>
              <a:rPr lang="en-IE" sz="2800" b="1" dirty="0"/>
              <a:t> is an older service that fits the client/server model. </a:t>
            </a:r>
          </a:p>
          <a:p>
            <a:pPr lvl="1"/>
            <a:r>
              <a:rPr lang="en-IE" sz="2400" b="1" dirty="0"/>
              <a:t>FTP uses different application protocols and different software, but is still split into FTP servers that send files and FTP clients that receive files. </a:t>
            </a:r>
          </a:p>
          <a:p>
            <a:pPr lvl="1"/>
            <a:r>
              <a:rPr lang="en-IE" sz="2400" b="1" dirty="0"/>
              <a:t>People often use FTP to upload files from the client to the server, so it’s harder to say that the data transfer is primarily in one direction, but it is still true that an FTP client initiates the connection and the FTP server responds.</a:t>
            </a:r>
            <a:endParaRPr lang="en-US" altLang="en-US" sz="2400" b="1" dirty="0"/>
          </a:p>
        </p:txBody>
      </p:sp>
    </p:spTree>
    <p:extLst>
      <p:ext uri="{BB962C8B-B14F-4D97-AF65-F5344CB8AC3E}">
        <p14:creationId xmlns:p14="http://schemas.microsoft.com/office/powerpoint/2010/main" val="342217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0"/>
            <a:ext cx="8229600" cy="762000"/>
          </a:xfrm>
        </p:spPr>
        <p:txBody>
          <a:bodyPr/>
          <a:lstStyle/>
          <a:p>
            <a:r>
              <a:rPr lang="en-US" altLang="en-US" dirty="0" smtClean="0"/>
              <a:t>Client Server Model</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08" y="990600"/>
            <a:ext cx="9317908" cy="5524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68620716"/>
      </p:ext>
    </p:extLst>
  </p:cSld>
  <p:clrMapOvr>
    <a:masterClrMapping/>
  </p:clrMapOvr>
  <p:transition spd="slow" advTm="1000"/>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smtClean="0"/>
              <a:t>Client Server Model</a:t>
            </a:r>
          </a:p>
        </p:txBody>
      </p:sp>
      <p:sp>
        <p:nvSpPr>
          <p:cNvPr id="16387" name="Rectangle 3"/>
          <p:cNvSpPr>
            <a:spLocks noGrp="1" noChangeArrowheads="1"/>
          </p:cNvSpPr>
          <p:nvPr>
            <p:ph type="body" idx="1"/>
          </p:nvPr>
        </p:nvSpPr>
        <p:spPr>
          <a:xfrm>
            <a:off x="76200" y="914400"/>
            <a:ext cx="8991600" cy="5943600"/>
          </a:xfrm>
        </p:spPr>
        <p:txBody>
          <a:bodyPr>
            <a:normAutofit fontScale="92500"/>
          </a:bodyPr>
          <a:lstStyle/>
          <a:p>
            <a:r>
              <a:rPr lang="en-IE" sz="2400" b="1" dirty="0">
                <a:solidFill>
                  <a:schemeClr val="tx2"/>
                </a:solidFill>
              </a:rPr>
              <a:t>Not all applications fit easily into a client/server model. </a:t>
            </a:r>
          </a:p>
          <a:p>
            <a:r>
              <a:rPr lang="en-IE" sz="2400" b="1" dirty="0"/>
              <a:t>For instance, in </a:t>
            </a:r>
            <a:r>
              <a:rPr lang="en-IE" sz="2400" b="1" dirty="0">
                <a:solidFill>
                  <a:schemeClr val="tx2"/>
                </a:solidFill>
              </a:rPr>
              <a:t>networked games</a:t>
            </a:r>
            <a:r>
              <a:rPr lang="en-IE" sz="2400" b="1" dirty="0"/>
              <a:t>, it seems likely that </a:t>
            </a:r>
            <a:r>
              <a:rPr lang="en-IE" sz="2400" b="1" dirty="0">
                <a:solidFill>
                  <a:schemeClr val="tx2"/>
                </a:solidFill>
              </a:rPr>
              <a:t>both players will send data back and forth roughly equally</a:t>
            </a:r>
            <a:r>
              <a:rPr lang="en-IE" sz="2400" b="1" dirty="0"/>
              <a:t> (at least in a fair game). </a:t>
            </a:r>
          </a:p>
          <a:p>
            <a:r>
              <a:rPr lang="en-IE" sz="2400" b="1" dirty="0"/>
              <a:t>These sorts of connections are called </a:t>
            </a:r>
            <a:r>
              <a:rPr lang="en-IE" sz="2400" b="1" i="1" dirty="0">
                <a:solidFill>
                  <a:schemeClr val="tx2"/>
                </a:solidFill>
              </a:rPr>
              <a:t>peer-to-peer</a:t>
            </a:r>
            <a:r>
              <a:rPr lang="en-IE" sz="2400" b="1" dirty="0"/>
              <a:t>. </a:t>
            </a:r>
          </a:p>
          <a:p>
            <a:r>
              <a:rPr lang="en-IE" sz="2400" b="1" dirty="0"/>
              <a:t>The </a:t>
            </a:r>
            <a:r>
              <a:rPr lang="en-IE" sz="2400" b="1" dirty="0">
                <a:solidFill>
                  <a:schemeClr val="tx2"/>
                </a:solidFill>
              </a:rPr>
              <a:t>telephone system </a:t>
            </a:r>
            <a:r>
              <a:rPr lang="en-IE" sz="2400" b="1" dirty="0"/>
              <a:t>is the classic example of a </a:t>
            </a:r>
            <a:r>
              <a:rPr lang="en-IE" sz="2400" b="1" dirty="0">
                <a:solidFill>
                  <a:schemeClr val="tx2"/>
                </a:solidFill>
              </a:rPr>
              <a:t>peer-to-peer</a:t>
            </a:r>
            <a:r>
              <a:rPr lang="en-IE" sz="2400" b="1" dirty="0"/>
              <a:t> network. Each phone can either call another phone or be called by another phone. You don’t have to buy one phone to send calls and another to receive them. </a:t>
            </a:r>
          </a:p>
          <a:p>
            <a:r>
              <a:rPr lang="en-IE" sz="2400" b="1" dirty="0">
                <a:solidFill>
                  <a:schemeClr val="tx2"/>
                </a:solidFill>
              </a:rPr>
              <a:t>Java does not have explicit peer-to-peer communication in its core networking API. </a:t>
            </a:r>
          </a:p>
          <a:p>
            <a:r>
              <a:rPr lang="en-IE" sz="2400" b="1" dirty="0">
                <a:solidFill>
                  <a:schemeClr val="tx2"/>
                </a:solidFill>
              </a:rPr>
              <a:t>However, applications can easily offer peer-to-peer communications in several ways, most commonly by acting as both a server and a client. </a:t>
            </a:r>
          </a:p>
          <a:p>
            <a:r>
              <a:rPr lang="en-IE" sz="2400" b="1" dirty="0"/>
              <a:t>Alternatively, the </a:t>
            </a:r>
            <a:r>
              <a:rPr lang="en-IE" sz="2400" b="1" dirty="0">
                <a:solidFill>
                  <a:schemeClr val="tx2"/>
                </a:solidFill>
              </a:rPr>
              <a:t>peers can communicate </a:t>
            </a:r>
            <a:r>
              <a:rPr lang="en-IE" sz="2400" b="1" dirty="0"/>
              <a:t>with each other through an </a:t>
            </a:r>
            <a:r>
              <a:rPr lang="en-IE" sz="2400" b="1" dirty="0">
                <a:solidFill>
                  <a:schemeClr val="tx2"/>
                </a:solidFill>
              </a:rPr>
              <a:t>intermediate server program </a:t>
            </a:r>
            <a:r>
              <a:rPr lang="en-IE" sz="2400" b="1" dirty="0"/>
              <a:t>that forwards data from one peer to the other peers. </a:t>
            </a:r>
          </a:p>
          <a:p>
            <a:pPr lvl="1"/>
            <a:r>
              <a:rPr lang="en-IE" sz="2000" b="1" dirty="0"/>
              <a:t>This neatly solves the discovery problem of how two peers find each other.</a:t>
            </a:r>
            <a:endParaRPr lang="en-US" altLang="en-US" b="1" dirty="0"/>
          </a:p>
        </p:txBody>
      </p:sp>
    </p:spTree>
    <p:extLst>
      <p:ext uri="{BB962C8B-B14F-4D97-AF65-F5344CB8AC3E}">
        <p14:creationId xmlns:p14="http://schemas.microsoft.com/office/powerpoint/2010/main" val="1765663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38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42D679B6F40C48B2519DEB851FE85E" ma:contentTypeVersion="0" ma:contentTypeDescription="Create a new document." ma:contentTypeScope="" ma:versionID="ca0eff15ccbfe079c26c4eccae0f3b9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88753EE-D3D8-4BD3-9A81-A9C6D7EB180C}"/>
</file>

<file path=customXml/itemProps2.xml><?xml version="1.0" encoding="utf-8"?>
<ds:datastoreItem xmlns:ds="http://schemas.openxmlformats.org/officeDocument/2006/customXml" ds:itemID="{309B5A7A-951F-42D8-81D6-251602A00EE4}"/>
</file>

<file path=customXml/itemProps3.xml><?xml version="1.0" encoding="utf-8"?>
<ds:datastoreItem xmlns:ds="http://schemas.openxmlformats.org/officeDocument/2006/customXml" ds:itemID="{CBC71DA4-D90B-4BA2-9619-81CAAAB3D4DE}"/>
</file>

<file path=docProps/app.xml><?xml version="1.0" encoding="utf-8"?>
<Properties xmlns="http://schemas.openxmlformats.org/officeDocument/2006/extended-properties" xmlns:vt="http://schemas.openxmlformats.org/officeDocument/2006/docPropsVTypes">
  <TotalTime>4198</TotalTime>
  <Words>3101</Words>
  <Application>Microsoft Office PowerPoint</Application>
  <PresentationFormat>On-screen Show (4:3)</PresentationFormat>
  <Paragraphs>235</Paragraphs>
  <Slides>32</Slides>
  <Notes>22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38" baseType="lpstr">
      <vt:lpstr>Arial</vt:lpstr>
      <vt:lpstr>Calibri</vt:lpstr>
      <vt:lpstr>Times New Roman</vt:lpstr>
      <vt:lpstr>Wingdings</vt:lpstr>
      <vt:lpstr>Office Theme</vt:lpstr>
      <vt:lpstr>Microsoft ClipArt Gallery</vt:lpstr>
      <vt:lpstr>Net Centric Programming Lecture 2</vt:lpstr>
      <vt:lpstr>Transmission Control Protocol</vt:lpstr>
      <vt:lpstr>User Datagram Protocol</vt:lpstr>
      <vt:lpstr>TCP vs. UDP</vt:lpstr>
      <vt:lpstr>IP Addresses</vt:lpstr>
      <vt:lpstr>IP Addresses</vt:lpstr>
      <vt:lpstr>IP Addresses…(2)</vt:lpstr>
      <vt:lpstr>IP Addresses…(3)</vt:lpstr>
      <vt:lpstr>IP Addresses…(4)</vt:lpstr>
      <vt:lpstr>IP Address Blocks</vt:lpstr>
      <vt:lpstr>DNS - Domain name system </vt:lpstr>
      <vt:lpstr>DNS - Domain name system </vt:lpstr>
      <vt:lpstr>DNS - Domain name system…(2) </vt:lpstr>
      <vt:lpstr>Ports</vt:lpstr>
      <vt:lpstr>Ports – Cont.</vt:lpstr>
      <vt:lpstr>Understanding Ports</vt:lpstr>
      <vt:lpstr>Network Address Translation</vt:lpstr>
      <vt:lpstr>Network Address Translation</vt:lpstr>
      <vt:lpstr>Network Address Translation</vt:lpstr>
      <vt:lpstr>Firewall</vt:lpstr>
      <vt:lpstr>Firewall</vt:lpstr>
      <vt:lpstr>Firewall</vt:lpstr>
      <vt:lpstr>Proxy Servers</vt:lpstr>
      <vt:lpstr>Proxy Server</vt:lpstr>
      <vt:lpstr>Proxy Server</vt:lpstr>
      <vt:lpstr>Proxy Server</vt:lpstr>
      <vt:lpstr>Proxy Servers…(4)</vt:lpstr>
      <vt:lpstr>Elements of C-S Computing</vt:lpstr>
      <vt:lpstr>Client Server Model</vt:lpstr>
      <vt:lpstr>Client Server Model</vt:lpstr>
      <vt:lpstr>Client Server Model</vt:lpstr>
      <vt:lpstr>Client Server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Imran</dc:creator>
  <cp:lastModifiedBy>Adeel-ur-Rehman</cp:lastModifiedBy>
  <cp:revision>1425</cp:revision>
  <dcterms:created xsi:type="dcterms:W3CDTF">2016-10-08T12:39:52Z</dcterms:created>
  <dcterms:modified xsi:type="dcterms:W3CDTF">2019-09-03T11:05:18Z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0x0101008242D679B6F40C48B2519DEB851FE85E</vt:lpwstr>
  </property>
</Properties>
</file>