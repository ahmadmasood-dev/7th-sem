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7" r:id="rId2"/>
    <p:sldId id="258" r:id="rId3"/>
    <p:sldId id="352" r:id="rId4"/>
    <p:sldId id="259" r:id="rId5"/>
    <p:sldId id="260" r:id="rId6"/>
    <p:sldId id="265" r:id="rId7"/>
    <p:sldId id="348" r:id="rId8"/>
    <p:sldId id="351" r:id="rId9"/>
    <p:sldId id="354" r:id="rId10"/>
    <p:sldId id="355" r:id="rId11"/>
    <p:sldId id="268" r:id="rId12"/>
    <p:sldId id="363" r:id="rId13"/>
    <p:sldId id="358" r:id="rId14"/>
    <p:sldId id="359" r:id="rId15"/>
    <p:sldId id="364" r:id="rId16"/>
    <p:sldId id="360" r:id="rId17"/>
    <p:sldId id="270" r:id="rId18"/>
    <p:sldId id="271" r:id="rId19"/>
    <p:sldId id="272" r:id="rId20"/>
    <p:sldId id="273" r:id="rId21"/>
    <p:sldId id="274" r:id="rId22"/>
    <p:sldId id="275" r:id="rId23"/>
    <p:sldId id="361" r:id="rId24"/>
    <p:sldId id="356" r:id="rId25"/>
    <p:sldId id="336" r:id="rId26"/>
    <p:sldId id="365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59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35" Type="http://schemas.openxmlformats.org/officeDocument/2006/relationships/customXml" Target="../customXml/item3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34C4F3-6B57-4FB5-9C2E-70CF5C68E936}" type="datetimeFigureOut">
              <a:rPr lang="en-IE" smtClean="0"/>
              <a:t>18/06/2025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BD32E-CD1F-4008-9627-36B3AC0629D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71146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E832F2-E651-4D37-A2A8-9F31CCFC66B7}" type="slidenum">
              <a:rPr lang="en-US"/>
              <a:pPr/>
              <a:t>7</a:t>
            </a:fld>
            <a:endParaRPr lang="en-US" dirty="0"/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45A7D-9079-4532-869B-905E77363804}" type="datetimeFigureOut">
              <a:rPr lang="en-IE" smtClean="0"/>
              <a:t>18/06/2025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257D5-4094-4216-9854-8CF6B20BDC1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0749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45A7D-9079-4532-869B-905E77363804}" type="datetimeFigureOut">
              <a:rPr lang="en-IE" smtClean="0"/>
              <a:t>18/06/2025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257D5-4094-4216-9854-8CF6B20BDC1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59086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45A7D-9079-4532-869B-905E77363804}" type="datetimeFigureOut">
              <a:rPr lang="en-IE" smtClean="0"/>
              <a:t>18/06/2025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257D5-4094-4216-9854-8CF6B20BDC1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92014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45A7D-9079-4532-869B-905E77363804}" type="datetimeFigureOut">
              <a:rPr lang="en-IE" smtClean="0"/>
              <a:t>18/06/2025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257D5-4094-4216-9854-8CF6B20BDC1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63900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45A7D-9079-4532-869B-905E77363804}" type="datetimeFigureOut">
              <a:rPr lang="en-IE" smtClean="0"/>
              <a:t>18/06/2025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257D5-4094-4216-9854-8CF6B20BDC1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41750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45A7D-9079-4532-869B-905E77363804}" type="datetimeFigureOut">
              <a:rPr lang="en-IE" smtClean="0"/>
              <a:t>18/06/2025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257D5-4094-4216-9854-8CF6B20BDC1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9976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45A7D-9079-4532-869B-905E77363804}" type="datetimeFigureOut">
              <a:rPr lang="en-IE" smtClean="0"/>
              <a:t>18/06/2025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257D5-4094-4216-9854-8CF6B20BDC1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468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45A7D-9079-4532-869B-905E77363804}" type="datetimeFigureOut">
              <a:rPr lang="en-IE" smtClean="0"/>
              <a:t>18/06/2025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257D5-4094-4216-9854-8CF6B20BDC1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3680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45A7D-9079-4532-869B-905E77363804}" type="datetimeFigureOut">
              <a:rPr lang="en-IE" smtClean="0"/>
              <a:t>18/06/2025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257D5-4094-4216-9854-8CF6B20BDC1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83166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45A7D-9079-4532-869B-905E77363804}" type="datetimeFigureOut">
              <a:rPr lang="en-IE" smtClean="0"/>
              <a:t>18/06/2025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257D5-4094-4216-9854-8CF6B20BDC1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52696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45A7D-9079-4532-869B-905E77363804}" type="datetimeFigureOut">
              <a:rPr lang="en-IE" smtClean="0"/>
              <a:t>18/06/2025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257D5-4094-4216-9854-8CF6B20BDC1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7294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545A7D-9079-4532-869B-905E77363804}" type="datetimeFigureOut">
              <a:rPr lang="en-IE" smtClean="0"/>
              <a:t>18/06/2025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C257D5-4094-4216-9854-8CF6B20BDC1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92337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Standardization" TargetMode="External"/><Relationship Id="rId7" Type="http://schemas.openxmlformats.org/officeDocument/2006/relationships/hyperlink" Target="http://en.wikipedia.org/wiki/Multiple_platform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en.wikipedia.org/wiki/Programming_language" TargetMode="External"/><Relationship Id="rId5" Type="http://schemas.openxmlformats.org/officeDocument/2006/relationships/hyperlink" Target="http://en.wikipedia.org/wiki/Software_componentry" TargetMode="External"/><Relationship Id="rId4" Type="http://schemas.openxmlformats.org/officeDocument/2006/relationships/hyperlink" Target="http://en.wikipedia.org/wiki/Object_Management_Group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Software_component" TargetMode="External"/><Relationship Id="rId2" Type="http://schemas.openxmlformats.org/officeDocument/2006/relationships/hyperlink" Target="http://en.wikipedia.org/wiki/Specification_language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en.wikipedia.org/wiki/Software_components" TargetMode="External"/><Relationship Id="rId4" Type="http://schemas.openxmlformats.org/officeDocument/2006/relationships/hyperlink" Target="http://en.wikipedia.org/wiki/Interface_(computer_science)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7/docs/technotes/guides/idl/jidlExample.html" TargetMode="External"/><Relationship Id="rId2" Type="http://schemas.openxmlformats.org/officeDocument/2006/relationships/hyperlink" Target="http://www.ejbtutorial.com/corba/tutorial-for-corba-hello-world-using-jav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7400"/>
            <a:ext cx="8229600" cy="1143000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7200" b="1" dirty="0"/>
              <a:t>CORBA</a:t>
            </a: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457200" y="4038600"/>
            <a:ext cx="8229600" cy="838200"/>
          </a:xfrm>
        </p:spPr>
        <p:txBody>
          <a:bodyPr/>
          <a:lstStyle/>
          <a:p>
            <a:pPr marL="0" indent="0" algn="ctr" eaLnBrk="1" hangingPunct="1">
              <a:buNone/>
            </a:pPr>
            <a:r>
              <a:rPr lang="en-US" altLang="en-US" b="1" dirty="0"/>
              <a:t>Adeel-ur-Rehman</a:t>
            </a:r>
          </a:p>
          <a:p>
            <a:pPr eaLnBrk="1" hangingPunct="1"/>
            <a:endParaRPr lang="en-US" altLang="en-US" sz="2200" dirty="0"/>
          </a:p>
          <a:p>
            <a:pPr eaLnBrk="1" hangingPunct="1"/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915832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Distributed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371600"/>
          </a:xfrm>
        </p:spPr>
        <p:txBody>
          <a:bodyPr rtlCol="0">
            <a:normAutofit fontScale="92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/>
              <a:t>Distributed objects refer to software modules that are designed to work together, but reside either in multiple computers connected via a network or in different processes inside the same computer</a:t>
            </a:r>
            <a:endParaRPr lang="en-US" sz="22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2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609600" y="1295400"/>
            <a:ext cx="79248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1" name="TextBox 11"/>
          <p:cNvSpPr txBox="1">
            <a:spLocks noChangeArrowheads="1"/>
          </p:cNvSpPr>
          <p:nvPr/>
        </p:nvSpPr>
        <p:spPr bwMode="auto">
          <a:xfrm>
            <a:off x="762000" y="3124200"/>
            <a:ext cx="8001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en-US" altLang="en-US" dirty="0">
              <a:latin typeface="Calibri" pitchFamily="34" charset="0"/>
            </a:endParaRPr>
          </a:p>
        </p:txBody>
      </p:sp>
      <p:sp>
        <p:nvSpPr>
          <p:cNvPr id="4102" name="TextBox 15"/>
          <p:cNvSpPr txBox="1">
            <a:spLocks noChangeArrowheads="1"/>
          </p:cNvSpPr>
          <p:nvPr/>
        </p:nvSpPr>
        <p:spPr bwMode="auto">
          <a:xfrm>
            <a:off x="1752600" y="6096000"/>
            <a:ext cx="6096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Calibri" pitchFamily="34" charset="0"/>
              </a:rPr>
              <a:t>Distributed objects residing in different machines.</a:t>
            </a:r>
          </a:p>
        </p:txBody>
      </p:sp>
      <p:pic>
        <p:nvPicPr>
          <p:cNvPr id="4103" name="Picture 7" descr="C:\Users\Shree\Desktop\DS\Distributed_object_communicat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124200"/>
            <a:ext cx="4800600" cy="282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5136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D39E0CA-A757-45A3-8C8F-E43F06DA35C6}" type="slidenum">
              <a:rPr lang="en-CA" altLang="en-US" sz="2600">
                <a:solidFill>
                  <a:schemeClr val="bg1"/>
                </a:solidFill>
                <a:latin typeface="Arial" pitchFamily="34" charset="0"/>
              </a:rPr>
              <a:pPr/>
              <a:t>3</a:t>
            </a:fld>
            <a:endParaRPr lang="en-CA" altLang="en-US" sz="2600" dirty="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/>
              <a:t>Distributed Computing</a:t>
            </a:r>
            <a:endParaRPr lang="en-US" altLang="zh-CN" dirty="0">
              <a:ea typeface="SimSun" pitchFamily="2" charset="-122"/>
            </a:endParaRP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3581400"/>
            <a:ext cx="8001000" cy="2743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A" altLang="en-US" dirty="0"/>
              <a:t>Local vs. Remote objects</a:t>
            </a:r>
          </a:p>
          <a:p>
            <a:pPr>
              <a:lnSpc>
                <a:spcPct val="90000"/>
              </a:lnSpc>
            </a:pPr>
            <a:r>
              <a:rPr lang="en-CA" altLang="en-US" dirty="0"/>
              <a:t>An enterprise </a:t>
            </a:r>
            <a:r>
              <a:rPr lang="en-US" altLang="en-US" dirty="0"/>
              <a:t>app </a:t>
            </a:r>
            <a:r>
              <a:rPr lang="en-CA" altLang="en-US" dirty="0"/>
              <a:t>is a collection of co-operating objects located on different machines</a:t>
            </a:r>
          </a:p>
          <a:p>
            <a:pPr>
              <a:lnSpc>
                <a:spcPct val="90000"/>
              </a:lnSpc>
            </a:pPr>
            <a:endParaRPr lang="en-GB" altLang="en-US" dirty="0"/>
          </a:p>
          <a:p>
            <a:pPr>
              <a:lnSpc>
                <a:spcPct val="90000"/>
              </a:lnSpc>
            </a:pPr>
            <a:endParaRPr lang="en-GB" altLang="en-US" dirty="0"/>
          </a:p>
        </p:txBody>
      </p:sp>
      <p:pic>
        <p:nvPicPr>
          <p:cNvPr id="7173" name="Picture 4" descr="C:\figs\FIG7-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260720"/>
            <a:ext cx="6019800" cy="220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6999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Working of Distributed Objects</a:t>
            </a:r>
          </a:p>
        </p:txBody>
      </p:sp>
      <p:sp>
        <p:nvSpPr>
          <p:cNvPr id="5124" name="TextBox 4"/>
          <p:cNvSpPr txBox="1">
            <a:spLocks noChangeArrowheads="1"/>
          </p:cNvSpPr>
          <p:nvPr/>
        </p:nvSpPr>
        <p:spPr bwMode="auto">
          <a:xfrm>
            <a:off x="685800" y="5638800"/>
            <a:ext cx="78486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latin typeface="+mj-lt"/>
              </a:rPr>
              <a:t>Working of Distributed Objects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295400"/>
            <a:ext cx="79248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5" name="Content Placeholder 6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581400"/>
          </a:xfrm>
        </p:spPr>
        <p:txBody>
          <a:bodyPr/>
          <a:lstStyle/>
          <a:p>
            <a:pPr>
              <a:buFont typeface="Arial" pitchFamily="34" charset="0"/>
              <a:buNone/>
            </a:pPr>
            <a:endParaRPr lang="en-US" altLang="en-US" dirty="0"/>
          </a:p>
        </p:txBody>
      </p:sp>
      <p:pic>
        <p:nvPicPr>
          <p:cNvPr id="5126" name="Picture 7" descr="C:\Users\Administrator\Desktop\Mayuresh\Client Server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00200"/>
            <a:ext cx="74676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534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Remote Invocation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09600" y="1295400"/>
            <a:ext cx="79248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8" name="Picture 2" descr="C:\Users\Shree\Desktop\DS\RMI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1905000"/>
            <a:ext cx="7772400" cy="3352800"/>
          </a:xfrm>
          <a:noFill/>
        </p:spPr>
      </p:pic>
      <p:sp>
        <p:nvSpPr>
          <p:cNvPr id="6149" name="TextBox 6"/>
          <p:cNvSpPr txBox="1">
            <a:spLocks noChangeArrowheads="1"/>
          </p:cNvSpPr>
          <p:nvPr/>
        </p:nvSpPr>
        <p:spPr bwMode="auto">
          <a:xfrm>
            <a:off x="1371600" y="5638800"/>
            <a:ext cx="6553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altLang="en-US" dirty="0"/>
              <a:t>Remote Invocation &amp; Local Invocation</a:t>
            </a:r>
          </a:p>
        </p:txBody>
      </p:sp>
    </p:spTree>
    <p:extLst>
      <p:ext uri="{BB962C8B-B14F-4D97-AF65-F5344CB8AC3E}">
        <p14:creationId xmlns:p14="http://schemas.microsoft.com/office/powerpoint/2010/main" val="2320501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 txBox="1">
            <a:spLocks noRot="1" noChangeArrowheads="1"/>
          </p:cNvSpPr>
          <p:nvPr/>
        </p:nvSpPr>
        <p:spPr>
          <a:xfrm>
            <a:off x="457200" y="228600"/>
            <a:ext cx="8229600" cy="5897563"/>
          </a:xfrm>
          <a:prstGeom prst="rect">
            <a:avLst/>
          </a:prstGeom>
          <a:noFill/>
          <a:ln/>
        </p:spPr>
        <p:txBody>
          <a:bodyPr/>
          <a:lstStyle/>
          <a:p>
            <a:pPr marL="342900" indent="-342900" algn="ctr">
              <a:spcBef>
                <a:spcPct val="20000"/>
              </a:spcBef>
              <a:buFont typeface="Wingdings" pitchFamily="2" charset="2"/>
              <a:buNone/>
              <a:defRPr/>
            </a:pPr>
            <a:endParaRPr lang="en-US" sz="5400" b="1" u="sng" dirty="0">
              <a:solidFill>
                <a:schemeClr val="hlink"/>
              </a:solidFill>
              <a:latin typeface="+mn-lt"/>
              <a:cs typeface="+mn-cs"/>
            </a:endParaRPr>
          </a:p>
          <a:p>
            <a:pPr marL="342900" indent="-342900" algn="ctr"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sz="5400" b="1" u="sng" dirty="0">
                <a:solidFill>
                  <a:schemeClr val="hlink"/>
                </a:solidFill>
                <a:latin typeface="+mn-lt"/>
                <a:cs typeface="+mn-cs"/>
              </a:rPr>
              <a:t>CORBA</a:t>
            </a:r>
            <a:br>
              <a:rPr lang="en-US" sz="5400" b="1" u="sng" dirty="0">
                <a:solidFill>
                  <a:schemeClr val="hlink"/>
                </a:solidFill>
                <a:latin typeface="+mn-lt"/>
                <a:cs typeface="+mn-cs"/>
              </a:rPr>
            </a:br>
            <a:endParaRPr lang="en-US" sz="5400" b="1" u="sng" dirty="0">
              <a:solidFill>
                <a:schemeClr val="hlink"/>
              </a:solidFill>
              <a:latin typeface="+mn-lt"/>
              <a:cs typeface="+mn-cs"/>
            </a:endParaRPr>
          </a:p>
          <a:p>
            <a:pPr marL="342900" indent="-342900" algn="ctr"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sz="3200" dirty="0">
                <a:solidFill>
                  <a:schemeClr val="hlink"/>
                </a:solidFill>
                <a:latin typeface="+mn-lt"/>
                <a:cs typeface="+mn-cs"/>
              </a:rPr>
              <a:t>(COMMON OBJECT REQUEST BROKER</a:t>
            </a:r>
            <a:br>
              <a:rPr lang="en-US" sz="3200" dirty="0">
                <a:solidFill>
                  <a:schemeClr val="hlink"/>
                </a:solidFill>
                <a:latin typeface="+mn-lt"/>
                <a:cs typeface="+mn-cs"/>
              </a:rPr>
            </a:br>
            <a:r>
              <a:rPr lang="en-US" sz="3200" dirty="0">
                <a:solidFill>
                  <a:schemeClr val="hlink"/>
                </a:solidFill>
                <a:latin typeface="+mn-lt"/>
                <a:cs typeface="+mn-cs"/>
              </a:rPr>
              <a:t>ARCHITECTURE</a:t>
            </a:r>
            <a:r>
              <a:rPr lang="en-US" sz="4000" dirty="0">
                <a:solidFill>
                  <a:schemeClr val="hlink"/>
                </a:solidFill>
                <a:latin typeface="+mn-lt"/>
                <a:cs typeface="+mn-cs"/>
              </a:rPr>
              <a:t>)</a:t>
            </a:r>
          </a:p>
          <a:p>
            <a:pPr marL="342900" indent="-342900" algn="ctr">
              <a:spcBef>
                <a:spcPct val="20000"/>
              </a:spcBef>
              <a:buFont typeface="Wingdings" pitchFamily="2" charset="2"/>
              <a:buNone/>
              <a:defRPr/>
            </a:pPr>
            <a:endParaRPr lang="en-US" sz="4000" dirty="0">
              <a:solidFill>
                <a:schemeClr val="hlink"/>
              </a:solidFill>
              <a:latin typeface="+mn-lt"/>
              <a:cs typeface="+mn-cs"/>
            </a:endParaRPr>
          </a:p>
          <a:p>
            <a:pPr marL="342900" indent="-342900" algn="ctr">
              <a:spcBef>
                <a:spcPct val="20000"/>
              </a:spcBef>
              <a:buFont typeface="Wingdings" pitchFamily="2" charset="2"/>
              <a:buNone/>
              <a:defRPr/>
            </a:pPr>
            <a:endParaRPr lang="en-US" sz="4000" dirty="0">
              <a:solidFill>
                <a:schemeClr val="hlink"/>
              </a:solidFill>
              <a:latin typeface="+mn-lt"/>
              <a:cs typeface="+mn-cs"/>
            </a:endParaRPr>
          </a:p>
          <a:p>
            <a:pPr marL="342900" indent="-342900" algn="ctr"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sz="4000" dirty="0">
                <a:solidFill>
                  <a:schemeClr val="hlink"/>
                </a:solidFill>
                <a:latin typeface="+mn-lt"/>
                <a:cs typeface="+mn-cs"/>
              </a:rPr>
              <a:t> 	</a:t>
            </a:r>
            <a:endParaRPr lang="en-US" sz="2800" dirty="0">
              <a:solidFill>
                <a:schemeClr val="hlink"/>
              </a:solidFill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3455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CORBA???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838200" y="1395413"/>
            <a:ext cx="7650163" cy="4572000"/>
          </a:xfrm>
        </p:spPr>
        <p:txBody>
          <a:bodyPr>
            <a:normAutofit fontScale="92500"/>
          </a:bodyPr>
          <a:lstStyle/>
          <a:p>
            <a:r>
              <a:rPr lang="en-US" dirty="0"/>
              <a:t>The </a:t>
            </a:r>
            <a:r>
              <a:rPr lang="en-US" b="1" dirty="0"/>
              <a:t>Common Object Request Broker Architecture</a:t>
            </a:r>
            <a:r>
              <a:rPr lang="en-US" dirty="0"/>
              <a:t> (CORBA) is a </a:t>
            </a:r>
            <a:r>
              <a:rPr lang="en-US" dirty="0">
                <a:hlinkClick r:id="rId3" tooltip="Standardization"/>
              </a:rPr>
              <a:t>standard</a:t>
            </a:r>
            <a:r>
              <a:rPr lang="en-US" dirty="0"/>
              <a:t> defined by the </a:t>
            </a:r>
            <a:r>
              <a:rPr lang="en-US" dirty="0">
                <a:hlinkClick r:id="rId4" tooltip="Object Management Group"/>
              </a:rPr>
              <a:t>Object Management Group</a:t>
            </a:r>
            <a:r>
              <a:rPr lang="en-US" dirty="0"/>
              <a:t> (OMG) that enables </a:t>
            </a:r>
            <a:r>
              <a:rPr lang="en-US" dirty="0">
                <a:hlinkClick r:id="rId5" tooltip="Software componentry"/>
              </a:rPr>
              <a:t>software components</a:t>
            </a:r>
            <a:r>
              <a:rPr lang="en-US" dirty="0"/>
              <a:t> written in multiple </a:t>
            </a:r>
            <a:r>
              <a:rPr lang="en-US" dirty="0">
                <a:hlinkClick r:id="rId6" tooltip="Programming language"/>
              </a:rPr>
              <a:t>computer languages</a:t>
            </a:r>
            <a:r>
              <a:rPr lang="en-US" dirty="0"/>
              <a:t> and running on multiple computers to work together (i.e., it supports </a:t>
            </a:r>
            <a:r>
              <a:rPr lang="en-US" dirty="0">
                <a:hlinkClick r:id="rId7" tooltip="Multiple platforms"/>
              </a:rPr>
              <a:t>multiple platforms</a:t>
            </a:r>
            <a:r>
              <a:rPr lang="en-US" dirty="0"/>
              <a:t>).</a:t>
            </a:r>
          </a:p>
          <a:p>
            <a:r>
              <a:rPr lang="en-US" dirty="0"/>
              <a:t>Focus on integration of systems and applications across heterogeneous platforms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836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281"/>
    </mc:Choice>
    <mc:Fallback xmlns="">
      <p:transition spd="slow" advTm="3028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CORBA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81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CORBA is just a </a:t>
            </a:r>
            <a:r>
              <a:rPr lang="en-US" i="1" dirty="0"/>
              <a:t>specification for creating and using distributed objects</a:t>
            </a:r>
          </a:p>
          <a:p>
            <a:r>
              <a:rPr lang="en-US" dirty="0"/>
              <a:t>CORBA is </a:t>
            </a:r>
            <a:r>
              <a:rPr lang="en-US" i="1" dirty="0"/>
              <a:t>not a programming language.</a:t>
            </a:r>
          </a:p>
          <a:p>
            <a:r>
              <a:rPr lang="en-US" dirty="0"/>
              <a:t>CORBA is a standard (not a product!)</a:t>
            </a:r>
          </a:p>
          <a:p>
            <a:r>
              <a:rPr lang="en-US" dirty="0"/>
              <a:t>Allows objects to transparently make requests and receive responses</a:t>
            </a:r>
          </a:p>
          <a:p>
            <a:pPr>
              <a:lnSpc>
                <a:spcPct val="90000"/>
              </a:lnSpc>
            </a:pPr>
            <a:r>
              <a:rPr lang="en-CA" altLang="en-US" dirty="0"/>
              <a:t>Its architecture is based on the </a:t>
            </a:r>
            <a:r>
              <a:rPr lang="en-CA" altLang="en-US" dirty="0">
                <a:solidFill>
                  <a:srgbClr val="FF0000"/>
                </a:solidFill>
              </a:rPr>
              <a:t>object</a:t>
            </a:r>
            <a:r>
              <a:rPr lang="en-CA" altLang="en-US" dirty="0"/>
              <a:t> </a:t>
            </a:r>
            <a:r>
              <a:rPr lang="en-CA" altLang="en-US" dirty="0">
                <a:solidFill>
                  <a:srgbClr val="FF0000"/>
                </a:solidFill>
              </a:rPr>
              <a:t>model</a:t>
            </a:r>
          </a:p>
          <a:p>
            <a:pPr>
              <a:lnSpc>
                <a:spcPct val="90000"/>
              </a:lnSpc>
            </a:pPr>
            <a:r>
              <a:rPr lang="en-CA" altLang="en-US" dirty="0"/>
              <a:t>Promotes design of applications as a set of cooperating objects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based on client/server concepts</a:t>
            </a:r>
            <a:endParaRPr lang="en-GB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140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281"/>
    </mc:Choice>
    <mc:Fallback xmlns="">
      <p:transition spd="slow" advTm="3028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CORBA Objects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It is important to note that CORBA objects differ from typical programming objects in three ways:</a:t>
            </a:r>
          </a:p>
          <a:p>
            <a:pPr lvl="1"/>
            <a:r>
              <a:rPr lang="en-US" altLang="en-US" dirty="0"/>
              <a:t>CORBA objects can run on any platform.</a:t>
            </a:r>
          </a:p>
          <a:p>
            <a:pPr lvl="1"/>
            <a:r>
              <a:rPr lang="en-US" altLang="en-US" dirty="0"/>
              <a:t>CORBA objects can be located anywhere on the network.</a:t>
            </a:r>
          </a:p>
          <a:p>
            <a:pPr lvl="1"/>
            <a:r>
              <a:rPr lang="en-US" altLang="en-US" dirty="0"/>
              <a:t>CORBA objects can be written in any language that has IDL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FB85AB57-492F-4D23-85D9-0E3EF9942C35}" type="slidenum">
              <a:rPr lang="en-CA" altLang="en-US" sz="2600">
                <a:solidFill>
                  <a:schemeClr val="bg1"/>
                </a:solidFill>
                <a:latin typeface="Arial" pitchFamily="34" charset="0"/>
              </a:rPr>
              <a:pPr/>
              <a:t>9</a:t>
            </a:fld>
            <a:endParaRPr lang="en-CA" altLang="en-US" sz="2600" dirty="0">
              <a:solidFill>
                <a:schemeClr val="bg1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887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CORBA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CORBA architecture is based on the object model. </a:t>
            </a:r>
          </a:p>
          <a:p>
            <a:r>
              <a:rPr lang="en-US" dirty="0"/>
              <a:t>A CORBA-based system is a collection of objects that isolates the requestors of services (clients) from the providers of services(servers) by a well-defined encapsulating interface.</a:t>
            </a:r>
          </a:p>
          <a:p>
            <a:r>
              <a:rPr lang="en-US" dirty="0"/>
              <a:t>CORBA is composed of five major components: ORB, IDL, dynamic invocation interface(DII), interface repositories (IR), and object adapters (OA). </a:t>
            </a:r>
          </a:p>
        </p:txBody>
      </p:sp>
    </p:spTree>
    <p:extLst>
      <p:ext uri="{BB962C8B-B14F-4D97-AF65-F5344CB8AC3E}">
        <p14:creationId xmlns:p14="http://schemas.microsoft.com/office/powerpoint/2010/main" val="3753855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281"/>
    </mc:Choice>
    <mc:Fallback xmlns="">
      <p:transition spd="slow" advTm="3028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762000" y="381000"/>
            <a:ext cx="7772400" cy="1143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CORBA Architecture</a:t>
            </a: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1295400" y="5399088"/>
            <a:ext cx="6326188" cy="6477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altLang="en-US" sz="2800" b="1" dirty="0"/>
              <a:t>ORB core</a:t>
            </a:r>
            <a:endParaRPr lang="en-US" altLang="en-US" dirty="0"/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1295400" y="4503738"/>
            <a:ext cx="1008063" cy="8953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altLang="en-US" dirty="0"/>
              <a:t>Dynamic</a:t>
            </a:r>
          </a:p>
          <a:p>
            <a:pPr algn="ctr"/>
            <a:r>
              <a:rPr lang="en-US" altLang="en-US" dirty="0"/>
              <a:t>Invocation</a:t>
            </a: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2414588" y="4427538"/>
            <a:ext cx="839787" cy="9715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altLang="en-US" dirty="0"/>
              <a:t>IDL</a:t>
            </a:r>
            <a:br>
              <a:rPr lang="en-US" altLang="en-US" dirty="0"/>
            </a:br>
            <a:r>
              <a:rPr lang="en-US" altLang="en-US" dirty="0"/>
              <a:t>Stubs</a:t>
            </a:r>
          </a:p>
        </p:txBody>
      </p:sp>
      <p:sp>
        <p:nvSpPr>
          <p:cNvPr id="15366" name="Rectangle 6"/>
          <p:cNvSpPr>
            <a:spLocks noChangeArrowheads="1"/>
          </p:cNvSpPr>
          <p:nvPr/>
        </p:nvSpPr>
        <p:spPr bwMode="auto">
          <a:xfrm>
            <a:off x="3422650" y="4427538"/>
            <a:ext cx="950913" cy="9715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altLang="en-US" dirty="0"/>
              <a:t>ORB</a:t>
            </a:r>
            <a:br>
              <a:rPr lang="en-US" altLang="en-US" dirty="0"/>
            </a:br>
            <a:r>
              <a:rPr lang="en-US" altLang="en-US" dirty="0"/>
              <a:t>Interface</a:t>
            </a:r>
          </a:p>
        </p:txBody>
      </p:sp>
      <p:sp>
        <p:nvSpPr>
          <p:cNvPr id="15367" name="Rectangle 7"/>
          <p:cNvSpPr>
            <a:spLocks noChangeArrowheads="1"/>
          </p:cNvSpPr>
          <p:nvPr/>
        </p:nvSpPr>
        <p:spPr bwMode="auto">
          <a:xfrm>
            <a:off x="6950075" y="4318000"/>
            <a:ext cx="671513" cy="1092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altLang="en-US" dirty="0"/>
              <a:t>Object</a:t>
            </a:r>
          </a:p>
        </p:txBody>
      </p:sp>
      <p:sp>
        <p:nvSpPr>
          <p:cNvPr id="15368" name="Rectangle 8"/>
          <p:cNvSpPr>
            <a:spLocks noChangeArrowheads="1"/>
          </p:cNvSpPr>
          <p:nvPr/>
        </p:nvSpPr>
        <p:spPr bwMode="auto">
          <a:xfrm>
            <a:off x="4486275" y="5075238"/>
            <a:ext cx="3135313" cy="323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/>
            <a:r>
              <a:rPr lang="en-US" altLang="en-US" dirty="0"/>
              <a:t>Adapter</a:t>
            </a:r>
          </a:p>
        </p:txBody>
      </p:sp>
      <p:sp>
        <p:nvSpPr>
          <p:cNvPr id="15369" name="Rectangle 9"/>
          <p:cNvSpPr>
            <a:spLocks noChangeArrowheads="1"/>
          </p:cNvSpPr>
          <p:nvPr/>
        </p:nvSpPr>
        <p:spPr bwMode="auto">
          <a:xfrm>
            <a:off x="4486275" y="4373563"/>
            <a:ext cx="1119188" cy="7016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altLang="en-US" sz="2000" dirty="0"/>
              <a:t>Static IDL</a:t>
            </a:r>
            <a:br>
              <a:rPr lang="en-US" altLang="en-US" sz="2000" dirty="0"/>
            </a:br>
            <a:r>
              <a:rPr lang="en-US" altLang="en-US" sz="2000" dirty="0"/>
              <a:t>Skeleton</a:t>
            </a:r>
            <a:endParaRPr lang="en-US" altLang="en-US" dirty="0"/>
          </a:p>
        </p:txBody>
      </p:sp>
      <p:sp>
        <p:nvSpPr>
          <p:cNvPr id="15370" name="Rectangle 10"/>
          <p:cNvSpPr>
            <a:spLocks noChangeArrowheads="1"/>
          </p:cNvSpPr>
          <p:nvPr/>
        </p:nvSpPr>
        <p:spPr bwMode="auto">
          <a:xfrm>
            <a:off x="5718175" y="4373563"/>
            <a:ext cx="1063625" cy="7016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altLang="en-US" dirty="0"/>
              <a:t>  Dynamic </a:t>
            </a:r>
            <a:br>
              <a:rPr lang="en-US" altLang="en-US" dirty="0"/>
            </a:br>
            <a:r>
              <a:rPr lang="en-US" altLang="en-US" dirty="0"/>
              <a:t>Skeleton</a:t>
            </a:r>
          </a:p>
        </p:txBody>
      </p:sp>
      <p:sp>
        <p:nvSpPr>
          <p:cNvPr id="15371" name="AutoShape 11"/>
          <p:cNvSpPr>
            <a:spLocks noChangeArrowheads="1"/>
          </p:cNvSpPr>
          <p:nvPr/>
        </p:nvSpPr>
        <p:spPr bwMode="auto">
          <a:xfrm>
            <a:off x="1519238" y="2590800"/>
            <a:ext cx="2071687" cy="647700"/>
          </a:xfrm>
          <a:prstGeom prst="roundRect">
            <a:avLst>
              <a:gd name="adj" fmla="val 16667"/>
            </a:avLst>
          </a:prstGeom>
          <a:solidFill>
            <a:srgbClr val="EAEAEA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altLang="en-US" sz="2000" b="1" dirty="0"/>
              <a:t>Client</a:t>
            </a:r>
          </a:p>
        </p:txBody>
      </p:sp>
      <p:sp>
        <p:nvSpPr>
          <p:cNvPr id="15372" name="AutoShape 12"/>
          <p:cNvSpPr>
            <a:spLocks noChangeArrowheads="1"/>
          </p:cNvSpPr>
          <p:nvPr/>
        </p:nvSpPr>
        <p:spPr bwMode="auto">
          <a:xfrm>
            <a:off x="4933950" y="2590800"/>
            <a:ext cx="2574925" cy="647700"/>
          </a:xfrm>
          <a:prstGeom prst="roundRect">
            <a:avLst>
              <a:gd name="adj" fmla="val 16667"/>
            </a:avLst>
          </a:prstGeom>
          <a:solidFill>
            <a:srgbClr val="EAEAEA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altLang="en-US" sz="2000" b="1" dirty="0"/>
              <a:t>Object Implementation</a:t>
            </a:r>
          </a:p>
        </p:txBody>
      </p:sp>
      <p:sp>
        <p:nvSpPr>
          <p:cNvPr id="15373" name="Line 13"/>
          <p:cNvSpPr>
            <a:spLocks noChangeShapeType="1"/>
          </p:cNvSpPr>
          <p:nvPr/>
        </p:nvSpPr>
        <p:spPr bwMode="auto">
          <a:xfrm>
            <a:off x="4486275" y="5075238"/>
            <a:ext cx="0" cy="3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 dirty="0"/>
          </a:p>
        </p:txBody>
      </p:sp>
      <p:sp>
        <p:nvSpPr>
          <p:cNvPr id="15374" name="Line 14"/>
          <p:cNvSpPr>
            <a:spLocks noChangeShapeType="1"/>
          </p:cNvSpPr>
          <p:nvPr/>
        </p:nvSpPr>
        <p:spPr bwMode="auto">
          <a:xfrm>
            <a:off x="7621588" y="5075238"/>
            <a:ext cx="0" cy="3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 dirty="0"/>
          </a:p>
        </p:txBody>
      </p:sp>
      <p:sp>
        <p:nvSpPr>
          <p:cNvPr id="15375" name="Line 15"/>
          <p:cNvSpPr>
            <a:spLocks noChangeShapeType="1"/>
          </p:cNvSpPr>
          <p:nvPr/>
        </p:nvSpPr>
        <p:spPr bwMode="auto">
          <a:xfrm>
            <a:off x="5605463" y="5075238"/>
            <a:ext cx="2238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 dirty="0"/>
          </a:p>
        </p:txBody>
      </p:sp>
      <p:sp>
        <p:nvSpPr>
          <p:cNvPr id="15376" name="Line 16"/>
          <p:cNvSpPr>
            <a:spLocks noChangeShapeType="1"/>
          </p:cNvSpPr>
          <p:nvPr/>
        </p:nvSpPr>
        <p:spPr bwMode="auto">
          <a:xfrm>
            <a:off x="6724650" y="5075238"/>
            <a:ext cx="225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 dirty="0"/>
          </a:p>
        </p:txBody>
      </p:sp>
      <p:sp>
        <p:nvSpPr>
          <p:cNvPr id="15377" name="Line 17"/>
          <p:cNvSpPr>
            <a:spLocks noChangeShapeType="1"/>
          </p:cNvSpPr>
          <p:nvPr/>
        </p:nvSpPr>
        <p:spPr bwMode="auto">
          <a:xfrm>
            <a:off x="2079625" y="3251200"/>
            <a:ext cx="0" cy="11874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 dirty="0"/>
          </a:p>
        </p:txBody>
      </p:sp>
      <p:sp>
        <p:nvSpPr>
          <p:cNvPr id="15378" name="Line 18"/>
          <p:cNvSpPr>
            <a:spLocks noChangeShapeType="1"/>
          </p:cNvSpPr>
          <p:nvPr/>
        </p:nvSpPr>
        <p:spPr bwMode="auto">
          <a:xfrm>
            <a:off x="2695575" y="3238500"/>
            <a:ext cx="0" cy="11890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 dirty="0"/>
          </a:p>
        </p:txBody>
      </p:sp>
      <p:sp>
        <p:nvSpPr>
          <p:cNvPr id="15379" name="Line 19"/>
          <p:cNvSpPr>
            <a:spLocks noChangeShapeType="1"/>
          </p:cNvSpPr>
          <p:nvPr/>
        </p:nvSpPr>
        <p:spPr bwMode="auto">
          <a:xfrm>
            <a:off x="7116763" y="3238500"/>
            <a:ext cx="0" cy="1079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 dirty="0"/>
          </a:p>
        </p:txBody>
      </p:sp>
      <p:sp>
        <p:nvSpPr>
          <p:cNvPr id="15380" name="Line 20"/>
          <p:cNvSpPr>
            <a:spLocks noChangeShapeType="1"/>
          </p:cNvSpPr>
          <p:nvPr/>
        </p:nvSpPr>
        <p:spPr bwMode="auto">
          <a:xfrm>
            <a:off x="3254375" y="3238500"/>
            <a:ext cx="447675" cy="11890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 dirty="0"/>
          </a:p>
        </p:txBody>
      </p:sp>
      <p:sp>
        <p:nvSpPr>
          <p:cNvPr id="15381" name="Line 21"/>
          <p:cNvSpPr>
            <a:spLocks noChangeShapeType="1"/>
          </p:cNvSpPr>
          <p:nvPr/>
        </p:nvSpPr>
        <p:spPr bwMode="auto">
          <a:xfrm flipH="1">
            <a:off x="4149725" y="3238500"/>
            <a:ext cx="1008063" cy="11890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 dirty="0"/>
          </a:p>
        </p:txBody>
      </p:sp>
      <p:sp>
        <p:nvSpPr>
          <p:cNvPr id="15382" name="Line 22"/>
          <p:cNvSpPr>
            <a:spLocks noChangeShapeType="1"/>
          </p:cNvSpPr>
          <p:nvPr/>
        </p:nvSpPr>
        <p:spPr bwMode="auto">
          <a:xfrm flipV="1">
            <a:off x="5381625" y="3238500"/>
            <a:ext cx="0" cy="11350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 dirty="0"/>
          </a:p>
        </p:txBody>
      </p:sp>
      <p:sp>
        <p:nvSpPr>
          <p:cNvPr id="15383" name="Line 23"/>
          <p:cNvSpPr>
            <a:spLocks noChangeShapeType="1"/>
          </p:cNvSpPr>
          <p:nvPr/>
        </p:nvSpPr>
        <p:spPr bwMode="auto">
          <a:xfrm flipV="1">
            <a:off x="6276975" y="3238500"/>
            <a:ext cx="0" cy="11350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 dirty="0"/>
          </a:p>
        </p:txBody>
      </p:sp>
      <p:sp>
        <p:nvSpPr>
          <p:cNvPr id="15384" name="Line 24"/>
          <p:cNvSpPr>
            <a:spLocks noChangeShapeType="1"/>
          </p:cNvSpPr>
          <p:nvPr/>
        </p:nvSpPr>
        <p:spPr bwMode="auto">
          <a:xfrm flipV="1">
            <a:off x="7340600" y="3238500"/>
            <a:ext cx="0" cy="1079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 dirty="0"/>
          </a:p>
        </p:txBody>
      </p:sp>
      <p:sp>
        <p:nvSpPr>
          <p:cNvPr id="15385" name="Text Box 25"/>
          <p:cNvSpPr txBox="1">
            <a:spLocks noChangeArrowheads="1"/>
          </p:cNvSpPr>
          <p:nvPr/>
        </p:nvSpPr>
        <p:spPr bwMode="auto">
          <a:xfrm>
            <a:off x="6194425" y="2674938"/>
            <a:ext cx="163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endParaRPr lang="en-US" altLang="en-US" dirty="0"/>
          </a:p>
        </p:txBody>
      </p:sp>
      <p:sp>
        <p:nvSpPr>
          <p:cNvPr id="15386" name="Rectangle 26"/>
          <p:cNvSpPr>
            <a:spLocks noChangeArrowheads="1"/>
          </p:cNvSpPr>
          <p:nvPr/>
        </p:nvSpPr>
        <p:spPr bwMode="auto">
          <a:xfrm>
            <a:off x="1295400" y="5399088"/>
            <a:ext cx="6326188" cy="16192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15387" name="Rectangle 27"/>
          <p:cNvSpPr>
            <a:spLocks noChangeArrowheads="1"/>
          </p:cNvSpPr>
          <p:nvPr/>
        </p:nvSpPr>
        <p:spPr bwMode="auto">
          <a:xfrm>
            <a:off x="1295400" y="4427538"/>
            <a:ext cx="1008063" cy="10795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15388" name="Rectangle 28"/>
          <p:cNvSpPr>
            <a:spLocks noChangeArrowheads="1"/>
          </p:cNvSpPr>
          <p:nvPr/>
        </p:nvSpPr>
        <p:spPr bwMode="auto">
          <a:xfrm>
            <a:off x="5718175" y="4373563"/>
            <a:ext cx="1063625" cy="10795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15389" name="Rectangle 29"/>
          <p:cNvSpPr>
            <a:spLocks noChangeArrowheads="1"/>
          </p:cNvSpPr>
          <p:nvPr/>
        </p:nvSpPr>
        <p:spPr bwMode="auto">
          <a:xfrm>
            <a:off x="3422650" y="4427538"/>
            <a:ext cx="950913" cy="10795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15390" name="Rectangle 30"/>
          <p:cNvSpPr>
            <a:spLocks noChangeArrowheads="1"/>
          </p:cNvSpPr>
          <p:nvPr/>
        </p:nvSpPr>
        <p:spPr bwMode="auto">
          <a:xfrm>
            <a:off x="2414588" y="4427538"/>
            <a:ext cx="839787" cy="10795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15391" name="Rectangle 31"/>
          <p:cNvSpPr>
            <a:spLocks noChangeArrowheads="1"/>
          </p:cNvSpPr>
          <p:nvPr/>
        </p:nvSpPr>
        <p:spPr bwMode="auto">
          <a:xfrm>
            <a:off x="4486275" y="4373563"/>
            <a:ext cx="1119188" cy="10795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en-US" altLang="en-US" dirty="0"/>
          </a:p>
        </p:txBody>
      </p:sp>
      <p:grpSp>
        <p:nvGrpSpPr>
          <p:cNvPr id="15392" name="Group 38"/>
          <p:cNvGrpSpPr>
            <a:grpSpLocks/>
          </p:cNvGrpSpPr>
          <p:nvPr/>
        </p:nvGrpSpPr>
        <p:grpSpPr bwMode="auto">
          <a:xfrm>
            <a:off x="0" y="4054475"/>
            <a:ext cx="1143000" cy="1066800"/>
            <a:chOff x="48" y="1920"/>
            <a:chExt cx="720" cy="672"/>
          </a:xfrm>
        </p:grpSpPr>
        <p:sp>
          <p:nvSpPr>
            <p:cNvPr id="15401" name="AutoShape 39"/>
            <p:cNvSpPr>
              <a:spLocks noChangeArrowheads="1"/>
            </p:cNvSpPr>
            <p:nvPr/>
          </p:nvSpPr>
          <p:spPr bwMode="auto">
            <a:xfrm>
              <a:off x="48" y="1920"/>
              <a:ext cx="720" cy="672"/>
            </a:xfrm>
            <a:prstGeom prst="can">
              <a:avLst>
                <a:gd name="adj" fmla="val 25000"/>
              </a:avLst>
            </a:prstGeom>
            <a:solidFill>
              <a:srgbClr val="EAEAEA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en-US" altLang="en-US" dirty="0"/>
            </a:p>
          </p:txBody>
        </p:sp>
        <p:sp>
          <p:nvSpPr>
            <p:cNvPr id="15402" name="Rectangle 40"/>
            <p:cNvSpPr>
              <a:spLocks noChangeArrowheads="1"/>
            </p:cNvSpPr>
            <p:nvPr/>
          </p:nvSpPr>
          <p:spPr bwMode="auto">
            <a:xfrm>
              <a:off x="96" y="2112"/>
              <a:ext cx="672" cy="43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/>
              <a:r>
                <a:rPr lang="en-US" altLang="en-US" dirty="0"/>
                <a:t>Interface</a:t>
              </a:r>
            </a:p>
            <a:p>
              <a:pPr algn="ctr"/>
              <a:r>
                <a:rPr lang="en-US" altLang="en-US" dirty="0"/>
                <a:t>Repository</a:t>
              </a:r>
            </a:p>
          </p:txBody>
        </p:sp>
      </p:grpSp>
      <p:grpSp>
        <p:nvGrpSpPr>
          <p:cNvPr id="15393" name="Group 41"/>
          <p:cNvGrpSpPr>
            <a:grpSpLocks/>
          </p:cNvGrpSpPr>
          <p:nvPr/>
        </p:nvGrpSpPr>
        <p:grpSpPr bwMode="auto">
          <a:xfrm>
            <a:off x="7848600" y="4054475"/>
            <a:ext cx="1219200" cy="1066800"/>
            <a:chOff x="48" y="1920"/>
            <a:chExt cx="720" cy="672"/>
          </a:xfrm>
        </p:grpSpPr>
        <p:sp>
          <p:nvSpPr>
            <p:cNvPr id="15399" name="AutoShape 42"/>
            <p:cNvSpPr>
              <a:spLocks noChangeArrowheads="1"/>
            </p:cNvSpPr>
            <p:nvPr/>
          </p:nvSpPr>
          <p:spPr bwMode="auto">
            <a:xfrm>
              <a:off x="48" y="1920"/>
              <a:ext cx="720" cy="672"/>
            </a:xfrm>
            <a:prstGeom prst="can">
              <a:avLst>
                <a:gd name="adj" fmla="val 25000"/>
              </a:avLst>
            </a:prstGeom>
            <a:solidFill>
              <a:srgbClr val="EAEAEA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en-US" altLang="en-US" dirty="0"/>
            </a:p>
          </p:txBody>
        </p:sp>
        <p:sp>
          <p:nvSpPr>
            <p:cNvPr id="15400" name="Rectangle 43"/>
            <p:cNvSpPr>
              <a:spLocks noChangeArrowheads="1"/>
            </p:cNvSpPr>
            <p:nvPr/>
          </p:nvSpPr>
          <p:spPr bwMode="auto">
            <a:xfrm>
              <a:off x="96" y="2112"/>
              <a:ext cx="672" cy="43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/>
              <a:r>
                <a:rPr lang="en-US" altLang="en-US" dirty="0"/>
                <a:t>Implementation</a:t>
              </a:r>
            </a:p>
            <a:p>
              <a:pPr algn="ctr"/>
              <a:r>
                <a:rPr lang="en-US" altLang="en-US" dirty="0"/>
                <a:t>Repository</a:t>
              </a:r>
            </a:p>
          </p:txBody>
        </p:sp>
      </p:grpSp>
      <p:sp>
        <p:nvSpPr>
          <p:cNvPr id="15394" name="Line 44"/>
          <p:cNvSpPr>
            <a:spLocks noChangeShapeType="1"/>
          </p:cNvSpPr>
          <p:nvPr/>
        </p:nvSpPr>
        <p:spPr bwMode="auto">
          <a:xfrm flipH="1">
            <a:off x="7620000" y="4816475"/>
            <a:ext cx="2286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 dirty="0"/>
          </a:p>
        </p:txBody>
      </p:sp>
      <p:sp>
        <p:nvSpPr>
          <p:cNvPr id="15395" name="Line 45"/>
          <p:cNvSpPr>
            <a:spLocks noChangeShapeType="1"/>
          </p:cNvSpPr>
          <p:nvPr/>
        </p:nvSpPr>
        <p:spPr bwMode="auto">
          <a:xfrm>
            <a:off x="990600" y="5121275"/>
            <a:ext cx="304800" cy="76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 dirty="0"/>
          </a:p>
        </p:txBody>
      </p:sp>
      <p:sp>
        <p:nvSpPr>
          <p:cNvPr id="15396" name="Line 46"/>
          <p:cNvSpPr>
            <a:spLocks noChangeShapeType="1"/>
          </p:cNvSpPr>
          <p:nvPr/>
        </p:nvSpPr>
        <p:spPr bwMode="auto">
          <a:xfrm flipV="1">
            <a:off x="1066800" y="3216275"/>
            <a:ext cx="53340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 dirty="0"/>
          </a:p>
        </p:txBody>
      </p:sp>
      <p:sp>
        <p:nvSpPr>
          <p:cNvPr id="15397" name="Line 47"/>
          <p:cNvSpPr>
            <a:spLocks noChangeShapeType="1"/>
          </p:cNvSpPr>
          <p:nvPr/>
        </p:nvSpPr>
        <p:spPr bwMode="auto">
          <a:xfrm flipH="1" flipV="1">
            <a:off x="7543800" y="3216275"/>
            <a:ext cx="30480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 dirty="0"/>
          </a:p>
        </p:txBody>
      </p:sp>
      <p:cxnSp>
        <p:nvCxnSpPr>
          <p:cNvPr id="42" name="Straight Connector 41"/>
          <p:cNvCxnSpPr/>
          <p:nvPr/>
        </p:nvCxnSpPr>
        <p:spPr>
          <a:xfrm>
            <a:off x="609600" y="1295400"/>
            <a:ext cx="79248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2191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pitchFamily="2" charset="-122"/>
              </a:rPr>
              <a:t>ORB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FFC00FFB-D373-4DE1-99C6-C5A08F782901}" type="slidenum">
              <a:rPr lang="en-CA" altLang="en-US" sz="2600">
                <a:solidFill>
                  <a:schemeClr val="bg1"/>
                </a:solidFill>
                <a:latin typeface="Arial" pitchFamily="34" charset="0"/>
              </a:rPr>
              <a:pPr/>
              <a:t>12</a:t>
            </a:fld>
            <a:endParaRPr lang="en-CA" altLang="en-US" sz="260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20484" name="Rectangle 2051"/>
          <p:cNvSpPr>
            <a:spLocks noChangeArrowheads="1"/>
          </p:cNvSpPr>
          <p:nvPr/>
        </p:nvSpPr>
        <p:spPr bwMode="auto">
          <a:xfrm>
            <a:off x="1149350" y="2292350"/>
            <a:ext cx="1130300" cy="9779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20485" name="Rectangle 2052"/>
          <p:cNvSpPr>
            <a:spLocks noChangeArrowheads="1"/>
          </p:cNvSpPr>
          <p:nvPr/>
        </p:nvSpPr>
        <p:spPr bwMode="auto">
          <a:xfrm>
            <a:off x="1220788" y="2516188"/>
            <a:ext cx="121602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Client</a:t>
            </a:r>
          </a:p>
        </p:txBody>
      </p:sp>
      <p:sp>
        <p:nvSpPr>
          <p:cNvPr id="20486" name="Oval 2053"/>
          <p:cNvSpPr>
            <a:spLocks noChangeArrowheads="1"/>
          </p:cNvSpPr>
          <p:nvPr/>
        </p:nvSpPr>
        <p:spPr bwMode="auto">
          <a:xfrm>
            <a:off x="3587750" y="3282950"/>
            <a:ext cx="1739900" cy="17399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20487" name="Rectangle 2054"/>
          <p:cNvSpPr>
            <a:spLocks noChangeArrowheads="1"/>
          </p:cNvSpPr>
          <p:nvPr/>
        </p:nvSpPr>
        <p:spPr bwMode="auto">
          <a:xfrm>
            <a:off x="1225550" y="3587750"/>
            <a:ext cx="1130300" cy="9779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20488" name="Rectangle 2055"/>
          <p:cNvSpPr>
            <a:spLocks noChangeArrowheads="1"/>
          </p:cNvSpPr>
          <p:nvPr/>
        </p:nvSpPr>
        <p:spPr bwMode="auto">
          <a:xfrm>
            <a:off x="1296988" y="3811588"/>
            <a:ext cx="121602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Client</a:t>
            </a:r>
          </a:p>
        </p:txBody>
      </p:sp>
      <p:sp>
        <p:nvSpPr>
          <p:cNvPr id="20489" name="Rectangle 2056"/>
          <p:cNvSpPr>
            <a:spLocks noChangeArrowheads="1"/>
          </p:cNvSpPr>
          <p:nvPr/>
        </p:nvSpPr>
        <p:spPr bwMode="auto">
          <a:xfrm>
            <a:off x="1225550" y="4883150"/>
            <a:ext cx="1130300" cy="9779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20490" name="Rectangle 2057"/>
          <p:cNvSpPr>
            <a:spLocks noChangeArrowheads="1"/>
          </p:cNvSpPr>
          <p:nvPr/>
        </p:nvSpPr>
        <p:spPr bwMode="auto">
          <a:xfrm>
            <a:off x="1296988" y="5106988"/>
            <a:ext cx="121602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Client</a:t>
            </a:r>
          </a:p>
        </p:txBody>
      </p:sp>
      <p:sp>
        <p:nvSpPr>
          <p:cNvPr id="20491" name="Rectangle 2058"/>
          <p:cNvSpPr>
            <a:spLocks noChangeArrowheads="1"/>
          </p:cNvSpPr>
          <p:nvPr/>
        </p:nvSpPr>
        <p:spPr bwMode="auto">
          <a:xfrm>
            <a:off x="6407150" y="2368550"/>
            <a:ext cx="1130300" cy="9779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20492" name="Rectangle 2059"/>
          <p:cNvSpPr>
            <a:spLocks noChangeArrowheads="1"/>
          </p:cNvSpPr>
          <p:nvPr/>
        </p:nvSpPr>
        <p:spPr bwMode="auto">
          <a:xfrm>
            <a:off x="6478588" y="2592388"/>
            <a:ext cx="121602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Server</a:t>
            </a:r>
          </a:p>
        </p:txBody>
      </p:sp>
      <p:sp>
        <p:nvSpPr>
          <p:cNvPr id="20493" name="Rectangle 2060"/>
          <p:cNvSpPr>
            <a:spLocks noChangeArrowheads="1"/>
          </p:cNvSpPr>
          <p:nvPr/>
        </p:nvSpPr>
        <p:spPr bwMode="auto">
          <a:xfrm>
            <a:off x="6407150" y="3587750"/>
            <a:ext cx="1130300" cy="9779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20494" name="Rectangle 2061"/>
          <p:cNvSpPr>
            <a:spLocks noChangeArrowheads="1"/>
          </p:cNvSpPr>
          <p:nvPr/>
        </p:nvSpPr>
        <p:spPr bwMode="auto">
          <a:xfrm>
            <a:off x="6478588" y="3811588"/>
            <a:ext cx="121602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Server</a:t>
            </a:r>
          </a:p>
        </p:txBody>
      </p:sp>
      <p:sp>
        <p:nvSpPr>
          <p:cNvPr id="20495" name="Rectangle 2062"/>
          <p:cNvSpPr>
            <a:spLocks noChangeArrowheads="1"/>
          </p:cNvSpPr>
          <p:nvPr/>
        </p:nvSpPr>
        <p:spPr bwMode="auto">
          <a:xfrm>
            <a:off x="6407150" y="4883150"/>
            <a:ext cx="1130300" cy="9779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20496" name="Rectangle 2063"/>
          <p:cNvSpPr>
            <a:spLocks noChangeArrowheads="1"/>
          </p:cNvSpPr>
          <p:nvPr/>
        </p:nvSpPr>
        <p:spPr bwMode="auto">
          <a:xfrm>
            <a:off x="6478588" y="5106988"/>
            <a:ext cx="121602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Server</a:t>
            </a:r>
          </a:p>
        </p:txBody>
      </p:sp>
      <p:sp>
        <p:nvSpPr>
          <p:cNvPr id="20497" name="Rectangle 2064"/>
          <p:cNvSpPr>
            <a:spLocks noChangeArrowheads="1"/>
          </p:cNvSpPr>
          <p:nvPr/>
        </p:nvSpPr>
        <p:spPr bwMode="auto">
          <a:xfrm>
            <a:off x="4040188" y="3887788"/>
            <a:ext cx="113982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ORB</a:t>
            </a:r>
          </a:p>
        </p:txBody>
      </p:sp>
      <p:sp>
        <p:nvSpPr>
          <p:cNvPr id="20498" name="Line 2065"/>
          <p:cNvSpPr>
            <a:spLocks noChangeShapeType="1"/>
          </p:cNvSpPr>
          <p:nvPr/>
        </p:nvSpPr>
        <p:spPr bwMode="auto">
          <a:xfrm>
            <a:off x="2292350" y="2749550"/>
            <a:ext cx="1435100" cy="901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0499" name="Line 2066"/>
          <p:cNvSpPr>
            <a:spLocks noChangeShapeType="1"/>
          </p:cNvSpPr>
          <p:nvPr/>
        </p:nvSpPr>
        <p:spPr bwMode="auto">
          <a:xfrm>
            <a:off x="2368550" y="4114800"/>
            <a:ext cx="1206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0500" name="Line 2067"/>
          <p:cNvSpPr>
            <a:spLocks noChangeShapeType="1"/>
          </p:cNvSpPr>
          <p:nvPr/>
        </p:nvSpPr>
        <p:spPr bwMode="auto">
          <a:xfrm flipV="1">
            <a:off x="2368550" y="4794250"/>
            <a:ext cx="1435100" cy="622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0501" name="Line 2068"/>
          <p:cNvSpPr>
            <a:spLocks noChangeShapeType="1"/>
          </p:cNvSpPr>
          <p:nvPr/>
        </p:nvSpPr>
        <p:spPr bwMode="auto">
          <a:xfrm flipH="1">
            <a:off x="5175250" y="2825750"/>
            <a:ext cx="1231900" cy="901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0502" name="Line 2069"/>
          <p:cNvSpPr>
            <a:spLocks noChangeShapeType="1"/>
          </p:cNvSpPr>
          <p:nvPr/>
        </p:nvSpPr>
        <p:spPr bwMode="auto">
          <a:xfrm flipH="1">
            <a:off x="5327650" y="4114800"/>
            <a:ext cx="1079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0503" name="Line 2070"/>
          <p:cNvSpPr>
            <a:spLocks noChangeShapeType="1"/>
          </p:cNvSpPr>
          <p:nvPr/>
        </p:nvSpPr>
        <p:spPr bwMode="auto">
          <a:xfrm flipH="1" flipV="1">
            <a:off x="5099050" y="4718050"/>
            <a:ext cx="1308100" cy="698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86398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Object Request Broker (ORB)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Intercepts calls</a:t>
            </a:r>
          </a:p>
          <a:p>
            <a:r>
              <a:rPr lang="en-US" dirty="0"/>
              <a:t>Finds object</a:t>
            </a:r>
          </a:p>
          <a:p>
            <a:r>
              <a:rPr lang="en-US" dirty="0"/>
              <a:t> Invokes method</a:t>
            </a:r>
          </a:p>
          <a:p>
            <a:r>
              <a:rPr lang="en-US" dirty="0"/>
              <a:t>Passes parameters</a:t>
            </a:r>
          </a:p>
          <a:p>
            <a:r>
              <a:rPr lang="en-US" dirty="0"/>
              <a:t>Returns results or error messages</a:t>
            </a:r>
          </a:p>
          <a:p>
            <a:r>
              <a:rPr lang="en-US" dirty="0"/>
              <a:t>REGARDLESS OF THE OBJECTS LOCATION, ITS PROGRAMMING LANGUAGE OR EVEN THE OPERATING SYSTEMS INVOLVED!!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0878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281"/>
    </mc:Choice>
    <mc:Fallback xmlns="">
      <p:transition spd="slow" advTm="3028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Object Request Broker (ORB)</a:t>
            </a:r>
            <a:endParaRPr lang="en-US" dirty="0"/>
          </a:p>
        </p:txBody>
      </p:sp>
      <p:pic>
        <p:nvPicPr>
          <p:cNvPr id="4" name="Content Placeholder 3" descr="orb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1600200"/>
            <a:ext cx="7232072" cy="4613563"/>
          </a:xfrm>
        </p:spPr>
      </p:pic>
    </p:spTree>
    <p:extLst>
      <p:ext uri="{BB962C8B-B14F-4D97-AF65-F5344CB8AC3E}">
        <p14:creationId xmlns:p14="http://schemas.microsoft.com/office/powerpoint/2010/main" val="2584218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281"/>
    </mc:Choice>
    <mc:Fallback xmlns="">
      <p:transition spd="slow" advTm="3028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4A101264-3D0C-4F23-A135-C02CE90D6CA7}" type="slidenum">
              <a:rPr lang="en-CA" altLang="en-US" sz="2600">
                <a:solidFill>
                  <a:schemeClr val="bg1"/>
                </a:solidFill>
                <a:latin typeface="Arial" pitchFamily="34" charset="0"/>
              </a:rPr>
              <a:pPr/>
              <a:t>15</a:t>
            </a:fld>
            <a:endParaRPr lang="en-CA" altLang="en-US" sz="260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SimSun" pitchFamily="2" charset="-122"/>
              </a:rPr>
              <a:t>IDL</a:t>
            </a:r>
          </a:p>
        </p:txBody>
      </p:sp>
      <p:sp>
        <p:nvSpPr>
          <p:cNvPr id="26628" name="Oval 26"/>
          <p:cNvSpPr>
            <a:spLocks noChangeArrowheads="1"/>
          </p:cNvSpPr>
          <p:nvPr/>
        </p:nvSpPr>
        <p:spPr bwMode="auto">
          <a:xfrm>
            <a:off x="1835150" y="2393950"/>
            <a:ext cx="609600" cy="533400"/>
          </a:xfrm>
          <a:prstGeom prst="ellipse">
            <a:avLst/>
          </a:prstGeom>
          <a:gradFill rotWithShape="0">
            <a:gsLst>
              <a:gs pos="0">
                <a:srgbClr val="E6CCE6"/>
              </a:gs>
              <a:gs pos="100000">
                <a:srgbClr val="800080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bg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26629" name="Oval 27"/>
          <p:cNvSpPr>
            <a:spLocks noChangeArrowheads="1"/>
          </p:cNvSpPr>
          <p:nvPr/>
        </p:nvSpPr>
        <p:spPr bwMode="auto">
          <a:xfrm>
            <a:off x="1835150" y="3171825"/>
            <a:ext cx="609600" cy="533400"/>
          </a:xfrm>
          <a:prstGeom prst="ellipse">
            <a:avLst/>
          </a:prstGeom>
          <a:gradFill rotWithShape="0">
            <a:gsLst>
              <a:gs pos="0">
                <a:srgbClr val="D6F5F5"/>
              </a:gs>
              <a:gs pos="100000">
                <a:srgbClr val="33CCCC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bg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29" name="Oval 28"/>
          <p:cNvSpPr>
            <a:spLocks noChangeArrowheads="1"/>
          </p:cNvSpPr>
          <p:nvPr/>
        </p:nvSpPr>
        <p:spPr bwMode="auto">
          <a:xfrm>
            <a:off x="1835150" y="3983038"/>
            <a:ext cx="609600" cy="533400"/>
          </a:xfrm>
          <a:prstGeom prst="ellipse">
            <a:avLst/>
          </a:prstGeom>
          <a:solidFill>
            <a:schemeClr val="accent2">
              <a:lumMod val="75000"/>
              <a:alpha val="50000"/>
            </a:schemeClr>
          </a:solidFill>
          <a:ln>
            <a:noFill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3pPr>
            <a:lvl4pPr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26631" name="Oval 29"/>
          <p:cNvSpPr>
            <a:spLocks noChangeArrowheads="1"/>
          </p:cNvSpPr>
          <p:nvPr/>
        </p:nvSpPr>
        <p:spPr bwMode="auto">
          <a:xfrm>
            <a:off x="1835150" y="4829175"/>
            <a:ext cx="609600" cy="533400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100000">
                <a:srgbClr val="00FF00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bg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26632" name="Oval 30"/>
          <p:cNvSpPr>
            <a:spLocks noChangeArrowheads="1"/>
          </p:cNvSpPr>
          <p:nvPr/>
        </p:nvSpPr>
        <p:spPr bwMode="auto">
          <a:xfrm>
            <a:off x="1835150" y="5638800"/>
            <a:ext cx="609600" cy="533400"/>
          </a:xfrm>
          <a:prstGeom prst="ellipse">
            <a:avLst/>
          </a:prstGeom>
          <a:gradFill rotWithShape="0">
            <a:gsLst>
              <a:gs pos="0">
                <a:srgbClr val="E6CCE6"/>
              </a:gs>
              <a:gs pos="100000">
                <a:srgbClr val="800080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bg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26633" name="Oval 31"/>
          <p:cNvSpPr>
            <a:spLocks noChangeArrowheads="1"/>
          </p:cNvSpPr>
          <p:nvPr/>
        </p:nvSpPr>
        <p:spPr bwMode="auto">
          <a:xfrm>
            <a:off x="5962650" y="3911600"/>
            <a:ext cx="609600" cy="533400"/>
          </a:xfrm>
          <a:prstGeom prst="ellipse">
            <a:avLst/>
          </a:prstGeom>
          <a:gradFill rotWithShape="0">
            <a:gsLst>
              <a:gs pos="0">
                <a:srgbClr val="E6CCE6"/>
              </a:gs>
              <a:gs pos="100000">
                <a:srgbClr val="800080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bg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26634" name="Line 55"/>
          <p:cNvSpPr>
            <a:spLocks noChangeShapeType="1"/>
          </p:cNvSpPr>
          <p:nvPr/>
        </p:nvSpPr>
        <p:spPr bwMode="auto">
          <a:xfrm>
            <a:off x="2559050" y="2755900"/>
            <a:ext cx="2998788" cy="1146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6635" name="Line 56"/>
          <p:cNvSpPr>
            <a:spLocks noChangeShapeType="1"/>
          </p:cNvSpPr>
          <p:nvPr/>
        </p:nvSpPr>
        <p:spPr bwMode="auto">
          <a:xfrm>
            <a:off x="2559050" y="3384550"/>
            <a:ext cx="2874963" cy="635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6636" name="Line 58"/>
          <p:cNvSpPr>
            <a:spLocks noChangeShapeType="1"/>
          </p:cNvSpPr>
          <p:nvPr/>
        </p:nvSpPr>
        <p:spPr bwMode="auto">
          <a:xfrm flipV="1">
            <a:off x="2559050" y="4341813"/>
            <a:ext cx="2944813" cy="758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6637" name="Line 59"/>
          <p:cNvSpPr>
            <a:spLocks noChangeShapeType="1"/>
          </p:cNvSpPr>
          <p:nvPr/>
        </p:nvSpPr>
        <p:spPr bwMode="auto">
          <a:xfrm flipV="1">
            <a:off x="2559050" y="4459288"/>
            <a:ext cx="3086100" cy="14112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6638" name="Text Box 60"/>
          <p:cNvSpPr txBox="1">
            <a:spLocks noChangeArrowheads="1"/>
          </p:cNvSpPr>
          <p:nvPr/>
        </p:nvSpPr>
        <p:spPr bwMode="auto">
          <a:xfrm>
            <a:off x="1066800" y="2279650"/>
            <a:ext cx="85090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GB" altLang="en-US" sz="2600" b="1">
                <a:latin typeface="Times New Roman" pitchFamily="18" charset="0"/>
              </a:rPr>
              <a:t>Java</a:t>
            </a:r>
          </a:p>
        </p:txBody>
      </p:sp>
      <p:sp>
        <p:nvSpPr>
          <p:cNvPr id="26639" name="Text Box 61"/>
          <p:cNvSpPr txBox="1">
            <a:spLocks noChangeArrowheads="1"/>
          </p:cNvSpPr>
          <p:nvPr/>
        </p:nvSpPr>
        <p:spPr bwMode="auto">
          <a:xfrm>
            <a:off x="1066800" y="3155950"/>
            <a:ext cx="8001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GB" altLang="en-US" sz="2600" b="1">
                <a:latin typeface="Times New Roman" pitchFamily="18" charset="0"/>
              </a:rPr>
              <a:t>C++</a:t>
            </a:r>
          </a:p>
        </p:txBody>
      </p:sp>
      <p:sp>
        <p:nvSpPr>
          <p:cNvPr id="26640" name="Text Box 62"/>
          <p:cNvSpPr txBox="1">
            <a:spLocks noChangeArrowheads="1"/>
          </p:cNvSpPr>
          <p:nvPr/>
        </p:nvSpPr>
        <p:spPr bwMode="auto">
          <a:xfrm>
            <a:off x="1066800" y="3925888"/>
            <a:ext cx="42545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GB" altLang="en-US" sz="2600" b="1">
                <a:latin typeface="Times New Roman" pitchFamily="18" charset="0"/>
              </a:rPr>
              <a:t>C</a:t>
            </a:r>
          </a:p>
        </p:txBody>
      </p:sp>
      <p:sp>
        <p:nvSpPr>
          <p:cNvPr id="26641" name="Text Box 63"/>
          <p:cNvSpPr txBox="1">
            <a:spLocks noChangeArrowheads="1"/>
          </p:cNvSpPr>
          <p:nvPr/>
        </p:nvSpPr>
        <p:spPr bwMode="auto">
          <a:xfrm>
            <a:off x="1066800" y="4800600"/>
            <a:ext cx="64770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GB" altLang="en-US" sz="2600" b="1">
                <a:latin typeface="Times New Roman" pitchFamily="18" charset="0"/>
              </a:rPr>
              <a:t>VB</a:t>
            </a:r>
          </a:p>
        </p:txBody>
      </p:sp>
      <p:sp>
        <p:nvSpPr>
          <p:cNvPr id="26642" name="Text Box 64"/>
          <p:cNvSpPr txBox="1">
            <a:spLocks noChangeArrowheads="1"/>
          </p:cNvSpPr>
          <p:nvPr/>
        </p:nvSpPr>
        <p:spPr bwMode="auto">
          <a:xfrm>
            <a:off x="1066800" y="5675313"/>
            <a:ext cx="7715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GB" altLang="en-US" sz="2600" b="1">
                <a:latin typeface="Times New Roman" pitchFamily="18" charset="0"/>
              </a:rPr>
              <a:t>Ada</a:t>
            </a:r>
          </a:p>
        </p:txBody>
      </p:sp>
      <p:grpSp>
        <p:nvGrpSpPr>
          <p:cNvPr id="26643" name="Group 41"/>
          <p:cNvGrpSpPr>
            <a:grpSpLocks/>
          </p:cNvGrpSpPr>
          <p:nvPr/>
        </p:nvGrpSpPr>
        <p:grpSpPr bwMode="auto">
          <a:xfrm>
            <a:off x="5673725" y="4187825"/>
            <a:ext cx="269875" cy="0"/>
            <a:chOff x="3308" y="2173"/>
            <a:chExt cx="170" cy="244"/>
          </a:xfrm>
        </p:grpSpPr>
        <p:sp>
          <p:nvSpPr>
            <p:cNvPr id="26648" name="Line 66"/>
            <p:cNvSpPr>
              <a:spLocks noChangeShapeType="1"/>
            </p:cNvSpPr>
            <p:nvPr/>
          </p:nvSpPr>
          <p:spPr bwMode="auto">
            <a:xfrm>
              <a:off x="3323" y="2288"/>
              <a:ext cx="155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E"/>
            </a:p>
          </p:txBody>
        </p:sp>
        <p:sp>
          <p:nvSpPr>
            <p:cNvPr id="26649" name="Line 67"/>
            <p:cNvSpPr>
              <a:spLocks noChangeShapeType="1"/>
            </p:cNvSpPr>
            <p:nvPr/>
          </p:nvSpPr>
          <p:spPr bwMode="auto">
            <a:xfrm rot="5400000">
              <a:off x="3186" y="2295"/>
              <a:ext cx="24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E"/>
            </a:p>
          </p:txBody>
        </p:sp>
      </p:grpSp>
      <p:sp>
        <p:nvSpPr>
          <p:cNvPr id="26644" name="Text Box 68"/>
          <p:cNvSpPr txBox="1">
            <a:spLocks noChangeArrowheads="1"/>
          </p:cNvSpPr>
          <p:nvPr/>
        </p:nvSpPr>
        <p:spPr bwMode="auto">
          <a:xfrm>
            <a:off x="6199188" y="2684463"/>
            <a:ext cx="2944812" cy="128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GB" altLang="en-US" sz="2600" b="1">
                <a:latin typeface="Times New Roman" pitchFamily="18" charset="0"/>
              </a:rPr>
              <a:t>Implementation is Hidden behind interface</a:t>
            </a:r>
          </a:p>
        </p:txBody>
      </p:sp>
      <p:sp>
        <p:nvSpPr>
          <p:cNvPr id="26645" name="Text Box 69"/>
          <p:cNvSpPr txBox="1">
            <a:spLocks noChangeArrowheads="1"/>
          </p:cNvSpPr>
          <p:nvPr/>
        </p:nvSpPr>
        <p:spPr bwMode="auto">
          <a:xfrm>
            <a:off x="5310188" y="5235575"/>
            <a:ext cx="3429000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GB" altLang="en-US" sz="2600" b="1">
                <a:latin typeface="Times New Roman" pitchFamily="18" charset="0"/>
              </a:rPr>
              <a:t>Service or Contract-oriented View</a:t>
            </a:r>
          </a:p>
        </p:txBody>
      </p:sp>
      <p:sp>
        <p:nvSpPr>
          <p:cNvPr id="26646" name="Line 73"/>
          <p:cNvSpPr>
            <a:spLocks noChangeShapeType="1"/>
          </p:cNvSpPr>
          <p:nvPr/>
        </p:nvSpPr>
        <p:spPr bwMode="auto">
          <a:xfrm>
            <a:off x="2541588" y="4208463"/>
            <a:ext cx="2895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" name="Minus 1"/>
          <p:cNvSpPr/>
          <p:nvPr/>
        </p:nvSpPr>
        <p:spPr bwMode="auto">
          <a:xfrm>
            <a:off x="5592763" y="3155950"/>
            <a:ext cx="52387" cy="1968500"/>
          </a:xfrm>
          <a:prstGeom prst="mathMinus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416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IDL Compiler</a:t>
            </a:r>
          </a:p>
        </p:txBody>
      </p:sp>
      <p:pic>
        <p:nvPicPr>
          <p:cNvPr id="4" name="Content Placeholder 3" descr="idl compiler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7964" y="1149927"/>
            <a:ext cx="7245927" cy="5320146"/>
          </a:xfrm>
        </p:spPr>
      </p:pic>
    </p:spTree>
    <p:extLst>
      <p:ext uri="{BB962C8B-B14F-4D97-AF65-F5344CB8AC3E}">
        <p14:creationId xmlns:p14="http://schemas.microsoft.com/office/powerpoint/2010/main" val="713214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281"/>
    </mc:Choice>
    <mc:Fallback xmlns="">
      <p:transition spd="slow" advTm="3028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457200" y="1295400"/>
            <a:ext cx="7772400" cy="5105400"/>
          </a:xfrm>
          <a:prstGeom prst="rect">
            <a:avLst/>
          </a:prstGeom>
          <a:noFill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400" dirty="0"/>
              <a:t>CORBA allows the separation of definition and implementation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400" dirty="0"/>
              <a:t>CORBA uses IDL for defining interfaces between clients and servers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400" dirty="0"/>
              <a:t>IDL is a </a:t>
            </a:r>
            <a:r>
              <a:rPr lang="en-US" sz="2400" dirty="0">
                <a:hlinkClick r:id="rId2" tooltip="Specification language"/>
              </a:rPr>
              <a:t>specification language</a:t>
            </a:r>
            <a:r>
              <a:rPr lang="en-US" sz="2400" dirty="0"/>
              <a:t> used to describe a </a:t>
            </a:r>
            <a:r>
              <a:rPr lang="en-US" sz="2400" dirty="0">
                <a:hlinkClick r:id="rId3" tooltip="Software component"/>
              </a:rPr>
              <a:t>software component</a:t>
            </a:r>
            <a:r>
              <a:rPr lang="en-US" sz="2400" dirty="0"/>
              <a:t>'s </a:t>
            </a:r>
            <a:r>
              <a:rPr lang="en-US" sz="2400" dirty="0">
                <a:hlinkClick r:id="rId4" tooltip="Interface (computer science)"/>
              </a:rPr>
              <a:t>interface</a:t>
            </a:r>
            <a:r>
              <a:rPr lang="en-US" sz="2400" dirty="0"/>
              <a:t>.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400" dirty="0"/>
              <a:t>IDLs describe an interface in a language-neutral way, enabling communication between </a:t>
            </a:r>
            <a:r>
              <a:rPr lang="en-US" sz="2400" dirty="0">
                <a:hlinkClick r:id="rId5" tooltip="Software components"/>
              </a:rPr>
              <a:t>software components</a:t>
            </a:r>
            <a:r>
              <a:rPr lang="en-US" sz="2400" dirty="0"/>
              <a:t> that do not share a language.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400" dirty="0"/>
              <a:t>ORB Vendors provide specific IDL compilers for supported languages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400" dirty="0"/>
              <a:t>create target language stubs and skeletons for building CORBA clients and servers</a:t>
            </a:r>
          </a:p>
          <a:p>
            <a:pPr marL="1143000" lvl="2" indent="-2286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400" dirty="0"/>
              <a:t>C, C++, Smalltalk,  Java, COBOL …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endParaRPr lang="en-US" sz="2400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609600" y="0"/>
            <a:ext cx="7772400" cy="1143000"/>
          </a:xfrm>
          <a:prstGeom prst="rect">
            <a:avLst/>
          </a:prstGeom>
          <a:noFill/>
        </p:spPr>
        <p:txBody>
          <a:bodyPr lIns="90488" tIns="44450" rIns="90488" bIns="44450" anchor="ctr"/>
          <a:lstStyle/>
          <a:p>
            <a:pPr algn="ctr">
              <a:defRPr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Interface Definition Language</a:t>
            </a:r>
          </a:p>
        </p:txBody>
      </p:sp>
    </p:spTree>
    <p:extLst>
      <p:ext uri="{BB962C8B-B14F-4D97-AF65-F5344CB8AC3E}">
        <p14:creationId xmlns:p14="http://schemas.microsoft.com/office/powerpoint/2010/main" val="30944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685800" y="381000"/>
            <a:ext cx="7772400" cy="1143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Client Stubs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09600" y="1600200"/>
            <a:ext cx="8077200" cy="4800600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3200" dirty="0">
                <a:latin typeface="+mn-lt"/>
                <a:cs typeface="+mn-cs"/>
              </a:rPr>
              <a:t>Client side proxy for server.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3200" dirty="0">
                <a:latin typeface="+mn-lt"/>
                <a:cs typeface="+mn-cs"/>
              </a:rPr>
              <a:t>Joins to the client at one end and to the ORB core at the other end.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3200" dirty="0">
                <a:latin typeface="+mn-lt"/>
                <a:cs typeface="+mn-cs"/>
              </a:rPr>
              <a:t>Client-to-stub interface is decided by the standard OMG language mapping for the chosen programming language.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3200" dirty="0">
                <a:latin typeface="+mn-lt"/>
                <a:cs typeface="+mn-cs"/>
              </a:rPr>
              <a:t>Clients actually invoke methods on stub objects.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295400"/>
            <a:ext cx="79248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4927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685800" y="381000"/>
            <a:ext cx="7772400" cy="1143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Server Skeletons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533400" y="1600200"/>
            <a:ext cx="8229600" cy="4648200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3200" dirty="0">
                <a:latin typeface="+mn-lt"/>
                <a:cs typeface="+mn-cs"/>
              </a:rPr>
              <a:t>Acts as client proxy for server implementation.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3200" dirty="0">
                <a:latin typeface="+mn-lt"/>
                <a:cs typeface="+mn-cs"/>
              </a:rPr>
              <a:t>Connects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800" dirty="0">
                <a:latin typeface="+mn-lt"/>
                <a:cs typeface="+mn-cs"/>
              </a:rPr>
              <a:t>to the server object via the mapping defined for its programming language on .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800" dirty="0">
                <a:latin typeface="+mn-lt"/>
                <a:cs typeface="+mn-cs"/>
              </a:rPr>
              <a:t>To the Object Adapter via a proprietary interface.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3200" dirty="0">
                <a:latin typeface="+mn-lt"/>
                <a:cs typeface="+mn-cs"/>
              </a:rPr>
              <a:t>Invocation pass through Object Adapter to skeletons, which in turn actually invoke methods on server object.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609600" y="1295400"/>
            <a:ext cx="79248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42892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685800" y="30480"/>
            <a:ext cx="7772400" cy="8382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Object Adapter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457200" y="685800"/>
            <a:ext cx="8305800" cy="5715000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3200" dirty="0">
                <a:latin typeface="+mn-lt"/>
                <a:cs typeface="+mn-cs"/>
              </a:rPr>
              <a:t>Different kind of object implementations -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3200" dirty="0"/>
              <a:t>OA helps the ORB to operate with different type of objects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3200" dirty="0"/>
              <a:t>An object adapter is the primary means for an object implementation to access ORB services such as object reference generation.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3200" dirty="0"/>
              <a:t>Most widely used OA - BOA (Basic OA)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3200" dirty="0"/>
              <a:t>Recently standardized - POA (Portable OA)</a:t>
            </a:r>
          </a:p>
        </p:txBody>
      </p:sp>
    </p:spTree>
    <p:extLst>
      <p:ext uri="{BB962C8B-B14F-4D97-AF65-F5344CB8AC3E}">
        <p14:creationId xmlns:p14="http://schemas.microsoft.com/office/powerpoint/2010/main" val="31418647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685800" y="0"/>
            <a:ext cx="7772400" cy="5715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Interface Repository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0" y="582930"/>
            <a:ext cx="9144000" cy="4876800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3200" dirty="0">
                <a:latin typeface="+mn-lt"/>
                <a:cs typeface="+mn-cs"/>
              </a:rPr>
              <a:t>Contains information regarding the interfaces to ORB objects.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3200" dirty="0">
                <a:latin typeface="+mn-lt"/>
                <a:cs typeface="+mn-cs"/>
              </a:rPr>
              <a:t>Client objects can use it -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800" dirty="0">
                <a:latin typeface="+mn-lt"/>
                <a:cs typeface="+mn-cs"/>
              </a:rPr>
              <a:t>To manage installation and distribution of interface definitions around your network.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800" dirty="0">
                <a:latin typeface="+mn-lt"/>
                <a:cs typeface="+mn-cs"/>
              </a:rPr>
              <a:t>Language compilers may use them to generate stubs and skeletons.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3200" dirty="0"/>
              <a:t>Can be shared by more than one ORB or one ORB may refer to more than one interface repository.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3200" dirty="0"/>
              <a:t>The IR provides another way to specify the interfaces to objects. </a:t>
            </a:r>
          </a:p>
        </p:txBody>
      </p:sp>
    </p:spTree>
    <p:extLst>
      <p:ext uri="{BB962C8B-B14F-4D97-AF65-F5344CB8AC3E}">
        <p14:creationId xmlns:p14="http://schemas.microsoft.com/office/powerpoint/2010/main" val="41380591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685800" y="381000"/>
            <a:ext cx="7772400" cy="1143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Implementation Repository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685800" y="1981200"/>
            <a:ext cx="7772400" cy="4114800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3200" dirty="0">
                <a:latin typeface="+mn-lt"/>
                <a:cs typeface="+mn-cs"/>
              </a:rPr>
              <a:t>Contains all the information regarding object implementation.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3200" dirty="0">
                <a:latin typeface="+mn-lt"/>
                <a:cs typeface="+mn-cs"/>
              </a:rPr>
              <a:t>Provides a persistent record of how to activate and invoke operations on object implementations.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3200" dirty="0">
                <a:latin typeface="+mn-lt"/>
                <a:cs typeface="+mn-cs"/>
              </a:rPr>
              <a:t>CORBA gives vendors free-hand in handling implementations.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609600" y="1295400"/>
            <a:ext cx="79248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3957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Dynamic invocation interface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Invoking operations can be done through either static or dynamic interfaces.</a:t>
            </a:r>
          </a:p>
          <a:p>
            <a:r>
              <a:rPr lang="en-US" dirty="0"/>
              <a:t> Static invocation interfaces are determined at compile time, and they are presented to the client using stubs.</a:t>
            </a:r>
          </a:p>
          <a:p>
            <a:r>
              <a:rPr lang="en-US" dirty="0"/>
              <a:t>The DII, on the other hand, allows client applications to use server objects without knowing the type of those objects at compile time. </a:t>
            </a:r>
          </a:p>
          <a:p>
            <a:r>
              <a:rPr lang="en-US" dirty="0"/>
              <a:t>It allows a client to obtain an instance of a CORBA object and make invocations on that object by dynamically constructing requests.</a:t>
            </a:r>
          </a:p>
        </p:txBody>
      </p:sp>
    </p:spTree>
    <p:extLst>
      <p:ext uri="{BB962C8B-B14F-4D97-AF65-F5344CB8AC3E}">
        <p14:creationId xmlns:p14="http://schemas.microsoft.com/office/powerpoint/2010/main" val="2275389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281"/>
    </mc:Choice>
    <mc:Fallback xmlns="">
      <p:transition spd="slow" advTm="3028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Dynamic skeleton interface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>
            <a:normAutofit/>
          </a:bodyPr>
          <a:lstStyle/>
          <a:p>
            <a:pPr>
              <a:buFont typeface="Arial" charset="0"/>
              <a:buChar char="•"/>
              <a:defRPr/>
            </a:pPr>
            <a:r>
              <a:rPr lang="en-US" dirty="0"/>
              <a:t>Allows the ORB and OA to deliver requests to an object without the need of pre-compiled skeletons.</a:t>
            </a:r>
          </a:p>
          <a:p>
            <a:r>
              <a:rPr lang="en-US" dirty="0"/>
              <a:t>Its main purpose is to support the implementation of gateways between ORBs which utilize different communication protocols. </a:t>
            </a:r>
          </a:p>
        </p:txBody>
      </p:sp>
    </p:spTree>
    <p:extLst>
      <p:ext uri="{BB962C8B-B14F-4D97-AF65-F5344CB8AC3E}">
        <p14:creationId xmlns:p14="http://schemas.microsoft.com/office/powerpoint/2010/main" val="339152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281"/>
    </mc:Choice>
    <mc:Fallback xmlns="">
      <p:transition spd="slow" advTm="3028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Steps of a CORBA-based App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steps involved:</a:t>
            </a:r>
          </a:p>
          <a:p>
            <a:pPr lvl="1" eaLnBrk="1" hangingPunct="1"/>
            <a:r>
              <a:rPr lang="en-US" altLang="en-US" dirty="0"/>
              <a:t>Define an interface(IDL file)</a:t>
            </a:r>
          </a:p>
          <a:p>
            <a:pPr lvl="1" eaLnBrk="1" hangingPunct="1"/>
            <a:r>
              <a:rPr lang="en-US" altLang="en-US" dirty="0"/>
              <a:t>Map IDL to Java (</a:t>
            </a:r>
            <a:r>
              <a:rPr lang="en-US" altLang="en-US" dirty="0" err="1"/>
              <a:t>idlj</a:t>
            </a:r>
            <a:r>
              <a:rPr lang="en-US" altLang="en-US" dirty="0"/>
              <a:t> compiler)</a:t>
            </a:r>
          </a:p>
          <a:p>
            <a:pPr lvl="1" eaLnBrk="1" hangingPunct="1"/>
            <a:r>
              <a:rPr lang="en-US" altLang="en-US" dirty="0"/>
              <a:t>Implement the interface </a:t>
            </a:r>
          </a:p>
          <a:p>
            <a:pPr lvl="2"/>
            <a:r>
              <a:rPr lang="en-US" altLang="en-US" dirty="0"/>
              <a:t>Write servant</a:t>
            </a:r>
          </a:p>
          <a:p>
            <a:pPr lvl="1" eaLnBrk="1" hangingPunct="1"/>
            <a:r>
              <a:rPr lang="en-US" altLang="en-US" dirty="0"/>
              <a:t>Write a Server</a:t>
            </a:r>
          </a:p>
          <a:p>
            <a:pPr lvl="1" eaLnBrk="1" hangingPunct="1"/>
            <a:r>
              <a:rPr lang="en-US" altLang="en-US" dirty="0"/>
              <a:t>Write a Client</a:t>
            </a:r>
          </a:p>
          <a:p>
            <a:pPr lvl="1" eaLnBrk="1" hangingPunct="1"/>
            <a:r>
              <a:rPr lang="en-US" altLang="en-US" dirty="0"/>
              <a:t>Run the application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A4DBBE0-9C8E-4DB2-BE87-E84C375750A5}" type="slidenum">
              <a:rPr lang="en-CA" altLang="en-US" sz="2600">
                <a:solidFill>
                  <a:schemeClr val="bg1"/>
                </a:solidFill>
                <a:latin typeface="Arial" pitchFamily="34" charset="0"/>
              </a:rPr>
              <a:pPr/>
              <a:t>25</a:t>
            </a:fld>
            <a:endParaRPr lang="en-CA" altLang="en-US" sz="2600">
              <a:solidFill>
                <a:schemeClr val="bg1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649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Tutorial</a:t>
            </a:r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>
          <a:xfrm>
            <a:off x="900113" y="2017713"/>
            <a:ext cx="8001000" cy="4535487"/>
          </a:xfrm>
        </p:spPr>
        <p:txBody>
          <a:bodyPr/>
          <a:lstStyle/>
          <a:p>
            <a:r>
              <a:rPr lang="en-US" altLang="en-US" sz="2000" dirty="0">
                <a:hlinkClick r:id="rId2"/>
              </a:rPr>
              <a:t>http://www.ejbtutorial.com/corba/tutorial-for-corba-hello-world-using-java</a:t>
            </a:r>
            <a:endParaRPr lang="en-US" altLang="en-US" sz="2000" dirty="0"/>
          </a:p>
          <a:p>
            <a:endParaRPr lang="en-US" altLang="en-US" sz="2000" dirty="0"/>
          </a:p>
          <a:p>
            <a:r>
              <a:rPr lang="en-US" altLang="en-US" sz="2000" dirty="0">
                <a:hlinkClick r:id="rId3"/>
              </a:rPr>
              <a:t>https://docs.oracle.com/javase/7/docs/technotes/guides/idl/jidlExample.html</a:t>
            </a:r>
            <a:endParaRPr lang="en-US" altLang="en-US" sz="2000" dirty="0"/>
          </a:p>
          <a:p>
            <a:endParaRPr lang="en-US" altLang="en-US" sz="2000" dirty="0"/>
          </a:p>
          <a:p>
            <a:r>
              <a:rPr lang="en-US" altLang="en-US" sz="2000" dirty="0"/>
              <a:t>Follow the steps of the tutorial above.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052C99EE-6DA7-4D43-BEF7-C29FA9785C5A}" type="slidenum">
              <a:rPr lang="en-CA" altLang="en-US" sz="2600">
                <a:solidFill>
                  <a:schemeClr val="bg1"/>
                </a:solidFill>
                <a:latin typeface="Arial" pitchFamily="34" charset="0"/>
              </a:rPr>
              <a:pPr/>
              <a:t>26</a:t>
            </a:fld>
            <a:endParaRPr lang="en-CA" altLang="en-US" sz="2600">
              <a:solidFill>
                <a:schemeClr val="bg1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0310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42D679B6F40C48B2519DEB851FE85E" ma:contentTypeVersion="3" ma:contentTypeDescription="Create a new document." ma:contentTypeScope="" ma:versionID="575d8b23c4b8b11c8120af33fe0370b6">
  <xsd:schema xmlns:xsd="http://www.w3.org/2001/XMLSchema" xmlns:xs="http://www.w3.org/2001/XMLSchema" xmlns:p="http://schemas.microsoft.com/office/2006/metadata/properties" xmlns:ns2="03033146-d356-4da8-83b8-91c471b948ed" targetNamespace="http://schemas.microsoft.com/office/2006/metadata/properties" ma:root="true" ma:fieldsID="bcaf4ecb0242332874b477bff2821e57" ns2:_="">
    <xsd:import namespace="03033146-d356-4da8-83b8-91c471b948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033146-d356-4da8-83b8-91c471b948e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CEBC8A8-5F84-4AFA-8D57-EBAFC15D83A2}"/>
</file>

<file path=customXml/itemProps2.xml><?xml version="1.0" encoding="utf-8"?>
<ds:datastoreItem xmlns:ds="http://schemas.openxmlformats.org/officeDocument/2006/customXml" ds:itemID="{E2D0289E-B2E8-40F2-A6A4-9C3B88A99A52}"/>
</file>

<file path=customXml/itemProps3.xml><?xml version="1.0" encoding="utf-8"?>
<ds:datastoreItem xmlns:ds="http://schemas.openxmlformats.org/officeDocument/2006/customXml" ds:itemID="{40D7BBC9-1AA7-4EA5-B693-11858193B8F3}"/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993</Words>
  <Application>Microsoft Office PowerPoint</Application>
  <PresentationFormat>On-screen Show (4:3)</PresentationFormat>
  <Paragraphs>145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SimSun</vt:lpstr>
      <vt:lpstr>Arial</vt:lpstr>
      <vt:lpstr>Calibri</vt:lpstr>
      <vt:lpstr>Times New Roman</vt:lpstr>
      <vt:lpstr>Wingdings</vt:lpstr>
      <vt:lpstr>Office Theme</vt:lpstr>
      <vt:lpstr>CORBA</vt:lpstr>
      <vt:lpstr>Distributed Object</vt:lpstr>
      <vt:lpstr>Distributed Computing</vt:lpstr>
      <vt:lpstr>Working of Distributed Objects</vt:lpstr>
      <vt:lpstr>Remote Invocation</vt:lpstr>
      <vt:lpstr>PowerPoint Presentation</vt:lpstr>
      <vt:lpstr>CORBA???</vt:lpstr>
      <vt:lpstr>CORBA</vt:lpstr>
      <vt:lpstr>CORBA Objects</vt:lpstr>
      <vt:lpstr>CORBA Architecture</vt:lpstr>
      <vt:lpstr>PowerPoint Presentation</vt:lpstr>
      <vt:lpstr>ORB</vt:lpstr>
      <vt:lpstr>Object Request Broker (ORB)</vt:lpstr>
      <vt:lpstr>Object Request Broker (ORB)</vt:lpstr>
      <vt:lpstr>IDL</vt:lpstr>
      <vt:lpstr>IDL Compiler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Dynamic invocation interface </vt:lpstr>
      <vt:lpstr>Dynamic skeleton interface </vt:lpstr>
      <vt:lpstr>Steps of a CORBA-based App</vt:lpstr>
      <vt:lpstr>Tutorial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Imran</dc:creator>
  <cp:lastModifiedBy>Adeel</cp:lastModifiedBy>
  <cp:revision>97</cp:revision>
  <dcterms:created xsi:type="dcterms:W3CDTF">2017-05-11T07:48:26Z</dcterms:created>
  <dcterms:modified xsi:type="dcterms:W3CDTF">2025-06-18T13:11:04Z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0x0101008242D679B6F40C48B2519DEB851FE85E</vt:lpwstr>
  </property>
</Properties>
</file>