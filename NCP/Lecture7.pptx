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2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85" r:id="rId2"/>
    <p:sldId id="286" r:id="rId3"/>
    <p:sldId id="287" r:id="rId4"/>
    <p:sldId id="288" r:id="rId5"/>
    <p:sldId id="289" r:id="rId6"/>
    <p:sldId id="290" r:id="rId7"/>
    <p:sldId id="291" r:id="rId8"/>
    <p:sldId id="295" r:id="rId9"/>
    <p:sldId id="298" r:id="rId10"/>
    <p:sldId id="299" r:id="rId11"/>
    <p:sldId id="300" r:id="rId12"/>
    <p:sldId id="307" r:id="rId13"/>
    <p:sldId id="308" r:id="rId14"/>
    <p:sldId id="309" r:id="rId15"/>
    <p:sldId id="302" r:id="rId16"/>
    <p:sldId id="303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16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D8E825-B39A-4DD2-B08D-EEAF4C1836AD}" type="datetimeFigureOut">
              <a:rPr lang="en-IE" smtClean="0"/>
              <a:t>28/08/2019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AD6678-E0EA-4225-A6AE-EB6083087061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40204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/>
            <a:fld id="{481F27D7-B380-4D3E-90C6-F990FD80E0B1}" type="slidenum">
              <a:rPr lang="en-US" altLang="en-US" sz="1200">
                <a:latin typeface="Calibri" pitchFamily="34" charset="0"/>
              </a:rPr>
              <a:pPr eaLnBrk="1" hangingPunct="1"/>
              <a:t>2</a:t>
            </a:fld>
            <a:endParaRPr lang="en-US" altLang="en-US" sz="120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Invoking writeObject(a) writes not just a, but all the objects necessary to reconstitute a, so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the other four objects in this web are written also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 When a is read back by readObject, the other four objects are read back as well, and all the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original object references are preserved.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F645E3-605D-46EF-8F00-40459411309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7790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F645E3-605D-46EF-8F00-40459411309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7790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This class extends the </a:t>
            </a:r>
            <a:r>
              <a:rPr lang="en-US" dirty="0" err="1">
                <a:latin typeface="Courier New" pitchFamily="49" charset="0"/>
              </a:rPr>
              <a:t>InputStream</a:t>
            </a:r>
            <a:r>
              <a:rPr lang="en-US" dirty="0"/>
              <a:t> class and implements the </a:t>
            </a:r>
            <a:r>
              <a:rPr lang="en-US" dirty="0" err="1">
                <a:latin typeface="Courier New" pitchFamily="49" charset="0"/>
              </a:rPr>
              <a:t>ObjectInput</a:t>
            </a:r>
            <a:r>
              <a:rPr lang="en-US" dirty="0"/>
              <a:t> interface.</a:t>
            </a:r>
          </a:p>
          <a:p>
            <a:pPr eaLnBrk="1" hangingPunct="1"/>
            <a:r>
              <a:rPr lang="en-US" dirty="0" err="1">
                <a:latin typeface="Courier New" pitchFamily="49" charset="0"/>
              </a:rPr>
              <a:t>ObjectInput</a:t>
            </a:r>
            <a:r>
              <a:rPr lang="en-US" dirty="0"/>
              <a:t> interface extends the </a:t>
            </a:r>
            <a:r>
              <a:rPr lang="en-US" dirty="0" err="1">
                <a:latin typeface="Courier New" pitchFamily="49" charset="0"/>
              </a:rPr>
              <a:t>DataInput</a:t>
            </a:r>
            <a:r>
              <a:rPr lang="en-US" dirty="0"/>
              <a:t> interface and has methods that support object serialization.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F645E3-605D-46EF-8F00-40459411309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9876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A1E2316-043B-4E5E-B674-B7CB345BC30D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414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2950" cy="3416300"/>
          </a:xfrm>
          <a:ln/>
        </p:spPr>
      </p:sp>
      <p:sp>
        <p:nvSpPr>
          <p:cNvPr id="414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03D9ABA-9F37-4AA3-AE14-3FC93B81EE67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420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2950" cy="3416300"/>
          </a:xfrm>
          <a:ln/>
        </p:spPr>
      </p:sp>
      <p:sp>
        <p:nvSpPr>
          <p:cNvPr id="420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E9269D6-D47F-4019-B877-05403E239477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422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2950" cy="3416300"/>
          </a:xfrm>
          <a:ln/>
        </p:spPr>
      </p:sp>
      <p:sp>
        <p:nvSpPr>
          <p:cNvPr id="422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D9308F5-BA28-419C-ABC9-FFA5A1B6B4DE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424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2950" cy="3416300"/>
          </a:xfrm>
          <a:ln/>
        </p:spPr>
      </p:sp>
      <p:sp>
        <p:nvSpPr>
          <p:cNvPr id="424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F645E3-605D-46EF-8F00-40459411309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3709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2393D65-9CE3-4EDE-9102-90B6230E07FE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433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2950" cy="3416300"/>
          </a:xfrm>
          <a:ln/>
        </p:spPr>
      </p:sp>
      <p:sp>
        <p:nvSpPr>
          <p:cNvPr id="433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7FF7391-5AAC-4D36-9BA5-EE245CD51AD7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435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2950" cy="3416300"/>
          </a:xfrm>
          <a:ln/>
        </p:spPr>
      </p:sp>
      <p:sp>
        <p:nvSpPr>
          <p:cNvPr id="435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9D0E868-9EEB-401C-A21B-D5A5193312C0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429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2950" cy="3416300"/>
          </a:xfrm>
          <a:ln/>
        </p:spPr>
      </p:sp>
      <p:sp>
        <p:nvSpPr>
          <p:cNvPr id="429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9AA2CFB-7BEE-4A5A-9F28-996F47CE309D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431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2950" cy="3416300"/>
          </a:xfrm>
          <a:ln/>
        </p:spPr>
      </p:sp>
      <p:sp>
        <p:nvSpPr>
          <p:cNvPr id="431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1EF2E-BD36-443C-9AE5-D1A797EBBF56}" type="datetimeFigureOut">
              <a:rPr lang="en-IE" smtClean="0"/>
              <a:t>28/08/2019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70296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>
            <a:lvl2pPr>
              <a:buFont typeface="Wingdings" pitchFamily="2" charset="2"/>
              <a:buChar char="§"/>
              <a:defRPr/>
            </a:lvl2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D99516F-A17F-4F2B-8A30-13369B9F6908}" type="datetime1">
              <a:rPr lang="en-US" altLang="en-US"/>
              <a:pPr/>
              <a:t>8/28/2019</a:t>
            </a:fld>
            <a:endParaRPr lang="en-US" alt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© Copyright 1992-2012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33426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1EF2E-BD36-443C-9AE5-D1A797EBBF56}" type="datetimeFigureOut">
              <a:rPr lang="en-IE" smtClean="0"/>
              <a:t>28/08/2019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7" name="TextBox 6"/>
          <p:cNvSpPr txBox="1"/>
          <p:nvPr userDrawn="1"/>
        </p:nvSpPr>
        <p:spPr>
          <a:xfrm>
            <a:off x="8534400" y="64008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FDE13FC8-C17F-4A72-8DBC-34CEC4C243C5}" type="slidenum">
              <a:rPr lang="en-IE" smtClean="0"/>
              <a:t>‹#›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772529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1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Serialization</a:t>
            </a:r>
          </a:p>
          <a:p>
            <a:r>
              <a:rPr lang="en-US"/>
              <a:t>Serializable</a:t>
            </a:r>
          </a:p>
          <a:p>
            <a:r>
              <a:rPr lang="en-US"/>
              <a:t>ObjectInputStream</a:t>
            </a:r>
          </a:p>
          <a:p>
            <a:r>
              <a:rPr lang="en-US"/>
              <a:t>ObjectOutputStream</a:t>
            </a:r>
          </a:p>
          <a:p>
            <a:r>
              <a:rPr lang="en-US"/>
              <a:t>Example</a:t>
            </a:r>
          </a:p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Object Stream</a:t>
            </a:r>
          </a:p>
        </p:txBody>
      </p:sp>
    </p:spTree>
    <p:extLst>
      <p:ext uri="{BB962C8B-B14F-4D97-AF65-F5344CB8AC3E}">
        <p14:creationId xmlns:p14="http://schemas.microsoft.com/office/powerpoint/2010/main" val="2995693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004DCC"/>
                </a:solidFill>
                <a:latin typeface="Arial"/>
                <a:ea typeface="+mj-ea"/>
              </a:rPr>
              <a:t>Object Serialization</a:t>
            </a:r>
          </a:p>
        </p:txBody>
      </p:sp>
      <p:sp>
        <p:nvSpPr>
          <p:cNvPr id="17410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Times New Roman" pitchFamily="18" charset="0"/>
              </a:rPr>
              <a:t>To read an entire object from or write an entire object to a file, Java provides </a:t>
            </a:r>
            <a:r>
              <a:rPr lang="en-US" altLang="en-US" b="1" dirty="0" smtClean="0">
                <a:solidFill>
                  <a:srgbClr val="0000FF"/>
                </a:solidFill>
                <a:latin typeface="Times New Roman" pitchFamily="18" charset="0"/>
              </a:rPr>
              <a:t>object serialization</a:t>
            </a:r>
            <a:r>
              <a:rPr lang="en-US" altLang="en-US" b="1" dirty="0" smtClean="0">
                <a:solidFill>
                  <a:srgbClr val="000000"/>
                </a:solidFill>
                <a:latin typeface="Times New Roman" pitchFamily="18" charset="0"/>
              </a:rPr>
              <a:t>. </a:t>
            </a:r>
          </a:p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Times New Roman" pitchFamily="18" charset="0"/>
              </a:rPr>
              <a:t>A </a:t>
            </a:r>
            <a:r>
              <a:rPr lang="en-US" altLang="en-US" b="1" dirty="0" smtClean="0">
                <a:solidFill>
                  <a:srgbClr val="0000FF"/>
                </a:solidFill>
                <a:latin typeface="Times New Roman" pitchFamily="18" charset="0"/>
              </a:rPr>
              <a:t>serialized object</a:t>
            </a:r>
            <a:r>
              <a:rPr lang="en-US" altLang="en-US" b="1" dirty="0" smtClean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en-US" dirty="0" smtClean="0">
                <a:solidFill>
                  <a:srgbClr val="000000"/>
                </a:solidFill>
                <a:latin typeface="Times New Roman" pitchFamily="18" charset="0"/>
              </a:rPr>
              <a:t>is represented as a sequence of bytes that includes the object</a:t>
            </a:r>
            <a:r>
              <a:rPr lang="ja-JP" altLang="en-US" dirty="0" smtClean="0">
                <a:solidFill>
                  <a:srgbClr val="000000"/>
                </a:solidFill>
                <a:latin typeface="Times New Roman" pitchFamily="18" charset="0"/>
              </a:rPr>
              <a:t>’</a:t>
            </a:r>
            <a:r>
              <a:rPr lang="en-US" altLang="ja-JP" dirty="0" smtClean="0">
                <a:solidFill>
                  <a:srgbClr val="000000"/>
                </a:solidFill>
                <a:latin typeface="Times New Roman" pitchFamily="18" charset="0"/>
              </a:rPr>
              <a:t>s data and its type information. </a:t>
            </a:r>
          </a:p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Times New Roman" pitchFamily="18" charset="0"/>
              </a:rPr>
              <a:t>After a serialized object has been written into a file, it can be read from the file and </a:t>
            </a:r>
            <a:r>
              <a:rPr lang="en-US" altLang="en-US" b="1" dirty="0" err="1" smtClean="0">
                <a:solidFill>
                  <a:srgbClr val="0000FF"/>
                </a:solidFill>
                <a:latin typeface="Times New Roman" pitchFamily="18" charset="0"/>
              </a:rPr>
              <a:t>deserialized</a:t>
            </a:r>
            <a:r>
              <a:rPr lang="en-US" altLang="en-US" b="1" dirty="0" smtClean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en-US" dirty="0" smtClean="0">
                <a:solidFill>
                  <a:srgbClr val="000000"/>
                </a:solidFill>
                <a:latin typeface="Times New Roman" pitchFamily="18" charset="0"/>
              </a:rPr>
              <a:t>to recreate the object in memory. </a:t>
            </a:r>
          </a:p>
        </p:txBody>
      </p:sp>
    </p:spTree>
    <p:extLst>
      <p:ext uri="{BB962C8B-B14F-4D97-AF65-F5344CB8AC3E}">
        <p14:creationId xmlns:p14="http://schemas.microsoft.com/office/powerpoint/2010/main" val="2190294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 descr="https://encrypted-tbn2.gstatic.com/images?q=tbn:ANd9GcS2L742dMCdvzWs2vuyivWlJDMC-muTlNYNHVuZXH7zjhb1HlY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2540" y="4724400"/>
            <a:ext cx="6858000" cy="205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698" name="Picture 2" descr="Image result for object serialization jav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" y="477884"/>
            <a:ext cx="7284720" cy="4246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/>
              <a:t>Serialization</a:t>
            </a:r>
          </a:p>
        </p:txBody>
      </p:sp>
    </p:spTree>
    <p:extLst>
      <p:ext uri="{BB962C8B-B14F-4D97-AF65-F5344CB8AC3E}">
        <p14:creationId xmlns:p14="http://schemas.microsoft.com/office/powerpoint/2010/main" val="403776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143000"/>
            <a:ext cx="8686800" cy="556260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/>
              <a:t>Object streams support I/O of objects</a:t>
            </a:r>
          </a:p>
          <a:p>
            <a:pPr lvl="1">
              <a:lnSpc>
                <a:spcPct val="110000"/>
              </a:lnSpc>
            </a:pPr>
            <a:r>
              <a:rPr lang="en-US" sz="2400"/>
              <a:t>Like Data streams support I/O of primitive data types</a:t>
            </a:r>
          </a:p>
          <a:p>
            <a:pPr lvl="1">
              <a:lnSpc>
                <a:spcPct val="110000"/>
              </a:lnSpc>
            </a:pPr>
            <a:r>
              <a:rPr lang="en-US" sz="2400"/>
              <a:t>The object has to be Serializable type </a:t>
            </a:r>
          </a:p>
          <a:p>
            <a:pPr>
              <a:lnSpc>
                <a:spcPct val="110000"/>
              </a:lnSpc>
            </a:pPr>
            <a:r>
              <a:rPr lang="en-US"/>
              <a:t>An object stream can contain a mixture of primitive and object values.</a:t>
            </a:r>
          </a:p>
          <a:p>
            <a:pPr>
              <a:lnSpc>
                <a:spcPct val="110000"/>
              </a:lnSpc>
            </a:pPr>
            <a:r>
              <a:rPr lang="en-US"/>
              <a:t>Input and Output of Complex Object:</a:t>
            </a:r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Object Stream 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4381499"/>
            <a:ext cx="6553200" cy="24765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93072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143000"/>
            <a:ext cx="8686800" cy="556260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/>
              <a:t>There are two streams in </a:t>
            </a:r>
            <a:r>
              <a:rPr lang="en-US">
                <a:latin typeface="Courier New" pitchFamily="49" charset="0"/>
              </a:rPr>
              <a:t>java.io</a:t>
            </a:r>
            <a:r>
              <a:rPr lang="en-US"/>
              <a:t>: </a:t>
            </a:r>
            <a:r>
              <a:rPr lang="en-US" sz="3000">
                <a:latin typeface="Courier New" pitchFamily="49" charset="0"/>
              </a:rPr>
              <a:t>ObjectInputStream</a:t>
            </a:r>
            <a:r>
              <a:rPr lang="en-US" sz="3000"/>
              <a:t> and </a:t>
            </a:r>
            <a:r>
              <a:rPr lang="en-US" sz="3000">
                <a:latin typeface="Courier New" pitchFamily="49" charset="0"/>
              </a:rPr>
              <a:t>ObjectOutputStream </a:t>
            </a:r>
            <a:r>
              <a:rPr lang="en-US"/>
              <a:t>.</a:t>
            </a:r>
          </a:p>
          <a:p>
            <a:pPr>
              <a:lnSpc>
                <a:spcPct val="110000"/>
              </a:lnSpc>
            </a:pPr>
            <a:r>
              <a:rPr lang="en-US"/>
              <a:t>They are like any other input stream and output stream with the difference that they can read and write </a:t>
            </a:r>
            <a:r>
              <a:rPr lang="en-US" b="1">
                <a:solidFill>
                  <a:srgbClr val="C00000"/>
                </a:solidFill>
              </a:rPr>
              <a:t>objects</a:t>
            </a:r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Serialization </a:t>
            </a:r>
          </a:p>
        </p:txBody>
      </p:sp>
    </p:spTree>
    <p:extLst>
      <p:ext uri="{BB962C8B-B14F-4D97-AF65-F5344CB8AC3E}">
        <p14:creationId xmlns:p14="http://schemas.microsoft.com/office/powerpoint/2010/main" val="763017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3860574"/>
            <a:ext cx="8077200" cy="2271939"/>
          </a:xfrm>
        </p:spPr>
        <p:txBody>
          <a:bodyPr>
            <a:normAutofit/>
          </a:bodyPr>
          <a:lstStyle/>
          <a:p>
            <a:pPr eaLnBrk="1" hangingPunct="1"/>
            <a:r>
              <a:rPr lang="en-US"/>
              <a:t>This class has methods that support object serialization. </a:t>
            </a:r>
          </a:p>
          <a:p>
            <a:pPr eaLnBrk="1" hangingPunct="1"/>
            <a:r>
              <a:rPr lang="en-US">
                <a:latin typeface="Courier New" pitchFamily="49" charset="0"/>
              </a:rPr>
              <a:t>ObjectInputStream</a:t>
            </a:r>
            <a:r>
              <a:rPr lang="en-US"/>
              <a:t> is responsible for reading objects from a input stream.</a:t>
            </a:r>
          </a:p>
        </p:txBody>
      </p:sp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en-US" dirty="0" err="1"/>
              <a:t>ObjectInputStream</a:t>
            </a:r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190500" y="1143000"/>
            <a:ext cx="8796616" cy="2362200"/>
            <a:chOff x="190500" y="3657600"/>
            <a:chExt cx="8796616" cy="2362200"/>
          </a:xfrm>
        </p:grpSpPr>
        <p:grpSp>
          <p:nvGrpSpPr>
            <p:cNvPr id="22" name="Group 21"/>
            <p:cNvGrpSpPr/>
            <p:nvPr/>
          </p:nvGrpSpPr>
          <p:grpSpPr>
            <a:xfrm>
              <a:off x="190500" y="3657600"/>
              <a:ext cx="8796616" cy="2362200"/>
              <a:chOff x="190500" y="4226866"/>
              <a:chExt cx="8796616" cy="2362200"/>
            </a:xfrm>
          </p:grpSpPr>
          <p:sp>
            <p:nvSpPr>
              <p:cNvPr id="12" name="Rectangle 11"/>
              <p:cNvSpPr/>
              <p:nvPr/>
            </p:nvSpPr>
            <p:spPr>
              <a:xfrm>
                <a:off x="190500" y="4226866"/>
                <a:ext cx="8796616" cy="23622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" name="TextBox 2"/>
              <p:cNvSpPr txBox="1"/>
              <p:nvPr/>
            </p:nvSpPr>
            <p:spPr>
              <a:xfrm>
                <a:off x="5181600" y="4429840"/>
                <a:ext cx="2886075" cy="584775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8575">
                <a:solidFill>
                  <a:srgbClr val="0099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3200" b="1">
                    <a:latin typeface="Courier New" pitchFamily="49" charset="0"/>
                  </a:rPr>
                  <a:t>InputStream</a:t>
                </a:r>
                <a:endParaRPr lang="en-US" sz="3200" b="1"/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342900" y="5892225"/>
                <a:ext cx="3124200" cy="584775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8575">
                <a:solidFill>
                  <a:srgbClr val="0099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200" b="1">
                    <a:latin typeface="Courier New" pitchFamily="49" charset="0"/>
                  </a:rPr>
                  <a:t>ObjectInput</a:t>
                </a:r>
                <a:endParaRPr lang="en-US" sz="3200" b="1"/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304800" y="4429840"/>
                <a:ext cx="3124200" cy="584775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8575">
                <a:solidFill>
                  <a:srgbClr val="0099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200" b="1">
                    <a:latin typeface="Courier New" pitchFamily="49" charset="0"/>
                  </a:rPr>
                  <a:t>DataInput</a:t>
                </a:r>
                <a:endParaRPr lang="en-US" sz="3200" b="1"/>
              </a:p>
            </p:txBody>
          </p:sp>
          <p:sp>
            <p:nvSpPr>
              <p:cNvPr id="11" name="Up Arrow 10"/>
              <p:cNvSpPr/>
              <p:nvPr/>
            </p:nvSpPr>
            <p:spPr>
              <a:xfrm>
                <a:off x="6610350" y="5039440"/>
                <a:ext cx="95250" cy="833735"/>
              </a:xfrm>
              <a:prstGeom prst="upArrow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 b="1"/>
              </a:p>
            </p:txBody>
          </p:sp>
          <p:sp>
            <p:nvSpPr>
              <p:cNvPr id="15" name="Up Arrow 14"/>
              <p:cNvSpPr/>
              <p:nvPr/>
            </p:nvSpPr>
            <p:spPr>
              <a:xfrm>
                <a:off x="1847850" y="5039439"/>
                <a:ext cx="95250" cy="833735"/>
              </a:xfrm>
              <a:prstGeom prst="upArrow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 b="1"/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4415116" y="5873175"/>
                <a:ext cx="4424084" cy="584775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8575">
                <a:solidFill>
                  <a:srgbClr val="0099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200" b="1">
                    <a:latin typeface="Courier New" pitchFamily="49" charset="0"/>
                    <a:cs typeface="Courier New" pitchFamily="49" charset="0"/>
                  </a:rPr>
                  <a:t>ObjectInputStream</a:t>
                </a:r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3562350" y="5873174"/>
                <a:ext cx="75751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Imp</a:t>
                </a:r>
              </a:p>
            </p:txBody>
          </p:sp>
        </p:grpSp>
        <p:cxnSp>
          <p:nvCxnSpPr>
            <p:cNvPr id="18" name="Straight Arrow Connector 17"/>
            <p:cNvCxnSpPr/>
            <p:nvPr/>
          </p:nvCxnSpPr>
          <p:spPr>
            <a:xfrm flipH="1">
              <a:off x="3467100" y="5715000"/>
              <a:ext cx="948016" cy="0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Oval 3"/>
            <p:cNvSpPr/>
            <p:nvPr/>
          </p:nvSpPr>
          <p:spPr>
            <a:xfrm>
              <a:off x="4415116" y="5322959"/>
              <a:ext cx="4424084" cy="584775"/>
            </a:xfrm>
            <a:prstGeom prst="ellipse">
              <a:avLst/>
            </a:prstGeom>
            <a:noFill/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18786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>
          <a:xfrm>
            <a:off x="702608" y="3845866"/>
            <a:ext cx="7772400" cy="1411934"/>
          </a:xfrm>
        </p:spPr>
        <p:txBody>
          <a:bodyPr/>
          <a:lstStyle/>
          <a:p>
            <a:r>
              <a:rPr lang="en-US">
                <a:latin typeface="Courier New" pitchFamily="49" charset="0"/>
              </a:rPr>
              <a:t>ObjectOutputStream</a:t>
            </a:r>
            <a:r>
              <a:rPr lang="en-US"/>
              <a:t> is responsible for writting objects to the output stream </a:t>
            </a:r>
          </a:p>
        </p:txBody>
      </p:sp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 err="1"/>
              <a:t>ObjectOutputStream</a:t>
            </a:r>
            <a:r>
              <a:rPr lang="en-US" dirty="0"/>
              <a:t> 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0" y="1143000"/>
            <a:ext cx="8987116" cy="2362200"/>
            <a:chOff x="0" y="3657600"/>
            <a:chExt cx="8987116" cy="2362200"/>
          </a:xfrm>
        </p:grpSpPr>
        <p:grpSp>
          <p:nvGrpSpPr>
            <p:cNvPr id="6" name="Group 5"/>
            <p:cNvGrpSpPr/>
            <p:nvPr/>
          </p:nvGrpSpPr>
          <p:grpSpPr>
            <a:xfrm>
              <a:off x="0" y="3657600"/>
              <a:ext cx="8987116" cy="2362200"/>
              <a:chOff x="0" y="4226866"/>
              <a:chExt cx="8987116" cy="2362200"/>
            </a:xfrm>
          </p:grpSpPr>
          <p:sp>
            <p:nvSpPr>
              <p:cNvPr id="9" name="Rectangle 8"/>
              <p:cNvSpPr/>
              <p:nvPr/>
            </p:nvSpPr>
            <p:spPr>
              <a:xfrm>
                <a:off x="0" y="4226866"/>
                <a:ext cx="8987116" cy="23622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4962525" y="4429840"/>
                <a:ext cx="3343275" cy="584775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8575">
                <a:solidFill>
                  <a:srgbClr val="0099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3200" b="1">
                    <a:latin typeface="Courier New" pitchFamily="49" charset="0"/>
                  </a:rPr>
                  <a:t>OutputStream</a:t>
                </a:r>
                <a:endParaRPr lang="en-US" sz="3200" b="1"/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0" y="5892225"/>
                <a:ext cx="3467100" cy="584775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8575">
                <a:solidFill>
                  <a:srgbClr val="0099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200" b="1" dirty="0" err="1" smtClean="0">
                    <a:latin typeface="Courier New" pitchFamily="49" charset="0"/>
                  </a:rPr>
                  <a:t>ObjectOutput</a:t>
                </a:r>
                <a:endParaRPr lang="en-US" sz="3200" b="1" dirty="0"/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304800" y="4429840"/>
                <a:ext cx="3124200" cy="584775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8575">
                <a:solidFill>
                  <a:srgbClr val="0099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200" b="1" dirty="0" err="1" smtClean="0">
                    <a:latin typeface="Courier New" pitchFamily="49" charset="0"/>
                  </a:rPr>
                  <a:t>DataOutput</a:t>
                </a:r>
                <a:endParaRPr lang="en-US" sz="3200" b="1" dirty="0"/>
              </a:p>
            </p:txBody>
          </p:sp>
          <p:sp>
            <p:nvSpPr>
              <p:cNvPr id="13" name="Up Arrow 12"/>
              <p:cNvSpPr/>
              <p:nvPr/>
            </p:nvSpPr>
            <p:spPr>
              <a:xfrm>
                <a:off x="6610350" y="5039440"/>
                <a:ext cx="95250" cy="833735"/>
              </a:xfrm>
              <a:prstGeom prst="upArrow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 b="1"/>
              </a:p>
            </p:txBody>
          </p:sp>
          <p:sp>
            <p:nvSpPr>
              <p:cNvPr id="14" name="Up Arrow 13"/>
              <p:cNvSpPr/>
              <p:nvPr/>
            </p:nvSpPr>
            <p:spPr>
              <a:xfrm>
                <a:off x="1847850" y="5039439"/>
                <a:ext cx="95250" cy="833735"/>
              </a:xfrm>
              <a:prstGeom prst="upArrow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 b="1"/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4415116" y="5873175"/>
                <a:ext cx="4347884" cy="553998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8575">
                <a:solidFill>
                  <a:srgbClr val="0099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000" b="1">
                    <a:latin typeface="Courier New" pitchFamily="49" charset="0"/>
                    <a:cs typeface="Courier New" pitchFamily="49" charset="0"/>
                  </a:rPr>
                  <a:t>ObjectOutputStream</a:t>
                </a:r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3562350" y="5873174"/>
                <a:ext cx="75751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Imp</a:t>
                </a:r>
              </a:p>
            </p:txBody>
          </p:sp>
        </p:grpSp>
        <p:cxnSp>
          <p:nvCxnSpPr>
            <p:cNvPr id="7" name="Straight Arrow Connector 6"/>
            <p:cNvCxnSpPr/>
            <p:nvPr/>
          </p:nvCxnSpPr>
          <p:spPr>
            <a:xfrm flipH="1">
              <a:off x="3467100" y="5715000"/>
              <a:ext cx="948016" cy="0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Oval 7"/>
            <p:cNvSpPr/>
            <p:nvPr/>
          </p:nvSpPr>
          <p:spPr>
            <a:xfrm>
              <a:off x="4415116" y="5322959"/>
              <a:ext cx="4572000" cy="584775"/>
            </a:xfrm>
            <a:prstGeom prst="ellipse">
              <a:avLst/>
            </a:prstGeom>
            <a:noFill/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95683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6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3600"/>
              <a:t>When Using </a:t>
            </a:r>
            <a:r>
              <a:rPr lang="en-US" altLang="en-US" sz="3600">
                <a:latin typeface="Courier New" pitchFamily="49" charset="0"/>
              </a:rPr>
              <a:t>ObjectInputStream</a:t>
            </a:r>
            <a:r>
              <a:rPr lang="en-US" altLang="en-US" sz="3600"/>
              <a:t> </a:t>
            </a:r>
            <a:br>
              <a:rPr lang="en-US" altLang="en-US" sz="3600"/>
            </a:br>
            <a:r>
              <a:rPr lang="en-US" altLang="en-US" sz="3600"/>
              <a:t>to Read Data from Files:</a:t>
            </a:r>
          </a:p>
        </p:txBody>
      </p:sp>
      <p:sp>
        <p:nvSpPr>
          <p:cNvPr id="413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000"/>
              <a:t>Input files are binary and contain any of the primitive data types (</a:t>
            </a:r>
            <a:r>
              <a:rPr lang="en-US" altLang="en-US" sz="2000">
                <a:latin typeface="Courier New" pitchFamily="49" charset="0"/>
              </a:rPr>
              <a:t>int</a:t>
            </a:r>
            <a:r>
              <a:rPr lang="en-US" altLang="en-US" sz="2000"/>
              <a:t>, </a:t>
            </a:r>
            <a:r>
              <a:rPr lang="en-US" altLang="en-US" sz="2000">
                <a:latin typeface="Courier New" pitchFamily="49" charset="0"/>
              </a:rPr>
              <a:t>char</a:t>
            </a:r>
            <a:r>
              <a:rPr lang="en-US" altLang="en-US" sz="2000"/>
              <a:t>, </a:t>
            </a:r>
            <a:r>
              <a:rPr lang="en-US" altLang="en-US" sz="2000">
                <a:latin typeface="Courier New" pitchFamily="49" charset="0"/>
              </a:rPr>
              <a:t>double</a:t>
            </a:r>
            <a:r>
              <a:rPr lang="en-US" altLang="en-US" sz="2000"/>
              <a:t>, etc.) and the </a:t>
            </a:r>
            <a:r>
              <a:rPr lang="en-US" altLang="en-US" sz="2000">
                <a:latin typeface="Courier New" pitchFamily="49" charset="0"/>
              </a:rPr>
              <a:t>String</a:t>
            </a:r>
            <a:r>
              <a:rPr lang="en-US" altLang="en-US" sz="2000"/>
              <a:t> type</a:t>
            </a:r>
          </a:p>
          <a:p>
            <a:endParaRPr lang="en-US" altLang="en-US" sz="2000"/>
          </a:p>
          <a:p>
            <a:r>
              <a:rPr lang="en-US" altLang="en-US" sz="2000"/>
              <a:t>The files can be read by Java programs but are not printable</a:t>
            </a:r>
          </a:p>
          <a:p>
            <a:endParaRPr lang="en-US" altLang="en-US" sz="2000"/>
          </a:p>
          <a:p>
            <a:r>
              <a:rPr lang="en-US" altLang="en-US" sz="2000"/>
              <a:t>The Java I/O library must be imported including the line:</a:t>
            </a:r>
            <a:br>
              <a:rPr lang="en-US" altLang="en-US" sz="2000"/>
            </a:br>
            <a:r>
              <a:rPr lang="en-US" altLang="en-US" sz="2000">
                <a:latin typeface="Courier New" pitchFamily="49" charset="0"/>
              </a:rPr>
              <a:t>import java.io.*;</a:t>
            </a:r>
          </a:p>
          <a:p>
            <a:pPr lvl="1"/>
            <a:r>
              <a:rPr lang="en-US" altLang="en-US" sz="2000"/>
              <a:t>it contains </a:t>
            </a:r>
            <a:r>
              <a:rPr lang="en-US" altLang="en-US" sz="2000">
                <a:latin typeface="Courier New" pitchFamily="49" charset="0"/>
              </a:rPr>
              <a:t>ObjectInputStream</a:t>
            </a:r>
            <a:r>
              <a:rPr lang="en-US" altLang="en-US" sz="2000"/>
              <a:t> and other useful class definitions</a:t>
            </a:r>
          </a:p>
          <a:p>
            <a:pPr lvl="1"/>
            <a:endParaRPr lang="en-US" altLang="en-US" sz="2000"/>
          </a:p>
          <a:p>
            <a:r>
              <a:rPr lang="en-US" altLang="en-US" sz="2000"/>
              <a:t>An </a:t>
            </a:r>
            <a:r>
              <a:rPr lang="en-US" altLang="en-US" sz="2000">
                <a:latin typeface="Courier New" pitchFamily="49" charset="0"/>
              </a:rPr>
              <a:t>IOException</a:t>
            </a:r>
            <a:r>
              <a:rPr lang="en-US" altLang="en-US" sz="2000"/>
              <a:t> might be thrown</a:t>
            </a:r>
          </a:p>
        </p:txBody>
      </p:sp>
    </p:spTree>
    <p:extLst>
      <p:ext uri="{BB962C8B-B14F-4D97-AF65-F5344CB8AC3E}">
        <p14:creationId xmlns:p14="http://schemas.microsoft.com/office/powerpoint/2010/main" val="397537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4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8077200" cy="1143000"/>
          </a:xfrm>
        </p:spPr>
        <p:txBody>
          <a:bodyPr>
            <a:normAutofit fontScale="90000"/>
          </a:bodyPr>
          <a:lstStyle/>
          <a:p>
            <a:r>
              <a:rPr lang="en-US" altLang="en-US" sz="4000"/>
              <a:t>Some </a:t>
            </a:r>
            <a:r>
              <a:rPr lang="en-US" altLang="en-US" sz="4000" b="1">
                <a:latin typeface="Courier New" pitchFamily="49" charset="0"/>
              </a:rPr>
              <a:t>ObjectInputStream</a:t>
            </a:r>
            <a:r>
              <a:rPr lang="en-US" altLang="en-US" sz="4000"/>
              <a:t> Methods</a:t>
            </a:r>
          </a:p>
        </p:txBody>
      </p:sp>
      <p:sp>
        <p:nvSpPr>
          <p:cNvPr id="419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8153400" cy="4419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/>
              <a:t>For every output file method there is a corresponding input file method</a:t>
            </a:r>
          </a:p>
          <a:p>
            <a:pPr>
              <a:lnSpc>
                <a:spcPct val="90000"/>
              </a:lnSpc>
            </a:pPr>
            <a:endParaRPr lang="en-US" altLang="en-US" sz="2000" dirty="0"/>
          </a:p>
          <a:p>
            <a:pPr>
              <a:lnSpc>
                <a:spcPct val="90000"/>
              </a:lnSpc>
            </a:pPr>
            <a:r>
              <a:rPr lang="en-US" altLang="en-US" sz="2000" dirty="0"/>
              <a:t>You can read data from an input file after it is connected to a stream class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Use methods defined in </a:t>
            </a:r>
            <a:r>
              <a:rPr lang="en-US" altLang="en-US" sz="2000" dirty="0" err="1">
                <a:latin typeface="Courier New" pitchFamily="49" charset="0"/>
              </a:rPr>
              <a:t>ObjectInputStream</a:t>
            </a:r>
            <a:endParaRPr lang="en-US" altLang="en-US" sz="2000" dirty="0">
              <a:latin typeface="Courier New" pitchFamily="49" charset="0"/>
            </a:endParaRPr>
          </a:p>
          <a:p>
            <a:pPr lvl="2">
              <a:lnSpc>
                <a:spcPct val="90000"/>
              </a:lnSpc>
            </a:pPr>
            <a:r>
              <a:rPr lang="en-US" altLang="en-US" sz="2000" dirty="0" err="1">
                <a:latin typeface="Courier New" pitchFamily="49" charset="0"/>
              </a:rPr>
              <a:t>readInt</a:t>
            </a:r>
            <a:r>
              <a:rPr lang="en-US" altLang="en-US" sz="2000" dirty="0">
                <a:latin typeface="Courier New" pitchFamily="49" charset="0"/>
              </a:rPr>
              <a:t>()</a:t>
            </a:r>
          </a:p>
          <a:p>
            <a:pPr lvl="2">
              <a:lnSpc>
                <a:spcPct val="90000"/>
              </a:lnSpc>
            </a:pPr>
            <a:r>
              <a:rPr lang="en-US" altLang="en-US" sz="2000" dirty="0" err="1">
                <a:latin typeface="Courier New" pitchFamily="49" charset="0"/>
              </a:rPr>
              <a:t>readDouble</a:t>
            </a:r>
            <a:r>
              <a:rPr lang="en-US" altLang="en-US" sz="2000" dirty="0">
                <a:latin typeface="Courier New" pitchFamily="49" charset="0"/>
              </a:rPr>
              <a:t>()</a:t>
            </a:r>
          </a:p>
          <a:p>
            <a:pPr lvl="2">
              <a:lnSpc>
                <a:spcPct val="90000"/>
              </a:lnSpc>
            </a:pPr>
            <a:r>
              <a:rPr lang="en-US" altLang="en-US" sz="2000" dirty="0" err="1">
                <a:latin typeface="Courier New" pitchFamily="49" charset="0"/>
              </a:rPr>
              <a:t>readBoolean</a:t>
            </a:r>
            <a:r>
              <a:rPr lang="en-US" altLang="en-US" sz="2000" dirty="0">
                <a:latin typeface="Courier New" pitchFamily="49" charset="0"/>
              </a:rPr>
              <a:t>()</a:t>
            </a:r>
          </a:p>
          <a:p>
            <a:pPr lvl="2">
              <a:lnSpc>
                <a:spcPct val="90000"/>
              </a:lnSpc>
            </a:pPr>
            <a:r>
              <a:rPr lang="en-US" altLang="en-US" sz="2000" dirty="0"/>
              <a:t>etc.</a:t>
            </a:r>
          </a:p>
          <a:p>
            <a:pPr lvl="2">
              <a:lnSpc>
                <a:spcPct val="90000"/>
              </a:lnSpc>
            </a:pPr>
            <a:r>
              <a:rPr lang="en-US" altLang="en-US" sz="2000" dirty="0"/>
              <a:t>See the text for more</a:t>
            </a:r>
          </a:p>
          <a:p>
            <a:pPr lvl="2">
              <a:lnSpc>
                <a:spcPct val="90000"/>
              </a:lnSpc>
            </a:pPr>
            <a:endParaRPr lang="en-US" altLang="en-US" sz="2000" dirty="0"/>
          </a:p>
          <a:p>
            <a:pPr>
              <a:lnSpc>
                <a:spcPct val="90000"/>
              </a:lnSpc>
            </a:pPr>
            <a:r>
              <a:rPr lang="en-US" altLang="en-US" sz="2000" dirty="0"/>
              <a:t>Note that each write method throws </a:t>
            </a:r>
            <a:r>
              <a:rPr lang="en-US" altLang="en-US" sz="2000" dirty="0" err="1">
                <a:latin typeface="Courier New" pitchFamily="49" charset="0"/>
              </a:rPr>
              <a:t>IOException</a:t>
            </a:r>
            <a:endParaRPr lang="en-US" altLang="en-US" sz="2000" dirty="0">
              <a:latin typeface="Courier New" pitchFamily="49" charset="0"/>
            </a:endParaRPr>
          </a:p>
          <a:p>
            <a:pPr lvl="1">
              <a:lnSpc>
                <a:spcPct val="90000"/>
              </a:lnSpc>
            </a:pP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102023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Input File Exceptions</a:t>
            </a:r>
          </a:p>
        </p:txBody>
      </p:sp>
      <p:sp>
        <p:nvSpPr>
          <p:cNvPr id="421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981200"/>
            <a:ext cx="8458200" cy="4267200"/>
          </a:xfrm>
        </p:spPr>
        <p:txBody>
          <a:bodyPr/>
          <a:lstStyle/>
          <a:p>
            <a:r>
              <a:rPr lang="en-US" altLang="en-US" sz="2400"/>
              <a:t>A </a:t>
            </a:r>
            <a:r>
              <a:rPr lang="en-US" altLang="en-US" sz="2400">
                <a:latin typeface="Courier New" pitchFamily="49" charset="0"/>
              </a:rPr>
              <a:t>FileNotFoundException</a:t>
            </a:r>
            <a:r>
              <a:rPr lang="en-US" altLang="en-US" sz="2400"/>
              <a:t> is thrown if the file is not found when an attempt is made to open a file</a:t>
            </a:r>
          </a:p>
          <a:p>
            <a:endParaRPr lang="en-US" altLang="en-US" sz="2400"/>
          </a:p>
          <a:p>
            <a:r>
              <a:rPr lang="en-US" altLang="en-US" sz="2400"/>
              <a:t>Each read method throws </a:t>
            </a:r>
            <a:r>
              <a:rPr lang="en-US" altLang="en-US" sz="2400">
                <a:latin typeface="Courier New" pitchFamily="49" charset="0"/>
              </a:rPr>
              <a:t>IOException</a:t>
            </a:r>
          </a:p>
          <a:p>
            <a:pPr lvl="1"/>
            <a:r>
              <a:rPr lang="en-US" altLang="en-US" sz="2400"/>
              <a:t>we still have to write a catch block for it</a:t>
            </a:r>
          </a:p>
          <a:p>
            <a:pPr lvl="1"/>
            <a:endParaRPr lang="en-US" altLang="en-US" sz="2400"/>
          </a:p>
          <a:p>
            <a:r>
              <a:rPr lang="en-US" altLang="en-US" sz="2400"/>
              <a:t>If a read goes beyond the end of the file an </a:t>
            </a:r>
            <a:r>
              <a:rPr lang="en-US" altLang="en-US" sz="2400">
                <a:latin typeface="Courier New" pitchFamily="49" charset="0"/>
              </a:rPr>
              <a:t>EOFException</a:t>
            </a:r>
            <a:r>
              <a:rPr lang="en-US" altLang="en-US" sz="2400"/>
              <a:t> is thrown</a:t>
            </a:r>
          </a:p>
          <a:p>
            <a:endParaRPr lang="en-US" altLang="en-US" sz="2400"/>
          </a:p>
        </p:txBody>
      </p:sp>
    </p:spTree>
    <p:extLst>
      <p:ext uri="{BB962C8B-B14F-4D97-AF65-F5344CB8AC3E}">
        <p14:creationId xmlns:p14="http://schemas.microsoft.com/office/powerpoint/2010/main" val="1398873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Avoiding Common </a:t>
            </a:r>
            <a:r>
              <a:rPr lang="en-US" altLang="en-US" sz="3200" b="1">
                <a:latin typeface="Courier New" pitchFamily="49" charset="0"/>
              </a:rPr>
              <a:t>ObjectInputStream</a:t>
            </a:r>
            <a:r>
              <a:rPr lang="en-US" altLang="en-US" sz="3200"/>
              <a:t> File Errors</a:t>
            </a:r>
          </a:p>
        </p:txBody>
      </p:sp>
      <p:sp>
        <p:nvSpPr>
          <p:cNvPr id="423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8077200" cy="4114800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altLang="en-US" sz="2400" dirty="0"/>
              <a:t>There is no error message (or exception)</a:t>
            </a:r>
          </a:p>
          <a:p>
            <a:pPr algn="ctr">
              <a:buFontTx/>
              <a:buNone/>
            </a:pPr>
            <a:r>
              <a:rPr lang="en-US" altLang="en-US" sz="2400" dirty="0"/>
              <a:t>if you read the wrong data type!</a:t>
            </a:r>
          </a:p>
          <a:p>
            <a:endParaRPr lang="en-US" altLang="en-US" sz="2400" i="1" dirty="0"/>
          </a:p>
          <a:p>
            <a:r>
              <a:rPr lang="en-US" altLang="en-US" sz="2400" dirty="0"/>
              <a:t>Input files can contain a mix of data types</a:t>
            </a:r>
          </a:p>
          <a:p>
            <a:pPr lvl="1"/>
            <a:r>
              <a:rPr lang="en-US" altLang="en-US" sz="2400" dirty="0"/>
              <a:t>it is up to the programmer to know their order and use the correct read method</a:t>
            </a:r>
            <a:endParaRPr lang="en-US" altLang="en-US" sz="2000" dirty="0"/>
          </a:p>
          <a:p>
            <a:r>
              <a:rPr lang="en-US" altLang="en-US" sz="2400" dirty="0" smtClean="0"/>
              <a:t>As </a:t>
            </a:r>
            <a:r>
              <a:rPr lang="en-US" altLang="en-US" sz="2400" dirty="0"/>
              <a:t>with an output file, close the input file when you are done with it</a:t>
            </a:r>
          </a:p>
        </p:txBody>
      </p:sp>
      <p:sp>
        <p:nvSpPr>
          <p:cNvPr id="423940" name="Rectangle 4"/>
          <p:cNvSpPr>
            <a:spLocks noChangeArrowheads="1"/>
          </p:cNvSpPr>
          <p:nvPr/>
        </p:nvSpPr>
        <p:spPr bwMode="auto">
          <a:xfrm>
            <a:off x="2133600" y="1905000"/>
            <a:ext cx="5181600" cy="9906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18370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Example Serialization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0" y="2685396"/>
            <a:ext cx="3200400" cy="181588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109537" indent="0">
              <a:buNone/>
            </a:pPr>
            <a:r>
              <a:rPr lang="en-US" sz="1400" b="1" dirty="0">
                <a:solidFill>
                  <a:srgbClr val="7F0055"/>
                </a:solidFill>
                <a:latin typeface="Consolas"/>
              </a:rPr>
              <a:t>class</a:t>
            </a:r>
            <a:r>
              <a:rPr lang="en-US" sz="14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400" b="1" u="sng" dirty="0">
                <a:solidFill>
                  <a:srgbClr val="000000"/>
                </a:solidFill>
                <a:latin typeface="Consolas"/>
              </a:rPr>
              <a:t>Junk </a:t>
            </a:r>
            <a:r>
              <a:rPr lang="en-US" sz="1400" b="1" u="sng" dirty="0">
                <a:solidFill>
                  <a:srgbClr val="7F0055"/>
                </a:solidFill>
                <a:latin typeface="Consolas"/>
              </a:rPr>
              <a:t>implements</a:t>
            </a:r>
            <a:r>
              <a:rPr lang="en-US" sz="1400" b="1" u="sng" dirty="0">
                <a:solidFill>
                  <a:srgbClr val="000000"/>
                </a:solidFill>
                <a:latin typeface="Consolas"/>
              </a:rPr>
              <a:t> Serializable {</a:t>
            </a:r>
          </a:p>
          <a:p>
            <a:pPr marL="109537" indent="0">
              <a:buNone/>
            </a:pPr>
            <a:r>
              <a:rPr lang="en-US" sz="1400" dirty="0">
                <a:solidFill>
                  <a:srgbClr val="000000"/>
                </a:solidFill>
                <a:latin typeface="Consolas"/>
              </a:rPr>
              <a:t>  String </a:t>
            </a:r>
            <a:r>
              <a:rPr lang="en-US" sz="1400" dirty="0" err="1">
                <a:solidFill>
                  <a:srgbClr val="0000C0"/>
                </a:solidFill>
                <a:latin typeface="Consolas"/>
              </a:rPr>
              <a:t>str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pPr marL="109537" indent="0">
              <a:buNone/>
            </a:pPr>
            <a:r>
              <a:rPr lang="en-US" sz="1400" dirty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400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US" sz="1400" b="1" dirty="0">
                <a:solidFill>
                  <a:srgbClr val="000000"/>
                </a:solidFill>
                <a:latin typeface="Consolas"/>
              </a:rPr>
              <a:t> Junk(String s) 	</a:t>
            </a:r>
            <a:endParaRPr lang="en-US" sz="1400" b="1" dirty="0" smtClean="0">
              <a:solidFill>
                <a:srgbClr val="000000"/>
              </a:solidFill>
              <a:latin typeface="Consolas"/>
            </a:endParaRPr>
          </a:p>
          <a:p>
            <a:pPr marL="109537" indent="0">
              <a:buNone/>
            </a:pPr>
            <a:r>
              <a:rPr lang="en-US" sz="1400" b="1" dirty="0" smtClean="0">
                <a:solidFill>
                  <a:srgbClr val="000000"/>
                </a:solidFill>
                <a:latin typeface="Consolas"/>
              </a:rPr>
              <a:t>{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400" dirty="0" err="1">
                <a:solidFill>
                  <a:srgbClr val="0000C0"/>
                </a:solidFill>
                <a:latin typeface="Consolas"/>
              </a:rPr>
              <a:t>str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 = s;  }</a:t>
            </a:r>
          </a:p>
          <a:p>
            <a:r>
              <a:rPr lang="en-US" sz="1400" b="1" dirty="0">
                <a:solidFill>
                  <a:srgbClr val="7F0055"/>
                </a:solidFill>
                <a:latin typeface="Consolas"/>
              </a:rPr>
              <a:t>   public</a:t>
            </a:r>
            <a:r>
              <a:rPr lang="en-US" sz="1400" b="1" dirty="0">
                <a:solidFill>
                  <a:srgbClr val="000000"/>
                </a:solidFill>
                <a:latin typeface="Consolas"/>
              </a:rPr>
              <a:t> String </a:t>
            </a:r>
            <a:r>
              <a:rPr lang="en-US" sz="1400" b="1" dirty="0" err="1" smtClean="0">
                <a:solidFill>
                  <a:srgbClr val="000000"/>
                </a:solidFill>
                <a:latin typeface="Consolas"/>
              </a:rPr>
              <a:t>toStr</a:t>
            </a:r>
            <a:r>
              <a:rPr lang="en-US" sz="1400" b="1" dirty="0" smtClean="0">
                <a:solidFill>
                  <a:srgbClr val="000000"/>
                </a:solidFill>
                <a:latin typeface="Consolas"/>
              </a:rPr>
              <a:t>(){</a:t>
            </a:r>
            <a:endParaRPr lang="en-US" sz="1400" b="1" dirty="0">
              <a:solidFill>
                <a:srgbClr val="000000"/>
              </a:solidFill>
              <a:latin typeface="Consolas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400" b="1" dirty="0">
                <a:solidFill>
                  <a:srgbClr val="7F0055"/>
                </a:solidFill>
                <a:latin typeface="Consolas"/>
              </a:rPr>
              <a:t>return</a:t>
            </a:r>
            <a:r>
              <a:rPr lang="en-US" sz="14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400" b="1" dirty="0" err="1">
                <a:solidFill>
                  <a:srgbClr val="0000C0"/>
                </a:solidFill>
                <a:latin typeface="Consolas"/>
              </a:rPr>
              <a:t>str</a:t>
            </a:r>
            <a:r>
              <a:rPr lang="en-US" sz="1400" b="1" dirty="0">
                <a:solidFill>
                  <a:srgbClr val="000000"/>
                </a:solidFill>
                <a:latin typeface="Consolas"/>
              </a:rPr>
              <a:t>;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 marL="109537" indent="0">
              <a:buNone/>
            </a:pPr>
            <a:r>
              <a:rPr lang="en-US" sz="1400" dirty="0">
                <a:solidFill>
                  <a:srgbClr val="000000"/>
                </a:solidFill>
                <a:latin typeface="Consolas"/>
              </a:rPr>
              <a:t>}</a:t>
            </a:r>
            <a:endParaRPr lang="en-US" sz="1400" dirty="0"/>
          </a:p>
        </p:txBody>
      </p:sp>
      <p:sp>
        <p:nvSpPr>
          <p:cNvPr id="2" name="Rectangle 1"/>
          <p:cNvSpPr/>
          <p:nvPr/>
        </p:nvSpPr>
        <p:spPr>
          <a:xfrm>
            <a:off x="0" y="914400"/>
            <a:ext cx="914400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 smtClean="0">
                <a:solidFill>
                  <a:srgbClr val="7F0055"/>
                </a:solidFill>
                <a:latin typeface="Courier New" panose="02070309020205020404" pitchFamily="49" charset="0"/>
              </a:rPr>
              <a:t>import</a:t>
            </a:r>
            <a:r>
              <a:rPr lang="en-US" sz="16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java.io.*;</a:t>
            </a:r>
          </a:p>
          <a:p>
            <a:r>
              <a:rPr lang="en-US" sz="1600" b="1" dirty="0">
                <a:solidFill>
                  <a:srgbClr val="7F0055"/>
                </a:solidFill>
                <a:latin typeface="Courier New" panose="02070309020205020404" pitchFamily="49" charset="0"/>
              </a:rPr>
              <a:t>public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7F0055"/>
                </a:solidFill>
                <a:latin typeface="Courier New" panose="02070309020205020404" pitchFamily="49" charset="0"/>
              </a:rPr>
              <a:t>class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writeObj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{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7F0055"/>
                </a:solidFill>
                <a:latin typeface="Courier New" panose="02070309020205020404" pitchFamily="49" charset="0"/>
              </a:rPr>
              <a:t>public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7F0055"/>
                </a:solidFill>
                <a:latin typeface="Courier New" panose="02070309020205020404" pitchFamily="49" charset="0"/>
              </a:rPr>
              <a:t>static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7F0055"/>
                </a:solidFill>
                <a:latin typeface="Courier New" panose="02070309020205020404" pitchFamily="49" charset="0"/>
              </a:rPr>
              <a:t>void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main(String[] </a:t>
            </a:r>
            <a:r>
              <a:rPr lang="en-US" sz="1600" b="1" dirty="0" err="1">
                <a:solidFill>
                  <a:srgbClr val="6A3E3E"/>
                </a:solidFill>
                <a:latin typeface="Courier New" panose="02070309020205020404" pitchFamily="49" charset="0"/>
              </a:rPr>
              <a:t>args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en-US" sz="1600" b="1" dirty="0">
                <a:solidFill>
                  <a:srgbClr val="7F0055"/>
                </a:solidFill>
                <a:latin typeface="Courier New" panose="02070309020205020404" pitchFamily="49" charset="0"/>
              </a:rPr>
              <a:t>throws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Exception {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   Junk </a:t>
            </a:r>
            <a:r>
              <a:rPr lang="en-US" sz="1600" dirty="0">
                <a:solidFill>
                  <a:srgbClr val="6A3E3E"/>
                </a:solidFill>
                <a:latin typeface="Courier New" panose="02070309020205020404" pitchFamily="49" charset="0"/>
              </a:rPr>
              <a:t>obj1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1600" b="1" dirty="0">
                <a:solidFill>
                  <a:srgbClr val="7F0055"/>
                </a:solidFill>
                <a:latin typeface="Courier New" panose="02070309020205020404" pitchFamily="49" charset="0"/>
              </a:rPr>
              <a:t>new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Junk(</a:t>
            </a:r>
            <a:r>
              <a:rPr lang="en-US" sz="1600" b="1" dirty="0">
                <a:solidFill>
                  <a:srgbClr val="2A00FF"/>
                </a:solidFill>
                <a:latin typeface="Courier New" panose="02070309020205020404" pitchFamily="49" charset="0"/>
              </a:rPr>
              <a:t>"Object 1"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   Junk </a:t>
            </a:r>
            <a:r>
              <a:rPr lang="en-US" sz="1600" dirty="0">
                <a:solidFill>
                  <a:srgbClr val="6A3E3E"/>
                </a:solidFill>
                <a:latin typeface="Courier New" panose="02070309020205020404" pitchFamily="49" charset="0"/>
              </a:rPr>
              <a:t>obj2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1600" b="1" dirty="0">
                <a:solidFill>
                  <a:srgbClr val="7F0055"/>
                </a:solidFill>
                <a:latin typeface="Courier New" panose="02070309020205020404" pitchFamily="49" charset="0"/>
              </a:rPr>
              <a:t>new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Junk(</a:t>
            </a:r>
            <a:r>
              <a:rPr lang="en-US" sz="1600" b="1" dirty="0">
                <a:solidFill>
                  <a:srgbClr val="2A00FF"/>
                </a:solidFill>
                <a:latin typeface="Courier New" panose="02070309020205020404" pitchFamily="49" charset="0"/>
              </a:rPr>
              <a:t>"Object 2"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ObjectOutputStream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6A3E3E"/>
                </a:solidFill>
                <a:latin typeface="Courier New" panose="02070309020205020404" pitchFamily="49" charset="0"/>
              </a:rPr>
              <a:t>objectOut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1600" b="1" dirty="0">
                <a:solidFill>
                  <a:srgbClr val="7F0055"/>
                </a:solidFill>
                <a:latin typeface="Courier New" panose="02070309020205020404" pitchFamily="49" charset="0"/>
              </a:rPr>
              <a:t>new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ObjectOutputStream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600" b="1" dirty="0">
                <a:solidFill>
                  <a:srgbClr val="7F0055"/>
                </a:solidFill>
                <a:latin typeface="Courier New" panose="02070309020205020404" pitchFamily="49" charset="0"/>
              </a:rPr>
              <a:t>new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BufferedOutputStream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600" b="1" dirty="0">
                <a:solidFill>
                  <a:srgbClr val="7F0055"/>
                </a:solidFill>
                <a:latin typeface="Courier New" panose="02070309020205020404" pitchFamily="49" charset="0"/>
              </a:rPr>
              <a:t>new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FileOutputStream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600" b="1" dirty="0">
                <a:solidFill>
                  <a:srgbClr val="2A00FF"/>
                </a:solidFill>
                <a:latin typeface="Courier New" panose="02070309020205020404" pitchFamily="49" charset="0"/>
              </a:rPr>
              <a:t>"b.txt"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)));</a:t>
            </a:r>
          </a:p>
          <a:p>
            <a:r>
              <a:rPr lang="en-US" sz="1600" dirty="0" err="1">
                <a:solidFill>
                  <a:srgbClr val="6A3E3E"/>
                </a:solidFill>
                <a:latin typeface="Courier New" panose="02070309020205020404" pitchFamily="49" charset="0"/>
              </a:rPr>
              <a:t>objectOut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.writeObject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600" dirty="0">
                <a:solidFill>
                  <a:srgbClr val="6A3E3E"/>
                </a:solidFill>
                <a:latin typeface="Courier New" panose="02070309020205020404" pitchFamily="49" charset="0"/>
              </a:rPr>
              <a:t>obj1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); </a:t>
            </a:r>
            <a:r>
              <a:rPr lang="en-US" sz="1600" dirty="0">
                <a:solidFill>
                  <a:srgbClr val="3F7F5F"/>
                </a:solidFill>
                <a:latin typeface="Courier New" panose="02070309020205020404" pitchFamily="49" charset="0"/>
              </a:rPr>
              <a:t>// Write object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sz="1600" dirty="0" err="1">
                <a:solidFill>
                  <a:srgbClr val="6A3E3E"/>
                </a:solidFill>
                <a:latin typeface="Courier New" panose="02070309020205020404" pitchFamily="49" charset="0"/>
              </a:rPr>
              <a:t>objectOut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.writeObject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600" dirty="0">
                <a:solidFill>
                  <a:srgbClr val="6A3E3E"/>
                </a:solidFill>
                <a:latin typeface="Courier New" panose="02070309020205020404" pitchFamily="49" charset="0"/>
              </a:rPr>
              <a:t>obj2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); </a:t>
            </a:r>
            <a:r>
              <a:rPr lang="en-US" sz="1600" dirty="0">
                <a:solidFill>
                  <a:srgbClr val="3F7F5F"/>
                </a:solidFill>
                <a:latin typeface="Courier New" panose="02070309020205020404" pitchFamily="49" charset="0"/>
              </a:rPr>
              <a:t>// Write object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sz="1600" dirty="0" err="1">
                <a:solidFill>
                  <a:srgbClr val="6A3E3E"/>
                </a:solidFill>
                <a:latin typeface="Courier New" panose="02070309020205020404" pitchFamily="49" charset="0"/>
              </a:rPr>
              <a:t>objectOut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.writeUTF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600" dirty="0">
                <a:solidFill>
                  <a:srgbClr val="2A00FF"/>
                </a:solidFill>
                <a:latin typeface="Courier New" panose="02070309020205020404" pitchFamily="49" charset="0"/>
              </a:rPr>
              <a:t>"testing"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sz="1600" dirty="0" err="1">
                <a:solidFill>
                  <a:srgbClr val="6A3E3E"/>
                </a:solidFill>
                <a:latin typeface="Courier New" panose="02070309020205020404" pitchFamily="49" charset="0"/>
              </a:rPr>
              <a:t>objectOut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.close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(); </a:t>
            </a:r>
            <a:r>
              <a:rPr lang="en-US" sz="1600" dirty="0">
                <a:solidFill>
                  <a:srgbClr val="3F7F5F"/>
                </a:solidFill>
                <a:latin typeface="Courier New" panose="02070309020205020404" pitchFamily="49" charset="0"/>
              </a:rPr>
              <a:t>// Close the output stream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ObjectInputStream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6A3E3E"/>
                </a:solidFill>
                <a:latin typeface="Courier New" panose="02070309020205020404" pitchFamily="49" charset="0"/>
              </a:rPr>
              <a:t>objectIn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1600" b="1" dirty="0">
                <a:solidFill>
                  <a:srgbClr val="7F0055"/>
                </a:solidFill>
                <a:latin typeface="Courier New" panose="02070309020205020404" pitchFamily="49" charset="0"/>
              </a:rPr>
              <a:t>null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sz="1600" b="1" dirty="0" err="1">
                <a:solidFill>
                  <a:srgbClr val="7F0055"/>
                </a:solidFill>
                <a:latin typeface="Courier New" panose="02070309020205020404" pitchFamily="49" charset="0"/>
              </a:rPr>
              <a:t>int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6A3E3E"/>
                </a:solidFill>
                <a:latin typeface="Courier New" panose="02070309020205020404" pitchFamily="49" charset="0"/>
              </a:rPr>
              <a:t>Count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= 0;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   Junk </a:t>
            </a:r>
            <a:r>
              <a:rPr lang="en-US" sz="1600" dirty="0">
                <a:solidFill>
                  <a:srgbClr val="6A3E3E"/>
                </a:solidFill>
                <a:latin typeface="Courier New" panose="02070309020205020404" pitchFamily="49" charset="0"/>
              </a:rPr>
              <a:t>object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1600" b="1" dirty="0">
                <a:solidFill>
                  <a:srgbClr val="7F0055"/>
                </a:solidFill>
                <a:latin typeface="Courier New" panose="02070309020205020404" pitchFamily="49" charset="0"/>
              </a:rPr>
              <a:t>null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US" sz="1600" dirty="0" err="1">
                <a:solidFill>
                  <a:srgbClr val="6A3E3E"/>
                </a:solidFill>
                <a:latin typeface="Courier New" panose="02070309020205020404" pitchFamily="49" charset="0"/>
              </a:rPr>
              <a:t>objectIn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1600" b="1" dirty="0">
                <a:solidFill>
                  <a:srgbClr val="7F0055"/>
                </a:solidFill>
                <a:latin typeface="Courier New" panose="02070309020205020404" pitchFamily="49" charset="0"/>
              </a:rPr>
              <a:t>new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ObjectInputStream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</a:p>
          <a:p>
            <a:r>
              <a:rPr lang="en-US" sz="1600" b="1" dirty="0">
                <a:solidFill>
                  <a:srgbClr val="7F0055"/>
                </a:solidFill>
                <a:latin typeface="Courier New" panose="02070309020205020404" pitchFamily="49" charset="0"/>
              </a:rPr>
              <a:t>new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BufferedInputStream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600" b="1" dirty="0">
                <a:solidFill>
                  <a:srgbClr val="7F0055"/>
                </a:solidFill>
                <a:latin typeface="Courier New" panose="02070309020205020404" pitchFamily="49" charset="0"/>
              </a:rPr>
              <a:t>new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FileInputStream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600" b="1" dirty="0">
                <a:solidFill>
                  <a:srgbClr val="2A00FF"/>
                </a:solidFill>
                <a:latin typeface="Courier New" panose="02070309020205020404" pitchFamily="49" charset="0"/>
              </a:rPr>
              <a:t>"b.txt"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)));</a:t>
            </a:r>
          </a:p>
          <a:p>
            <a:r>
              <a:rPr lang="en-US" sz="1600" b="1" dirty="0">
                <a:solidFill>
                  <a:srgbClr val="7F0055"/>
                </a:solidFill>
                <a:latin typeface="Courier New" panose="020703090202050204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urier New" panose="02070309020205020404" pitchFamily="49" charset="0"/>
              </a:rPr>
              <a:t>Count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&lt; 2) {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US" sz="1600" dirty="0">
                <a:solidFill>
                  <a:srgbClr val="6A3E3E"/>
                </a:solidFill>
                <a:latin typeface="Courier New" panose="02070309020205020404" pitchFamily="49" charset="0"/>
              </a:rPr>
              <a:t>object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= (Junk) </a:t>
            </a:r>
            <a:r>
              <a:rPr lang="en-US" sz="1600" dirty="0" err="1">
                <a:solidFill>
                  <a:srgbClr val="6A3E3E"/>
                </a:solidFill>
                <a:latin typeface="Courier New" panose="02070309020205020404" pitchFamily="49" charset="0"/>
              </a:rPr>
              <a:t>objectIn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.readObject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(); </a:t>
            </a:r>
            <a:r>
              <a:rPr lang="en-US" sz="1600" dirty="0">
                <a:solidFill>
                  <a:srgbClr val="6A3E3E"/>
                </a:solidFill>
                <a:latin typeface="Courier New" panose="02070309020205020404" pitchFamily="49" charset="0"/>
              </a:rPr>
              <a:t>Count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++;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System.</a:t>
            </a:r>
            <a:r>
              <a:rPr lang="en-US" sz="1600" b="1" i="1" dirty="0" err="1">
                <a:solidFill>
                  <a:srgbClr val="0000C0"/>
                </a:solidFill>
                <a:latin typeface="Courier New" panose="02070309020205020404" pitchFamily="49" charset="0"/>
              </a:rPr>
              <a:t>out</a:t>
            </a:r>
            <a:r>
              <a:rPr lang="en-US" sz="1600" b="1" i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.println</a:t>
            </a:r>
            <a:r>
              <a:rPr lang="en-US" sz="16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600" b="1" i="1" dirty="0">
                <a:solidFill>
                  <a:srgbClr val="2A00FF"/>
                </a:solidFill>
                <a:latin typeface="Courier New" panose="02070309020205020404" pitchFamily="49" charset="0"/>
              </a:rPr>
              <a:t>"Object "</a:t>
            </a:r>
            <a:r>
              <a:rPr lang="en-US" sz="16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 + </a:t>
            </a:r>
            <a:r>
              <a:rPr lang="en-US" sz="1600" b="1" i="1" dirty="0">
                <a:solidFill>
                  <a:srgbClr val="6A3E3E"/>
                </a:solidFill>
                <a:latin typeface="Courier New" panose="02070309020205020404" pitchFamily="49" charset="0"/>
              </a:rPr>
              <a:t>Count</a:t>
            </a:r>
            <a:r>
              <a:rPr lang="en-US" sz="16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 + </a:t>
            </a:r>
            <a:r>
              <a:rPr lang="en-US" sz="1600" b="1" i="1" dirty="0">
                <a:solidFill>
                  <a:srgbClr val="2A00FF"/>
                </a:solidFill>
                <a:latin typeface="Courier New" panose="02070309020205020404" pitchFamily="49" charset="0"/>
              </a:rPr>
              <a:t>": "</a:t>
            </a:r>
            <a:r>
              <a:rPr lang="en-US" sz="16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 + </a:t>
            </a:r>
            <a:r>
              <a:rPr lang="en-US" sz="1600" b="1" i="1" dirty="0" err="1">
                <a:solidFill>
                  <a:srgbClr val="6A3E3E"/>
                </a:solidFill>
                <a:latin typeface="Courier New" panose="02070309020205020404" pitchFamily="49" charset="0"/>
              </a:rPr>
              <a:t>object</a:t>
            </a:r>
            <a:r>
              <a:rPr lang="en-US" sz="1600" b="1" i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.toStr</a:t>
            </a:r>
            <a:r>
              <a:rPr lang="en-US" sz="16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());     }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System.</a:t>
            </a:r>
            <a:r>
              <a:rPr lang="en-US" sz="1600" b="1" i="1" dirty="0" err="1">
                <a:solidFill>
                  <a:srgbClr val="0000C0"/>
                </a:solidFill>
                <a:latin typeface="Courier New" panose="02070309020205020404" pitchFamily="49" charset="0"/>
              </a:rPr>
              <a:t>out</a:t>
            </a:r>
            <a:r>
              <a:rPr lang="en-US" sz="1600" b="1" i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.println</a:t>
            </a:r>
            <a:r>
              <a:rPr lang="en-US" sz="16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600" b="1" i="1" dirty="0" err="1">
                <a:solidFill>
                  <a:srgbClr val="6A3E3E"/>
                </a:solidFill>
                <a:latin typeface="Courier New" panose="02070309020205020404" pitchFamily="49" charset="0"/>
              </a:rPr>
              <a:t>objectIn</a:t>
            </a:r>
            <a:r>
              <a:rPr lang="en-US" sz="1600" b="1" i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.readUTF</a:t>
            </a:r>
            <a:r>
              <a:rPr lang="en-US" sz="16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());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sz="1600" dirty="0" err="1">
                <a:solidFill>
                  <a:srgbClr val="6A3E3E"/>
                </a:solidFill>
                <a:latin typeface="Courier New" panose="02070309020205020404" pitchFamily="49" charset="0"/>
              </a:rPr>
              <a:t>objectIn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.close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(); 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 }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17101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Binary I/O of Class Objects</a:t>
            </a:r>
          </a:p>
        </p:txBody>
      </p:sp>
      <p:sp>
        <p:nvSpPr>
          <p:cNvPr id="432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676400"/>
            <a:ext cx="8382000" cy="4114800"/>
          </a:xfrm>
        </p:spPr>
        <p:txBody>
          <a:bodyPr/>
          <a:lstStyle/>
          <a:p>
            <a:r>
              <a:rPr lang="en-US" altLang="en-US" sz="2000" dirty="0"/>
              <a:t>read and write class objects in binary file</a:t>
            </a:r>
          </a:p>
          <a:p>
            <a:endParaRPr lang="en-US" altLang="en-US" sz="2000" dirty="0"/>
          </a:p>
          <a:p>
            <a:r>
              <a:rPr lang="en-US" altLang="en-US" sz="2000" dirty="0"/>
              <a:t>class must be </a:t>
            </a:r>
            <a:r>
              <a:rPr lang="en-US" altLang="en-US" sz="2000" b="1" i="1" dirty="0"/>
              <a:t>serializable</a:t>
            </a:r>
          </a:p>
          <a:p>
            <a:pPr lvl="1"/>
            <a:r>
              <a:rPr lang="en-US" altLang="en-US" sz="2000" b="1" dirty="0">
                <a:latin typeface="Courier New" pitchFamily="49" charset="0"/>
              </a:rPr>
              <a:t>import java.io.*</a:t>
            </a:r>
          </a:p>
          <a:p>
            <a:pPr lvl="1"/>
            <a:r>
              <a:rPr lang="en-US" altLang="en-US" sz="2000" dirty="0"/>
              <a:t>implement </a:t>
            </a:r>
            <a:r>
              <a:rPr lang="en-US" altLang="en-US" sz="2000" b="1" dirty="0">
                <a:latin typeface="Courier New" pitchFamily="49" charset="0"/>
              </a:rPr>
              <a:t>Serializable</a:t>
            </a:r>
            <a:r>
              <a:rPr lang="en-US" altLang="en-US" sz="2000" dirty="0"/>
              <a:t> interface</a:t>
            </a:r>
          </a:p>
          <a:p>
            <a:pPr lvl="1"/>
            <a:r>
              <a:rPr lang="en-US" altLang="en-US" sz="2000" dirty="0"/>
              <a:t>add </a:t>
            </a:r>
            <a:r>
              <a:rPr lang="en-US" altLang="en-US" sz="2000" b="1" dirty="0">
                <a:latin typeface="Courier New" pitchFamily="49" charset="0"/>
              </a:rPr>
              <a:t>implements Serializable</a:t>
            </a:r>
            <a:r>
              <a:rPr lang="en-US" altLang="en-US" sz="2000" dirty="0"/>
              <a:t> to heading of class definition</a:t>
            </a:r>
          </a:p>
          <a:p>
            <a:endParaRPr lang="en-US" altLang="en-US" sz="2000" b="1" dirty="0">
              <a:latin typeface="Courier New" pitchFamily="49" charset="0"/>
            </a:endParaRPr>
          </a:p>
          <a:p>
            <a:endParaRPr lang="en-US" altLang="en-US" sz="2000" b="1" dirty="0">
              <a:latin typeface="Courier New" pitchFamily="49" charset="0"/>
            </a:endParaRPr>
          </a:p>
          <a:p>
            <a:r>
              <a:rPr lang="en-US" altLang="en-US" sz="2000" b="1" dirty="0">
                <a:latin typeface="Courier New" pitchFamily="49" charset="0"/>
              </a:rPr>
              <a:t>methods used:</a:t>
            </a:r>
          </a:p>
        </p:txBody>
      </p:sp>
      <p:sp>
        <p:nvSpPr>
          <p:cNvPr id="432132" name="Text Box 4"/>
          <p:cNvSpPr txBox="1">
            <a:spLocks noChangeArrowheads="1"/>
          </p:cNvSpPr>
          <p:nvPr/>
        </p:nvSpPr>
        <p:spPr bwMode="auto">
          <a:xfrm>
            <a:off x="762000" y="4953000"/>
            <a:ext cx="31242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000">
                <a:latin typeface="Arial" charset="0"/>
              </a:rPr>
              <a:t>to </a:t>
            </a:r>
            <a:r>
              <a:rPr lang="en-US" altLang="en-US" sz="2000" b="1">
                <a:solidFill>
                  <a:srgbClr val="0000CC"/>
                </a:solidFill>
                <a:latin typeface="Arial" charset="0"/>
              </a:rPr>
              <a:t>write</a:t>
            </a:r>
            <a:r>
              <a:rPr lang="en-US" altLang="en-US" sz="2000">
                <a:latin typeface="Arial" charset="0"/>
              </a:rPr>
              <a:t> object to file:</a:t>
            </a:r>
          </a:p>
          <a:p>
            <a:r>
              <a:rPr lang="en-US" altLang="en-US" sz="2000" b="1">
                <a:latin typeface="Courier New" pitchFamily="49" charset="0"/>
              </a:rPr>
              <a:t>writeObject</a:t>
            </a:r>
            <a:r>
              <a:rPr lang="en-US" altLang="en-US" sz="2000">
                <a:latin typeface="Arial" charset="0"/>
              </a:rPr>
              <a:t> method in </a:t>
            </a:r>
            <a:r>
              <a:rPr lang="en-US" altLang="en-US" sz="2000" b="1">
                <a:latin typeface="Courier New" pitchFamily="49" charset="0"/>
              </a:rPr>
              <a:t>ObjectOutputStream</a:t>
            </a:r>
          </a:p>
        </p:txBody>
      </p:sp>
      <p:sp>
        <p:nvSpPr>
          <p:cNvPr id="432133" name="Text Box 5"/>
          <p:cNvSpPr txBox="1">
            <a:spLocks noChangeArrowheads="1"/>
          </p:cNvSpPr>
          <p:nvPr/>
        </p:nvSpPr>
        <p:spPr bwMode="auto">
          <a:xfrm>
            <a:off x="5410200" y="4953000"/>
            <a:ext cx="29718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000">
                <a:latin typeface="Arial" charset="0"/>
              </a:rPr>
              <a:t>to </a:t>
            </a:r>
            <a:r>
              <a:rPr lang="en-US" altLang="en-US" sz="2000" b="1">
                <a:solidFill>
                  <a:srgbClr val="0000CC"/>
                </a:solidFill>
                <a:latin typeface="Arial" charset="0"/>
              </a:rPr>
              <a:t>read</a:t>
            </a:r>
            <a:r>
              <a:rPr lang="en-US" altLang="en-US" sz="2000">
                <a:latin typeface="Arial" charset="0"/>
              </a:rPr>
              <a:t> object from file: </a:t>
            </a:r>
            <a:r>
              <a:rPr lang="en-US" altLang="en-US" sz="2000" b="1">
                <a:latin typeface="Courier New" pitchFamily="49" charset="0"/>
              </a:rPr>
              <a:t>readObject</a:t>
            </a:r>
            <a:r>
              <a:rPr lang="en-US" altLang="en-US" sz="2000">
                <a:latin typeface="Arial" charset="0"/>
              </a:rPr>
              <a:t> method in </a:t>
            </a:r>
            <a:r>
              <a:rPr lang="en-US" altLang="en-US" sz="2000" b="1">
                <a:latin typeface="Courier New" pitchFamily="49" charset="0"/>
              </a:rPr>
              <a:t>ObjectInputStream</a:t>
            </a:r>
          </a:p>
        </p:txBody>
      </p:sp>
      <p:sp>
        <p:nvSpPr>
          <p:cNvPr id="432134" name="Text Box 6"/>
          <p:cNvSpPr txBox="1">
            <a:spLocks noChangeArrowheads="1"/>
          </p:cNvSpPr>
          <p:nvPr/>
        </p:nvSpPr>
        <p:spPr bwMode="auto">
          <a:xfrm>
            <a:off x="914400" y="4038600"/>
            <a:ext cx="6902450" cy="4095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b="1" dirty="0">
                <a:latin typeface="Courier New" pitchFamily="49" charset="0"/>
              </a:rPr>
              <a:t>public class Species implements Serializable</a:t>
            </a:r>
          </a:p>
        </p:txBody>
      </p:sp>
    </p:spTree>
    <p:extLst>
      <p:ext uri="{BB962C8B-B14F-4D97-AF65-F5344CB8AC3E}">
        <p14:creationId xmlns:p14="http://schemas.microsoft.com/office/powerpoint/2010/main" val="1062154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178" name="Rectangle 2"/>
          <p:cNvSpPr>
            <a:spLocks noChangeArrowheads="1"/>
          </p:cNvSpPr>
          <p:nvPr/>
        </p:nvSpPr>
        <p:spPr bwMode="auto">
          <a:xfrm>
            <a:off x="381000" y="3810000"/>
            <a:ext cx="8382000" cy="76200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434179" name="Rectangle 3"/>
          <p:cNvSpPr>
            <a:spLocks noChangeArrowheads="1"/>
          </p:cNvSpPr>
          <p:nvPr/>
        </p:nvSpPr>
        <p:spPr bwMode="auto">
          <a:xfrm>
            <a:off x="2057400" y="5867400"/>
            <a:ext cx="1295400" cy="304800"/>
          </a:xfrm>
          <a:prstGeom prst="rect">
            <a:avLst/>
          </a:prstGeom>
          <a:solidFill>
            <a:srgbClr val="C2DFF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43418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81000" y="152400"/>
            <a:ext cx="8382000" cy="2667000"/>
          </a:xfrm>
          <a:solidFill>
            <a:schemeClr val="bg1"/>
          </a:solidFill>
          <a:ln>
            <a:solidFill>
              <a:schemeClr val="folHlink"/>
            </a:solidFill>
            <a:miter lim="800000"/>
            <a:headEnd/>
            <a:tailEnd/>
          </a:ln>
        </p:spPr>
        <p:txBody>
          <a:bodyPr/>
          <a:lstStyle/>
          <a:p>
            <a:pPr>
              <a:buFontTx/>
              <a:buNone/>
            </a:pPr>
            <a:r>
              <a:rPr lang="en-US" altLang="en-US" sz="2000" b="1" dirty="0" err="1">
                <a:latin typeface="Courier New" pitchFamily="49" charset="0"/>
              </a:rPr>
              <a:t>outputStream</a:t>
            </a:r>
            <a:r>
              <a:rPr lang="en-US" altLang="en-US" sz="2000" b="1" dirty="0">
                <a:latin typeface="Courier New" pitchFamily="49" charset="0"/>
              </a:rPr>
              <a:t> = new </a:t>
            </a:r>
            <a:r>
              <a:rPr lang="en-US" altLang="en-US" sz="2000" b="1" dirty="0" err="1">
                <a:latin typeface="Courier New" pitchFamily="49" charset="0"/>
              </a:rPr>
              <a:t>ObjectOutputStream</a:t>
            </a:r>
            <a:r>
              <a:rPr lang="en-US" altLang="en-US" sz="2000" b="1" dirty="0">
                <a:latin typeface="Courier New" pitchFamily="49" charset="0"/>
              </a:rPr>
              <a:t>(</a:t>
            </a:r>
          </a:p>
          <a:p>
            <a:pPr>
              <a:buFontTx/>
              <a:buNone/>
            </a:pPr>
            <a:r>
              <a:rPr lang="en-US" altLang="en-US" sz="2000" b="1" dirty="0">
                <a:latin typeface="Courier New" pitchFamily="49" charset="0"/>
              </a:rPr>
              <a:t>       new </a:t>
            </a:r>
            <a:r>
              <a:rPr lang="en-US" altLang="en-US" sz="2000" b="1" dirty="0" err="1">
                <a:latin typeface="Courier New" pitchFamily="49" charset="0"/>
              </a:rPr>
              <a:t>FileOutputStream</a:t>
            </a:r>
            <a:r>
              <a:rPr lang="en-US" altLang="en-US" sz="2000" b="1" dirty="0">
                <a:latin typeface="Courier New" pitchFamily="49" charset="0"/>
              </a:rPr>
              <a:t>("</a:t>
            </a:r>
            <a:r>
              <a:rPr lang="en-US" altLang="en-US" sz="2000" b="1" dirty="0" smtClean="0">
                <a:latin typeface="Courier New" pitchFamily="49" charset="0"/>
              </a:rPr>
              <a:t>species.txt"));</a:t>
            </a:r>
            <a:endParaRPr lang="en-US" altLang="en-US" sz="2000" b="1" dirty="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altLang="en-US" sz="2000" b="1" dirty="0">
                <a:latin typeface="Courier New" pitchFamily="49" charset="0"/>
              </a:rPr>
              <a:t>...</a:t>
            </a:r>
          </a:p>
          <a:p>
            <a:pPr>
              <a:buFontTx/>
              <a:buNone/>
            </a:pPr>
            <a:r>
              <a:rPr lang="en-US" altLang="en-US" sz="2000" b="1" dirty="0">
                <a:latin typeface="Courier New" pitchFamily="49" charset="0"/>
              </a:rPr>
              <a:t>Species </a:t>
            </a:r>
            <a:r>
              <a:rPr lang="en-US" altLang="en-US" sz="2000" b="1" dirty="0" err="1">
                <a:latin typeface="Courier New" pitchFamily="49" charset="0"/>
              </a:rPr>
              <a:t>oneRecord</a:t>
            </a:r>
            <a:r>
              <a:rPr lang="en-US" altLang="en-US" sz="2000" b="1" dirty="0">
                <a:latin typeface="Courier New" pitchFamily="49" charset="0"/>
              </a:rPr>
              <a:t> =</a:t>
            </a:r>
          </a:p>
          <a:p>
            <a:pPr>
              <a:buFontTx/>
              <a:buNone/>
            </a:pPr>
            <a:r>
              <a:rPr lang="en-US" altLang="en-US" sz="2000" b="1" dirty="0">
                <a:latin typeface="Courier New" pitchFamily="49" charset="0"/>
              </a:rPr>
              <a:t>       new Species("Calif. Condor, 27, 0.02);</a:t>
            </a:r>
          </a:p>
          <a:p>
            <a:pPr>
              <a:buFontTx/>
              <a:buNone/>
            </a:pPr>
            <a:r>
              <a:rPr lang="en-US" altLang="en-US" sz="2000" b="1" dirty="0">
                <a:latin typeface="Courier New" pitchFamily="49" charset="0"/>
              </a:rPr>
              <a:t>...</a:t>
            </a:r>
          </a:p>
          <a:p>
            <a:pPr>
              <a:buFontTx/>
              <a:buNone/>
            </a:pPr>
            <a:r>
              <a:rPr lang="en-US" altLang="en-US" sz="2000" b="1" dirty="0" err="1">
                <a:latin typeface="Courier New" pitchFamily="49" charset="0"/>
              </a:rPr>
              <a:t>outputStream.writeObject</a:t>
            </a:r>
            <a:r>
              <a:rPr lang="en-US" altLang="en-US" sz="2000" b="1" dirty="0">
                <a:latin typeface="Courier New" pitchFamily="49" charset="0"/>
              </a:rPr>
              <a:t>(</a:t>
            </a:r>
            <a:r>
              <a:rPr lang="en-US" altLang="en-US" sz="2000" b="1" dirty="0" err="1">
                <a:latin typeface="Courier New" pitchFamily="49" charset="0"/>
              </a:rPr>
              <a:t>oneRecord</a:t>
            </a:r>
            <a:r>
              <a:rPr lang="en-US" altLang="en-US" sz="2000" b="1" dirty="0">
                <a:latin typeface="Courier New" pitchFamily="49" charset="0"/>
              </a:rPr>
              <a:t>);</a:t>
            </a:r>
          </a:p>
        </p:txBody>
      </p:sp>
      <p:sp>
        <p:nvSpPr>
          <p:cNvPr id="434181" name="Rectangle 5"/>
          <p:cNvSpPr>
            <a:spLocks noChangeArrowheads="1"/>
          </p:cNvSpPr>
          <p:nvPr/>
        </p:nvSpPr>
        <p:spPr bwMode="auto">
          <a:xfrm>
            <a:off x="381000" y="3962400"/>
            <a:ext cx="8382000" cy="2362200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buFontTx/>
              <a:buNone/>
            </a:pPr>
            <a:r>
              <a:rPr lang="en-US" altLang="en-US" sz="2000" b="1" dirty="0" err="1">
                <a:latin typeface="Courier New" pitchFamily="49" charset="0"/>
              </a:rPr>
              <a:t>inputStream</a:t>
            </a:r>
            <a:r>
              <a:rPr lang="en-US" altLang="en-US" sz="2000" b="1" dirty="0">
                <a:latin typeface="Courier New" pitchFamily="49" charset="0"/>
              </a:rPr>
              <a:t> = new </a:t>
            </a:r>
            <a:r>
              <a:rPr lang="en-US" altLang="en-US" sz="2000" b="1" dirty="0" err="1">
                <a:latin typeface="Courier New" pitchFamily="49" charset="0"/>
              </a:rPr>
              <a:t>ObjectInputStream</a:t>
            </a:r>
            <a:r>
              <a:rPr lang="en-US" altLang="en-US" sz="2000" b="1" dirty="0">
                <a:latin typeface="Courier New" pitchFamily="49" charset="0"/>
              </a:rPr>
              <a:t>(</a:t>
            </a:r>
          </a:p>
          <a:p>
            <a:pPr>
              <a:buFontTx/>
              <a:buNone/>
            </a:pPr>
            <a:r>
              <a:rPr lang="en-US" altLang="en-US" sz="2000" b="1" dirty="0">
                <a:latin typeface="Courier New" pitchFamily="49" charset="0"/>
              </a:rPr>
              <a:t>       new </a:t>
            </a:r>
            <a:r>
              <a:rPr lang="en-US" altLang="en-US" sz="2000" b="1" dirty="0" err="1">
                <a:latin typeface="Courier New" pitchFamily="49" charset="0"/>
              </a:rPr>
              <a:t>FileInputStream</a:t>
            </a:r>
            <a:r>
              <a:rPr lang="en-US" altLang="en-US" sz="2000" b="1" dirty="0" smtClean="0">
                <a:latin typeface="Courier New" pitchFamily="49" charset="0"/>
              </a:rPr>
              <a:t>("species.txt"));</a:t>
            </a:r>
            <a:endParaRPr lang="en-US" altLang="en-US" sz="2000" b="1" dirty="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altLang="en-US" sz="2000" b="1" dirty="0">
                <a:latin typeface="Courier New" pitchFamily="49" charset="0"/>
              </a:rPr>
              <a:t>...</a:t>
            </a:r>
          </a:p>
          <a:p>
            <a:pPr>
              <a:buFontTx/>
              <a:buNone/>
            </a:pPr>
            <a:r>
              <a:rPr lang="en-US" altLang="en-US" sz="2000" b="1" dirty="0">
                <a:latin typeface="Courier New" pitchFamily="49" charset="0"/>
              </a:rPr>
              <a:t>Species </a:t>
            </a:r>
            <a:r>
              <a:rPr lang="en-US" altLang="en-US" sz="2000" b="1" dirty="0" err="1">
                <a:latin typeface="Courier New" pitchFamily="49" charset="0"/>
              </a:rPr>
              <a:t>readOne</a:t>
            </a:r>
            <a:r>
              <a:rPr lang="en-US" altLang="en-US" sz="2000" b="1" dirty="0">
                <a:latin typeface="Courier New" pitchFamily="49" charset="0"/>
              </a:rPr>
              <a:t> = null;</a:t>
            </a:r>
          </a:p>
          <a:p>
            <a:pPr>
              <a:buFontTx/>
              <a:buNone/>
            </a:pPr>
            <a:r>
              <a:rPr lang="en-US" altLang="en-US" sz="2000" b="1" dirty="0">
                <a:latin typeface="Courier New" pitchFamily="49" charset="0"/>
              </a:rPr>
              <a:t>...</a:t>
            </a:r>
          </a:p>
          <a:p>
            <a:pPr>
              <a:buFontTx/>
              <a:buNone/>
            </a:pPr>
            <a:r>
              <a:rPr lang="en-US" altLang="en-US" sz="2000" b="1" dirty="0" err="1">
                <a:latin typeface="Courier New" pitchFamily="49" charset="0"/>
              </a:rPr>
              <a:t>readOne</a:t>
            </a:r>
            <a:r>
              <a:rPr lang="en-US" altLang="en-US" sz="2000" b="1" dirty="0">
                <a:latin typeface="Courier New" pitchFamily="49" charset="0"/>
              </a:rPr>
              <a:t> = (</a:t>
            </a:r>
            <a:r>
              <a:rPr lang="en-US" altLang="en-US" sz="2000" b="1" dirty="0" smtClean="0">
                <a:latin typeface="Courier New" pitchFamily="49" charset="0"/>
              </a:rPr>
              <a:t>Species)</a:t>
            </a:r>
            <a:r>
              <a:rPr lang="en-US" altLang="en-US" sz="2000" b="1" dirty="0" err="1" smtClean="0">
                <a:latin typeface="Courier New" pitchFamily="49" charset="0"/>
              </a:rPr>
              <a:t>inputStream.readObject</a:t>
            </a:r>
            <a:r>
              <a:rPr lang="en-US" altLang="en-US" sz="2000" b="1" dirty="0">
                <a:latin typeface="Courier New" pitchFamily="49" charset="0"/>
              </a:rPr>
              <a:t>(</a:t>
            </a:r>
            <a:r>
              <a:rPr lang="en-US" altLang="en-US" sz="2000" b="1" dirty="0" smtClean="0">
                <a:latin typeface="Courier New" pitchFamily="49" charset="0"/>
              </a:rPr>
              <a:t>);</a:t>
            </a:r>
            <a:endParaRPr lang="en-US" altLang="en-US" sz="2000" b="1" dirty="0">
              <a:latin typeface="Courier New" pitchFamily="49" charset="0"/>
            </a:endParaRPr>
          </a:p>
        </p:txBody>
      </p:sp>
      <p:sp>
        <p:nvSpPr>
          <p:cNvPr id="434182" name="AutoShape 6"/>
          <p:cNvSpPr>
            <a:spLocks noChangeArrowheads="1"/>
          </p:cNvSpPr>
          <p:nvPr/>
        </p:nvSpPr>
        <p:spPr bwMode="auto">
          <a:xfrm>
            <a:off x="4267200" y="4724400"/>
            <a:ext cx="4648200" cy="1066800"/>
          </a:xfrm>
          <a:prstGeom prst="wedgeRectCallout">
            <a:avLst>
              <a:gd name="adj1" fmla="val -70491"/>
              <a:gd name="adj2" fmla="val 56398"/>
            </a:avLst>
          </a:prstGeom>
          <a:solidFill>
            <a:schemeClr val="bg1"/>
          </a:solidFill>
          <a:ln w="12700">
            <a:solidFill>
              <a:srgbClr val="0033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altLang="en-US" sz="2000">
                <a:latin typeface="Courier New" pitchFamily="49" charset="0"/>
              </a:rPr>
              <a:t>readObject</a:t>
            </a:r>
            <a:r>
              <a:rPr lang="en-US" altLang="en-US" sz="2000">
                <a:latin typeface="Arial" charset="0"/>
              </a:rPr>
              <a:t> returns a reference to type </a:t>
            </a:r>
            <a:r>
              <a:rPr lang="en-US" altLang="en-US" sz="2000">
                <a:latin typeface="Courier New" pitchFamily="49" charset="0"/>
              </a:rPr>
              <a:t>Object</a:t>
            </a:r>
            <a:r>
              <a:rPr lang="en-US" altLang="en-US" sz="2000">
                <a:latin typeface="Arial" charset="0"/>
              </a:rPr>
              <a:t> so it must be cast to </a:t>
            </a:r>
            <a:r>
              <a:rPr lang="en-US" altLang="en-US" sz="2000">
                <a:latin typeface="Courier New" pitchFamily="49" charset="0"/>
              </a:rPr>
              <a:t>Species</a:t>
            </a:r>
            <a:r>
              <a:rPr lang="en-US" altLang="en-US" sz="2000">
                <a:latin typeface="Arial" charset="0"/>
              </a:rPr>
              <a:t> before assigning to readOne</a:t>
            </a:r>
          </a:p>
        </p:txBody>
      </p:sp>
      <p:sp>
        <p:nvSpPr>
          <p:cNvPr id="434183" name="Text Box 7"/>
          <p:cNvSpPr txBox="1">
            <a:spLocks noChangeArrowheads="1"/>
          </p:cNvSpPr>
          <p:nvPr/>
        </p:nvSpPr>
        <p:spPr bwMode="auto">
          <a:xfrm>
            <a:off x="381000" y="3048000"/>
            <a:ext cx="83820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4000" b="1">
                <a:latin typeface="Courier New" pitchFamily="49" charset="0"/>
              </a:rPr>
              <a:t>ClassIODemo</a:t>
            </a:r>
            <a:r>
              <a:rPr lang="en-US" altLang="en-US" sz="4000">
                <a:latin typeface="Book Antiqua" pitchFamily="18" charset="0"/>
              </a:rPr>
              <a:t> Excerpts</a:t>
            </a:r>
          </a:p>
        </p:txBody>
      </p:sp>
      <p:sp>
        <p:nvSpPr>
          <p:cNvPr id="434184" name="Rectangle 8"/>
          <p:cNvSpPr>
            <a:spLocks noChangeArrowheads="1"/>
          </p:cNvSpPr>
          <p:nvPr/>
        </p:nvSpPr>
        <p:spPr bwMode="auto">
          <a:xfrm>
            <a:off x="381000" y="2971800"/>
            <a:ext cx="8382000" cy="76200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30020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</a:t>
            </a:r>
            <a:r>
              <a:rPr lang="en-US" altLang="en-US" b="1">
                <a:latin typeface="Courier New" pitchFamily="49" charset="0"/>
              </a:rPr>
              <a:t>EOFException</a:t>
            </a:r>
            <a:r>
              <a:rPr lang="en-US" altLang="en-US"/>
              <a:t> Class</a:t>
            </a:r>
          </a:p>
        </p:txBody>
      </p:sp>
      <p:sp>
        <p:nvSpPr>
          <p:cNvPr id="428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81200"/>
            <a:ext cx="8229600" cy="4114800"/>
          </a:xfrm>
        </p:spPr>
        <p:txBody>
          <a:bodyPr/>
          <a:lstStyle/>
          <a:p>
            <a:r>
              <a:rPr lang="en-US" altLang="en-US" sz="2000" dirty="0"/>
              <a:t>Many (but not all) methods that read from a file throw an end-of-file exception (</a:t>
            </a:r>
            <a:r>
              <a:rPr lang="en-US" altLang="en-US" sz="2000" dirty="0" err="1">
                <a:solidFill>
                  <a:srgbClr val="FF0000"/>
                </a:solidFill>
                <a:latin typeface="Courier New" pitchFamily="49" charset="0"/>
              </a:rPr>
              <a:t>EOFException</a:t>
            </a:r>
            <a:r>
              <a:rPr lang="en-US" altLang="en-US" sz="2000" dirty="0"/>
              <a:t>) when they try to read beyond the file</a:t>
            </a:r>
          </a:p>
          <a:p>
            <a:pPr lvl="1"/>
            <a:r>
              <a:rPr lang="en-US" altLang="en-US" sz="2000" dirty="0"/>
              <a:t>all the </a:t>
            </a:r>
            <a:r>
              <a:rPr lang="en-US" altLang="en-US" sz="2000" dirty="0" err="1">
                <a:solidFill>
                  <a:srgbClr val="FF0000"/>
                </a:solidFill>
                <a:latin typeface="Courier New" pitchFamily="49" charset="0"/>
              </a:rPr>
              <a:t>ObjectInputStream</a:t>
            </a:r>
            <a:r>
              <a:rPr lang="en-US" altLang="en-US" sz="2000" dirty="0">
                <a:solidFill>
                  <a:srgbClr val="FF0000"/>
                </a:solidFill>
              </a:rPr>
              <a:t> </a:t>
            </a:r>
            <a:r>
              <a:rPr lang="en-US" altLang="en-US" sz="2000" dirty="0"/>
              <a:t>methods </a:t>
            </a:r>
            <a:r>
              <a:rPr lang="en-US" altLang="en-US" sz="2000" dirty="0" smtClean="0"/>
              <a:t>do </a:t>
            </a:r>
            <a:r>
              <a:rPr lang="en-US" altLang="en-US" sz="2000" dirty="0"/>
              <a:t>throw it</a:t>
            </a:r>
          </a:p>
          <a:p>
            <a:pPr lvl="1"/>
            <a:endParaRPr lang="en-US" altLang="en-US" sz="2000" dirty="0"/>
          </a:p>
          <a:p>
            <a:r>
              <a:rPr lang="en-US" altLang="en-US" sz="2000" dirty="0"/>
              <a:t>The end-of-file exception can be used in an "infinite" (</a:t>
            </a:r>
            <a:r>
              <a:rPr lang="en-US" altLang="en-US" sz="2000" dirty="0">
                <a:solidFill>
                  <a:srgbClr val="FF0000"/>
                </a:solidFill>
                <a:latin typeface="Courier New" pitchFamily="49" charset="0"/>
              </a:rPr>
              <a:t>while(true)</a:t>
            </a:r>
            <a:r>
              <a:rPr lang="en-US" altLang="en-US" sz="2000" dirty="0"/>
              <a:t>) loop that reads and processes data from the file</a:t>
            </a:r>
          </a:p>
          <a:p>
            <a:pPr lvl="1"/>
            <a:r>
              <a:rPr lang="en-US" altLang="en-US" sz="2000" dirty="0"/>
              <a:t>the loop terminates when an </a:t>
            </a:r>
            <a:r>
              <a:rPr lang="en-US" altLang="en-US" sz="2000" dirty="0" err="1">
                <a:solidFill>
                  <a:srgbClr val="FF0000"/>
                </a:solidFill>
                <a:latin typeface="Courier New" pitchFamily="49" charset="0"/>
              </a:rPr>
              <a:t>EOFException</a:t>
            </a:r>
            <a:r>
              <a:rPr lang="en-US" altLang="en-US" sz="2000" dirty="0">
                <a:solidFill>
                  <a:srgbClr val="FF0000"/>
                </a:solidFill>
              </a:rPr>
              <a:t> </a:t>
            </a:r>
            <a:r>
              <a:rPr lang="en-US" altLang="en-US" sz="2000" dirty="0"/>
              <a:t>is thrown</a:t>
            </a:r>
          </a:p>
          <a:p>
            <a:endParaRPr lang="en-US" altLang="en-US" sz="2000" dirty="0"/>
          </a:p>
          <a:p>
            <a:r>
              <a:rPr lang="en-US" altLang="en-US" sz="2000" dirty="0"/>
              <a:t>The program is written to continue normally after the </a:t>
            </a:r>
            <a:r>
              <a:rPr lang="en-US" altLang="en-US" sz="2000" dirty="0" err="1">
                <a:solidFill>
                  <a:srgbClr val="FF0000"/>
                </a:solidFill>
                <a:latin typeface="Courier New" pitchFamily="49" charset="0"/>
              </a:rPr>
              <a:t>EOFException</a:t>
            </a:r>
            <a:r>
              <a:rPr lang="en-US" altLang="en-US" sz="2000" dirty="0">
                <a:solidFill>
                  <a:srgbClr val="FF0000"/>
                </a:solidFill>
              </a:rPr>
              <a:t> </a:t>
            </a:r>
            <a:r>
              <a:rPr lang="en-US" altLang="en-US" sz="2000" dirty="0"/>
              <a:t>has been caught</a:t>
            </a:r>
          </a:p>
          <a:p>
            <a:pPr lvl="1"/>
            <a:endParaRPr lang="en-US" alt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19786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8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4038600" cy="1143000"/>
          </a:xfrm>
        </p:spPr>
        <p:txBody>
          <a:bodyPr/>
          <a:lstStyle/>
          <a:p>
            <a:r>
              <a:rPr lang="en-US" altLang="en-US" sz="3200"/>
              <a:t>Using </a:t>
            </a:r>
            <a:r>
              <a:rPr lang="en-US" altLang="en-US" sz="3200" b="1">
                <a:latin typeface="Courier New" pitchFamily="49" charset="0"/>
              </a:rPr>
              <a:t>EOFException</a:t>
            </a:r>
          </a:p>
        </p:txBody>
      </p:sp>
      <p:sp>
        <p:nvSpPr>
          <p:cNvPr id="430087" name="Text Box 7"/>
          <p:cNvSpPr txBox="1">
            <a:spLocks noChangeArrowheads="1"/>
          </p:cNvSpPr>
          <p:nvPr/>
        </p:nvSpPr>
        <p:spPr bwMode="auto">
          <a:xfrm>
            <a:off x="685800" y="1600200"/>
            <a:ext cx="25908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en-US" altLang="en-US" sz="1800">
                <a:latin typeface="Courier New" pitchFamily="49" charset="0"/>
              </a:rPr>
              <a:t>main</a:t>
            </a:r>
            <a:r>
              <a:rPr lang="en-US" altLang="en-US" sz="1800">
                <a:latin typeface="Arial" charset="0"/>
              </a:rPr>
              <a:t> method from</a:t>
            </a:r>
          </a:p>
          <a:p>
            <a:r>
              <a:rPr lang="en-US" altLang="en-US" sz="1800">
                <a:latin typeface="Courier New" pitchFamily="49" charset="0"/>
              </a:rPr>
              <a:t>EOFExceptionDemo</a:t>
            </a:r>
            <a:endParaRPr lang="en-US" altLang="en-US" sz="1800">
              <a:latin typeface="Arial" charset="0"/>
            </a:endParaRPr>
          </a:p>
        </p:txBody>
      </p:sp>
      <p:sp>
        <p:nvSpPr>
          <p:cNvPr id="430088" name="AutoShape 8"/>
          <p:cNvSpPr>
            <a:spLocks/>
          </p:cNvSpPr>
          <p:nvPr/>
        </p:nvSpPr>
        <p:spPr bwMode="auto">
          <a:xfrm>
            <a:off x="609600" y="2438400"/>
            <a:ext cx="3048000" cy="654050"/>
          </a:xfrm>
          <a:prstGeom prst="borderCallout1">
            <a:avLst>
              <a:gd name="adj1" fmla="val 17477"/>
              <a:gd name="adj2" fmla="val 102500"/>
              <a:gd name="adj3" fmla="val 58009"/>
              <a:gd name="adj4" fmla="val 122398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en-US" altLang="en-US" sz="1800">
                <a:latin typeface="Arial" charset="0"/>
              </a:rPr>
              <a:t>Intentional "infinite" loop to process data from input file</a:t>
            </a:r>
          </a:p>
        </p:txBody>
      </p:sp>
      <p:sp>
        <p:nvSpPr>
          <p:cNvPr id="430089" name="AutoShape 9"/>
          <p:cNvSpPr>
            <a:spLocks/>
          </p:cNvSpPr>
          <p:nvPr/>
        </p:nvSpPr>
        <p:spPr bwMode="auto">
          <a:xfrm>
            <a:off x="228600" y="5289550"/>
            <a:ext cx="3429000" cy="928688"/>
          </a:xfrm>
          <a:prstGeom prst="borderCallout1">
            <a:avLst>
              <a:gd name="adj1" fmla="val 12306"/>
              <a:gd name="adj2" fmla="val 102222"/>
              <a:gd name="adj3" fmla="val 13333"/>
              <a:gd name="adj4" fmla="val 113426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en-US" altLang="en-US" sz="1800">
                <a:latin typeface="Arial" charset="0"/>
              </a:rPr>
              <a:t>Note order of catch blocks:</a:t>
            </a:r>
          </a:p>
          <a:p>
            <a:pPr algn="ctr"/>
            <a:r>
              <a:rPr lang="en-US" altLang="en-US" sz="1800">
                <a:latin typeface="Arial" charset="0"/>
              </a:rPr>
              <a:t>the most specific is first</a:t>
            </a:r>
          </a:p>
          <a:p>
            <a:pPr algn="ctr"/>
            <a:r>
              <a:rPr lang="en-US" altLang="en-US" sz="1800">
                <a:latin typeface="Arial" charset="0"/>
              </a:rPr>
              <a:t>and the most general last</a:t>
            </a:r>
          </a:p>
        </p:txBody>
      </p:sp>
      <p:sp>
        <p:nvSpPr>
          <p:cNvPr id="430090" name="AutoShape 10"/>
          <p:cNvSpPr>
            <a:spLocks/>
          </p:cNvSpPr>
          <p:nvPr/>
        </p:nvSpPr>
        <p:spPr bwMode="auto">
          <a:xfrm>
            <a:off x="762000" y="3200400"/>
            <a:ext cx="2792413" cy="654050"/>
          </a:xfrm>
          <a:prstGeom prst="borderCallout1">
            <a:avLst>
              <a:gd name="adj1" fmla="val 17477"/>
              <a:gd name="adj2" fmla="val 102727"/>
              <a:gd name="adj3" fmla="val -59708"/>
              <a:gd name="adj4" fmla="val 128199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en-US" altLang="en-US" sz="1800">
                <a:latin typeface="Arial" charset="0"/>
              </a:rPr>
              <a:t>Loop exits when end-of-file exception is thrown</a:t>
            </a:r>
          </a:p>
        </p:txBody>
      </p:sp>
      <p:sp>
        <p:nvSpPr>
          <p:cNvPr id="430091" name="AutoShape 11"/>
          <p:cNvSpPr>
            <a:spLocks/>
          </p:cNvSpPr>
          <p:nvPr/>
        </p:nvSpPr>
        <p:spPr bwMode="auto">
          <a:xfrm>
            <a:off x="762000" y="3962400"/>
            <a:ext cx="2743200" cy="928688"/>
          </a:xfrm>
          <a:prstGeom prst="borderCallout1">
            <a:avLst>
              <a:gd name="adj1" fmla="val 12306"/>
              <a:gd name="adj2" fmla="val 102778"/>
              <a:gd name="adj3" fmla="val 52306"/>
              <a:gd name="adj4" fmla="val 135014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en-US" altLang="en-US" sz="1800">
                <a:latin typeface="Arial" charset="0"/>
              </a:rPr>
              <a:t>Processing continues after </a:t>
            </a:r>
            <a:r>
              <a:rPr lang="en-US" altLang="en-US" sz="1800">
                <a:latin typeface="Courier New" pitchFamily="49" charset="0"/>
              </a:rPr>
              <a:t>EOFException</a:t>
            </a:r>
            <a:r>
              <a:rPr lang="en-US" altLang="en-US" sz="1800">
                <a:latin typeface="Arial" charset="0"/>
              </a:rPr>
              <a:t>: the input file is closed</a:t>
            </a:r>
          </a:p>
        </p:txBody>
      </p:sp>
      <p:sp>
        <p:nvSpPr>
          <p:cNvPr id="430092" name="AutoShape 12"/>
          <p:cNvSpPr>
            <a:spLocks/>
          </p:cNvSpPr>
          <p:nvPr/>
        </p:nvSpPr>
        <p:spPr bwMode="auto">
          <a:xfrm>
            <a:off x="4343400" y="2438400"/>
            <a:ext cx="76200" cy="685800"/>
          </a:xfrm>
          <a:prstGeom prst="leftBracket">
            <a:avLst>
              <a:gd name="adj" fmla="val 75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430093" name="Line 13"/>
          <p:cNvSpPr>
            <a:spLocks noChangeShapeType="1"/>
          </p:cNvSpPr>
          <p:nvPr/>
        </p:nvSpPr>
        <p:spPr bwMode="auto">
          <a:xfrm>
            <a:off x="3657600" y="3429000"/>
            <a:ext cx="7620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430094" name="AutoShape 14"/>
          <p:cNvSpPr>
            <a:spLocks/>
          </p:cNvSpPr>
          <p:nvPr/>
        </p:nvSpPr>
        <p:spPr bwMode="auto">
          <a:xfrm>
            <a:off x="4114800" y="4876800"/>
            <a:ext cx="76200" cy="1295400"/>
          </a:xfrm>
          <a:prstGeom prst="leftBracket">
            <a:avLst>
              <a:gd name="adj" fmla="val 141667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2" name="Rectangle 1"/>
          <p:cNvSpPr/>
          <p:nvPr/>
        </p:nvSpPr>
        <p:spPr>
          <a:xfrm>
            <a:off x="4374242" y="-236994"/>
            <a:ext cx="4922158" cy="7478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smtClean="0">
                <a:solidFill>
                  <a:srgbClr val="7F0055"/>
                </a:solidFill>
                <a:latin typeface="Courier New" panose="02070309020205020404" pitchFamily="49" charset="0"/>
              </a:rPr>
              <a:t>import</a:t>
            </a:r>
            <a:r>
              <a:rPr lang="en-US" sz="12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</a:rPr>
              <a:t>java.io.*;</a:t>
            </a:r>
          </a:p>
          <a:p>
            <a:r>
              <a:rPr lang="en-US" sz="1200" b="1" dirty="0">
                <a:solidFill>
                  <a:srgbClr val="7F0055"/>
                </a:solidFill>
                <a:latin typeface="Courier New" panose="02070309020205020404" pitchFamily="49" charset="0"/>
              </a:rPr>
              <a:t>public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7F0055"/>
                </a:solidFill>
                <a:latin typeface="Courier New" panose="02070309020205020404" pitchFamily="49" charset="0"/>
              </a:rPr>
              <a:t>class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</a:rPr>
              <a:t> Snippet </a:t>
            </a:r>
            <a:r>
              <a:rPr lang="en-US" sz="12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{ </a:t>
            </a:r>
            <a:r>
              <a:rPr lang="en-US" sz="1200" b="1" dirty="0" smtClean="0">
                <a:solidFill>
                  <a:srgbClr val="7F0055"/>
                </a:solidFill>
                <a:latin typeface="Courier New" panose="02070309020205020404" pitchFamily="49" charset="0"/>
              </a:rPr>
              <a:t>public</a:t>
            </a:r>
            <a:r>
              <a:rPr lang="en-US" sz="12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7F0055"/>
                </a:solidFill>
                <a:latin typeface="Courier New" panose="02070309020205020404" pitchFamily="49" charset="0"/>
              </a:rPr>
              <a:t>static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7F0055"/>
                </a:solidFill>
                <a:latin typeface="Courier New" panose="02070309020205020404" pitchFamily="49" charset="0"/>
              </a:rPr>
              <a:t>void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</a:rPr>
              <a:t> main (String </a:t>
            </a:r>
            <a:r>
              <a:rPr lang="en-US" sz="1200" b="1" dirty="0" err="1">
                <a:solidFill>
                  <a:srgbClr val="6A3E3E"/>
                </a:solidFill>
                <a:latin typeface="Courier New" panose="02070309020205020404" pitchFamily="49" charset="0"/>
              </a:rPr>
              <a:t>arg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</a:rPr>
              <a:t>[]){</a:t>
            </a:r>
          </a:p>
          <a:p>
            <a:r>
              <a:rPr lang="en-US" sz="1200" b="1" dirty="0">
                <a:solidFill>
                  <a:srgbClr val="7F0055"/>
                </a:solidFill>
                <a:latin typeface="Courier New" panose="02070309020205020404" pitchFamily="49" charset="0"/>
              </a:rPr>
              <a:t>try</a:t>
            </a:r>
          </a:p>
          <a:p>
            <a:r>
              <a:rPr lang="en-US" sz="12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  <a:r>
              <a:rPr lang="en-US" sz="1200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ObjectOutputStream</a:t>
            </a:r>
            <a:r>
              <a:rPr lang="en-US" sz="12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rgbClr val="6A3E3E"/>
                </a:solidFill>
                <a:latin typeface="Courier New" panose="02070309020205020404" pitchFamily="49" charset="0"/>
              </a:rPr>
              <a:t>outputStream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1200" b="1" dirty="0">
                <a:solidFill>
                  <a:srgbClr val="7F0055"/>
                </a:solidFill>
                <a:latin typeface="Courier New" panose="02070309020205020404" pitchFamily="49" charset="0"/>
              </a:rPr>
              <a:t>new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200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ObjectOutputStream</a:t>
            </a:r>
            <a:r>
              <a:rPr lang="en-US" sz="12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(</a:t>
            </a:r>
            <a:r>
              <a:rPr lang="en-US" sz="1200" b="1" dirty="0">
                <a:solidFill>
                  <a:srgbClr val="7F0055"/>
                </a:solidFill>
                <a:latin typeface="Courier New" panose="02070309020205020404" pitchFamily="49" charset="0"/>
              </a:rPr>
              <a:t>new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200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FileOutputStream</a:t>
            </a:r>
            <a:r>
              <a:rPr lang="en-US" sz="12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(</a:t>
            </a:r>
            <a:r>
              <a:rPr lang="en-US" sz="1200" b="1" dirty="0" smtClean="0">
                <a:solidFill>
                  <a:srgbClr val="2A00FF"/>
                </a:solidFill>
                <a:latin typeface="Courier New" panose="02070309020205020404" pitchFamily="49" charset="0"/>
              </a:rPr>
              <a:t>"</a:t>
            </a:r>
            <a:r>
              <a:rPr lang="en-US" sz="1200" b="1" dirty="0">
                <a:solidFill>
                  <a:srgbClr val="2A00FF"/>
                </a:solidFill>
                <a:latin typeface="Courier New" panose="02070309020205020404" pitchFamily="49" charset="0"/>
              </a:rPr>
              <a:t>numbers.txt"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</a:rPr>
              <a:t>));</a:t>
            </a:r>
          </a:p>
          <a:p>
            <a:r>
              <a:rPr lang="en-US" sz="1200" dirty="0" err="1">
                <a:solidFill>
                  <a:srgbClr val="6A3E3E"/>
                </a:solidFill>
                <a:latin typeface="Courier New" panose="02070309020205020404" pitchFamily="49" charset="0"/>
              </a:rPr>
              <a:t>outputStream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.writeInt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(2</a:t>
            </a:r>
            <a:r>
              <a:rPr lang="en-US" sz="12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); </a:t>
            </a:r>
            <a:r>
              <a:rPr lang="en-US" sz="1200" dirty="0" err="1" smtClean="0">
                <a:solidFill>
                  <a:srgbClr val="6A3E3E"/>
                </a:solidFill>
                <a:latin typeface="Courier New" panose="02070309020205020404" pitchFamily="49" charset="0"/>
              </a:rPr>
              <a:t>outputStream</a:t>
            </a:r>
            <a:r>
              <a:rPr lang="en-US" sz="1200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.writeInt</a:t>
            </a:r>
            <a:r>
              <a:rPr lang="en-US" sz="12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(3); </a:t>
            </a:r>
            <a:r>
              <a:rPr lang="en-US" sz="1200" dirty="0" err="1" smtClean="0">
                <a:solidFill>
                  <a:srgbClr val="6A3E3E"/>
                </a:solidFill>
                <a:latin typeface="Courier New" panose="02070309020205020404" pitchFamily="49" charset="0"/>
              </a:rPr>
              <a:t>outputStream</a:t>
            </a:r>
            <a:r>
              <a:rPr lang="en-US" sz="1200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.close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();</a:t>
            </a:r>
          </a:p>
          <a:p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ObjectInputStream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rgbClr val="6A3E3E"/>
                </a:solidFill>
                <a:latin typeface="Courier New" panose="02070309020205020404" pitchFamily="49" charset="0"/>
              </a:rPr>
              <a:t>inputStream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2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= </a:t>
            </a:r>
            <a:r>
              <a:rPr lang="en-US" sz="1200" b="1" dirty="0">
                <a:solidFill>
                  <a:srgbClr val="7F0055"/>
                </a:solidFill>
                <a:latin typeface="Courier New" panose="02070309020205020404" pitchFamily="49" charset="0"/>
              </a:rPr>
              <a:t>new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ObjectInputStream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200" b="1" dirty="0">
                <a:solidFill>
                  <a:srgbClr val="7F0055"/>
                </a:solidFill>
                <a:latin typeface="Courier New" panose="02070309020205020404" pitchFamily="49" charset="0"/>
              </a:rPr>
              <a:t>new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200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FileInputStream</a:t>
            </a:r>
            <a:r>
              <a:rPr lang="en-US" sz="1200" b="1" smtClean="0">
                <a:solidFill>
                  <a:srgbClr val="000000"/>
                </a:solidFill>
                <a:latin typeface="Courier New" panose="02070309020205020404" pitchFamily="49" charset="0"/>
              </a:rPr>
              <a:t> (</a:t>
            </a:r>
            <a:r>
              <a:rPr lang="en-US" sz="1200" b="1" smtClean="0">
                <a:solidFill>
                  <a:srgbClr val="2A00FF"/>
                </a:solidFill>
                <a:latin typeface="Courier New" panose="02070309020205020404" pitchFamily="49" charset="0"/>
              </a:rPr>
              <a:t>"</a:t>
            </a:r>
            <a:r>
              <a:rPr lang="en-US" sz="1200" b="1" dirty="0">
                <a:solidFill>
                  <a:srgbClr val="2A00FF"/>
                </a:solidFill>
                <a:latin typeface="Courier New" panose="02070309020205020404" pitchFamily="49" charset="0"/>
              </a:rPr>
              <a:t>numbers.txt"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</a:rPr>
              <a:t>));</a:t>
            </a:r>
          </a:p>
          <a:p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sz="1200" b="1" dirty="0" err="1">
                <a:solidFill>
                  <a:srgbClr val="7F0055"/>
                </a:solidFill>
                <a:latin typeface="Courier New" panose="02070309020205020404" pitchFamily="49" charset="0"/>
              </a:rPr>
              <a:t>int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6A3E3E"/>
                </a:solidFill>
                <a:highlight>
                  <a:srgbClr val="D4D4D4"/>
                </a:highlight>
                <a:latin typeface="Courier New" panose="02070309020205020404" pitchFamily="49" charset="0"/>
              </a:rPr>
              <a:t>n</a:t>
            </a:r>
            <a:r>
              <a:rPr lang="en-US" sz="1200" b="1" dirty="0">
                <a:solidFill>
                  <a:srgbClr val="000000"/>
                </a:solidFill>
                <a:highlight>
                  <a:srgbClr val="D4D4D4"/>
                </a:highlight>
                <a:latin typeface="Courier New" panose="02070309020205020404" pitchFamily="49" charset="0"/>
              </a:rPr>
              <a:t>;</a:t>
            </a:r>
          </a:p>
          <a:p>
            <a:r>
              <a:rPr lang="en-US" sz="12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System.</a:t>
            </a:r>
            <a:r>
              <a:rPr lang="en-US" sz="1200" b="1" i="1" dirty="0" err="1">
                <a:solidFill>
                  <a:srgbClr val="0000C0"/>
                </a:solidFill>
                <a:latin typeface="Courier New" panose="02070309020205020404" pitchFamily="49" charset="0"/>
              </a:rPr>
              <a:t>out</a:t>
            </a:r>
            <a:r>
              <a:rPr lang="en-US" sz="1200" b="1" i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.println</a:t>
            </a:r>
            <a:r>
              <a:rPr lang="en-US" sz="12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200" b="1" i="1" dirty="0">
                <a:solidFill>
                  <a:srgbClr val="2A00FF"/>
                </a:solidFill>
                <a:latin typeface="Courier New" panose="02070309020205020404" pitchFamily="49" charset="0"/>
              </a:rPr>
              <a:t>"Reading ALL the integers"</a:t>
            </a:r>
            <a:r>
              <a:rPr lang="en-US" sz="12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System.</a:t>
            </a:r>
            <a:r>
              <a:rPr lang="en-US" sz="1200" b="1" i="1" dirty="0" err="1">
                <a:solidFill>
                  <a:srgbClr val="0000C0"/>
                </a:solidFill>
                <a:latin typeface="Courier New" panose="02070309020205020404" pitchFamily="49" charset="0"/>
              </a:rPr>
              <a:t>out</a:t>
            </a:r>
            <a:r>
              <a:rPr lang="en-US" sz="1200" b="1" i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.println</a:t>
            </a:r>
            <a:r>
              <a:rPr lang="en-US" sz="12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200" b="1" i="1" dirty="0">
                <a:solidFill>
                  <a:srgbClr val="2A00FF"/>
                </a:solidFill>
                <a:latin typeface="Courier New" panose="02070309020205020404" pitchFamily="49" charset="0"/>
              </a:rPr>
              <a:t>"in the file numbers.txt."</a:t>
            </a:r>
            <a:r>
              <a:rPr lang="en-US" sz="12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sz="1200" b="1" dirty="0" smtClean="0">
                <a:solidFill>
                  <a:srgbClr val="7F0055"/>
                </a:solidFill>
                <a:latin typeface="Courier New" panose="02070309020205020404" pitchFamily="49" charset="0"/>
              </a:rPr>
              <a:t>try</a:t>
            </a:r>
            <a:r>
              <a:rPr lang="en-US" sz="12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  <a:endParaRPr lang="en-US" sz="1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sz="1200" b="1" dirty="0">
                <a:solidFill>
                  <a:srgbClr val="7F0055"/>
                </a:solidFill>
                <a:latin typeface="Courier New" panose="02070309020205020404" pitchFamily="49" charset="0"/>
              </a:rPr>
              <a:t>while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</a:rPr>
              <a:t> (</a:t>
            </a:r>
            <a:r>
              <a:rPr lang="en-US" sz="1200" b="1" dirty="0">
                <a:solidFill>
                  <a:srgbClr val="7F0055"/>
                </a:solidFill>
                <a:latin typeface="Courier New" panose="02070309020205020404" pitchFamily="49" charset="0"/>
              </a:rPr>
              <a:t>true</a:t>
            </a:r>
            <a:r>
              <a:rPr lang="en-US" sz="12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r>
              <a:rPr lang="en-US" sz="12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  <a:endParaRPr lang="en-US" sz="1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</a:t>
            </a:r>
            <a:r>
              <a:rPr lang="en-US" sz="1200" dirty="0">
                <a:solidFill>
                  <a:srgbClr val="6A3E3E"/>
                </a:solidFill>
                <a:highlight>
                  <a:srgbClr val="F0D8A8"/>
                </a:highlight>
                <a:latin typeface="Courier New" panose="02070309020205020404" pitchFamily="49" charset="0"/>
              </a:rPr>
              <a:t>n</a:t>
            </a:r>
            <a:r>
              <a:rPr lang="en-US" sz="1200" dirty="0">
                <a:solidFill>
                  <a:srgbClr val="000000"/>
                </a:solidFill>
                <a:highlight>
                  <a:srgbClr val="F0D8A8"/>
                </a:highlight>
                <a:latin typeface="Courier New" panose="02070309020205020404" pitchFamily="49" charset="0"/>
              </a:rPr>
              <a:t> = </a:t>
            </a:r>
            <a:r>
              <a:rPr lang="en-US" sz="1200" dirty="0" err="1">
                <a:solidFill>
                  <a:srgbClr val="6A3E3E"/>
                </a:solidFill>
                <a:highlight>
                  <a:srgbClr val="F0D8A8"/>
                </a:highlight>
                <a:latin typeface="Courier New" panose="02070309020205020404" pitchFamily="49" charset="0"/>
              </a:rPr>
              <a:t>inputStream</a:t>
            </a:r>
            <a:r>
              <a:rPr lang="en-US" sz="1200" dirty="0" err="1">
                <a:solidFill>
                  <a:srgbClr val="000000"/>
                </a:solidFill>
                <a:highlight>
                  <a:srgbClr val="F0D8A8"/>
                </a:highlight>
                <a:latin typeface="Courier New" panose="02070309020205020404" pitchFamily="49" charset="0"/>
              </a:rPr>
              <a:t>.readInt</a:t>
            </a:r>
            <a:r>
              <a:rPr lang="en-US" sz="1200" dirty="0">
                <a:solidFill>
                  <a:srgbClr val="000000"/>
                </a:solidFill>
                <a:highlight>
                  <a:srgbClr val="F0D8A8"/>
                </a:highlight>
                <a:latin typeface="Courier New" panose="02070309020205020404" pitchFamily="49" charset="0"/>
              </a:rPr>
              <a:t>();</a:t>
            </a:r>
          </a:p>
          <a:p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System.</a:t>
            </a:r>
            <a:r>
              <a:rPr lang="en-US" sz="1200" b="1" i="1" dirty="0" err="1">
                <a:solidFill>
                  <a:srgbClr val="0000C0"/>
                </a:solidFill>
                <a:latin typeface="Courier New" panose="02070309020205020404" pitchFamily="49" charset="0"/>
              </a:rPr>
              <a:t>out</a:t>
            </a:r>
            <a:r>
              <a:rPr lang="en-US" sz="1200" b="1" i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.println</a:t>
            </a:r>
            <a:r>
              <a:rPr lang="en-US" sz="12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200" b="1" i="1" dirty="0">
                <a:solidFill>
                  <a:srgbClr val="6A3E3E"/>
                </a:solidFill>
                <a:highlight>
                  <a:srgbClr val="D4D4D4"/>
                </a:highlight>
                <a:latin typeface="Courier New" panose="02070309020205020404" pitchFamily="49" charset="0"/>
              </a:rPr>
              <a:t>n</a:t>
            </a:r>
            <a:r>
              <a:rPr lang="en-US" sz="1200" b="1" i="1" dirty="0">
                <a:solidFill>
                  <a:srgbClr val="000000"/>
                </a:solidFill>
                <a:highlight>
                  <a:srgbClr val="D4D4D4"/>
                </a:highlight>
                <a:latin typeface="Courier New" panose="020703090202050204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       }</a:t>
            </a:r>
          </a:p>
          <a:p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   }</a:t>
            </a:r>
          </a:p>
          <a:p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rgbClr val="7F0055"/>
                </a:solidFill>
                <a:latin typeface="Courier New" panose="02070309020205020404" pitchFamily="49" charset="0"/>
              </a:rPr>
              <a:t>catch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2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EOFException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6A3E3E"/>
                </a:solidFill>
                <a:latin typeface="Courier New" panose="02070309020205020404" pitchFamily="49" charset="0"/>
              </a:rPr>
              <a:t>e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   {</a:t>
            </a:r>
          </a:p>
          <a:p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System.</a:t>
            </a:r>
            <a:r>
              <a:rPr lang="en-US" sz="1200" b="1" i="1" dirty="0" err="1">
                <a:solidFill>
                  <a:srgbClr val="0000C0"/>
                </a:solidFill>
                <a:latin typeface="Courier New" panose="02070309020205020404" pitchFamily="49" charset="0"/>
              </a:rPr>
              <a:t>out</a:t>
            </a:r>
            <a:r>
              <a:rPr lang="en-US" sz="1200" b="1" i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.println</a:t>
            </a:r>
            <a:r>
              <a:rPr lang="en-US" sz="12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200" b="1" i="1" dirty="0">
                <a:solidFill>
                  <a:srgbClr val="2A00FF"/>
                </a:solidFill>
                <a:latin typeface="Courier New" panose="02070309020205020404" pitchFamily="49" charset="0"/>
              </a:rPr>
              <a:t>"End of reading from file."</a:t>
            </a:r>
            <a:r>
              <a:rPr lang="en-US" sz="12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   }</a:t>
            </a:r>
          </a:p>
          <a:p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sz="1200" dirty="0" err="1">
                <a:solidFill>
                  <a:srgbClr val="6A3E3E"/>
                </a:solidFill>
                <a:latin typeface="Courier New" panose="02070309020205020404" pitchFamily="49" charset="0"/>
              </a:rPr>
              <a:t>inputStream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.close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();</a:t>
            </a:r>
          </a:p>
          <a:p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r>
              <a:rPr lang="en-US" sz="1200" b="1" dirty="0">
                <a:solidFill>
                  <a:srgbClr val="7F0055"/>
                </a:solidFill>
                <a:latin typeface="Courier New" panose="02070309020205020404" pitchFamily="49" charset="0"/>
              </a:rPr>
              <a:t>catch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2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FileNotFoundException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6A3E3E"/>
                </a:solidFill>
                <a:latin typeface="Courier New" panose="02070309020205020404" pitchFamily="49" charset="0"/>
              </a:rPr>
              <a:t>e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</a:p>
          <a:p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System.</a:t>
            </a:r>
            <a:r>
              <a:rPr lang="en-US" sz="1200" b="1" i="1" dirty="0" err="1">
                <a:solidFill>
                  <a:srgbClr val="0000C0"/>
                </a:solidFill>
                <a:latin typeface="Courier New" panose="02070309020205020404" pitchFamily="49" charset="0"/>
              </a:rPr>
              <a:t>out</a:t>
            </a:r>
            <a:r>
              <a:rPr lang="en-US" sz="1200" b="1" i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.println</a:t>
            </a:r>
            <a:r>
              <a:rPr lang="en-US" sz="12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200" b="1" i="1" dirty="0">
                <a:solidFill>
                  <a:srgbClr val="2A00FF"/>
                </a:solidFill>
                <a:latin typeface="Courier New" panose="02070309020205020404" pitchFamily="49" charset="0"/>
              </a:rPr>
              <a:t>"Cannot find file numbers.txt."</a:t>
            </a:r>
            <a:r>
              <a:rPr lang="en-US" sz="12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r>
              <a:rPr lang="en-US" sz="1200" b="1" dirty="0">
                <a:solidFill>
                  <a:srgbClr val="7F0055"/>
                </a:solidFill>
                <a:latin typeface="Courier New" panose="02070309020205020404" pitchFamily="49" charset="0"/>
              </a:rPr>
              <a:t>catch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2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IOException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6A3E3E"/>
                </a:solidFill>
                <a:latin typeface="Courier New" panose="02070309020205020404" pitchFamily="49" charset="0"/>
              </a:rPr>
              <a:t>e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</a:p>
          <a:p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System.</a:t>
            </a:r>
            <a:r>
              <a:rPr lang="en-US" sz="1200" b="1" i="1" dirty="0" err="1">
                <a:solidFill>
                  <a:srgbClr val="0000C0"/>
                </a:solidFill>
                <a:latin typeface="Courier New" panose="02070309020205020404" pitchFamily="49" charset="0"/>
              </a:rPr>
              <a:t>out</a:t>
            </a:r>
            <a:r>
              <a:rPr lang="en-US" sz="1200" b="1" i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.println</a:t>
            </a:r>
            <a:r>
              <a:rPr lang="en-US" sz="12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200" b="1" i="1" dirty="0">
                <a:solidFill>
                  <a:srgbClr val="2A00FF"/>
                </a:solidFill>
                <a:latin typeface="Courier New" panose="02070309020205020404" pitchFamily="49" charset="0"/>
              </a:rPr>
              <a:t>"Problem with input from file numbers.txt."</a:t>
            </a:r>
            <a:r>
              <a:rPr lang="en-US" sz="12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en-US" sz="12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}}}</a:t>
            </a:r>
            <a:endParaRPr lang="en-US" sz="1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sz="1200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2879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242D679B6F40C48B2519DEB851FE85E" ma:contentTypeVersion="0" ma:contentTypeDescription="Create a new document." ma:contentTypeScope="" ma:versionID="ca0eff15ccbfe079c26c4eccae0f3b99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EA388EF-F2AF-44FD-84CE-234923ABDBED}"/>
</file>

<file path=customXml/itemProps2.xml><?xml version="1.0" encoding="utf-8"?>
<ds:datastoreItem xmlns:ds="http://schemas.openxmlformats.org/officeDocument/2006/customXml" ds:itemID="{47C96DC5-961D-4904-882A-59FA5FBDEA27}"/>
</file>

<file path=customXml/itemProps3.xml><?xml version="1.0" encoding="utf-8"?>
<ds:datastoreItem xmlns:ds="http://schemas.openxmlformats.org/officeDocument/2006/customXml" ds:itemID="{0691AC7E-70CC-455A-9C51-928FB5FC8405}"/>
</file>

<file path=docProps/app.xml><?xml version="1.0" encoding="utf-8"?>
<Properties xmlns="http://schemas.openxmlformats.org/officeDocument/2006/extended-properties" xmlns:vt="http://schemas.openxmlformats.org/officeDocument/2006/docPropsVTypes">
  <TotalTime>423</TotalTime>
  <Words>1064</Words>
  <Application>Microsoft Office PowerPoint</Application>
  <PresentationFormat>On-screen Show (4:3)</PresentationFormat>
  <Paragraphs>194</Paragraphs>
  <Slides>16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ＭＳ Ｐゴシック</vt:lpstr>
      <vt:lpstr>ＭＳ Ｐゴシック</vt:lpstr>
      <vt:lpstr>Arial</vt:lpstr>
      <vt:lpstr>Book Antiqua</vt:lpstr>
      <vt:lpstr>Calibri</vt:lpstr>
      <vt:lpstr>Consolas</vt:lpstr>
      <vt:lpstr>Courier New</vt:lpstr>
      <vt:lpstr>Times New Roman</vt:lpstr>
      <vt:lpstr>Wingdings</vt:lpstr>
      <vt:lpstr>Office Theme</vt:lpstr>
      <vt:lpstr>Object Stream</vt:lpstr>
      <vt:lpstr>Object Serialization</vt:lpstr>
      <vt:lpstr>Serialization</vt:lpstr>
      <vt:lpstr>Object Stream </vt:lpstr>
      <vt:lpstr>Serialization </vt:lpstr>
      <vt:lpstr>ObjectInputStream</vt:lpstr>
      <vt:lpstr>ObjectOutputStream </vt:lpstr>
      <vt:lpstr>When Using ObjectInputStream  to Read Data from Files:</vt:lpstr>
      <vt:lpstr>Some ObjectInputStream Methods</vt:lpstr>
      <vt:lpstr>Input File Exceptions</vt:lpstr>
      <vt:lpstr>Avoiding Common ObjectInputStream File Errors</vt:lpstr>
      <vt:lpstr>Example Serialization</vt:lpstr>
      <vt:lpstr>Binary I/O of Class Objects</vt:lpstr>
      <vt:lpstr>PowerPoint Presentation</vt:lpstr>
      <vt:lpstr>The EOFException Class</vt:lpstr>
      <vt:lpstr>Using EOFException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Reader class</dc:title>
  <dc:creator>Muhammad Imran</dc:creator>
  <cp:lastModifiedBy>Adeel-ur-Rehman</cp:lastModifiedBy>
  <cp:revision>63</cp:revision>
  <dcterms:created xsi:type="dcterms:W3CDTF">2017-03-08T06:29:24Z</dcterms:created>
  <dcterms:modified xsi:type="dcterms:W3CDTF">2019-08-28T06:04:52Z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0x0101008242D679B6F40C48B2519DEB851FE85E</vt:lpwstr>
  </property>
</Properties>
</file>