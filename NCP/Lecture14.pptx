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3.xml" ContentType="application/vnd.openxmlformats-officedocument.presentationml.slide+xml"/>
  <Override PartName="/ppt/slides/slide38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39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41"/>
  </p:notesMasterIdLst>
  <p:handoutMasterIdLst>
    <p:handoutMasterId r:id="rId42"/>
  </p:handoutMasterIdLst>
  <p:sldIdLst>
    <p:sldId id="308" r:id="rId2"/>
    <p:sldId id="393" r:id="rId3"/>
    <p:sldId id="309" r:id="rId4"/>
    <p:sldId id="310" r:id="rId5"/>
    <p:sldId id="311" r:id="rId6"/>
    <p:sldId id="312" r:id="rId7"/>
    <p:sldId id="394" r:id="rId8"/>
    <p:sldId id="401" r:id="rId9"/>
    <p:sldId id="40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96" r:id="rId18"/>
    <p:sldId id="320" r:id="rId19"/>
    <p:sldId id="398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99" r:id="rId28"/>
    <p:sldId id="400" r:id="rId29"/>
    <p:sldId id="328" r:id="rId30"/>
    <p:sldId id="329" r:id="rId31"/>
    <p:sldId id="330" r:id="rId32"/>
    <p:sldId id="397" r:id="rId33"/>
    <p:sldId id="331" r:id="rId34"/>
    <p:sldId id="332" r:id="rId35"/>
    <p:sldId id="333" r:id="rId36"/>
    <p:sldId id="337" r:id="rId37"/>
    <p:sldId id="334" r:id="rId38"/>
    <p:sldId id="338" r:id="rId39"/>
    <p:sldId id="339" r:id="rId40"/>
  </p:sldIdLst>
  <p:sldSz cx="9144000" cy="6858000" type="screen4x3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0FEF9"/>
    <a:srgbClr val="CDDEFF"/>
    <a:srgbClr val="000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29184"/>
    </p:cViewPr>
  </p:sorterViewPr>
  <p:notesViewPr>
    <p:cSldViewPr>
      <p:cViewPr varScale="1">
        <p:scale>
          <a:sx n="37" d="100"/>
          <a:sy n="37" d="100"/>
        </p:scale>
        <p:origin x="-139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9850" y="92075"/>
            <a:ext cx="17018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r>
              <a:rPr lang="en-US" altLang="en-US" sz="1400">
                <a:latin typeface="Times New Roman" pitchFamily="18" charset="0"/>
              </a:rPr>
              <a:t>Elliotte Rusty Harold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69850" y="8750300"/>
            <a:ext cx="7239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fld id="{36D89A67-69D3-4BBA-8DA1-DD46C770B7D2}" type="datetime1">
              <a:rPr lang="en-US" altLang="en-US" sz="1400">
                <a:latin typeface="Times New Roman" pitchFamily="18" charset="0"/>
              </a:rPr>
              <a:pPr/>
              <a:t>8/28/2019</a:t>
            </a:fld>
            <a:endParaRPr lang="en-US" altLang="en-US" sz="1400">
              <a:latin typeface="Times New Roman" pitchFamily="18" charset="0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6400800" y="8750300"/>
            <a:ext cx="3873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pPr algn="r"/>
            <a:fld id="{370A93E9-2E5D-4968-A210-CE4812EAB617}" type="slidenum">
              <a:rPr lang="en-US" altLang="en-US" sz="1400">
                <a:latin typeface="Times New Roman" pitchFamily="18" charset="0"/>
              </a:rPr>
              <a:pPr algn="r"/>
              <a:t>‹#›</a:t>
            </a:fld>
            <a:endParaRPr lang="en-US" altLang="en-US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543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9850" y="92075"/>
            <a:ext cx="17018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r>
              <a:rPr lang="en-US" altLang="en-US" sz="1400">
                <a:latin typeface="Times New Roman" pitchFamily="18" charset="0"/>
              </a:rPr>
              <a:t>Elliotte Rusty Harold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69850" y="8750300"/>
            <a:ext cx="7239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fld id="{EC5DCFA9-E000-4F0C-93D6-3946434C8327}" type="datetime1">
              <a:rPr lang="en-US" altLang="en-US" sz="1400">
                <a:latin typeface="Times New Roman" pitchFamily="18" charset="0"/>
              </a:rPr>
              <a:pPr/>
              <a:t>8/28/2019</a:t>
            </a:fld>
            <a:endParaRPr lang="en-US" altLang="en-US" sz="1400">
              <a:latin typeface="Times New Roman" pitchFamily="18" charset="0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400800" y="8750300"/>
            <a:ext cx="3873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>
            <a:spAutoFit/>
          </a:bodyPr>
          <a:lstStyle/>
          <a:p>
            <a:pPr algn="r"/>
            <a:fld id="{0BE34EDD-26A1-4992-88F4-C8225799F543}" type="slidenum">
              <a:rPr lang="en-US" altLang="en-US" sz="1400">
                <a:latin typeface="Times New Roman" pitchFamily="18" charset="0"/>
              </a:rPr>
              <a:pPr algn="r"/>
              <a:t>‹#›</a:t>
            </a:fld>
            <a:endParaRPr lang="en-US" altLang="en-US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7747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54349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4A6E-A3F4-497C-954A-CD81E6CA07BB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04E-728D-48EF-BD90-8261C0CC97B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77676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4A6E-A3F4-497C-954A-CD81E6CA07BB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04E-728D-48EF-BD90-8261C0CC97B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6195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4A6E-A3F4-497C-954A-CD81E6CA07BB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04E-728D-48EF-BD90-8261C0CC97B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6587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4A6E-A3F4-497C-954A-CD81E6CA07BB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04E-728D-48EF-BD90-8261C0CC97B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50749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4A6E-A3F4-497C-954A-CD81E6CA07BB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04E-728D-48EF-BD90-8261C0CC97B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8528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4A6E-A3F4-497C-954A-CD81E6CA07BB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04E-728D-48EF-BD90-8261C0CC97B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2313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4A6E-A3F4-497C-954A-CD81E6CA07BB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04E-728D-48EF-BD90-8261C0CC97B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2386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4A6E-A3F4-497C-954A-CD81E6CA07BB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04E-728D-48EF-BD90-8261C0CC97B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4613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4A6E-A3F4-497C-954A-CD81E6CA07BB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04E-728D-48EF-BD90-8261C0CC97B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4695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4A6E-A3F4-497C-954A-CD81E6CA07BB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04E-728D-48EF-BD90-8261C0CC97B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717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4A6E-A3F4-497C-954A-CD81E6CA07BB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3904E-728D-48EF-BD90-8261C0CC97B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12279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34A6E-A3F4-497C-954A-CD81E6CA07BB}" type="datetimeFigureOut">
              <a:rPr lang="en-IE" smtClean="0"/>
              <a:t>28/08/2019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3904E-728D-48EF-BD90-8261C0CC97B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4583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514600"/>
            <a:ext cx="7772400" cy="1143000"/>
          </a:xfrm>
          <a:noFill/>
          <a:ln/>
        </p:spPr>
        <p:txBody>
          <a:bodyPr/>
          <a:lstStyle/>
          <a:p>
            <a:r>
              <a:rPr lang="en-US" altLang="en-US" dirty="0" err="1"/>
              <a:t>URLConnections</a:t>
            </a:r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noFill/>
          <a:ln/>
        </p:spPr>
        <p:txBody>
          <a:bodyPr/>
          <a:lstStyle/>
          <a:p>
            <a:r>
              <a:rPr lang="en-US" altLang="en-US"/>
              <a:t>URLConnections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696200" cy="4800600"/>
          </a:xfrm>
          <a:noFill/>
          <a:ln/>
        </p:spPr>
        <p:txBody>
          <a:bodyPr>
            <a:normAutofit lnSpcReduction="10000"/>
          </a:bodyPr>
          <a:lstStyle/>
          <a:p>
            <a:r>
              <a:rPr lang="en-US" altLang="en-US" dirty="0"/>
              <a:t>The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java.net.URLConnection</a:t>
            </a:r>
            <a:r>
              <a:rPr lang="en-US" altLang="en-US" dirty="0"/>
              <a:t> class </a:t>
            </a:r>
            <a:r>
              <a:rPr lang="en-US" altLang="en-US" dirty="0" smtClean="0"/>
              <a:t> </a:t>
            </a:r>
            <a:r>
              <a:rPr lang="en-US" altLang="en-US" dirty="0"/>
              <a:t>handles communication with different kinds of servers like ftp servers and web servers. </a:t>
            </a:r>
          </a:p>
          <a:p>
            <a:r>
              <a:rPr lang="en-US" altLang="en-US" dirty="0"/>
              <a:t>Protocol specific subclasses of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URLConnection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handle different kinds of </a:t>
            </a:r>
            <a:r>
              <a:rPr lang="en-US" altLang="en-US" dirty="0" smtClean="0"/>
              <a:t>servers, i.e. </a:t>
            </a:r>
            <a:r>
              <a:rPr lang="en-US" altLang="en-US" dirty="0" err="1" smtClean="0"/>
              <a:t>HttpURLConnection</a:t>
            </a:r>
            <a:r>
              <a:rPr lang="en-US" altLang="en-US" dirty="0" smtClean="0"/>
              <a:t>, </a:t>
            </a:r>
            <a:r>
              <a:rPr lang="en-US" altLang="en-US" dirty="0" err="1" smtClean="0"/>
              <a:t>FtpURLConnection</a:t>
            </a:r>
            <a:r>
              <a:rPr lang="en-US" altLang="en-US" dirty="0" smtClean="0"/>
              <a:t> etc.</a:t>
            </a:r>
            <a:endParaRPr lang="en-US" altLang="en-US" dirty="0"/>
          </a:p>
          <a:p>
            <a:r>
              <a:rPr lang="en-US" altLang="en-US" dirty="0"/>
              <a:t>By default, connections to HTTP URLs use the GET method.</a:t>
            </a:r>
          </a:p>
        </p:txBody>
      </p:sp>
    </p:spTree>
    <p:extLst>
      <p:ext uri="{BB962C8B-B14F-4D97-AF65-F5344CB8AC3E}">
        <p14:creationId xmlns:p14="http://schemas.microsoft.com/office/powerpoint/2010/main" val="40133558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dirty="0" err="1" smtClean="0"/>
              <a:t>URLConnections</a:t>
            </a:r>
            <a:endParaRPr lang="en-US" alt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Can send output as well as read input</a:t>
            </a:r>
          </a:p>
          <a:p>
            <a:r>
              <a:rPr lang="en-US" altLang="en-US"/>
              <a:t>Can post data to CGIs</a:t>
            </a:r>
          </a:p>
          <a:p>
            <a:r>
              <a:rPr lang="en-US" altLang="en-US"/>
              <a:t>Can read headers from a connection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  <a:noFill/>
          <a:ln/>
        </p:spPr>
        <p:txBody>
          <a:bodyPr/>
          <a:lstStyle/>
          <a:p>
            <a:r>
              <a:rPr lang="en-US" altLang="en-US" dirty="0" smtClean="0"/>
              <a:t>Opening </a:t>
            </a:r>
            <a:r>
              <a:rPr lang="en-US" altLang="en-US" dirty="0" err="1" smtClean="0"/>
              <a:t>URLConnection</a:t>
            </a:r>
            <a:r>
              <a:rPr lang="en-US" altLang="en-US" dirty="0" smtClean="0"/>
              <a:t> steps</a:t>
            </a:r>
            <a:r>
              <a:rPr lang="en-US" altLang="en-US" dirty="0"/>
              <a:t>: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9144000" cy="5257800"/>
          </a:xfrm>
          <a:noFill/>
          <a:ln/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altLang="en-US" dirty="0"/>
              <a:t>1. The URL is constructed.</a:t>
            </a:r>
          </a:p>
          <a:p>
            <a:pPr>
              <a:buFontTx/>
              <a:buNone/>
            </a:pPr>
            <a:r>
              <a:rPr lang="en-US" altLang="en-US" dirty="0"/>
              <a:t>2. The URL’s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openConnection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method creates the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URLConnection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object.</a:t>
            </a:r>
          </a:p>
          <a:p>
            <a:pPr>
              <a:buFontTx/>
              <a:buNone/>
            </a:pPr>
            <a:r>
              <a:rPr lang="en-US" altLang="en-US" dirty="0"/>
              <a:t>3. The parameters for the connection and the request properties that the client sends to the server are set up.</a:t>
            </a:r>
          </a:p>
          <a:p>
            <a:pPr>
              <a:buFontTx/>
              <a:buNone/>
            </a:pPr>
            <a:r>
              <a:rPr lang="en-US" altLang="en-US" dirty="0"/>
              <a:t>4. The </a:t>
            </a:r>
            <a:r>
              <a:rPr lang="en-US" altLang="en-US" dirty="0">
                <a:solidFill>
                  <a:srgbClr val="FF0000"/>
                </a:solidFill>
                <a:latin typeface="Courier" pitchFamily="49" charset="0"/>
              </a:rPr>
              <a:t>connect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method makes the connection to the server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>
              <a:buFontTx/>
              <a:buNone/>
            </a:pPr>
            <a:r>
              <a:rPr lang="en-US" altLang="en-US" dirty="0"/>
              <a:t>5. The response header information is read using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getHeaderField</a:t>
            </a:r>
            <a:r>
              <a:rPr lang="en-US" altLang="en-US" dirty="0" smtClean="0">
                <a:latin typeface="Courier" pitchFamily="49" charset="0"/>
              </a:rPr>
              <a:t>()</a:t>
            </a:r>
            <a:r>
              <a:rPr lang="en-US" altLang="en-US" dirty="0" smtClean="0"/>
              <a:t>.</a:t>
            </a:r>
          </a:p>
          <a:p>
            <a:pPr marL="0" indent="0">
              <a:buNone/>
            </a:pPr>
            <a:r>
              <a:rPr lang="en-US" altLang="en-US" dirty="0" smtClean="0"/>
              <a:t>6. Get an input stream and read data.</a:t>
            </a:r>
          </a:p>
          <a:p>
            <a:pPr marL="0" indent="0">
              <a:buNone/>
            </a:pPr>
            <a:r>
              <a:rPr lang="en-US" altLang="en-US" dirty="0" smtClean="0"/>
              <a:t>7. Get an output stream and write data.</a:t>
            </a:r>
          </a:p>
          <a:p>
            <a:pPr marL="0" indent="0">
              <a:buNone/>
            </a:pPr>
            <a:r>
              <a:rPr lang="en-US" altLang="en-US" dirty="0" smtClean="0"/>
              <a:t>8. Close the connection. </a:t>
            </a:r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  <a:noFill/>
          <a:ln/>
        </p:spPr>
        <p:txBody>
          <a:bodyPr/>
          <a:lstStyle/>
          <a:p>
            <a:r>
              <a:rPr lang="en-US" altLang="en-US"/>
              <a:t>I/O Across a URLConnection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696200" cy="4724400"/>
          </a:xfrm>
          <a:noFill/>
          <a:ln/>
        </p:spPr>
        <p:txBody>
          <a:bodyPr/>
          <a:lstStyle/>
          <a:p>
            <a:r>
              <a:rPr lang="en-US" altLang="en-US" dirty="0"/>
              <a:t>Data may be read from the connection in one of two ways</a:t>
            </a:r>
          </a:p>
          <a:p>
            <a:pPr lvl="1"/>
            <a:r>
              <a:rPr lang="en-US" altLang="en-US" dirty="0"/>
              <a:t>raw by using the input stream returned by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getInputStream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through a content handler with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getContent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. </a:t>
            </a:r>
          </a:p>
          <a:p>
            <a:r>
              <a:rPr lang="en-US" altLang="en-US" dirty="0"/>
              <a:t>Data can be sent to the server using the output stream provided by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getOutputStream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For example, 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534988" y="1830388"/>
            <a:ext cx="7800975" cy="2527300"/>
          </a:xfrm>
          <a:noFill/>
          <a:ln/>
        </p:spPr>
        <p:txBody>
          <a:bodyPr wrap="none">
            <a:spAutoFit/>
          </a:bodyPr>
          <a:lstStyle/>
          <a:p>
            <a:pPr lvl="2"/>
            <a:r>
              <a:rPr lang="en-US" altLang="en-US" dirty="0"/>
              <a:t>  try { </a:t>
            </a:r>
          </a:p>
          <a:p>
            <a:pPr lvl="2"/>
            <a:r>
              <a:rPr lang="en-US" altLang="en-US" dirty="0"/>
              <a:t>    URL u = new URL("http://www.sd99.com/");</a:t>
            </a:r>
          </a:p>
          <a:p>
            <a:pPr lvl="2"/>
            <a:r>
              <a:rPr lang="en-US" altLang="en-US" dirty="0"/>
              <a:t>    </a:t>
            </a:r>
            <a:r>
              <a:rPr lang="en-US" altLang="en-US" dirty="0" err="1"/>
              <a:t>URLConnection</a:t>
            </a:r>
            <a:r>
              <a:rPr lang="en-US" altLang="en-US" dirty="0"/>
              <a:t> </a:t>
            </a:r>
            <a:r>
              <a:rPr lang="en-US" altLang="en-US" dirty="0" err="1"/>
              <a:t>uc</a:t>
            </a:r>
            <a:r>
              <a:rPr lang="en-US" altLang="en-US" dirty="0"/>
              <a:t> = </a:t>
            </a:r>
            <a:r>
              <a:rPr lang="en-US" altLang="en-US" dirty="0" err="1"/>
              <a:t>u.openConnection</a:t>
            </a:r>
            <a:r>
              <a:rPr lang="en-US" altLang="en-US" dirty="0"/>
              <a:t>();</a:t>
            </a:r>
          </a:p>
          <a:p>
            <a:pPr lvl="2"/>
            <a:r>
              <a:rPr lang="en-US" altLang="en-US" dirty="0"/>
              <a:t>    </a:t>
            </a:r>
            <a:r>
              <a:rPr lang="en-US" altLang="en-US" dirty="0" err="1"/>
              <a:t>uc.connect</a:t>
            </a:r>
            <a:r>
              <a:rPr lang="en-US" altLang="en-US" dirty="0"/>
              <a:t>(); </a:t>
            </a:r>
          </a:p>
          <a:p>
            <a:pPr lvl="2"/>
            <a:r>
              <a:rPr lang="en-US" altLang="en-US" dirty="0"/>
              <a:t>    </a:t>
            </a:r>
            <a:r>
              <a:rPr lang="en-US" altLang="en-US" dirty="0" err="1"/>
              <a:t>InputStream</a:t>
            </a:r>
            <a:r>
              <a:rPr lang="en-US" altLang="en-US" dirty="0"/>
              <a:t> in = </a:t>
            </a:r>
            <a:r>
              <a:rPr lang="en-US" altLang="en-US" dirty="0" err="1"/>
              <a:t>uc.getInputStream</a:t>
            </a:r>
            <a:r>
              <a:rPr lang="en-US" altLang="en-US" dirty="0"/>
              <a:t>();</a:t>
            </a:r>
          </a:p>
          <a:p>
            <a:pPr lvl="2"/>
            <a:r>
              <a:rPr lang="en-US" altLang="en-US" dirty="0"/>
              <a:t>    // read the data...</a:t>
            </a:r>
          </a:p>
          <a:p>
            <a:pPr lvl="2"/>
            <a:r>
              <a:rPr lang="en-US" altLang="en-US" dirty="0"/>
              <a:t>  }</a:t>
            </a:r>
          </a:p>
          <a:p>
            <a:pPr lvl="2"/>
            <a:r>
              <a:rPr lang="en-US" altLang="en-US" dirty="0"/>
              <a:t>  catch (</a:t>
            </a:r>
            <a:r>
              <a:rPr lang="en-US" altLang="en-US" dirty="0" err="1"/>
              <a:t>IOException</a:t>
            </a:r>
            <a:r>
              <a:rPr lang="en-US" altLang="en-US" dirty="0"/>
              <a:t> e) { //...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IE" b="0" i="1" dirty="0"/>
              <a:t>Download a web page with a </a:t>
            </a:r>
            <a:r>
              <a:rPr lang="en-IE" b="0" i="1" dirty="0" err="1"/>
              <a:t>URLConnection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686800" cy="4724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1400" b="1" dirty="0" smtClean="0">
                <a:solidFill>
                  <a:srgbClr val="00CDFF"/>
                </a:solidFill>
                <a:latin typeface="UbuntuMono-Bold"/>
              </a:rPr>
              <a:t>java.io.*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1400" b="1" dirty="0" smtClean="0">
                <a:solidFill>
                  <a:srgbClr val="00CDFF"/>
                </a:solidFill>
                <a:latin typeface="UbuntuMono-Bold"/>
              </a:rPr>
              <a:t>java.net.*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public class </a:t>
            </a:r>
            <a:r>
              <a:rPr lang="en-IE" sz="1400" b="1" dirty="0" smtClean="0">
                <a:solidFill>
                  <a:srgbClr val="00AB89"/>
                </a:solidFill>
                <a:latin typeface="UbuntuMono-Bold"/>
              </a:rPr>
              <a:t>SourceViewer2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public static </a:t>
            </a:r>
            <a:r>
              <a:rPr lang="en-IE" sz="1400" b="1" dirty="0" smtClean="0">
                <a:solidFill>
                  <a:srgbClr val="007789"/>
                </a:solidFill>
                <a:latin typeface="UbuntuMono-Bold"/>
              </a:rPr>
              <a:t>void </a:t>
            </a:r>
            <a:r>
              <a:rPr lang="en-IE" sz="1400" b="1" dirty="0" smtClean="0">
                <a:solidFill>
                  <a:srgbClr val="CD00FF"/>
                </a:solidFill>
                <a:latin typeface="UbuntuMono-Regular"/>
              </a:rPr>
              <a:t>main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String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[] 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args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	try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		URL u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URL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“http://www.qau.edu.pk”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		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URLConnection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uc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u</a:t>
            </a:r>
            <a:r>
              <a:rPr lang="en-IE" sz="14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b="1" dirty="0" err="1" smtClean="0">
                <a:solidFill>
                  <a:srgbClr val="33009A"/>
                </a:solidFill>
                <a:latin typeface="UbuntuMono-Regular"/>
              </a:rPr>
              <a:t>openConnection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		try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InputStream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 raw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uc</a:t>
            </a:r>
            <a:r>
              <a:rPr lang="en-IE" sz="14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b="1" dirty="0" err="1" smtClean="0">
                <a:solidFill>
                  <a:srgbClr val="33009A"/>
                </a:solidFill>
                <a:latin typeface="UbuntuMono-Regular"/>
              </a:rPr>
              <a:t>getInputStream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()) { </a:t>
            </a:r>
            <a:r>
              <a:rPr lang="en-IE" sz="1400" b="1" i="1" dirty="0" smtClean="0">
                <a:solidFill>
                  <a:srgbClr val="35586C"/>
                </a:solidFill>
                <a:latin typeface="UbuntuMono-Italic"/>
              </a:rPr>
              <a:t>// </a:t>
            </a:r>
            <a:r>
              <a:rPr lang="en-IE" sz="1400" b="1" i="1" dirty="0" err="1" smtClean="0">
                <a:solidFill>
                  <a:srgbClr val="35586C"/>
                </a:solidFill>
                <a:latin typeface="UbuntuMono-Italic"/>
              </a:rPr>
              <a:t>autoclose</a:t>
            </a:r>
            <a:endParaRPr lang="en-IE" sz="1400" b="1" i="1" dirty="0" smtClean="0">
              <a:solidFill>
                <a:srgbClr val="35586C"/>
              </a:solidFill>
              <a:latin typeface="UbuntuMono-Italic"/>
            </a:endParaRP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			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InputStream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 buffer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BufferedInputStream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raw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400" b="1" i="1" dirty="0" smtClean="0">
                <a:solidFill>
                  <a:srgbClr val="35586C"/>
                </a:solidFill>
                <a:latin typeface="UbuntuMono-Italic"/>
              </a:rPr>
              <a:t>			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Reader 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reader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InputStreamReader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buffer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7789"/>
                </a:solidFill>
                <a:latin typeface="UbuntuMono-Bold"/>
              </a:rPr>
              <a:t>			</a:t>
            </a:r>
            <a:r>
              <a:rPr lang="en-IE" sz="1400" b="1" dirty="0" err="1" smtClean="0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1400" b="1" dirty="0" smtClean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c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			while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((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c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reader</a:t>
            </a:r>
            <a:r>
              <a:rPr lang="en-IE" sz="14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b="1" dirty="0" err="1" smtClean="0">
                <a:solidFill>
                  <a:srgbClr val="33009A"/>
                </a:solidFill>
                <a:latin typeface="UbuntuMono-Regular"/>
              </a:rPr>
              <a:t>read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()) != -</a:t>
            </a:r>
            <a:r>
              <a:rPr lang="en-IE" sz="1400" b="1" dirty="0" smtClean="0">
                <a:solidFill>
                  <a:srgbClr val="FF6600"/>
                </a:solidFill>
                <a:latin typeface="UbuntuMono-Regular"/>
              </a:rPr>
              <a:t>1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				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14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b="1" dirty="0" err="1" smtClean="0">
                <a:solidFill>
                  <a:srgbClr val="33009A"/>
                </a:solidFill>
                <a:latin typeface="UbuntuMono-Regular"/>
              </a:rPr>
              <a:t>out</a:t>
            </a:r>
            <a:r>
              <a:rPr lang="en-IE" sz="14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b="1" dirty="0" err="1" smtClean="0">
                <a:solidFill>
                  <a:srgbClr val="33009A"/>
                </a:solidFill>
                <a:latin typeface="UbuntuMono-Regular"/>
              </a:rPr>
              <a:t>print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((</a:t>
            </a:r>
            <a:r>
              <a:rPr lang="en-IE" sz="1400" b="1" dirty="0" smtClean="0">
                <a:solidFill>
                  <a:srgbClr val="007789"/>
                </a:solidFill>
                <a:latin typeface="UbuntuMono-Bold"/>
              </a:rPr>
              <a:t>char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) 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c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			}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		}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		} </a:t>
            </a: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MalformedURLException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			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14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b="1" dirty="0" err="1" smtClean="0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14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b="1" dirty="0" err="1" smtClean="0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 </a:t>
            </a:r>
            <a:r>
              <a:rPr lang="en-IE" sz="1400" b="1" dirty="0" smtClean="0">
                <a:solidFill>
                  <a:srgbClr val="CD3300"/>
                </a:solidFill>
                <a:latin typeface="UbuntuMono-Regular"/>
              </a:rPr>
              <a:t>" is not a </a:t>
            </a:r>
            <a:r>
              <a:rPr lang="en-IE" sz="1400" b="1" dirty="0" err="1" smtClean="0">
                <a:solidFill>
                  <a:srgbClr val="CD3300"/>
                </a:solidFill>
                <a:latin typeface="UbuntuMono-Regular"/>
              </a:rPr>
              <a:t>parseable</a:t>
            </a:r>
            <a:r>
              <a:rPr lang="en-IE" sz="1400" b="1" dirty="0" smtClean="0">
                <a:solidFill>
                  <a:srgbClr val="CD3300"/>
                </a:solidFill>
                <a:latin typeface="UbuntuMono-Regular"/>
              </a:rPr>
              <a:t> URL"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	} </a:t>
            </a:r>
            <a:r>
              <a:rPr lang="en-IE" sz="1400" b="1" dirty="0" smtClean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		</a:t>
            </a:r>
            <a:r>
              <a:rPr lang="en-IE" sz="1400" b="1" dirty="0" err="1" smtClean="0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14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b="1" dirty="0" err="1" smtClean="0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14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400" b="1" dirty="0" err="1" smtClean="0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400" b="1" dirty="0" smtClean="0">
                <a:solidFill>
                  <a:srgbClr val="000089"/>
                </a:solidFill>
                <a:latin typeface="UbuntuMono-Regular"/>
              </a:rPr>
              <a:t>ex</a:t>
            </a: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400" b="1" dirty="0" smtClean="0">
                <a:solidFill>
                  <a:srgbClr val="555555"/>
                </a:solidFill>
                <a:latin typeface="UbuntuMono-Regular"/>
              </a:rPr>
              <a:t>}}}</a:t>
            </a:r>
            <a:endParaRPr lang="en-IE" sz="1400" b="1" dirty="0"/>
          </a:p>
        </p:txBody>
      </p:sp>
    </p:spTree>
    <p:extLst>
      <p:ext uri="{BB962C8B-B14F-4D97-AF65-F5344CB8AC3E}">
        <p14:creationId xmlns:p14="http://schemas.microsoft.com/office/powerpoint/2010/main" val="392494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IE" b="0" i="1" dirty="0"/>
              <a:t>Download a web page with the correct character set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105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E" sz="1300" b="1" dirty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1300" b="1" dirty="0">
                <a:solidFill>
                  <a:srgbClr val="00CDFF"/>
                </a:solidFill>
                <a:latin typeface="UbuntuMono-Bold"/>
              </a:rPr>
              <a:t>java.io</a:t>
            </a:r>
            <a:r>
              <a:rPr lang="en-IE" sz="1300" b="1" dirty="0" smtClean="0">
                <a:solidFill>
                  <a:srgbClr val="00CDFF"/>
                </a:solidFill>
                <a:latin typeface="UbuntuMono-Bold"/>
              </a:rPr>
              <a:t>.*</a:t>
            </a: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; </a:t>
            </a:r>
            <a:r>
              <a:rPr lang="en-IE" sz="1300" b="1" dirty="0" smtClean="0">
                <a:solidFill>
                  <a:srgbClr val="00669A"/>
                </a:solidFill>
                <a:latin typeface="UbuntuMono-Bold"/>
              </a:rPr>
              <a:t>import </a:t>
            </a:r>
            <a:r>
              <a:rPr lang="en-IE" sz="1300" b="1" dirty="0">
                <a:solidFill>
                  <a:srgbClr val="00CDFF"/>
                </a:solidFill>
                <a:latin typeface="UbuntuMono-Bold"/>
              </a:rPr>
              <a:t>java.net.*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1300" b="1" dirty="0">
                <a:solidFill>
                  <a:srgbClr val="00669A"/>
                </a:solidFill>
                <a:latin typeface="UbuntuMono-Bold"/>
              </a:rPr>
              <a:t>public class </a:t>
            </a:r>
            <a:r>
              <a:rPr lang="en-IE" sz="1300" b="1" dirty="0" err="1">
                <a:solidFill>
                  <a:srgbClr val="00AB89"/>
                </a:solidFill>
                <a:latin typeface="UbuntuMono-Bold"/>
              </a:rPr>
              <a:t>EncodingAwareSourceViewer</a:t>
            </a:r>
            <a:r>
              <a:rPr lang="en-IE" sz="1300" b="1" dirty="0">
                <a:solidFill>
                  <a:srgbClr val="00AB89"/>
                </a:solidFill>
                <a:latin typeface="UbuntuMono-Bold"/>
              </a:rPr>
              <a:t>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1300" b="1" dirty="0">
                <a:solidFill>
                  <a:srgbClr val="00669A"/>
                </a:solidFill>
                <a:latin typeface="UbuntuMono-Bold"/>
              </a:rPr>
              <a:t>public static </a:t>
            </a:r>
            <a:r>
              <a:rPr lang="en-IE" sz="1300" b="1" dirty="0">
                <a:solidFill>
                  <a:srgbClr val="007789"/>
                </a:solidFill>
                <a:latin typeface="UbuntuMono-Bold"/>
              </a:rPr>
              <a:t>void </a:t>
            </a:r>
            <a:r>
              <a:rPr lang="en-IE" sz="1300" b="1" dirty="0">
                <a:solidFill>
                  <a:srgbClr val="CD00FF"/>
                </a:solidFill>
                <a:latin typeface="UbuntuMono-Regular"/>
              </a:rPr>
              <a:t>main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String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[] 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args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300" b="1" dirty="0">
                <a:solidFill>
                  <a:srgbClr val="00669A"/>
                </a:solidFill>
                <a:latin typeface="UbuntuMono-Bold"/>
              </a:rPr>
              <a:t>	</a:t>
            </a:r>
            <a:r>
              <a:rPr lang="en-IE" sz="1300" b="1" dirty="0" smtClean="0">
                <a:solidFill>
                  <a:srgbClr val="00669A"/>
                </a:solidFill>
                <a:latin typeface="UbuntuMono-Bold"/>
              </a:rPr>
              <a:t>try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		String 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encoding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300" b="1" dirty="0">
                <a:solidFill>
                  <a:srgbClr val="CD3300"/>
                </a:solidFill>
                <a:latin typeface="UbuntuMono-Regular"/>
              </a:rPr>
              <a:t>"ISO-8859-1</a:t>
            </a:r>
            <a:r>
              <a:rPr lang="en-IE" sz="1300" b="1" dirty="0" smtClean="0">
                <a:solidFill>
                  <a:srgbClr val="CD3300"/>
                </a:solidFill>
                <a:latin typeface="UbuntuMono-Regular"/>
              </a:rPr>
              <a:t>"</a:t>
            </a: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; </a:t>
            </a:r>
            <a:r>
              <a:rPr lang="en-IE" sz="1300" b="1" dirty="0" err="1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1300" b="1" dirty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c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;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		URL 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u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3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URL</a:t>
            </a: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“http://www.google.com”</a:t>
            </a: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);</a:t>
            </a:r>
            <a:endParaRPr lang="en-IE" sz="1300" b="1" dirty="0">
              <a:solidFill>
                <a:srgbClr val="555555"/>
              </a:solidFill>
              <a:latin typeface="UbuntuMono-Regular"/>
            </a:endParaRP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		</a:t>
            </a:r>
            <a:r>
              <a:rPr lang="en-IE" sz="1300" b="1" dirty="0" err="1" smtClean="0">
                <a:solidFill>
                  <a:srgbClr val="000089"/>
                </a:solidFill>
                <a:latin typeface="UbuntuMono-Regular"/>
              </a:rPr>
              <a:t>URLConnection</a:t>
            </a: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uc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u</a:t>
            </a:r>
            <a:r>
              <a:rPr lang="en-IE" sz="1300" b="1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>
                <a:solidFill>
                  <a:srgbClr val="33009A"/>
                </a:solidFill>
                <a:latin typeface="UbuntuMono-Regular"/>
              </a:rPr>
              <a:t>openConnection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		String 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contentType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300" b="1" dirty="0" err="1" smtClean="0">
                <a:solidFill>
                  <a:srgbClr val="000089"/>
                </a:solidFill>
                <a:latin typeface="UbuntuMono-Regular"/>
              </a:rPr>
              <a:t>uc</a:t>
            </a:r>
            <a:r>
              <a:rPr lang="en-IE" sz="13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 smtClean="0">
                <a:solidFill>
                  <a:srgbClr val="33009A"/>
                </a:solidFill>
                <a:latin typeface="UbuntuMono-Regular"/>
              </a:rPr>
              <a:t>getContentType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7789"/>
                </a:solidFill>
                <a:latin typeface="UbuntuMono-Bold"/>
              </a:rPr>
              <a:t>		</a:t>
            </a:r>
            <a:r>
              <a:rPr lang="en-IE" sz="1300" b="1" dirty="0" err="1" smtClean="0">
                <a:solidFill>
                  <a:srgbClr val="007789"/>
                </a:solidFill>
                <a:latin typeface="UbuntuMono-Bold"/>
              </a:rPr>
              <a:t>int</a:t>
            </a:r>
            <a:r>
              <a:rPr lang="en-IE" sz="1300" b="1" dirty="0" smtClean="0">
                <a:solidFill>
                  <a:srgbClr val="007789"/>
                </a:solidFill>
                <a:latin typeface="UbuntuMono-Bold"/>
              </a:rPr>
              <a:t> 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encodingStart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contentType</a:t>
            </a:r>
            <a:r>
              <a:rPr lang="en-IE" sz="1300" b="1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>
                <a:solidFill>
                  <a:srgbClr val="33009A"/>
                </a:solidFill>
                <a:latin typeface="UbuntuMono-Regular"/>
              </a:rPr>
              <a:t>indexOf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>
                <a:solidFill>
                  <a:srgbClr val="CD3300"/>
                </a:solidFill>
                <a:latin typeface="UbuntuMono-Regular"/>
              </a:rPr>
              <a:t>"charset="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669A"/>
                </a:solidFill>
                <a:latin typeface="UbuntuMono-Bold"/>
              </a:rPr>
              <a:t>		if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encodingStart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!= -</a:t>
            </a:r>
            <a:r>
              <a:rPr lang="en-IE" sz="1300" b="1" dirty="0">
                <a:solidFill>
                  <a:srgbClr val="FF6600"/>
                </a:solidFill>
                <a:latin typeface="UbuntuMono-Regular"/>
              </a:rPr>
              <a:t>1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			encoding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contentType</a:t>
            </a:r>
            <a:r>
              <a:rPr lang="en-IE" sz="1300" b="1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>
                <a:solidFill>
                  <a:srgbClr val="33009A"/>
                </a:solidFill>
                <a:latin typeface="UbuntuMono-Regular"/>
              </a:rPr>
              <a:t>substring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encodingStart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1300" b="1" dirty="0">
                <a:solidFill>
                  <a:srgbClr val="FF6600"/>
                </a:solidFill>
                <a:latin typeface="UbuntuMono-Regular"/>
              </a:rPr>
              <a:t>8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		}</a:t>
            </a:r>
            <a:endParaRPr lang="en-IE" sz="1300" b="1" dirty="0">
              <a:solidFill>
                <a:srgbClr val="555555"/>
              </a:solidFill>
              <a:latin typeface="UbuntuMono-Regular"/>
            </a:endParaRP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		</a:t>
            </a:r>
            <a:r>
              <a:rPr lang="en-IE" sz="1300" b="1" dirty="0" err="1" smtClean="0">
                <a:solidFill>
                  <a:srgbClr val="000089"/>
                </a:solidFill>
                <a:latin typeface="UbuntuMono-Regular"/>
              </a:rPr>
              <a:t>InputStream</a:t>
            </a: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in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3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BufferedInputStream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uc</a:t>
            </a:r>
            <a:r>
              <a:rPr lang="en-IE" sz="1300" b="1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>
                <a:solidFill>
                  <a:srgbClr val="33009A"/>
                </a:solidFill>
                <a:latin typeface="UbuntuMono-Regular"/>
              </a:rPr>
              <a:t>getInputStream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());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		Reader 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r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3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InputStreamReader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in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encoding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669A"/>
                </a:solidFill>
                <a:latin typeface="UbuntuMono-Bold"/>
              </a:rPr>
              <a:t>		while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((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c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r</a:t>
            </a:r>
            <a:r>
              <a:rPr lang="en-IE" sz="1300" b="1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>
                <a:solidFill>
                  <a:srgbClr val="33009A"/>
                </a:solidFill>
                <a:latin typeface="UbuntuMono-Regular"/>
              </a:rPr>
              <a:t>read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()) != -</a:t>
            </a:r>
            <a:r>
              <a:rPr lang="en-IE" sz="1300" b="1" dirty="0">
                <a:solidFill>
                  <a:srgbClr val="FF6600"/>
                </a:solidFill>
                <a:latin typeface="UbuntuMono-Regular"/>
              </a:rPr>
              <a:t>1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			</a:t>
            </a:r>
            <a:r>
              <a:rPr lang="en-IE" sz="1300" b="1" dirty="0" err="1" smtClean="0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13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 smtClean="0">
                <a:solidFill>
                  <a:srgbClr val="33009A"/>
                </a:solidFill>
                <a:latin typeface="UbuntuMono-Regular"/>
              </a:rPr>
              <a:t>out</a:t>
            </a:r>
            <a:r>
              <a:rPr lang="en-IE" sz="13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 smtClean="0">
                <a:solidFill>
                  <a:srgbClr val="33009A"/>
                </a:solidFill>
                <a:latin typeface="UbuntuMono-Regular"/>
              </a:rPr>
              <a:t>print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((</a:t>
            </a:r>
            <a:r>
              <a:rPr lang="en-IE" sz="1300" b="1" dirty="0">
                <a:solidFill>
                  <a:srgbClr val="007789"/>
                </a:solidFill>
                <a:latin typeface="UbuntuMono-Bold"/>
              </a:rPr>
              <a:t>char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 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c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		}</a:t>
            </a:r>
            <a:endParaRPr lang="en-IE" sz="1300" b="1" dirty="0">
              <a:solidFill>
                <a:srgbClr val="555555"/>
              </a:solidFill>
              <a:latin typeface="UbuntuMono-Regular"/>
            </a:endParaRP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		</a:t>
            </a:r>
            <a:r>
              <a:rPr lang="en-IE" sz="1300" b="1" dirty="0" err="1" smtClean="0">
                <a:solidFill>
                  <a:srgbClr val="000089"/>
                </a:solidFill>
                <a:latin typeface="UbuntuMono-Regular"/>
              </a:rPr>
              <a:t>r</a:t>
            </a:r>
            <a:r>
              <a:rPr lang="en-IE" sz="13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 smtClean="0">
                <a:solidFill>
                  <a:srgbClr val="33009A"/>
                </a:solidFill>
                <a:latin typeface="UbuntuMono-Regular"/>
              </a:rPr>
              <a:t>close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	} </a:t>
            </a:r>
            <a:r>
              <a:rPr lang="en-IE" sz="13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MalformedURLException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		</a:t>
            </a:r>
            <a:r>
              <a:rPr lang="en-IE" sz="1300" b="1" dirty="0" err="1" smtClean="0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13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 smtClean="0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13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 smtClean="0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 err="1" smtClean="0">
                <a:solidFill>
                  <a:srgbClr val="000089"/>
                </a:solidFill>
                <a:latin typeface="UbuntuMono-Regular"/>
              </a:rPr>
              <a:t>args</a:t>
            </a: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[</a:t>
            </a:r>
            <a:r>
              <a:rPr lang="en-IE" sz="1300" b="1" dirty="0" smtClean="0">
                <a:solidFill>
                  <a:srgbClr val="FF6600"/>
                </a:solidFill>
                <a:latin typeface="UbuntuMono-Regular"/>
              </a:rPr>
              <a:t>0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] + </a:t>
            </a:r>
            <a:r>
              <a:rPr lang="en-IE" sz="1300" b="1" dirty="0">
                <a:solidFill>
                  <a:srgbClr val="CD3300"/>
                </a:solidFill>
                <a:latin typeface="UbuntuMono-Regular"/>
              </a:rPr>
              <a:t>" is not a </a:t>
            </a:r>
            <a:r>
              <a:rPr lang="en-IE" sz="1300" b="1" dirty="0" err="1">
                <a:solidFill>
                  <a:srgbClr val="CD3300"/>
                </a:solidFill>
                <a:latin typeface="UbuntuMono-Regular"/>
              </a:rPr>
              <a:t>parseable</a:t>
            </a:r>
            <a:r>
              <a:rPr lang="en-IE" sz="1300" b="1" dirty="0">
                <a:solidFill>
                  <a:srgbClr val="CD3300"/>
                </a:solidFill>
                <a:latin typeface="UbuntuMono-Regular"/>
              </a:rPr>
              <a:t> URL"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	} </a:t>
            </a:r>
            <a:r>
              <a:rPr lang="en-IE" sz="13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UnsupportedEncodingException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		</a:t>
            </a:r>
            <a:r>
              <a:rPr lang="en-IE" sz="1300" b="1" dirty="0" err="1" smtClean="0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13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 smtClean="0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13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 smtClean="0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 smtClean="0">
                <a:solidFill>
                  <a:srgbClr val="CD3300"/>
                </a:solidFill>
                <a:latin typeface="UbuntuMono-Regular"/>
              </a:rPr>
              <a:t>"</a:t>
            </a:r>
            <a:r>
              <a:rPr lang="en-IE" sz="1300" b="1" dirty="0">
                <a:solidFill>
                  <a:srgbClr val="CD3300"/>
                </a:solidFill>
                <a:latin typeface="UbuntuMono-Regular"/>
              </a:rPr>
              <a:t>Server sent an encoding Java does not support: " </a:t>
            </a: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+ </a:t>
            </a:r>
            <a:r>
              <a:rPr lang="en-IE" sz="1300" b="1" dirty="0" err="1" smtClean="0">
                <a:solidFill>
                  <a:srgbClr val="000089"/>
                </a:solidFill>
                <a:latin typeface="UbuntuMono-Regular"/>
              </a:rPr>
              <a:t>ex</a:t>
            </a:r>
            <a:r>
              <a:rPr lang="en-IE" sz="13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 smtClean="0">
                <a:solidFill>
                  <a:srgbClr val="33009A"/>
                </a:solidFill>
                <a:latin typeface="UbuntuMono-Regular"/>
              </a:rPr>
              <a:t>getMessage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());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	} </a:t>
            </a:r>
            <a:r>
              <a:rPr lang="en-IE" sz="13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 err="1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sz="1300" b="1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		</a:t>
            </a:r>
            <a:r>
              <a:rPr lang="en-IE" sz="1300" b="1" dirty="0" err="1" smtClean="0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13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 smtClean="0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1300" b="1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300" b="1" dirty="0" err="1" smtClean="0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300" b="1" dirty="0" smtClean="0">
                <a:solidFill>
                  <a:srgbClr val="000089"/>
                </a:solidFill>
                <a:latin typeface="UbuntuMono-Regular"/>
              </a:rPr>
              <a:t>ex</a:t>
            </a:r>
            <a:r>
              <a:rPr lang="en-IE" sz="1300" b="1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300" b="1" dirty="0" smtClean="0">
                <a:solidFill>
                  <a:srgbClr val="555555"/>
                </a:solidFill>
                <a:latin typeface="UbuntuMono-Regular"/>
              </a:rPr>
              <a:t>}}}</a:t>
            </a:r>
            <a:endParaRPr lang="en-IE" sz="1300" b="1" dirty="0"/>
          </a:p>
        </p:txBody>
      </p:sp>
    </p:spTree>
    <p:extLst>
      <p:ext uri="{BB962C8B-B14F-4D97-AF65-F5344CB8AC3E}">
        <p14:creationId xmlns:p14="http://schemas.microsoft.com/office/powerpoint/2010/main" val="389171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152400"/>
            <a:ext cx="8534400" cy="838200"/>
          </a:xfrm>
          <a:noFill/>
          <a:ln/>
        </p:spPr>
        <p:txBody>
          <a:bodyPr>
            <a:noAutofit/>
          </a:bodyPr>
          <a:lstStyle/>
          <a:p>
            <a:r>
              <a:rPr lang="en-IE" sz="2400" i="1" dirty="0"/>
              <a:t>Downloading a binary file from a website and saving it to disk</a:t>
            </a:r>
            <a:endParaRPr lang="en-US" altLang="en-US" sz="2400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0" y="457200"/>
            <a:ext cx="9144000" cy="5715000"/>
          </a:xfrm>
          <a:noFill/>
          <a:ln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import 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java.io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.*;import 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java.net.*;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public class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BinarySaver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public static void main (String[]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{ try 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URL root = new URL("http://qau.edu.pk/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wp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-content/uploads/2015/02/libqau.jpg");</a:t>
            </a:r>
          </a:p>
          <a:p>
            <a:pPr marL="0" indent="0">
              <a:buNone/>
            </a:pP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saveBinaryFile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(root);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} catch (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MalformedURLException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ex) {</a:t>
            </a:r>
          </a:p>
          <a:p>
            <a:pPr marL="0" indent="0">
              <a:buNone/>
            </a:pP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System.err.println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(" is not URL I understand.");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} catch (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ex) {</a:t>
            </a:r>
          </a:p>
          <a:p>
            <a:pPr marL="0" indent="0">
              <a:buNone/>
            </a:pP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System.err.println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(ex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);}}</a:t>
            </a:r>
            <a:endParaRPr lang="en-IE" sz="1100" b="1" i="1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public 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static void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saveBinaryFile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(URL u) throws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URLConnection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uc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u.openConnection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String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contentType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uc.getContentType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contentLength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uc.getContentLength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if (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contentType.startsWith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("text/") ||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contentLength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== -1 ) {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throw new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("This is not a binary file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."); }</a:t>
            </a:r>
            <a:endParaRPr lang="en-IE" sz="1100" b="1" i="1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try (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InputStream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raw =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uc.getInputStream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()) {</a:t>
            </a:r>
          </a:p>
          <a:p>
            <a:pPr marL="0" indent="0">
              <a:buNone/>
            </a:pP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InputStream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in = new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BufferedInputStream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(raw);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byte[] data = new byte[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contentLength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];</a:t>
            </a:r>
          </a:p>
          <a:p>
            <a:pPr marL="0" indent="0">
              <a:buNone/>
            </a:pP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offset = 0;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while (offset &lt;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contentLength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{ </a:t>
            </a:r>
            <a:endParaRPr lang="en-IE" sz="1100" b="1" i="1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bytesRead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in.read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(data, offset,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data.length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- offset);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if (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bytesRead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== -1) break;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offset +=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bytesRead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; }</a:t>
            </a:r>
            <a:endParaRPr lang="en-IE" sz="1100" b="1" i="1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if (offset !=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contentLength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throw new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("Only read " + offset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+ " bytes; Expected " +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contentLength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+ " bytes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"); }</a:t>
            </a:r>
            <a:endParaRPr lang="en-IE" sz="1100" b="1" i="1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String filename =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u.getFile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filename =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filename.substring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filename.lastIndexOf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('/') + 1);</a:t>
            </a:r>
          </a:p>
          <a:p>
            <a:pPr marL="0" indent="0">
              <a:buNone/>
            </a:pP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try (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fout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 = new </a:t>
            </a: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(filename)) {</a:t>
            </a:r>
          </a:p>
          <a:p>
            <a:pPr marL="0" indent="0">
              <a:buNone/>
            </a:pP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fout.write</a:t>
            </a:r>
            <a:r>
              <a:rPr lang="en-IE" sz="1100" b="1" i="1" dirty="0">
                <a:solidFill>
                  <a:srgbClr val="000000"/>
                </a:solidFill>
                <a:latin typeface="Consolas"/>
              </a:rPr>
              <a:t>(data);</a:t>
            </a:r>
          </a:p>
          <a:p>
            <a:pPr marL="0" indent="0">
              <a:buNone/>
            </a:pPr>
            <a:r>
              <a:rPr lang="en-IE" sz="1100" b="1" i="1" dirty="0" err="1">
                <a:solidFill>
                  <a:srgbClr val="000000"/>
                </a:solidFill>
                <a:latin typeface="Consolas"/>
              </a:rPr>
              <a:t>fout.flush</a:t>
            </a:r>
            <a:r>
              <a:rPr lang="en-IE" sz="1100" b="1" i="1" dirty="0" smtClean="0">
                <a:solidFill>
                  <a:srgbClr val="000000"/>
                </a:solidFill>
                <a:latin typeface="Consolas"/>
              </a:rPr>
              <a:t>();}}}}</a:t>
            </a:r>
            <a:endParaRPr lang="en-IE" sz="1100" b="1" i="1" dirty="0">
              <a:solidFill>
                <a:srgbClr val="000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058860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Reading Header Data 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458200" cy="4114800"/>
          </a:xfrm>
          <a:noFill/>
          <a:ln/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getHeaderField</a:t>
            </a:r>
            <a:r>
              <a:rPr lang="en-US" altLang="en-US" dirty="0">
                <a:solidFill>
                  <a:srgbClr val="FF0000"/>
                </a:solidFill>
                <a:latin typeface="Courier" pitchFamily="49" charset="0"/>
              </a:rPr>
              <a:t>(String name)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method returns the string value of a named header field. </a:t>
            </a:r>
          </a:p>
          <a:p>
            <a:r>
              <a:rPr lang="en-US" altLang="en-US" dirty="0"/>
              <a:t>Names are case-insensitive. </a:t>
            </a:r>
          </a:p>
          <a:p>
            <a:r>
              <a:rPr lang="en-US" altLang="en-US" dirty="0"/>
              <a:t>If the requested field is not present, </a:t>
            </a:r>
            <a:r>
              <a:rPr lang="en-US" altLang="en-US" dirty="0">
                <a:latin typeface="Courier" pitchFamily="49" charset="0"/>
              </a:rPr>
              <a:t>null</a:t>
            </a:r>
            <a:r>
              <a:rPr lang="en-US" altLang="en-US" dirty="0"/>
              <a:t> is returned. </a:t>
            </a:r>
          </a:p>
          <a:p>
            <a:pPr lvl="1">
              <a:buFont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" pitchFamily="49" charset="0"/>
              </a:rPr>
              <a:t>String lm = </a:t>
            </a:r>
            <a:r>
              <a:rPr lang="en-US" altLang="en-US" sz="2000" b="1" dirty="0" err="1">
                <a:solidFill>
                  <a:srgbClr val="FF0000"/>
                </a:solidFill>
                <a:latin typeface="Courier" pitchFamily="49" charset="0"/>
              </a:rPr>
              <a:t>uc.getHeaderField</a:t>
            </a:r>
            <a:r>
              <a:rPr lang="en-US" altLang="en-US" sz="2000" b="1" dirty="0">
                <a:solidFill>
                  <a:srgbClr val="FF0000"/>
                </a:solidFill>
                <a:latin typeface="Courier" pitchFamily="49" charset="0"/>
              </a:rPr>
              <a:t>("Last-modified");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noFill/>
          <a:ln/>
        </p:spPr>
        <p:txBody>
          <a:bodyPr/>
          <a:lstStyle/>
          <a:p>
            <a:r>
              <a:rPr lang="en-US" altLang="en-US" dirty="0" err="1">
                <a:solidFill>
                  <a:srgbClr val="FF0000"/>
                </a:solidFill>
                <a:latin typeface="Courier New" pitchFamily="49" charset="0"/>
              </a:rPr>
              <a:t>getHeaderFieldKey</a:t>
            </a:r>
            <a:r>
              <a:rPr lang="en-US" altLang="en-US" dirty="0">
                <a:latin typeface="Courier New" pitchFamily="49" charset="0"/>
              </a:rPr>
              <a:t>()</a:t>
            </a:r>
            <a:endParaRPr lang="en-US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8458200" cy="4419600"/>
          </a:xfrm>
          <a:noFill/>
          <a:ln/>
        </p:spPr>
        <p:txBody>
          <a:bodyPr>
            <a:normAutofit lnSpcReduction="10000"/>
          </a:bodyPr>
          <a:lstStyle/>
          <a:p>
            <a:r>
              <a:rPr lang="en-US" altLang="en-US" dirty="0"/>
              <a:t>The keys of the header fields are returned by the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getHeaderFieldKey</a:t>
            </a:r>
            <a:r>
              <a:rPr lang="en-US" altLang="en-US" dirty="0">
                <a:latin typeface="Courier" pitchFamily="49" charset="0"/>
              </a:rPr>
              <a:t>(</a:t>
            </a:r>
            <a:r>
              <a:rPr lang="en-US" altLang="en-US" dirty="0" err="1">
                <a:latin typeface="Courier" pitchFamily="49" charset="0"/>
              </a:rPr>
              <a:t>int</a:t>
            </a:r>
            <a:r>
              <a:rPr lang="en-US" altLang="en-US" dirty="0">
                <a:latin typeface="Courier" pitchFamily="49" charset="0"/>
              </a:rPr>
              <a:t> n)</a:t>
            </a:r>
            <a:r>
              <a:rPr lang="en-US" altLang="en-US" dirty="0"/>
              <a:t> method. </a:t>
            </a:r>
          </a:p>
          <a:p>
            <a:r>
              <a:rPr lang="en-US" altLang="en-US" dirty="0"/>
              <a:t>The first field is 1. </a:t>
            </a:r>
          </a:p>
          <a:p>
            <a:r>
              <a:rPr lang="en-US" altLang="en-US" dirty="0"/>
              <a:t>If a numbered key is not found, </a:t>
            </a:r>
            <a:r>
              <a:rPr lang="en-US" altLang="en-US" dirty="0">
                <a:latin typeface="Courier" pitchFamily="49" charset="0"/>
              </a:rPr>
              <a:t>null</a:t>
            </a:r>
            <a:r>
              <a:rPr lang="en-US" altLang="en-US" dirty="0"/>
              <a:t> is returned. </a:t>
            </a:r>
          </a:p>
          <a:p>
            <a:r>
              <a:rPr lang="en-US" altLang="en-US" dirty="0"/>
              <a:t>You can use this in combination with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getHeaderField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to loop through the complete header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For example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lvl="2"/>
            <a:r>
              <a:rPr lang="en-US" altLang="en-US"/>
              <a:t>String key = null;</a:t>
            </a:r>
          </a:p>
          <a:p>
            <a:pPr lvl="2"/>
            <a:r>
              <a:rPr lang="en-US" altLang="en-US"/>
              <a:t>for (int i=1; (key = uc.getHeaderFieldKey(i))!=null); i++) {</a:t>
            </a:r>
          </a:p>
          <a:p>
            <a:pPr lvl="2"/>
            <a:r>
              <a:rPr lang="en-US" altLang="en-US"/>
              <a:t>  System.out.println(key + ": " + uc.getHeaderField(key));</a:t>
            </a:r>
          </a:p>
          <a:p>
            <a:pPr lvl="2"/>
            <a:r>
              <a:rPr lang="en-US" altLang="en-US"/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 err="1">
                <a:solidFill>
                  <a:srgbClr val="FF0000"/>
                </a:solidFill>
                <a:latin typeface="Courier New" pitchFamily="49" charset="0"/>
              </a:rPr>
              <a:t>getHeaderFieldInt</a:t>
            </a:r>
            <a:r>
              <a:rPr lang="en-US" altLang="en-US" dirty="0">
                <a:latin typeface="Courier New" pitchFamily="49" charset="0"/>
              </a:rPr>
              <a:t>()</a:t>
            </a:r>
            <a:r>
              <a:rPr lang="en-US" altLang="en-US" dirty="0"/>
              <a:t> and </a:t>
            </a:r>
            <a:r>
              <a:rPr lang="en-US" altLang="en-US" dirty="0" err="1">
                <a:solidFill>
                  <a:srgbClr val="FF0000"/>
                </a:solidFill>
                <a:latin typeface="Courier New" pitchFamily="49" charset="0"/>
              </a:rPr>
              <a:t>getHeaderFieldDate</a:t>
            </a:r>
            <a:r>
              <a:rPr lang="en-US" altLang="en-US" dirty="0">
                <a:latin typeface="Courier New" pitchFamily="49" charset="0"/>
              </a:rPr>
              <a:t>()</a:t>
            </a:r>
            <a:r>
              <a:rPr lang="en-US" altLang="en-US" dirty="0"/>
              <a:t> 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0" y="1981200"/>
            <a:ext cx="8839200" cy="4114800"/>
          </a:xfrm>
          <a:noFill/>
          <a:ln/>
        </p:spPr>
        <p:txBody>
          <a:bodyPr/>
          <a:lstStyle/>
          <a:p>
            <a:r>
              <a:rPr lang="en-US" altLang="en-US" dirty="0"/>
              <a:t>These are utility methods that read a named header and convert its value into an </a:t>
            </a:r>
            <a:r>
              <a:rPr lang="en-US" altLang="en-US" dirty="0" err="1">
                <a:latin typeface="Courier" pitchFamily="49" charset="0"/>
              </a:rPr>
              <a:t>int</a:t>
            </a:r>
            <a:r>
              <a:rPr lang="en-US" altLang="en-US" dirty="0"/>
              <a:t> and a </a:t>
            </a:r>
            <a:r>
              <a:rPr lang="en-US" altLang="en-US" dirty="0">
                <a:latin typeface="Courier" pitchFamily="49" charset="0"/>
              </a:rPr>
              <a:t>long</a:t>
            </a:r>
            <a:r>
              <a:rPr lang="en-US" altLang="en-US" dirty="0"/>
              <a:t> respectively. </a:t>
            </a:r>
          </a:p>
          <a:p>
            <a:pPr>
              <a:buFontTx/>
              <a:buNone/>
            </a:pPr>
            <a:endParaRPr lang="en-US" altLang="en-US" sz="2000" dirty="0">
              <a:latin typeface="Courier" pitchFamily="49" charset="0"/>
            </a:endParaRPr>
          </a:p>
          <a:p>
            <a:pPr>
              <a:buFontTx/>
              <a:buNone/>
            </a:pPr>
            <a:r>
              <a:rPr lang="en-US" altLang="en-US" sz="2000" dirty="0">
                <a:latin typeface="Courier" pitchFamily="49" charset="0"/>
              </a:rPr>
              <a:t>public </a:t>
            </a:r>
            <a:r>
              <a:rPr lang="en-US" altLang="en-US" sz="2000" dirty="0" err="1">
                <a:latin typeface="Courier" pitchFamily="49" charset="0"/>
              </a:rPr>
              <a:t>int</a:t>
            </a:r>
            <a:r>
              <a:rPr lang="en-US" altLang="en-US" sz="2000" dirty="0">
                <a:latin typeface="Courier" pitchFamily="49" charset="0"/>
              </a:rPr>
              <a:t> </a:t>
            </a:r>
            <a:r>
              <a:rPr lang="en-US" altLang="en-US" sz="2000" dirty="0" err="1">
                <a:latin typeface="Courier" pitchFamily="49" charset="0"/>
              </a:rPr>
              <a:t>getHeaderFieldInt</a:t>
            </a:r>
            <a:r>
              <a:rPr lang="en-US" altLang="en-US" sz="2000" dirty="0">
                <a:latin typeface="Courier" pitchFamily="49" charset="0"/>
              </a:rPr>
              <a:t>(String name, </a:t>
            </a:r>
            <a:r>
              <a:rPr lang="en-US" altLang="en-US" sz="2000" dirty="0" err="1">
                <a:latin typeface="Courier" pitchFamily="49" charset="0"/>
              </a:rPr>
              <a:t>int</a:t>
            </a:r>
            <a:r>
              <a:rPr lang="en-US" altLang="en-US" sz="2000" dirty="0">
                <a:latin typeface="Courier" pitchFamily="49" charset="0"/>
              </a:rPr>
              <a:t> default)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" pitchFamily="49" charset="0"/>
              </a:rPr>
              <a:t>public long </a:t>
            </a:r>
            <a:r>
              <a:rPr lang="en-US" altLang="en-US" sz="2000" dirty="0" err="1">
                <a:latin typeface="Courier" pitchFamily="49" charset="0"/>
              </a:rPr>
              <a:t>getHeaderFieldDate</a:t>
            </a:r>
            <a:r>
              <a:rPr lang="en-US" altLang="en-US" sz="2000" dirty="0">
                <a:latin typeface="Courier" pitchFamily="49" charset="0"/>
              </a:rPr>
              <a:t>(String name, long default)</a:t>
            </a:r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0" y="1981200"/>
            <a:ext cx="9144000" cy="4114800"/>
          </a:xfrm>
          <a:noFill/>
          <a:ln/>
        </p:spPr>
        <p:txBody>
          <a:bodyPr/>
          <a:lstStyle/>
          <a:p>
            <a:r>
              <a:rPr lang="en-US" altLang="en-US" dirty="0"/>
              <a:t>The long returned by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getHeaderFieldDate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can be converted into a </a:t>
            </a:r>
            <a:r>
              <a:rPr lang="en-US" altLang="en-US" dirty="0">
                <a:solidFill>
                  <a:srgbClr val="FF0000"/>
                </a:solidFill>
                <a:latin typeface="Courier" pitchFamily="49" charset="0"/>
              </a:rPr>
              <a:t>Date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object using a </a:t>
            </a:r>
            <a:r>
              <a:rPr lang="en-US" altLang="en-US" dirty="0">
                <a:solidFill>
                  <a:srgbClr val="FF0000"/>
                </a:solidFill>
                <a:latin typeface="Courier" pitchFamily="49" charset="0"/>
              </a:rPr>
              <a:t>Date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constructor like this:</a:t>
            </a:r>
          </a:p>
          <a:p>
            <a:pPr lvl="2"/>
            <a:endParaRPr lang="en-US" altLang="en-US" dirty="0"/>
          </a:p>
          <a:p>
            <a:pPr lvl="2"/>
            <a:r>
              <a:rPr lang="en-US" altLang="en-US" dirty="0"/>
              <a:t>String s = </a:t>
            </a:r>
            <a:r>
              <a:rPr lang="en-US" altLang="en-US" dirty="0" err="1"/>
              <a:t>uc.getHeaderFieldDate</a:t>
            </a:r>
            <a:r>
              <a:rPr lang="en-US" altLang="en-US" dirty="0"/>
              <a:t>("Last-modified", 0);</a:t>
            </a:r>
          </a:p>
          <a:p>
            <a:pPr lvl="2"/>
            <a:r>
              <a:rPr lang="en-US" altLang="en-US" dirty="0"/>
              <a:t>Date lm = new Date(s);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Six Convenience Methods 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These return the values of six particularly common header fields:</a:t>
            </a:r>
          </a:p>
          <a:p>
            <a:pPr lvl="2"/>
            <a:endParaRPr lang="en-US" altLang="en-US"/>
          </a:p>
          <a:p>
            <a:pPr lvl="2"/>
            <a:r>
              <a:rPr lang="en-US" altLang="en-US"/>
              <a:t>public int    getContentLength()</a:t>
            </a:r>
          </a:p>
          <a:p>
            <a:pPr lvl="2"/>
            <a:r>
              <a:rPr lang="en-US" altLang="en-US"/>
              <a:t>public String getContentType()</a:t>
            </a:r>
          </a:p>
          <a:p>
            <a:pPr lvl="2"/>
            <a:r>
              <a:rPr lang="en-US" altLang="en-US"/>
              <a:t>public String getContentEncoding()</a:t>
            </a:r>
          </a:p>
          <a:p>
            <a:pPr lvl="2"/>
            <a:r>
              <a:rPr lang="en-US" altLang="en-US"/>
              <a:t>public long   getExpiration()</a:t>
            </a:r>
          </a:p>
          <a:p>
            <a:pPr lvl="2"/>
            <a:r>
              <a:rPr lang="en-US" altLang="en-US"/>
              <a:t>public long   getDate()</a:t>
            </a:r>
          </a:p>
          <a:p>
            <a:pPr lvl="2"/>
            <a:r>
              <a:rPr lang="en-US" altLang="en-US"/>
              <a:t>public long   getLastModified()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0" y="1524000"/>
            <a:ext cx="9144000" cy="4800600"/>
          </a:xfrm>
          <a:noFill/>
          <a:ln/>
        </p:spPr>
        <p:txBody>
          <a:bodyPr/>
          <a:lstStyle/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try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  URL u = new URL("http://www.sdexpo.com/");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  </a:t>
            </a:r>
            <a:r>
              <a:rPr lang="en-US" altLang="en-US" sz="2000" b="1" dirty="0" err="1">
                <a:latin typeface="Courier" pitchFamily="49" charset="0"/>
              </a:rPr>
              <a:t>URLConnection</a:t>
            </a:r>
            <a:r>
              <a:rPr lang="en-US" altLang="en-US" sz="2000" b="1" dirty="0">
                <a:latin typeface="Courier" pitchFamily="49" charset="0"/>
              </a:rPr>
              <a:t> </a:t>
            </a:r>
            <a:r>
              <a:rPr lang="en-US" altLang="en-US" sz="2000" b="1" dirty="0" err="1">
                <a:latin typeface="Courier" pitchFamily="49" charset="0"/>
              </a:rPr>
              <a:t>uc</a:t>
            </a:r>
            <a:r>
              <a:rPr lang="en-US" altLang="en-US" sz="2000" b="1" dirty="0">
                <a:latin typeface="Courier" pitchFamily="49" charset="0"/>
              </a:rPr>
              <a:t> = </a:t>
            </a:r>
            <a:r>
              <a:rPr lang="en-US" altLang="en-US" sz="2000" b="1" dirty="0" err="1">
                <a:latin typeface="Courier" pitchFamily="49" charset="0"/>
              </a:rPr>
              <a:t>u.openConnection</a:t>
            </a:r>
            <a:r>
              <a:rPr lang="en-US" altLang="en-US" sz="2000" b="1" dirty="0">
                <a:latin typeface="Courier" pitchFamily="49" charset="0"/>
              </a:rPr>
              <a:t>();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  </a:t>
            </a:r>
            <a:r>
              <a:rPr lang="en-US" altLang="en-US" sz="2000" b="1" dirty="0" err="1">
                <a:latin typeface="Courier" pitchFamily="49" charset="0"/>
              </a:rPr>
              <a:t>uc.connect</a:t>
            </a:r>
            <a:r>
              <a:rPr lang="en-US" altLang="en-US" sz="2000" b="1" dirty="0">
                <a:latin typeface="Courier" pitchFamily="49" charset="0"/>
              </a:rPr>
              <a:t>();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  String key=null;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  for (</a:t>
            </a:r>
            <a:r>
              <a:rPr lang="en-US" altLang="en-US" sz="2000" b="1" dirty="0" err="1">
                <a:latin typeface="Courier" pitchFamily="49" charset="0"/>
              </a:rPr>
              <a:t>int</a:t>
            </a:r>
            <a:r>
              <a:rPr lang="en-US" altLang="en-US" sz="2000" b="1" dirty="0">
                <a:latin typeface="Courier" pitchFamily="49" charset="0"/>
              </a:rPr>
              <a:t> n = 1;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      (key=</a:t>
            </a:r>
            <a:r>
              <a:rPr lang="en-US" altLang="en-US" sz="2000" b="1" dirty="0" err="1">
                <a:latin typeface="Courier" pitchFamily="49" charset="0"/>
              </a:rPr>
              <a:t>uc.getHeaderFieldKey</a:t>
            </a:r>
            <a:r>
              <a:rPr lang="en-US" altLang="en-US" sz="2000" b="1" dirty="0">
                <a:latin typeface="Courier" pitchFamily="49" charset="0"/>
              </a:rPr>
              <a:t>(n)) != null;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       n++)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    </a:t>
            </a:r>
            <a:r>
              <a:rPr lang="en-US" altLang="en-US" sz="2000" b="1" dirty="0" err="1">
                <a:latin typeface="Courier" pitchFamily="49" charset="0"/>
              </a:rPr>
              <a:t>System.out.println</a:t>
            </a:r>
            <a:r>
              <a:rPr lang="en-US" altLang="en-US" sz="2000" b="1" dirty="0">
                <a:latin typeface="Courier" pitchFamily="49" charset="0"/>
              </a:rPr>
              <a:t>(key + ": " + </a:t>
            </a:r>
            <a:r>
              <a:rPr lang="en-US" altLang="en-US" sz="2000" b="1" dirty="0" err="1">
                <a:latin typeface="Courier" pitchFamily="49" charset="0"/>
              </a:rPr>
              <a:t>uc.getHeaderField</a:t>
            </a:r>
            <a:r>
              <a:rPr lang="en-US" altLang="en-US" sz="2000" b="1" dirty="0">
                <a:latin typeface="Courier" pitchFamily="49" charset="0"/>
              </a:rPr>
              <a:t>(key));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  }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}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catch (</a:t>
            </a:r>
            <a:r>
              <a:rPr lang="en-US" altLang="en-US" sz="2000" b="1" dirty="0" err="1">
                <a:latin typeface="Courier" pitchFamily="49" charset="0"/>
              </a:rPr>
              <a:t>IOException</a:t>
            </a:r>
            <a:r>
              <a:rPr lang="en-US" altLang="en-US" sz="2000" b="1" dirty="0">
                <a:latin typeface="Courier" pitchFamily="49" charset="0"/>
              </a:rPr>
              <a:t> e) {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  </a:t>
            </a:r>
            <a:r>
              <a:rPr lang="en-US" altLang="en-US" sz="2000" b="1" dirty="0" err="1">
                <a:latin typeface="Courier" pitchFamily="49" charset="0"/>
              </a:rPr>
              <a:t>System.err.println</a:t>
            </a:r>
            <a:r>
              <a:rPr lang="en-US" altLang="en-US" sz="2000" b="1" dirty="0">
                <a:latin typeface="Courier" pitchFamily="49" charset="0"/>
              </a:rPr>
              <a:t>(e);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Courier" pitchFamily="49" charset="0"/>
              </a:rPr>
              <a:t>}</a:t>
            </a:r>
            <a:endParaRPr lang="en-US" altLang="en-US" b="1" dirty="0"/>
          </a:p>
          <a:p>
            <a:pPr lvl="2"/>
            <a:endParaRPr lang="en-US" alt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IE" b="0" i="1" dirty="0" smtClean="0"/>
              <a:t>Read Header Fields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10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E" sz="1400" b="1" dirty="0">
                <a:solidFill>
                  <a:srgbClr val="7F0055"/>
                </a:solidFill>
                <a:latin typeface="Consolas"/>
              </a:rPr>
              <a:t>package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lecture14</a:t>
            </a:r>
            <a:r>
              <a:rPr lang="en-IE" sz="1400" b="1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sz="14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4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java.io.*;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java.net.*;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java.util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.*;</a:t>
            </a:r>
          </a:p>
          <a:p>
            <a:pPr marL="0" indent="0">
              <a:buNone/>
            </a:pPr>
            <a:r>
              <a:rPr lang="en-IE" sz="14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HeaderViewer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sz="14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400" b="1" dirty="0">
                <a:solidFill>
                  <a:srgbClr val="7F0055"/>
                </a:solidFill>
                <a:latin typeface="Consolas"/>
              </a:rPr>
              <a:t>try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pl-PL" sz="1400" dirty="0">
                <a:solidFill>
                  <a:srgbClr val="000000"/>
                </a:solidFill>
                <a:latin typeface="Consolas"/>
              </a:rPr>
              <a:t>URL </a:t>
            </a:r>
            <a:r>
              <a:rPr lang="pl-PL" sz="1400" dirty="0">
                <a:solidFill>
                  <a:srgbClr val="6A3E3E"/>
                </a:solidFill>
                <a:latin typeface="Consolas"/>
              </a:rPr>
              <a:t>u</a:t>
            </a:r>
            <a:r>
              <a:rPr lang="pl-PL" sz="14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pl-PL" sz="14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pl-PL" sz="1400" b="1" dirty="0">
                <a:solidFill>
                  <a:srgbClr val="000000"/>
                </a:solidFill>
                <a:latin typeface="Consolas"/>
              </a:rPr>
              <a:t> URL(</a:t>
            </a:r>
            <a:r>
              <a:rPr lang="pl-PL" sz="1400" b="1" dirty="0">
                <a:solidFill>
                  <a:srgbClr val="2A00FF"/>
                </a:solidFill>
                <a:latin typeface="Consolas"/>
              </a:rPr>
              <a:t>"http://www.qau.edu.pk"</a:t>
            </a:r>
            <a:r>
              <a:rPr lang="pl-PL" sz="14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00"/>
                </a:solidFill>
                <a:latin typeface="Consolas"/>
              </a:rPr>
              <a:t>URLConnection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400" dirty="0" err="1">
                <a:solidFill>
                  <a:srgbClr val="6A3E3E"/>
                </a:solidFill>
                <a:latin typeface="Consolas"/>
              </a:rPr>
              <a:t>u</a:t>
            </a:r>
            <a:r>
              <a:rPr lang="en-IE" sz="1400" dirty="0" err="1">
                <a:solidFill>
                  <a:srgbClr val="000000"/>
                </a:solidFill>
                <a:latin typeface="Consolas"/>
              </a:rPr>
              <a:t>.openConnection</a:t>
            </a:r>
            <a:r>
              <a:rPr lang="en-IE" sz="14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"Content-type: 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.getContentType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pPr marL="0" indent="0">
              <a:buNone/>
            </a:pPr>
            <a:r>
              <a:rPr lang="en-IE" sz="14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.getContentEncoding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() !=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null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"Content-encoding: 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.getContentEncoding</a:t>
            </a:r>
            <a:r>
              <a:rPr lang="en-IE" sz="1400" b="1" i="1" dirty="0" smtClean="0">
                <a:solidFill>
                  <a:srgbClr val="000000"/>
                </a:solidFill>
                <a:latin typeface="Consolas"/>
              </a:rPr>
              <a:t>()); </a:t>
            </a:r>
            <a:r>
              <a:rPr lang="en-IE" sz="14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IE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14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.getDate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() != 0) {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"Date: 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Date(</a:t>
            </a:r>
            <a:r>
              <a:rPr lang="en-IE" sz="1400" b="1" i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.getDate</a:t>
            </a:r>
            <a:r>
              <a:rPr lang="en-IE" sz="1400" b="1" i="1" dirty="0" smtClean="0">
                <a:solidFill>
                  <a:srgbClr val="000000"/>
                </a:solidFill>
                <a:latin typeface="Consolas"/>
              </a:rPr>
              <a:t>())); </a:t>
            </a:r>
            <a:r>
              <a:rPr lang="en-IE" sz="14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IE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14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.getLastModified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() != 0) {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"Last modified: 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Date(</a:t>
            </a:r>
            <a:r>
              <a:rPr lang="en-IE" sz="1400" b="1" i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.getLastModified</a:t>
            </a:r>
            <a:r>
              <a:rPr lang="en-IE" sz="1400" b="1" i="1" dirty="0" smtClean="0">
                <a:solidFill>
                  <a:srgbClr val="000000"/>
                </a:solidFill>
                <a:latin typeface="Consolas"/>
              </a:rPr>
              <a:t>())); </a:t>
            </a:r>
            <a:r>
              <a:rPr lang="en-IE" sz="14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IE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14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.getExpiration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() != 0) {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"Expiration date: 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Date(</a:t>
            </a:r>
            <a:r>
              <a:rPr lang="en-IE" sz="1400" b="1" i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.getExpiration</a:t>
            </a:r>
            <a:r>
              <a:rPr lang="en-IE" sz="1400" b="1" i="1" dirty="0" smtClean="0">
                <a:solidFill>
                  <a:srgbClr val="000000"/>
                </a:solidFill>
                <a:latin typeface="Consolas"/>
              </a:rPr>
              <a:t>())); </a:t>
            </a:r>
            <a:r>
              <a:rPr lang="en-IE" sz="14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IE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14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400" b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.getContentLength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() != -1) {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2A00FF"/>
                </a:solidFill>
                <a:latin typeface="Consolas"/>
              </a:rPr>
              <a:t>"Content-length: "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400" b="1" i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.getContentLength</a:t>
            </a:r>
            <a:r>
              <a:rPr lang="en-IE" sz="1400" b="1" i="1" dirty="0" smtClean="0">
                <a:solidFill>
                  <a:srgbClr val="000000"/>
                </a:solidFill>
                <a:latin typeface="Consolas"/>
              </a:rPr>
              <a:t>());</a:t>
            </a:r>
            <a:r>
              <a:rPr lang="en-IE" sz="14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IE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1400" dirty="0">
                <a:solidFill>
                  <a:srgbClr val="000000"/>
                </a:solidFill>
                <a:latin typeface="Consolas"/>
              </a:rPr>
              <a:t>}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MalformedURLException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err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400" dirty="0">
                <a:solidFill>
                  <a:srgbClr val="000000"/>
                </a:solidFill>
                <a:latin typeface="Consolas"/>
              </a:rPr>
              <a:t>} </a:t>
            </a:r>
            <a:r>
              <a:rPr lang="en-IE" sz="14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4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4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4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err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400" b="1" i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en-IE" sz="14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4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4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400" b="1" i="1" dirty="0">
                <a:solidFill>
                  <a:srgbClr val="000000"/>
                </a:solidFill>
                <a:latin typeface="Consolas"/>
              </a:rPr>
              <a:t>();}}</a:t>
            </a:r>
          </a:p>
          <a:p>
            <a:pPr marL="0" indent="0">
              <a:buNone/>
            </a:pPr>
            <a:endParaRPr lang="en-IE" sz="1400" b="1" dirty="0"/>
          </a:p>
        </p:txBody>
      </p:sp>
    </p:spTree>
    <p:extLst>
      <p:ext uri="{BB962C8B-B14F-4D97-AF65-F5344CB8AC3E}">
        <p14:creationId xmlns:p14="http://schemas.microsoft.com/office/powerpoint/2010/main" val="211055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534400" cy="838200"/>
          </a:xfrm>
          <a:noFill/>
          <a:ln/>
        </p:spPr>
        <p:txBody>
          <a:bodyPr/>
          <a:lstStyle/>
          <a:p>
            <a:r>
              <a:rPr lang="en-US" altLang="en-US" dirty="0" smtClean="0"/>
              <a:t>Print entire Header</a:t>
            </a:r>
            <a:endParaRPr lang="en-US" altLang="en-US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0" y="762000"/>
            <a:ext cx="9144000" cy="5715000"/>
          </a:xfrm>
          <a:noFill/>
          <a:ln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E" sz="1800" b="1" dirty="0">
                <a:solidFill>
                  <a:srgbClr val="7F0055"/>
                </a:solidFill>
                <a:latin typeface="Consolas"/>
              </a:rPr>
              <a:t>package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lecture14;</a:t>
            </a:r>
          </a:p>
          <a:p>
            <a:pPr marL="0" indent="0">
              <a:buNone/>
            </a:pPr>
            <a:r>
              <a:rPr lang="en-IE" sz="18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java.io.*;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java.net.*;</a:t>
            </a:r>
          </a:p>
          <a:p>
            <a:pPr marL="0" indent="0">
              <a:buNone/>
            </a:pPr>
            <a:r>
              <a:rPr lang="en-IE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AllHeaders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sz="1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sz="18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800" b="1" dirty="0">
                <a:solidFill>
                  <a:srgbClr val="7F0055"/>
                </a:solidFill>
                <a:latin typeface="Consolas"/>
              </a:rPr>
              <a:t>try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pl-PL" sz="1800" dirty="0">
                <a:solidFill>
                  <a:srgbClr val="000000"/>
                </a:solidFill>
                <a:latin typeface="Consolas"/>
              </a:rPr>
              <a:t>URL </a:t>
            </a:r>
            <a:r>
              <a:rPr lang="pl-PL" sz="1800" dirty="0">
                <a:solidFill>
                  <a:srgbClr val="6A3E3E"/>
                </a:solidFill>
                <a:latin typeface="Consolas"/>
              </a:rPr>
              <a:t>u</a:t>
            </a:r>
            <a:r>
              <a:rPr lang="pl-PL" sz="1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pl-PL" sz="1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pl-PL" sz="1800" b="1" dirty="0">
                <a:solidFill>
                  <a:srgbClr val="000000"/>
                </a:solidFill>
                <a:latin typeface="Consolas"/>
              </a:rPr>
              <a:t> URL(</a:t>
            </a:r>
            <a:r>
              <a:rPr lang="pl-PL" sz="1800" b="1" dirty="0">
                <a:solidFill>
                  <a:srgbClr val="2A00FF"/>
                </a:solidFill>
                <a:latin typeface="Consolas"/>
              </a:rPr>
              <a:t>"http://www.qau.edu.pk"</a:t>
            </a:r>
            <a:r>
              <a:rPr lang="pl-PL" sz="18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800" dirty="0" err="1">
                <a:solidFill>
                  <a:srgbClr val="000000"/>
                </a:solidFill>
                <a:latin typeface="Consolas"/>
              </a:rPr>
              <a:t>URLConnection</a:t>
            </a:r>
            <a:r>
              <a:rPr lang="en-IE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800" dirty="0" err="1">
                <a:solidFill>
                  <a:srgbClr val="6A3E3E"/>
                </a:solidFill>
                <a:latin typeface="Consolas"/>
              </a:rPr>
              <a:t>u</a:t>
            </a:r>
            <a:r>
              <a:rPr lang="en-IE" sz="1800" dirty="0" err="1">
                <a:solidFill>
                  <a:srgbClr val="000000"/>
                </a:solidFill>
                <a:latin typeface="Consolas"/>
              </a:rPr>
              <a:t>.openConnection</a:t>
            </a:r>
            <a:r>
              <a:rPr lang="en-IE" sz="18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1800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8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6A3E3E"/>
                </a:solidFill>
                <a:latin typeface="Consolas"/>
              </a:rPr>
              <a:t>j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= 1; ; </a:t>
            </a:r>
            <a:r>
              <a:rPr lang="en-IE" sz="1800" b="1" dirty="0" err="1">
                <a:solidFill>
                  <a:srgbClr val="6A3E3E"/>
                </a:solidFill>
                <a:latin typeface="Consolas"/>
              </a:rPr>
              <a:t>j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++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000000"/>
                </a:solidFill>
                <a:latin typeface="Consolas"/>
              </a:rPr>
              <a:t>String </a:t>
            </a:r>
            <a:r>
              <a:rPr lang="en-IE" sz="1800" dirty="0">
                <a:solidFill>
                  <a:srgbClr val="6A3E3E"/>
                </a:solidFill>
                <a:latin typeface="Consolas"/>
              </a:rPr>
              <a:t>header</a:t>
            </a:r>
            <a:r>
              <a:rPr lang="en-IE" sz="1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1800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800" dirty="0" err="1">
                <a:solidFill>
                  <a:srgbClr val="000000"/>
                </a:solidFill>
                <a:latin typeface="Consolas"/>
              </a:rPr>
              <a:t>.getHeaderField</a:t>
            </a:r>
            <a:r>
              <a:rPr lang="en-IE" sz="18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800" dirty="0">
                <a:solidFill>
                  <a:srgbClr val="6A3E3E"/>
                </a:solidFill>
                <a:latin typeface="Consolas"/>
              </a:rPr>
              <a:t>j</a:t>
            </a:r>
            <a:r>
              <a:rPr lang="en-IE" sz="18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800" b="1" dirty="0">
                <a:solidFill>
                  <a:srgbClr val="7F0055"/>
                </a:solidFill>
                <a:latin typeface="Consolas"/>
              </a:rPr>
              <a:t>if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800" b="1" dirty="0">
                <a:solidFill>
                  <a:srgbClr val="6A3E3E"/>
                </a:solidFill>
                <a:latin typeface="Consolas"/>
              </a:rPr>
              <a:t>header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==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null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break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8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8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8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800" b="1" i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1800" b="1" i="1" dirty="0" err="1">
                <a:solidFill>
                  <a:srgbClr val="000000"/>
                </a:solidFill>
                <a:latin typeface="Consolas"/>
              </a:rPr>
              <a:t>.getHeaderFieldKey</a:t>
            </a:r>
            <a:r>
              <a:rPr lang="en-IE" sz="18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800" b="1" i="1" dirty="0">
                <a:solidFill>
                  <a:srgbClr val="6A3E3E"/>
                </a:solidFill>
                <a:latin typeface="Consolas"/>
              </a:rPr>
              <a:t>j</a:t>
            </a:r>
            <a:r>
              <a:rPr lang="en-IE" sz="1800" b="1" i="1" dirty="0">
                <a:solidFill>
                  <a:srgbClr val="000000"/>
                </a:solidFill>
                <a:latin typeface="Consolas"/>
              </a:rPr>
              <a:t>) + </a:t>
            </a:r>
            <a:r>
              <a:rPr lang="en-IE" sz="1800" b="1" i="1" dirty="0">
                <a:solidFill>
                  <a:srgbClr val="2A00FF"/>
                </a:solidFill>
                <a:latin typeface="Consolas"/>
              </a:rPr>
              <a:t>": "</a:t>
            </a:r>
            <a:r>
              <a:rPr lang="en-IE" sz="18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IE" sz="1800" b="1" i="1" dirty="0">
                <a:solidFill>
                  <a:srgbClr val="6A3E3E"/>
                </a:solidFill>
                <a:latin typeface="Consolas"/>
              </a:rPr>
              <a:t>header</a:t>
            </a:r>
            <a:r>
              <a:rPr lang="en-IE" sz="18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000000"/>
                </a:solidFill>
                <a:latin typeface="Consolas"/>
              </a:rPr>
              <a:t>}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MalformedURLException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800" b="1" i="1" dirty="0" err="1">
                <a:solidFill>
                  <a:srgbClr val="0000C0"/>
                </a:solidFill>
                <a:latin typeface="Consolas"/>
              </a:rPr>
              <a:t>err</a:t>
            </a:r>
            <a:r>
              <a:rPr lang="en-IE" sz="18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8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800" b="1" i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8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000000"/>
                </a:solidFill>
                <a:latin typeface="Consolas"/>
              </a:rPr>
              <a:t>} </a:t>
            </a:r>
            <a:r>
              <a:rPr lang="en-IE" sz="18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18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18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8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800" b="1" i="1" dirty="0" err="1">
                <a:solidFill>
                  <a:srgbClr val="0000C0"/>
                </a:solidFill>
                <a:latin typeface="Consolas"/>
              </a:rPr>
              <a:t>err</a:t>
            </a:r>
            <a:r>
              <a:rPr lang="en-IE" sz="18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8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1800" b="1" i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18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en-IE" sz="1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18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18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1800" b="1" i="1" dirty="0">
                <a:solidFill>
                  <a:srgbClr val="000000"/>
                </a:solidFill>
                <a:latin typeface="Consolas"/>
              </a:rPr>
              <a:t>();}}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534400" cy="1143000"/>
          </a:xfrm>
          <a:noFill/>
        </p:spPr>
        <p:txBody>
          <a:bodyPr/>
          <a:lstStyle/>
          <a:p>
            <a:r>
              <a:rPr lang="en-US" altLang="en-US" smtClean="0"/>
              <a:t>Writing data to a URLConnection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05000"/>
            <a:ext cx="9144000" cy="4572000"/>
          </a:xfrm>
          <a:noFill/>
        </p:spPr>
        <p:txBody>
          <a:bodyPr>
            <a:normAutofit/>
          </a:bodyPr>
          <a:lstStyle/>
          <a:p>
            <a:r>
              <a:rPr lang="en-US" altLang="en-US" dirty="0" smtClean="0"/>
              <a:t>Similar to reading data from a </a:t>
            </a:r>
            <a:r>
              <a:rPr lang="en-US" altLang="en-US" dirty="0" err="1" smtClean="0"/>
              <a:t>URLConnection</a:t>
            </a:r>
            <a:r>
              <a:rPr lang="en-US" altLang="en-US" dirty="0" smtClean="0"/>
              <a:t>. </a:t>
            </a:r>
          </a:p>
          <a:p>
            <a:r>
              <a:rPr lang="en-US" altLang="en-US" dirty="0" smtClean="0"/>
              <a:t>First inform the </a:t>
            </a:r>
            <a:r>
              <a:rPr lang="en-US" altLang="en-US" dirty="0" err="1" smtClean="0"/>
              <a:t>URLConnection</a:t>
            </a:r>
            <a:r>
              <a:rPr lang="en-US" altLang="en-US" dirty="0" smtClean="0"/>
              <a:t> that you plan to use it for output</a:t>
            </a:r>
          </a:p>
          <a:p>
            <a:r>
              <a:rPr lang="en-US" altLang="en-US" dirty="0" smtClean="0"/>
              <a:t>Before getting the connection's input stream, get the connection's output stream and write to it. </a:t>
            </a:r>
          </a:p>
          <a:p>
            <a:r>
              <a:rPr lang="en-US" altLang="en-US" dirty="0" smtClean="0"/>
              <a:t>Commonly used to talk to CGIs that use the POST method</a:t>
            </a:r>
          </a:p>
        </p:txBody>
      </p:sp>
    </p:spTree>
    <p:extLst>
      <p:ext uri="{BB962C8B-B14F-4D97-AF65-F5344CB8AC3E}">
        <p14:creationId xmlns:p14="http://schemas.microsoft.com/office/powerpoint/2010/main" val="15336372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914400"/>
          </a:xfrm>
          <a:noFill/>
          <a:ln/>
        </p:spPr>
        <p:txBody>
          <a:bodyPr/>
          <a:lstStyle/>
          <a:p>
            <a:r>
              <a:rPr lang="en-US" altLang="en-US" dirty="0"/>
              <a:t>Eight Steps: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14400"/>
            <a:ext cx="8534400" cy="52578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1.	Construct the URL.</a:t>
            </a:r>
          </a:p>
          <a:p>
            <a:pPr>
              <a:buFontTx/>
              <a:buNone/>
            </a:pPr>
            <a:r>
              <a:rPr lang="en-US" altLang="en-US" dirty="0"/>
              <a:t>2.	Call the URL’s </a:t>
            </a:r>
            <a:r>
              <a:rPr lang="en-US" altLang="en-US" dirty="0" err="1">
                <a:solidFill>
                  <a:srgbClr val="FF0000"/>
                </a:solidFill>
                <a:latin typeface="Courier New" pitchFamily="49" charset="0"/>
              </a:rPr>
              <a:t>openConnection</a:t>
            </a:r>
            <a:r>
              <a:rPr lang="en-US" altLang="en-US" dirty="0">
                <a:latin typeface="Courier New" pitchFamily="49" charset="0"/>
              </a:rPr>
              <a:t>()</a:t>
            </a:r>
            <a:r>
              <a:rPr lang="en-US" altLang="en-US" dirty="0"/>
              <a:t> method to create the </a:t>
            </a:r>
            <a:r>
              <a:rPr lang="en-US" altLang="en-US" dirty="0" err="1"/>
              <a:t>URLConnection</a:t>
            </a:r>
            <a:r>
              <a:rPr lang="en-US" altLang="en-US" dirty="0"/>
              <a:t> object.</a:t>
            </a:r>
          </a:p>
          <a:p>
            <a:pPr>
              <a:buFontTx/>
              <a:buNone/>
            </a:pPr>
            <a:r>
              <a:rPr lang="en-US" altLang="en-US" dirty="0"/>
              <a:t>3.	Pass </a:t>
            </a:r>
            <a:r>
              <a:rPr lang="en-US" altLang="en-US" dirty="0">
                <a:latin typeface="Courier" pitchFamily="49" charset="0"/>
              </a:rPr>
              <a:t>true</a:t>
            </a:r>
            <a:r>
              <a:rPr lang="en-US" altLang="en-US" dirty="0"/>
              <a:t> to the </a:t>
            </a:r>
            <a:r>
              <a:rPr lang="en-US" altLang="en-US" dirty="0" err="1"/>
              <a:t>URLConnection’s</a:t>
            </a:r>
            <a:r>
              <a:rPr lang="en-US" altLang="en-US" dirty="0"/>
              <a:t>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setDoOutput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method</a:t>
            </a:r>
          </a:p>
          <a:p>
            <a:pPr>
              <a:buFontTx/>
              <a:buNone/>
            </a:pPr>
            <a:r>
              <a:rPr lang="en-US" altLang="en-US" dirty="0"/>
              <a:t>4.	Create the data you want to send, preferably as a byte array. </a:t>
            </a:r>
          </a:p>
        </p:txBody>
      </p:sp>
      <p:sp>
        <p:nvSpPr>
          <p:cNvPr id="2" name="Rectangle 1"/>
          <p:cNvSpPr/>
          <p:nvPr/>
        </p:nvSpPr>
        <p:spPr>
          <a:xfrm>
            <a:off x="375684" y="4953000"/>
            <a:ext cx="8610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dirty="0">
                <a:solidFill>
                  <a:srgbClr val="FF0000"/>
                </a:solidFill>
              </a:rPr>
              <a:t>A </a:t>
            </a:r>
            <a:r>
              <a:rPr lang="en-IE" dirty="0" err="1">
                <a:solidFill>
                  <a:srgbClr val="FF0000"/>
                </a:solidFill>
              </a:rPr>
              <a:t>URLConnection</a:t>
            </a:r>
            <a:r>
              <a:rPr lang="en-IE" dirty="0">
                <a:solidFill>
                  <a:srgbClr val="FF0000"/>
                </a:solidFill>
              </a:rPr>
              <a:t> doesn’t allow output by default, so you have to call </a:t>
            </a:r>
            <a:r>
              <a:rPr lang="en-IE" dirty="0" err="1" smtClean="0">
                <a:solidFill>
                  <a:schemeClr val="tx2"/>
                </a:solidFill>
              </a:rPr>
              <a:t>setDoOutput</a:t>
            </a:r>
            <a:r>
              <a:rPr lang="en-IE" dirty="0" smtClean="0">
                <a:solidFill>
                  <a:schemeClr val="tx2"/>
                </a:solidFill>
              </a:rPr>
              <a:t>(true</a:t>
            </a:r>
            <a:r>
              <a:rPr lang="en-IE" dirty="0">
                <a:solidFill>
                  <a:schemeClr val="tx2"/>
                </a:solidFill>
              </a:rPr>
              <a:t>)</a:t>
            </a:r>
            <a:r>
              <a:rPr lang="en-IE" dirty="0">
                <a:solidFill>
                  <a:srgbClr val="FF0000"/>
                </a:solidFill>
              </a:rPr>
              <a:t> before asking for an output </a:t>
            </a:r>
            <a:r>
              <a:rPr lang="en-IE" dirty="0" smtClean="0">
                <a:solidFill>
                  <a:srgbClr val="FF0000"/>
                </a:solidFill>
              </a:rPr>
              <a:t>stream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dirty="0">
                <a:solidFill>
                  <a:srgbClr val="FF0000"/>
                </a:solidFill>
              </a:rPr>
              <a:t>When you set </a:t>
            </a:r>
            <a:r>
              <a:rPr lang="en-IE" dirty="0" err="1" smtClean="0">
                <a:solidFill>
                  <a:schemeClr val="tx2"/>
                </a:solidFill>
              </a:rPr>
              <a:t>doOutput</a:t>
            </a:r>
            <a:r>
              <a:rPr lang="en-IE" dirty="0" smtClean="0">
                <a:solidFill>
                  <a:schemeClr val="tx2"/>
                </a:solidFill>
              </a:rPr>
              <a:t> </a:t>
            </a:r>
            <a:r>
              <a:rPr lang="en-IE" dirty="0" smtClean="0">
                <a:solidFill>
                  <a:srgbClr val="FF0000"/>
                </a:solidFill>
              </a:rPr>
              <a:t>to </a:t>
            </a:r>
            <a:r>
              <a:rPr lang="en-IE" dirty="0">
                <a:solidFill>
                  <a:srgbClr val="FF0000"/>
                </a:solidFill>
              </a:rPr>
              <a:t>true for </a:t>
            </a:r>
            <a:r>
              <a:rPr lang="en-IE" dirty="0" smtClean="0">
                <a:solidFill>
                  <a:srgbClr val="FF0000"/>
                </a:solidFill>
              </a:rPr>
              <a:t>an </a:t>
            </a:r>
            <a:r>
              <a:rPr lang="en-IE" i="1" dirty="0" smtClean="0">
                <a:solidFill>
                  <a:srgbClr val="FF0000"/>
                </a:solidFill>
              </a:rPr>
              <a:t>http </a:t>
            </a:r>
            <a:r>
              <a:rPr lang="en-IE" dirty="0">
                <a:solidFill>
                  <a:srgbClr val="FF0000"/>
                </a:solidFill>
              </a:rPr>
              <a:t>URL, the request method is </a:t>
            </a:r>
            <a:r>
              <a:rPr lang="en-IE" dirty="0">
                <a:solidFill>
                  <a:schemeClr val="tx2"/>
                </a:solidFill>
              </a:rPr>
              <a:t>changed from GET to POST</a:t>
            </a:r>
            <a:endParaRPr lang="en-US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5.	Call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getOutputStream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to get an output stream object. </a:t>
            </a:r>
          </a:p>
          <a:p>
            <a:pPr>
              <a:buFontTx/>
              <a:buNone/>
            </a:pPr>
            <a:r>
              <a:rPr lang="en-US" altLang="en-US" dirty="0"/>
              <a:t>6.	Write the byte array calculated in step 5 onto the stream. </a:t>
            </a:r>
          </a:p>
          <a:p>
            <a:pPr>
              <a:buFontTx/>
              <a:buNone/>
            </a:pPr>
            <a:r>
              <a:rPr lang="en-US" altLang="en-US" dirty="0"/>
              <a:t>7.	Close the output stream. </a:t>
            </a:r>
          </a:p>
          <a:p>
            <a:pPr>
              <a:buFontTx/>
              <a:buNone/>
            </a:pPr>
            <a:r>
              <a:rPr lang="en-US" altLang="en-US" dirty="0"/>
              <a:t>8.	Call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getInputStream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to get an input stream object. Read from it as usual.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noFill/>
          <a:ln/>
        </p:spPr>
        <p:txBody>
          <a:bodyPr/>
          <a:lstStyle/>
          <a:p>
            <a:r>
              <a:rPr lang="en-US" altLang="en-US"/>
              <a:t>POST CGIs 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458200" cy="4495800"/>
          </a:xfrm>
          <a:noFill/>
          <a:ln/>
        </p:spPr>
        <p:txBody>
          <a:bodyPr>
            <a:normAutofit lnSpcReduction="10000"/>
          </a:bodyPr>
          <a:lstStyle/>
          <a:p>
            <a:r>
              <a:rPr lang="en-US" altLang="en-US"/>
              <a:t>A typical POST request to a CGI looks like this:</a:t>
            </a:r>
          </a:p>
          <a:p>
            <a:pPr lvl="2"/>
            <a:endParaRPr lang="en-US" altLang="en-US"/>
          </a:p>
          <a:p>
            <a:pPr lvl="2"/>
            <a:r>
              <a:rPr lang="en-US" altLang="en-US"/>
              <a:t>POST /cgi-bin/booksearch.pl HTTP/1.0 </a:t>
            </a:r>
          </a:p>
          <a:p>
            <a:pPr lvl="2"/>
            <a:r>
              <a:rPr lang="en-US" altLang="en-US"/>
              <a:t>Referer: http://www.macfaq.com/sampleform.html</a:t>
            </a:r>
          </a:p>
          <a:p>
            <a:pPr lvl="2"/>
            <a:r>
              <a:rPr lang="en-US" altLang="en-US"/>
              <a:t>User-Agent: Mozilla/3.01 (Macintosh; I; PPC)</a:t>
            </a:r>
          </a:p>
          <a:p>
            <a:pPr lvl="2"/>
            <a:r>
              <a:rPr lang="en-US" altLang="en-US"/>
              <a:t>Content-length: 60</a:t>
            </a:r>
          </a:p>
          <a:p>
            <a:pPr lvl="2"/>
            <a:r>
              <a:rPr lang="en-US" altLang="en-US"/>
              <a:t>Content-type: text/x-www-form-urlencoded</a:t>
            </a:r>
          </a:p>
          <a:p>
            <a:pPr lvl="2"/>
            <a:r>
              <a:rPr lang="en-US" altLang="en-US"/>
              <a:t>Host: utopia.poly.edu:56435</a:t>
            </a:r>
          </a:p>
          <a:p>
            <a:pPr lvl="2"/>
            <a:endParaRPr lang="en-US" altLang="en-US"/>
          </a:p>
          <a:p>
            <a:pPr lvl="2"/>
            <a:r>
              <a:rPr lang="en-US" altLang="en-US"/>
              <a:t>username=Sadie%2C+Julie&amp;realname=Women+Composers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A POST request includes 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altLang="en-US" dirty="0"/>
              <a:t>the POST line</a:t>
            </a:r>
          </a:p>
          <a:p>
            <a:r>
              <a:rPr lang="en-US" altLang="en-US" dirty="0"/>
              <a:t>a MIME header which must include </a:t>
            </a:r>
          </a:p>
          <a:p>
            <a:pPr lvl="1"/>
            <a:r>
              <a:rPr lang="en-US" altLang="en-US" dirty="0"/>
              <a:t>content type </a:t>
            </a:r>
          </a:p>
          <a:p>
            <a:pPr lvl="1"/>
            <a:r>
              <a:rPr lang="en-US" altLang="en-US" dirty="0"/>
              <a:t>content length </a:t>
            </a:r>
          </a:p>
          <a:p>
            <a:r>
              <a:rPr lang="en-US" altLang="en-US" dirty="0"/>
              <a:t>a blank line that signals the end of the MIME header</a:t>
            </a:r>
          </a:p>
          <a:p>
            <a:r>
              <a:rPr lang="en-US" altLang="en-US" dirty="0"/>
              <a:t>the actual data of the form, encoded in x-www-form-</a:t>
            </a:r>
            <a:r>
              <a:rPr lang="en-US" altLang="en-US" dirty="0" err="1"/>
              <a:t>urlencoded</a:t>
            </a:r>
            <a:r>
              <a:rPr lang="en-US" altLang="en-US" dirty="0"/>
              <a:t> format.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dirty="0" err="1"/>
              <a:t>URLConnection</a:t>
            </a:r>
            <a:r>
              <a:rPr lang="en-US" altLang="en-US" dirty="0"/>
              <a:t> for an http URL will set up the request line and the MIME header for you as long as you set its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doOutput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field to true by invoking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setDoOutput</a:t>
            </a:r>
            <a:r>
              <a:rPr lang="en-US" altLang="en-US" dirty="0">
                <a:solidFill>
                  <a:srgbClr val="FF0000"/>
                </a:solidFill>
                <a:latin typeface="Courier" pitchFamily="49" charset="0"/>
              </a:rPr>
              <a:t>(true</a:t>
            </a:r>
            <a:r>
              <a:rPr lang="en-US" altLang="en-US" dirty="0">
                <a:latin typeface="Courier" pitchFamily="49" charset="0"/>
              </a:rPr>
              <a:t>)</a:t>
            </a:r>
            <a:r>
              <a:rPr lang="en-US" altLang="en-US" dirty="0"/>
              <a:t>. </a:t>
            </a:r>
          </a:p>
          <a:p>
            <a:r>
              <a:rPr lang="en-US" altLang="en-US" dirty="0"/>
              <a:t>If you also want to read from the connection, you should set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doInput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to true with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setDoInput</a:t>
            </a:r>
            <a:r>
              <a:rPr lang="en-US" altLang="en-US" dirty="0">
                <a:solidFill>
                  <a:srgbClr val="FF0000"/>
                </a:solidFill>
                <a:latin typeface="Courier" pitchFamily="49" charset="0"/>
              </a:rPr>
              <a:t>(true</a:t>
            </a:r>
            <a:r>
              <a:rPr lang="en-US" altLang="en-US" dirty="0">
                <a:latin typeface="Courier" pitchFamily="49" charset="0"/>
              </a:rPr>
              <a:t>)</a:t>
            </a:r>
            <a:r>
              <a:rPr lang="en-US" altLang="en-US" dirty="0"/>
              <a:t> too. </a:t>
            </a:r>
            <a:r>
              <a:rPr lang="en-IE" dirty="0"/>
              <a:t>The default is true.</a:t>
            </a:r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For example,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lvl="2"/>
            <a:r>
              <a:rPr lang="en-US" altLang="en-US"/>
              <a:t>URLConnection uc = u.openConnection();</a:t>
            </a:r>
          </a:p>
          <a:p>
            <a:pPr lvl="2"/>
            <a:r>
              <a:rPr lang="en-US" altLang="en-US"/>
              <a:t>uc.setDoOutput(true);</a:t>
            </a:r>
          </a:p>
          <a:p>
            <a:pPr lvl="2"/>
            <a:r>
              <a:rPr lang="en-US" altLang="en-US"/>
              <a:t>uc.setDoInput(true);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altLang="en-US" dirty="0"/>
              <a:t>The  request line and MIME header are sent as soon as the </a:t>
            </a:r>
            <a:r>
              <a:rPr lang="en-US" altLang="en-US" dirty="0" err="1"/>
              <a:t>URLConnection</a:t>
            </a:r>
            <a:r>
              <a:rPr lang="en-US" altLang="en-US" dirty="0"/>
              <a:t> connects. </a:t>
            </a:r>
            <a:endParaRPr lang="en-US" altLang="en-US" dirty="0" smtClean="0"/>
          </a:p>
          <a:p>
            <a:r>
              <a:rPr lang="en-US" altLang="en-US" dirty="0" smtClean="0"/>
              <a:t>Then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getOutputStream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returns an output stream on which you can write the x-www-form-</a:t>
            </a:r>
            <a:r>
              <a:rPr lang="en-US" altLang="en-US" dirty="0" err="1"/>
              <a:t>urlencoded</a:t>
            </a:r>
            <a:r>
              <a:rPr lang="en-US" altLang="en-US" dirty="0"/>
              <a:t> name-value pairs.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19200"/>
            <a:ext cx="9144000" cy="4906963"/>
          </a:xfrm>
          <a:noFill/>
          <a:ln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try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{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pl-PL" sz="1800" dirty="0" smtClean="0">
                <a:solidFill>
                  <a:srgbClr val="000089"/>
                </a:solidFill>
                <a:latin typeface="UbuntuMono-Regular"/>
              </a:rPr>
              <a:t>URL </a:t>
            </a:r>
            <a:r>
              <a:rPr lang="pl-PL" sz="1800" dirty="0">
                <a:solidFill>
                  <a:srgbClr val="000089"/>
                </a:solidFill>
                <a:latin typeface="UbuntuMono-Regular"/>
              </a:rPr>
              <a:t>u </a:t>
            </a:r>
            <a:r>
              <a:rPr lang="pl-PL" sz="1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pl-PL" sz="1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pl-PL" sz="1800" dirty="0">
                <a:solidFill>
                  <a:srgbClr val="000089"/>
                </a:solidFill>
                <a:latin typeface="UbuntuMono-Regular"/>
              </a:rPr>
              <a:t>URL</a:t>
            </a:r>
            <a:r>
              <a:rPr lang="pl-PL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pl-PL" sz="1800" dirty="0">
                <a:solidFill>
                  <a:srgbClr val="CD3300"/>
                </a:solidFill>
                <a:latin typeface="UbuntuMono-Regular"/>
              </a:rPr>
              <a:t>"http://www.somehost.com/cgi-bin/acgi"</a:t>
            </a:r>
            <a:r>
              <a:rPr lang="pl-PL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i="1" dirty="0" smtClean="0">
                <a:solidFill>
                  <a:srgbClr val="35586C"/>
                </a:solidFill>
                <a:latin typeface="UbuntuMono-Italic"/>
              </a:rPr>
              <a:t>	// </a:t>
            </a:r>
            <a:r>
              <a:rPr lang="en-IE" sz="1800" i="1" dirty="0">
                <a:solidFill>
                  <a:srgbClr val="35586C"/>
                </a:solidFill>
                <a:latin typeface="UbuntuMono-Italic"/>
              </a:rPr>
              <a:t>open the connection and prepare it to POST</a:t>
            </a:r>
          </a:p>
          <a:p>
            <a:pPr marL="0" indent="0">
              <a:buNone/>
            </a:pP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1800" dirty="0" err="1" smtClean="0">
                <a:solidFill>
                  <a:srgbClr val="000089"/>
                </a:solidFill>
                <a:latin typeface="UbuntuMono-Regular"/>
              </a:rPr>
              <a:t>URLConnection</a:t>
            </a: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uc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u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openConnection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1800" dirty="0" err="1" smtClean="0">
                <a:solidFill>
                  <a:srgbClr val="000089"/>
                </a:solidFill>
                <a:latin typeface="UbuntuMono-Regular"/>
              </a:rPr>
              <a:t>uc</a:t>
            </a:r>
            <a:r>
              <a:rPr lang="en-IE" sz="1800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 smtClean="0">
                <a:solidFill>
                  <a:srgbClr val="33009A"/>
                </a:solidFill>
                <a:latin typeface="UbuntuMono-Regular"/>
              </a:rPr>
              <a:t>setDoOutput</a:t>
            </a:r>
            <a:r>
              <a:rPr lang="en-IE" sz="1800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b="1" dirty="0" smtClean="0">
                <a:solidFill>
                  <a:srgbClr val="00669A"/>
                </a:solidFill>
                <a:latin typeface="UbuntuMono-Bold"/>
              </a:rPr>
              <a:t>true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1800" dirty="0" err="1" smtClean="0">
                <a:solidFill>
                  <a:srgbClr val="000089"/>
                </a:solidFill>
                <a:latin typeface="UbuntuMono-Regular"/>
              </a:rPr>
              <a:t>OutputStream</a:t>
            </a: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raw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uc</a:t>
            </a:r>
            <a:r>
              <a:rPr lang="en-IE" sz="18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>
                <a:solidFill>
                  <a:srgbClr val="33009A"/>
                </a:solidFill>
                <a:latin typeface="UbuntuMono-Regular"/>
              </a:rPr>
              <a:t>getOutputStream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1800" dirty="0" err="1" smtClean="0">
                <a:solidFill>
                  <a:srgbClr val="000089"/>
                </a:solidFill>
                <a:latin typeface="UbuntuMono-Regular"/>
              </a:rPr>
              <a:t>OutputStream</a:t>
            </a: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buffered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BufferedOutputStream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raw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1800" dirty="0" err="1" smtClean="0">
                <a:solidFill>
                  <a:srgbClr val="000089"/>
                </a:solidFill>
                <a:latin typeface="UbuntuMono-Regular"/>
              </a:rPr>
              <a:t>OutputStreamWriter</a:t>
            </a: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 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out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new 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OutputStreamWriter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buffered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, 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"8859_1"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1800" dirty="0" err="1" smtClean="0">
                <a:solidFill>
                  <a:srgbClr val="000089"/>
                </a:solidFill>
                <a:latin typeface="UbuntuMono-Regular"/>
              </a:rPr>
              <a:t>out</a:t>
            </a:r>
            <a:r>
              <a:rPr lang="en-IE" sz="1800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 smtClean="0">
                <a:solidFill>
                  <a:srgbClr val="33009A"/>
                </a:solidFill>
                <a:latin typeface="UbuntuMono-Regular"/>
              </a:rPr>
              <a:t>write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"first=</a:t>
            </a:r>
            <a:r>
              <a:rPr lang="en-IE" sz="1800" dirty="0" err="1">
                <a:solidFill>
                  <a:srgbClr val="CD3300"/>
                </a:solidFill>
                <a:latin typeface="UbuntuMono-Regular"/>
              </a:rPr>
              <a:t>Julie&amp;middle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=&amp;last=</a:t>
            </a:r>
            <a:r>
              <a:rPr lang="en-IE" sz="1800" dirty="0" err="1">
                <a:solidFill>
                  <a:srgbClr val="CD3300"/>
                </a:solidFill>
                <a:latin typeface="UbuntuMono-Regular"/>
              </a:rPr>
              <a:t>Harting&amp;work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=</a:t>
            </a:r>
            <a:r>
              <a:rPr lang="en-IE" sz="1800" dirty="0" err="1">
                <a:solidFill>
                  <a:srgbClr val="CD3300"/>
                </a:solidFill>
                <a:latin typeface="UbuntuMono-Regular"/>
              </a:rPr>
              <a:t>String+Quartet</a:t>
            </a:r>
            <a:r>
              <a:rPr lang="en-IE" sz="1800" dirty="0">
                <a:solidFill>
                  <a:srgbClr val="CD3300"/>
                </a:solidFill>
                <a:latin typeface="UbuntuMono-Regular"/>
              </a:rPr>
              <a:t>\r\n"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1800" dirty="0" err="1" smtClean="0">
                <a:solidFill>
                  <a:srgbClr val="000089"/>
                </a:solidFill>
                <a:latin typeface="UbuntuMono-Regular"/>
              </a:rPr>
              <a:t>out</a:t>
            </a:r>
            <a:r>
              <a:rPr lang="en-IE" sz="1800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 smtClean="0">
                <a:solidFill>
                  <a:srgbClr val="33009A"/>
                </a:solidFill>
                <a:latin typeface="UbuntuMono-Regular"/>
              </a:rPr>
              <a:t>flush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1800" dirty="0" err="1" smtClean="0">
                <a:solidFill>
                  <a:srgbClr val="000089"/>
                </a:solidFill>
                <a:latin typeface="UbuntuMono-Regular"/>
              </a:rPr>
              <a:t>out</a:t>
            </a:r>
            <a:r>
              <a:rPr lang="en-IE" sz="1800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 smtClean="0">
                <a:solidFill>
                  <a:srgbClr val="33009A"/>
                </a:solidFill>
                <a:latin typeface="UbuntuMono-Regular"/>
              </a:rPr>
              <a:t>close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();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} </a:t>
            </a:r>
            <a:r>
              <a:rPr lang="en-IE" sz="1800" b="1" dirty="0">
                <a:solidFill>
                  <a:srgbClr val="00669A"/>
                </a:solidFill>
                <a:latin typeface="UbuntuMono-Bold"/>
              </a:rPr>
              <a:t>catch 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 err="1">
                <a:solidFill>
                  <a:srgbClr val="000089"/>
                </a:solidFill>
                <a:latin typeface="UbuntuMono-Regular"/>
              </a:rPr>
              <a:t>IOException</a:t>
            </a:r>
            <a:r>
              <a:rPr lang="en-IE" sz="1800" dirty="0">
                <a:solidFill>
                  <a:srgbClr val="000089"/>
                </a:solidFill>
                <a:latin typeface="UbuntuMono-Regular"/>
              </a:rPr>
              <a:t> ex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 {</a:t>
            </a:r>
          </a:p>
          <a:p>
            <a:pPr marL="0" indent="0">
              <a:buNone/>
            </a:pP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	</a:t>
            </a:r>
            <a:r>
              <a:rPr lang="en-IE" sz="1800" dirty="0" err="1" smtClean="0">
                <a:solidFill>
                  <a:srgbClr val="000089"/>
                </a:solidFill>
                <a:latin typeface="UbuntuMono-Regular"/>
              </a:rPr>
              <a:t>System</a:t>
            </a:r>
            <a:r>
              <a:rPr lang="en-IE" sz="1800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 smtClean="0">
                <a:solidFill>
                  <a:srgbClr val="33009A"/>
                </a:solidFill>
                <a:latin typeface="UbuntuMono-Regular"/>
              </a:rPr>
              <a:t>err</a:t>
            </a:r>
            <a:r>
              <a:rPr lang="en-IE" sz="1800" dirty="0" err="1" smtClean="0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IE" sz="1800" dirty="0" err="1" smtClean="0">
                <a:solidFill>
                  <a:srgbClr val="33009A"/>
                </a:solidFill>
                <a:latin typeface="UbuntuMono-Regular"/>
              </a:rPr>
              <a:t>println</a:t>
            </a:r>
            <a:r>
              <a:rPr lang="en-IE" sz="1800" dirty="0" smtClean="0">
                <a:solidFill>
                  <a:srgbClr val="555555"/>
                </a:solidFill>
                <a:latin typeface="UbuntuMono-Regular"/>
              </a:rPr>
              <a:t>(</a:t>
            </a:r>
            <a:r>
              <a:rPr lang="en-IE" sz="1800" dirty="0" smtClean="0">
                <a:solidFill>
                  <a:srgbClr val="000089"/>
                </a:solidFill>
                <a:latin typeface="UbuntuMono-Regular"/>
              </a:rPr>
              <a:t>ex</a:t>
            </a: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);</a:t>
            </a:r>
          </a:p>
          <a:p>
            <a:pPr marL="0" indent="0">
              <a:buNone/>
            </a:pPr>
            <a:r>
              <a:rPr lang="en-IE" sz="1800" dirty="0">
                <a:solidFill>
                  <a:srgbClr val="555555"/>
                </a:solidFill>
                <a:latin typeface="UbuntuMono-Regular"/>
              </a:rPr>
              <a:t>}</a:t>
            </a:r>
            <a:endParaRPr lang="en-US" altLang="en-US" sz="1800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914400"/>
          </a:xfrm>
          <a:noFill/>
          <a:ln/>
        </p:spPr>
        <p:txBody>
          <a:bodyPr/>
          <a:lstStyle/>
          <a:p>
            <a:r>
              <a:rPr lang="en-US" altLang="en-US" dirty="0" smtClean="0"/>
              <a:t>Example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74949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0" y="457200"/>
            <a:ext cx="9144000" cy="6400800"/>
          </a:xfrm>
          <a:noFill/>
          <a:ln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java.io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.*; </a:t>
            </a: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url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.*; </a:t>
            </a: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java.net.*;</a:t>
            </a:r>
          </a:p>
          <a:p>
            <a:pPr marL="0" indent="0">
              <a:buNone/>
            </a:pPr>
            <a:r>
              <a:rPr lang="en-IE" sz="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FormPoster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sz="800" b="1" dirty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URL </a:t>
            </a:r>
            <a:r>
              <a:rPr lang="en-IE" sz="800" b="1" dirty="0" err="1">
                <a:solidFill>
                  <a:srgbClr val="0000C0"/>
                </a:solidFill>
                <a:latin typeface="Consolas"/>
              </a:rPr>
              <a:t>url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private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QueryString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0000C0"/>
                </a:solidFill>
                <a:latin typeface="Consolas"/>
              </a:rPr>
              <a:t>query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QueryString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FormPoster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(URL </a:t>
            </a:r>
            <a:r>
              <a:rPr lang="en-IE" sz="800" b="1" dirty="0" err="1">
                <a:solidFill>
                  <a:srgbClr val="6A3E3E"/>
                </a:solidFill>
                <a:latin typeface="Consolas"/>
              </a:rPr>
              <a:t>url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if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(!</a:t>
            </a:r>
            <a:r>
              <a:rPr lang="en-IE" sz="800" b="1" dirty="0" err="1">
                <a:solidFill>
                  <a:srgbClr val="6A3E3E"/>
                </a:solidFill>
                <a:latin typeface="Consolas"/>
              </a:rPr>
              <a:t>url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.getProtocol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().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toLowerCase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().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startsWith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b="1" dirty="0">
                <a:solidFill>
                  <a:srgbClr val="2A00FF"/>
                </a:solidFill>
                <a:latin typeface="Consolas"/>
              </a:rPr>
              <a:t>"http"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)) 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{ </a:t>
            </a: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throw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IllegalArgumentException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800" dirty="0">
                <a:solidFill>
                  <a:srgbClr val="2A00FF"/>
                </a:solidFill>
                <a:latin typeface="Consolas"/>
              </a:rPr>
              <a:t>Posting only works for http URLs</a:t>
            </a:r>
            <a:r>
              <a:rPr lang="en-IE" sz="800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);}</a:t>
            </a:r>
            <a:endParaRPr lang="en-IE" sz="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this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.</a:t>
            </a:r>
            <a:r>
              <a:rPr lang="en-IE" sz="800" b="1" dirty="0" smtClean="0">
                <a:solidFill>
                  <a:srgbClr val="0000C0"/>
                </a:solidFill>
                <a:latin typeface="Consolas"/>
              </a:rPr>
              <a:t>url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IE" sz="800" b="1" dirty="0" err="1">
                <a:solidFill>
                  <a:srgbClr val="6A3E3E"/>
                </a:solidFill>
                <a:latin typeface="Consolas"/>
              </a:rPr>
              <a:t>url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8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en-IE" sz="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add(String </a:t>
            </a:r>
            <a:r>
              <a:rPr lang="en-IE" sz="800" b="1" dirty="0">
                <a:solidFill>
                  <a:srgbClr val="6A3E3E"/>
                </a:solidFill>
                <a:latin typeface="Consolas"/>
              </a:rPr>
              <a:t>name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, String </a:t>
            </a:r>
            <a:r>
              <a:rPr lang="en-IE" sz="800" b="1" dirty="0">
                <a:solidFill>
                  <a:srgbClr val="6A3E3E"/>
                </a:solidFill>
                <a:latin typeface="Consolas"/>
              </a:rPr>
              <a:t>value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{ </a:t>
            </a:r>
            <a:r>
              <a:rPr lang="en-IE" sz="800" dirty="0" smtClean="0">
                <a:solidFill>
                  <a:srgbClr val="0000C0"/>
                </a:solidFill>
                <a:latin typeface="Consolas"/>
              </a:rPr>
              <a:t>	</a:t>
            </a:r>
            <a:r>
              <a:rPr lang="en-IE" sz="800" dirty="0" err="1" smtClean="0">
                <a:solidFill>
                  <a:srgbClr val="0000C0"/>
                </a:solidFill>
                <a:latin typeface="Consolas"/>
              </a:rPr>
              <a:t>query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.add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dirty="0" smtClean="0">
                <a:solidFill>
                  <a:srgbClr val="6A3E3E"/>
                </a:solidFill>
                <a:latin typeface="Consolas"/>
              </a:rPr>
              <a:t>name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800" dirty="0">
                <a:solidFill>
                  <a:srgbClr val="6A3E3E"/>
                </a:solidFill>
                <a:latin typeface="Consolas"/>
              </a:rPr>
              <a:t>value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); }</a:t>
            </a:r>
            <a:endParaRPr lang="en-IE" sz="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URL 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getURL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{ </a:t>
            </a: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return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this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.</a:t>
            </a:r>
            <a:r>
              <a:rPr lang="en-IE" sz="800" b="1" dirty="0">
                <a:solidFill>
                  <a:srgbClr val="0000C0"/>
                </a:solidFill>
                <a:latin typeface="Consolas"/>
              </a:rPr>
              <a:t>url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IE" sz="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InputStream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post()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URLConnection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800" dirty="0" err="1">
                <a:solidFill>
                  <a:srgbClr val="0000C0"/>
                </a:solidFill>
                <a:latin typeface="Consolas"/>
              </a:rPr>
              <a:t>url</a:t>
            </a:r>
            <a:r>
              <a:rPr lang="en-IE" sz="800" dirty="0" err="1">
                <a:solidFill>
                  <a:srgbClr val="000000"/>
                </a:solidFill>
                <a:latin typeface="Consolas"/>
              </a:rPr>
              <a:t>.openConnection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(); </a:t>
            </a:r>
            <a:r>
              <a:rPr lang="en-IE" sz="800" dirty="0" smtClean="0">
                <a:solidFill>
                  <a:srgbClr val="6A3E3E"/>
                </a:solidFill>
                <a:latin typeface="Consolas"/>
              </a:rPr>
              <a:t>	</a:t>
            </a:r>
            <a:r>
              <a:rPr lang="en-IE" sz="800" dirty="0" err="1" smtClean="0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.setDoOutput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true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try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b="1" dirty="0" err="1" smtClean="0">
                <a:solidFill>
                  <a:srgbClr val="000000"/>
                </a:solidFill>
                <a:latin typeface="Consolas"/>
              </a:rPr>
              <a:t>OutputStreamWriter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6A3E3E"/>
                </a:solidFill>
                <a:latin typeface="Consolas"/>
              </a:rPr>
              <a:t>out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OutputStreamWriter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b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.getOutputStream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IE" sz="800" b="1" dirty="0">
                <a:solidFill>
                  <a:srgbClr val="2A00FF"/>
                </a:solidFill>
                <a:latin typeface="Consolas"/>
              </a:rPr>
              <a:t>"UTF-8"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)) {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6A3E3E"/>
                </a:solidFill>
                <a:latin typeface="Consolas"/>
              </a:rPr>
              <a:t>		</a:t>
            </a:r>
            <a:r>
              <a:rPr lang="en-IE" sz="800" dirty="0" err="1" smtClean="0">
                <a:solidFill>
                  <a:srgbClr val="6A3E3E"/>
                </a:solidFill>
                <a:latin typeface="Consolas"/>
              </a:rPr>
              <a:t>out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.write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dirty="0" err="1" smtClean="0">
                <a:solidFill>
                  <a:srgbClr val="0000C0"/>
                </a:solidFill>
                <a:latin typeface="Consolas"/>
              </a:rPr>
              <a:t>query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.toString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6A3E3E"/>
                </a:solidFill>
                <a:latin typeface="Consolas"/>
              </a:rPr>
              <a:t>		</a:t>
            </a:r>
            <a:r>
              <a:rPr lang="en-IE" sz="800" dirty="0" err="1" smtClean="0">
                <a:solidFill>
                  <a:srgbClr val="6A3E3E"/>
                </a:solidFill>
                <a:latin typeface="Consolas"/>
              </a:rPr>
              <a:t>out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.write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dirty="0">
                <a:solidFill>
                  <a:srgbClr val="2A00FF"/>
                </a:solidFill>
                <a:latin typeface="Consolas"/>
              </a:rPr>
              <a:t>"\r\n"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6A3E3E"/>
                </a:solidFill>
                <a:latin typeface="Consolas"/>
              </a:rPr>
              <a:t>		</a:t>
            </a:r>
            <a:r>
              <a:rPr lang="en-IE" sz="800" dirty="0" err="1" smtClean="0">
                <a:solidFill>
                  <a:srgbClr val="6A3E3E"/>
                </a:solidFill>
                <a:latin typeface="Consolas"/>
              </a:rPr>
              <a:t>out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.flush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}</a:t>
            </a:r>
            <a:endParaRPr lang="en-IE" sz="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return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 err="1">
                <a:solidFill>
                  <a:srgbClr val="6A3E3E"/>
                </a:solidFill>
                <a:latin typeface="Consolas"/>
              </a:rPr>
              <a:t>uc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.getInputStream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(); 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IE" sz="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8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IE" sz="8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URL </a:t>
            </a:r>
            <a:r>
              <a:rPr lang="en-IE" sz="800" dirty="0" err="1">
                <a:solidFill>
                  <a:srgbClr val="6A3E3E"/>
                </a:solidFill>
                <a:latin typeface="Consolas"/>
              </a:rPr>
              <a:t>url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if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IE" sz="800" b="1" dirty="0" err="1">
                <a:solidFill>
                  <a:srgbClr val="0000C0"/>
                </a:solidFill>
                <a:latin typeface="Consolas"/>
              </a:rPr>
              <a:t>length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&gt; 0) {</a:t>
            </a:r>
          </a:p>
          <a:p>
            <a:pPr marL="0" indent="0">
              <a:buNone/>
            </a:pP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try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{ </a:t>
            </a:r>
            <a:r>
              <a:rPr lang="en-IE" sz="800" dirty="0" err="1" smtClean="0">
                <a:solidFill>
                  <a:srgbClr val="6A3E3E"/>
                </a:solidFill>
                <a:latin typeface="Consolas"/>
              </a:rPr>
              <a:t>url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URL(</a:t>
            </a:r>
            <a:r>
              <a:rPr lang="en-IE" sz="80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[0]);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}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MalformedURLException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800" b="1" i="1" dirty="0" err="1" smtClean="0">
                <a:solidFill>
                  <a:srgbClr val="0000C0"/>
                </a:solidFill>
                <a:latin typeface="Consolas"/>
              </a:rPr>
              <a:t>err</a:t>
            </a:r>
            <a:r>
              <a:rPr lang="en-IE" sz="800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8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b="1" i="1" dirty="0">
                <a:solidFill>
                  <a:srgbClr val="2A00FF"/>
                </a:solidFill>
                <a:latin typeface="Consolas"/>
              </a:rPr>
              <a:t>"Usage: java </a:t>
            </a:r>
            <a:r>
              <a:rPr lang="en-IE" sz="800" b="1" i="1" dirty="0" err="1">
                <a:solidFill>
                  <a:srgbClr val="2A00FF"/>
                </a:solidFill>
                <a:latin typeface="Consolas"/>
              </a:rPr>
              <a:t>FormPoster</a:t>
            </a:r>
            <a:r>
              <a:rPr lang="en-IE" sz="800" b="1" i="1" dirty="0">
                <a:solidFill>
                  <a:srgbClr val="2A00FF"/>
                </a:solidFill>
                <a:latin typeface="Consolas"/>
              </a:rPr>
              <a:t> </a:t>
            </a:r>
            <a:r>
              <a:rPr lang="en-IE" sz="800" b="1" i="1" dirty="0" err="1">
                <a:solidFill>
                  <a:srgbClr val="2A00FF"/>
                </a:solidFill>
                <a:latin typeface="Consolas"/>
              </a:rPr>
              <a:t>url</a:t>
            </a:r>
            <a:r>
              <a:rPr lang="en-IE" sz="800" b="1" i="1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800" b="1" i="1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return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}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} </a:t>
            </a: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else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try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6A3E3E"/>
                </a:solidFill>
                <a:latin typeface="Consolas"/>
              </a:rPr>
              <a:t>		</a:t>
            </a:r>
            <a:r>
              <a:rPr lang="en-IE" sz="800" dirty="0" err="1" smtClean="0">
                <a:solidFill>
                  <a:srgbClr val="6A3E3E"/>
                </a:solidFill>
                <a:latin typeface="Consolas"/>
              </a:rPr>
              <a:t>url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URL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800" dirty="0">
                <a:solidFill>
                  <a:srgbClr val="2A00FF"/>
                </a:solidFill>
                <a:latin typeface="Consolas"/>
              </a:rPr>
              <a:t>http://www.cafeaulait.org/books/jnp4/postquery.phtml"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}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MalformedURLException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) { </a:t>
            </a:r>
            <a:r>
              <a:rPr lang="en-IE" sz="800" b="1" dirty="0">
                <a:solidFill>
                  <a:srgbClr val="3F7F5F"/>
                </a:solidFill>
                <a:latin typeface="Consolas"/>
              </a:rPr>
              <a:t>// shouldn't happen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800" b="1" i="1" dirty="0" err="1" smtClean="0">
                <a:solidFill>
                  <a:srgbClr val="0000C0"/>
                </a:solidFill>
                <a:latin typeface="Consolas"/>
              </a:rPr>
              <a:t>err</a:t>
            </a:r>
            <a:r>
              <a:rPr lang="en-IE" sz="800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800" b="1" i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b="1" i="1" dirty="0" smtClean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800" b="1" i="1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	return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}</a:t>
            </a:r>
            <a:endParaRPr lang="en-IE" sz="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8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FormPoster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dirty="0">
                <a:solidFill>
                  <a:srgbClr val="6A3E3E"/>
                </a:solidFill>
                <a:latin typeface="Consolas"/>
              </a:rPr>
              <a:t>poster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FormPoster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b="1" dirty="0" err="1">
                <a:solidFill>
                  <a:srgbClr val="6A3E3E"/>
                </a:solidFill>
                <a:latin typeface="Consolas"/>
              </a:rPr>
              <a:t>url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6A3E3E"/>
                </a:solidFill>
                <a:latin typeface="Consolas"/>
              </a:rPr>
              <a:t>	</a:t>
            </a:r>
            <a:r>
              <a:rPr lang="en-IE" sz="800" dirty="0" err="1" smtClean="0">
                <a:solidFill>
                  <a:srgbClr val="6A3E3E"/>
                </a:solidFill>
                <a:latin typeface="Consolas"/>
              </a:rPr>
              <a:t>poster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.add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dirty="0">
                <a:solidFill>
                  <a:srgbClr val="2A00FF"/>
                </a:solidFill>
                <a:latin typeface="Consolas"/>
              </a:rPr>
              <a:t>"name"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8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800" dirty="0" err="1">
                <a:solidFill>
                  <a:srgbClr val="2A00FF"/>
                </a:solidFill>
                <a:latin typeface="Consolas"/>
              </a:rPr>
              <a:t>Elliotte</a:t>
            </a:r>
            <a:r>
              <a:rPr lang="en-IE" sz="800" dirty="0">
                <a:solidFill>
                  <a:srgbClr val="2A00FF"/>
                </a:solidFill>
                <a:latin typeface="Consolas"/>
              </a:rPr>
              <a:t> Rusty Harold</a:t>
            </a:r>
            <a:r>
              <a:rPr lang="en-IE" sz="800" dirty="0" smtClean="0">
                <a:solidFill>
                  <a:srgbClr val="2A00FF"/>
                </a:solidFill>
                <a:latin typeface="Consolas"/>
              </a:rPr>
              <a:t>"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IE" sz="800" dirty="0" smtClean="0">
                <a:solidFill>
                  <a:srgbClr val="6A3E3E"/>
                </a:solidFill>
                <a:latin typeface="Consolas"/>
              </a:rPr>
              <a:t>	</a:t>
            </a:r>
            <a:r>
              <a:rPr lang="en-IE" sz="800" dirty="0" err="1" smtClean="0">
                <a:solidFill>
                  <a:srgbClr val="6A3E3E"/>
                </a:solidFill>
                <a:latin typeface="Consolas"/>
              </a:rPr>
              <a:t>poster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.add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dirty="0">
                <a:solidFill>
                  <a:srgbClr val="2A00FF"/>
                </a:solidFill>
                <a:latin typeface="Consolas"/>
              </a:rPr>
              <a:t>"email"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IE" sz="800" dirty="0">
                <a:solidFill>
                  <a:srgbClr val="2A00FF"/>
                </a:solidFill>
                <a:latin typeface="Consolas"/>
              </a:rPr>
              <a:t>"elharo@ibiblio.org"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try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InputStream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6A3E3E"/>
                </a:solidFill>
                <a:latin typeface="Consolas"/>
              </a:rPr>
              <a:t>in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800" b="1" dirty="0" err="1">
                <a:solidFill>
                  <a:srgbClr val="6A3E3E"/>
                </a:solidFill>
                <a:latin typeface="Consolas"/>
              </a:rPr>
              <a:t>poster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.post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()) {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	Reader </a:t>
            </a:r>
            <a:r>
              <a:rPr lang="en-IE" sz="800" dirty="0">
                <a:solidFill>
                  <a:srgbClr val="6A3E3E"/>
                </a:solidFill>
                <a:latin typeface="Consolas"/>
              </a:rPr>
              <a:t>r</a:t>
            </a:r>
            <a:r>
              <a:rPr lang="en-IE" sz="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InputStreamReader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b="1" dirty="0">
                <a:solidFill>
                  <a:srgbClr val="6A3E3E"/>
                </a:solidFill>
                <a:latin typeface="Consolas"/>
              </a:rPr>
              <a:t>in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); </a:t>
            </a: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	</a:t>
            </a:r>
            <a:r>
              <a:rPr lang="en-IE" sz="800" b="1" dirty="0" err="1" smtClean="0">
                <a:solidFill>
                  <a:srgbClr val="7F0055"/>
                </a:solidFill>
                <a:latin typeface="Consolas"/>
              </a:rPr>
              <a:t>int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6A3E3E"/>
                </a:solidFill>
                <a:latin typeface="Consolas"/>
              </a:rPr>
              <a:t>c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IE" sz="800" b="1" dirty="0" smtClean="0">
                <a:solidFill>
                  <a:srgbClr val="7F0055"/>
                </a:solidFill>
                <a:latin typeface="Consolas"/>
              </a:rPr>
              <a:t>		while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((</a:t>
            </a:r>
            <a:r>
              <a:rPr lang="en-IE" sz="800" b="1" dirty="0">
                <a:solidFill>
                  <a:srgbClr val="6A3E3E"/>
                </a:solidFill>
                <a:latin typeface="Consolas"/>
              </a:rPr>
              <a:t>c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IE" sz="800" b="1" dirty="0" err="1">
                <a:solidFill>
                  <a:srgbClr val="6A3E3E"/>
                </a:solidFill>
                <a:latin typeface="Consolas"/>
              </a:rPr>
              <a:t>r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.read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()) != -1) {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		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800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800" b="1" i="1" dirty="0" err="1" smtClean="0">
                <a:solidFill>
                  <a:srgbClr val="000000"/>
                </a:solidFill>
                <a:latin typeface="Consolas"/>
              </a:rPr>
              <a:t>.print</a:t>
            </a:r>
            <a:r>
              <a:rPr lang="en-IE" sz="800" b="1" i="1" dirty="0">
                <a:solidFill>
                  <a:srgbClr val="000000"/>
                </a:solidFill>
                <a:latin typeface="Consolas"/>
              </a:rPr>
              <a:t>((</a:t>
            </a:r>
            <a:r>
              <a:rPr lang="en-IE" sz="800" b="1" i="1" dirty="0">
                <a:solidFill>
                  <a:srgbClr val="7F0055"/>
                </a:solidFill>
                <a:latin typeface="Consolas"/>
              </a:rPr>
              <a:t>char</a:t>
            </a:r>
            <a:r>
              <a:rPr lang="en-IE" sz="800" b="1" i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800" b="1" i="1" dirty="0">
                <a:solidFill>
                  <a:srgbClr val="6A3E3E"/>
                </a:solidFill>
                <a:latin typeface="Consolas"/>
              </a:rPr>
              <a:t>c</a:t>
            </a:r>
            <a:r>
              <a:rPr lang="en-IE" sz="800" b="1" i="1" dirty="0" smtClean="0">
                <a:solidFill>
                  <a:srgbClr val="000000"/>
                </a:solidFill>
                <a:latin typeface="Consolas"/>
              </a:rPr>
              <a:t>);</a:t>
            </a: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IE" sz="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800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en-IE" sz="800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800" b="1" i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} </a:t>
            </a:r>
            <a:r>
              <a:rPr lang="en-IE" sz="8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IE" sz="8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IE" sz="800" b="1" dirty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8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IE" sz="800" b="1" dirty="0" smtClean="0">
                <a:solidFill>
                  <a:srgbClr val="000000"/>
                </a:solidFill>
                <a:latin typeface="Consolas"/>
              </a:rPr>
              <a:t>{	</a:t>
            </a:r>
            <a:endParaRPr lang="en-IE" sz="800" b="1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		</a:t>
            </a:r>
            <a:r>
              <a:rPr lang="en-IE" sz="800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en-IE" sz="800" b="1" i="1" dirty="0" err="1" smtClean="0">
                <a:solidFill>
                  <a:srgbClr val="0000C0"/>
                </a:solidFill>
                <a:latin typeface="Consolas"/>
              </a:rPr>
              <a:t>err</a:t>
            </a:r>
            <a:r>
              <a:rPr lang="en-IE" sz="800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en-IE" sz="800" b="1" i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IE" sz="800" b="1" i="1" dirty="0" smtClean="0">
                <a:solidFill>
                  <a:srgbClr val="6A3E3E"/>
                </a:solidFill>
                <a:latin typeface="Consolas"/>
              </a:rPr>
              <a:t>ex</a:t>
            </a:r>
            <a:r>
              <a:rPr lang="en-IE" sz="80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IE" sz="800" dirty="0" smtClean="0">
                <a:solidFill>
                  <a:srgbClr val="000000"/>
                </a:solidFill>
                <a:latin typeface="Consolas"/>
              </a:rPr>
              <a:t>}}}</a:t>
            </a:r>
            <a:endParaRPr lang="en-US" altLang="en-US" sz="800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 err="1" smtClean="0"/>
              <a:t>FormPoster</a:t>
            </a:r>
            <a:r>
              <a:rPr lang="en-US" altLang="en-US" dirty="0" smtClean="0"/>
              <a:t> Example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96142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HttpURLConnection 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java.net.HttpURLConnection</a:t>
            </a:r>
            <a:r>
              <a:rPr lang="en-US" altLang="en-US" dirty="0"/>
              <a:t> </a:t>
            </a:r>
            <a:r>
              <a:rPr lang="en-US" altLang="en-US"/>
              <a:t>is </a:t>
            </a:r>
            <a:r>
              <a:rPr lang="en-US" altLang="en-US" smtClean="0"/>
              <a:t>a subclass </a:t>
            </a:r>
            <a:r>
              <a:rPr lang="en-US" altLang="en-US" dirty="0"/>
              <a:t>of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URLConnection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that provides some additional methods specific to the HTTP protocol. </a:t>
            </a:r>
          </a:p>
          <a:p>
            <a:r>
              <a:rPr lang="en-US" altLang="en-US" dirty="0"/>
              <a:t>URL connection objects that are returned by an http URL will be instances of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java.net.HttpURLConnection</a:t>
            </a:r>
            <a:r>
              <a:rPr lang="en-US" altLang="en-US" dirty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noFill/>
          <a:ln/>
        </p:spPr>
        <p:txBody>
          <a:bodyPr/>
          <a:lstStyle/>
          <a:p>
            <a:r>
              <a:rPr lang="en-US" altLang="en-US"/>
              <a:t>Recall 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72400" cy="4114800"/>
          </a:xfrm>
          <a:noFill/>
          <a:ln/>
        </p:spPr>
        <p:txBody>
          <a:bodyPr>
            <a:normAutofit fontScale="92500" lnSpcReduction="10000"/>
          </a:bodyPr>
          <a:lstStyle/>
          <a:p>
            <a:r>
              <a:rPr lang="en-US" altLang="en-US"/>
              <a:t>a typical HTTP response from a web server begins like this:</a:t>
            </a:r>
          </a:p>
          <a:p>
            <a:pPr lvl="2"/>
            <a:endParaRPr lang="en-US" altLang="en-US"/>
          </a:p>
          <a:p>
            <a:pPr lvl="2"/>
            <a:r>
              <a:rPr lang="en-US" altLang="en-US"/>
              <a:t>HTTP/1.0 200 OK</a:t>
            </a:r>
          </a:p>
          <a:p>
            <a:pPr lvl="2"/>
            <a:r>
              <a:rPr lang="en-US" altLang="en-US"/>
              <a:t>Server: Netscape-Enterprise/2.01</a:t>
            </a:r>
          </a:p>
          <a:p>
            <a:pPr lvl="2"/>
            <a:r>
              <a:rPr lang="en-US" altLang="en-US"/>
              <a:t>Date: Sat, 02 Aug 1997 07:52:46 GMT</a:t>
            </a:r>
          </a:p>
          <a:p>
            <a:pPr lvl="2"/>
            <a:r>
              <a:rPr lang="en-US" altLang="en-US"/>
              <a:t>Accept-ranges: bytes</a:t>
            </a:r>
          </a:p>
          <a:p>
            <a:pPr lvl="2"/>
            <a:r>
              <a:rPr lang="en-US" altLang="en-US"/>
              <a:t>Last-modified: Tue, 29 Jul 1997 15:06:46 GMT</a:t>
            </a:r>
          </a:p>
          <a:p>
            <a:pPr lvl="2"/>
            <a:r>
              <a:rPr lang="en-US" altLang="en-US"/>
              <a:t>Content-length: 2810</a:t>
            </a:r>
          </a:p>
          <a:p>
            <a:pPr lvl="2"/>
            <a:r>
              <a:rPr lang="en-US" altLang="en-US"/>
              <a:t>Content-type: text/html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noFill/>
          <a:ln/>
        </p:spPr>
        <p:txBody>
          <a:bodyPr/>
          <a:lstStyle/>
          <a:p>
            <a:r>
              <a:rPr lang="en-US" altLang="en-US"/>
              <a:t>Response Codes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458200" cy="4800600"/>
          </a:xfrm>
          <a:noFill/>
          <a:ln/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getHeaderField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and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getHeaderFieldKey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don't return the HTTP response code</a:t>
            </a:r>
          </a:p>
          <a:p>
            <a:r>
              <a:rPr lang="en-US" altLang="en-US" dirty="0"/>
              <a:t>After you've connected, you can retrieve the numeric response code--200 in the above example--with the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getResponseCode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method and the message associated with it--OK in the above example--with the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getResponseMessage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method.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Response Code and message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715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E" sz="1300" b="1" dirty="0" smtClean="0"/>
              <a:t>import </a:t>
            </a:r>
            <a:r>
              <a:rPr lang="en-IE" sz="1300" b="1" dirty="0"/>
              <a:t>java.io</a:t>
            </a:r>
            <a:r>
              <a:rPr lang="en-IE" sz="1300" b="1" dirty="0" smtClean="0"/>
              <a:t>.*;import </a:t>
            </a:r>
            <a:r>
              <a:rPr lang="en-IE" sz="1300" b="1" dirty="0"/>
              <a:t>java.net</a:t>
            </a:r>
            <a:r>
              <a:rPr lang="en-IE" sz="1300" b="1" dirty="0" smtClean="0"/>
              <a:t>.*; public </a:t>
            </a:r>
            <a:r>
              <a:rPr lang="en-IE" sz="1300" b="1" dirty="0"/>
              <a:t>class SourceViewer3 {</a:t>
            </a:r>
          </a:p>
          <a:p>
            <a:pPr marL="0" indent="0">
              <a:buNone/>
            </a:pPr>
            <a:r>
              <a:rPr lang="en-IE" sz="1300" b="1" dirty="0"/>
              <a:t>public static void main (String[] </a:t>
            </a:r>
            <a:r>
              <a:rPr lang="en-IE" sz="1300" b="1" dirty="0" err="1"/>
              <a:t>args</a:t>
            </a:r>
            <a:r>
              <a:rPr lang="en-IE" sz="1300" b="1" dirty="0"/>
              <a:t>) {</a:t>
            </a:r>
          </a:p>
          <a:p>
            <a:pPr marL="0" indent="0">
              <a:buNone/>
            </a:pPr>
            <a:r>
              <a:rPr lang="en-IE" sz="1300" b="1" dirty="0" smtClean="0"/>
              <a:t>try {</a:t>
            </a:r>
            <a:r>
              <a:rPr lang="en-IE" sz="1300" b="1" dirty="0"/>
              <a:t>	URL u = new URL("http://www.ncp.edu.pk");</a:t>
            </a:r>
          </a:p>
          <a:p>
            <a:pPr marL="0" indent="0">
              <a:buNone/>
            </a:pPr>
            <a:r>
              <a:rPr lang="en-IE" sz="1300" b="1" dirty="0"/>
              <a:t>	</a:t>
            </a:r>
            <a:r>
              <a:rPr lang="en-IE" sz="1300" b="1" dirty="0" err="1"/>
              <a:t>HttpURLConnection</a:t>
            </a:r>
            <a:r>
              <a:rPr lang="en-IE" sz="1300" b="1" dirty="0"/>
              <a:t> </a:t>
            </a:r>
            <a:r>
              <a:rPr lang="en-IE" sz="1300" b="1" dirty="0" err="1"/>
              <a:t>uc</a:t>
            </a:r>
            <a:r>
              <a:rPr lang="en-IE" sz="1300" b="1" dirty="0"/>
              <a:t> = (</a:t>
            </a:r>
            <a:r>
              <a:rPr lang="en-IE" sz="1300" b="1" dirty="0" err="1"/>
              <a:t>HttpURLConnection</a:t>
            </a:r>
            <a:r>
              <a:rPr lang="en-IE" sz="1300" b="1" dirty="0"/>
              <a:t>) </a:t>
            </a:r>
            <a:r>
              <a:rPr lang="en-IE" sz="1300" b="1" dirty="0" err="1"/>
              <a:t>u.openConnection</a:t>
            </a:r>
            <a:r>
              <a:rPr lang="en-IE" sz="1300" b="1" dirty="0"/>
              <a:t>();</a:t>
            </a:r>
          </a:p>
          <a:p>
            <a:pPr marL="0" indent="0">
              <a:buNone/>
            </a:pPr>
            <a:r>
              <a:rPr lang="en-IE" sz="1300" b="1" dirty="0"/>
              <a:t>	</a:t>
            </a:r>
            <a:r>
              <a:rPr lang="en-IE" sz="1300" b="1" dirty="0" err="1"/>
              <a:t>int</a:t>
            </a:r>
            <a:r>
              <a:rPr lang="en-IE" sz="1300" b="1" dirty="0"/>
              <a:t> code = </a:t>
            </a:r>
            <a:r>
              <a:rPr lang="en-IE" sz="1300" b="1" dirty="0" err="1"/>
              <a:t>uc.getResponseCode</a:t>
            </a:r>
            <a:r>
              <a:rPr lang="en-IE" sz="1300" b="1" dirty="0"/>
              <a:t>();</a:t>
            </a:r>
          </a:p>
          <a:p>
            <a:pPr marL="0" indent="0">
              <a:buNone/>
            </a:pPr>
            <a:r>
              <a:rPr lang="en-IE" sz="1300" b="1" dirty="0"/>
              <a:t>	String response = </a:t>
            </a:r>
            <a:r>
              <a:rPr lang="en-IE" sz="1300" b="1" dirty="0" err="1"/>
              <a:t>uc.getResponseMessage</a:t>
            </a:r>
            <a:r>
              <a:rPr lang="en-IE" sz="1300" b="1" dirty="0"/>
              <a:t>();</a:t>
            </a:r>
          </a:p>
          <a:p>
            <a:pPr marL="0" indent="0">
              <a:buNone/>
            </a:pPr>
            <a:r>
              <a:rPr lang="en-IE" sz="1300" b="1" dirty="0"/>
              <a:t>	</a:t>
            </a:r>
            <a:r>
              <a:rPr lang="en-IE" sz="1300" b="1" dirty="0" err="1"/>
              <a:t>System.out.println</a:t>
            </a:r>
            <a:r>
              <a:rPr lang="en-IE" sz="1300" b="1" dirty="0"/>
              <a:t>("HTTP/1.x " + code + " " + response);</a:t>
            </a:r>
          </a:p>
          <a:p>
            <a:pPr marL="0" indent="0">
              <a:buNone/>
            </a:pPr>
            <a:r>
              <a:rPr lang="en-IE" sz="1300" b="1" dirty="0"/>
              <a:t>	for (</a:t>
            </a:r>
            <a:r>
              <a:rPr lang="en-IE" sz="1300" b="1" dirty="0" err="1"/>
              <a:t>int</a:t>
            </a:r>
            <a:r>
              <a:rPr lang="en-IE" sz="1300" b="1" dirty="0"/>
              <a:t> j = 1; ; </a:t>
            </a:r>
            <a:r>
              <a:rPr lang="en-IE" sz="1300" b="1" dirty="0" err="1"/>
              <a:t>j++</a:t>
            </a:r>
            <a:r>
              <a:rPr lang="en-IE" sz="1300" b="1" dirty="0"/>
              <a:t>) {</a:t>
            </a:r>
          </a:p>
          <a:p>
            <a:pPr marL="0" indent="0">
              <a:buNone/>
            </a:pPr>
            <a:r>
              <a:rPr lang="en-IE" sz="1300" b="1" dirty="0"/>
              <a:t>		String header = </a:t>
            </a:r>
            <a:r>
              <a:rPr lang="en-IE" sz="1300" b="1" dirty="0" err="1"/>
              <a:t>uc.getHeaderField</a:t>
            </a:r>
            <a:r>
              <a:rPr lang="en-IE" sz="1300" b="1" dirty="0"/>
              <a:t>(j);</a:t>
            </a:r>
          </a:p>
          <a:p>
            <a:pPr marL="0" indent="0">
              <a:buNone/>
            </a:pPr>
            <a:r>
              <a:rPr lang="en-IE" sz="1300" b="1" dirty="0"/>
              <a:t>		String key = </a:t>
            </a:r>
            <a:r>
              <a:rPr lang="en-IE" sz="1300" b="1" dirty="0" err="1"/>
              <a:t>uc.getHeaderFieldKey</a:t>
            </a:r>
            <a:r>
              <a:rPr lang="en-IE" sz="1300" b="1" dirty="0"/>
              <a:t>(j);</a:t>
            </a:r>
          </a:p>
          <a:p>
            <a:pPr marL="0" indent="0">
              <a:buNone/>
            </a:pPr>
            <a:r>
              <a:rPr lang="en-IE" sz="1300" b="1" dirty="0"/>
              <a:t>		if (header == null || key == null) break;</a:t>
            </a:r>
          </a:p>
          <a:p>
            <a:pPr marL="0" indent="0">
              <a:buNone/>
            </a:pPr>
            <a:r>
              <a:rPr lang="en-IE" sz="1300" b="1" dirty="0"/>
              <a:t>			</a:t>
            </a:r>
            <a:r>
              <a:rPr lang="en-IE" sz="1300" b="1" dirty="0" err="1"/>
              <a:t>System.out.println</a:t>
            </a:r>
            <a:r>
              <a:rPr lang="en-IE" sz="1300" b="1" dirty="0"/>
              <a:t>(</a:t>
            </a:r>
            <a:r>
              <a:rPr lang="en-IE" sz="1300" b="1" dirty="0" err="1"/>
              <a:t>uc.getHeaderFieldKey</a:t>
            </a:r>
            <a:r>
              <a:rPr lang="en-IE" sz="1300" b="1" dirty="0"/>
              <a:t>(j) + ": " + header);</a:t>
            </a:r>
          </a:p>
          <a:p>
            <a:pPr marL="0" indent="0">
              <a:buNone/>
            </a:pPr>
            <a:r>
              <a:rPr lang="en-IE" sz="1300" b="1" dirty="0"/>
              <a:t>		}</a:t>
            </a:r>
          </a:p>
          <a:p>
            <a:pPr marL="0" indent="0">
              <a:buNone/>
            </a:pPr>
            <a:r>
              <a:rPr lang="en-IE" sz="1300" b="1" dirty="0"/>
              <a:t>	</a:t>
            </a:r>
            <a:r>
              <a:rPr lang="en-IE" sz="1300" b="1" dirty="0" err="1"/>
              <a:t>System.out.println</a:t>
            </a:r>
            <a:r>
              <a:rPr lang="en-IE" sz="1300" b="1" dirty="0"/>
              <a:t>();</a:t>
            </a:r>
          </a:p>
          <a:p>
            <a:pPr marL="0" indent="0">
              <a:buNone/>
            </a:pPr>
            <a:r>
              <a:rPr lang="en-IE" sz="1300" b="1" dirty="0"/>
              <a:t>	try (</a:t>
            </a:r>
            <a:r>
              <a:rPr lang="en-IE" sz="1300" b="1" dirty="0" err="1"/>
              <a:t>InputStream</a:t>
            </a:r>
            <a:r>
              <a:rPr lang="en-IE" sz="1300" b="1" dirty="0"/>
              <a:t> in = new </a:t>
            </a:r>
            <a:r>
              <a:rPr lang="en-IE" sz="1300" b="1" dirty="0" err="1"/>
              <a:t>BufferedInputStream</a:t>
            </a:r>
            <a:r>
              <a:rPr lang="en-IE" sz="1300" b="1" dirty="0"/>
              <a:t>(</a:t>
            </a:r>
            <a:r>
              <a:rPr lang="en-IE" sz="1300" b="1" dirty="0" err="1"/>
              <a:t>uc.getInputStream</a:t>
            </a:r>
            <a:r>
              <a:rPr lang="en-IE" sz="1300" b="1" dirty="0"/>
              <a:t>())) {</a:t>
            </a:r>
          </a:p>
          <a:p>
            <a:pPr marL="0" indent="0">
              <a:buNone/>
            </a:pPr>
            <a:r>
              <a:rPr lang="en-IE" sz="1300" b="1" dirty="0"/>
              <a:t>		Reader r = new </a:t>
            </a:r>
            <a:r>
              <a:rPr lang="en-IE" sz="1300" b="1" dirty="0" err="1"/>
              <a:t>InputStreamReader</a:t>
            </a:r>
            <a:r>
              <a:rPr lang="en-IE" sz="1300" b="1" dirty="0"/>
              <a:t>(in);</a:t>
            </a:r>
          </a:p>
          <a:p>
            <a:pPr marL="0" indent="0">
              <a:buNone/>
            </a:pPr>
            <a:r>
              <a:rPr lang="en-IE" sz="1300" b="1" dirty="0"/>
              <a:t>		</a:t>
            </a:r>
            <a:r>
              <a:rPr lang="en-IE" sz="1300" b="1" dirty="0" err="1"/>
              <a:t>int</a:t>
            </a:r>
            <a:r>
              <a:rPr lang="en-IE" sz="1300" b="1" dirty="0"/>
              <a:t> c;</a:t>
            </a:r>
          </a:p>
          <a:p>
            <a:pPr marL="0" indent="0">
              <a:buNone/>
            </a:pPr>
            <a:r>
              <a:rPr lang="en-IE" sz="1300" b="1" dirty="0"/>
              <a:t>		while ((c = </a:t>
            </a:r>
            <a:r>
              <a:rPr lang="en-IE" sz="1300" b="1" dirty="0" err="1"/>
              <a:t>r.read</a:t>
            </a:r>
            <a:r>
              <a:rPr lang="en-IE" sz="1300" b="1" dirty="0"/>
              <a:t>()) != -1) {</a:t>
            </a:r>
          </a:p>
          <a:p>
            <a:pPr marL="0" indent="0">
              <a:buNone/>
            </a:pPr>
            <a:r>
              <a:rPr lang="en-IE" sz="1300" b="1" dirty="0"/>
              <a:t>			</a:t>
            </a:r>
            <a:r>
              <a:rPr lang="en-IE" sz="1300" b="1" dirty="0" err="1"/>
              <a:t>System.out.print</a:t>
            </a:r>
            <a:r>
              <a:rPr lang="en-IE" sz="1300" b="1" dirty="0"/>
              <a:t>((char) c);</a:t>
            </a:r>
          </a:p>
          <a:p>
            <a:pPr marL="0" indent="0">
              <a:buNone/>
            </a:pPr>
            <a:r>
              <a:rPr lang="en-IE" sz="1300" b="1" dirty="0"/>
              <a:t>		}</a:t>
            </a:r>
          </a:p>
          <a:p>
            <a:pPr marL="0" indent="0">
              <a:buNone/>
            </a:pPr>
            <a:r>
              <a:rPr lang="en-IE" sz="1300" b="1" dirty="0"/>
              <a:t>	}</a:t>
            </a:r>
          </a:p>
          <a:p>
            <a:pPr marL="0" indent="0">
              <a:buNone/>
            </a:pPr>
            <a:r>
              <a:rPr lang="en-IE" sz="1300" b="1" dirty="0"/>
              <a:t>} catch (</a:t>
            </a:r>
            <a:r>
              <a:rPr lang="en-IE" sz="1300" b="1" dirty="0" err="1"/>
              <a:t>MalformedURLException</a:t>
            </a:r>
            <a:r>
              <a:rPr lang="en-IE" sz="1300" b="1" dirty="0"/>
              <a:t> ex) {</a:t>
            </a:r>
          </a:p>
          <a:p>
            <a:pPr marL="0" indent="0">
              <a:buNone/>
            </a:pPr>
            <a:r>
              <a:rPr lang="en-IE" sz="1300" b="1" dirty="0"/>
              <a:t>	</a:t>
            </a:r>
            <a:r>
              <a:rPr lang="en-IE" sz="1300" b="1" dirty="0" err="1" smtClean="0"/>
              <a:t>System.err.println</a:t>
            </a:r>
            <a:r>
              <a:rPr lang="en-IE" sz="1300" b="1" dirty="0" smtClean="0"/>
              <a:t>(" </a:t>
            </a:r>
            <a:r>
              <a:rPr lang="en-IE" sz="1300" b="1" dirty="0"/>
              <a:t>is not a </a:t>
            </a:r>
            <a:r>
              <a:rPr lang="en-IE" sz="1300" b="1" dirty="0" err="1"/>
              <a:t>parseable</a:t>
            </a:r>
            <a:r>
              <a:rPr lang="en-IE" sz="1300" b="1" dirty="0"/>
              <a:t> URL");</a:t>
            </a:r>
          </a:p>
          <a:p>
            <a:pPr marL="0" indent="0">
              <a:buNone/>
            </a:pPr>
            <a:r>
              <a:rPr lang="en-IE" sz="1300" b="1" dirty="0"/>
              <a:t>} catch (</a:t>
            </a:r>
            <a:r>
              <a:rPr lang="en-IE" sz="1300" b="1" dirty="0" err="1"/>
              <a:t>IOException</a:t>
            </a:r>
            <a:r>
              <a:rPr lang="en-IE" sz="1300" b="1" dirty="0"/>
              <a:t> ex) {	</a:t>
            </a:r>
          </a:p>
          <a:p>
            <a:pPr marL="0" indent="0">
              <a:buNone/>
            </a:pPr>
            <a:r>
              <a:rPr lang="en-IE" sz="1300" b="1" dirty="0"/>
              <a:t>	</a:t>
            </a:r>
            <a:r>
              <a:rPr lang="en-IE" sz="1300" b="1" dirty="0" err="1"/>
              <a:t>System.err.println</a:t>
            </a:r>
            <a:r>
              <a:rPr lang="en-IE" sz="1300" b="1" dirty="0"/>
              <a:t>(ex);</a:t>
            </a:r>
          </a:p>
          <a:p>
            <a:pPr marL="0" indent="0">
              <a:buNone/>
            </a:pPr>
            <a:r>
              <a:rPr lang="en-IE" sz="1300" b="1" dirty="0" smtClean="0"/>
              <a:t>}}}</a:t>
            </a:r>
            <a:endParaRPr lang="en-IE" sz="1300" b="1" dirty="0"/>
          </a:p>
          <a:p>
            <a:pPr marL="0" indent="0">
              <a:buNone/>
            </a:pPr>
            <a:endParaRPr lang="en-IE" sz="1300" b="1" dirty="0"/>
          </a:p>
        </p:txBody>
      </p:sp>
    </p:spTree>
    <p:extLst>
      <p:ext uri="{BB962C8B-B14F-4D97-AF65-F5344CB8AC3E}">
        <p14:creationId xmlns:p14="http://schemas.microsoft.com/office/powerpoint/2010/main" val="137916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  <a:noFill/>
          <a:ln/>
        </p:spPr>
        <p:txBody>
          <a:bodyPr/>
          <a:lstStyle/>
          <a:p>
            <a:r>
              <a:rPr lang="en-US" altLang="en-US"/>
              <a:t>HTTP Protocols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8458200" cy="5181600"/>
          </a:xfrm>
          <a:noFill/>
          <a:ln/>
        </p:spPr>
        <p:txBody>
          <a:bodyPr>
            <a:normAutofit lnSpcReduction="10000"/>
          </a:bodyPr>
          <a:lstStyle/>
          <a:p>
            <a:r>
              <a:rPr lang="en-US" altLang="en-US" dirty="0"/>
              <a:t>Java 1.0 only supports GET and POST requests to HTTP servers</a:t>
            </a:r>
          </a:p>
          <a:p>
            <a:r>
              <a:rPr lang="en-US" altLang="en-US" dirty="0"/>
              <a:t>Java 1.1/1.2 supports GET, POST, HEAD, OPTIONS, PUT, DELETE, and TRACE. </a:t>
            </a:r>
          </a:p>
          <a:p>
            <a:r>
              <a:rPr lang="en-US" altLang="en-US" dirty="0"/>
              <a:t>The protocol is chosen with the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setRequestMethod</a:t>
            </a:r>
            <a:r>
              <a:rPr lang="en-US" altLang="en-US" dirty="0">
                <a:solidFill>
                  <a:srgbClr val="FF0000"/>
                </a:solidFill>
                <a:latin typeface="Courier" pitchFamily="49" charset="0"/>
              </a:rPr>
              <a:t>(String method)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method.</a:t>
            </a:r>
          </a:p>
          <a:p>
            <a:r>
              <a:rPr lang="en-US" altLang="en-US" dirty="0"/>
              <a:t> A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java.net.ProtocolException</a:t>
            </a:r>
            <a:r>
              <a:rPr lang="en-US" altLang="en-US" dirty="0"/>
              <a:t>, a subclass of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IOException</a:t>
            </a:r>
            <a:r>
              <a:rPr lang="en-US" altLang="en-US" dirty="0"/>
              <a:t>, is thrown if an unknown protocol is specified.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getRequestMethod()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getRequestMethod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method returns the string form of the request method currently set for the </a:t>
            </a:r>
            <a:r>
              <a:rPr lang="en-US" altLang="en-US" dirty="0" err="1"/>
              <a:t>URLConnection</a:t>
            </a:r>
            <a:r>
              <a:rPr lang="en-US" altLang="en-US" dirty="0"/>
              <a:t>. GET is the default method.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disconnect()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>
                <a:solidFill>
                  <a:srgbClr val="FF0000"/>
                </a:solidFill>
                <a:latin typeface="Courier" pitchFamily="49" charset="0"/>
              </a:rPr>
              <a:t>disconnect</a:t>
            </a:r>
            <a:r>
              <a:rPr lang="en-US" altLang="en-US" dirty="0">
                <a:latin typeface="Courier" pitchFamily="49" charset="0"/>
              </a:rPr>
              <a:t>()</a:t>
            </a:r>
            <a:r>
              <a:rPr lang="en-US" altLang="en-US" dirty="0"/>
              <a:t> method of the </a:t>
            </a:r>
            <a:r>
              <a:rPr lang="en-US" altLang="en-US" dirty="0" err="1">
                <a:solidFill>
                  <a:srgbClr val="FF0000"/>
                </a:solidFill>
                <a:latin typeface="Courier" pitchFamily="49" charset="0"/>
              </a:rPr>
              <a:t>HttpURLConnection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class closes the connection to the web server.</a:t>
            </a:r>
          </a:p>
          <a:p>
            <a:r>
              <a:rPr lang="en-US" altLang="en-US" dirty="0"/>
              <a:t>Needed for HTTP/1.1 Keep-alive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noFill/>
          <a:ln/>
        </p:spPr>
        <p:txBody>
          <a:bodyPr/>
          <a:lstStyle/>
          <a:p>
            <a:r>
              <a:rPr lang="en-US" altLang="en-US"/>
              <a:t>Redirect Instructions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114800"/>
          </a:xfrm>
          <a:noFill/>
          <a:ln/>
        </p:spPr>
        <p:txBody>
          <a:bodyPr/>
          <a:lstStyle/>
          <a:p>
            <a:r>
              <a:rPr lang="en-US" altLang="en-US"/>
              <a:t>Most web servers can be configured to automatically redirect browsers to the new location of a page that's moved. </a:t>
            </a:r>
          </a:p>
          <a:p>
            <a:r>
              <a:rPr lang="en-US" altLang="en-US"/>
              <a:t>To redirect browsers, a server sends a 300 level response and a Location header that specifies the new location of the requested page.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/>
              <a:t>For example,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0" y="1143000"/>
            <a:ext cx="9144000" cy="5638800"/>
          </a:xfrm>
          <a:noFill/>
          <a:ln/>
        </p:spPr>
        <p:txBody>
          <a:bodyPr>
            <a:noAutofit/>
          </a:bodyPr>
          <a:lstStyle/>
          <a:p>
            <a:pPr marL="914400" lvl="2" indent="0">
              <a:buNone/>
            </a:pPr>
            <a:r>
              <a:rPr lang="en-US" altLang="en-US" sz="1400" b="1" dirty="0" smtClean="0"/>
              <a:t>import java.io.*;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import java.net.*;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public class SourceViewer4 {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public static void main (String[] </a:t>
            </a:r>
            <a:r>
              <a:rPr lang="en-US" altLang="en-US" sz="1400" b="1" dirty="0" err="1" smtClean="0"/>
              <a:t>args</a:t>
            </a:r>
            <a:r>
              <a:rPr lang="en-US" altLang="en-US" sz="1400" b="1" dirty="0" smtClean="0"/>
              <a:t>) {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try {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URL u = new URL("http://www.qau.edu.pk");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</a:t>
            </a:r>
            <a:r>
              <a:rPr lang="en-US" altLang="en-US" sz="1400" b="1" dirty="0" err="1" smtClean="0"/>
              <a:t>URLConnection</a:t>
            </a:r>
            <a:r>
              <a:rPr lang="en-US" altLang="en-US" sz="1400" b="1" dirty="0" smtClean="0"/>
              <a:t> </a:t>
            </a:r>
            <a:r>
              <a:rPr lang="en-US" altLang="en-US" sz="1400" b="1" dirty="0" err="1" smtClean="0"/>
              <a:t>uc</a:t>
            </a:r>
            <a:r>
              <a:rPr lang="en-US" altLang="en-US" sz="1400" b="1" dirty="0" smtClean="0"/>
              <a:t> = </a:t>
            </a:r>
            <a:r>
              <a:rPr lang="en-US" altLang="en-US" sz="1400" b="1" dirty="0" err="1" smtClean="0"/>
              <a:t>u.openConnection</a:t>
            </a:r>
            <a:r>
              <a:rPr lang="en-US" altLang="en-US" sz="1400" b="1" dirty="0" smtClean="0"/>
              <a:t>();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try (</a:t>
            </a:r>
            <a:r>
              <a:rPr lang="en-US" altLang="en-US" sz="1400" b="1" dirty="0" err="1" smtClean="0"/>
              <a:t>InputStream</a:t>
            </a:r>
            <a:r>
              <a:rPr lang="en-US" altLang="en-US" sz="1400" b="1" dirty="0" smtClean="0"/>
              <a:t> raw = </a:t>
            </a:r>
            <a:r>
              <a:rPr lang="en-US" altLang="en-US" sz="1400" b="1" dirty="0" err="1" smtClean="0"/>
              <a:t>uc.getInputStream</a:t>
            </a:r>
            <a:r>
              <a:rPr lang="en-US" altLang="en-US" sz="1400" b="1" dirty="0" smtClean="0"/>
              <a:t>()) { // </a:t>
            </a:r>
            <a:r>
              <a:rPr lang="en-US" altLang="en-US" sz="1400" b="1" dirty="0" err="1" smtClean="0"/>
              <a:t>autoclose</a:t>
            </a:r>
            <a:endParaRPr lang="en-US" altLang="en-US" sz="1400" b="1" dirty="0" smtClean="0"/>
          </a:p>
          <a:p>
            <a:pPr marL="914400" lvl="2" indent="0">
              <a:buNone/>
            </a:pPr>
            <a:r>
              <a:rPr lang="en-US" altLang="en-US" sz="1400" b="1" dirty="0" smtClean="0"/>
              <a:t>			</a:t>
            </a:r>
            <a:r>
              <a:rPr lang="en-US" altLang="en-US" sz="1400" b="1" dirty="0" err="1" smtClean="0"/>
              <a:t>InputStream</a:t>
            </a:r>
            <a:r>
              <a:rPr lang="en-US" altLang="en-US" sz="1400" b="1" dirty="0" smtClean="0"/>
              <a:t> buffer = new </a:t>
            </a:r>
            <a:r>
              <a:rPr lang="en-US" altLang="en-US" sz="1400" b="1" dirty="0" err="1" smtClean="0"/>
              <a:t>BufferedInputStream</a:t>
            </a:r>
            <a:r>
              <a:rPr lang="en-US" altLang="en-US" sz="1400" b="1" dirty="0" smtClean="0"/>
              <a:t>(raw);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	Reader </a:t>
            </a:r>
            <a:r>
              <a:rPr lang="en-US" altLang="en-US" sz="1400" b="1" dirty="0" err="1" smtClean="0"/>
              <a:t>reader</a:t>
            </a:r>
            <a:r>
              <a:rPr lang="en-US" altLang="en-US" sz="1400" b="1" dirty="0" smtClean="0"/>
              <a:t> = new </a:t>
            </a:r>
            <a:r>
              <a:rPr lang="en-US" altLang="en-US" sz="1400" b="1" dirty="0" err="1" smtClean="0"/>
              <a:t>InputStreamReader</a:t>
            </a:r>
            <a:r>
              <a:rPr lang="en-US" altLang="en-US" sz="1400" b="1" dirty="0" smtClean="0"/>
              <a:t>(buffer);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	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	</a:t>
            </a:r>
            <a:r>
              <a:rPr lang="en-US" altLang="en-US" sz="1400" b="1" dirty="0" err="1" smtClean="0"/>
              <a:t>int</a:t>
            </a:r>
            <a:r>
              <a:rPr lang="en-US" altLang="en-US" sz="1400" b="1" dirty="0" smtClean="0"/>
              <a:t> c;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	while ((c = </a:t>
            </a:r>
            <a:r>
              <a:rPr lang="en-US" altLang="en-US" sz="1400" b="1" dirty="0" err="1" smtClean="0"/>
              <a:t>reader.read</a:t>
            </a:r>
            <a:r>
              <a:rPr lang="en-US" altLang="en-US" sz="1400" b="1" dirty="0" smtClean="0"/>
              <a:t>()) != -1) {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		</a:t>
            </a:r>
            <a:r>
              <a:rPr lang="en-US" altLang="en-US" sz="1400" b="1" dirty="0" err="1" smtClean="0"/>
              <a:t>System.out.print</a:t>
            </a:r>
            <a:r>
              <a:rPr lang="en-US" altLang="en-US" sz="1400" b="1" dirty="0" smtClean="0"/>
              <a:t>((char) c);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	}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}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} catch (</a:t>
            </a:r>
            <a:r>
              <a:rPr lang="en-US" altLang="en-US" sz="1400" b="1" dirty="0" err="1" smtClean="0"/>
              <a:t>MalformedURLException</a:t>
            </a:r>
            <a:r>
              <a:rPr lang="en-US" altLang="en-US" sz="1400" b="1" dirty="0" smtClean="0"/>
              <a:t> ex) {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	</a:t>
            </a:r>
            <a:r>
              <a:rPr lang="en-US" altLang="en-US" sz="1400" b="1" dirty="0" err="1" smtClean="0"/>
              <a:t>System.err.println</a:t>
            </a:r>
            <a:r>
              <a:rPr lang="en-US" altLang="en-US" sz="1400" b="1" dirty="0" smtClean="0"/>
              <a:t>(" is not a </a:t>
            </a:r>
            <a:r>
              <a:rPr lang="en-US" altLang="en-US" sz="1400" b="1" dirty="0" err="1" smtClean="0"/>
              <a:t>parseable</a:t>
            </a:r>
            <a:r>
              <a:rPr lang="en-US" altLang="en-US" sz="1400" b="1" dirty="0" smtClean="0"/>
              <a:t> URL");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} catch (</a:t>
            </a:r>
            <a:r>
              <a:rPr lang="en-US" altLang="en-US" sz="1400" b="1" dirty="0" err="1" smtClean="0"/>
              <a:t>IOException</a:t>
            </a:r>
            <a:r>
              <a:rPr lang="en-US" altLang="en-US" sz="1400" b="1" dirty="0" smtClean="0"/>
              <a:t> ex) {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		</a:t>
            </a:r>
            <a:r>
              <a:rPr lang="en-US" altLang="en-US" sz="1400" b="1" dirty="0" err="1" smtClean="0"/>
              <a:t>System.err.println</a:t>
            </a:r>
            <a:r>
              <a:rPr lang="en-US" altLang="en-US" sz="1400" b="1" dirty="0" smtClean="0"/>
              <a:t>(ex);</a:t>
            </a:r>
          </a:p>
          <a:p>
            <a:pPr marL="914400" lvl="2" indent="0">
              <a:buNone/>
            </a:pPr>
            <a:r>
              <a:rPr lang="en-US" altLang="en-US" sz="1400" b="1" dirty="0" smtClean="0"/>
              <a:t>}}}</a:t>
            </a:r>
          </a:p>
          <a:p>
            <a:pPr marL="914400" lvl="2" indent="0">
              <a:buNone/>
            </a:pPr>
            <a:endParaRPr lang="en-US" altLang="en-US" sz="1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990600"/>
            <a:ext cx="8534400" cy="5562600"/>
          </a:xfrm>
          <a:noFill/>
          <a:ln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800" dirty="0" smtClean="0">
                <a:solidFill>
                  <a:srgbClr val="000000"/>
                </a:solidFill>
                <a:latin typeface="Consolas"/>
              </a:rPr>
              <a:t>&lt;!DOCTYPE HTML PUBLIC "-//IETF//DTD HTML 2.0//EN"&gt;</a:t>
            </a:r>
          </a:p>
          <a:p>
            <a:pPr marL="0" indent="0">
              <a:buNone/>
            </a:pPr>
            <a:r>
              <a:rPr lang="en-IE" sz="2800" dirty="0" smtClean="0">
                <a:solidFill>
                  <a:srgbClr val="000000"/>
                </a:solidFill>
                <a:latin typeface="Consolas"/>
              </a:rPr>
              <a:t>&lt;html&gt;&lt;head&gt;</a:t>
            </a:r>
          </a:p>
          <a:p>
            <a:pPr marL="0" indent="0">
              <a:buNone/>
            </a:pPr>
            <a:r>
              <a:rPr lang="en-IE" sz="2800" dirty="0" smtClean="0">
                <a:solidFill>
                  <a:srgbClr val="000000"/>
                </a:solidFill>
                <a:latin typeface="Consolas"/>
              </a:rPr>
              <a:t>&lt;title&gt;301 Moved Permanently&lt;/title&gt;</a:t>
            </a:r>
          </a:p>
          <a:p>
            <a:pPr marL="0" indent="0">
              <a:buNone/>
            </a:pPr>
            <a:r>
              <a:rPr lang="en-IE" sz="2800" dirty="0" smtClean="0">
                <a:solidFill>
                  <a:srgbClr val="000000"/>
                </a:solidFill>
                <a:latin typeface="Consolas"/>
              </a:rPr>
              <a:t>&lt;/head&gt;&lt;body&gt;</a:t>
            </a:r>
          </a:p>
          <a:p>
            <a:pPr marL="0" indent="0">
              <a:buNone/>
            </a:pPr>
            <a:r>
              <a:rPr lang="en-IE" sz="2800" dirty="0" smtClean="0">
                <a:solidFill>
                  <a:srgbClr val="000000"/>
                </a:solidFill>
                <a:latin typeface="Consolas"/>
              </a:rPr>
              <a:t>&lt;h1&gt;Moved Permanently&lt;/h1&gt;</a:t>
            </a:r>
          </a:p>
          <a:p>
            <a:pPr marL="0" indent="0">
              <a:buNone/>
            </a:pPr>
            <a:r>
              <a:rPr lang="en-IE" sz="2800" dirty="0" smtClean="0">
                <a:solidFill>
                  <a:srgbClr val="000000"/>
                </a:solidFill>
                <a:latin typeface="Consolas"/>
              </a:rPr>
              <a:t>&lt;p&gt;The document has moved &lt;a </a:t>
            </a:r>
            <a:r>
              <a:rPr lang="en-IE" sz="2800" dirty="0" err="1" smtClean="0">
                <a:solidFill>
                  <a:srgbClr val="000000"/>
                </a:solidFill>
                <a:latin typeface="Consolas"/>
              </a:rPr>
              <a:t>href</a:t>
            </a:r>
            <a:r>
              <a:rPr lang="en-IE" sz="2800" dirty="0" smtClean="0">
                <a:solidFill>
                  <a:srgbClr val="000000"/>
                </a:solidFill>
                <a:latin typeface="Consolas"/>
              </a:rPr>
              <a:t>="https://www.qau.edu.pk/"&gt;here&lt;/a&gt;.&lt;/p&gt;</a:t>
            </a:r>
          </a:p>
          <a:p>
            <a:pPr marL="0" indent="0">
              <a:buNone/>
            </a:pPr>
            <a:r>
              <a:rPr lang="en-IE" sz="2800" dirty="0" smtClean="0">
                <a:solidFill>
                  <a:srgbClr val="000000"/>
                </a:solidFill>
                <a:latin typeface="Consolas"/>
              </a:rPr>
              <a:t>&lt;/body&gt;&lt;/html&gt;</a:t>
            </a:r>
          </a:p>
          <a:p>
            <a:pPr marL="457200" lvl="1" indent="0">
              <a:buNone/>
            </a:pPr>
            <a:endParaRPr lang="en-US" altLang="en-US" sz="1800" dirty="0">
              <a:latin typeface="Courier" pitchFamily="49" charset="0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Output</a:t>
            </a:r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7772400" cy="4114800"/>
          </a:xfrm>
          <a:noFill/>
          <a:ln/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HTML is returned for browsers that don't understand redirects, but most modern browsers do not display this and </a:t>
            </a:r>
            <a:r>
              <a:rPr lang="en-US" altLang="en-US" dirty="0">
                <a:solidFill>
                  <a:srgbClr val="FF0000"/>
                </a:solidFill>
              </a:rPr>
              <a:t>jump straight to the page specified in the Location header instead.</a:t>
            </a:r>
          </a:p>
          <a:p>
            <a:r>
              <a:rPr lang="en-US" altLang="en-US" dirty="0"/>
              <a:t>Because redirects can change the site which a user is connecting without their knowledge so </a:t>
            </a:r>
            <a:r>
              <a:rPr lang="en-US" altLang="en-US" dirty="0">
                <a:solidFill>
                  <a:srgbClr val="FF0000"/>
                </a:solidFill>
              </a:rPr>
              <a:t>redirects are not arbitrarily followed by </a:t>
            </a:r>
            <a:r>
              <a:rPr lang="en-US" altLang="en-US" dirty="0" err="1">
                <a:solidFill>
                  <a:srgbClr val="FF0000"/>
                </a:solidFill>
              </a:rPr>
              <a:t>URLConnections</a:t>
            </a:r>
            <a:r>
              <a:rPr lang="en-US" altLang="en-US" dirty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2D679B6F40C48B2519DEB851FE85E" ma:contentTypeVersion="0" ma:contentTypeDescription="Create a new document." ma:contentTypeScope="" ma:versionID="ca0eff15ccbfe079c26c4eccae0f3b9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0F3654E-E905-4662-8CB8-D2588BF7AE11}"/>
</file>

<file path=customXml/itemProps2.xml><?xml version="1.0" encoding="utf-8"?>
<ds:datastoreItem xmlns:ds="http://schemas.openxmlformats.org/officeDocument/2006/customXml" ds:itemID="{170C9AF4-E1F1-4C3A-84B7-1F1A740363D6}"/>
</file>

<file path=customXml/itemProps3.xml><?xml version="1.0" encoding="utf-8"?>
<ds:datastoreItem xmlns:ds="http://schemas.openxmlformats.org/officeDocument/2006/customXml" ds:itemID="{C8FE141D-D85D-4196-B1BB-96AB4FEAD9F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906</TotalTime>
  <Pages>85</Pages>
  <Words>1885</Words>
  <Application>Microsoft Office PowerPoint</Application>
  <PresentationFormat>On-screen Show (4:3)</PresentationFormat>
  <Paragraphs>388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Calibri</vt:lpstr>
      <vt:lpstr>Consolas</vt:lpstr>
      <vt:lpstr>Courier</vt:lpstr>
      <vt:lpstr>Courier New</vt:lpstr>
      <vt:lpstr>Times</vt:lpstr>
      <vt:lpstr>Times New Roman</vt:lpstr>
      <vt:lpstr>UbuntuMono-Bold</vt:lpstr>
      <vt:lpstr>UbuntuMono-Italic</vt:lpstr>
      <vt:lpstr>UbuntuMono-Regular</vt:lpstr>
      <vt:lpstr>Office Theme</vt:lpstr>
      <vt:lpstr>URLConnections</vt:lpstr>
      <vt:lpstr>URLConnections</vt:lpstr>
      <vt:lpstr>URLConnections</vt:lpstr>
      <vt:lpstr>Opening URLConnection steps:</vt:lpstr>
      <vt:lpstr>I/O Across a URLConnection</vt:lpstr>
      <vt:lpstr>For example, </vt:lpstr>
      <vt:lpstr>Download a web page with a URLConnection</vt:lpstr>
      <vt:lpstr>Download a web page with the correct character set</vt:lpstr>
      <vt:lpstr>Downloading a binary file from a website and saving it to disk</vt:lpstr>
      <vt:lpstr>Reading Header Data </vt:lpstr>
      <vt:lpstr>getHeaderFieldKey()</vt:lpstr>
      <vt:lpstr>For example</vt:lpstr>
      <vt:lpstr>getHeaderFieldInt() and getHeaderFieldDate() </vt:lpstr>
      <vt:lpstr>PowerPoint Presentation</vt:lpstr>
      <vt:lpstr>Six Convenience Methods </vt:lpstr>
      <vt:lpstr>PowerPoint Presentation</vt:lpstr>
      <vt:lpstr>Read Header Fields</vt:lpstr>
      <vt:lpstr>Print entire Header</vt:lpstr>
      <vt:lpstr>Writing data to a URLConnection</vt:lpstr>
      <vt:lpstr>Eight Steps:</vt:lpstr>
      <vt:lpstr>PowerPoint Presentation</vt:lpstr>
      <vt:lpstr>POST CGIs </vt:lpstr>
      <vt:lpstr>A POST request includes </vt:lpstr>
      <vt:lpstr>PowerPoint Presentation</vt:lpstr>
      <vt:lpstr>For example,</vt:lpstr>
      <vt:lpstr>PowerPoint Presentation</vt:lpstr>
      <vt:lpstr>Example</vt:lpstr>
      <vt:lpstr>FormPoster Example</vt:lpstr>
      <vt:lpstr>HttpURLConnection </vt:lpstr>
      <vt:lpstr>Recall </vt:lpstr>
      <vt:lpstr>Response Codes</vt:lpstr>
      <vt:lpstr>Response Code and message</vt:lpstr>
      <vt:lpstr>HTTP Protocols</vt:lpstr>
      <vt:lpstr>getRequestMethod()</vt:lpstr>
      <vt:lpstr>disconnect()</vt:lpstr>
      <vt:lpstr>Redirect Instructions</vt:lpstr>
      <vt:lpstr>For example,</vt:lpstr>
      <vt:lpstr>Output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URLs, InetAddresses, and URLConnections</dc:title>
  <dc:creator>Muhammad Imran</dc:creator>
  <cp:lastModifiedBy>Adeel-ur-Rehman</cp:lastModifiedBy>
  <cp:revision>316</cp:revision>
  <cp:lastPrinted>2009-04-22T19:24:48Z</cp:lastPrinted>
  <dcterms:created xsi:type="dcterms:W3CDTF">1997-12-26T17:41:45Z</dcterms:created>
  <dcterms:modified xsi:type="dcterms:W3CDTF">2019-08-28T06:11:33Z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0x0101008242D679B6F40C48B2519DEB851FE85E</vt:lpwstr>
  </property>
</Properties>
</file>