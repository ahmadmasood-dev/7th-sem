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93" r:id="rId2"/>
    <p:sldId id="310" r:id="rId3"/>
    <p:sldId id="283" r:id="rId4"/>
    <p:sldId id="294" r:id="rId5"/>
    <p:sldId id="257" r:id="rId6"/>
    <p:sldId id="258" r:id="rId7"/>
    <p:sldId id="261" r:id="rId8"/>
    <p:sldId id="262" r:id="rId9"/>
    <p:sldId id="263" r:id="rId10"/>
    <p:sldId id="346" r:id="rId11"/>
    <p:sldId id="264" r:id="rId12"/>
    <p:sldId id="265" r:id="rId13"/>
    <p:sldId id="266" r:id="rId14"/>
    <p:sldId id="267" r:id="rId15"/>
    <p:sldId id="268" r:id="rId16"/>
    <p:sldId id="269" r:id="rId17"/>
    <p:sldId id="311" r:id="rId18"/>
    <p:sldId id="312" r:id="rId19"/>
    <p:sldId id="313" r:id="rId20"/>
    <p:sldId id="314" r:id="rId21"/>
    <p:sldId id="319" r:id="rId22"/>
    <p:sldId id="320" r:id="rId23"/>
    <p:sldId id="321" r:id="rId24"/>
    <p:sldId id="323" r:id="rId25"/>
    <p:sldId id="325" r:id="rId26"/>
    <p:sldId id="326" r:id="rId27"/>
    <p:sldId id="327" r:id="rId28"/>
    <p:sldId id="328" r:id="rId29"/>
    <p:sldId id="329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88" autoAdjust="0"/>
  </p:normalViewPr>
  <p:slideViewPr>
    <p:cSldViewPr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8E825-B39A-4DD2-B08D-EEAF4C1836AD}" type="datetimeFigureOut">
              <a:rPr lang="en-IE" smtClean="0"/>
              <a:t>10/10/2019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6678-E0EA-4225-A6AE-EB608308706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4020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7C102-F6EE-4D2C-A393-FF005077E35D}" type="slidenum">
              <a:rPr lang="en-GB" altLang="en-US"/>
              <a:pPr/>
              <a:t>2</a:t>
            </a:fld>
            <a:endParaRPr lang="en-GB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7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39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5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33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Printed output is flushed and tested for any errors using </a:t>
            </a:r>
            <a:r>
              <a:rPr lang="en-US" dirty="0" err="1">
                <a:latin typeface="Courier New" pitchFamily="49" charset="0"/>
              </a:rPr>
              <a:t>checkError</a:t>
            </a:r>
            <a:r>
              <a:rPr lang="en-US" dirty="0">
                <a:latin typeface="Courier New" pitchFamily="49" charset="0"/>
              </a:rPr>
              <a:t>()</a:t>
            </a:r>
            <a:r>
              <a:rPr lang="en-US" dirty="0"/>
              <a:t> method.</a:t>
            </a:r>
          </a:p>
          <a:p>
            <a:pPr eaLnBrk="1" hangingPunct="1"/>
            <a:r>
              <a:rPr lang="en-US" dirty="0"/>
              <a:t>Supports printing primitive data types, character arrays, strings and objects.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9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Printed output is flushed and tested for any errors using </a:t>
            </a:r>
            <a:r>
              <a:rPr lang="en-US">
                <a:latin typeface="Courier New" pitchFamily="49" charset="0"/>
              </a:rPr>
              <a:t>checkError()</a:t>
            </a:r>
            <a:r>
              <a:rPr lang="en-US"/>
              <a:t> method.</a:t>
            </a:r>
          </a:p>
          <a:p>
            <a:pPr eaLnBrk="1" hangingPunct="1"/>
            <a:r>
              <a:rPr lang="en-US"/>
              <a:t>Supports printing primitive data types, character arrays, strings and objects.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Printed output is flushed and tested for any errors using </a:t>
            </a:r>
            <a:r>
              <a:rPr lang="en-US">
                <a:latin typeface="Courier New" pitchFamily="49" charset="0"/>
              </a:rPr>
              <a:t>checkError()</a:t>
            </a:r>
            <a:r>
              <a:rPr lang="en-US"/>
              <a:t> method.</a:t>
            </a:r>
          </a:p>
          <a:p>
            <a:pPr eaLnBrk="1" hangingPunct="1"/>
            <a:r>
              <a:rPr lang="en-US"/>
              <a:t>Supports printing primitive data types, character arrays, strings and objects.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Printed output is flushed and tested for any errors using </a:t>
            </a:r>
            <a:r>
              <a:rPr lang="en-US">
                <a:latin typeface="Courier New" pitchFamily="49" charset="0"/>
              </a:rPr>
              <a:t>checkError()</a:t>
            </a:r>
            <a:r>
              <a:rPr lang="en-US"/>
              <a:t> method.</a:t>
            </a:r>
          </a:p>
          <a:p>
            <a:pPr eaLnBrk="1" hangingPunct="1"/>
            <a:r>
              <a:rPr lang="en-US"/>
              <a:t>Supports printing primitive data types, character arrays, strings and objects.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9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086D18-4416-46C1-A296-DCB736C30F0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28F70-A167-48DD-9360-73DD1AD9BC8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9700C-90E1-4178-A204-9B4B7464661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D7A385-DC05-4845-BAEA-DF5A07A2F28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6D2173-4E23-4228-B15C-D05FB3E596E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8CD437-5ED5-4211-9467-313CB06B3EE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5D5CDB-29C8-4055-9F52-B1A9A1857B0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986D5F-C71B-4286-A961-94625DEB23B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5C8088-A354-467B-9D3D-D7B05F10C47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D2F3ED-6697-4A41-8632-E0BD9D06FB6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E40D81-9C32-4683-BAE3-59A6DE4FD74F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9B0003-3647-488B-B949-68125886FCF9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FE9707-08E4-4B4A-83DA-C33D1D6C8A3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D2F3C-21E4-41A7-8DEC-70D8E8B2FFC7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8DD9C-F7DF-4832-B7FE-2F657B14456C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E7F5F0-83A4-4119-AA19-572CB335C52F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1EF2E-BD36-443C-9AE5-D1A797EBBF56}" type="datetimeFigureOut">
              <a:rPr lang="en-IE" smtClean="0"/>
              <a:t>10/10/2019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029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1EF2E-BD36-443C-9AE5-D1A797EBBF56}" type="datetimeFigureOut">
              <a:rPr lang="en-IE" smtClean="0"/>
              <a:t>10/10/2019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8534400" y="64008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DE13FC8-C17F-4A72-8DBC-34CEC4C243C5}" type="slidenum">
              <a:rPr lang="en-IE" smtClean="0"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252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792162"/>
          </a:xfrm>
        </p:spPr>
        <p:txBody>
          <a:bodyPr/>
          <a:lstStyle/>
          <a:p>
            <a:r>
              <a:rPr lang="en-US" dirty="0" smtClean="0"/>
              <a:t>Character 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8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dirty="0" smtClean="0"/>
              <a:t>Streams</a:t>
            </a:r>
            <a:endParaRPr lang="en-US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23950" y="1295400"/>
            <a:ext cx="6724650" cy="4867276"/>
            <a:chOff x="1447800" y="1447800"/>
            <a:chExt cx="6076950" cy="4562476"/>
          </a:xfrm>
        </p:grpSpPr>
        <p:pic>
          <p:nvPicPr>
            <p:cNvPr id="1031" name="Picture 7" descr="Image result for character vs byte strea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447800"/>
              <a:ext cx="6076950" cy="4562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1447800" y="3810000"/>
              <a:ext cx="59436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303002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4098" name="Picture 2" descr="Image result for reader writer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51" y="304800"/>
            <a:ext cx="7023248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92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792162"/>
          </a:xfrm>
        </p:spPr>
        <p:txBody>
          <a:bodyPr/>
          <a:lstStyle/>
          <a:p>
            <a:r>
              <a:rPr lang="en-US" dirty="0" err="1"/>
              <a:t>ByteStream</a:t>
            </a:r>
            <a:r>
              <a:rPr lang="en-US" dirty="0"/>
              <a:t> &amp; </a:t>
            </a:r>
            <a:r>
              <a:rPr lang="en-US" dirty="0" err="1"/>
              <a:t>CharacterStream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838200"/>
            <a:ext cx="4602217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67" y="914400"/>
            <a:ext cx="436940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3124200"/>
            <a:ext cx="4526017" cy="3723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086600" y="4800600"/>
            <a:ext cx="187833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10400" y="4800600"/>
            <a:ext cx="19802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err="1" smtClean="0"/>
              <a:t>InputStreamReader</a:t>
            </a:r>
            <a:endParaRPr 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232125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345487" cy="1371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/>
              <a:t>Used for reading character streams and is </a:t>
            </a:r>
            <a:r>
              <a:rPr lang="en-US" sz="2400">
                <a:latin typeface="Courier New" pitchFamily="49" charset="0"/>
              </a:rPr>
              <a:t>abstract</a:t>
            </a:r>
            <a:r>
              <a:rPr lang="en-US" sz="2400"/>
              <a:t>.</a:t>
            </a:r>
          </a:p>
          <a:p>
            <a:pPr eaLnBrk="1" hangingPunct="1"/>
            <a:r>
              <a:rPr lang="en-US" sz="2400"/>
              <a:t>Constructor:</a:t>
            </a:r>
          </a:p>
          <a:p>
            <a:pPr lvl="1"/>
            <a:r>
              <a:rPr lang="en-US" sz="2400"/>
              <a:t>protected Reader(), protected Reader(Object lock) </a:t>
            </a:r>
          </a:p>
          <a:p>
            <a:pPr eaLnBrk="1" hangingPunct="1"/>
            <a:r>
              <a:rPr lang="en-US" sz="2400"/>
              <a:t>Some of the methods used are :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Reader class</a:t>
            </a:r>
          </a:p>
        </p:txBody>
      </p:sp>
      <p:graphicFrame>
        <p:nvGraphicFramePr>
          <p:cNvPr id="95323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361905"/>
              </p:ext>
            </p:extLst>
          </p:nvPr>
        </p:nvGraphicFramePr>
        <p:xfrm>
          <a:off x="152400" y="2743200"/>
          <a:ext cx="8839200" cy="4033445"/>
        </p:xfrm>
        <a:graphic>
          <a:graphicData uri="http://schemas.openxmlformats.org/drawingml/2006/table">
            <a:tbl>
              <a:tblPr/>
              <a:tblGrid>
                <a:gridCol w="479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Method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Purpose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abstract 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close()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Closes the stream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int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read()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Reads one character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int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read(char buf[])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Reads characters into an 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reset()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Resets the stream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long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skip(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long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n)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Skips </a:t>
                      </a:r>
                      <a:r>
                        <a:rPr kumimoji="0" lang="en-US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characters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boolean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ready() 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IOException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Determines if the stream is ready to be run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9216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  <p:bldP spid="952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152401" y="987425"/>
            <a:ext cx="8229600" cy="133508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An abstract class , supports writing into streams </a:t>
            </a:r>
          </a:p>
          <a:p>
            <a:pPr>
              <a:lnSpc>
                <a:spcPct val="90000"/>
              </a:lnSpc>
            </a:pPr>
            <a:r>
              <a:rPr lang="en-US" sz="2800"/>
              <a:t>Constructor: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protected Writer(), protected Writer(Object obj)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Some of the methods used are :</a:t>
            </a: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Writer class</a:t>
            </a:r>
          </a:p>
        </p:txBody>
      </p:sp>
      <p:graphicFrame>
        <p:nvGraphicFramePr>
          <p:cNvPr id="96322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67544"/>
              </p:ext>
            </p:extLst>
          </p:nvPr>
        </p:nvGraphicFramePr>
        <p:xfrm>
          <a:off x="152400" y="2722563"/>
          <a:ext cx="8763000" cy="3967618"/>
        </p:xfrm>
        <a:graphic>
          <a:graphicData uri="http://schemas.openxmlformats.org/drawingml/2006/table">
            <a:tbl>
              <a:tblPr/>
              <a:tblGrid>
                <a:gridCol w="4187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Method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Purpose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abstract 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close()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Closes the stream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abstract 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flush( )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 throws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IOException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Flushes the stream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write(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char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[] c)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Writes the specified array of characters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abstract void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write(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char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[] c,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int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offset,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 int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n)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itchFamily="34" charset="0"/>
                        </a:rPr>
                        <a:t> throws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IOException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Writes the specified length of characters from offset position in the array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2426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  <p:bldP spid="962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5770" y="-72986"/>
            <a:ext cx="8229600" cy="987088"/>
          </a:xfrm>
        </p:spPr>
        <p:txBody>
          <a:bodyPr/>
          <a:lstStyle/>
          <a:p>
            <a:r>
              <a:rPr lang="en-US" dirty="0"/>
              <a:t>Ex, UTF-8 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844689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ReadWrite_UTF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String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st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"test"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dirty="0" err="1">
                <a:solidFill>
                  <a:srgbClr val="000000"/>
                </a:solidFill>
                <a:latin typeface="Consolas"/>
              </a:rPr>
              <a:t>OutputStreamWriter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wri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OutputStreamWriter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"b.txt"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"UTF-8"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chars1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st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.toCharArray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wri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chars1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dirty="0">
                <a:solidFill>
                  <a:srgbClr val="3F7F5F"/>
                </a:solidFill>
                <a:latin typeface="Consolas"/>
              </a:rPr>
              <a:t>//write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wri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.close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dirty="0" err="1">
                <a:solidFill>
                  <a:srgbClr val="000000"/>
                </a:solidFill>
                <a:latin typeface="Consolas"/>
              </a:rPr>
              <a:t>InputStreamReader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u="sng" dirty="0">
                <a:solidFill>
                  <a:srgbClr val="6A3E3E"/>
                </a:solidFill>
                <a:latin typeface="Consolas"/>
              </a:rPr>
              <a:t>rea</a:t>
            </a:r>
            <a:r>
              <a:rPr lang="en-IE" u="sng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u="sng" dirty="0" err="1">
                <a:solidFill>
                  <a:srgbClr val="000000"/>
                </a:solidFill>
                <a:latin typeface="Consolas"/>
              </a:rPr>
              <a:t>InputStreamReader</a:t>
            </a:r>
            <a:r>
              <a:rPr lang="en-IE" b="1" u="sng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"b.txt"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"UTF-8"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chars2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[50];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rea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.read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chars2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dirty="0">
                <a:solidFill>
                  <a:srgbClr val="3F7F5F"/>
                </a:solidFill>
                <a:latin typeface="Consolas"/>
              </a:rPr>
              <a:t>// read 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chars2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IE" b="1" dirty="0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++) 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b="1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i="1" dirty="0">
                <a:solidFill>
                  <a:srgbClr val="6A3E3E"/>
                </a:solidFill>
                <a:latin typeface="Consolas"/>
              </a:rPr>
              <a:t>chars2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b="1" i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]); 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}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e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i="1" dirty="0" err="1">
                <a:solidFill>
                  <a:srgbClr val="6A3E3E"/>
                </a:solidFill>
                <a:latin typeface="Consolas"/>
              </a:rPr>
              <a:t>e</a:t>
            </a:r>
            <a:r>
              <a:rPr lang="en-IE" b="1" i="1" dirty="0" err="1">
                <a:solidFill>
                  <a:srgbClr val="000000"/>
                </a:solidFill>
                <a:latin typeface="Consolas"/>
              </a:rPr>
              <a:t>.toString</a:t>
            </a:r>
            <a:r>
              <a:rPr lang="en-IE" b="1" i="1" dirty="0">
                <a:solidFill>
                  <a:srgbClr val="000000"/>
                </a:solidFill>
                <a:latin typeface="Consolas"/>
              </a:rPr>
              <a:t>());   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382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FileWriter</a:t>
            </a:r>
            <a:r>
              <a:rPr lang="en-US" dirty="0"/>
              <a:t> provides a convenient way of writing characters to a file. 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FileWriter</a:t>
            </a:r>
            <a:r>
              <a:rPr lang="en-US" dirty="0"/>
              <a:t> uses your computer's default character encoding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Constructor:</a:t>
            </a:r>
          </a:p>
          <a:p>
            <a:pPr marL="109537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(File file)</a:t>
            </a:r>
            <a:b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(File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append)</a:t>
            </a:r>
            <a:b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(String path)</a:t>
            </a:r>
            <a:b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(String path,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append)</a:t>
            </a:r>
            <a:b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FileDescriptor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fileDescriptor</a:t>
            </a:r>
            <a:r>
              <a:rPr lang="en-US" sz="26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dirty="0">
              <a:effectLst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FileWriter Class</a:t>
            </a:r>
          </a:p>
        </p:txBody>
      </p:sp>
    </p:spTree>
    <p:extLst>
      <p:ext uri="{BB962C8B-B14F-4D97-AF65-F5344CB8AC3E}">
        <p14:creationId xmlns:p14="http://schemas.microsoft.com/office/powerpoint/2010/main" val="342443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FileWriter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05342"/>
            <a:ext cx="8991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Read_Write_ex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argv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fw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"aa.txt"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String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strs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[] = { 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 err="1">
                <a:solidFill>
                  <a:srgbClr val="2A00FF"/>
                </a:solidFill>
                <a:latin typeface="Consolas"/>
              </a:rPr>
              <a:t>abc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 err="1">
                <a:solidFill>
                  <a:srgbClr val="2A00FF"/>
                </a:solidFill>
                <a:latin typeface="Consolas"/>
              </a:rPr>
              <a:t>def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 err="1">
                <a:solidFill>
                  <a:srgbClr val="2A00FF"/>
                </a:solidFill>
                <a:latin typeface="Consolas"/>
              </a:rPr>
              <a:t>ghi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 err="1">
                <a:solidFill>
                  <a:srgbClr val="2A00FF"/>
                </a:solidFill>
                <a:latin typeface="Consolas"/>
              </a:rPr>
              <a:t>jkl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};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strs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++)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fw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strs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] + 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“</a:t>
            </a:r>
            <a:r>
              <a:rPr lang="en-IE" dirty="0" smtClean="0">
                <a:solidFill>
                  <a:srgbClr val="2A00FF"/>
                </a:solidFill>
                <a:latin typeface="Consolas"/>
              </a:rPr>
              <a:t>\r\n”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IE" dirty="0">
              <a:solidFill>
                <a:srgbClr val="000000"/>
              </a:solidFill>
              <a:latin typeface="Consolas"/>
            </a:endParaRP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fw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.close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162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FileDescriptor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33400" y="1869281"/>
            <a:ext cx="8229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FileDescriptorDemoOne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File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file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File(</a:t>
            </a:r>
            <a:r>
              <a:rPr lang="en-IE" b="1" dirty="0">
                <a:solidFill>
                  <a:srgbClr val="2A00FF"/>
                </a:solidFill>
                <a:latin typeface="Consolas"/>
              </a:rPr>
              <a:t>"test.txt"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fos1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>
                <a:solidFill>
                  <a:srgbClr val="6A3E3E"/>
                </a:solidFill>
                <a:latin typeface="Consolas"/>
              </a:rPr>
              <a:t>file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FileDescriptor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 err="1">
                <a:solidFill>
                  <a:srgbClr val="6A3E3E"/>
                </a:solidFill>
                <a:latin typeface="Consolas"/>
              </a:rPr>
              <a:t>fd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fos1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.getFD(); 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>
                <a:solidFill>
                  <a:srgbClr val="3F7F5F"/>
                </a:solidFill>
                <a:latin typeface="Consolas"/>
              </a:rPr>
              <a:t>//passing </a:t>
            </a:r>
            <a:r>
              <a:rPr lang="en-IE" dirty="0" err="1">
                <a:solidFill>
                  <a:srgbClr val="3F7F5F"/>
                </a:solidFill>
                <a:latin typeface="Consolas"/>
              </a:rPr>
              <a:t>FileDescriptor</a:t>
            </a:r>
            <a:r>
              <a:rPr lang="en-IE" dirty="0">
                <a:solidFill>
                  <a:srgbClr val="3F7F5F"/>
                </a:solidFill>
                <a:latin typeface="Consolas"/>
              </a:rPr>
              <a:t> to another  </a:t>
            </a:r>
            <a:r>
              <a:rPr lang="en-IE" dirty="0" err="1">
                <a:solidFill>
                  <a:srgbClr val="3F7F5F"/>
                </a:solidFill>
                <a:latin typeface="Consolas"/>
              </a:rPr>
              <a:t>FileOutputStream</a:t>
            </a:r>
            <a:endParaRPr lang="en-IE" dirty="0">
              <a:solidFill>
                <a:srgbClr val="3F7F5F"/>
              </a:solidFill>
              <a:latin typeface="Consolas"/>
            </a:endParaRP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fos2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dirty="0" err="1">
                <a:solidFill>
                  <a:srgbClr val="6A3E3E"/>
                </a:solidFill>
                <a:latin typeface="Consolas"/>
              </a:rPr>
              <a:t>fd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fos2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.write(</a:t>
            </a:r>
            <a:r>
              <a:rPr lang="en-IE" dirty="0">
                <a:solidFill>
                  <a:srgbClr val="2A00FF"/>
                </a:solidFill>
                <a:latin typeface="Consolas"/>
              </a:rPr>
              <a:t>"Hello World!"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IE" dirty="0" err="1">
                <a:solidFill>
                  <a:srgbClr val="000000"/>
                </a:solidFill>
                <a:latin typeface="Consolas"/>
              </a:rPr>
              <a:t>getBytes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fos1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.close();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dirty="0">
                <a:solidFill>
                  <a:srgbClr val="6A3E3E"/>
                </a:solidFill>
                <a:latin typeface="Consolas"/>
              </a:rPr>
              <a:t>fos2</a:t>
            </a:r>
            <a:r>
              <a:rPr lang="en-IE" dirty="0">
                <a:solidFill>
                  <a:srgbClr val="000000"/>
                </a:solidFill>
                <a:latin typeface="Consolas"/>
              </a:rPr>
              <a:t>.close();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1280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FileReader</a:t>
            </a:r>
            <a:r>
              <a:rPr lang="en-US" dirty="0"/>
              <a:t> class is a subclass of </a:t>
            </a:r>
            <a:r>
              <a:rPr lang="en-US" dirty="0" err="1"/>
              <a:t>InputStreamReader</a:t>
            </a:r>
            <a:r>
              <a:rPr lang="en-US" dirty="0"/>
              <a:t> </a:t>
            </a:r>
          </a:p>
          <a:p>
            <a:r>
              <a:rPr lang="en-US" dirty="0"/>
              <a:t>The </a:t>
            </a:r>
            <a:r>
              <a:rPr lang="en-US" dirty="0" err="1"/>
              <a:t>FileReader</a:t>
            </a:r>
            <a:r>
              <a:rPr lang="en-US" dirty="0"/>
              <a:t> class is a convenient class to read characters from a </a:t>
            </a:r>
            <a:r>
              <a:rPr lang="en-US" dirty="0" smtClean="0"/>
              <a:t>file. 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FileReader</a:t>
            </a:r>
            <a:r>
              <a:rPr lang="en-US" dirty="0"/>
              <a:t> class uses </a:t>
            </a:r>
            <a:r>
              <a:rPr lang="en-US" dirty="0" smtClean="0"/>
              <a:t>default encoding.</a:t>
            </a:r>
            <a:endParaRPr lang="en-US" dirty="0"/>
          </a:p>
          <a:p>
            <a:r>
              <a:rPr lang="en-US" dirty="0"/>
              <a:t>Constructor:</a:t>
            </a:r>
          </a:p>
          <a:p>
            <a:pPr marL="1485900" indent="0">
              <a:buNone/>
            </a:pP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FileReader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(File file)</a:t>
            </a:r>
            <a:b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FileReader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FileDescriptor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fileDescriptor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FileReader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 (String </a:t>
            </a:r>
            <a:r>
              <a:rPr lang="en-US" sz="2400" b="1" dirty="0" err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filePath</a:t>
            </a:r>
            <a:r>
              <a:rPr lang="en-US" sz="24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109537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FileReader class</a:t>
            </a:r>
          </a:p>
        </p:txBody>
      </p:sp>
    </p:spTree>
    <p:extLst>
      <p:ext uri="{BB962C8B-B14F-4D97-AF65-F5344CB8AC3E}">
        <p14:creationId xmlns:p14="http://schemas.microsoft.com/office/powerpoint/2010/main" val="140736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Ex: Read from file, write out monitor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200" y="1998850"/>
            <a:ext cx="8915400" cy="3693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java.io.*; </a:t>
            </a:r>
          </a:p>
          <a:p>
            <a:pPr marL="109537" indent="0">
              <a:buNone/>
            </a:pP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FileRW_ex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{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{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FileReader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FileReader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/>
              </a:rPr>
              <a:t>"a.txt"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FileDescriptor.</a:t>
            </a:r>
            <a:r>
              <a:rPr lang="en-US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); </a:t>
            </a:r>
            <a:endParaRPr lang="en-US" b="1" i="1" dirty="0" smtClean="0">
              <a:solidFill>
                <a:srgbClr val="000000"/>
              </a:solidFill>
              <a:latin typeface="Consolas"/>
            </a:endParaRPr>
          </a:p>
          <a:p>
            <a:pPr marL="109537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 b=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[256];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((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fr.read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(b))&gt;-1)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 {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String upper=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String(b,0,num).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toUpperCase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fw.write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(upper);   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fw.flush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   }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   }  </a:t>
            </a:r>
          </a:p>
          <a:p>
            <a:pPr marL="109537" indent="0">
              <a:buNone/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9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6106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It is a character based class that is useful for console output.</a:t>
            </a:r>
          </a:p>
          <a:p>
            <a:pPr eaLnBrk="1" hangingPunct="1"/>
            <a:r>
              <a:rPr lang="en-US"/>
              <a:t>Provides support for Unicode characters.</a:t>
            </a:r>
          </a:p>
          <a:p>
            <a:r>
              <a:rPr lang="en-US"/>
              <a:t>PrintWriter is a better alternative to OutputStreamWriter and FileWriter. </a:t>
            </a:r>
          </a:p>
          <a:p>
            <a:r>
              <a:rPr lang="en-US"/>
              <a:t>PrintWriter allows you to choose an encoding by passing the encoding information to one of its constructors</a:t>
            </a:r>
          </a:p>
          <a:p>
            <a:pPr eaLnBrk="1" hangingPunct="1"/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PrintWriter class</a:t>
            </a:r>
          </a:p>
        </p:txBody>
      </p:sp>
    </p:spTree>
    <p:extLst>
      <p:ext uri="{BB962C8B-B14F-4D97-AF65-F5344CB8AC3E}">
        <p14:creationId xmlns:p14="http://schemas.microsoft.com/office/powerpoint/2010/main" val="57769213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bldLvl="2" autoUpdateAnimBg="0"/>
      <p:bldP spid="972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991600" cy="525780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/>
              <a:t>Constructors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 marL="109537" indent="0">
              <a:lnSpc>
                <a:spcPct val="120000"/>
              </a:lnSpc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(File file)</a:t>
            </a:r>
            <a:br>
              <a:rPr lang="en-US">
                <a:latin typeface="Courier New" pitchFamily="49" charset="0"/>
                <a:cs typeface="Courier New" pitchFamily="49" charset="0"/>
              </a:rPr>
            </a:b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(File file, String characterSet)</a:t>
            </a:r>
            <a:br>
              <a:rPr lang="en-US">
                <a:latin typeface="Courier New" pitchFamily="49" charset="0"/>
                <a:cs typeface="Courier New" pitchFamily="49" charset="0"/>
              </a:rPr>
            </a:b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(String filepath)</a:t>
            </a:r>
            <a:br>
              <a:rPr lang="en-US">
                <a:latin typeface="Courier New" pitchFamily="49" charset="0"/>
                <a:cs typeface="Courier New" pitchFamily="49" charset="0"/>
              </a:rPr>
            </a:b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(String filepath, String characterSet)</a:t>
            </a:r>
            <a:br>
              <a:rPr lang="en-US">
                <a:latin typeface="Courier New" pitchFamily="49" charset="0"/>
                <a:cs typeface="Courier New" pitchFamily="49" charset="0"/>
              </a:rPr>
            </a:b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(OutputStream out)</a:t>
            </a:r>
            <a:br>
              <a:rPr lang="en-US">
                <a:latin typeface="Courier New" pitchFamily="49" charset="0"/>
                <a:cs typeface="Courier New" pitchFamily="49" charset="0"/>
              </a:rPr>
            </a:br>
            <a:r>
              <a:rPr lang="en-US" b="1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>
                <a:latin typeface="Courier New" pitchFamily="49" charset="0"/>
                <a:cs typeface="Courier New" pitchFamily="49" charset="0"/>
              </a:rPr>
              <a:t>PrintWriter (Writer out)</a:t>
            </a:r>
          </a:p>
          <a:p>
            <a:pPr marL="109537" indent="0">
              <a:lnSpc>
                <a:spcPct val="120000"/>
              </a:lnSpc>
              <a:buNone/>
            </a:pPr>
            <a:endParaRPr lang="en-US"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PrintWriter class</a:t>
            </a:r>
          </a:p>
        </p:txBody>
      </p:sp>
    </p:spTree>
    <p:extLst>
      <p:ext uri="{BB962C8B-B14F-4D97-AF65-F5344CB8AC3E}">
        <p14:creationId xmlns:p14="http://schemas.microsoft.com/office/powerpoint/2010/main" val="311241047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bldLvl="2" autoUpdateAnimBg="0"/>
      <p:bldP spid="972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839200" cy="4953000"/>
          </a:xfrm>
        </p:spPr>
        <p:txBody>
          <a:bodyPr>
            <a:normAutofit/>
          </a:bodyPr>
          <a:lstStyle/>
          <a:p>
            <a:pPr marL="109537" indent="0" eaLnBrk="1" hangingPunct="1">
              <a:buNone/>
            </a:pPr>
            <a:r>
              <a:rPr lang="en-US" dirty="0"/>
              <a:t>Write text which used the </a:t>
            </a:r>
            <a:r>
              <a:rPr lang="en-US" dirty="0" smtClean="0"/>
              <a:t>specified </a:t>
            </a:r>
            <a:r>
              <a:rPr lang="en-US" dirty="0"/>
              <a:t>encoding to file:</a:t>
            </a:r>
          </a:p>
          <a:p>
            <a:pPr marL="109537" indent="0" eaLnBrk="1" hangingPunct="1">
              <a:buNone/>
            </a:pPr>
            <a:r>
              <a:rPr lang="en-US" dirty="0"/>
              <a:t> Create object </a:t>
            </a:r>
            <a:r>
              <a:rPr lang="en-US" dirty="0" smtClean="0"/>
              <a:t>based </a:t>
            </a:r>
            <a:r>
              <a:rPr lang="en-US" dirty="0"/>
              <a:t>on </a:t>
            </a:r>
            <a:r>
              <a:rPr lang="en-US" dirty="0" err="1"/>
              <a:t>FileWriter</a:t>
            </a:r>
            <a:r>
              <a:rPr lang="en-US" dirty="0"/>
              <a:t> class</a:t>
            </a:r>
          </a:p>
          <a:p>
            <a:pPr marL="109537" indent="0" eaLnBrk="1" hangingPunct="1">
              <a:buNone/>
            </a:pP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pw = new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2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(“Filename”)</a:t>
            </a:r>
          </a:p>
          <a:p>
            <a:r>
              <a:rPr lang="en-US" dirty="0"/>
              <a:t>Create object </a:t>
            </a:r>
            <a:r>
              <a:rPr lang="en-US" dirty="0" smtClean="0"/>
              <a:t>based </a:t>
            </a:r>
            <a:r>
              <a:rPr lang="en-US" dirty="0"/>
              <a:t>on </a:t>
            </a:r>
            <a:r>
              <a:rPr lang="en-US" dirty="0" err="1"/>
              <a:t>FileOutputStream</a:t>
            </a:r>
            <a:r>
              <a:rPr lang="en-US" dirty="0"/>
              <a:t> class</a:t>
            </a:r>
          </a:p>
          <a:p>
            <a:pPr marL="109537" indent="0">
              <a:buNone/>
            </a:pP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pw = new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2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FileOutPutStream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(“Filename”)</a:t>
            </a:r>
          </a:p>
          <a:p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PrintWriter class: Write file text</a:t>
            </a:r>
          </a:p>
        </p:txBody>
      </p:sp>
    </p:spTree>
    <p:extLst>
      <p:ext uri="{BB962C8B-B14F-4D97-AF65-F5344CB8AC3E}">
        <p14:creationId xmlns:p14="http://schemas.microsoft.com/office/powerpoint/2010/main" val="377012661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bldLvl="2" autoUpdateAnimBg="0"/>
      <p:bldP spid="972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8514"/>
            <a:ext cx="8229600" cy="1143000"/>
          </a:xfrm>
        </p:spPr>
        <p:txBody>
          <a:bodyPr/>
          <a:lstStyle/>
          <a:p>
            <a:r>
              <a:rPr lang="en-US" sz="2800" dirty="0">
                <a:effectLst/>
              </a:rPr>
              <a:t>Ex: Write lines of text to file using a </a:t>
            </a:r>
            <a:r>
              <a:rPr lang="en-US" sz="2800" dirty="0" err="1">
                <a:effectLst/>
              </a:rPr>
              <a:t>PrintWriter</a:t>
            </a:r>
            <a:endParaRPr lang="en-US" sz="2800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200" y="867490"/>
            <a:ext cx="8915400" cy="5632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java.io.FileWriter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java.io.PrintWriter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PW_ex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String filename = </a:t>
            </a:r>
            <a:r>
              <a:rPr lang="en-US" sz="2000" dirty="0">
                <a:solidFill>
                  <a:srgbClr val="2A00FF"/>
                </a:solidFill>
                <a:latin typeface="Consolas"/>
              </a:rPr>
              <a:t>“aa.txt"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String[]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linesToWrite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String[] { 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"a"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"b"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};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boolean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appendToFile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true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pw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appendToFile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  pw = </a:t>
            </a:r>
            <a:r>
              <a:rPr lang="en-US" sz="200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u="sng" dirty="0" err="1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u="sng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(filename, </a:t>
            </a:r>
            <a:r>
              <a:rPr lang="en-US" sz="2000" b="1" u="sng" dirty="0">
                <a:solidFill>
                  <a:srgbClr val="7F0055"/>
                </a:solidFill>
                <a:latin typeface="Consolas"/>
              </a:rPr>
              <a:t>true</a:t>
            </a:r>
            <a:r>
              <a:rPr lang="en-US" sz="2000" b="1" u="sng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}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else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  pw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PrintWriter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FileWriter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(filename));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linesToWrite.</a:t>
            </a:r>
            <a:r>
              <a:rPr lang="en-US" sz="2000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++)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pw.println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linesToWrite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]);  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109537" indent="0">
              <a:buNone/>
            </a:pPr>
            <a:r>
              <a:rPr lang="en-IE" sz="2000" dirty="0" smtClean="0"/>
              <a:t>	</a:t>
            </a:r>
            <a:r>
              <a:rPr lang="en-IE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dirty="0" err="1" smtClean="0">
                <a:solidFill>
                  <a:srgbClr val="000000"/>
                </a:solidFill>
                <a:latin typeface="Consolas"/>
              </a:rPr>
              <a:t>pw.format</a:t>
            </a:r>
            <a:r>
              <a:rPr lang="en-IE" sz="2000" dirty="0">
                <a:solidFill>
                  <a:srgbClr val="000000"/>
                </a:solidFill>
                <a:latin typeface="Consolas"/>
              </a:rPr>
              <a:t>("This is a %s program", "test");</a:t>
            </a: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pw.flush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pw.close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658501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Output File Streams</a:t>
            </a:r>
          </a:p>
        </p:txBody>
      </p:sp>
      <p:sp>
        <p:nvSpPr>
          <p:cNvPr id="321539" name="AutoShape 3"/>
          <p:cNvSpPr>
            <a:spLocks noChangeArrowheads="1"/>
          </p:cNvSpPr>
          <p:nvPr/>
        </p:nvSpPr>
        <p:spPr bwMode="auto">
          <a:xfrm rot="5400000">
            <a:off x="2920207" y="2769394"/>
            <a:ext cx="547687" cy="2098675"/>
          </a:xfrm>
          <a:prstGeom prst="can">
            <a:avLst>
              <a:gd name="adj" fmla="val 9579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21540" name="AutoShape 4"/>
          <p:cNvSpPr>
            <a:spLocks noChangeArrowheads="1"/>
          </p:cNvSpPr>
          <p:nvPr/>
        </p:nvSpPr>
        <p:spPr bwMode="auto">
          <a:xfrm rot="5400000">
            <a:off x="5899944" y="2786856"/>
            <a:ext cx="547688" cy="2098675"/>
          </a:xfrm>
          <a:prstGeom prst="can">
            <a:avLst>
              <a:gd name="adj" fmla="val 9579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21541" name="AutoShape 5"/>
          <p:cNvSpPr>
            <a:spLocks noChangeArrowheads="1"/>
          </p:cNvSpPr>
          <p:nvPr/>
        </p:nvSpPr>
        <p:spPr bwMode="auto">
          <a:xfrm>
            <a:off x="6437313" y="2951163"/>
            <a:ext cx="390525" cy="377825"/>
          </a:xfrm>
          <a:prstGeom prst="rightArrow">
            <a:avLst>
              <a:gd name="adj1" fmla="val 36972"/>
              <a:gd name="adj2" fmla="val 35296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21542" name="AutoShape 6"/>
          <p:cNvSpPr>
            <a:spLocks noChangeArrowheads="1"/>
          </p:cNvSpPr>
          <p:nvPr/>
        </p:nvSpPr>
        <p:spPr bwMode="auto">
          <a:xfrm>
            <a:off x="3389313" y="5729288"/>
            <a:ext cx="317500" cy="644525"/>
          </a:xfrm>
          <a:prstGeom prst="rightArrow">
            <a:avLst>
              <a:gd name="adj1" fmla="val 50000"/>
              <a:gd name="adj2" fmla="val 25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21543" name="AutoShape 7"/>
          <p:cNvSpPr>
            <a:spLocks noChangeArrowheads="1"/>
          </p:cNvSpPr>
          <p:nvPr/>
        </p:nvSpPr>
        <p:spPr bwMode="auto">
          <a:xfrm>
            <a:off x="1425575" y="3546475"/>
            <a:ext cx="638175" cy="515938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21544" name="AutoShape 8"/>
          <p:cNvSpPr>
            <a:spLocks noChangeArrowheads="1"/>
          </p:cNvSpPr>
          <p:nvPr/>
        </p:nvSpPr>
        <p:spPr bwMode="auto">
          <a:xfrm>
            <a:off x="4346575" y="3543300"/>
            <a:ext cx="638175" cy="515938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21545" name="AutoShape 9"/>
          <p:cNvSpPr>
            <a:spLocks noChangeArrowheads="1"/>
          </p:cNvSpPr>
          <p:nvPr/>
        </p:nvSpPr>
        <p:spPr bwMode="auto">
          <a:xfrm>
            <a:off x="7326313" y="3535363"/>
            <a:ext cx="638175" cy="515937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21546" name="Text Box 10"/>
          <p:cNvSpPr txBox="1">
            <a:spLocks noChangeArrowheads="1"/>
          </p:cNvSpPr>
          <p:nvPr/>
        </p:nvSpPr>
        <p:spPr bwMode="auto">
          <a:xfrm>
            <a:off x="2341563" y="3170238"/>
            <a:ext cx="2084387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Courier New" pitchFamily="49" charset="0"/>
              </a:rPr>
              <a:t>PrintWriter</a:t>
            </a:r>
          </a:p>
        </p:txBody>
      </p:sp>
      <p:sp>
        <p:nvSpPr>
          <p:cNvPr id="321547" name="Text Box 11"/>
          <p:cNvSpPr txBox="1">
            <a:spLocks noChangeArrowheads="1"/>
          </p:cNvSpPr>
          <p:nvPr/>
        </p:nvSpPr>
        <p:spPr bwMode="auto">
          <a:xfrm>
            <a:off x="4983163" y="3173413"/>
            <a:ext cx="261937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Courier New" pitchFamily="49" charset="0"/>
              </a:rPr>
              <a:t>FileOutputStream</a:t>
            </a:r>
          </a:p>
        </p:txBody>
      </p:sp>
      <p:sp>
        <p:nvSpPr>
          <p:cNvPr id="321548" name="Rectangle 12"/>
          <p:cNvSpPr>
            <a:spLocks noChangeArrowheads="1"/>
          </p:cNvSpPr>
          <p:nvPr/>
        </p:nvSpPr>
        <p:spPr bwMode="auto">
          <a:xfrm>
            <a:off x="7888288" y="3598863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Arial" charset="0"/>
              </a:rPr>
              <a:t>Disk</a:t>
            </a:r>
          </a:p>
        </p:txBody>
      </p:sp>
      <p:sp>
        <p:nvSpPr>
          <p:cNvPr id="321549" name="Rectangle 13"/>
          <p:cNvSpPr>
            <a:spLocks noChangeArrowheads="1"/>
          </p:cNvSpPr>
          <p:nvPr/>
        </p:nvSpPr>
        <p:spPr bwMode="auto">
          <a:xfrm>
            <a:off x="390525" y="3603625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Arial" charset="0"/>
              </a:rPr>
              <a:t>Memory</a:t>
            </a:r>
          </a:p>
        </p:txBody>
      </p:sp>
      <p:sp>
        <p:nvSpPr>
          <p:cNvPr id="321550" name="Text Box 14"/>
          <p:cNvSpPr txBox="1">
            <a:spLocks noChangeArrowheads="1"/>
          </p:cNvSpPr>
          <p:nvPr/>
        </p:nvSpPr>
        <p:spPr bwMode="auto">
          <a:xfrm>
            <a:off x="2470150" y="4549775"/>
            <a:ext cx="1541463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smileyOutStream</a:t>
            </a:r>
          </a:p>
        </p:txBody>
      </p:sp>
      <p:sp>
        <p:nvSpPr>
          <p:cNvPr id="321551" name="Text Box 15"/>
          <p:cNvSpPr txBox="1">
            <a:spLocks noChangeArrowheads="1"/>
          </p:cNvSpPr>
          <p:nvPr/>
        </p:nvSpPr>
        <p:spPr bwMode="auto">
          <a:xfrm>
            <a:off x="7954963" y="4537075"/>
            <a:ext cx="920750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smiley.txt</a:t>
            </a:r>
          </a:p>
        </p:txBody>
      </p:sp>
      <p:sp>
        <p:nvSpPr>
          <p:cNvPr id="321552" name="Text Box 16"/>
          <p:cNvSpPr txBox="1">
            <a:spLocks noChangeArrowheads="1"/>
          </p:cNvSpPr>
          <p:nvPr/>
        </p:nvSpPr>
        <p:spPr bwMode="auto">
          <a:xfrm>
            <a:off x="1250950" y="5451475"/>
            <a:ext cx="6846888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PrintWriter smileyOutStream = new PrintWriter( new FileOutputStream(“smiley.txt”) );</a:t>
            </a:r>
          </a:p>
        </p:txBody>
      </p:sp>
    </p:spTree>
    <p:extLst>
      <p:ext uri="{BB962C8B-B14F-4D97-AF65-F5344CB8AC3E}">
        <p14:creationId xmlns:p14="http://schemas.microsoft.com/office/powerpoint/2010/main" val="423459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for </a:t>
            </a:r>
            <a:r>
              <a:rPr lang="en-US" altLang="en-US">
                <a:latin typeface="Courier New" pitchFamily="49" charset="0"/>
              </a:rPr>
              <a:t>PrintWriter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Similar to methods for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dirty="0" err="1" smtClean="0">
                <a:latin typeface="Courier New" pitchFamily="49" charset="0"/>
              </a:rPr>
              <a:t>System.out</a:t>
            </a:r>
            <a:endParaRPr lang="en-US" altLang="en-US" sz="2000" dirty="0" smtClean="0">
              <a:latin typeface="Courier New" pitchFamily="49" charset="0"/>
            </a:endParaRPr>
          </a:p>
          <a:p>
            <a:r>
              <a:rPr lang="en-US" altLang="en-US" sz="2000" dirty="0" err="1" smtClean="0">
                <a:latin typeface="Courier New" pitchFamily="49" charset="0"/>
              </a:rPr>
              <a:t>Println</a:t>
            </a:r>
            <a:r>
              <a:rPr lang="en-US" altLang="en-US" sz="2000" dirty="0" smtClean="0">
                <a:latin typeface="Courier New" pitchFamily="49" charset="0"/>
              </a:rPr>
              <a:t>()</a:t>
            </a:r>
            <a:endParaRPr lang="en-US" altLang="en-US" sz="2000" dirty="0" smtClean="0"/>
          </a:p>
          <a:p>
            <a:pPr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altLang="en-US" sz="2000" dirty="0" err="1">
                <a:latin typeface="Courier New" pitchFamily="49" charset="0"/>
              </a:rPr>
              <a:t>outputStream.println</a:t>
            </a:r>
            <a:r>
              <a:rPr lang="en-US" altLang="en-US" sz="2000" dirty="0">
                <a:latin typeface="Courier New" pitchFamily="49" charset="0"/>
              </a:rPr>
              <a:t>(count + " " + line);</a:t>
            </a:r>
          </a:p>
          <a:p>
            <a:endParaRPr lang="en-US" alt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000" dirty="0" smtClean="0">
                <a:latin typeface="Courier New" pitchFamily="49" charset="0"/>
              </a:rPr>
              <a:t>Print()</a:t>
            </a: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000" dirty="0" smtClean="0">
                <a:latin typeface="Courier New" pitchFamily="49" charset="0"/>
              </a:rPr>
              <a:t>Format()</a:t>
            </a: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000" dirty="0" smtClean="0">
                <a:latin typeface="Courier New" pitchFamily="49" charset="0"/>
              </a:rPr>
              <a:t>Flush()</a:t>
            </a:r>
            <a:r>
              <a:rPr lang="en-US" altLang="en-US" sz="2000" dirty="0" smtClean="0"/>
              <a:t>: </a:t>
            </a:r>
            <a:r>
              <a:rPr lang="en-US" altLang="en-US" sz="2000" dirty="0"/>
              <a:t>write buffered output to disk</a:t>
            </a:r>
            <a:endParaRPr lang="en-US" altLang="en-US" sz="2000" dirty="0">
              <a:latin typeface="Courier New" pitchFamily="49" charset="0"/>
            </a:endParaRPr>
          </a:p>
          <a:p>
            <a:r>
              <a:rPr lang="en-US" altLang="en-US" sz="2000" dirty="0" smtClean="0">
                <a:latin typeface="Courier New" pitchFamily="49" charset="0"/>
              </a:rPr>
              <a:t>Close()</a:t>
            </a:r>
            <a:r>
              <a:rPr lang="en-US" altLang="en-US" sz="2000" dirty="0" smtClean="0"/>
              <a:t>: </a:t>
            </a:r>
            <a:r>
              <a:rPr lang="en-US" altLang="en-US" sz="2000" dirty="0"/>
              <a:t>close the </a:t>
            </a:r>
            <a:r>
              <a:rPr lang="en-US" altLang="en-US" sz="2000" dirty="0" err="1">
                <a:latin typeface="Courier New" pitchFamily="49" charset="0"/>
              </a:rPr>
              <a:t>PrintWriter</a:t>
            </a:r>
            <a:r>
              <a:rPr lang="en-US" altLang="en-US" sz="2000" dirty="0"/>
              <a:t> stream (and file)</a:t>
            </a:r>
            <a:r>
              <a:rPr lang="en-US" altLang="en-US" sz="2000" dirty="0">
                <a:latin typeface="Courier New" pitchFamily="49" charset="0"/>
              </a:rPr>
              <a:t>	</a:t>
            </a:r>
          </a:p>
          <a:p>
            <a:endParaRPr lang="en-US" altLang="en-US" sz="2000" dirty="0"/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533400" y="3124200"/>
            <a:ext cx="8077200" cy="3810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749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>
                <a:latin typeface="Courier New" pitchFamily="49" charset="0"/>
              </a:rPr>
              <a:t>TextFileOutputDemo</a:t>
            </a:r>
            <a:r>
              <a:rPr lang="en-US" altLang="en-US">
                <a:latin typeface="Courier New" pitchFamily="49" charset="0"/>
              </a:rPr>
              <a:t/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 sz="3600"/>
              <a:t>Part 1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534400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public static void main(String[] </a:t>
            </a:r>
            <a:r>
              <a:rPr lang="en-US" altLang="en-US" sz="1800" dirty="0" err="1">
                <a:latin typeface="Courier New" pitchFamily="49" charset="0"/>
              </a:rPr>
              <a:t>args</a:t>
            </a:r>
            <a:r>
              <a:rPr lang="en-US" alt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</a:t>
            </a:r>
            <a:r>
              <a:rPr lang="en-US" altLang="en-US" sz="1800" dirty="0" err="1">
                <a:latin typeface="Courier New" pitchFamily="49" charset="0"/>
              </a:rPr>
              <a:t>PrintWriter</a:t>
            </a:r>
            <a:r>
              <a:rPr lang="en-US" altLang="en-US" sz="1800" dirty="0">
                <a:latin typeface="Courier New" pitchFamily="49" charset="0"/>
              </a:rPr>
              <a:t> </a:t>
            </a:r>
            <a:r>
              <a:rPr lang="en-US" altLang="en-US" sz="1800" dirty="0" err="1">
                <a:latin typeface="Courier New" pitchFamily="49" charset="0"/>
              </a:rPr>
              <a:t>outputStream</a:t>
            </a:r>
            <a:r>
              <a:rPr lang="en-US" altLang="en-US" sz="1800" dirty="0">
                <a:latin typeface="Courier New" pitchFamily="49" charset="0"/>
              </a:rPr>
              <a:t> = null;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    </a:t>
            </a:r>
            <a:r>
              <a:rPr lang="en-US" altLang="en-US" sz="1800" dirty="0" err="1">
                <a:latin typeface="Courier New" pitchFamily="49" charset="0"/>
              </a:rPr>
              <a:t>outputStream</a:t>
            </a:r>
            <a:r>
              <a:rPr lang="en-US" altLang="en-US" sz="1800" dirty="0">
                <a:latin typeface="Courier New" pitchFamily="49" charset="0"/>
              </a:rPr>
              <a:t> =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         new </a:t>
            </a:r>
            <a:r>
              <a:rPr lang="en-US" altLang="en-US" sz="1800" dirty="0" err="1">
                <a:latin typeface="Courier New" pitchFamily="49" charset="0"/>
              </a:rPr>
              <a:t>PrintWriter</a:t>
            </a:r>
            <a:r>
              <a:rPr lang="en-US" altLang="en-US" sz="1800" dirty="0">
                <a:latin typeface="Courier New" pitchFamily="49" charset="0"/>
              </a:rPr>
              <a:t>(new </a:t>
            </a:r>
            <a:r>
              <a:rPr lang="en-US" altLang="en-US" sz="1800" dirty="0" err="1">
                <a:latin typeface="Courier New" pitchFamily="49" charset="0"/>
              </a:rPr>
              <a:t>FileOutputStream</a:t>
            </a:r>
            <a:r>
              <a:rPr lang="en-US" altLang="en-US" sz="1800" dirty="0">
                <a:latin typeface="Courier New" pitchFamily="49" charset="0"/>
              </a:rPr>
              <a:t>("out.txt"));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catch(</a:t>
            </a:r>
            <a:r>
              <a:rPr lang="en-US" altLang="en-US" sz="1800" dirty="0" err="1">
                <a:latin typeface="Courier New" pitchFamily="49" charset="0"/>
              </a:rPr>
              <a:t>FileNotFoundException</a:t>
            </a:r>
            <a:r>
              <a:rPr lang="en-US" altLang="en-US" sz="1800" dirty="0">
                <a:latin typeface="Courier New" pitchFamily="49" charset="0"/>
              </a:rPr>
              <a:t>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    </a:t>
            </a:r>
            <a:r>
              <a:rPr lang="en-US" altLang="en-US" sz="1800" dirty="0" err="1">
                <a:latin typeface="Courier New" pitchFamily="49" charset="0"/>
              </a:rPr>
              <a:t>System.out.println</a:t>
            </a:r>
            <a:r>
              <a:rPr lang="en-US" altLang="en-US" sz="1800" dirty="0">
                <a:latin typeface="Courier New" pitchFamily="49" charset="0"/>
              </a:rPr>
              <a:t>("Error opening the file out.txt. “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                       + </a:t>
            </a:r>
            <a:r>
              <a:rPr lang="en-US" altLang="en-US" sz="1800" dirty="0" err="1">
                <a:latin typeface="Courier New" pitchFamily="49" charset="0"/>
              </a:rPr>
              <a:t>e.getMessage</a:t>
            </a:r>
            <a:r>
              <a:rPr lang="en-US" altLang="en-US" sz="1800" dirty="0"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    </a:t>
            </a:r>
            <a:r>
              <a:rPr lang="en-US" altLang="en-US" sz="1800" dirty="0" err="1">
                <a:latin typeface="Courier New" pitchFamily="49" charset="0"/>
              </a:rPr>
              <a:t>System.exit</a:t>
            </a:r>
            <a:r>
              <a:rPr lang="en-US" altLang="en-US" sz="1800" dirty="0">
                <a:latin typeface="Courier New" pitchFamily="49" charset="0"/>
              </a:rPr>
              <a:t>(0);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 }</a:t>
            </a:r>
          </a:p>
          <a:p>
            <a:pPr>
              <a:lnSpc>
                <a:spcPct val="80000"/>
              </a:lnSpc>
            </a:pPr>
            <a:endParaRPr lang="en-US" altLang="en-US" sz="1800" dirty="0"/>
          </a:p>
        </p:txBody>
      </p:sp>
      <p:sp>
        <p:nvSpPr>
          <p:cNvPr id="325636" name="AutoShape 4"/>
          <p:cNvSpPr>
            <a:spLocks noChangeArrowheads="1"/>
          </p:cNvSpPr>
          <p:nvPr/>
        </p:nvSpPr>
        <p:spPr bwMode="auto">
          <a:xfrm>
            <a:off x="5867400" y="1295400"/>
            <a:ext cx="3124200" cy="1905000"/>
          </a:xfrm>
          <a:prstGeom prst="wedgeRectCallout">
            <a:avLst>
              <a:gd name="adj1" fmla="val -67685"/>
              <a:gd name="adj2" fmla="val 1475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u="sng">
                <a:latin typeface="Arial" charset="0"/>
              </a:rPr>
              <a:t>A </a:t>
            </a:r>
            <a:r>
              <a:rPr lang="en-US" altLang="en-US" sz="2000" b="1" u="sng">
                <a:latin typeface="Courier New" pitchFamily="49" charset="0"/>
              </a:rPr>
              <a:t>try</a:t>
            </a:r>
            <a:r>
              <a:rPr lang="en-US" altLang="en-US" sz="2000" b="1" u="sng">
                <a:latin typeface="Arial" charset="0"/>
              </a:rPr>
              <a:t>-block is a block:</a:t>
            </a:r>
          </a:p>
          <a:p>
            <a:r>
              <a:rPr lang="en-US" altLang="en-US" sz="2000">
                <a:latin typeface="Courier New" pitchFamily="49" charset="0"/>
              </a:rPr>
              <a:t>outputStream</a:t>
            </a:r>
            <a:r>
              <a:rPr lang="en-US" altLang="en-US" sz="2000">
                <a:latin typeface="Arial" charset="0"/>
              </a:rPr>
              <a:t> would not be accessible to the rest of the method if it were declared inside the </a:t>
            </a:r>
            <a:r>
              <a:rPr lang="en-US" altLang="en-US" sz="2000">
                <a:latin typeface="Courier New" pitchFamily="49" charset="0"/>
              </a:rPr>
              <a:t>try</a:t>
            </a:r>
            <a:r>
              <a:rPr lang="en-US" altLang="en-US" sz="2000">
                <a:latin typeface="Arial" charset="0"/>
              </a:rPr>
              <a:t>-block</a:t>
            </a:r>
          </a:p>
        </p:txBody>
      </p:sp>
      <p:sp>
        <p:nvSpPr>
          <p:cNvPr id="325637" name="AutoShape 5"/>
          <p:cNvSpPr>
            <a:spLocks noChangeArrowheads="1"/>
          </p:cNvSpPr>
          <p:nvPr/>
        </p:nvSpPr>
        <p:spPr bwMode="auto">
          <a:xfrm>
            <a:off x="5230813" y="3657600"/>
            <a:ext cx="3913187" cy="857250"/>
          </a:xfrm>
          <a:prstGeom prst="wedgeRectCallout">
            <a:avLst>
              <a:gd name="adj1" fmla="val -56412"/>
              <a:gd name="adj2" fmla="val 5129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>
                <a:latin typeface="Arial" charset="0"/>
              </a:rPr>
              <a:t>Creating a file can cause the </a:t>
            </a:r>
            <a:r>
              <a:rPr lang="en-US" altLang="en-US" sz="2000">
                <a:latin typeface="Courier New" pitchFamily="49" charset="0"/>
              </a:rPr>
              <a:t>FileNotFound-Exception</a:t>
            </a:r>
            <a:r>
              <a:rPr lang="en-US" altLang="en-US" sz="2000">
                <a:latin typeface="Arial" charset="0"/>
              </a:rPr>
              <a:t> if the new file cannot be made.</a:t>
            </a:r>
          </a:p>
        </p:txBody>
      </p:sp>
      <p:sp>
        <p:nvSpPr>
          <p:cNvPr id="325638" name="AutoShape 6"/>
          <p:cNvSpPr>
            <a:spLocks noChangeArrowheads="1"/>
          </p:cNvSpPr>
          <p:nvPr/>
        </p:nvSpPr>
        <p:spPr bwMode="auto">
          <a:xfrm>
            <a:off x="3200400" y="2743200"/>
            <a:ext cx="1981200" cy="457200"/>
          </a:xfrm>
          <a:prstGeom prst="wedgeRectCallout">
            <a:avLst>
              <a:gd name="adj1" fmla="val -3528"/>
              <a:gd name="adj2" fmla="val 11006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>
                <a:latin typeface="Arial" charset="0"/>
              </a:rPr>
              <a:t>Opening the file</a:t>
            </a:r>
          </a:p>
        </p:txBody>
      </p:sp>
    </p:spTree>
    <p:extLst>
      <p:ext uri="{BB962C8B-B14F-4D97-AF65-F5344CB8AC3E}">
        <p14:creationId xmlns:p14="http://schemas.microsoft.com/office/powerpoint/2010/main" val="407061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>
                <a:latin typeface="Courier New" pitchFamily="49" charset="0"/>
              </a:rPr>
              <a:t>TextFileOutputDemo</a:t>
            </a:r>
            <a:r>
              <a:rPr lang="en-US" altLang="en-US">
                <a:latin typeface="Courier New" pitchFamily="49" charset="0"/>
              </a:rPr>
              <a:t/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 sz="3600"/>
              <a:t>Part 2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 dirty="0" err="1">
                <a:latin typeface="Courier New" pitchFamily="49" charset="0"/>
              </a:rPr>
              <a:t>System.out.println</a:t>
            </a:r>
            <a:r>
              <a:rPr lang="en-US" altLang="en-US" sz="2000" dirty="0">
                <a:latin typeface="Courier New" pitchFamily="49" charset="0"/>
              </a:rPr>
              <a:t>("Enter three lines of text:");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String line = </a:t>
            </a:r>
            <a:r>
              <a:rPr lang="en-US" altLang="en-US" sz="2000" dirty="0" smtClean="0">
                <a:latin typeface="Courier New" pitchFamily="49" charset="0"/>
              </a:rPr>
              <a:t>null; </a:t>
            </a:r>
            <a:r>
              <a:rPr lang="en-US" altLang="en-US" sz="2000" dirty="0" err="1" smtClean="0">
                <a:latin typeface="Courier New" pitchFamily="49" charset="0"/>
              </a:rPr>
              <a:t>int</a:t>
            </a:r>
            <a:r>
              <a:rPr lang="en-US" altLang="en-US" sz="2000" dirty="0" smtClean="0">
                <a:latin typeface="Courier New" pitchFamily="49" charset="0"/>
              </a:rPr>
              <a:t> </a:t>
            </a:r>
            <a:r>
              <a:rPr lang="en-US" altLang="en-US" sz="2000" dirty="0">
                <a:latin typeface="Courier New" pitchFamily="49" charset="0"/>
              </a:rPr>
              <a:t>count</a:t>
            </a:r>
            <a:r>
              <a:rPr lang="en-US" altLang="en-US" sz="2000" dirty="0" smtClean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2000" dirty="0" smtClean="0">
                <a:latin typeface="Courier New" pitchFamily="49" charset="0"/>
              </a:rPr>
              <a:t>Scanner keyboard = new Scanner(System.in);</a:t>
            </a:r>
            <a:endParaRPr lang="en-US" alt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for (count = 1; count &lt;= 3; count++)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{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    line = </a:t>
            </a:r>
            <a:r>
              <a:rPr lang="en-US" altLang="en-US" sz="2000" dirty="0" err="1">
                <a:latin typeface="Courier New" pitchFamily="49" charset="0"/>
              </a:rPr>
              <a:t>keyboard.nextLine</a:t>
            </a:r>
            <a:r>
              <a:rPr lang="en-US" altLang="en-US" sz="2000" dirty="0">
                <a:latin typeface="Courier New" pitchFamily="49" charset="0"/>
              </a:rPr>
              <a:t>();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    </a:t>
            </a:r>
            <a:r>
              <a:rPr lang="en-US" altLang="en-US" sz="2000" b="1" dirty="0" err="1">
                <a:latin typeface="Courier New" pitchFamily="49" charset="0"/>
              </a:rPr>
              <a:t>outputStream.println</a:t>
            </a:r>
            <a:r>
              <a:rPr lang="en-US" altLang="en-US" sz="2000" dirty="0">
                <a:latin typeface="Courier New" pitchFamily="49" charset="0"/>
              </a:rPr>
              <a:t>(count + " " + line);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}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</a:t>
            </a:r>
            <a:r>
              <a:rPr lang="en-US" altLang="en-US" sz="2000" dirty="0" err="1">
                <a:latin typeface="Courier New" pitchFamily="49" charset="0"/>
              </a:rPr>
              <a:t>outputStream.close</a:t>
            </a:r>
            <a:r>
              <a:rPr lang="en-US" altLang="en-US" sz="2000" dirty="0">
                <a:latin typeface="Courier New" pitchFamily="49" charset="0"/>
              </a:rPr>
              <a:t>();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   </a:t>
            </a:r>
            <a:r>
              <a:rPr lang="en-US" altLang="en-US" sz="2000" b="1" dirty="0" err="1">
                <a:latin typeface="Courier New" pitchFamily="49" charset="0"/>
              </a:rPr>
              <a:t>System.out.println</a:t>
            </a:r>
            <a:r>
              <a:rPr lang="en-US" altLang="en-US" sz="2000" dirty="0">
                <a:latin typeface="Courier New" pitchFamily="49" charset="0"/>
              </a:rPr>
              <a:t>("... written to out.txt.");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altLang="en-US" sz="2000" dirty="0"/>
          </a:p>
        </p:txBody>
      </p:sp>
      <p:sp>
        <p:nvSpPr>
          <p:cNvPr id="327684" name="Text Box 4"/>
          <p:cNvSpPr txBox="1">
            <a:spLocks noChangeArrowheads="1"/>
          </p:cNvSpPr>
          <p:nvPr/>
        </p:nvSpPr>
        <p:spPr bwMode="auto">
          <a:xfrm>
            <a:off x="2590800" y="5715000"/>
            <a:ext cx="5638800" cy="7016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charset="0"/>
              </a:rPr>
              <a:t>The </a:t>
            </a:r>
            <a:r>
              <a:rPr lang="en-US" altLang="en-US" sz="2000">
                <a:latin typeface="Courier New" pitchFamily="49" charset="0"/>
              </a:rPr>
              <a:t>println</a:t>
            </a:r>
            <a:r>
              <a:rPr lang="en-US" altLang="en-US" sz="2000">
                <a:latin typeface="Arial" charset="0"/>
              </a:rPr>
              <a:t> method is used with two different streams: </a:t>
            </a:r>
            <a:r>
              <a:rPr lang="en-US" altLang="en-US" sz="2000">
                <a:latin typeface="Courier New" pitchFamily="49" charset="0"/>
              </a:rPr>
              <a:t>outputStream</a:t>
            </a:r>
            <a:r>
              <a:rPr lang="en-US" altLang="en-US" sz="2000">
                <a:latin typeface="Arial" charset="0"/>
              </a:rPr>
              <a:t> and </a:t>
            </a:r>
            <a:r>
              <a:rPr lang="en-US" altLang="en-US" sz="2000">
                <a:latin typeface="Courier New" pitchFamily="49" charset="0"/>
              </a:rPr>
              <a:t>System.out</a:t>
            </a:r>
            <a:endParaRPr lang="en-US" altLang="en-US" sz="2800">
              <a:latin typeface="Arial" charset="0"/>
            </a:endParaRPr>
          </a:p>
        </p:txBody>
      </p:sp>
      <p:sp>
        <p:nvSpPr>
          <p:cNvPr id="327685" name="AutoShape 5"/>
          <p:cNvSpPr>
            <a:spLocks noChangeArrowheads="1"/>
          </p:cNvSpPr>
          <p:nvPr/>
        </p:nvSpPr>
        <p:spPr bwMode="auto">
          <a:xfrm>
            <a:off x="5105400" y="4495800"/>
            <a:ext cx="1981200" cy="457200"/>
          </a:xfrm>
          <a:prstGeom prst="wedgeRectCallout">
            <a:avLst>
              <a:gd name="adj1" fmla="val -84616"/>
              <a:gd name="adj2" fmla="val 3923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>
                <a:latin typeface="Arial" charset="0"/>
              </a:rPr>
              <a:t>Closing the file</a:t>
            </a:r>
          </a:p>
        </p:txBody>
      </p:sp>
      <p:sp>
        <p:nvSpPr>
          <p:cNvPr id="327686" name="AutoShape 6"/>
          <p:cNvSpPr>
            <a:spLocks noChangeArrowheads="1"/>
          </p:cNvSpPr>
          <p:nvPr/>
        </p:nvSpPr>
        <p:spPr bwMode="auto">
          <a:xfrm>
            <a:off x="6324600" y="3276600"/>
            <a:ext cx="2209800" cy="457200"/>
          </a:xfrm>
          <a:prstGeom prst="wedgeRectCallout">
            <a:avLst>
              <a:gd name="adj1" fmla="val -128449"/>
              <a:gd name="adj2" fmla="val 9756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dirty="0">
                <a:latin typeface="Arial" charset="0"/>
              </a:rPr>
              <a:t>Writing to the file</a:t>
            </a:r>
          </a:p>
        </p:txBody>
      </p:sp>
    </p:spTree>
    <p:extLst>
      <p:ext uri="{BB962C8B-B14F-4D97-AF65-F5344CB8AC3E}">
        <p14:creationId xmlns:p14="http://schemas.microsoft.com/office/powerpoint/2010/main" val="385466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Text File Input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458200" cy="4572000"/>
          </a:xfrm>
        </p:spPr>
        <p:txBody>
          <a:bodyPr/>
          <a:lstStyle/>
          <a:p>
            <a:r>
              <a:rPr lang="en-US" altLang="en-US" sz="2000"/>
              <a:t>To open a text file for input: connect a text file to a stream for reading</a:t>
            </a:r>
          </a:p>
          <a:p>
            <a:pPr lvl="1"/>
            <a:r>
              <a:rPr lang="en-US" altLang="en-US" sz="2000"/>
              <a:t>Goal: a </a:t>
            </a:r>
            <a:r>
              <a:rPr lang="en-US" altLang="en-US" sz="2000">
                <a:latin typeface="Courier New" pitchFamily="49" charset="0"/>
              </a:rPr>
              <a:t>BufferedReader</a:t>
            </a:r>
            <a:r>
              <a:rPr lang="en-US" altLang="en-US" sz="2000"/>
              <a:t> object, </a:t>
            </a:r>
          </a:p>
          <a:p>
            <a:pPr lvl="2"/>
            <a:r>
              <a:rPr lang="en-US" altLang="en-US" sz="2000"/>
              <a:t>which uses </a:t>
            </a:r>
            <a:r>
              <a:rPr lang="en-US" altLang="en-US" sz="2000">
                <a:latin typeface="Courier New" pitchFamily="49" charset="0"/>
              </a:rPr>
              <a:t>FileReader</a:t>
            </a:r>
            <a:r>
              <a:rPr lang="en-US" altLang="en-US" sz="2000"/>
              <a:t> to open a text file</a:t>
            </a:r>
          </a:p>
          <a:p>
            <a:pPr lvl="1"/>
            <a:r>
              <a:rPr lang="en-US" altLang="en-US" sz="2000">
                <a:latin typeface="Courier New" pitchFamily="49" charset="0"/>
              </a:rPr>
              <a:t>FileReader “</a:t>
            </a:r>
            <a:r>
              <a:rPr lang="en-US" altLang="en-US" sz="2000"/>
              <a:t>connects”</a:t>
            </a:r>
            <a:r>
              <a:rPr lang="en-US" altLang="en-US" sz="2000">
                <a:latin typeface="Courier New" pitchFamily="49" charset="0"/>
              </a:rPr>
              <a:t> BufferedReader </a:t>
            </a:r>
            <a:r>
              <a:rPr lang="en-US" altLang="en-US" sz="2000"/>
              <a:t>to the text file</a:t>
            </a:r>
          </a:p>
          <a:p>
            <a:r>
              <a:rPr lang="en-US" altLang="en-US" sz="2000"/>
              <a:t>For example: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BufferedReader smileyInStream =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  new BufferedReader(new FileReader(“smiley.txt"));</a:t>
            </a:r>
          </a:p>
          <a:p>
            <a:r>
              <a:rPr lang="en-US" altLang="en-US" sz="2000"/>
              <a:t>Similarly, the long way</a:t>
            </a:r>
            <a:r>
              <a:rPr lang="en-US" altLang="en-US" sz="2000">
                <a:latin typeface="Courier New" pitchFamily="49" charset="0"/>
              </a:rPr>
              <a:t>: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FileReader s = new FileReader(“smiley.txt");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BufferedReader smileyInStream = new BufferedReader(s);</a:t>
            </a:r>
          </a:p>
          <a:p>
            <a:pPr lvl="1"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pPr lvl="1">
              <a:buFontTx/>
              <a:buNone/>
            </a:pPr>
            <a:endParaRPr lang="en-US" altLang="en-US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24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File Streams</a:t>
            </a:r>
          </a:p>
        </p:txBody>
      </p:sp>
      <p:sp>
        <p:nvSpPr>
          <p:cNvPr id="339971" name="AutoShape 3"/>
          <p:cNvSpPr>
            <a:spLocks noChangeArrowheads="1"/>
          </p:cNvSpPr>
          <p:nvPr/>
        </p:nvSpPr>
        <p:spPr bwMode="auto">
          <a:xfrm rot="5400000">
            <a:off x="2920207" y="2769394"/>
            <a:ext cx="547687" cy="2098675"/>
          </a:xfrm>
          <a:prstGeom prst="can">
            <a:avLst>
              <a:gd name="adj" fmla="val 9579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39972" name="AutoShape 4"/>
          <p:cNvSpPr>
            <a:spLocks noChangeArrowheads="1"/>
          </p:cNvSpPr>
          <p:nvPr/>
        </p:nvSpPr>
        <p:spPr bwMode="auto">
          <a:xfrm rot="5400000">
            <a:off x="5899944" y="2786856"/>
            <a:ext cx="547688" cy="2098675"/>
          </a:xfrm>
          <a:prstGeom prst="can">
            <a:avLst>
              <a:gd name="adj" fmla="val 9579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39973" name="AutoShape 5"/>
          <p:cNvSpPr>
            <a:spLocks noChangeArrowheads="1"/>
          </p:cNvSpPr>
          <p:nvPr/>
        </p:nvSpPr>
        <p:spPr bwMode="auto">
          <a:xfrm>
            <a:off x="6437313" y="2951163"/>
            <a:ext cx="390525" cy="377825"/>
          </a:xfrm>
          <a:prstGeom prst="rightArrow">
            <a:avLst>
              <a:gd name="adj1" fmla="val 36972"/>
              <a:gd name="adj2" fmla="val 35296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39974" name="AutoShape 6"/>
          <p:cNvSpPr>
            <a:spLocks noChangeArrowheads="1"/>
          </p:cNvSpPr>
          <p:nvPr/>
        </p:nvSpPr>
        <p:spPr bwMode="auto">
          <a:xfrm>
            <a:off x="3389313" y="5729288"/>
            <a:ext cx="317500" cy="644525"/>
          </a:xfrm>
          <a:prstGeom prst="rightArrow">
            <a:avLst>
              <a:gd name="adj1" fmla="val 50000"/>
              <a:gd name="adj2" fmla="val 25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39975" name="AutoShape 7"/>
          <p:cNvSpPr>
            <a:spLocks noChangeArrowheads="1"/>
          </p:cNvSpPr>
          <p:nvPr/>
        </p:nvSpPr>
        <p:spPr bwMode="auto">
          <a:xfrm flipH="1">
            <a:off x="1425575" y="3546475"/>
            <a:ext cx="638175" cy="515938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39976" name="AutoShape 8"/>
          <p:cNvSpPr>
            <a:spLocks noChangeArrowheads="1"/>
          </p:cNvSpPr>
          <p:nvPr/>
        </p:nvSpPr>
        <p:spPr bwMode="auto">
          <a:xfrm flipH="1">
            <a:off x="4346575" y="3543300"/>
            <a:ext cx="638175" cy="515938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39977" name="AutoShape 9"/>
          <p:cNvSpPr>
            <a:spLocks noChangeArrowheads="1"/>
          </p:cNvSpPr>
          <p:nvPr/>
        </p:nvSpPr>
        <p:spPr bwMode="auto">
          <a:xfrm flipH="1">
            <a:off x="7326313" y="3535363"/>
            <a:ext cx="638175" cy="515937"/>
          </a:xfrm>
          <a:prstGeom prst="rightArrow">
            <a:avLst>
              <a:gd name="adj1" fmla="val 45231"/>
              <a:gd name="adj2" fmla="val 63999"/>
            </a:avLst>
          </a:prstGeom>
          <a:solidFill>
            <a:srgbClr val="98EE8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IE"/>
          </a:p>
        </p:txBody>
      </p:sp>
      <p:sp>
        <p:nvSpPr>
          <p:cNvPr id="339978" name="Text Box 10"/>
          <p:cNvSpPr txBox="1">
            <a:spLocks noChangeArrowheads="1"/>
          </p:cNvSpPr>
          <p:nvPr/>
        </p:nvSpPr>
        <p:spPr bwMode="auto">
          <a:xfrm>
            <a:off x="2155825" y="3105150"/>
            <a:ext cx="22701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Courier New" pitchFamily="49" charset="0"/>
              </a:rPr>
              <a:t>BufferedReader</a:t>
            </a:r>
          </a:p>
        </p:txBody>
      </p:sp>
      <p:sp>
        <p:nvSpPr>
          <p:cNvPr id="339979" name="Text Box 11"/>
          <p:cNvSpPr txBox="1">
            <a:spLocks noChangeArrowheads="1"/>
          </p:cNvSpPr>
          <p:nvPr/>
        </p:nvSpPr>
        <p:spPr bwMode="auto">
          <a:xfrm>
            <a:off x="5260975" y="3094038"/>
            <a:ext cx="261937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Courier New" pitchFamily="49" charset="0"/>
              </a:rPr>
              <a:t>FileReader</a:t>
            </a:r>
          </a:p>
        </p:txBody>
      </p:sp>
      <p:sp>
        <p:nvSpPr>
          <p:cNvPr id="339980" name="Rectangle 12"/>
          <p:cNvSpPr>
            <a:spLocks noChangeArrowheads="1"/>
          </p:cNvSpPr>
          <p:nvPr/>
        </p:nvSpPr>
        <p:spPr bwMode="auto">
          <a:xfrm>
            <a:off x="7888288" y="3598863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Arial" charset="0"/>
              </a:rPr>
              <a:t>Disk</a:t>
            </a:r>
          </a:p>
        </p:txBody>
      </p:sp>
      <p:sp>
        <p:nvSpPr>
          <p:cNvPr id="339981" name="Rectangle 13"/>
          <p:cNvSpPr>
            <a:spLocks noChangeArrowheads="1"/>
          </p:cNvSpPr>
          <p:nvPr/>
        </p:nvSpPr>
        <p:spPr bwMode="auto">
          <a:xfrm>
            <a:off x="390525" y="3603625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800">
                <a:latin typeface="Arial" charset="0"/>
              </a:rPr>
              <a:t>Memory</a:t>
            </a:r>
          </a:p>
        </p:txBody>
      </p:sp>
      <p:sp>
        <p:nvSpPr>
          <p:cNvPr id="339982" name="Text Box 14"/>
          <p:cNvSpPr txBox="1">
            <a:spLocks noChangeArrowheads="1"/>
          </p:cNvSpPr>
          <p:nvPr/>
        </p:nvSpPr>
        <p:spPr bwMode="auto">
          <a:xfrm>
            <a:off x="2470150" y="4549775"/>
            <a:ext cx="1403350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smileyInStream</a:t>
            </a:r>
          </a:p>
        </p:txBody>
      </p:sp>
      <p:sp>
        <p:nvSpPr>
          <p:cNvPr id="339983" name="Text Box 15"/>
          <p:cNvSpPr txBox="1">
            <a:spLocks noChangeArrowheads="1"/>
          </p:cNvSpPr>
          <p:nvPr/>
        </p:nvSpPr>
        <p:spPr bwMode="auto">
          <a:xfrm>
            <a:off x="7954963" y="4537075"/>
            <a:ext cx="920750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smiley.txt</a:t>
            </a:r>
          </a:p>
        </p:txBody>
      </p:sp>
      <p:sp>
        <p:nvSpPr>
          <p:cNvPr id="339984" name="Text Box 16"/>
          <p:cNvSpPr txBox="1">
            <a:spLocks noChangeArrowheads="1"/>
          </p:cNvSpPr>
          <p:nvPr/>
        </p:nvSpPr>
        <p:spPr bwMode="auto">
          <a:xfrm>
            <a:off x="1131888" y="5426075"/>
            <a:ext cx="7011987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1400">
                <a:latin typeface="Arial" charset="0"/>
              </a:rPr>
              <a:t>BufferedReader smileyInStream = new BufferedReader( new FileReader(“smiley.txt”) );</a:t>
            </a:r>
          </a:p>
        </p:txBody>
      </p:sp>
    </p:spTree>
    <p:extLst>
      <p:ext uri="{BB962C8B-B14F-4D97-AF65-F5344CB8AC3E}">
        <p14:creationId xmlns:p14="http://schemas.microsoft.com/office/powerpoint/2010/main" val="268467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for</a:t>
            </a:r>
            <a:r>
              <a:rPr lang="en-US" altLang="en-US">
                <a:latin typeface="Courier New" pitchFamily="49" charset="0"/>
              </a:rPr>
              <a:t> BufferedReader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Courier New" pitchFamily="49" charset="0"/>
              </a:rPr>
              <a:t>readLine</a:t>
            </a:r>
            <a:r>
              <a:rPr lang="en-US" altLang="en-US"/>
              <a:t>: read a line into a </a:t>
            </a:r>
            <a:r>
              <a:rPr lang="en-US" altLang="en-US">
                <a:latin typeface="Courier New" pitchFamily="49" charset="0"/>
              </a:rPr>
              <a:t>String</a:t>
            </a:r>
            <a:endParaRPr lang="en-US" altLang="en-US"/>
          </a:p>
          <a:p>
            <a:r>
              <a:rPr lang="en-US" altLang="en-US"/>
              <a:t>no methods to read numbers directly, so read numbers as </a:t>
            </a:r>
            <a:r>
              <a:rPr lang="en-US" altLang="en-US">
                <a:latin typeface="Courier New" pitchFamily="49" charset="0"/>
              </a:rPr>
              <a:t>String</a:t>
            </a:r>
            <a:r>
              <a:rPr lang="en-US" altLang="en-US"/>
              <a:t>s and then convert them (</a:t>
            </a:r>
            <a:r>
              <a:rPr lang="en-US" altLang="en-US">
                <a:latin typeface="Courier New" pitchFamily="49" charset="0"/>
              </a:rPr>
              <a:t>StringTokenizer</a:t>
            </a:r>
            <a:r>
              <a:rPr lang="en-US" altLang="en-US"/>
              <a:t> later)</a:t>
            </a:r>
          </a:p>
          <a:p>
            <a:r>
              <a:rPr lang="en-US" altLang="en-US">
                <a:latin typeface="Courier New" pitchFamily="49" charset="0"/>
              </a:rPr>
              <a:t>read</a:t>
            </a:r>
            <a:r>
              <a:rPr lang="en-US" altLang="en-US"/>
              <a:t>: read a </a:t>
            </a:r>
            <a:r>
              <a:rPr lang="en-US" altLang="en-US">
                <a:latin typeface="Courier New" pitchFamily="49" charset="0"/>
              </a:rPr>
              <a:t>char</a:t>
            </a:r>
            <a:r>
              <a:rPr lang="en-US" altLang="en-US"/>
              <a:t> at a time</a:t>
            </a:r>
          </a:p>
          <a:p>
            <a:r>
              <a:rPr lang="en-US" altLang="en-US">
                <a:latin typeface="Courier New" pitchFamily="49" charset="0"/>
              </a:rPr>
              <a:t>close</a:t>
            </a:r>
            <a:r>
              <a:rPr lang="en-US" altLang="en-US"/>
              <a:t>: close</a:t>
            </a:r>
            <a:r>
              <a:rPr lang="en-US" altLang="en-US">
                <a:latin typeface="Courier New" pitchFamily="49" charset="0"/>
              </a:rPr>
              <a:t> BufferedReader </a:t>
            </a:r>
            <a:r>
              <a:rPr lang="en-US" altLang="en-US"/>
              <a:t>stream</a:t>
            </a:r>
          </a:p>
        </p:txBody>
      </p:sp>
    </p:spTree>
    <p:extLst>
      <p:ext uri="{BB962C8B-B14F-4D97-AF65-F5344CB8AC3E}">
        <p14:creationId xmlns:p14="http://schemas.microsoft.com/office/powerpoint/2010/main" val="285034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2895600" cy="19812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Example:</a:t>
            </a:r>
            <a:br>
              <a:rPr lang="en-US" altLang="en-US" sz="3200"/>
            </a:br>
            <a:r>
              <a:rPr lang="en-US" altLang="en-US" sz="3200"/>
              <a:t>Reading a File Name from the Keyboard</a:t>
            </a: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/>
        </p:nvGraphicFramePr>
        <p:xfrm>
          <a:off x="3130550" y="500063"/>
          <a:ext cx="5638800" cy="603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Document" r:id="rId4" imgW="5673064" imgH="5839563" progId="Word.Document.8">
                  <p:embed/>
                </p:oleObj>
              </mc:Choice>
              <mc:Fallback>
                <p:oleObj name="Document" r:id="rId4" imgW="5673064" imgH="58395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500063"/>
                        <a:ext cx="5638800" cy="603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0" name="AutoShape 8"/>
          <p:cNvSpPr>
            <a:spLocks/>
          </p:cNvSpPr>
          <p:nvPr/>
        </p:nvSpPr>
        <p:spPr bwMode="auto">
          <a:xfrm>
            <a:off x="228600" y="2332038"/>
            <a:ext cx="2362200" cy="714375"/>
          </a:xfrm>
          <a:prstGeom prst="borderCallout1">
            <a:avLst>
              <a:gd name="adj1" fmla="val 16000"/>
              <a:gd name="adj2" fmla="val 103227"/>
              <a:gd name="adj3" fmla="val -34889"/>
              <a:gd name="adj4" fmla="val 14119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US" sz="2000">
                <a:latin typeface="Arial" charset="0"/>
              </a:rPr>
              <a:t>reading a file name from the keyboard</a:t>
            </a:r>
          </a:p>
        </p:txBody>
      </p:sp>
      <p:sp>
        <p:nvSpPr>
          <p:cNvPr id="346121" name="AutoShape 9"/>
          <p:cNvSpPr>
            <a:spLocks/>
          </p:cNvSpPr>
          <p:nvPr/>
        </p:nvSpPr>
        <p:spPr bwMode="auto">
          <a:xfrm>
            <a:off x="6553200" y="4038600"/>
            <a:ext cx="1806575" cy="409575"/>
          </a:xfrm>
          <a:prstGeom prst="borderCallout1">
            <a:avLst>
              <a:gd name="adj1" fmla="val 27907"/>
              <a:gd name="adj2" fmla="val -4218"/>
              <a:gd name="adj3" fmla="val 2713"/>
              <a:gd name="adj4" fmla="val -7407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000">
                <a:latin typeface="Arial" charset="0"/>
              </a:rPr>
              <a:t>closing the file</a:t>
            </a:r>
          </a:p>
        </p:txBody>
      </p:sp>
      <p:sp>
        <p:nvSpPr>
          <p:cNvPr id="346122" name="AutoShape 10"/>
          <p:cNvSpPr>
            <a:spLocks/>
          </p:cNvSpPr>
          <p:nvPr/>
        </p:nvSpPr>
        <p:spPr bwMode="auto">
          <a:xfrm>
            <a:off x="304800" y="3276600"/>
            <a:ext cx="2362200" cy="1019175"/>
          </a:xfrm>
          <a:prstGeom prst="borderCallout1">
            <a:avLst>
              <a:gd name="adj1" fmla="val 11213"/>
              <a:gd name="adj2" fmla="val 103227"/>
              <a:gd name="adj3" fmla="val -84111"/>
              <a:gd name="adj4" fmla="val 13488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US" sz="2000">
                <a:latin typeface="Arial" charset="0"/>
              </a:rPr>
              <a:t>using the file name read from the keyboard</a:t>
            </a:r>
          </a:p>
        </p:txBody>
      </p:sp>
      <p:sp>
        <p:nvSpPr>
          <p:cNvPr id="346123" name="AutoShape 11"/>
          <p:cNvSpPr>
            <a:spLocks/>
          </p:cNvSpPr>
          <p:nvPr/>
        </p:nvSpPr>
        <p:spPr bwMode="auto">
          <a:xfrm>
            <a:off x="3505200" y="2209800"/>
            <a:ext cx="76200" cy="381000"/>
          </a:xfrm>
          <a:prstGeom prst="leftBracket">
            <a:avLst>
              <a:gd name="adj" fmla="val 41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46124" name="AutoShape 12"/>
          <p:cNvSpPr>
            <a:spLocks/>
          </p:cNvSpPr>
          <p:nvPr/>
        </p:nvSpPr>
        <p:spPr bwMode="auto">
          <a:xfrm>
            <a:off x="762000" y="4572000"/>
            <a:ext cx="1752600" cy="714375"/>
          </a:xfrm>
          <a:prstGeom prst="borderCallout1">
            <a:avLst>
              <a:gd name="adj1" fmla="val 16000"/>
              <a:gd name="adj2" fmla="val 104347"/>
              <a:gd name="adj3" fmla="val -216444"/>
              <a:gd name="adj4" fmla="val 15932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US" sz="2000">
                <a:latin typeface="Arial" charset="0"/>
              </a:rPr>
              <a:t>reading data from the file</a:t>
            </a:r>
          </a:p>
        </p:txBody>
      </p:sp>
      <p:sp>
        <p:nvSpPr>
          <p:cNvPr id="346125" name="Rectangle 13"/>
          <p:cNvSpPr>
            <a:spLocks noChangeArrowheads="1"/>
          </p:cNvSpPr>
          <p:nvPr/>
        </p:nvSpPr>
        <p:spPr bwMode="auto">
          <a:xfrm>
            <a:off x="3048000" y="304800"/>
            <a:ext cx="5754688" cy="61849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019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Reading Words in a String:</a:t>
            </a:r>
            <a:br>
              <a:rPr lang="en-US" altLang="en-US" sz="4000"/>
            </a:br>
            <a:r>
              <a:rPr lang="en-US" altLang="en-US" sz="4000"/>
              <a:t>Using </a:t>
            </a:r>
            <a:r>
              <a:rPr lang="en-US" altLang="en-US" sz="4000" b="1">
                <a:latin typeface="Courier New" pitchFamily="49" charset="0"/>
              </a:rPr>
              <a:t>StringTokenizer</a:t>
            </a:r>
            <a:r>
              <a:rPr lang="en-US" altLang="en-US" sz="4000"/>
              <a:t> Class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There are </a:t>
            </a:r>
            <a:r>
              <a:rPr lang="en-US" altLang="en-US" sz="2000">
                <a:latin typeface="Courier New" pitchFamily="49" charset="0"/>
              </a:rPr>
              <a:t>BufferedReader</a:t>
            </a:r>
            <a:r>
              <a:rPr lang="en-US" altLang="en-US" sz="2000"/>
              <a:t> methods to read a line and a character, but not just a single word</a:t>
            </a:r>
          </a:p>
          <a:p>
            <a:endParaRPr lang="en-US" altLang="en-US" sz="2000"/>
          </a:p>
          <a:p>
            <a:r>
              <a:rPr lang="en-US" altLang="en-US" sz="2000">
                <a:latin typeface="Courier New" pitchFamily="49" charset="0"/>
              </a:rPr>
              <a:t>StringTokenizer</a:t>
            </a:r>
            <a:r>
              <a:rPr lang="en-US" altLang="en-US" sz="2000"/>
              <a:t> can be used to parse a line into words</a:t>
            </a:r>
          </a:p>
          <a:p>
            <a:pPr lvl="1"/>
            <a:r>
              <a:rPr lang="en-US" altLang="en-US" sz="2000"/>
              <a:t>import </a:t>
            </a:r>
            <a:r>
              <a:rPr lang="en-US" altLang="en-US" sz="2000">
                <a:latin typeface="Courier New" pitchFamily="49" charset="0"/>
              </a:rPr>
              <a:t>java.util.*</a:t>
            </a:r>
          </a:p>
          <a:p>
            <a:pPr lvl="1"/>
            <a:r>
              <a:rPr lang="en-US" altLang="en-US" sz="2000"/>
              <a:t>some of its useful methods are shown in the text</a:t>
            </a:r>
          </a:p>
          <a:p>
            <a:pPr lvl="2"/>
            <a:r>
              <a:rPr lang="en-US" altLang="en-US" sz="2000"/>
              <a:t>e.g. test if there are more tokens</a:t>
            </a:r>
          </a:p>
          <a:p>
            <a:pPr lvl="1"/>
            <a:r>
              <a:rPr lang="en-US" altLang="en-US" sz="2000"/>
              <a:t>you can specify </a:t>
            </a:r>
            <a:r>
              <a:rPr lang="en-US" altLang="en-US" sz="2000" i="1"/>
              <a:t>delimiters</a:t>
            </a:r>
            <a:r>
              <a:rPr lang="en-US" altLang="en-US" sz="2000"/>
              <a:t> (the character or characters that separate words)</a:t>
            </a:r>
          </a:p>
          <a:p>
            <a:pPr lvl="2"/>
            <a:r>
              <a:rPr lang="en-US" altLang="en-US" sz="2000"/>
              <a:t>the default delimiters are "white space" (space, tab, and newline)</a:t>
            </a:r>
          </a:p>
        </p:txBody>
      </p:sp>
    </p:spTree>
    <p:extLst>
      <p:ext uri="{BB962C8B-B14F-4D97-AF65-F5344CB8AC3E}">
        <p14:creationId xmlns:p14="http://schemas.microsoft.com/office/powerpoint/2010/main" val="422562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</a:t>
            </a:r>
            <a:r>
              <a:rPr lang="en-US" altLang="en-US" b="1">
                <a:latin typeface="Courier New" pitchFamily="49" charset="0"/>
              </a:rPr>
              <a:t>StringTokenizer</a:t>
            </a:r>
            <a:endParaRPr lang="en-US" altLang="en-US" b="1"/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r>
              <a:rPr lang="en-US" altLang="en-US" sz="2000"/>
              <a:t>Display the words separated by any of the following characters: space, new line (\n), period (.) or comma (,).</a:t>
            </a:r>
          </a:p>
          <a:p>
            <a:pPr>
              <a:buFontTx/>
              <a:buNone/>
            </a:pPr>
            <a:endParaRPr lang="en-US" altLang="en-US" sz="2000"/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 lvl="1"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altLang="en-US">
              <a:latin typeface="Courier New" pitchFamily="49" charset="0"/>
            </a:endParaRPr>
          </a:p>
          <a:p>
            <a:pPr>
              <a:lnSpc>
                <a:spcPct val="75000"/>
              </a:lnSpc>
              <a:spcBef>
                <a:spcPct val="10000"/>
              </a:spcBef>
              <a:spcAft>
                <a:spcPct val="10000"/>
              </a:spcAft>
            </a:pPr>
            <a:endParaRPr lang="en-US" altLang="en-US"/>
          </a:p>
        </p:txBody>
      </p:sp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381000" y="2362200"/>
            <a:ext cx="8534400" cy="2724150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String </a:t>
            </a:r>
            <a:r>
              <a:rPr lang="en-US" altLang="en-US" sz="2000" dirty="0" err="1">
                <a:latin typeface="Courier New" pitchFamily="49" charset="0"/>
              </a:rPr>
              <a:t>inputLine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dirty="0" err="1">
                <a:latin typeface="Courier New" pitchFamily="49" charset="0"/>
              </a:rPr>
              <a:t>keyboard.nextLine</a:t>
            </a:r>
            <a:r>
              <a:rPr lang="en-US" altLang="en-US" sz="2000" dirty="0">
                <a:latin typeface="Courier New" pitchFamily="49" charset="0"/>
              </a:rPr>
              <a:t>();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 err="1">
                <a:latin typeface="Courier New" pitchFamily="49" charset="0"/>
              </a:rPr>
              <a:t>StringTokenizer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wordFinder</a:t>
            </a:r>
            <a:r>
              <a:rPr lang="en-US" altLang="en-US" sz="2000" dirty="0">
                <a:latin typeface="Courier New" pitchFamily="49" charset="0"/>
              </a:rPr>
              <a:t> =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            new </a:t>
            </a:r>
            <a:r>
              <a:rPr lang="en-US" altLang="en-US" sz="2000" dirty="0" err="1">
                <a:latin typeface="Courier New" pitchFamily="49" charset="0"/>
              </a:rPr>
              <a:t>StringTokenizer</a:t>
            </a:r>
            <a:r>
              <a:rPr lang="en-US" altLang="en-US" sz="2000" dirty="0">
                <a:latin typeface="Courier New" pitchFamily="49" charset="0"/>
              </a:rPr>
              <a:t>(</a:t>
            </a:r>
            <a:r>
              <a:rPr lang="en-US" altLang="en-US" sz="2000" dirty="0" err="1">
                <a:latin typeface="Courier New" pitchFamily="49" charset="0"/>
              </a:rPr>
              <a:t>inputLine</a:t>
            </a:r>
            <a:r>
              <a:rPr lang="en-US" altLang="en-US" sz="2000" dirty="0">
                <a:latin typeface="Courier New" pitchFamily="49" charset="0"/>
              </a:rPr>
              <a:t>, " \n.,");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//the second argument is a string of the 4 delimiters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while(</a:t>
            </a:r>
            <a:r>
              <a:rPr lang="en-US" altLang="en-US" sz="2000" dirty="0" err="1">
                <a:latin typeface="Courier New" pitchFamily="49" charset="0"/>
              </a:rPr>
              <a:t>wordFinder.hasMoreTokens</a:t>
            </a:r>
            <a:r>
              <a:rPr lang="en-US" altLang="en-US" sz="2000" dirty="0">
                <a:latin typeface="Courier New" pitchFamily="49" charset="0"/>
              </a:rPr>
              <a:t>())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{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   </a:t>
            </a:r>
            <a:r>
              <a:rPr lang="en-US" altLang="en-US" sz="2000" dirty="0" err="1">
                <a:latin typeface="Courier New" pitchFamily="49" charset="0"/>
              </a:rPr>
              <a:t>System.out.println</a:t>
            </a:r>
            <a:r>
              <a:rPr lang="en-US" altLang="en-US" sz="2000" dirty="0">
                <a:latin typeface="Courier New" pitchFamily="49" charset="0"/>
              </a:rPr>
              <a:t>(</a:t>
            </a:r>
            <a:r>
              <a:rPr lang="en-US" altLang="en-US" sz="2000" dirty="0" err="1">
                <a:latin typeface="Courier New" pitchFamily="49" charset="0"/>
              </a:rPr>
              <a:t>wordFinder.nextToken</a:t>
            </a:r>
            <a:r>
              <a:rPr lang="en-US" altLang="en-US" sz="2000" dirty="0">
                <a:latin typeface="Courier New" pitchFamily="49" charset="0"/>
              </a:rPr>
              <a:t>());</a:t>
            </a:r>
          </a:p>
          <a:p>
            <a:pPr>
              <a:spcAft>
                <a:spcPct val="10000"/>
              </a:spcAft>
              <a:buClr>
                <a:schemeClr val="tx1"/>
              </a:buClr>
              <a:buSzPct val="100000"/>
            </a:pPr>
            <a:r>
              <a:rPr lang="en-US" altLang="en-US" sz="2000" dirty="0">
                <a:latin typeface="Courier New" pitchFamily="49" charset="0"/>
              </a:rPr>
              <a:t>}</a:t>
            </a:r>
          </a:p>
        </p:txBody>
      </p:sp>
      <p:sp>
        <p:nvSpPr>
          <p:cNvPr id="350213" name="Text Box 5"/>
          <p:cNvSpPr txBox="1">
            <a:spLocks noChangeArrowheads="1"/>
          </p:cNvSpPr>
          <p:nvPr/>
        </p:nvSpPr>
        <p:spPr bwMode="auto">
          <a:xfrm>
            <a:off x="6477000" y="4876800"/>
            <a:ext cx="2286000" cy="1323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10000"/>
              </a:spcAft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2000">
                <a:latin typeface="Courier New" pitchFamily="49" charset="0"/>
              </a:rPr>
              <a:t>Question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2b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or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!tooBee</a:t>
            </a:r>
            <a:endParaRPr lang="en-US" altLang="en-US" sz="2000">
              <a:latin typeface="Arial" charset="0"/>
            </a:endParaRPr>
          </a:p>
        </p:txBody>
      </p:sp>
      <p:sp>
        <p:nvSpPr>
          <p:cNvPr id="350214" name="AutoShape 6"/>
          <p:cNvSpPr>
            <a:spLocks noChangeArrowheads="1"/>
          </p:cNvSpPr>
          <p:nvPr/>
        </p:nvSpPr>
        <p:spPr bwMode="auto">
          <a:xfrm>
            <a:off x="685800" y="5334000"/>
            <a:ext cx="5257800" cy="762000"/>
          </a:xfrm>
          <a:prstGeom prst="wedgeRectCallout">
            <a:avLst>
              <a:gd name="adj1" fmla="val 60417"/>
              <a:gd name="adj2" fmla="val -4604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Aft>
                <a:spcPct val="10000"/>
              </a:spcAft>
              <a:buClr>
                <a:schemeClr val="tx1"/>
              </a:buClr>
              <a:buSzPct val="75000"/>
              <a:buFont typeface="Monotype Sorts" charset="2"/>
              <a:buNone/>
            </a:pPr>
            <a:r>
              <a:rPr lang="en-US" altLang="en-US" sz="2000">
                <a:latin typeface="Arial" charset="0"/>
              </a:rPr>
              <a:t>Entering "</a:t>
            </a:r>
            <a:r>
              <a:rPr lang="en-US" altLang="en-US" sz="2000">
                <a:latin typeface="Courier New" pitchFamily="49" charset="0"/>
              </a:rPr>
              <a:t>Question,2b.or !tooBee.</a:t>
            </a:r>
            <a:r>
              <a:rPr lang="en-US" altLang="en-US" sz="2000">
                <a:latin typeface="Arial" charset="0"/>
              </a:rPr>
              <a:t>" gives this output:</a:t>
            </a:r>
          </a:p>
        </p:txBody>
      </p:sp>
    </p:spTree>
    <p:extLst>
      <p:ext uri="{BB962C8B-B14F-4D97-AF65-F5344CB8AC3E}">
        <p14:creationId xmlns:p14="http://schemas.microsoft.com/office/powerpoint/2010/main" val="124282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Testing for End of File in a Text File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648200"/>
          </a:xfrm>
        </p:spPr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r>
              <a:rPr lang="en-US" altLang="en-US" sz="2000"/>
              <a:t>When </a:t>
            </a:r>
            <a:r>
              <a:rPr lang="en-US" altLang="en-US" sz="2000">
                <a:latin typeface="Courier New" pitchFamily="49" charset="0"/>
              </a:rPr>
              <a:t>readLine</a:t>
            </a:r>
            <a:r>
              <a:rPr lang="en-US" altLang="en-US" sz="2000"/>
              <a:t> tries to read beyond the end of a text file it returns the special value </a:t>
            </a:r>
            <a:r>
              <a:rPr lang="en-US" altLang="en-US" sz="2000" i="1">
                <a:latin typeface="Courier New" pitchFamily="49" charset="0"/>
              </a:rPr>
              <a:t>null</a:t>
            </a:r>
          </a:p>
          <a:p>
            <a:pPr lvl="1"/>
            <a:r>
              <a:rPr lang="en-US" altLang="en-US" sz="2000"/>
              <a:t>so you can test for </a:t>
            </a:r>
            <a:r>
              <a:rPr lang="en-US" altLang="en-US" sz="2000">
                <a:latin typeface="Courier New" pitchFamily="49" charset="0"/>
              </a:rPr>
              <a:t>null</a:t>
            </a:r>
            <a:r>
              <a:rPr lang="en-US" altLang="en-US" sz="2000"/>
              <a:t> to stop processing a text file</a:t>
            </a:r>
          </a:p>
          <a:p>
            <a:pPr lvl="1"/>
            <a:endParaRPr lang="en-US" altLang="en-US" sz="2000"/>
          </a:p>
          <a:p>
            <a:r>
              <a:rPr lang="en-US" altLang="en-US" sz="2000">
                <a:latin typeface="Courier New" pitchFamily="49" charset="0"/>
              </a:rPr>
              <a:t>read</a:t>
            </a:r>
            <a:r>
              <a:rPr lang="en-US" altLang="en-US" sz="2000"/>
              <a:t> returns -1 when it tries to read beyond the end of a text file</a:t>
            </a:r>
          </a:p>
          <a:p>
            <a:pPr lvl="1"/>
            <a:r>
              <a:rPr lang="en-US" altLang="en-US" sz="2000"/>
              <a:t>the </a:t>
            </a:r>
            <a:r>
              <a:rPr lang="en-US" altLang="en-US" sz="2000">
                <a:latin typeface="Courier New" pitchFamily="49" charset="0"/>
              </a:rPr>
              <a:t>int</a:t>
            </a:r>
            <a:r>
              <a:rPr lang="en-US" altLang="en-US" sz="2000"/>
              <a:t> value of all ordinary characters is nonnegative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Neither of these two methods (</a:t>
            </a:r>
            <a:r>
              <a:rPr lang="en-US" altLang="en-US" sz="2000">
                <a:latin typeface="Courier New" pitchFamily="49" charset="0"/>
              </a:rPr>
              <a:t>read</a:t>
            </a:r>
            <a:r>
              <a:rPr lang="en-US" altLang="en-US" sz="2000"/>
              <a:t> and </a:t>
            </a:r>
            <a:r>
              <a:rPr lang="en-US" altLang="en-US" sz="2000">
                <a:latin typeface="Courier New" pitchFamily="49" charset="0"/>
              </a:rPr>
              <a:t>readLine</a:t>
            </a:r>
            <a:r>
              <a:rPr lang="en-US" altLang="en-US" sz="2000"/>
              <a:t>) will throw an </a:t>
            </a:r>
            <a:r>
              <a:rPr lang="en-US" altLang="en-US" sz="2000">
                <a:latin typeface="Courier New" pitchFamily="49" charset="0"/>
              </a:rPr>
              <a:t>EOFException</a:t>
            </a:r>
            <a:r>
              <a:rPr lang="en-US" alt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265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6" name="Object 2"/>
          <p:cNvGraphicFramePr>
            <a:graphicFrameLocks noChangeAspect="1"/>
          </p:cNvGraphicFramePr>
          <p:nvPr/>
        </p:nvGraphicFramePr>
        <p:xfrm>
          <a:off x="3638550" y="2590800"/>
          <a:ext cx="51816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Document" r:id="rId4" imgW="5194440" imgH="2819520" progId="Word.Document.8">
                  <p:embed/>
                </p:oleObj>
              </mc:Choice>
              <mc:Fallback>
                <p:oleObj name="Document" r:id="rId4" imgW="5194440" imgH="2819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2590800"/>
                        <a:ext cx="51816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0" name="Text Box 6"/>
          <p:cNvSpPr txBox="1">
            <a:spLocks noChangeArrowheads="1"/>
          </p:cNvSpPr>
          <p:nvPr/>
        </p:nvSpPr>
        <p:spPr bwMode="auto">
          <a:xfrm>
            <a:off x="4953000" y="1890713"/>
            <a:ext cx="304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1800">
                <a:latin typeface="Arial" charset="0"/>
              </a:rPr>
              <a:t>Excerpt from </a:t>
            </a:r>
            <a:r>
              <a:rPr lang="en-US" altLang="en-US" sz="1800">
                <a:latin typeface="Courier New" pitchFamily="49" charset="0"/>
              </a:rPr>
              <a:t>TextEOFDemo</a:t>
            </a:r>
            <a:endParaRPr lang="en-US" altLang="en-US" sz="2000">
              <a:latin typeface="Arial" charset="0"/>
            </a:endParaRPr>
          </a:p>
        </p:txBody>
      </p:sp>
      <p:sp>
        <p:nvSpPr>
          <p:cNvPr id="354311" name="Rectangle 7"/>
          <p:cNvSpPr>
            <a:spLocks noChangeArrowheads="1"/>
          </p:cNvSpPr>
          <p:nvPr/>
        </p:nvSpPr>
        <p:spPr bwMode="auto">
          <a:xfrm>
            <a:off x="3328988" y="2514600"/>
            <a:ext cx="5562600" cy="297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54312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Example: Using Null to</a:t>
            </a:r>
            <a:br>
              <a:rPr lang="en-US" altLang="en-US" sz="4000"/>
            </a:br>
            <a:r>
              <a:rPr lang="en-US" altLang="en-US" sz="4000"/>
              <a:t>Test for End-of-File in a Text File</a:t>
            </a:r>
          </a:p>
        </p:txBody>
      </p:sp>
      <p:sp>
        <p:nvSpPr>
          <p:cNvPr id="354313" name="AutoShape 9"/>
          <p:cNvSpPr>
            <a:spLocks/>
          </p:cNvSpPr>
          <p:nvPr/>
        </p:nvSpPr>
        <p:spPr bwMode="auto">
          <a:xfrm>
            <a:off x="228600" y="1882775"/>
            <a:ext cx="1981200" cy="1200150"/>
          </a:xfrm>
          <a:prstGeom prst="borderCallout1">
            <a:avLst>
              <a:gd name="adj1" fmla="val 9523"/>
              <a:gd name="adj2" fmla="val 103847"/>
              <a:gd name="adj3" fmla="val 119708"/>
              <a:gd name="adj4" fmla="val 16194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US">
                <a:latin typeface="Arial" charset="0"/>
              </a:rPr>
              <a:t>When using </a:t>
            </a:r>
            <a:r>
              <a:rPr lang="en-US" altLang="en-US" b="1">
                <a:latin typeface="Courier New" pitchFamily="49" charset="0"/>
              </a:rPr>
              <a:t>readLine</a:t>
            </a:r>
            <a:endParaRPr lang="en-US" altLang="en-US" b="1">
              <a:latin typeface="Arial" charset="0"/>
            </a:endParaRPr>
          </a:p>
          <a:p>
            <a:r>
              <a:rPr lang="en-US" altLang="en-US">
                <a:latin typeface="Arial" charset="0"/>
              </a:rPr>
              <a:t>test for </a:t>
            </a:r>
            <a:r>
              <a:rPr lang="en-US" altLang="en-US">
                <a:latin typeface="Courier New" pitchFamily="49" charset="0"/>
              </a:rPr>
              <a:t>null</a:t>
            </a:r>
            <a:endParaRPr lang="en-US" altLang="en-US">
              <a:latin typeface="Arial" charset="0"/>
            </a:endParaRPr>
          </a:p>
        </p:txBody>
      </p:sp>
      <p:sp>
        <p:nvSpPr>
          <p:cNvPr id="354314" name="AutoShape 10"/>
          <p:cNvSpPr>
            <a:spLocks/>
          </p:cNvSpPr>
          <p:nvPr/>
        </p:nvSpPr>
        <p:spPr bwMode="auto">
          <a:xfrm>
            <a:off x="3429000" y="2971800"/>
            <a:ext cx="152400" cy="685800"/>
          </a:xfrm>
          <a:prstGeom prst="leftBracket">
            <a:avLst>
              <a:gd name="adj" fmla="val 375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54315" name="Line 11"/>
          <p:cNvSpPr>
            <a:spLocks noChangeShapeType="1"/>
          </p:cNvSpPr>
          <p:nvPr/>
        </p:nvSpPr>
        <p:spPr bwMode="auto">
          <a:xfrm>
            <a:off x="2286000" y="2057400"/>
            <a:ext cx="15240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354316" name="Text Box 12"/>
          <p:cNvSpPr txBox="1">
            <a:spLocks noChangeArrowheads="1"/>
          </p:cNvSpPr>
          <p:nvPr/>
        </p:nvSpPr>
        <p:spPr bwMode="auto">
          <a:xfrm>
            <a:off x="228600" y="5837238"/>
            <a:ext cx="3992563" cy="4699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>
                <a:latin typeface="Arial" charset="0"/>
              </a:rPr>
              <a:t>When using </a:t>
            </a:r>
            <a:r>
              <a:rPr lang="en-US" altLang="en-US" b="1">
                <a:latin typeface="Courier New" pitchFamily="49" charset="0"/>
              </a:rPr>
              <a:t>read</a:t>
            </a:r>
            <a:r>
              <a:rPr lang="en-US" altLang="en-US">
                <a:latin typeface="Arial" charset="0"/>
              </a:rPr>
              <a:t> test for -1</a:t>
            </a:r>
          </a:p>
        </p:txBody>
      </p:sp>
    </p:spTree>
    <p:extLst>
      <p:ext uri="{BB962C8B-B14F-4D97-AF65-F5344CB8AC3E}">
        <p14:creationId xmlns:p14="http://schemas.microsoft.com/office/powerpoint/2010/main" val="334593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Path Names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r>
              <a:rPr lang="en-US" altLang="en-US" sz="2000" b="1" i="1"/>
              <a:t>Path name</a:t>
            </a:r>
            <a:r>
              <a:rPr lang="en-US" altLang="en-US" sz="2000"/>
              <a:t>—gives name of file and tells which directory the file is in</a:t>
            </a:r>
          </a:p>
          <a:p>
            <a:r>
              <a:rPr lang="en-US" altLang="en-US" sz="2000" b="1" i="1"/>
              <a:t>Relative path name</a:t>
            </a:r>
            <a:r>
              <a:rPr lang="en-US" altLang="en-US" sz="2000"/>
              <a:t>—gives the path starting with the directory that the program is in</a:t>
            </a:r>
          </a:p>
          <a:p>
            <a:r>
              <a:rPr lang="en-US" altLang="en-US" sz="2000"/>
              <a:t>Typical UNIX path name: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itchFamily="49" charset="0"/>
              </a:rPr>
              <a:t>/user/smith/home.work/java/FileClassDemo.java</a:t>
            </a:r>
          </a:p>
          <a:p>
            <a:r>
              <a:rPr lang="en-US" altLang="en-US" sz="2000"/>
              <a:t>Typical Windows path name: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itchFamily="49" charset="0"/>
              </a:rPr>
              <a:t>D:\Work\Java\Programs\FileClassDemo.java</a:t>
            </a:r>
          </a:p>
          <a:p>
            <a:r>
              <a:rPr lang="en-US" altLang="en-US" sz="2000"/>
              <a:t>When a backslash is used in a quoted string it must be written as two backslashes since backslash is the escape character: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itchFamily="49" charset="0"/>
              </a:rPr>
              <a:t>"D:\\Work\\Java\\Programs\\FileClassDemo.java"</a:t>
            </a:r>
          </a:p>
          <a:p>
            <a:r>
              <a:rPr lang="en-US" altLang="en-US" sz="2000"/>
              <a:t>Java will accept path names in UNIX or Windows format, regardless of which operating system it is actually running on.</a:t>
            </a:r>
          </a:p>
        </p:txBody>
      </p:sp>
    </p:spTree>
    <p:extLst>
      <p:ext uri="{BB962C8B-B14F-4D97-AF65-F5344CB8AC3E}">
        <p14:creationId xmlns:p14="http://schemas.microsoft.com/office/powerpoint/2010/main" val="34375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Alternative with Scanner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9248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Instead of </a:t>
            </a:r>
            <a:r>
              <a:rPr lang="en-US" altLang="en-US">
                <a:latin typeface="Courier New" pitchFamily="49" charset="0"/>
              </a:rPr>
              <a:t>BufferedReader</a:t>
            </a:r>
            <a:r>
              <a:rPr lang="en-US" altLang="en-US">
                <a:latin typeface="Arial" charset="0"/>
              </a:rPr>
              <a:t> with </a:t>
            </a:r>
            <a:r>
              <a:rPr lang="en-US" altLang="en-US">
                <a:latin typeface="Courier New" pitchFamily="49" charset="0"/>
              </a:rPr>
              <a:t>FileReader, </a:t>
            </a:r>
            <a:r>
              <a:rPr lang="en-US" altLang="en-US">
                <a:latin typeface="Arial" charset="0"/>
              </a:rPr>
              <a:t>then</a:t>
            </a:r>
            <a:r>
              <a:rPr lang="en-US" altLang="en-US">
                <a:latin typeface="Courier New" pitchFamily="49" charset="0"/>
              </a:rPr>
              <a:t> StringTokenizer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Use </a:t>
            </a:r>
            <a:r>
              <a:rPr lang="en-US" altLang="en-US">
                <a:latin typeface="Courier New" pitchFamily="49" charset="0"/>
              </a:rPr>
              <a:t>Scanner</a:t>
            </a:r>
            <a:r>
              <a:rPr lang="en-US" altLang="en-US">
                <a:latin typeface="Arial" charset="0"/>
              </a:rPr>
              <a:t> with </a:t>
            </a:r>
            <a:r>
              <a:rPr lang="en-US" altLang="en-US">
                <a:latin typeface="Courier New" pitchFamily="49" charset="0"/>
              </a:rPr>
              <a:t>File</a:t>
            </a:r>
            <a:r>
              <a:rPr lang="en-US" altLang="en-US">
                <a:latin typeface="Arial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Courier New" pitchFamily="49" charset="0"/>
              </a:rPr>
              <a:t>Scanner inFile =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Courier New" pitchFamily="49" charset="0"/>
              </a:rPr>
              <a:t>   new Scanner(new File(“in.txt”));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Similar to </a:t>
            </a:r>
            <a:r>
              <a:rPr lang="en-US" altLang="en-US">
                <a:latin typeface="Courier New" pitchFamily="49" charset="0"/>
              </a:rPr>
              <a:t>Scanner</a:t>
            </a:r>
            <a:r>
              <a:rPr lang="en-US" altLang="en-US">
                <a:latin typeface="Arial" charset="0"/>
              </a:rPr>
              <a:t> with </a:t>
            </a:r>
            <a:r>
              <a:rPr lang="en-US" altLang="en-US">
                <a:latin typeface="Courier New" pitchFamily="49" charset="0"/>
              </a:rPr>
              <a:t>System.in</a:t>
            </a:r>
            <a:r>
              <a:rPr lang="en-US" altLang="en-US">
                <a:latin typeface="Arial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Courier New" pitchFamily="49" charset="0"/>
              </a:rPr>
              <a:t>Scanner keyboard =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Courier New" pitchFamily="49" charset="0"/>
              </a:rPr>
              <a:t>   new Scanner(System.in);</a:t>
            </a:r>
            <a:endParaRPr lang="en-US" altLang="en-US" sz="280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2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in </a:t>
            </a:r>
            <a:r>
              <a:rPr lang="en-US" altLang="en-US">
                <a:latin typeface="Courier New" pitchFamily="49" charset="0"/>
              </a:rPr>
              <a:t>int</a:t>
            </a:r>
            <a:r>
              <a:rPr lang="en-US" altLang="en-US"/>
              <a:t>’s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Scanner </a:t>
            </a:r>
            <a:r>
              <a:rPr lang="en-US" altLang="en-US" sz="1800" dirty="0" err="1">
                <a:latin typeface="Courier New" pitchFamily="49" charset="0"/>
              </a:rPr>
              <a:t>inFile</a:t>
            </a:r>
            <a:r>
              <a:rPr lang="en-US" altLang="en-US" sz="1800" dirty="0">
                <a:latin typeface="Courier New" pitchFamily="49" charset="0"/>
              </a:rPr>
              <a:t> = new Scanner(new File(“in.txt"));</a:t>
            </a:r>
          </a:p>
          <a:p>
            <a:pPr>
              <a:buFontTx/>
              <a:buNone/>
            </a:pPr>
            <a:r>
              <a:rPr lang="en-US" altLang="en-US" sz="1800" dirty="0" err="1">
                <a:latin typeface="Courier New" pitchFamily="49" charset="0"/>
              </a:rPr>
              <a:t>int</a:t>
            </a:r>
            <a:r>
              <a:rPr lang="en-US" altLang="en-US" sz="1800" dirty="0">
                <a:latin typeface="Courier New" pitchFamily="49" charset="0"/>
              </a:rPr>
              <a:t> number;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while (</a:t>
            </a:r>
            <a:r>
              <a:rPr lang="en-US" altLang="en-US" sz="1800" dirty="0" err="1" smtClean="0">
                <a:latin typeface="Courier New" pitchFamily="49" charset="0"/>
              </a:rPr>
              <a:t>inFile.hasNextInt</a:t>
            </a:r>
            <a:r>
              <a:rPr lang="en-US" altLang="en-US" sz="1800" dirty="0">
                <a:latin typeface="Courier New" pitchFamily="49" charset="0"/>
              </a:rPr>
              <a:t>())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{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	  number = </a:t>
            </a:r>
            <a:r>
              <a:rPr lang="en-US" altLang="en-US" sz="1800" dirty="0" err="1">
                <a:latin typeface="Courier New" pitchFamily="49" charset="0"/>
              </a:rPr>
              <a:t>inFile.nextInt</a:t>
            </a:r>
            <a:r>
              <a:rPr lang="en-US" altLang="en-US" sz="1800" dirty="0">
                <a:latin typeface="Courier New" pitchFamily="49" charset="0"/>
              </a:rPr>
              <a:t>();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	  // …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</a:rPr>
              <a:t>  }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36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 in lines of characters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Scanner inFile = new Scanner(new File(“in.txt"));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String line;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while (inFile.hasNextLine())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  {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	  line = inFile.nextLine();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	  // …</a:t>
            </a:r>
          </a:p>
          <a:p>
            <a:pPr>
              <a:buFontTx/>
              <a:buNone/>
            </a:pPr>
            <a:r>
              <a:rPr lang="en-US" altLang="en-US" sz="1800">
                <a:latin typeface="Courier New" pitchFamily="49" charset="0"/>
              </a:rPr>
              <a:t>  }</a:t>
            </a:r>
            <a:endParaRPr lang="en-US" altLang="en-US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18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types on one line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648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// Name, id, balance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Scanner </a:t>
            </a:r>
            <a:r>
              <a:rPr lang="en-US" altLang="en-US" sz="1400" dirty="0" err="1">
                <a:latin typeface="Courier New" pitchFamily="49" charset="0"/>
              </a:rPr>
              <a:t>inFile</a:t>
            </a:r>
            <a:r>
              <a:rPr lang="en-US" altLang="en-US" sz="1400" dirty="0">
                <a:latin typeface="Courier New" pitchFamily="49" charset="0"/>
              </a:rPr>
              <a:t> = new Scanner(new File(“in.txt"));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while (</a:t>
            </a:r>
            <a:r>
              <a:rPr lang="en-US" altLang="en-US" sz="1400" dirty="0" err="1">
                <a:latin typeface="Courier New" pitchFamily="49" charset="0"/>
              </a:rPr>
              <a:t>inFile.hasNext</a:t>
            </a:r>
            <a:r>
              <a:rPr lang="en-US" altLang="en-US" sz="1400" dirty="0">
                <a:latin typeface="Courier New" pitchFamily="49" charset="0"/>
              </a:rPr>
              <a:t>())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name = </a:t>
            </a:r>
            <a:r>
              <a:rPr lang="en-US" altLang="en-US" sz="1400" dirty="0" err="1">
                <a:latin typeface="Courier New" pitchFamily="49" charset="0"/>
              </a:rPr>
              <a:t>inFile.next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id = </a:t>
            </a:r>
            <a:r>
              <a:rPr lang="en-US" altLang="en-US" sz="1400" dirty="0" err="1">
                <a:latin typeface="Courier New" pitchFamily="49" charset="0"/>
              </a:rPr>
              <a:t>inFile.nextInt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balance = </a:t>
            </a:r>
            <a:r>
              <a:rPr lang="en-US" altLang="en-US" sz="1400" dirty="0" err="1">
                <a:latin typeface="Courier New" pitchFamily="49" charset="0"/>
              </a:rPr>
              <a:t>inFile.nextFloat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// …  new Account(name, id, balance);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String line;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while (</a:t>
            </a:r>
            <a:r>
              <a:rPr lang="en-US" altLang="en-US" sz="1400" dirty="0" err="1">
                <a:latin typeface="Courier New" pitchFamily="49" charset="0"/>
              </a:rPr>
              <a:t>inFile.hasNextLine</a:t>
            </a:r>
            <a:r>
              <a:rPr lang="en-US" altLang="en-US" sz="1400" dirty="0">
                <a:latin typeface="Courier New" pitchFamily="49" charset="0"/>
              </a:rPr>
              <a:t>())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	 line = </a:t>
            </a:r>
            <a:r>
              <a:rPr lang="en-US" altLang="en-US" sz="1400" dirty="0" err="1">
                <a:latin typeface="Courier New" pitchFamily="49" charset="0"/>
              </a:rPr>
              <a:t>inFile.nextLine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	 Scanner </a:t>
            </a:r>
            <a:r>
              <a:rPr lang="en-US" altLang="en-US" sz="1400" dirty="0" err="1">
                <a:latin typeface="Courier New" pitchFamily="49" charset="0"/>
              </a:rPr>
              <a:t>parseLine</a:t>
            </a:r>
            <a:r>
              <a:rPr lang="en-US" altLang="en-US" sz="1400" dirty="0">
                <a:latin typeface="Courier New" pitchFamily="49" charset="0"/>
              </a:rPr>
              <a:t> = new Scanner(line) // Scanner again!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name = </a:t>
            </a:r>
            <a:r>
              <a:rPr lang="en-US" altLang="en-US" sz="1400" dirty="0" err="1">
                <a:latin typeface="Courier New" pitchFamily="49" charset="0"/>
              </a:rPr>
              <a:t>parseLine.next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id = </a:t>
            </a:r>
            <a:r>
              <a:rPr lang="en-US" altLang="en-US" sz="1400" dirty="0" err="1">
                <a:latin typeface="Courier New" pitchFamily="49" charset="0"/>
              </a:rPr>
              <a:t>parseLine.nextInt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balance = </a:t>
            </a:r>
            <a:r>
              <a:rPr lang="en-US" altLang="en-US" sz="1400" dirty="0" err="1">
                <a:latin typeface="Courier New" pitchFamily="49" charset="0"/>
              </a:rPr>
              <a:t>parseLine.nextFloat</a:t>
            </a:r>
            <a:r>
              <a:rPr lang="en-US" altLang="en-US" sz="1400" dirty="0"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  // …  new Account(name, id, balance);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dirty="0">
                <a:latin typeface="Courier New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99045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types on one line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// Name, id, balance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Scanner inFile = new Scanner(new File(“in.txt"));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String line;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while (inFile.hasNextLine())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	 line = inFile.nextLine();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	 Account account = new Account(line);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public Account(String line) // constructor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Scanner accountLine = new Scanner(line);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_name = accountLine.next();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_id = accountLine.nextInt();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  _balance = accountLine.nextFloat();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179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>
                <a:latin typeface="Courier New" pitchFamily="49" charset="0"/>
              </a:rPr>
              <a:t>BufferedReader</a:t>
            </a:r>
            <a:r>
              <a:rPr lang="en-US" altLang="en-US" sz="4000"/>
              <a:t> vs </a:t>
            </a:r>
            <a:r>
              <a:rPr lang="en-US" altLang="en-US" sz="4000">
                <a:latin typeface="Courier New" pitchFamily="49" charset="0"/>
              </a:rPr>
              <a:t>Scanner</a:t>
            </a:r>
            <a:br>
              <a:rPr lang="en-US" altLang="en-US" sz="4000">
                <a:latin typeface="Courier New" pitchFamily="49" charset="0"/>
              </a:rPr>
            </a:br>
            <a:r>
              <a:rPr lang="en-US" altLang="en-US" sz="4000">
                <a:latin typeface="Arial" charset="0"/>
              </a:rPr>
              <a:t>(parsing primitive types)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Scanner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nextInt(), nextFloat(),</a:t>
            </a:r>
            <a:r>
              <a:rPr lang="en-US" altLang="en-US"/>
              <a:t> </a:t>
            </a:r>
            <a:r>
              <a:rPr lang="en-US" altLang="en-US">
                <a:latin typeface="Arial" charset="0"/>
              </a:rPr>
              <a:t>… for parsing types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BufferedReader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read(), readLine(), … </a:t>
            </a:r>
            <a:r>
              <a:rPr lang="en-US" altLang="en-US">
                <a:latin typeface="Arial" charset="0"/>
              </a:rPr>
              <a:t>none for parsing types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Arial" charset="0"/>
              </a:rPr>
              <a:t>needs </a:t>
            </a:r>
            <a:r>
              <a:rPr lang="en-US" altLang="en-US">
                <a:latin typeface="Courier New" pitchFamily="49" charset="0"/>
              </a:rPr>
              <a:t>StringTokenizer</a:t>
            </a:r>
            <a:r>
              <a:rPr lang="en-US" altLang="en-US">
                <a:latin typeface="Arial" charset="0"/>
              </a:rPr>
              <a:t> then wrapper class methods like </a:t>
            </a:r>
            <a:r>
              <a:rPr lang="en-US" altLang="en-US">
                <a:latin typeface="Courier New" pitchFamily="49" charset="0"/>
              </a:rPr>
              <a:t>Integer.parseInt(token</a:t>
            </a:r>
            <a:r>
              <a:rPr lang="en-US" altLang="en-US">
                <a:latin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095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latin typeface="Courier New" pitchFamily="49" charset="0"/>
              </a:rPr>
              <a:t>BufferedReader</a:t>
            </a:r>
            <a:r>
              <a:rPr lang="en-US" altLang="en-US" sz="3200"/>
              <a:t> vs </a:t>
            </a:r>
            <a:r>
              <a:rPr lang="en-US" altLang="en-US" sz="3200">
                <a:latin typeface="Courier New" pitchFamily="49" charset="0"/>
              </a:rPr>
              <a:t>Scanner</a:t>
            </a:r>
            <a:br>
              <a:rPr lang="en-US" altLang="en-US" sz="3200">
                <a:latin typeface="Courier New" pitchFamily="49" charset="0"/>
              </a:rPr>
            </a:br>
            <a:r>
              <a:rPr lang="en-US" altLang="en-US" sz="3200">
                <a:latin typeface="Arial" charset="0"/>
              </a:rPr>
              <a:t>(Checking End of File/Stream (EOF))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Courier New" pitchFamily="49" charset="0"/>
              </a:rPr>
              <a:t>BufferedReader</a:t>
            </a:r>
          </a:p>
          <a:p>
            <a:pPr lvl="1"/>
            <a:r>
              <a:rPr lang="en-US" altLang="en-US">
                <a:latin typeface="Courier New" pitchFamily="49" charset="0"/>
              </a:rPr>
              <a:t>readLine()</a:t>
            </a:r>
            <a:r>
              <a:rPr lang="en-US" altLang="en-US"/>
              <a:t> </a:t>
            </a:r>
            <a:r>
              <a:rPr lang="en-US" altLang="en-US">
                <a:latin typeface="Arial" charset="0"/>
              </a:rPr>
              <a:t>returns</a:t>
            </a:r>
            <a:r>
              <a:rPr lang="en-US" altLang="en-US"/>
              <a:t> </a:t>
            </a:r>
            <a:r>
              <a:rPr lang="en-US" altLang="en-US">
                <a:latin typeface="Courier New" pitchFamily="49" charset="0"/>
              </a:rPr>
              <a:t>null</a:t>
            </a:r>
          </a:p>
          <a:p>
            <a:pPr lvl="1"/>
            <a:r>
              <a:rPr lang="en-US" altLang="en-US">
                <a:latin typeface="Courier New" pitchFamily="49" charset="0"/>
              </a:rPr>
              <a:t>read()</a:t>
            </a:r>
            <a:r>
              <a:rPr lang="en-US" altLang="en-US"/>
              <a:t> </a:t>
            </a:r>
            <a:r>
              <a:rPr lang="en-US" altLang="en-US">
                <a:latin typeface="Arial" charset="0"/>
              </a:rPr>
              <a:t>returns</a:t>
            </a:r>
            <a:r>
              <a:rPr lang="en-US" altLang="en-US"/>
              <a:t> -1 </a:t>
            </a:r>
          </a:p>
          <a:p>
            <a:r>
              <a:rPr lang="en-US" altLang="en-US">
                <a:latin typeface="Courier New" pitchFamily="49" charset="0"/>
              </a:rPr>
              <a:t>Scanner</a:t>
            </a:r>
          </a:p>
          <a:p>
            <a:pPr lvl="1"/>
            <a:r>
              <a:rPr lang="en-US" altLang="en-US">
                <a:latin typeface="Courier New" pitchFamily="49" charset="0"/>
              </a:rPr>
              <a:t>nextLine() </a:t>
            </a:r>
            <a:r>
              <a:rPr lang="en-US" altLang="en-US">
                <a:latin typeface="Arial" charset="0"/>
              </a:rPr>
              <a:t>throws exception</a:t>
            </a:r>
          </a:p>
          <a:p>
            <a:pPr lvl="1"/>
            <a:r>
              <a:rPr lang="en-US" altLang="en-US">
                <a:latin typeface="Arial" charset="0"/>
              </a:rPr>
              <a:t>needs</a:t>
            </a:r>
            <a:r>
              <a:rPr lang="en-US" altLang="en-US">
                <a:latin typeface="Courier New" pitchFamily="49" charset="0"/>
              </a:rPr>
              <a:t> hasNextLine() </a:t>
            </a:r>
            <a:r>
              <a:rPr lang="en-US" altLang="en-US">
                <a:latin typeface="Arial" charset="0"/>
              </a:rPr>
              <a:t>to check first</a:t>
            </a:r>
          </a:p>
          <a:p>
            <a:pPr lvl="1"/>
            <a:r>
              <a:rPr lang="en-US" altLang="en-US">
                <a:latin typeface="Courier New" pitchFamily="49" charset="0"/>
              </a:rPr>
              <a:t>nextInt(), hasNextInt(),</a:t>
            </a:r>
            <a:r>
              <a:rPr lang="en-US" altLang="en-US">
                <a:latin typeface="Arial" charset="0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65621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01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BufferedReader inFile =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line = inFile.readline();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while (line != null)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//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line = inFile.readline();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-------------------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Scanner inFile =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while (inFile.hasNextLine())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line = infile.nextLine();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//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655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01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BufferedReader inFile =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line = inFile.readline();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while (line != null)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//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line = inFile.readline();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-------------------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BufferedReader inFile =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while ((line = inFile.readline()) != null)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  // 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My suggestion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Use</a:t>
            </a:r>
            <a:r>
              <a:rPr lang="en-US" altLang="en-US"/>
              <a:t> </a:t>
            </a:r>
            <a:r>
              <a:rPr lang="en-US" altLang="en-US">
                <a:latin typeface="Courier New" pitchFamily="49" charset="0"/>
              </a:rPr>
              <a:t>Scanner</a:t>
            </a:r>
            <a:r>
              <a:rPr lang="en-US" altLang="en-US"/>
              <a:t> </a:t>
            </a:r>
            <a:r>
              <a:rPr lang="en-US" altLang="en-US">
                <a:latin typeface="Arial" charset="0"/>
              </a:rPr>
              <a:t>with</a:t>
            </a:r>
            <a:r>
              <a:rPr lang="en-US" altLang="en-US"/>
              <a:t> </a:t>
            </a:r>
            <a:r>
              <a:rPr lang="en-US" altLang="en-US">
                <a:latin typeface="Courier New" pitchFamily="49" charset="0"/>
              </a:rPr>
              <a:t>File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new Scanner(new File(“in.txt”))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Use</a:t>
            </a:r>
            <a:r>
              <a:rPr lang="en-US" altLang="en-US">
                <a:latin typeface="Courier New" pitchFamily="49" charset="0"/>
              </a:rPr>
              <a:t> hasNext…() </a:t>
            </a:r>
            <a:r>
              <a:rPr lang="en-US" altLang="en-US">
                <a:latin typeface="Arial" charset="0"/>
              </a:rPr>
              <a:t>to check for EOF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while (inFile.hasNext…())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Use </a:t>
            </a:r>
            <a:r>
              <a:rPr lang="en-US" altLang="en-US">
                <a:latin typeface="Courier New" pitchFamily="49" charset="0"/>
              </a:rPr>
              <a:t>next…()</a:t>
            </a:r>
            <a:r>
              <a:rPr lang="en-US" altLang="en-US">
                <a:latin typeface="Arial" charset="0"/>
              </a:rPr>
              <a:t> to read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Courier New" pitchFamily="49" charset="0"/>
              </a:rPr>
              <a:t>inFile.next…()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charset="0"/>
              </a:rPr>
              <a:t>Simpler and you are familiar with methods for</a:t>
            </a:r>
            <a:r>
              <a:rPr lang="en-US" altLang="en-US">
                <a:latin typeface="Courier New" pitchFamily="49" charset="0"/>
              </a:rPr>
              <a:t> Scanner</a:t>
            </a:r>
          </a:p>
        </p:txBody>
      </p:sp>
    </p:spTree>
    <p:extLst>
      <p:ext uri="{BB962C8B-B14F-4D97-AF65-F5344CB8AC3E}">
        <p14:creationId xmlns:p14="http://schemas.microsoft.com/office/powerpoint/2010/main" val="265035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My suggestion cont…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72000"/>
          </a:xfrm>
        </p:spPr>
        <p:txBody>
          <a:bodyPr/>
          <a:lstStyle/>
          <a:p>
            <a:r>
              <a:rPr lang="en-US" altLang="en-US" dirty="0"/>
              <a:t>File input</a:t>
            </a:r>
          </a:p>
          <a:p>
            <a:pPr lvl="1"/>
            <a:r>
              <a:rPr lang="en-US" altLang="en-US" sz="2400" dirty="0">
                <a:latin typeface="Courier New" pitchFamily="49" charset="0"/>
              </a:rPr>
              <a:t>Scanner </a:t>
            </a:r>
            <a:r>
              <a:rPr lang="en-US" altLang="en-US" sz="2400" dirty="0" err="1">
                <a:latin typeface="Courier New" pitchFamily="49" charset="0"/>
              </a:rPr>
              <a:t>inFile</a:t>
            </a:r>
            <a:r>
              <a:rPr lang="en-US" altLang="en-US" sz="2400" dirty="0">
                <a:latin typeface="Courier New" pitchFamily="49" charset="0"/>
              </a:rPr>
              <a:t> = 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   new Scanner(new File(“in.txt”));</a:t>
            </a:r>
          </a:p>
          <a:p>
            <a:r>
              <a:rPr lang="en-US" altLang="en-US" dirty="0"/>
              <a:t>File output</a:t>
            </a:r>
          </a:p>
          <a:p>
            <a:pPr lvl="1"/>
            <a:r>
              <a:rPr lang="en-US" altLang="en-US" sz="2400" dirty="0" err="1">
                <a:latin typeface="Courier New" pitchFamily="49" charset="0"/>
              </a:rPr>
              <a:t>PrintWriter</a:t>
            </a:r>
            <a:r>
              <a:rPr lang="en-US" altLang="en-US" sz="2400" dirty="0">
                <a:latin typeface="Courier New" pitchFamily="49" charset="0"/>
              </a:rPr>
              <a:t> </a:t>
            </a:r>
            <a:r>
              <a:rPr lang="en-US" altLang="en-US" sz="2400" dirty="0" err="1">
                <a:latin typeface="Courier New" pitchFamily="49" charset="0"/>
              </a:rPr>
              <a:t>outFile</a:t>
            </a:r>
            <a:r>
              <a:rPr lang="en-US" altLang="en-US" sz="2400" dirty="0">
                <a:latin typeface="Courier New" pitchFamily="49" charset="0"/>
              </a:rPr>
              <a:t> = 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   new </a:t>
            </a:r>
            <a:r>
              <a:rPr lang="en-US" altLang="en-US" sz="2400" dirty="0" err="1">
                <a:latin typeface="Courier New" pitchFamily="49" charset="0"/>
              </a:rPr>
              <a:t>PrintWriter</a:t>
            </a:r>
            <a:r>
              <a:rPr lang="en-US" altLang="en-US" sz="2400" dirty="0">
                <a:latin typeface="Courier New" pitchFamily="49" charset="0"/>
              </a:rPr>
              <a:t>(new File(“out.txt”));</a:t>
            </a:r>
          </a:p>
          <a:p>
            <a:pPr lvl="1"/>
            <a:r>
              <a:rPr lang="en-US" altLang="en-US" dirty="0" err="1">
                <a:latin typeface="Courier New" pitchFamily="49" charset="0"/>
              </a:rPr>
              <a:t>outFile.print</a:t>
            </a:r>
            <a:r>
              <a:rPr lang="en-US" altLang="en-US" dirty="0">
                <a:latin typeface="Courier New" pitchFamily="49" charset="0"/>
              </a:rPr>
              <a:t>(), </a:t>
            </a:r>
            <a:r>
              <a:rPr lang="en-US" altLang="en-US" dirty="0" err="1">
                <a:latin typeface="Courier New" pitchFamily="49" charset="0"/>
              </a:rPr>
              <a:t>println</a:t>
            </a:r>
            <a:r>
              <a:rPr lang="en-US" altLang="en-US" dirty="0">
                <a:latin typeface="Courier New" pitchFamily="49" charset="0"/>
              </a:rPr>
              <a:t>(), format(), flush(), close(), </a:t>
            </a:r>
            <a:r>
              <a:rPr lang="en-US" altLang="en-US" dirty="0" smtClean="0">
                <a:latin typeface="Courier New" pitchFamily="49" charset="0"/>
              </a:rPr>
              <a:t>…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4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Writing a Character to a File:</a:t>
            </a:r>
            <a:br>
              <a:rPr lang="en-US" altLang="en-US"/>
            </a:br>
            <a:r>
              <a:rPr lang="en-US" altLang="en-US"/>
              <a:t>an Unexpected Little Complexity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r>
              <a:rPr lang="en-US" altLang="en-US" sz="2000"/>
              <a:t>The method </a:t>
            </a:r>
            <a:r>
              <a:rPr lang="en-US" altLang="en-US" sz="2000">
                <a:latin typeface="Courier New" pitchFamily="49" charset="0"/>
              </a:rPr>
              <a:t>writeChar</a:t>
            </a:r>
            <a:r>
              <a:rPr lang="en-US" altLang="en-US" sz="2000"/>
              <a:t> has an annoying property:</a:t>
            </a:r>
          </a:p>
          <a:p>
            <a:pPr lvl="1"/>
            <a:r>
              <a:rPr lang="en-US" altLang="en-US" sz="2000"/>
              <a:t>it takes an </a:t>
            </a:r>
            <a:r>
              <a:rPr lang="en-US" altLang="en-US" sz="2000">
                <a:latin typeface="Courier New" pitchFamily="49" charset="0"/>
              </a:rPr>
              <a:t>int</a:t>
            </a:r>
            <a:r>
              <a:rPr lang="en-US" altLang="en-US" sz="2000"/>
              <a:t>, not a </a:t>
            </a:r>
            <a:r>
              <a:rPr lang="en-US" altLang="en-US" sz="2000">
                <a:latin typeface="Courier New" pitchFamily="49" charset="0"/>
              </a:rPr>
              <a:t>char</a:t>
            </a:r>
            <a:r>
              <a:rPr lang="en-US" altLang="en-US" sz="2000"/>
              <a:t>, argument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But it is easy to fix:</a:t>
            </a:r>
          </a:p>
          <a:p>
            <a:pPr lvl="1"/>
            <a:r>
              <a:rPr lang="en-US" altLang="en-US" sz="2000"/>
              <a:t>just cast the character to an int</a:t>
            </a:r>
          </a:p>
          <a:p>
            <a:pPr lvl="1"/>
            <a:endParaRPr lang="en-US" altLang="en-US" sz="2000"/>
          </a:p>
          <a:p>
            <a:r>
              <a:rPr lang="en-US" altLang="en-US" sz="2000"/>
              <a:t>For example, to write the character 'A' to the file opened previously: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outputStream.writeChar((int) 'A');</a:t>
            </a:r>
          </a:p>
          <a:p>
            <a:pPr lvl="1">
              <a:buFontTx/>
              <a:buNone/>
            </a:pPr>
            <a:endParaRPr lang="en-US" altLang="en-US" sz="2000">
              <a:latin typeface="Courier New" pitchFamily="49" charset="0"/>
            </a:endParaRPr>
          </a:p>
          <a:p>
            <a:r>
              <a:rPr lang="en-US" altLang="en-US" sz="2000"/>
              <a:t>Or, just use the automatic conversion from </a:t>
            </a:r>
            <a:r>
              <a:rPr lang="en-US" altLang="en-US" sz="2000">
                <a:latin typeface="Courier New" pitchFamily="49" charset="0"/>
              </a:rPr>
              <a:t>char</a:t>
            </a:r>
            <a:r>
              <a:rPr lang="en-US" altLang="en-US" sz="2000"/>
              <a:t> to </a:t>
            </a:r>
            <a:r>
              <a:rPr lang="en-US" altLang="en-US" sz="2000">
                <a:latin typeface="Courier New" pitchFamily="49" charset="0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197663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Writing a </a:t>
            </a:r>
            <a:r>
              <a:rPr lang="en-US" altLang="en-US" b="1">
                <a:latin typeface="Courier New" pitchFamily="49" charset="0"/>
              </a:rPr>
              <a:t>boolean</a:t>
            </a:r>
            <a:r>
              <a:rPr lang="en-US" altLang="en-US"/>
              <a:t> Value to a File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>
                <a:latin typeface="Courier New" pitchFamily="49" charset="0"/>
              </a:rPr>
              <a:t>boolean</a:t>
            </a:r>
            <a:r>
              <a:rPr lang="en-US" altLang="en-US" sz="2400"/>
              <a:t> values can be either of two values, </a:t>
            </a:r>
            <a:r>
              <a:rPr lang="en-US" altLang="en-US" sz="2400">
                <a:latin typeface="Courier New" pitchFamily="49" charset="0"/>
              </a:rPr>
              <a:t>true</a:t>
            </a:r>
            <a:r>
              <a:rPr lang="en-US" altLang="en-US" sz="2400"/>
              <a:t> or </a:t>
            </a:r>
            <a:r>
              <a:rPr lang="en-US" altLang="en-US" sz="2400">
                <a:latin typeface="Courier New" pitchFamily="49" charset="0"/>
              </a:rPr>
              <a:t>false</a:t>
            </a:r>
          </a:p>
          <a:p>
            <a:endParaRPr lang="en-US" altLang="en-US" sz="2400">
              <a:latin typeface="Courier New" pitchFamily="49" charset="0"/>
            </a:endParaRPr>
          </a:p>
          <a:p>
            <a:r>
              <a:rPr lang="en-US" altLang="en-US" sz="2400">
                <a:latin typeface="Courier New" pitchFamily="49" charset="0"/>
              </a:rPr>
              <a:t>true</a:t>
            </a:r>
            <a:r>
              <a:rPr lang="en-US" altLang="en-US" sz="2400"/>
              <a:t> and </a:t>
            </a:r>
            <a:r>
              <a:rPr lang="en-US" altLang="en-US" sz="2400">
                <a:latin typeface="Courier New" pitchFamily="49" charset="0"/>
              </a:rPr>
              <a:t>false</a:t>
            </a:r>
            <a:r>
              <a:rPr lang="en-US" altLang="en-US" sz="2400"/>
              <a:t> are not just names for the values, they actually are of type </a:t>
            </a:r>
            <a:r>
              <a:rPr lang="en-US" altLang="en-US" sz="2400">
                <a:latin typeface="Courier New" pitchFamily="49" charset="0"/>
              </a:rPr>
              <a:t>boolean</a:t>
            </a:r>
            <a:r>
              <a:rPr lang="en-US" altLang="en-US" sz="2400"/>
              <a:t> </a:t>
            </a:r>
          </a:p>
          <a:p>
            <a:endParaRPr lang="en-US" altLang="en-US" sz="2400"/>
          </a:p>
          <a:p>
            <a:r>
              <a:rPr lang="en-US" altLang="en-US" sz="2400"/>
              <a:t>For example, to write the </a:t>
            </a:r>
            <a:r>
              <a:rPr lang="en-US" altLang="en-US" sz="2400">
                <a:latin typeface="Courier New" pitchFamily="49" charset="0"/>
              </a:rPr>
              <a:t>boolean</a:t>
            </a:r>
            <a:r>
              <a:rPr lang="en-US" altLang="en-US" sz="2400"/>
              <a:t> value </a:t>
            </a:r>
            <a:r>
              <a:rPr lang="en-US" altLang="en-US" sz="2400">
                <a:latin typeface="Courier New" pitchFamily="49" charset="0"/>
              </a:rPr>
              <a:t>false</a:t>
            </a:r>
            <a:r>
              <a:rPr lang="en-US" altLang="en-US" sz="2400"/>
              <a:t> to the output file:</a:t>
            </a:r>
          </a:p>
          <a:p>
            <a:pPr lvl="1" algn="ctr">
              <a:buFontTx/>
              <a:buNone/>
            </a:pPr>
            <a:r>
              <a:rPr lang="en-US" altLang="en-US" sz="2400">
                <a:latin typeface="Courier New" pitchFamily="49" charset="0"/>
              </a:rPr>
              <a:t>outputStream.writeBoolean(false);</a:t>
            </a:r>
          </a:p>
        </p:txBody>
      </p:sp>
    </p:spTree>
    <p:extLst>
      <p:ext uri="{BB962C8B-B14F-4D97-AF65-F5344CB8AC3E}">
        <p14:creationId xmlns:p14="http://schemas.microsoft.com/office/powerpoint/2010/main" val="344336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altLang="en-US" sz="3600"/>
              <a:t>Writing Strings to a File:</a:t>
            </a:r>
            <a:br>
              <a:rPr lang="en-US" altLang="en-US" sz="3600"/>
            </a:br>
            <a:r>
              <a:rPr lang="en-US" altLang="en-US" sz="3600"/>
              <a:t>Another Little Unexpected Complexity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3820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Use the </a:t>
            </a:r>
            <a:r>
              <a:rPr lang="en-US" altLang="en-US" sz="2000">
                <a:latin typeface="Courier New" pitchFamily="49" charset="0"/>
              </a:rPr>
              <a:t>writeUTF</a:t>
            </a:r>
            <a:r>
              <a:rPr lang="en-US" altLang="en-US" sz="2000"/>
              <a:t> method to output a value of type </a:t>
            </a:r>
            <a:r>
              <a:rPr lang="en-US" altLang="en-US" sz="2000">
                <a:latin typeface="Courier New" pitchFamily="49" charset="0"/>
              </a:rPr>
              <a:t>String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there is no </a:t>
            </a:r>
            <a:r>
              <a:rPr lang="en-US" altLang="en-US" sz="2000">
                <a:latin typeface="Courier New" pitchFamily="49" charset="0"/>
              </a:rPr>
              <a:t>writeString</a:t>
            </a:r>
            <a:r>
              <a:rPr lang="en-US" altLang="en-US" sz="2000"/>
              <a:t> method</a:t>
            </a:r>
            <a:endParaRPr lang="en-US" altLang="en-US" sz="200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UTF stands for Unicode Text Format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special version of Unicode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Unicode: a text (printable) code that uses 2 bytes per character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designed to accommodate languages with a different alphabet or no alphabet (such as Chinese and Japanese)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ASCII: also a text (printable) code, but it uses just 1 byte per character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the most common code for English and languages with a similar alphabet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UTF is a modification of Unicode that uses just one byte for ASCII characters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allows other languages without sacrificing efficiency for ASCII files</a:t>
            </a:r>
          </a:p>
        </p:txBody>
      </p:sp>
    </p:spTree>
    <p:extLst>
      <p:ext uri="{BB962C8B-B14F-4D97-AF65-F5344CB8AC3E}">
        <p14:creationId xmlns:p14="http://schemas.microsoft.com/office/powerpoint/2010/main" val="265513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8256A8-9516-4DC8-A813-CE7D21E3256F}"/>
</file>

<file path=customXml/itemProps2.xml><?xml version="1.0" encoding="utf-8"?>
<ds:datastoreItem xmlns:ds="http://schemas.openxmlformats.org/officeDocument/2006/customXml" ds:itemID="{3ADFE898-8E3E-4A5D-8306-C797555C36F9}"/>
</file>

<file path=customXml/itemProps3.xml><?xml version="1.0" encoding="utf-8"?>
<ds:datastoreItem xmlns:ds="http://schemas.openxmlformats.org/officeDocument/2006/customXml" ds:itemID="{068EF222-E4E0-46D6-9EA3-6BF26E594A9E}"/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2321</Words>
  <Application>Microsoft Office PowerPoint</Application>
  <PresentationFormat>On-screen Show (4:3)</PresentationFormat>
  <Paragraphs>468</Paragraphs>
  <Slides>43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Consolas</vt:lpstr>
      <vt:lpstr>Courier New</vt:lpstr>
      <vt:lpstr>Monotype Sorts</vt:lpstr>
      <vt:lpstr>Tahoma</vt:lpstr>
      <vt:lpstr>Wingdings</vt:lpstr>
      <vt:lpstr>Office Theme</vt:lpstr>
      <vt:lpstr>Document</vt:lpstr>
      <vt:lpstr>Character Streams</vt:lpstr>
      <vt:lpstr>Streams</vt:lpstr>
      <vt:lpstr>PowerPoint Presentation</vt:lpstr>
      <vt:lpstr>ByteStream &amp; CharacterStream</vt:lpstr>
      <vt:lpstr>Reader class</vt:lpstr>
      <vt:lpstr>Writer class</vt:lpstr>
      <vt:lpstr>Ex, UTF-8 coding</vt:lpstr>
      <vt:lpstr>FileWriter Class</vt:lpstr>
      <vt:lpstr>FileWriter Class</vt:lpstr>
      <vt:lpstr>FileDescriptor Class</vt:lpstr>
      <vt:lpstr>FileReader class</vt:lpstr>
      <vt:lpstr>Ex: Read from file, write out monitor</vt:lpstr>
      <vt:lpstr>PrintWriter class</vt:lpstr>
      <vt:lpstr>PrintWriter class</vt:lpstr>
      <vt:lpstr>PrintWriter class: Write file text</vt:lpstr>
      <vt:lpstr>Ex: Write lines of text to file using a PrintWriter</vt:lpstr>
      <vt:lpstr>Output File Streams</vt:lpstr>
      <vt:lpstr>Methods for PrintWriter</vt:lpstr>
      <vt:lpstr>TextFileOutputDemo Part 1</vt:lpstr>
      <vt:lpstr>TextFileOutputDemo Part 2</vt:lpstr>
      <vt:lpstr>Text File Input</vt:lpstr>
      <vt:lpstr>Input File Streams</vt:lpstr>
      <vt:lpstr>Methods for BufferedReader</vt:lpstr>
      <vt:lpstr>Example: Reading a File Name from the Keyboard</vt:lpstr>
      <vt:lpstr>Reading Words in a String: Using StringTokenizer Class</vt:lpstr>
      <vt:lpstr>Example: StringTokenizer</vt:lpstr>
      <vt:lpstr>Testing for End of File in a Text File</vt:lpstr>
      <vt:lpstr>Example: Using Null to Test for End-of-File in a Text File</vt:lpstr>
      <vt:lpstr>Using Path Names</vt:lpstr>
      <vt:lpstr>Alternative with Scanner</vt:lpstr>
      <vt:lpstr>Reading in int’s</vt:lpstr>
      <vt:lpstr>Reading in lines of characters</vt:lpstr>
      <vt:lpstr>Multiple types on one line</vt:lpstr>
      <vt:lpstr>Multiple types on one line</vt:lpstr>
      <vt:lpstr>BufferedReader vs Scanner (parsing primitive types)</vt:lpstr>
      <vt:lpstr>BufferedReader vs Scanner (Checking End of File/Stream (EOF))</vt:lpstr>
      <vt:lpstr>PowerPoint Presentation</vt:lpstr>
      <vt:lpstr>PowerPoint Presentation</vt:lpstr>
      <vt:lpstr>My suggestion</vt:lpstr>
      <vt:lpstr>My suggestion cont…</vt:lpstr>
      <vt:lpstr>Writing a Character to a File: an Unexpected Little Complexity</vt:lpstr>
      <vt:lpstr>Writing a boolean Value to a File</vt:lpstr>
      <vt:lpstr>Writing Strings to a File: Another Little Unexpected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Reader class</dc:title>
  <dc:creator>Muhammad Imran</dc:creator>
  <cp:lastModifiedBy>Adeel-ur-Rehman</cp:lastModifiedBy>
  <cp:revision>93</cp:revision>
  <dcterms:created xsi:type="dcterms:W3CDTF">2017-03-08T06:29:24Z</dcterms:created>
  <dcterms:modified xsi:type="dcterms:W3CDTF">2019-10-10T10:49:56Z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