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s/slide26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442" r:id="rId3"/>
    <p:sldId id="443" r:id="rId4"/>
    <p:sldId id="433" r:id="rId5"/>
    <p:sldId id="377" r:id="rId6"/>
    <p:sldId id="379" r:id="rId7"/>
    <p:sldId id="380" r:id="rId8"/>
    <p:sldId id="382" r:id="rId9"/>
    <p:sldId id="383" r:id="rId10"/>
    <p:sldId id="389" r:id="rId11"/>
    <p:sldId id="431" r:id="rId12"/>
    <p:sldId id="436" r:id="rId13"/>
    <p:sldId id="388" r:id="rId14"/>
    <p:sldId id="435" r:id="rId15"/>
    <p:sldId id="390" r:id="rId16"/>
    <p:sldId id="437" r:id="rId17"/>
    <p:sldId id="438" r:id="rId18"/>
    <p:sldId id="439" r:id="rId19"/>
    <p:sldId id="440" r:id="rId20"/>
    <p:sldId id="441" r:id="rId21"/>
    <p:sldId id="403" r:id="rId22"/>
    <p:sldId id="445" r:id="rId23"/>
    <p:sldId id="446" r:id="rId24"/>
    <p:sldId id="447" r:id="rId25"/>
    <p:sldId id="426" r:id="rId26"/>
    <p:sldId id="429" r:id="rId27"/>
    <p:sldId id="427" r:id="rId28"/>
    <p:sldId id="428" r:id="rId29"/>
    <p:sldId id="404" r:id="rId30"/>
    <p:sldId id="405" r:id="rId31"/>
    <p:sldId id="406" r:id="rId32"/>
    <p:sldId id="407" r:id="rId33"/>
    <p:sldId id="408" r:id="rId34"/>
    <p:sldId id="409" r:id="rId35"/>
    <p:sldId id="410" r:id="rId36"/>
    <p:sldId id="411" r:id="rId37"/>
    <p:sldId id="412" r:id="rId38"/>
    <p:sldId id="413" r:id="rId39"/>
    <p:sldId id="434" r:id="rId40"/>
    <p:sldId id="414" r:id="rId41"/>
    <p:sldId id="415" r:id="rId42"/>
    <p:sldId id="416" r:id="rId43"/>
    <p:sldId id="417" r:id="rId44"/>
    <p:sldId id="419" r:id="rId45"/>
    <p:sldId id="448" r:id="rId46"/>
    <p:sldId id="422" r:id="rId47"/>
    <p:sldId id="423" r:id="rId48"/>
    <p:sldId id="449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29" autoAdjust="0"/>
  </p:normalViewPr>
  <p:slideViewPr>
    <p:cSldViewPr>
      <p:cViewPr varScale="1">
        <p:scale>
          <a:sx n="69" d="100"/>
          <a:sy n="69" d="100"/>
        </p:scale>
        <p:origin x="141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42954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7.xml"/><Relationship Id="rId1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520FC-D788-48C1-BB99-0370BEB8FF51}" type="datetimeFigureOut">
              <a:rPr lang="en-IE" smtClean="0"/>
              <a:t>30/09/2019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8A391-A794-471D-B72A-F262B2B3B5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17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D7C102-F6EE-4D2C-A393-FF005077E35D}" type="slidenum">
              <a:rPr lang="en-GB" altLang="en-US"/>
              <a:pPr/>
              <a:t>2</a:t>
            </a:fld>
            <a:endParaRPr lang="en-GB" alt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D7C102-F6EE-4D2C-A393-FF005077E35D}" type="slidenum">
              <a:rPr lang="en-GB" altLang="en-US"/>
              <a:pPr/>
              <a:t>3</a:t>
            </a:fld>
            <a:endParaRPr lang="en-GB" alt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773509-ECA4-478C-AB88-C3024086814C}" type="slidenum">
              <a:rPr lang="en-GB" altLang="en-US"/>
              <a:pPr/>
              <a:t>4</a:t>
            </a:fld>
            <a:endParaRPr lang="en-GB" altLang="en-US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 TV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06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5AF71-02A3-46FB-8593-3D5F029059DF}" type="datetimeFigureOut">
              <a:rPr lang="en-IE" smtClean="0"/>
              <a:t>30/09/2019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284FB45-1ED6-41BB-A146-54B96BE78B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5258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5AF71-02A3-46FB-8593-3D5F029059DF}" type="datetimeFigureOut">
              <a:rPr lang="en-IE" smtClean="0"/>
              <a:t>30/09/2019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284FB45-1ED6-41BB-A146-54B96BE78B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3229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5AF71-02A3-46FB-8593-3D5F029059DF}" type="datetimeFigureOut">
              <a:rPr lang="en-IE" smtClean="0"/>
              <a:t>30/09/2019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TextBox 6"/>
          <p:cNvSpPr txBox="1"/>
          <p:nvPr userDrawn="1"/>
        </p:nvSpPr>
        <p:spPr>
          <a:xfrm>
            <a:off x="8458200" y="6477000"/>
            <a:ext cx="685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61424CE-21A9-40ED-A480-F74D0252FFC4}" type="slidenum">
              <a:rPr lang="en-IE" smtClean="0"/>
              <a:pPr algn="r"/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4351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FF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Documents%20and%20Settings\Object%20Oriented%20Prof\Local%20Settings\Temporary%20Internet%20Files\Content.IE5\jdk1.3.0_02\docs\api\java\io\RandomAccessFile.html#length()" TargetMode="External"/><Relationship Id="rId2" Type="http://schemas.openxmlformats.org/officeDocument/2006/relationships/hyperlink" Target="file:///C:\Documents%20and%20Settings\Object%20Oriented%20Prof\Local%20Settings\Temporary%20Internet%20Files\Content.IE5\jdk1.3.0_02\docs\api\java\io\RandomAccessFile.html#getFilePointer()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C:\Documents%20and%20Settings\Object%20Oriented%20Prof\Local%20Settings\Temporary%20Internet%20Files\Content.IE5\jdk1.3.0_02\docs\api\java\io\RandomAccessFile.html#seek(long)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file:///C:\Documents%20and%20Settings\Object%20Oriented%20Prof\Local%20Settings\Temporary%20Internet%20Files\Content.IE5\jdk1.3.0_02\docs\api\java\io\File.html" TargetMode="External"/><Relationship Id="rId2" Type="http://schemas.openxmlformats.org/officeDocument/2006/relationships/hyperlink" Target="file:///C:\Documents%20and%20Settings\Object%20Oriented%20Prof\Local%20Settings\Temporary%20Internet%20Files\Content.IE5\jdk1.3.0_02\docs\api\java\io\RandomAccessFile.html#RandomAccessFile(java.io.File, java.lang.String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C:\Documents%20and%20Settings\Object%20Oriented%20Prof\Local%20Settings\Temporary%20Internet%20Files\Content.IE5\jdk1.3.0_02\docs\api\java\io\FileReader.html#FileReader(java.io.File)" TargetMode="External"/><Relationship Id="rId5" Type="http://schemas.openxmlformats.org/officeDocument/2006/relationships/hyperlink" Target="file:///C:\Documents%20and%20Settings\Object%20Oriented%20Prof\Local%20Settings\Temporary%20Internet%20Files\Content.IE5\jdk1.3.0_02\docs\api\java\io\RandomAccessFile.html#RandomAccessFile(java.lang.String, java.lang.String)" TargetMode="External"/><Relationship Id="rId4" Type="http://schemas.openxmlformats.org/officeDocument/2006/relationships/hyperlink" Target="file:///C:\Documents%20and%20Settings\Object%20Oriented%20Prof\Local%20Settings\Temporary%20Internet%20Files\Content.IE5\jdk1.3.0_02\docs\api\java\lang\String.html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 I/O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Adeel-ur-Rehman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I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52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input-output-stre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540" y="0"/>
            <a:ext cx="2562225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0" name="Picture 6" descr="Image result for character vs byte stre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" y="0"/>
            <a:ext cx="6076950" cy="456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" y="4191000"/>
            <a:ext cx="6381406" cy="2228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204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Byte Stream</a:t>
            </a:r>
          </a:p>
        </p:txBody>
      </p:sp>
      <p:graphicFrame>
        <p:nvGraphicFramePr>
          <p:cNvPr id="7680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763713" y="1762125"/>
          <a:ext cx="5935662" cy="461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4" name="Bitmap Image" r:id="rId4" imgW="4382112" imgH="3409524" progId="Paint.Picture">
                  <p:embed/>
                </p:oleObj>
              </mc:Choice>
              <mc:Fallback>
                <p:oleObj name="Bitmap Image" r:id="rId4" imgW="4382112" imgH="34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762125"/>
                        <a:ext cx="5935662" cy="461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553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Character Stream</a:t>
            </a:r>
          </a:p>
        </p:txBody>
      </p:sp>
      <p:graphicFrame>
        <p:nvGraphicFramePr>
          <p:cNvPr id="7885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908175" y="1897063"/>
          <a:ext cx="5507038" cy="462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7" name="Bitmap Image" r:id="rId4" imgW="4533333" imgH="3809524" progId="Paint.Picture">
                  <p:embed/>
                </p:oleObj>
              </mc:Choice>
              <mc:Fallback>
                <p:oleObj name="Bitmap Image" r:id="rId4" imgW="4533333" imgH="38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897063"/>
                        <a:ext cx="5507038" cy="462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566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19200"/>
            <a:ext cx="8531225" cy="4876800"/>
          </a:xfrm>
        </p:spPr>
        <p:txBody>
          <a:bodyPr>
            <a:normAutofit fontScale="85000" lnSpcReduction="10000"/>
          </a:bodyPr>
          <a:lstStyle/>
          <a:p>
            <a:r>
              <a:rPr lang="en-IE" dirty="0"/>
              <a:t>A </a:t>
            </a:r>
            <a:r>
              <a:rPr lang="en-IE" dirty="0" err="1"/>
              <a:t>ByteArrayInputStream</a:t>
            </a:r>
            <a:r>
              <a:rPr lang="en-IE" dirty="0"/>
              <a:t> contains an internal buffer that contains bytes that may be read from the </a:t>
            </a:r>
            <a:r>
              <a:rPr lang="en-IE" dirty="0" smtClean="0"/>
              <a:t>stream</a:t>
            </a:r>
          </a:p>
          <a:p>
            <a:r>
              <a:rPr lang="en-US" dirty="0" smtClean="0"/>
              <a:t>Methods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: read(), skip(), reset(), available(), </a:t>
            </a:r>
            <a:r>
              <a:rPr lang="en-US" sz="3000" dirty="0"/>
              <a:t>(from parent class)</a:t>
            </a:r>
          </a:p>
          <a:p>
            <a:pPr eaLnBrk="1" hangingPunct="1"/>
            <a:r>
              <a:rPr lang="en-US" dirty="0"/>
              <a:t>Its constructors are :</a:t>
            </a:r>
          </a:p>
          <a:p>
            <a:pPr lvl="1" eaLnBrk="1" hangingPunct="1"/>
            <a:r>
              <a:rPr lang="en-US" b="1" dirty="0" err="1">
                <a:solidFill>
                  <a:srgbClr val="009900"/>
                </a:solidFill>
                <a:latin typeface="Courier New" pitchFamily="49" charset="0"/>
              </a:rPr>
              <a:t>ByteArrayInputStream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(byte b[])</a:t>
            </a:r>
            <a:r>
              <a:rPr lang="en-US" dirty="0">
                <a:latin typeface="Courier New" pitchFamily="49" charset="0"/>
              </a:rPr>
              <a:t>:</a:t>
            </a:r>
            <a:r>
              <a:rPr lang="en-US" dirty="0"/>
              <a:t> </a:t>
            </a:r>
          </a:p>
          <a:p>
            <a:pPr marL="392113" lvl="1" indent="0" eaLnBrk="1" hangingPunct="1">
              <a:buNone/>
            </a:pPr>
            <a:r>
              <a:rPr lang="en-US" dirty="0"/>
              <a:t>	Creates a </a:t>
            </a:r>
            <a:r>
              <a:rPr lang="en-US" dirty="0" err="1">
                <a:latin typeface="Courier New" pitchFamily="49" charset="0"/>
              </a:rPr>
              <a:t>ByteArrayInputStream</a:t>
            </a:r>
            <a:r>
              <a:rPr lang="en-US" dirty="0"/>
              <a:t> with </a:t>
            </a:r>
            <a:r>
              <a:rPr lang="en-US" b="1" i="1" dirty="0"/>
              <a:t>b</a:t>
            </a:r>
            <a:r>
              <a:rPr lang="en-US" dirty="0"/>
              <a:t> as the input source.</a:t>
            </a:r>
          </a:p>
          <a:p>
            <a:pPr lvl="1" eaLnBrk="1" hangingPunct="1"/>
            <a:r>
              <a:rPr lang="en-US" b="1" dirty="0" err="1">
                <a:solidFill>
                  <a:srgbClr val="009900"/>
                </a:solidFill>
                <a:latin typeface="Courier New" pitchFamily="49" charset="0"/>
              </a:rPr>
              <a:t>ByteArrayInputStream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(byte b</a:t>
            </a:r>
            <a:r>
              <a:rPr lang="en-US" b="1" dirty="0" smtClean="0">
                <a:solidFill>
                  <a:srgbClr val="009900"/>
                </a:solidFill>
                <a:latin typeface="Courier New" pitchFamily="49" charset="0"/>
              </a:rPr>
              <a:t>[], </a:t>
            </a:r>
            <a:r>
              <a:rPr lang="en-US" b="1" dirty="0" err="1">
                <a:solidFill>
                  <a:srgbClr val="009900"/>
                </a:solidFill>
                <a:latin typeface="Courier New" pitchFamily="49" charset="0"/>
              </a:rPr>
              <a:t>int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 start, </a:t>
            </a:r>
            <a:r>
              <a:rPr lang="en-US" b="1" dirty="0" err="1">
                <a:solidFill>
                  <a:srgbClr val="009900"/>
                </a:solidFill>
                <a:latin typeface="Courier New" pitchFamily="49" charset="0"/>
              </a:rPr>
              <a:t>int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 </a:t>
            </a:r>
            <a:r>
              <a:rPr lang="en-US" b="1" dirty="0" err="1">
                <a:solidFill>
                  <a:srgbClr val="009900"/>
                </a:solidFill>
                <a:latin typeface="Courier New" pitchFamily="49" charset="0"/>
              </a:rPr>
              <a:t>num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)</a:t>
            </a:r>
            <a:r>
              <a:rPr lang="en-US" b="1" dirty="0">
                <a:solidFill>
                  <a:srgbClr val="009900"/>
                </a:solidFill>
              </a:rPr>
              <a:t>: </a:t>
            </a:r>
          </a:p>
          <a:p>
            <a:pPr marL="392113" lvl="1" indent="0" eaLnBrk="1" hangingPunct="1">
              <a:buNone/>
            </a:pPr>
            <a:r>
              <a:rPr lang="en-US" dirty="0"/>
              <a:t>	Creates a </a:t>
            </a:r>
            <a:r>
              <a:rPr lang="en-US" dirty="0" err="1">
                <a:latin typeface="Courier New" pitchFamily="49" charset="0"/>
              </a:rPr>
              <a:t>ByteArrayInputStream</a:t>
            </a:r>
            <a:r>
              <a:rPr lang="en-US" dirty="0"/>
              <a:t> that begins with the character at </a:t>
            </a:r>
            <a:r>
              <a:rPr lang="en-US" dirty="0">
                <a:latin typeface="Courier New" pitchFamily="49" charset="0"/>
              </a:rPr>
              <a:t>start</a:t>
            </a:r>
            <a:r>
              <a:rPr lang="en-US" dirty="0"/>
              <a:t> position and is </a:t>
            </a:r>
            <a:r>
              <a:rPr lang="en-US" dirty="0" err="1">
                <a:latin typeface="Courier New" pitchFamily="49" charset="0"/>
              </a:rPr>
              <a:t>num</a:t>
            </a:r>
            <a:r>
              <a:rPr lang="en-US" dirty="0"/>
              <a:t> bytes long.</a:t>
            </a:r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ByteArrayInputStream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1914994972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914400"/>
          </a:xfrm>
        </p:spPr>
        <p:txBody>
          <a:bodyPr>
            <a:noAutofit/>
          </a:bodyPr>
          <a:lstStyle/>
          <a:p>
            <a:r>
              <a:rPr lang="en-US" sz="2800" dirty="0"/>
              <a:t>Ex: </a:t>
            </a:r>
            <a:r>
              <a:rPr lang="en-US" sz="2800" dirty="0">
                <a:effectLst/>
              </a:rPr>
              <a:t>Convert string into </a:t>
            </a:r>
            <a:r>
              <a:rPr lang="en-US" sz="2800" dirty="0" err="1">
                <a:effectLst/>
              </a:rPr>
              <a:t>InputStream</a:t>
            </a:r>
            <a:r>
              <a:rPr lang="en-US" sz="2800" dirty="0">
                <a:effectLst/>
              </a:rPr>
              <a:t> using </a:t>
            </a:r>
            <a:r>
              <a:rPr lang="en-US" sz="2800" dirty="0" err="1">
                <a:effectLst/>
              </a:rPr>
              <a:t>ByteArrayInputStream</a:t>
            </a:r>
            <a:r>
              <a:rPr lang="en-US" sz="2800" dirty="0">
                <a:effectLst/>
              </a:rPr>
              <a:t> class</a:t>
            </a:r>
            <a:endParaRPr lang="en-US" sz="2800" dirty="0"/>
          </a:p>
        </p:txBody>
      </p:sp>
      <p:sp>
        <p:nvSpPr>
          <p:cNvPr id="125962" name="Rectangle 10"/>
          <p:cNvSpPr>
            <a:spLocks noChangeArrowheads="1"/>
          </p:cNvSpPr>
          <p:nvPr/>
        </p:nvSpPr>
        <p:spPr bwMode="auto">
          <a:xfrm>
            <a:off x="190500" y="1267598"/>
            <a:ext cx="8705850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import java.io.*;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ByteDemo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public static void main (String []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String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Testing Byte Array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Input Stream.”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byte[] b =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str.getBytes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InputStream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bais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ByteArrayInputStream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(b,0,b.length);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while((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bais.read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()) != -1)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((char)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bais.reset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();  //using reset ( ) method and again reading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while((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bais.read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()) != -1)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((char)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indent="228600"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255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077200" cy="5638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IE" dirty="0"/>
              <a:t>The </a:t>
            </a:r>
            <a:r>
              <a:rPr lang="en-IE" dirty="0" err="1"/>
              <a:t>ByteArrayOutputStream</a:t>
            </a:r>
            <a:r>
              <a:rPr lang="en-IE" dirty="0"/>
              <a:t> class stream creates a buffer in memory and all the data sent to the stream is stored in the buffer</a:t>
            </a:r>
            <a:r>
              <a:rPr lang="en-IE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en-US" dirty="0" smtClean="0"/>
              <a:t>Two constructors.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3200" b="1" dirty="0" err="1" smtClean="0">
                <a:solidFill>
                  <a:srgbClr val="C00000"/>
                </a:solidFill>
                <a:latin typeface="Courier New" pitchFamily="49" charset="0"/>
              </a:rPr>
              <a:t>ByteArrayOutputStream</a:t>
            </a:r>
            <a:r>
              <a:rPr lang="en-US" sz="3200" b="1" dirty="0" smtClean="0">
                <a:solidFill>
                  <a:srgbClr val="C00000"/>
                </a:solidFill>
                <a:latin typeface="Courier New" pitchFamily="49" charset="0"/>
              </a:rPr>
              <a:t>(</a:t>
            </a:r>
            <a:r>
              <a:rPr lang="en-US" sz="3200" b="1" dirty="0" err="1" smtClean="0">
                <a:solidFill>
                  <a:srgbClr val="C00000"/>
                </a:solidFill>
                <a:latin typeface="Courier New" pitchFamily="49" charset="0"/>
              </a:rPr>
              <a:t>int</a:t>
            </a:r>
            <a:r>
              <a:rPr lang="en-US" sz="3200" b="1" dirty="0" smtClea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Courier New" pitchFamily="49" charset="0"/>
              </a:rPr>
              <a:t>size)</a:t>
            </a:r>
          </a:p>
          <a:p>
            <a:pPr marL="392113" lvl="1" indent="0" eaLnBrk="1" hangingPunct="1">
              <a:lnSpc>
                <a:spcPct val="120000"/>
              </a:lnSpc>
              <a:buNone/>
            </a:pPr>
            <a:r>
              <a:rPr lang="en-US" dirty="0"/>
              <a:t>used to set the output byte array to an initial size.</a:t>
            </a:r>
          </a:p>
          <a:p>
            <a:pPr lvl="1">
              <a:lnSpc>
                <a:spcPct val="120000"/>
              </a:lnSpc>
            </a:pPr>
            <a:r>
              <a:rPr lang="en-US" sz="3200" b="1" dirty="0" err="1">
                <a:solidFill>
                  <a:srgbClr val="C00000"/>
                </a:solidFill>
                <a:latin typeface="Courier New" pitchFamily="49" charset="0"/>
              </a:rPr>
              <a:t>ByteArrayOutputStream</a:t>
            </a:r>
            <a:r>
              <a:rPr lang="en-US" sz="3200" b="1" dirty="0">
                <a:solidFill>
                  <a:srgbClr val="C00000"/>
                </a:solidFill>
                <a:latin typeface="Courier New" pitchFamily="49" charset="0"/>
              </a:rPr>
              <a:t>()</a:t>
            </a:r>
          </a:p>
          <a:p>
            <a:pPr marL="392113" lvl="1" indent="0" eaLnBrk="1" hangingPunct="1">
              <a:lnSpc>
                <a:spcPct val="120000"/>
              </a:lnSpc>
              <a:buNone/>
            </a:pPr>
            <a:r>
              <a:rPr lang="en-US" dirty="0"/>
              <a:t>sets the output buffer to a default size.</a:t>
            </a:r>
            <a:r>
              <a:rPr lang="en-US" sz="2800" dirty="0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en-US" dirty="0"/>
              <a:t>Additional methods like:</a:t>
            </a:r>
          </a:p>
          <a:p>
            <a:pPr marL="2163763" lvl="1">
              <a:lnSpc>
                <a:spcPct val="120000"/>
              </a:lnSpc>
            </a:pPr>
            <a:r>
              <a:rPr lang="en-US" b="1" smtClean="0">
                <a:solidFill>
                  <a:srgbClr val="009900"/>
                </a:solidFill>
                <a:latin typeface="Courier New" pitchFamily="49" charset="0"/>
              </a:rPr>
              <a:t>byte[] </a:t>
            </a:r>
            <a:r>
              <a:rPr lang="en-US" b="1" dirty="0" err="1">
                <a:solidFill>
                  <a:srgbClr val="009900"/>
                </a:solidFill>
                <a:latin typeface="Courier New" pitchFamily="49" charset="0"/>
              </a:rPr>
              <a:t>toByteArray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()</a:t>
            </a:r>
            <a:r>
              <a:rPr lang="en-US" b="1" dirty="0">
                <a:solidFill>
                  <a:srgbClr val="009900"/>
                </a:solidFill>
              </a:rPr>
              <a:t> </a:t>
            </a:r>
            <a:r>
              <a:rPr lang="en-US" dirty="0"/>
              <a:t>and </a:t>
            </a:r>
          </a:p>
          <a:p>
            <a:pPr marL="2163763" lvl="1">
              <a:lnSpc>
                <a:spcPct val="120000"/>
              </a:lnSpc>
            </a:pP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String </a:t>
            </a:r>
            <a:r>
              <a:rPr lang="en-US" b="1" dirty="0" err="1">
                <a:solidFill>
                  <a:srgbClr val="009900"/>
                </a:solidFill>
                <a:latin typeface="Courier New" pitchFamily="49" charset="0"/>
              </a:rPr>
              <a:t>toString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()</a:t>
            </a:r>
            <a:endParaRPr lang="en-US" b="1" dirty="0">
              <a:solidFill>
                <a:srgbClr val="009900"/>
              </a:solidFill>
            </a:endParaRPr>
          </a:p>
          <a:p>
            <a:pPr marL="392113" lvl="1" indent="0">
              <a:lnSpc>
                <a:spcPct val="120000"/>
              </a:lnSpc>
              <a:buNone/>
            </a:pPr>
            <a:r>
              <a:rPr lang="en-US" dirty="0"/>
              <a:t>convert the stream to a byte array and String object respectively.</a:t>
            </a:r>
          </a:p>
          <a:p>
            <a:pPr marL="2163763" lvl="1">
              <a:lnSpc>
                <a:spcPct val="120000"/>
              </a:lnSpc>
            </a:pPr>
            <a:r>
              <a:rPr lang="en-US" b="1" dirty="0">
                <a:solidFill>
                  <a:srgbClr val="009900"/>
                </a:solidFill>
              </a:rPr>
              <a:t>size(): size of buffer</a:t>
            </a:r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"/>
            <a:ext cx="8229600" cy="7159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ByteArrayOutputStream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550251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6" name="Rectangle 8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10600" cy="914400"/>
          </a:xfrm>
        </p:spPr>
        <p:txBody>
          <a:bodyPr>
            <a:normAutofit fontScale="90000"/>
          </a:bodyPr>
          <a:lstStyle/>
          <a:p>
            <a:r>
              <a:rPr lang="en-US" sz="2800">
                <a:effectLst/>
              </a:rPr>
              <a:t>Ex: Convert  OutputStream to String using ByteArrayOutputStream class</a:t>
            </a:r>
            <a:endParaRPr lang="en-US" sz="2800"/>
          </a:p>
        </p:txBody>
      </p:sp>
      <p:sp>
        <p:nvSpPr>
          <p:cNvPr id="130060" name="Rectangle 12"/>
          <p:cNvSpPr>
            <a:spLocks noChangeArrowheads="1"/>
          </p:cNvSpPr>
          <p:nvPr/>
        </p:nvSpPr>
        <p:spPr bwMode="auto">
          <a:xfrm>
            <a:off x="228600" y="1137821"/>
            <a:ext cx="8686800" cy="52629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pPr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dirty="0"/>
              <a:t>import java.io.*;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ByteOutDemo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main (String []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400050"/>
            <a:r>
              <a:rPr lang="en-US" dirty="0">
                <a:solidFill>
                  <a:srgbClr val="000000"/>
                </a:solidFill>
                <a:latin typeface="Consolas"/>
              </a:rPr>
              <a:t>String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str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>
                <a:solidFill>
                  <a:srgbClr val="2A00FF"/>
                </a:solidFill>
                <a:latin typeface="Consolas"/>
              </a:rPr>
              <a:t>"Jack and Jill went up the hill"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400050"/>
            <a:r>
              <a:rPr lang="en-US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[] b =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str.getBytes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400050"/>
            <a:r>
              <a:rPr lang="en-US" dirty="0" err="1">
                <a:solidFill>
                  <a:srgbClr val="000000"/>
                </a:solidFill>
                <a:latin typeface="Consolas"/>
              </a:rPr>
              <a:t>ByteArrayOutputStream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b1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ByteArrayOutputStream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400050"/>
            <a:r>
              <a:rPr lang="en-US" dirty="0">
                <a:solidFill>
                  <a:srgbClr val="000000"/>
                </a:solidFill>
                <a:latin typeface="Consolas"/>
              </a:rPr>
              <a:t>b1.write(b);</a:t>
            </a:r>
          </a:p>
          <a:p>
            <a:pPr marL="400050"/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i="1" dirty="0">
                <a:solidFill>
                  <a:srgbClr val="2A00FF"/>
                </a:solidFill>
                <a:latin typeface="Consolas"/>
              </a:rPr>
              <a:t>"Writing the contents of a </a:t>
            </a:r>
            <a:r>
              <a:rPr lang="en-US" i="1" dirty="0" err="1">
                <a:solidFill>
                  <a:srgbClr val="2A00FF"/>
                </a:solidFill>
                <a:latin typeface="Consolas"/>
              </a:rPr>
              <a:t>ByteArrayOutputStream</a:t>
            </a:r>
            <a:r>
              <a:rPr lang="en-US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400050"/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(b1.toString());</a:t>
            </a:r>
          </a:p>
          <a:p>
            <a:pPr marL="400050"/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43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/>
          <a:lstStyle/>
          <a:p>
            <a:r>
              <a:rPr lang="en-US" dirty="0"/>
              <a:t>Ex </a:t>
            </a:r>
            <a:r>
              <a:rPr lang="en-US" dirty="0" err="1">
                <a:effectLst/>
              </a:rPr>
              <a:t>ByteArrayIOStream</a:t>
            </a:r>
            <a:endParaRPr lang="en-US" dirty="0"/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190500" y="1066800"/>
            <a:ext cx="8705850" cy="5355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pPr marL="109537" indent="0">
              <a:buNone/>
            </a:pPr>
            <a:r>
              <a:rPr lang="en-US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ByteArrayIOApp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main(String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[])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ByteArrayOutputStream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outStream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ByteArrayOutputStream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String s = </a:t>
            </a:r>
            <a:r>
              <a:rPr lang="en-US" sz="1800" dirty="0">
                <a:solidFill>
                  <a:srgbClr val="2A00FF"/>
                </a:solidFill>
                <a:latin typeface="Consolas"/>
              </a:rPr>
              <a:t>"This is a test."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109537" indent="0">
              <a:buNone/>
            </a:pPr>
            <a:r>
              <a:rPr lang="nn-NO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nn-NO" sz="18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nn-NO" sz="18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nn-NO" sz="1800" b="1" dirty="0">
                <a:solidFill>
                  <a:srgbClr val="7F0055"/>
                </a:solidFill>
                <a:latin typeface="Consolas"/>
              </a:rPr>
              <a:t>int</a:t>
            </a:r>
            <a:r>
              <a:rPr lang="nn-NO" sz="1800" b="1" dirty="0">
                <a:solidFill>
                  <a:srgbClr val="000000"/>
                </a:solidFill>
                <a:latin typeface="Consolas"/>
              </a:rPr>
              <a:t> i = 0; i &lt; s.length(); ++i)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outStream.write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s.charAt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18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800" i="1" dirty="0" err="1">
                <a:solidFill>
                  <a:srgbClr val="2A00FF"/>
                </a:solidFill>
                <a:latin typeface="Consolas"/>
              </a:rPr>
              <a:t>outstream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: 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outStream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18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"size: 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outStream.size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ByteArrayInputStream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inStream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inStream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ByteArrayInputStream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outStream.toByteArray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inBytes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inStream.available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18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800" i="1" dirty="0" err="1">
                <a:solidFill>
                  <a:srgbClr val="2A00FF"/>
                </a:solidFill>
                <a:latin typeface="Consolas"/>
              </a:rPr>
              <a:t>inStream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 has" 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inBytes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"available bytes"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inBuf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[] =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inBytes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];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bytesRead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inStream.read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inBuf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inBytes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18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bytesRead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 bytes were read"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18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"They are: 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800" b="1" i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1800" b="1" i="1" dirty="0">
                <a:solidFill>
                  <a:srgbClr val="000000"/>
                </a:solidFill>
                <a:latin typeface="Consolas"/>
              </a:rPr>
              <a:t> String(</a:t>
            </a:r>
            <a:r>
              <a:rPr lang="en-US" sz="1800" b="1" i="1" dirty="0" err="1">
                <a:solidFill>
                  <a:srgbClr val="000000"/>
                </a:solidFill>
                <a:latin typeface="Consolas"/>
              </a:rPr>
              <a:t>inBuf</a:t>
            </a:r>
            <a:r>
              <a:rPr lang="en-US" sz="1800" b="1" i="1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marL="109537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8710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fontScale="85000" lnSpcReduction="10000"/>
          </a:bodyPr>
          <a:lstStyle/>
          <a:p>
            <a:r>
              <a:rPr lang="en-IE" dirty="0"/>
              <a:t>The read()/write() method in </a:t>
            </a:r>
            <a:r>
              <a:rPr lang="en-IE" dirty="0" err="1"/>
              <a:t>InputStream</a:t>
            </a:r>
            <a:r>
              <a:rPr lang="en-IE" dirty="0"/>
              <a:t>/</a:t>
            </a:r>
            <a:r>
              <a:rPr lang="en-IE" dirty="0" err="1"/>
              <a:t>OutputStream</a:t>
            </a:r>
            <a:r>
              <a:rPr lang="en-IE" dirty="0"/>
              <a:t> are designed to read/write a single byte of data on each call. </a:t>
            </a:r>
            <a:endParaRPr lang="en-IE" dirty="0" smtClean="0"/>
          </a:p>
          <a:p>
            <a:r>
              <a:rPr lang="en-IE" dirty="0" smtClean="0"/>
              <a:t>This </a:t>
            </a:r>
            <a:r>
              <a:rPr lang="en-IE" dirty="0"/>
              <a:t>is grossly inefficient, as each call is handled by the underlying operating system (which may trigger a disk access, or other expensive operations). </a:t>
            </a:r>
            <a:endParaRPr lang="en-IE" dirty="0" smtClean="0"/>
          </a:p>
          <a:p>
            <a:r>
              <a:rPr lang="en-IE" i="1" dirty="0" smtClean="0">
                <a:solidFill>
                  <a:schemeClr val="tx2"/>
                </a:solidFill>
              </a:rPr>
              <a:t>Buffering</a:t>
            </a:r>
            <a:r>
              <a:rPr lang="en-IE" dirty="0"/>
              <a:t>, which reads/writes a block of bytes from the external device into/from a memory buffer in a single I/O operation, is commonly applied to </a:t>
            </a:r>
            <a:r>
              <a:rPr lang="en-IE" dirty="0">
                <a:solidFill>
                  <a:schemeClr val="tx2"/>
                </a:solidFill>
              </a:rPr>
              <a:t>speed up the I/O</a:t>
            </a:r>
            <a:r>
              <a:rPr lang="en-IE" dirty="0"/>
              <a:t>.</a:t>
            </a:r>
          </a:p>
          <a:p>
            <a:r>
              <a:rPr lang="en-IE" dirty="0" err="1">
                <a:solidFill>
                  <a:schemeClr val="tx2"/>
                </a:solidFill>
              </a:rPr>
              <a:t>FileInputStream</a:t>
            </a:r>
            <a:r>
              <a:rPr lang="en-IE" dirty="0">
                <a:solidFill>
                  <a:schemeClr val="tx2"/>
                </a:solidFill>
              </a:rPr>
              <a:t>/</a:t>
            </a:r>
            <a:r>
              <a:rPr lang="en-IE" dirty="0" err="1">
                <a:solidFill>
                  <a:schemeClr val="tx2"/>
                </a:solidFill>
              </a:rPr>
              <a:t>FileOutputStream</a:t>
            </a:r>
            <a:r>
              <a:rPr lang="en-IE" dirty="0"/>
              <a:t> is not buffered. It is often chained to a </a:t>
            </a:r>
            <a:r>
              <a:rPr lang="en-IE" dirty="0" err="1">
                <a:solidFill>
                  <a:schemeClr val="tx2"/>
                </a:solidFill>
              </a:rPr>
              <a:t>BufferedInputStream</a:t>
            </a:r>
            <a:r>
              <a:rPr lang="en-IE" dirty="0"/>
              <a:t> or </a:t>
            </a:r>
            <a:r>
              <a:rPr lang="en-IE" dirty="0" err="1">
                <a:solidFill>
                  <a:schemeClr val="tx2"/>
                </a:solidFill>
              </a:rPr>
              <a:t>BufferedOutputStream</a:t>
            </a:r>
            <a:r>
              <a:rPr lang="en-IE" dirty="0"/>
              <a:t>, which provides the buffering. </a:t>
            </a:r>
            <a:endParaRPr lang="en-IE" dirty="0" smtClean="0"/>
          </a:p>
          <a:p>
            <a:r>
              <a:rPr lang="en-IE" dirty="0" smtClean="0"/>
              <a:t>To </a:t>
            </a:r>
            <a:r>
              <a:rPr lang="en-IE" dirty="0"/>
              <a:t>chain the streams together, simply pass an instance of one stream into the constructor of another stream.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Buffered IO 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20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O_LayeredInpu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52600"/>
            <a:ext cx="890357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/>
          <a:lstStyle/>
          <a:p>
            <a:r>
              <a:rPr lang="en-US" dirty="0" smtClean="0">
                <a:effectLst/>
              </a:rPr>
              <a:t>Filter IO 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1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400" b="1" dirty="0" err="1">
                <a:solidFill>
                  <a:schemeClr val="tx2"/>
                </a:solidFill>
              </a:rPr>
              <a:t>FileInputStream</a:t>
            </a:r>
            <a:r>
              <a:rPr lang="en-IE" sz="2400" b="1" dirty="0">
                <a:solidFill>
                  <a:schemeClr val="tx2"/>
                </a:solidFill>
              </a:rPr>
              <a:t> </a:t>
            </a:r>
            <a:r>
              <a:rPr lang="en-IE" sz="2400" b="1" dirty="0" err="1"/>
              <a:t>fileIn</a:t>
            </a:r>
            <a:r>
              <a:rPr lang="en-IE" sz="2400" b="1" dirty="0"/>
              <a:t> = new </a:t>
            </a:r>
            <a:r>
              <a:rPr lang="en-IE" sz="2400" b="1" dirty="0" err="1">
                <a:solidFill>
                  <a:schemeClr val="tx2"/>
                </a:solidFill>
              </a:rPr>
              <a:t>FileInputStream</a:t>
            </a:r>
            <a:r>
              <a:rPr lang="en-IE" sz="2400" b="1" dirty="0"/>
              <a:t>("</a:t>
            </a:r>
            <a:r>
              <a:rPr lang="en-IE" sz="2400" b="1" dirty="0" smtClean="0"/>
              <a:t>in.txt"); </a:t>
            </a:r>
            <a:r>
              <a:rPr lang="en-IE" sz="2400" b="1" dirty="0" err="1">
                <a:solidFill>
                  <a:schemeClr val="tx2"/>
                </a:solidFill>
              </a:rPr>
              <a:t>BufferedInputStream</a:t>
            </a:r>
            <a:r>
              <a:rPr lang="en-IE" sz="2400" b="1" dirty="0">
                <a:solidFill>
                  <a:schemeClr val="tx2"/>
                </a:solidFill>
              </a:rPr>
              <a:t> </a:t>
            </a:r>
            <a:r>
              <a:rPr lang="en-IE" sz="2400" b="1" dirty="0" err="1"/>
              <a:t>bufferIn</a:t>
            </a:r>
            <a:r>
              <a:rPr lang="en-IE" sz="2400" b="1" dirty="0"/>
              <a:t> = new </a:t>
            </a:r>
            <a:r>
              <a:rPr lang="en-IE" sz="2400" b="1" dirty="0" err="1" smtClean="0">
                <a:solidFill>
                  <a:schemeClr val="tx2"/>
                </a:solidFill>
              </a:rPr>
              <a:t>BufferedInputStream</a:t>
            </a:r>
            <a:r>
              <a:rPr lang="en-IE" sz="2400" b="1" dirty="0" smtClean="0">
                <a:solidFill>
                  <a:schemeClr val="tx2"/>
                </a:solidFill>
              </a:rPr>
              <a:t> </a:t>
            </a:r>
            <a:r>
              <a:rPr lang="en-IE" sz="2400" b="1" dirty="0" smtClean="0"/>
              <a:t>(</a:t>
            </a:r>
            <a:r>
              <a:rPr lang="en-IE" sz="2400" b="1" dirty="0" err="1"/>
              <a:t>fileIn</a:t>
            </a:r>
            <a:r>
              <a:rPr lang="en-IE" sz="2400" b="1" dirty="0"/>
              <a:t>); </a:t>
            </a:r>
            <a:endParaRPr lang="en-IE" sz="2400" b="1" dirty="0" smtClean="0"/>
          </a:p>
          <a:p>
            <a:pPr marL="0" indent="0">
              <a:buNone/>
            </a:pPr>
            <a:r>
              <a:rPr lang="en-IE" sz="2400" b="1" dirty="0" err="1" smtClean="0">
                <a:solidFill>
                  <a:schemeClr val="tx2"/>
                </a:solidFill>
              </a:rPr>
              <a:t>DataInputStream</a:t>
            </a:r>
            <a:r>
              <a:rPr lang="en-IE" sz="2400" b="1" dirty="0" smtClean="0">
                <a:solidFill>
                  <a:schemeClr val="tx2"/>
                </a:solidFill>
              </a:rPr>
              <a:t> </a:t>
            </a:r>
            <a:r>
              <a:rPr lang="en-IE" sz="2400" b="1" dirty="0" err="1"/>
              <a:t>dataIn</a:t>
            </a:r>
            <a:r>
              <a:rPr lang="en-IE" sz="2400" b="1" dirty="0"/>
              <a:t> = new </a:t>
            </a:r>
            <a:r>
              <a:rPr lang="en-IE" sz="2400" b="1" dirty="0" err="1" smtClean="0">
                <a:solidFill>
                  <a:schemeClr val="tx2"/>
                </a:solidFill>
              </a:rPr>
              <a:t>DataInputStream</a:t>
            </a:r>
            <a:r>
              <a:rPr lang="en-IE" sz="2400" b="1" dirty="0" smtClean="0">
                <a:solidFill>
                  <a:schemeClr val="tx2"/>
                </a:solidFill>
              </a:rPr>
              <a:t> </a:t>
            </a:r>
            <a:r>
              <a:rPr lang="en-IE" sz="2400" b="1" dirty="0" smtClean="0"/>
              <a:t>(</a:t>
            </a:r>
            <a:r>
              <a:rPr lang="en-IE" sz="2400" b="1" dirty="0" err="1"/>
              <a:t>bufferIn</a:t>
            </a:r>
            <a:r>
              <a:rPr lang="en-IE" sz="2400" b="1" dirty="0"/>
              <a:t>); </a:t>
            </a:r>
            <a:endParaRPr lang="en-IE" sz="2400" b="1" dirty="0" smtClean="0"/>
          </a:p>
          <a:p>
            <a:pPr marL="0" indent="0">
              <a:buNone/>
            </a:pPr>
            <a:r>
              <a:rPr lang="en-IE" sz="2400" b="1" dirty="0" smtClean="0"/>
              <a:t>// </a:t>
            </a:r>
            <a:r>
              <a:rPr lang="en-IE" sz="2400" b="1" dirty="0"/>
              <a:t>or </a:t>
            </a:r>
            <a:endParaRPr lang="en-IE" sz="2400" b="1" dirty="0" smtClean="0"/>
          </a:p>
          <a:p>
            <a:pPr marL="0" indent="0">
              <a:buNone/>
            </a:pPr>
            <a:r>
              <a:rPr lang="en-IE" sz="2400" b="1" dirty="0" err="1" smtClean="0">
                <a:solidFill>
                  <a:schemeClr val="tx2"/>
                </a:solidFill>
              </a:rPr>
              <a:t>DataInputStream</a:t>
            </a:r>
            <a:r>
              <a:rPr lang="en-IE" sz="2400" b="1" dirty="0" smtClean="0">
                <a:solidFill>
                  <a:schemeClr val="tx2"/>
                </a:solidFill>
              </a:rPr>
              <a:t> </a:t>
            </a:r>
            <a:r>
              <a:rPr lang="en-IE" sz="2400" b="1" dirty="0"/>
              <a:t>in = new </a:t>
            </a:r>
            <a:r>
              <a:rPr lang="en-IE" sz="2400" b="1" dirty="0" err="1" smtClean="0">
                <a:solidFill>
                  <a:schemeClr val="tx2"/>
                </a:solidFill>
              </a:rPr>
              <a:t>DataInputStream</a:t>
            </a:r>
            <a:r>
              <a:rPr lang="en-IE" sz="2400" b="1" dirty="0" smtClean="0">
                <a:solidFill>
                  <a:schemeClr val="tx2"/>
                </a:solidFill>
              </a:rPr>
              <a:t> </a:t>
            </a:r>
            <a:r>
              <a:rPr lang="en-IE" sz="2400" b="1" dirty="0" smtClean="0"/>
              <a:t>( </a:t>
            </a:r>
            <a:r>
              <a:rPr lang="en-IE" sz="2400" b="1" dirty="0"/>
              <a:t>new </a:t>
            </a:r>
            <a:r>
              <a:rPr lang="en-IE" sz="2400" b="1" dirty="0" err="1" smtClean="0">
                <a:solidFill>
                  <a:schemeClr val="tx2"/>
                </a:solidFill>
              </a:rPr>
              <a:t>BufferedInputStream</a:t>
            </a:r>
            <a:r>
              <a:rPr lang="en-IE" sz="2400" b="1" dirty="0" smtClean="0">
                <a:solidFill>
                  <a:schemeClr val="tx2"/>
                </a:solidFill>
              </a:rPr>
              <a:t> </a:t>
            </a:r>
            <a:r>
              <a:rPr lang="en-IE" sz="2400" b="1" dirty="0" smtClean="0"/>
              <a:t>( </a:t>
            </a:r>
            <a:r>
              <a:rPr lang="en-IE" sz="2400" b="1" dirty="0"/>
              <a:t>new </a:t>
            </a:r>
            <a:r>
              <a:rPr lang="en-IE" sz="2400" b="1" dirty="0" err="1" smtClean="0">
                <a:solidFill>
                  <a:schemeClr val="tx2"/>
                </a:solidFill>
              </a:rPr>
              <a:t>FileInputStream</a:t>
            </a:r>
            <a:r>
              <a:rPr lang="en-IE" sz="2400" b="1" dirty="0" smtClean="0">
                <a:solidFill>
                  <a:schemeClr val="tx2"/>
                </a:solidFill>
              </a:rPr>
              <a:t> </a:t>
            </a:r>
            <a:r>
              <a:rPr lang="en-IE" sz="2400" b="1" dirty="0" smtClean="0"/>
              <a:t>("</a:t>
            </a:r>
            <a:r>
              <a:rPr lang="en-IE" sz="2400" b="1" dirty="0"/>
              <a:t>in.dat")));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Buffered IO 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59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763000" cy="685800"/>
          </a:xfrm>
        </p:spPr>
        <p:txBody>
          <a:bodyPr/>
          <a:lstStyle/>
          <a:p>
            <a:r>
              <a:rPr lang="en-US" sz="2800"/>
              <a:t>Ex Read from String with BufferedInputStream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90500" y="762000"/>
            <a:ext cx="8705850" cy="5632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pPr marL="109537" indent="0">
              <a:buNone/>
            </a:pPr>
            <a:r>
              <a:rPr lang="en-US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java.io.BufferedInputStream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109537" indent="0">
              <a:buNone/>
            </a:pPr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BuffInput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109537" indent="0">
              <a:buNone/>
            </a:pPr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109537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i="1" dirty="0">
                <a:solidFill>
                  <a:srgbClr val="2A00FF"/>
                </a:solidFill>
                <a:latin typeface="Consolas"/>
              </a:rPr>
              <a:t>"Enter a line:"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109537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BufferedInputStream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bi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BufferedInputStream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(System.</a:t>
            </a:r>
            <a:r>
              <a:rPr lang="en-US" b="1" i="1" dirty="0">
                <a:solidFill>
                  <a:srgbClr val="0000C0"/>
                </a:solidFill>
                <a:latin typeface="Consolas"/>
              </a:rPr>
              <a:t>in</a:t>
            </a:r>
            <a:r>
              <a:rPr lang="en-US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109537" indent="0">
              <a:buNone/>
            </a:pPr>
            <a:r>
              <a:rPr lang="en-US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109537" indent="0">
              <a:buNone/>
            </a:pPr>
            <a:r>
              <a:rPr lang="en-US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=0;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&lt;=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bi.available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();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++ ){</a:t>
            </a:r>
          </a:p>
          <a:p>
            <a:pPr marL="109537" indent="0">
              <a:buNone/>
            </a:pPr>
            <a:r>
              <a:rPr lang="en-US" b="1" dirty="0">
                <a:solidFill>
                  <a:srgbClr val="7F0055"/>
                </a:solidFill>
                <a:latin typeface="Consolas"/>
              </a:rPr>
              <a:t>	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x =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bi.read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((</a:t>
            </a:r>
            <a:r>
              <a:rPr lang="en-US" b="1" i="1" dirty="0">
                <a:solidFill>
                  <a:srgbClr val="7F0055"/>
                </a:solidFill>
                <a:latin typeface="Consolas"/>
              </a:rPr>
              <a:t>char</a:t>
            </a:r>
            <a:r>
              <a:rPr lang="en-US" b="1" i="1" dirty="0">
                <a:solidFill>
                  <a:srgbClr val="000000"/>
                </a:solidFill>
                <a:latin typeface="Consolas"/>
              </a:rPr>
              <a:t>)x + </a:t>
            </a:r>
            <a:r>
              <a:rPr lang="en-US" b="1" i="1" dirty="0">
                <a:solidFill>
                  <a:srgbClr val="2A00FF"/>
                </a:solidFill>
                <a:latin typeface="Consolas"/>
              </a:rPr>
              <a:t>" "</a:t>
            </a:r>
            <a:r>
              <a:rPr lang="en-US" b="1" i="1" dirty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	}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(Exception e) {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e.printStackTrace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		}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	}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109537" indent="0">
              <a:buNone/>
            </a:pPr>
            <a:endParaRPr lang="en-U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32966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en-US"/>
              <a:t>For faster reading you should use BufferedInputStream to wrap any InputStream</a:t>
            </a:r>
          </a:p>
          <a:p>
            <a:pPr marL="109537" indent="0">
              <a:buNone/>
            </a:pPr>
            <a:r>
              <a:rPr lang="en-US"/>
              <a:t>Ex, </a:t>
            </a:r>
          </a:p>
          <a:p>
            <a:pPr marL="109537" indent="0">
              <a:buNone/>
            </a:pPr>
            <a:r>
              <a:rPr lang="en-US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FileInputStream fis =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FileInputStream(aFile);</a:t>
            </a:r>
            <a:br>
              <a:rPr lang="en-US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BufferedInputStream bis =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BufferedInputStream (fis);</a:t>
            </a:r>
          </a:p>
          <a:p>
            <a:pPr marL="109537" indent="0">
              <a:buNone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BufferedInputStream</a:t>
            </a:r>
          </a:p>
        </p:txBody>
      </p:sp>
    </p:spTree>
    <p:extLst>
      <p:ext uri="{BB962C8B-B14F-4D97-AF65-F5344CB8AC3E}">
        <p14:creationId xmlns:p14="http://schemas.microsoft.com/office/powerpoint/2010/main" val="157695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6725" y="-152400"/>
            <a:ext cx="8229600" cy="1143000"/>
          </a:xfrm>
        </p:spPr>
        <p:txBody>
          <a:bodyPr/>
          <a:lstStyle/>
          <a:p>
            <a:r>
              <a:rPr lang="en-US" sz="2800" dirty="0"/>
              <a:t>Ex, Read from file with </a:t>
            </a:r>
            <a:r>
              <a:rPr lang="en-US" sz="2800" dirty="0" err="1"/>
              <a:t>BufferedInputStream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z="900" smtClean="0"/>
              <a:pPr>
                <a:defRPr/>
              </a:pPr>
              <a:t>15</a:t>
            </a:fld>
            <a:endParaRPr lang="en-US" sz="900"/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19050" y="900291"/>
            <a:ext cx="9124950" cy="60016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pPr marL="109537" indent="0">
              <a:buNone/>
            </a:pPr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BuffInput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109537" indent="0">
              <a:buNone/>
            </a:pPr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Exception {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[] buffer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[1024];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BufferedInputStream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bi =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BufferedInputStream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					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/>
              </a:rPr>
              <a:t>"b.txt"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bytesRead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pPr marL="107950" indent="577850">
              <a:buNone/>
            </a:pPr>
            <a:r>
              <a:rPr lang="en-US" b="1" dirty="0">
                <a:solidFill>
                  <a:srgbClr val="7F0055"/>
                </a:solidFill>
                <a:latin typeface="Consolas"/>
              </a:rPr>
              <a:t>while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((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bytesRead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bi.read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(buffer)) != -1)</a:t>
            </a:r>
          </a:p>
          <a:p>
            <a:pPr marL="109537" indent="0">
              <a:buNone/>
            </a:pPr>
            <a:r>
              <a:rPr lang="en-US" b="1" dirty="0">
                <a:solidFill>
                  <a:srgbClr val="000000"/>
                </a:solidFill>
                <a:latin typeface="Consolas"/>
              </a:rPr>
              <a:t>	{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 String chunk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String(buffer, 0,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bytesRead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(chunk);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  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	}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bi.close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51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6725" y="0"/>
            <a:ext cx="8229600" cy="609600"/>
          </a:xfrm>
        </p:spPr>
        <p:txBody>
          <a:bodyPr/>
          <a:lstStyle/>
          <a:p>
            <a:r>
              <a:rPr lang="en-US" sz="2800" dirty="0" smtClean="0"/>
              <a:t>File Copy Without Buffer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z="900" smtClean="0"/>
              <a:pPr>
                <a:defRPr/>
              </a:pPr>
              <a:t>16</a:t>
            </a:fld>
            <a:endParaRPr lang="en-US" sz="900"/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19050" y="613112"/>
            <a:ext cx="9124950" cy="59708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String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inFileStr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dirty="0">
                <a:solidFill>
                  <a:srgbClr val="2A00FF"/>
                </a:solidFill>
                <a:latin typeface="Consolas"/>
              </a:rPr>
              <a:t>"ncp.jpg"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String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outFileStr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dirty="0">
                <a:solidFill>
                  <a:srgbClr val="2A00FF"/>
                </a:solidFill>
                <a:latin typeface="Consolas"/>
              </a:rPr>
              <a:t>"ncp-out.jpg"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long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startTime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elapsedTime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;  </a:t>
            </a:r>
            <a:r>
              <a:rPr lang="en-IE" sz="1600" b="1" dirty="0">
                <a:solidFill>
                  <a:srgbClr val="3F7F5F"/>
                </a:solidFill>
                <a:latin typeface="Consolas"/>
              </a:rPr>
              <a:t>// for speed benchmarking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1600" dirty="0">
                <a:solidFill>
                  <a:srgbClr val="3F7F5F"/>
                </a:solidFill>
                <a:latin typeface="Consolas"/>
              </a:rPr>
              <a:t>// Check file length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File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fileIn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File(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inFileStr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6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"File size is 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600" b="1" i="1" dirty="0" err="1">
                <a:solidFill>
                  <a:srgbClr val="6A3E3E"/>
                </a:solidFill>
                <a:latin typeface="Consolas"/>
              </a:rPr>
              <a:t>fileIn</a:t>
            </a:r>
            <a:r>
              <a:rPr lang="en-IE" sz="1600" b="1" i="1" dirty="0" err="1">
                <a:solidFill>
                  <a:srgbClr val="000000"/>
                </a:solidFill>
                <a:latin typeface="Consolas"/>
              </a:rPr>
              <a:t>.length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() + 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 bytes"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1600" dirty="0">
                <a:solidFill>
                  <a:srgbClr val="3F7F5F"/>
                </a:solidFill>
                <a:latin typeface="Consolas"/>
              </a:rPr>
              <a:t>// "try-with-resources" automatically closes all opened resources.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 =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inFileStr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);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out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outFileStr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)) {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startTime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i="1" dirty="0" err="1">
                <a:solidFill>
                  <a:srgbClr val="000000"/>
                </a:solidFill>
                <a:latin typeface="Consolas"/>
              </a:rPr>
              <a:t>nanoTime</a:t>
            </a:r>
            <a:r>
              <a:rPr lang="en-IE" sz="1600" i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byteRead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dirty="0">
                <a:solidFill>
                  <a:srgbClr val="3F7F5F"/>
                </a:solidFill>
                <a:latin typeface="Consolas"/>
              </a:rPr>
              <a:t>// Read a raw byte, returns an </a:t>
            </a:r>
            <a:r>
              <a:rPr lang="en-IE" sz="1600" u="sng" dirty="0" err="1">
                <a:solidFill>
                  <a:srgbClr val="3F7F5F"/>
                </a:solidFill>
                <a:latin typeface="Consolas"/>
              </a:rPr>
              <a:t>int</a:t>
            </a:r>
            <a:r>
              <a:rPr lang="en-IE" sz="1600" u="sng" dirty="0">
                <a:solidFill>
                  <a:srgbClr val="3F7F5F"/>
                </a:solidFill>
                <a:latin typeface="Consolas"/>
              </a:rPr>
              <a:t> of 0 to 255.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while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((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byteRead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.read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()) != -1) {</a:t>
            </a:r>
          </a:p>
          <a:p>
            <a:r>
              <a:rPr lang="en-IE" sz="1600" dirty="0" smtClean="0">
                <a:solidFill>
                  <a:srgbClr val="6A3E3E"/>
                </a:solidFill>
                <a:latin typeface="Consolas"/>
              </a:rPr>
              <a:t>		</a:t>
            </a:r>
            <a:r>
              <a:rPr lang="en-IE" sz="1600" dirty="0" err="1" smtClean="0">
                <a:solidFill>
                  <a:srgbClr val="6A3E3E"/>
                </a:solidFill>
                <a:latin typeface="Consolas"/>
              </a:rPr>
              <a:t>out</a:t>
            </a:r>
            <a:r>
              <a:rPr lang="en-IE" sz="1600" dirty="0" err="1" smtClean="0">
                <a:solidFill>
                  <a:srgbClr val="000000"/>
                </a:solidFill>
                <a:latin typeface="Consolas"/>
              </a:rPr>
              <a:t>.write</a:t>
            </a:r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dirty="0" err="1" smtClean="0">
                <a:solidFill>
                  <a:srgbClr val="6A3E3E"/>
                </a:solidFill>
                <a:latin typeface="Consolas"/>
              </a:rPr>
              <a:t>byteRead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}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elapsedTime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i="1" dirty="0" err="1">
                <a:solidFill>
                  <a:srgbClr val="000000"/>
                </a:solidFill>
                <a:latin typeface="Consolas"/>
              </a:rPr>
              <a:t>nanoTime</a:t>
            </a:r>
            <a:r>
              <a:rPr lang="en-IE" sz="1600" i="1" dirty="0">
                <a:solidFill>
                  <a:srgbClr val="000000"/>
                </a:solidFill>
                <a:latin typeface="Consolas"/>
              </a:rPr>
              <a:t>() - </a:t>
            </a:r>
            <a:r>
              <a:rPr lang="en-IE" sz="1600" i="1" dirty="0" err="1">
                <a:solidFill>
                  <a:srgbClr val="6A3E3E"/>
                </a:solidFill>
                <a:latin typeface="Consolas"/>
              </a:rPr>
              <a:t>startTime</a:t>
            </a:r>
            <a:r>
              <a:rPr lang="en-IE" sz="1600" i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6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"Elapsed Time is 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(</a:t>
            </a:r>
            <a:r>
              <a:rPr lang="en-IE" sz="1600" b="1" i="1" dirty="0" err="1">
                <a:solidFill>
                  <a:srgbClr val="6A3E3E"/>
                </a:solidFill>
                <a:latin typeface="Consolas"/>
              </a:rPr>
              <a:t>elapsedTime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/ 1000000.0) + 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 </a:t>
            </a:r>
            <a:r>
              <a:rPr lang="en-IE" sz="1600" b="1" i="1" dirty="0" err="1">
                <a:solidFill>
                  <a:srgbClr val="2A00FF"/>
                </a:solidFill>
                <a:latin typeface="Consolas"/>
              </a:rPr>
              <a:t>msec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}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.printStackTrace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5225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6725" y="0"/>
            <a:ext cx="8229600" cy="609600"/>
          </a:xfrm>
        </p:spPr>
        <p:txBody>
          <a:bodyPr/>
          <a:lstStyle/>
          <a:p>
            <a:r>
              <a:rPr lang="en-US" sz="2800" dirty="0" smtClean="0"/>
              <a:t>File Copy With Buffered Stream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z="900" smtClean="0"/>
              <a:pPr>
                <a:defRPr/>
              </a:pPr>
              <a:t>17</a:t>
            </a:fld>
            <a:endParaRPr lang="en-US" sz="900"/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19050" y="720832"/>
            <a:ext cx="9124950" cy="57554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en-IE" sz="16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String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inFileStr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dirty="0">
                <a:solidFill>
                  <a:srgbClr val="2A00FF"/>
                </a:solidFill>
                <a:latin typeface="Consolas"/>
              </a:rPr>
              <a:t>"ncp.jpg"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String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outFileStr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dirty="0">
                <a:solidFill>
                  <a:srgbClr val="2A00FF"/>
                </a:solidFill>
                <a:latin typeface="Consolas"/>
              </a:rPr>
              <a:t>"ncp-out.jpg"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long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startTime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elapsedTime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;  </a:t>
            </a:r>
            <a:r>
              <a:rPr lang="en-IE" sz="1600" b="1" dirty="0">
                <a:solidFill>
                  <a:srgbClr val="3F7F5F"/>
                </a:solidFill>
                <a:latin typeface="Consolas"/>
              </a:rPr>
              <a:t>// for speed benchmarking</a:t>
            </a: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1600" dirty="0">
                <a:solidFill>
                  <a:srgbClr val="3F7F5F"/>
                </a:solidFill>
                <a:latin typeface="Consolas"/>
              </a:rPr>
              <a:t>// Check file length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File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fileIn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File(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inFileStr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6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"File size is 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600" b="1" i="1" dirty="0" err="1">
                <a:solidFill>
                  <a:srgbClr val="6A3E3E"/>
                </a:solidFill>
                <a:latin typeface="Consolas"/>
              </a:rPr>
              <a:t>fileIn</a:t>
            </a:r>
            <a:r>
              <a:rPr lang="en-IE" sz="1600" b="1" i="1" dirty="0" err="1">
                <a:solidFill>
                  <a:srgbClr val="000000"/>
                </a:solidFill>
                <a:latin typeface="Consolas"/>
              </a:rPr>
              <a:t>.length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() + 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 bytes"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    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BufferedInputStream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BufferedInputStream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1600" b="1" dirty="0" err="1" smtClean="0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dirty="0" err="1" smtClean="0">
                <a:solidFill>
                  <a:srgbClr val="6A3E3E"/>
                </a:solidFill>
                <a:latin typeface="Consolas"/>
              </a:rPr>
              <a:t>inFileStr</a:t>
            </a:r>
            <a:r>
              <a:rPr lang="en-IE" sz="1600" b="1" dirty="0" smtClean="0">
                <a:solidFill>
                  <a:srgbClr val="000000"/>
                </a:solidFill>
                <a:latin typeface="Consolas"/>
              </a:rPr>
              <a:t>)); </a:t>
            </a:r>
            <a:r>
              <a:rPr lang="en-IE" sz="1600" dirty="0" err="1" smtClean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BufferedOutputStream</a:t>
            </a:r>
            <a:r>
              <a:rPr lang="en-IE" sz="1600" dirty="0" smtClean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 </a:t>
            </a:r>
            <a:r>
              <a:rPr lang="en-IE" sz="1600" dirty="0">
                <a:solidFill>
                  <a:srgbClr val="6A3E3E"/>
                </a:solidFill>
                <a:highlight>
                  <a:srgbClr val="D4D4D4"/>
                </a:highlight>
                <a:latin typeface="Consolas"/>
              </a:rPr>
              <a:t>out</a:t>
            </a:r>
            <a:r>
              <a:rPr lang="en-IE" sz="1600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 = </a:t>
            </a:r>
            <a:r>
              <a:rPr lang="en-IE" sz="1600" b="1" dirty="0">
                <a:solidFill>
                  <a:srgbClr val="7F0055"/>
                </a:solidFill>
                <a:highlight>
                  <a:srgbClr val="D4D4D4"/>
                </a:highlight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 </a:t>
            </a:r>
            <a:r>
              <a:rPr lang="en-IE" sz="1600" b="1" dirty="0" smtClean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	</a:t>
            </a:r>
            <a:r>
              <a:rPr lang="en-IE" sz="1600" b="1" dirty="0" err="1" smtClean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BufferedOutputStream</a:t>
            </a:r>
            <a:r>
              <a:rPr lang="en-IE" sz="1600" b="1" dirty="0" smtClean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(</a:t>
            </a:r>
            <a:r>
              <a:rPr lang="en-IE" sz="1600" b="1" dirty="0" smtClean="0">
                <a:solidFill>
                  <a:srgbClr val="7F0055"/>
                </a:solidFill>
                <a:highlight>
                  <a:srgbClr val="D4D4D4"/>
                </a:highlight>
                <a:latin typeface="Consolas"/>
              </a:rPr>
              <a:t>new</a:t>
            </a:r>
            <a:r>
              <a:rPr lang="en-IE" sz="1600" b="1" dirty="0" smtClean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FileOutputStream</a:t>
            </a:r>
            <a:r>
              <a:rPr lang="en-IE" sz="1600" b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(</a:t>
            </a:r>
            <a:r>
              <a:rPr lang="en-IE" sz="1600" b="1" dirty="0" err="1">
                <a:solidFill>
                  <a:srgbClr val="6A3E3E"/>
                </a:solidFill>
                <a:highlight>
                  <a:srgbClr val="D4D4D4"/>
                </a:highlight>
                <a:latin typeface="Consolas"/>
              </a:rPr>
              <a:t>outFileStr</a:t>
            </a:r>
            <a:r>
              <a:rPr lang="en-IE" sz="1600" b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))) {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startTime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i="1" dirty="0" err="1">
                <a:solidFill>
                  <a:srgbClr val="000000"/>
                </a:solidFill>
                <a:latin typeface="Consolas"/>
              </a:rPr>
              <a:t>nanoTime</a:t>
            </a:r>
            <a:r>
              <a:rPr lang="en-IE" sz="1600" i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byteRead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dirty="0" smtClean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while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((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byteRead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.read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()) != -1) {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out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.write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byteRead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}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elapsedTime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i="1" dirty="0" err="1">
                <a:solidFill>
                  <a:srgbClr val="000000"/>
                </a:solidFill>
                <a:latin typeface="Consolas"/>
              </a:rPr>
              <a:t>nanoTime</a:t>
            </a:r>
            <a:r>
              <a:rPr lang="en-IE" sz="1600" i="1" dirty="0">
                <a:solidFill>
                  <a:srgbClr val="000000"/>
                </a:solidFill>
                <a:latin typeface="Consolas"/>
              </a:rPr>
              <a:t>() - </a:t>
            </a:r>
            <a:r>
              <a:rPr lang="en-IE" sz="1600" i="1" dirty="0" err="1">
                <a:solidFill>
                  <a:srgbClr val="6A3E3E"/>
                </a:solidFill>
                <a:latin typeface="Consolas"/>
              </a:rPr>
              <a:t>startTime</a:t>
            </a:r>
            <a:r>
              <a:rPr lang="en-IE" sz="1600" i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6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"Elapsed Time is 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(</a:t>
            </a:r>
            <a:r>
              <a:rPr lang="en-IE" sz="1600" b="1" i="1" dirty="0" err="1">
                <a:solidFill>
                  <a:srgbClr val="6A3E3E"/>
                </a:solidFill>
                <a:latin typeface="Consolas"/>
              </a:rPr>
              <a:t>elapsedTime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/ 1000000.0) + 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 </a:t>
            </a:r>
            <a:r>
              <a:rPr lang="en-IE" sz="1600" b="1" i="1" dirty="0" err="1">
                <a:solidFill>
                  <a:srgbClr val="2A00FF"/>
                </a:solidFill>
                <a:latin typeface="Consolas"/>
              </a:rPr>
              <a:t>msec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}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IE" sz="1600" dirty="0" err="1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.printStackTrace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}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1807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838201"/>
            <a:ext cx="9144000" cy="2819399"/>
          </a:xfrm>
        </p:spPr>
        <p:txBody>
          <a:bodyPr>
            <a:normAutofit fontScale="77500" lnSpcReduction="20000"/>
          </a:bodyPr>
          <a:lstStyle/>
          <a:p>
            <a:r>
              <a:rPr lang="en-IE" dirty="0">
                <a:solidFill>
                  <a:srgbClr val="000000"/>
                </a:solidFill>
                <a:latin typeface="Segoe UI"/>
              </a:rPr>
              <a:t>The </a:t>
            </a:r>
            <a:r>
              <a:rPr lang="en-IE" dirty="0" err="1">
                <a:solidFill>
                  <a:srgbClr val="000000"/>
                </a:solidFill>
                <a:latin typeface="Segoe UI"/>
              </a:rPr>
              <a:t>DataInputStream</a:t>
            </a:r>
            <a:r>
              <a:rPr lang="en-IE" dirty="0">
                <a:solidFill>
                  <a:srgbClr val="000000"/>
                </a:solidFill>
                <a:latin typeface="Segoe UI"/>
              </a:rPr>
              <a:t> and </a:t>
            </a:r>
            <a:r>
              <a:rPr lang="en-IE" dirty="0" err="1">
                <a:solidFill>
                  <a:srgbClr val="000000"/>
                </a:solidFill>
                <a:latin typeface="Segoe UI"/>
              </a:rPr>
              <a:t>DataOutputStream</a:t>
            </a:r>
            <a:r>
              <a:rPr lang="en-IE" dirty="0">
                <a:solidFill>
                  <a:srgbClr val="000000"/>
                </a:solidFill>
                <a:latin typeface="Segoe UI"/>
              </a:rPr>
              <a:t> can be stacked on top of </a:t>
            </a:r>
            <a:r>
              <a:rPr lang="en-IE" dirty="0" smtClean="0">
                <a:solidFill>
                  <a:srgbClr val="000000"/>
                </a:solidFill>
                <a:latin typeface="Segoe UI"/>
              </a:rPr>
              <a:t>any</a:t>
            </a:r>
            <a:r>
              <a:rPr lang="en-IE" dirty="0">
                <a:solidFill>
                  <a:srgbClr val="000000"/>
                </a:solidFill>
                <a:latin typeface="Segoe UI"/>
              </a:rPr>
              <a:t> </a:t>
            </a:r>
            <a:r>
              <a:rPr lang="en-IE" dirty="0" err="1">
                <a:solidFill>
                  <a:srgbClr val="000000"/>
                </a:solidFill>
                <a:latin typeface="Segoe UI"/>
              </a:rPr>
              <a:t>InputStream</a:t>
            </a:r>
            <a:r>
              <a:rPr lang="en-IE" dirty="0">
                <a:solidFill>
                  <a:srgbClr val="000000"/>
                </a:solidFill>
                <a:latin typeface="Segoe UI"/>
              </a:rPr>
              <a:t> and </a:t>
            </a:r>
            <a:r>
              <a:rPr lang="en-IE" dirty="0" err="1">
                <a:solidFill>
                  <a:srgbClr val="000000"/>
                </a:solidFill>
                <a:latin typeface="Segoe UI"/>
              </a:rPr>
              <a:t>OutputStream</a:t>
            </a:r>
            <a:r>
              <a:rPr lang="en-IE" dirty="0">
                <a:solidFill>
                  <a:srgbClr val="000000"/>
                </a:solidFill>
                <a:latin typeface="Segoe UI"/>
              </a:rPr>
              <a:t> to parse the raw bytes so as to perform I/O operations in the desired data format, such as </a:t>
            </a:r>
            <a:r>
              <a:rPr lang="en-IE" dirty="0" err="1">
                <a:solidFill>
                  <a:srgbClr val="000000"/>
                </a:solidFill>
                <a:latin typeface="Segoe UI"/>
              </a:rPr>
              <a:t>int</a:t>
            </a:r>
            <a:r>
              <a:rPr lang="en-IE" dirty="0">
                <a:solidFill>
                  <a:srgbClr val="000000"/>
                </a:solidFill>
                <a:latin typeface="Segoe UI"/>
              </a:rPr>
              <a:t> and double.</a:t>
            </a:r>
          </a:p>
          <a:p>
            <a:r>
              <a:rPr lang="en-IE" dirty="0">
                <a:solidFill>
                  <a:srgbClr val="000000"/>
                </a:solidFill>
                <a:latin typeface="Segoe UI"/>
              </a:rPr>
              <a:t>To use </a:t>
            </a:r>
            <a:r>
              <a:rPr lang="en-IE" dirty="0" err="1">
                <a:solidFill>
                  <a:srgbClr val="000000"/>
                </a:solidFill>
                <a:latin typeface="Segoe UI"/>
              </a:rPr>
              <a:t>DataInputStream</a:t>
            </a:r>
            <a:r>
              <a:rPr lang="en-IE" dirty="0">
                <a:solidFill>
                  <a:srgbClr val="000000"/>
                </a:solidFill>
                <a:latin typeface="Segoe UI"/>
              </a:rPr>
              <a:t> for formatted input, you can chain up the input streams as follows:</a:t>
            </a:r>
          </a:p>
          <a:p>
            <a:r>
              <a:rPr lang="en-IE" dirty="0" err="1"/>
              <a:t>DataInputStream</a:t>
            </a:r>
            <a:r>
              <a:rPr lang="en-IE" dirty="0"/>
              <a:t> in = new </a:t>
            </a:r>
            <a:r>
              <a:rPr lang="en-IE" dirty="0" err="1"/>
              <a:t>DataInputStream</a:t>
            </a:r>
            <a:r>
              <a:rPr lang="en-IE" dirty="0"/>
              <a:t>( new </a:t>
            </a:r>
            <a:r>
              <a:rPr lang="en-IE" dirty="0" err="1"/>
              <a:t>BufferedInputStream</a:t>
            </a:r>
            <a:r>
              <a:rPr lang="en-IE" dirty="0"/>
              <a:t>( new </a:t>
            </a:r>
            <a:r>
              <a:rPr lang="en-IE" dirty="0" err="1"/>
              <a:t>FileInputStream</a:t>
            </a:r>
            <a:r>
              <a:rPr lang="en-IE" dirty="0"/>
              <a:t>("</a:t>
            </a:r>
            <a:r>
              <a:rPr lang="en-IE" dirty="0" smtClean="0"/>
              <a:t>in.txt")));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dirty="0" smtClean="0"/>
              <a:t>Data IO Stream</a:t>
            </a:r>
            <a:endParaRPr lang="en-US" dirty="0"/>
          </a:p>
        </p:txBody>
      </p:sp>
      <p:pic>
        <p:nvPicPr>
          <p:cNvPr id="28674" name="Picture 2" descr="Image result for character vs byte stre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642360"/>
            <a:ext cx="4610100" cy="308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1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172200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en-IE" dirty="0" err="1">
                <a:solidFill>
                  <a:srgbClr val="000000"/>
                </a:solidFill>
                <a:latin typeface="Segoe UI"/>
              </a:rPr>
              <a:t>DataInputStream</a:t>
            </a:r>
            <a:r>
              <a:rPr lang="en-IE" dirty="0">
                <a:solidFill>
                  <a:srgbClr val="000000"/>
                </a:solidFill>
                <a:latin typeface="Segoe UI"/>
              </a:rPr>
              <a:t> implements </a:t>
            </a:r>
            <a:r>
              <a:rPr lang="en-IE" dirty="0" err="1">
                <a:solidFill>
                  <a:srgbClr val="000000"/>
                </a:solidFill>
                <a:latin typeface="Segoe UI"/>
              </a:rPr>
              <a:t>DataInput</a:t>
            </a:r>
            <a:r>
              <a:rPr lang="en-IE" dirty="0">
                <a:solidFill>
                  <a:srgbClr val="000000"/>
                </a:solidFill>
                <a:latin typeface="Segoe UI"/>
              </a:rPr>
              <a:t> interface, which provides methods to read formatted primitive data and String, such as:</a:t>
            </a:r>
          </a:p>
          <a:p>
            <a:pPr marL="0" indent="0">
              <a:buNone/>
            </a:pPr>
            <a:r>
              <a:rPr lang="en-IE" sz="3600" b="1" dirty="0" smtClean="0">
                <a:solidFill>
                  <a:srgbClr val="009900"/>
                </a:solidFill>
              </a:rPr>
              <a:t>// </a:t>
            </a:r>
            <a:r>
              <a:rPr lang="en-IE" sz="3600" b="1" dirty="0">
                <a:solidFill>
                  <a:srgbClr val="009900"/>
                </a:solidFill>
              </a:rPr>
              <a:t>8 Primitives</a:t>
            </a:r>
            <a:r>
              <a:rPr lang="en-IE" sz="3600" b="1" dirty="0"/>
              <a:t>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</a:t>
            </a:r>
            <a:r>
              <a:rPr lang="en-IE" sz="3600" b="1" dirty="0" err="1"/>
              <a:t>int</a:t>
            </a:r>
            <a:r>
              <a:rPr lang="en-IE" sz="3600" b="1" dirty="0"/>
              <a:t> </a:t>
            </a:r>
            <a:r>
              <a:rPr lang="en-IE" sz="3600" b="1" dirty="0" err="1"/>
              <a:t>readInt</a:t>
            </a:r>
            <a:r>
              <a:rPr lang="en-IE" sz="3600" b="1" dirty="0"/>
              <a:t>() throws </a:t>
            </a:r>
            <a:r>
              <a:rPr lang="en-IE" sz="3600" b="1" dirty="0" err="1"/>
              <a:t>IOExcpetion</a:t>
            </a:r>
            <a:r>
              <a:rPr lang="en-IE" sz="3600" b="1" dirty="0"/>
              <a:t>; </a:t>
            </a:r>
            <a:r>
              <a:rPr lang="en-IE" sz="3600" b="1" dirty="0">
                <a:solidFill>
                  <a:srgbClr val="009900"/>
                </a:solidFill>
              </a:rPr>
              <a:t>// Read 4 bytes and convert into </a:t>
            </a:r>
            <a:r>
              <a:rPr lang="en-IE" sz="3600" b="1" dirty="0" err="1">
                <a:solidFill>
                  <a:srgbClr val="009900"/>
                </a:solidFill>
              </a:rPr>
              <a:t>int</a:t>
            </a:r>
            <a:r>
              <a:rPr lang="en-IE" sz="3600" b="1" dirty="0"/>
              <a:t>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double </a:t>
            </a:r>
            <a:r>
              <a:rPr lang="en-IE" sz="3600" b="1" dirty="0" err="1"/>
              <a:t>readDoube</a:t>
            </a:r>
            <a:r>
              <a:rPr lang="en-IE" sz="3600" b="1" dirty="0"/>
              <a:t>() throws </a:t>
            </a:r>
            <a:r>
              <a:rPr lang="en-IE" sz="3600" b="1" dirty="0" err="1"/>
              <a:t>IOExcpetion</a:t>
            </a:r>
            <a:r>
              <a:rPr lang="en-IE" sz="3600" b="1" dirty="0"/>
              <a:t>; </a:t>
            </a:r>
            <a:r>
              <a:rPr lang="en-IE" sz="3600" b="1" dirty="0">
                <a:solidFill>
                  <a:srgbClr val="009900"/>
                </a:solidFill>
              </a:rPr>
              <a:t>// Read 8 bytes and convert into double</a:t>
            </a:r>
            <a:r>
              <a:rPr lang="en-IE" sz="3600" b="1" dirty="0"/>
              <a:t>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byte </a:t>
            </a:r>
            <a:r>
              <a:rPr lang="en-IE" sz="3600" b="1" dirty="0" err="1"/>
              <a:t>readByte</a:t>
            </a:r>
            <a:r>
              <a:rPr lang="en-IE" sz="3600" b="1" dirty="0"/>
              <a:t>() throws </a:t>
            </a:r>
            <a:r>
              <a:rPr lang="en-IE" sz="3600" b="1" dirty="0" err="1"/>
              <a:t>IOExcpetion</a:t>
            </a:r>
            <a:r>
              <a:rPr lang="en-IE" sz="3600" b="1" dirty="0"/>
              <a:t>;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char </a:t>
            </a:r>
            <a:r>
              <a:rPr lang="en-IE" sz="3600" b="1" dirty="0" err="1"/>
              <a:t>readChar</a:t>
            </a:r>
            <a:r>
              <a:rPr lang="en-IE" sz="3600" b="1" dirty="0"/>
              <a:t>() throws </a:t>
            </a:r>
            <a:r>
              <a:rPr lang="en-IE" sz="3600" b="1" dirty="0" err="1"/>
              <a:t>IOExcpetion</a:t>
            </a:r>
            <a:r>
              <a:rPr lang="en-IE" sz="3600" b="1" dirty="0"/>
              <a:t>;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short </a:t>
            </a:r>
            <a:r>
              <a:rPr lang="en-IE" sz="3600" b="1" dirty="0" err="1"/>
              <a:t>readShort</a:t>
            </a:r>
            <a:r>
              <a:rPr lang="en-IE" sz="3600" b="1" dirty="0"/>
              <a:t>() throws </a:t>
            </a:r>
            <a:r>
              <a:rPr lang="en-IE" sz="3600" b="1" dirty="0" err="1"/>
              <a:t>IOExcpetion</a:t>
            </a:r>
            <a:r>
              <a:rPr lang="en-IE" sz="3600" b="1" dirty="0"/>
              <a:t>;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long </a:t>
            </a:r>
            <a:r>
              <a:rPr lang="en-IE" sz="3600" b="1" dirty="0" err="1"/>
              <a:t>readLong</a:t>
            </a:r>
            <a:r>
              <a:rPr lang="en-IE" sz="3600" b="1" dirty="0"/>
              <a:t>() throws </a:t>
            </a:r>
            <a:r>
              <a:rPr lang="en-IE" sz="3600" b="1" dirty="0" err="1"/>
              <a:t>IOExcpetion</a:t>
            </a:r>
            <a:r>
              <a:rPr lang="en-IE" sz="3600" b="1" dirty="0"/>
              <a:t>;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</a:t>
            </a:r>
            <a:r>
              <a:rPr lang="en-IE" sz="3600" b="1" dirty="0" err="1"/>
              <a:t>boolean</a:t>
            </a:r>
            <a:r>
              <a:rPr lang="en-IE" sz="3600" b="1" dirty="0"/>
              <a:t> </a:t>
            </a:r>
            <a:r>
              <a:rPr lang="en-IE" sz="3600" b="1" dirty="0" err="1"/>
              <a:t>readBoolean</a:t>
            </a:r>
            <a:r>
              <a:rPr lang="en-IE" sz="3600" b="1" dirty="0"/>
              <a:t>() throws </a:t>
            </a:r>
            <a:r>
              <a:rPr lang="en-IE" sz="3600" b="1" dirty="0" err="1"/>
              <a:t>IOExcpetion</a:t>
            </a:r>
            <a:r>
              <a:rPr lang="en-IE" sz="3600" b="1" dirty="0"/>
              <a:t>; </a:t>
            </a:r>
            <a:r>
              <a:rPr lang="en-IE" sz="3600" b="1" dirty="0">
                <a:solidFill>
                  <a:srgbClr val="009900"/>
                </a:solidFill>
              </a:rPr>
              <a:t>// Read 1 byte. Convert to false if zero</a:t>
            </a:r>
            <a:r>
              <a:rPr lang="en-IE" sz="3600" b="1" dirty="0"/>
              <a:t>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float </a:t>
            </a:r>
            <a:r>
              <a:rPr lang="en-IE" sz="3600" b="1" dirty="0" err="1"/>
              <a:t>readFloat</a:t>
            </a:r>
            <a:r>
              <a:rPr lang="en-IE" sz="3600" b="1" dirty="0"/>
              <a:t>() throws </a:t>
            </a:r>
            <a:r>
              <a:rPr lang="en-IE" sz="3600" b="1" dirty="0" err="1"/>
              <a:t>IOExcpetion</a:t>
            </a:r>
            <a:r>
              <a:rPr lang="en-IE" sz="3600" b="1" dirty="0"/>
              <a:t>;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</a:t>
            </a:r>
            <a:r>
              <a:rPr lang="en-IE" sz="3600" b="1" dirty="0" err="1"/>
              <a:t>int</a:t>
            </a:r>
            <a:r>
              <a:rPr lang="en-IE" sz="3600" b="1" dirty="0"/>
              <a:t> </a:t>
            </a:r>
            <a:r>
              <a:rPr lang="en-IE" sz="3600" b="1" dirty="0" err="1"/>
              <a:t>readUnsignedByte</a:t>
            </a:r>
            <a:r>
              <a:rPr lang="en-IE" sz="3600" b="1" dirty="0"/>
              <a:t>() throws </a:t>
            </a:r>
            <a:r>
              <a:rPr lang="en-IE" sz="3600" b="1" dirty="0" err="1"/>
              <a:t>IOExcpetion</a:t>
            </a:r>
            <a:r>
              <a:rPr lang="en-IE" sz="3600" b="1" dirty="0"/>
              <a:t>; </a:t>
            </a:r>
            <a:r>
              <a:rPr lang="en-IE" sz="3600" b="1" dirty="0">
                <a:solidFill>
                  <a:srgbClr val="009900"/>
                </a:solidFill>
              </a:rPr>
              <a:t>// Read 1 byte in [0, 255] </a:t>
            </a:r>
            <a:r>
              <a:rPr lang="en-IE" sz="3600" b="1" dirty="0" err="1">
                <a:solidFill>
                  <a:srgbClr val="009900"/>
                </a:solidFill>
              </a:rPr>
              <a:t>upcast</a:t>
            </a:r>
            <a:r>
              <a:rPr lang="en-IE" sz="3600" b="1" dirty="0">
                <a:solidFill>
                  <a:srgbClr val="009900"/>
                </a:solidFill>
              </a:rPr>
              <a:t> to </a:t>
            </a:r>
            <a:r>
              <a:rPr lang="en-IE" sz="3600" b="1" dirty="0" err="1">
                <a:solidFill>
                  <a:srgbClr val="009900"/>
                </a:solidFill>
              </a:rPr>
              <a:t>int</a:t>
            </a:r>
            <a:r>
              <a:rPr lang="en-IE" sz="3600" b="1" dirty="0"/>
              <a:t>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</a:t>
            </a:r>
            <a:r>
              <a:rPr lang="en-IE" sz="3600" b="1" dirty="0" err="1"/>
              <a:t>int</a:t>
            </a:r>
            <a:r>
              <a:rPr lang="en-IE" sz="3600" b="1" dirty="0"/>
              <a:t> </a:t>
            </a:r>
            <a:r>
              <a:rPr lang="en-IE" sz="3600" b="1" dirty="0" err="1"/>
              <a:t>readUnsignedShort</a:t>
            </a:r>
            <a:r>
              <a:rPr lang="en-IE" sz="3600" b="1" dirty="0"/>
              <a:t>() throws </a:t>
            </a:r>
            <a:r>
              <a:rPr lang="en-IE" sz="3600" b="1" dirty="0" err="1"/>
              <a:t>IOExcpetion</a:t>
            </a:r>
            <a:r>
              <a:rPr lang="en-IE" sz="3600" b="1" dirty="0"/>
              <a:t>; </a:t>
            </a:r>
            <a:r>
              <a:rPr lang="en-IE" sz="3600" b="1" dirty="0">
                <a:solidFill>
                  <a:srgbClr val="009900"/>
                </a:solidFill>
              </a:rPr>
              <a:t>// Read 2 bytes in [0, 65535], same as char, </a:t>
            </a:r>
            <a:r>
              <a:rPr lang="en-IE" sz="3600" b="1" dirty="0" err="1">
                <a:solidFill>
                  <a:srgbClr val="009900"/>
                </a:solidFill>
              </a:rPr>
              <a:t>upcast</a:t>
            </a:r>
            <a:r>
              <a:rPr lang="en-IE" sz="3600" b="1" dirty="0">
                <a:solidFill>
                  <a:srgbClr val="009900"/>
                </a:solidFill>
              </a:rPr>
              <a:t> to </a:t>
            </a:r>
            <a:r>
              <a:rPr lang="en-IE" sz="3600" b="1" dirty="0" err="1">
                <a:solidFill>
                  <a:srgbClr val="009900"/>
                </a:solidFill>
              </a:rPr>
              <a:t>int</a:t>
            </a:r>
            <a:r>
              <a:rPr lang="en-IE" sz="3600" b="1" dirty="0"/>
              <a:t>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void </a:t>
            </a:r>
            <a:r>
              <a:rPr lang="en-IE" sz="3600" b="1" dirty="0" err="1"/>
              <a:t>readFully</a:t>
            </a:r>
            <a:r>
              <a:rPr lang="en-IE" sz="3600" b="1" dirty="0"/>
              <a:t>(byte[] </a:t>
            </a:r>
            <a:r>
              <a:rPr lang="en-IE" sz="3600" b="1" i="1" dirty="0"/>
              <a:t>b</a:t>
            </a:r>
            <a:r>
              <a:rPr lang="en-IE" sz="3600" b="1" dirty="0"/>
              <a:t>, </a:t>
            </a:r>
            <a:r>
              <a:rPr lang="en-IE" sz="3600" b="1" dirty="0" err="1"/>
              <a:t>int</a:t>
            </a:r>
            <a:r>
              <a:rPr lang="en-IE" sz="3600" b="1" dirty="0"/>
              <a:t> </a:t>
            </a:r>
            <a:r>
              <a:rPr lang="en-IE" sz="3600" b="1" i="1" dirty="0"/>
              <a:t>off</a:t>
            </a:r>
            <a:r>
              <a:rPr lang="en-IE" sz="3600" b="1" dirty="0"/>
              <a:t>, </a:t>
            </a:r>
            <a:r>
              <a:rPr lang="en-IE" sz="3600" b="1" dirty="0" err="1"/>
              <a:t>int</a:t>
            </a:r>
            <a:r>
              <a:rPr lang="en-IE" sz="3600" b="1" dirty="0"/>
              <a:t> </a:t>
            </a:r>
            <a:r>
              <a:rPr lang="en-IE" sz="3600" b="1" i="1" dirty="0" err="1"/>
              <a:t>len</a:t>
            </a:r>
            <a:r>
              <a:rPr lang="en-IE" sz="3600" b="1" dirty="0"/>
              <a:t>) throws </a:t>
            </a:r>
            <a:r>
              <a:rPr lang="en-IE" sz="3600" b="1" dirty="0" err="1"/>
              <a:t>IOException</a:t>
            </a:r>
            <a:r>
              <a:rPr lang="en-IE" sz="3600" b="1" dirty="0"/>
              <a:t>;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void </a:t>
            </a:r>
            <a:r>
              <a:rPr lang="en-IE" sz="3600" b="1" dirty="0" err="1"/>
              <a:t>readFully</a:t>
            </a:r>
            <a:r>
              <a:rPr lang="en-IE" sz="3600" b="1" dirty="0"/>
              <a:t>(byte[] </a:t>
            </a:r>
            <a:r>
              <a:rPr lang="en-IE" sz="3600" b="1" i="1" dirty="0"/>
              <a:t>b</a:t>
            </a:r>
            <a:r>
              <a:rPr lang="en-IE" sz="3600" b="1" dirty="0"/>
              <a:t>) throws </a:t>
            </a:r>
            <a:r>
              <a:rPr lang="en-IE" sz="3600" b="1" dirty="0" err="1"/>
              <a:t>IOException</a:t>
            </a:r>
            <a:r>
              <a:rPr lang="en-IE" sz="3600" b="1" dirty="0"/>
              <a:t>;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>
                <a:solidFill>
                  <a:srgbClr val="009900"/>
                </a:solidFill>
              </a:rPr>
              <a:t>// </a:t>
            </a:r>
            <a:r>
              <a:rPr lang="en-IE" sz="3600" b="1" dirty="0">
                <a:solidFill>
                  <a:srgbClr val="009900"/>
                </a:solidFill>
              </a:rPr>
              <a:t>Strings</a:t>
            </a:r>
            <a:r>
              <a:rPr lang="en-IE" sz="3600" b="1" dirty="0"/>
              <a:t>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String </a:t>
            </a:r>
            <a:r>
              <a:rPr lang="en-IE" sz="3600" b="1" dirty="0" err="1"/>
              <a:t>readLine</a:t>
            </a:r>
            <a:r>
              <a:rPr lang="en-IE" sz="3600" b="1" dirty="0"/>
              <a:t>() throws </a:t>
            </a:r>
            <a:r>
              <a:rPr lang="en-IE" sz="3600" b="1" dirty="0" err="1"/>
              <a:t>IOException</a:t>
            </a:r>
            <a:r>
              <a:rPr lang="en-IE" sz="3600" b="1" dirty="0"/>
              <a:t>; </a:t>
            </a:r>
            <a:r>
              <a:rPr lang="en-IE" sz="3600" b="1" dirty="0">
                <a:solidFill>
                  <a:srgbClr val="009900"/>
                </a:solidFill>
              </a:rPr>
              <a:t>// Read a line (until newline), convert each byte into a char - no </a:t>
            </a:r>
            <a:r>
              <a:rPr lang="en-IE" sz="3600" b="1" dirty="0" err="1">
                <a:solidFill>
                  <a:srgbClr val="009900"/>
                </a:solidFill>
              </a:rPr>
              <a:t>unicode</a:t>
            </a:r>
            <a:r>
              <a:rPr lang="en-IE" sz="3600" b="1" dirty="0">
                <a:solidFill>
                  <a:srgbClr val="009900"/>
                </a:solidFill>
              </a:rPr>
              <a:t> support.</a:t>
            </a:r>
            <a:r>
              <a:rPr lang="en-IE" sz="3600" b="1" dirty="0"/>
              <a:t>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String </a:t>
            </a:r>
            <a:r>
              <a:rPr lang="en-IE" sz="3600" b="1" dirty="0" err="1"/>
              <a:t>readUTF</a:t>
            </a:r>
            <a:r>
              <a:rPr lang="en-IE" sz="3600" b="1" dirty="0"/>
              <a:t>() throws </a:t>
            </a:r>
            <a:r>
              <a:rPr lang="en-IE" sz="3600" b="1" dirty="0" err="1"/>
              <a:t>IOException</a:t>
            </a:r>
            <a:r>
              <a:rPr lang="en-IE" sz="3600" b="1" dirty="0"/>
              <a:t>; </a:t>
            </a:r>
            <a:r>
              <a:rPr lang="en-IE" sz="3600" b="1" dirty="0">
                <a:solidFill>
                  <a:srgbClr val="009900"/>
                </a:solidFill>
              </a:rPr>
              <a:t>// read a UTF-encoded string with first two bytes indicating its UTF bytes length</a:t>
            </a:r>
            <a:r>
              <a:rPr lang="en-IE" sz="3600" b="1" dirty="0"/>
              <a:t> </a:t>
            </a:r>
            <a:endParaRPr lang="en-IE" sz="3600" b="1" dirty="0" smtClean="0"/>
          </a:p>
          <a:p>
            <a:pPr marL="0" indent="0">
              <a:buNone/>
            </a:pPr>
            <a:r>
              <a:rPr lang="en-IE" sz="3600" b="1" dirty="0" smtClean="0"/>
              <a:t>public </a:t>
            </a:r>
            <a:r>
              <a:rPr lang="en-IE" sz="3600" b="1" dirty="0"/>
              <a:t>final </a:t>
            </a:r>
            <a:r>
              <a:rPr lang="en-IE" sz="3600" b="1" dirty="0" err="1"/>
              <a:t>int</a:t>
            </a:r>
            <a:r>
              <a:rPr lang="en-IE" sz="3600" b="1" dirty="0"/>
              <a:t> </a:t>
            </a:r>
            <a:r>
              <a:rPr lang="en-IE" sz="3600" b="1" dirty="0" err="1"/>
              <a:t>skipBytes</a:t>
            </a:r>
            <a:r>
              <a:rPr lang="en-IE" sz="3600" b="1" dirty="0"/>
              <a:t>(</a:t>
            </a:r>
            <a:r>
              <a:rPr lang="en-IE" sz="3600" b="1" dirty="0" err="1"/>
              <a:t>int</a:t>
            </a:r>
            <a:r>
              <a:rPr lang="en-IE" sz="3600" b="1" dirty="0"/>
              <a:t> n) </a:t>
            </a:r>
            <a:r>
              <a:rPr lang="en-IE" sz="3600" b="1" dirty="0">
                <a:solidFill>
                  <a:srgbClr val="009900"/>
                </a:solidFill>
              </a:rPr>
              <a:t>// Skip a number of bytes</a:t>
            </a:r>
            <a:endParaRPr lang="en-US" sz="36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DataInputStream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35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172200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en-IE" dirty="0" err="1" smtClean="0">
                <a:solidFill>
                  <a:srgbClr val="000000"/>
                </a:solidFill>
                <a:latin typeface="Segoe UI"/>
              </a:rPr>
              <a:t>DataOutputStream</a:t>
            </a:r>
            <a:r>
              <a:rPr lang="en-IE" dirty="0">
                <a:solidFill>
                  <a:srgbClr val="000000"/>
                </a:solidFill>
                <a:latin typeface="Segoe UI"/>
              </a:rPr>
              <a:t> implements </a:t>
            </a:r>
            <a:r>
              <a:rPr lang="en-IE" dirty="0" err="1">
                <a:solidFill>
                  <a:srgbClr val="000000"/>
                </a:solidFill>
                <a:latin typeface="Segoe UI"/>
              </a:rPr>
              <a:t>DataInput</a:t>
            </a:r>
            <a:r>
              <a:rPr lang="en-IE" dirty="0">
                <a:solidFill>
                  <a:srgbClr val="000000"/>
                </a:solidFill>
                <a:latin typeface="Segoe UI"/>
              </a:rPr>
              <a:t> interface, which provides methods to write formatted primitive data and String</a:t>
            </a:r>
            <a:r>
              <a:rPr lang="en-IE" dirty="0" smtClean="0">
                <a:solidFill>
                  <a:srgbClr val="000000"/>
                </a:solidFill>
                <a:latin typeface="Segoe UI"/>
              </a:rPr>
              <a:t>.</a:t>
            </a:r>
          </a:p>
          <a:p>
            <a:pPr marL="0" indent="0" algn="just">
              <a:buNone/>
            </a:pPr>
            <a:r>
              <a:rPr lang="en-IE" sz="3500" b="1" dirty="0">
                <a:solidFill>
                  <a:srgbClr val="009900"/>
                </a:solidFill>
              </a:rPr>
              <a:t>// 8 primitive types</a:t>
            </a:r>
            <a:r>
              <a:rPr lang="en-IE" sz="3500" b="1" dirty="0"/>
              <a:t>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</a:t>
            </a:r>
            <a:r>
              <a:rPr lang="en-IE" sz="3500" b="1" dirty="0" err="1"/>
              <a:t>writeInt</a:t>
            </a:r>
            <a:r>
              <a:rPr lang="en-IE" sz="3500" b="1" dirty="0"/>
              <a:t>(</a:t>
            </a:r>
            <a:r>
              <a:rPr lang="en-IE" sz="3500" b="1" dirty="0" err="1"/>
              <a:t>int</a:t>
            </a:r>
            <a:r>
              <a:rPr lang="en-IE" sz="3500" b="1" dirty="0"/>
              <a:t> </a:t>
            </a:r>
            <a:r>
              <a:rPr lang="en-IE" sz="3500" b="1" i="1" dirty="0" err="1"/>
              <a:t>i</a:t>
            </a:r>
            <a:r>
              <a:rPr lang="en-IE" sz="3500" b="1" dirty="0"/>
              <a:t>) throws </a:t>
            </a:r>
            <a:r>
              <a:rPr lang="en-IE" sz="3500" b="1" dirty="0" err="1"/>
              <a:t>IOExcpetion</a:t>
            </a:r>
            <a:r>
              <a:rPr lang="en-IE" sz="3500" b="1" dirty="0"/>
              <a:t>; </a:t>
            </a:r>
            <a:r>
              <a:rPr lang="en-IE" sz="3500" b="1" dirty="0">
                <a:solidFill>
                  <a:srgbClr val="009900"/>
                </a:solidFill>
              </a:rPr>
              <a:t>// Write the </a:t>
            </a:r>
            <a:r>
              <a:rPr lang="en-IE" sz="3500" b="1" dirty="0" err="1">
                <a:solidFill>
                  <a:srgbClr val="009900"/>
                </a:solidFill>
              </a:rPr>
              <a:t>int</a:t>
            </a:r>
            <a:r>
              <a:rPr lang="en-IE" sz="3500" b="1" dirty="0">
                <a:solidFill>
                  <a:srgbClr val="009900"/>
                </a:solidFill>
              </a:rPr>
              <a:t> as 4 bytes</a:t>
            </a:r>
            <a:r>
              <a:rPr lang="en-IE" sz="3500" b="1" dirty="0"/>
              <a:t>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</a:t>
            </a:r>
            <a:r>
              <a:rPr lang="en-IE" sz="3500" b="1" dirty="0" err="1"/>
              <a:t>writeFloat</a:t>
            </a:r>
            <a:r>
              <a:rPr lang="en-IE" sz="3500" b="1" dirty="0"/>
              <a:t>(float </a:t>
            </a:r>
            <a:r>
              <a:rPr lang="en-IE" sz="3500" b="1" i="1" dirty="0"/>
              <a:t>f</a:t>
            </a:r>
            <a:r>
              <a:rPr lang="en-IE" sz="3500" b="1" dirty="0"/>
              <a:t>) throws </a:t>
            </a:r>
            <a:r>
              <a:rPr lang="en-IE" sz="3500" b="1" dirty="0" err="1"/>
              <a:t>IOExcpetion</a:t>
            </a:r>
            <a:r>
              <a:rPr lang="en-IE" sz="3500" b="1" dirty="0"/>
              <a:t>;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</a:t>
            </a:r>
            <a:r>
              <a:rPr lang="en-IE" sz="3500" b="1" dirty="0" err="1"/>
              <a:t>writeDoube</a:t>
            </a:r>
            <a:r>
              <a:rPr lang="en-IE" sz="3500" b="1" dirty="0"/>
              <a:t>(double </a:t>
            </a:r>
            <a:r>
              <a:rPr lang="en-IE" sz="3500" b="1" i="1" dirty="0"/>
              <a:t>d</a:t>
            </a:r>
            <a:r>
              <a:rPr lang="en-IE" sz="3500" b="1" dirty="0"/>
              <a:t>) throws </a:t>
            </a:r>
            <a:r>
              <a:rPr lang="en-IE" sz="3500" b="1" dirty="0" err="1"/>
              <a:t>IOExcpetion</a:t>
            </a:r>
            <a:r>
              <a:rPr lang="en-IE" sz="3500" b="1" dirty="0"/>
              <a:t>; </a:t>
            </a:r>
            <a:r>
              <a:rPr lang="en-IE" sz="3500" b="1" dirty="0">
                <a:solidFill>
                  <a:srgbClr val="009900"/>
                </a:solidFill>
              </a:rPr>
              <a:t>// Write the double as 8 bytes</a:t>
            </a:r>
            <a:r>
              <a:rPr lang="en-IE" sz="3500" b="1" dirty="0"/>
              <a:t>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</a:t>
            </a:r>
            <a:r>
              <a:rPr lang="en-IE" sz="3500" b="1" dirty="0" err="1"/>
              <a:t>writeByte</a:t>
            </a:r>
            <a:r>
              <a:rPr lang="en-IE" sz="3500" b="1" dirty="0"/>
              <a:t>(</a:t>
            </a:r>
            <a:r>
              <a:rPr lang="en-IE" sz="3500" b="1" dirty="0" err="1"/>
              <a:t>int</a:t>
            </a:r>
            <a:r>
              <a:rPr lang="en-IE" sz="3500" b="1" dirty="0"/>
              <a:t> </a:t>
            </a:r>
            <a:r>
              <a:rPr lang="en-IE" sz="3500" b="1" i="1" dirty="0"/>
              <a:t>b</a:t>
            </a:r>
            <a:r>
              <a:rPr lang="en-IE" sz="3500" b="1" dirty="0"/>
              <a:t>) throws </a:t>
            </a:r>
            <a:r>
              <a:rPr lang="en-IE" sz="3500" b="1" dirty="0" err="1"/>
              <a:t>IOExcpetion</a:t>
            </a:r>
            <a:r>
              <a:rPr lang="en-IE" sz="3500" b="1" dirty="0"/>
              <a:t>; </a:t>
            </a:r>
            <a:r>
              <a:rPr lang="en-IE" sz="3500" b="1" dirty="0">
                <a:solidFill>
                  <a:srgbClr val="009900"/>
                </a:solidFill>
              </a:rPr>
              <a:t>// least-significant byte</a:t>
            </a:r>
            <a:r>
              <a:rPr lang="en-IE" sz="3500" b="1" dirty="0"/>
              <a:t>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</a:t>
            </a:r>
            <a:r>
              <a:rPr lang="en-IE" sz="3500" b="1" dirty="0" err="1"/>
              <a:t>writeShort</a:t>
            </a:r>
            <a:r>
              <a:rPr lang="en-IE" sz="3500" b="1" dirty="0"/>
              <a:t>(</a:t>
            </a:r>
            <a:r>
              <a:rPr lang="en-IE" sz="3500" b="1" dirty="0" err="1"/>
              <a:t>int</a:t>
            </a:r>
            <a:r>
              <a:rPr lang="en-IE" sz="3500" b="1" dirty="0"/>
              <a:t> </a:t>
            </a:r>
            <a:r>
              <a:rPr lang="en-IE" sz="3500" b="1" i="1" dirty="0"/>
              <a:t>s</a:t>
            </a:r>
            <a:r>
              <a:rPr lang="en-IE" sz="3500" b="1" dirty="0"/>
              <a:t>) throws </a:t>
            </a:r>
            <a:r>
              <a:rPr lang="en-IE" sz="3500" b="1" dirty="0" err="1"/>
              <a:t>IOExcpetion</a:t>
            </a:r>
            <a:r>
              <a:rPr lang="en-IE" sz="3500" b="1" dirty="0"/>
              <a:t>; </a:t>
            </a:r>
            <a:r>
              <a:rPr lang="en-IE" sz="3500" b="1" dirty="0">
                <a:solidFill>
                  <a:srgbClr val="009900"/>
                </a:solidFill>
              </a:rPr>
              <a:t>// two lower bytes</a:t>
            </a:r>
            <a:r>
              <a:rPr lang="en-IE" sz="3500" b="1" dirty="0"/>
              <a:t>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</a:t>
            </a:r>
            <a:r>
              <a:rPr lang="en-IE" sz="3500" b="1" dirty="0" err="1"/>
              <a:t>writeLong</a:t>
            </a:r>
            <a:r>
              <a:rPr lang="en-IE" sz="3500" b="1" dirty="0"/>
              <a:t>(long </a:t>
            </a:r>
            <a:r>
              <a:rPr lang="en-IE" sz="3500" b="1" i="1" dirty="0"/>
              <a:t>l</a:t>
            </a:r>
            <a:r>
              <a:rPr lang="en-IE" sz="3500" b="1" dirty="0"/>
              <a:t>) throws </a:t>
            </a:r>
            <a:r>
              <a:rPr lang="en-IE" sz="3500" b="1" dirty="0" err="1"/>
              <a:t>IOExcpetion</a:t>
            </a:r>
            <a:r>
              <a:rPr lang="en-IE" sz="3500" b="1" dirty="0"/>
              <a:t>;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</a:t>
            </a:r>
            <a:r>
              <a:rPr lang="en-IE" sz="3500" b="1" dirty="0" err="1"/>
              <a:t>writeBoolean</a:t>
            </a:r>
            <a:r>
              <a:rPr lang="en-IE" sz="3500" b="1" dirty="0"/>
              <a:t>(</a:t>
            </a:r>
            <a:r>
              <a:rPr lang="en-IE" sz="3500" b="1" dirty="0" err="1"/>
              <a:t>boolean</a:t>
            </a:r>
            <a:r>
              <a:rPr lang="en-IE" sz="3500" b="1" dirty="0"/>
              <a:t> </a:t>
            </a:r>
            <a:r>
              <a:rPr lang="en-IE" sz="3500" b="1" i="1" dirty="0"/>
              <a:t>b</a:t>
            </a:r>
            <a:r>
              <a:rPr lang="en-IE" sz="3500" b="1" dirty="0"/>
              <a:t>) throws </a:t>
            </a:r>
            <a:r>
              <a:rPr lang="en-IE" sz="3500" b="1" dirty="0" err="1"/>
              <a:t>IOExcpetion</a:t>
            </a:r>
            <a:r>
              <a:rPr lang="en-IE" sz="3500" b="1" dirty="0"/>
              <a:t>;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</a:t>
            </a:r>
            <a:r>
              <a:rPr lang="en-IE" sz="3500" b="1" dirty="0" err="1"/>
              <a:t>writeChar</a:t>
            </a:r>
            <a:r>
              <a:rPr lang="en-IE" sz="3500" b="1" dirty="0"/>
              <a:t>(</a:t>
            </a:r>
            <a:r>
              <a:rPr lang="en-IE" sz="3500" b="1" dirty="0" err="1"/>
              <a:t>int</a:t>
            </a:r>
            <a:r>
              <a:rPr lang="en-IE" sz="3500" b="1" dirty="0"/>
              <a:t> </a:t>
            </a:r>
            <a:r>
              <a:rPr lang="en-IE" sz="3500" b="1" i="1" dirty="0" err="1"/>
              <a:t>i</a:t>
            </a:r>
            <a:r>
              <a:rPr lang="en-IE" sz="3500" b="1" dirty="0"/>
              <a:t>) throws </a:t>
            </a:r>
            <a:r>
              <a:rPr lang="en-IE" sz="3500" b="1" dirty="0" err="1"/>
              <a:t>IOExcpetion</a:t>
            </a:r>
            <a:r>
              <a:rPr lang="en-IE" sz="3500" b="1" dirty="0"/>
              <a:t>;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>
                <a:solidFill>
                  <a:srgbClr val="009900"/>
                </a:solidFill>
              </a:rPr>
              <a:t>// </a:t>
            </a:r>
            <a:r>
              <a:rPr lang="en-IE" sz="3500" b="1" dirty="0">
                <a:solidFill>
                  <a:srgbClr val="009900"/>
                </a:solidFill>
              </a:rPr>
              <a:t>String</a:t>
            </a:r>
            <a:r>
              <a:rPr lang="en-IE" sz="3500" b="1" dirty="0"/>
              <a:t>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</a:t>
            </a:r>
            <a:r>
              <a:rPr lang="en-IE" sz="3500" b="1" dirty="0" err="1"/>
              <a:t>writeBytes</a:t>
            </a:r>
            <a:r>
              <a:rPr lang="en-IE" sz="3500" b="1" dirty="0"/>
              <a:t>(String </a:t>
            </a:r>
            <a:r>
              <a:rPr lang="en-IE" sz="3500" b="1" i="1" dirty="0" err="1"/>
              <a:t>str</a:t>
            </a:r>
            <a:r>
              <a:rPr lang="en-IE" sz="3500" b="1" dirty="0"/>
              <a:t>) throws </a:t>
            </a:r>
            <a:r>
              <a:rPr lang="en-IE" sz="3500" b="1" dirty="0" err="1"/>
              <a:t>IOExcpetion</a:t>
            </a:r>
            <a:r>
              <a:rPr lang="en-IE" sz="3500" b="1" dirty="0"/>
              <a:t>; </a:t>
            </a:r>
            <a:r>
              <a:rPr lang="en-IE" sz="3500" b="1" dirty="0">
                <a:solidFill>
                  <a:srgbClr val="009900"/>
                </a:solidFill>
              </a:rPr>
              <a:t>// least-significant byte of each char</a:t>
            </a:r>
            <a:r>
              <a:rPr lang="en-IE" sz="3500" b="1" dirty="0"/>
              <a:t>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</a:t>
            </a:r>
            <a:r>
              <a:rPr lang="en-IE" sz="3500" b="1" dirty="0" err="1"/>
              <a:t>writeChars</a:t>
            </a:r>
            <a:r>
              <a:rPr lang="en-IE" sz="3500" b="1" dirty="0"/>
              <a:t>(String </a:t>
            </a:r>
            <a:r>
              <a:rPr lang="en-IE" sz="3500" b="1" i="1" dirty="0" err="1"/>
              <a:t>str</a:t>
            </a:r>
            <a:r>
              <a:rPr lang="en-IE" sz="3500" b="1" dirty="0"/>
              <a:t>) throws </a:t>
            </a:r>
            <a:r>
              <a:rPr lang="en-IE" sz="3500" b="1" dirty="0" err="1"/>
              <a:t>IOExcpetion</a:t>
            </a:r>
            <a:r>
              <a:rPr lang="en-IE" sz="3500" b="1" dirty="0"/>
              <a:t>; </a:t>
            </a:r>
            <a:r>
              <a:rPr lang="en-IE" sz="3500" b="1" dirty="0">
                <a:solidFill>
                  <a:srgbClr val="009900"/>
                </a:solidFill>
              </a:rPr>
              <a:t>// Write String as UCS-2 16-bit char, Big-endian (big byte first)</a:t>
            </a:r>
            <a:r>
              <a:rPr lang="en-IE" sz="3500" b="1" dirty="0"/>
              <a:t>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</a:t>
            </a:r>
            <a:r>
              <a:rPr lang="en-IE" sz="3500" b="1" dirty="0" err="1"/>
              <a:t>writeUTF</a:t>
            </a:r>
            <a:r>
              <a:rPr lang="en-IE" sz="3500" b="1" dirty="0"/>
              <a:t>(String </a:t>
            </a:r>
            <a:r>
              <a:rPr lang="en-IE" sz="3500" b="1" i="1" dirty="0" err="1"/>
              <a:t>str</a:t>
            </a:r>
            <a:r>
              <a:rPr lang="en-IE" sz="3500" b="1" dirty="0"/>
              <a:t>) throws </a:t>
            </a:r>
            <a:r>
              <a:rPr lang="en-IE" sz="3500" b="1" dirty="0" err="1"/>
              <a:t>IOException</a:t>
            </a:r>
            <a:r>
              <a:rPr lang="en-IE" sz="3500" b="1" dirty="0"/>
              <a:t>; </a:t>
            </a:r>
            <a:r>
              <a:rPr lang="en-IE" sz="3500" b="1" dirty="0">
                <a:solidFill>
                  <a:srgbClr val="009900"/>
                </a:solidFill>
              </a:rPr>
              <a:t>// Write String as UTF, with first two bytes indicating UTF bytes length</a:t>
            </a:r>
            <a:r>
              <a:rPr lang="en-IE" sz="3500" b="1" dirty="0"/>
              <a:t>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write(byte[] </a:t>
            </a:r>
            <a:r>
              <a:rPr lang="en-IE" sz="3500" b="1" i="1" dirty="0"/>
              <a:t>b</a:t>
            </a:r>
            <a:r>
              <a:rPr lang="en-IE" sz="3500" b="1" dirty="0"/>
              <a:t>, </a:t>
            </a:r>
            <a:r>
              <a:rPr lang="en-IE" sz="3500" b="1" dirty="0" err="1"/>
              <a:t>int</a:t>
            </a:r>
            <a:r>
              <a:rPr lang="en-IE" sz="3500" b="1" dirty="0"/>
              <a:t> </a:t>
            </a:r>
            <a:r>
              <a:rPr lang="en-IE" sz="3500" b="1" i="1" dirty="0"/>
              <a:t>off</a:t>
            </a:r>
            <a:r>
              <a:rPr lang="en-IE" sz="3500" b="1" dirty="0"/>
              <a:t>, </a:t>
            </a:r>
            <a:r>
              <a:rPr lang="en-IE" sz="3500" b="1" dirty="0" err="1"/>
              <a:t>int</a:t>
            </a:r>
            <a:r>
              <a:rPr lang="en-IE" sz="3500" b="1" dirty="0"/>
              <a:t> </a:t>
            </a:r>
            <a:r>
              <a:rPr lang="en-IE" sz="3500" b="1" i="1" dirty="0" err="1"/>
              <a:t>len</a:t>
            </a:r>
            <a:r>
              <a:rPr lang="en-IE" sz="3500" b="1" dirty="0"/>
              <a:t>) throws </a:t>
            </a:r>
            <a:r>
              <a:rPr lang="en-IE" sz="3500" b="1" dirty="0" err="1"/>
              <a:t>IOException</a:t>
            </a:r>
            <a:r>
              <a:rPr lang="en-IE" sz="3500" b="1" dirty="0"/>
              <a:t>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write(byte[] </a:t>
            </a:r>
            <a:r>
              <a:rPr lang="en-IE" sz="3500" b="1" i="1" dirty="0"/>
              <a:t>b</a:t>
            </a:r>
            <a:r>
              <a:rPr lang="en-IE" sz="3500" b="1" dirty="0"/>
              <a:t>) throws </a:t>
            </a:r>
            <a:r>
              <a:rPr lang="en-IE" sz="3500" b="1" dirty="0" err="1"/>
              <a:t>IOException</a:t>
            </a:r>
            <a:r>
              <a:rPr lang="en-IE" sz="3500" b="1" dirty="0"/>
              <a:t> </a:t>
            </a:r>
            <a:endParaRPr lang="en-IE" sz="3500" b="1" dirty="0" smtClean="0"/>
          </a:p>
          <a:p>
            <a:pPr marL="0" indent="0" algn="just">
              <a:buNone/>
            </a:pPr>
            <a:r>
              <a:rPr lang="en-IE" sz="3500" b="1" dirty="0" smtClean="0"/>
              <a:t>public </a:t>
            </a:r>
            <a:r>
              <a:rPr lang="en-IE" sz="3500" b="1" dirty="0"/>
              <a:t>final void write(</a:t>
            </a:r>
            <a:r>
              <a:rPr lang="en-IE" sz="3500" b="1" dirty="0" err="1"/>
              <a:t>int</a:t>
            </a:r>
            <a:r>
              <a:rPr lang="en-IE" sz="3500" b="1" dirty="0"/>
              <a:t> </a:t>
            </a:r>
            <a:r>
              <a:rPr lang="en-IE" sz="3500" b="1" i="1" dirty="0"/>
              <a:t>b</a:t>
            </a:r>
            <a:r>
              <a:rPr lang="en-IE" sz="3500" b="1" dirty="0"/>
              <a:t>) throws </a:t>
            </a:r>
            <a:r>
              <a:rPr lang="en-IE" sz="3500" b="1" dirty="0" err="1"/>
              <a:t>IOException</a:t>
            </a:r>
            <a:r>
              <a:rPr lang="en-IE" sz="3500" b="1" dirty="0"/>
              <a:t> </a:t>
            </a:r>
            <a:r>
              <a:rPr lang="en-IE" sz="3500" b="1" dirty="0">
                <a:solidFill>
                  <a:srgbClr val="009900"/>
                </a:solidFill>
              </a:rPr>
              <a:t>// Write the least-significant byte</a:t>
            </a:r>
            <a:endParaRPr lang="en-IE" sz="3500" b="1" dirty="0" smtClean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DataOutStream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07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50356"/>
            <a:ext cx="8610600" cy="635980"/>
          </a:xfrm>
        </p:spPr>
        <p:txBody>
          <a:bodyPr>
            <a:normAutofit fontScale="90000"/>
          </a:bodyPr>
          <a:lstStyle/>
          <a:p>
            <a:r>
              <a:rPr lang="en-US" sz="3600"/>
              <a:t>Ex, DataInput/OutputStream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47113" y="6396356"/>
            <a:ext cx="366712" cy="377508"/>
          </a:xfrm>
        </p:spPr>
        <p:txBody>
          <a:bodyPr/>
          <a:lstStyle/>
          <a:p>
            <a:pPr>
              <a:defRPr/>
            </a:pPr>
            <a:fld id="{6A0C02E4-D9FC-4360-BB34-4DE867F266A3}" type="slidenum">
              <a:rPr lang="en-US" sz="900" smtClean="0"/>
              <a:pPr>
                <a:defRPr/>
              </a:pPr>
              <a:t>21</a:t>
            </a:fld>
            <a:endParaRPr lang="en-US" sz="900"/>
          </a:p>
        </p:txBody>
      </p:sp>
      <p:sp>
        <p:nvSpPr>
          <p:cNvPr id="5" name="TextBox 4"/>
          <p:cNvSpPr txBox="1"/>
          <p:nvPr/>
        </p:nvSpPr>
        <p:spPr>
          <a:xfrm>
            <a:off x="0" y="686336"/>
            <a:ext cx="9144000" cy="6247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DataIOStream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Exception{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idA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= 1234;</a:t>
            </a:r>
          </a:p>
          <a:p>
            <a:r>
              <a:rPr lang="vi-VN" sz="2000" dirty="0">
                <a:solidFill>
                  <a:srgbClr val="000000"/>
                </a:solidFill>
                <a:latin typeface="Consolas"/>
              </a:rPr>
              <a:t>    String nameA = </a:t>
            </a:r>
            <a:r>
              <a:rPr lang="vi-VN" sz="2000" dirty="0" smtClean="0">
                <a:solidFill>
                  <a:srgbClr val="2A00FF"/>
                </a:solidFill>
                <a:latin typeface="Consolas"/>
              </a:rPr>
              <a:t>“</a:t>
            </a:r>
            <a:r>
              <a:rPr lang="en-US" sz="2000" dirty="0" smtClean="0">
                <a:solidFill>
                  <a:srgbClr val="2A00FF"/>
                </a:solidFill>
                <a:latin typeface="Consolas"/>
              </a:rPr>
              <a:t>Data  I/O Stream</a:t>
            </a:r>
            <a:r>
              <a:rPr lang="vi-VN" sz="2000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vi-VN" sz="20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vi-VN" sz="2000" dirty="0">
              <a:solidFill>
                <a:srgbClr val="000000"/>
              </a:solidFill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fos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dirty="0">
                <a:solidFill>
                  <a:srgbClr val="2A00FF"/>
                </a:solidFill>
                <a:latin typeface="Consolas"/>
              </a:rPr>
              <a:t>"cities.txt"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DataOutputStream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dos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DataOutputStream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fos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2000" dirty="0"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dos.writeInt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idA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dos.writeUTF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nameA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dos.close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endParaRPr lang="en-US" sz="2000" dirty="0"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fis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dirty="0">
                <a:solidFill>
                  <a:srgbClr val="2A00FF"/>
                </a:solidFill>
                <a:latin typeface="Consolas"/>
              </a:rPr>
              <a:t>"cities.txt"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DataInputStream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u="sng" dirty="0">
                <a:solidFill>
                  <a:srgbClr val="000000"/>
                </a:solidFill>
                <a:latin typeface="Consolas"/>
              </a:rPr>
              <a:t>dis = </a:t>
            </a:r>
            <a:r>
              <a:rPr lang="en-US" sz="2000" b="1" u="sng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u="sng" dirty="0" err="1">
                <a:solidFill>
                  <a:srgbClr val="000000"/>
                </a:solidFill>
                <a:latin typeface="Consolas"/>
              </a:rPr>
              <a:t>DataInputStream</a:t>
            </a:r>
            <a:r>
              <a:rPr lang="en-US" sz="2000" b="1" u="sng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u="sng" dirty="0" err="1">
                <a:solidFill>
                  <a:srgbClr val="000000"/>
                </a:solidFill>
                <a:latin typeface="Consolas"/>
              </a:rPr>
              <a:t>fis</a:t>
            </a:r>
            <a:r>
              <a:rPr lang="en-US" sz="2000" b="1" u="sng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2000" dirty="0"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Id =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dis.readInt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20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20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20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i="1" dirty="0">
                <a:solidFill>
                  <a:srgbClr val="2A00FF"/>
                </a:solidFill>
                <a:latin typeface="Consolas"/>
              </a:rPr>
              <a:t>"Id: "</a:t>
            </a:r>
            <a:r>
              <a:rPr lang="en-US" sz="2000" i="1" dirty="0">
                <a:solidFill>
                  <a:srgbClr val="000000"/>
                </a:solidFill>
                <a:latin typeface="Consolas"/>
              </a:rPr>
              <a:t> + Id);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String Name =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dis.readUTF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20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20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20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i="1" dirty="0">
                <a:solidFill>
                  <a:srgbClr val="2A00FF"/>
                </a:solidFill>
                <a:latin typeface="Consolas"/>
              </a:rPr>
              <a:t>"Name: "</a:t>
            </a:r>
            <a:r>
              <a:rPr lang="en-US" sz="2000" i="1" dirty="0">
                <a:solidFill>
                  <a:srgbClr val="000000"/>
                </a:solidFill>
                <a:latin typeface="Consolas"/>
              </a:rPr>
              <a:t> + Name);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 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453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50356"/>
            <a:ext cx="8610600" cy="63598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Example (Students)</a:t>
            </a:r>
            <a:endParaRPr lang="en-US" sz="3600" dirty="0"/>
          </a:p>
        </p:txBody>
      </p:sp>
      <p:sp>
        <p:nvSpPr>
          <p:cNvPr id="2" name="Rectangle 1"/>
          <p:cNvSpPr/>
          <p:nvPr/>
        </p:nvSpPr>
        <p:spPr>
          <a:xfrm>
            <a:off x="-38100" y="228898"/>
            <a:ext cx="9144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Student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private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sz="1600" b="1" dirty="0">
                <a:solidFill>
                  <a:srgbClr val="0000C0"/>
                </a:solidFill>
                <a:latin typeface="Courier New" panose="02070309020205020404" pitchFamily="49" charset="0"/>
              </a:rPr>
              <a:t>name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private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boolean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C0"/>
                </a:solidFill>
                <a:latin typeface="Courier New" panose="02070309020205020404" pitchFamily="49" charset="0"/>
              </a:rPr>
              <a:t>gender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private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C0"/>
                </a:solidFill>
                <a:latin typeface="Courier New" panose="02070309020205020404" pitchFamily="49" charset="0"/>
              </a:rPr>
              <a:t>age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private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float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C0"/>
                </a:solidFill>
                <a:latin typeface="Courier New" panose="02070309020205020404" pitchFamily="49" charset="0"/>
              </a:rPr>
              <a:t>grade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   public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Student(String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name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boolean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gender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age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float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grade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>
                <a:solidFill>
                  <a:srgbClr val="0000C0"/>
                </a:solidFill>
                <a:latin typeface="Courier New" panose="02070309020205020404" pitchFamily="49" charset="0"/>
              </a:rPr>
              <a:t>name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name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gender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gender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age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age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grade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grade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getName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() {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 smtClean="0">
                <a:solidFill>
                  <a:srgbClr val="0000C0"/>
                </a:solidFill>
                <a:latin typeface="Courier New" panose="02070309020205020404" pitchFamily="49" charset="0"/>
              </a:rPr>
              <a:t>name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setName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(String </a:t>
            </a:r>
            <a:r>
              <a:rPr lang="en-US" sz="1600" b="1" dirty="0" smtClean="0">
                <a:solidFill>
                  <a:srgbClr val="6A3E3E"/>
                </a:solidFill>
                <a:latin typeface="Courier New" panose="02070309020205020404" pitchFamily="49" charset="0"/>
              </a:rPr>
              <a:t>name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>
                <a:solidFill>
                  <a:srgbClr val="0000C0"/>
                </a:solidFill>
                <a:latin typeface="Courier New" panose="02070309020205020404" pitchFamily="49" charset="0"/>
              </a:rPr>
              <a:t>name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name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boolean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getGender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gender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setGender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boolean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gender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gender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gender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getAge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age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setAge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age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age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age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float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getGrade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grade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setGrade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float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grade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grade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grade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098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-152400"/>
            <a:ext cx="8610600" cy="63598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Example (Students)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0" y="463451"/>
            <a:ext cx="9144000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sz="15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java.util</a:t>
            </a:r>
            <a:r>
              <a:rPr lang="en-US" sz="15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.*;</a:t>
            </a:r>
            <a:r>
              <a:rPr lang="en-US" sz="15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sz="15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java.io.*;</a:t>
            </a:r>
          </a:p>
          <a:p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StudentRecordWriter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DataOutputStream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dataOutput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StudentRecordWriter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</a:t>
            </a:r>
            <a:r>
              <a:rPr lang="en-US" sz="15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outputFile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IOException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dataOutput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DataOutputStream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FileOutputStream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5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outputFile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write(Student </a:t>
            </a:r>
            <a:r>
              <a:rPr lang="en-US" sz="1500" b="1" dirty="0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IOException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dataOutput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.writeUTF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5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.getName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dataOutput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.writeBoolean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5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.getGender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dataOutput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.writeInt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5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.getAge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dataOutput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.writeFloat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5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.getGrade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save()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IOException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dataOutput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.close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sz="15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args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Exception{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List&lt;Student&gt; </a:t>
            </a:r>
            <a:r>
              <a:rPr lang="en-US" sz="1500" dirty="0" err="1">
                <a:solidFill>
                  <a:srgbClr val="6A3E3E"/>
                </a:solidFill>
                <a:highlight>
                  <a:srgbClr val="F0D8A8"/>
                </a:highlight>
                <a:latin typeface="Courier New" panose="02070309020205020404" pitchFamily="49" charset="0"/>
              </a:rPr>
              <a:t>listStudent</a:t>
            </a:r>
            <a:r>
              <a:rPr lang="en-US" sz="1500" dirty="0">
                <a:solidFill>
                  <a:srgbClr val="000000"/>
                </a:solidFill>
                <a:highlight>
                  <a:srgbClr val="F0D8A8"/>
                </a:highlight>
                <a:latin typeface="Courier New" panose="02070309020205020404" pitchFamily="49" charset="0"/>
              </a:rPr>
              <a:t> = </a:t>
            </a:r>
            <a:r>
              <a:rPr lang="en-US" sz="1500" b="1" dirty="0">
                <a:solidFill>
                  <a:srgbClr val="7F0055"/>
                </a:solidFill>
                <a:highlight>
                  <a:srgbClr val="F0D8A8"/>
                </a:highlight>
                <a:latin typeface="Courier New" panose="02070309020205020404" pitchFamily="49" charset="0"/>
              </a:rPr>
              <a:t>new</a:t>
            </a:r>
            <a:r>
              <a:rPr lang="en-US" sz="1500" b="1" dirty="0">
                <a:solidFill>
                  <a:srgbClr val="000000"/>
                </a:solidFill>
                <a:highlight>
                  <a:srgbClr val="F0D8A8"/>
                </a:highlight>
                <a:latin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highlight>
                  <a:srgbClr val="F0D8A8"/>
                </a:highlight>
                <a:latin typeface="Courier New" panose="02070309020205020404" pitchFamily="49" charset="0"/>
              </a:rPr>
              <a:t>ArrayList</a:t>
            </a:r>
            <a:r>
              <a:rPr lang="en-US" sz="1500" b="1" dirty="0">
                <a:solidFill>
                  <a:srgbClr val="000000"/>
                </a:solidFill>
                <a:highlight>
                  <a:srgbClr val="F0D8A8"/>
                </a:highlight>
                <a:latin typeface="Courier New" panose="02070309020205020404" pitchFamily="49" charset="0"/>
              </a:rPr>
              <a:t>&lt;&gt;();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dirty="0" err="1">
                <a:solidFill>
                  <a:srgbClr val="6A3E3E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listStudent</a:t>
            </a:r>
            <a:r>
              <a:rPr lang="en-US" sz="1500" dirty="0" err="1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.add</a:t>
            </a:r>
            <a:r>
              <a:rPr lang="en-US" sz="1500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(</a:t>
            </a:r>
            <a:r>
              <a:rPr lang="en-US" sz="1500" b="1" dirty="0">
                <a:solidFill>
                  <a:srgbClr val="7F0055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new</a:t>
            </a:r>
            <a:r>
              <a:rPr lang="en-US" sz="15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 Student(</a:t>
            </a:r>
            <a:r>
              <a:rPr lang="en-US" sz="1500" b="1" dirty="0">
                <a:solidFill>
                  <a:srgbClr val="2A00FF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"Alice"</a:t>
            </a:r>
            <a:r>
              <a:rPr lang="en-US" sz="15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, </a:t>
            </a:r>
            <a:r>
              <a:rPr lang="en-US" sz="1500" b="1" dirty="0">
                <a:solidFill>
                  <a:srgbClr val="7F0055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false</a:t>
            </a:r>
            <a:r>
              <a:rPr lang="en-US" sz="15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, 23, 80.5f));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dirty="0" err="1">
                <a:solidFill>
                  <a:srgbClr val="6A3E3E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listStudent</a:t>
            </a:r>
            <a:r>
              <a:rPr lang="en-US" sz="1500" dirty="0" err="1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.add</a:t>
            </a:r>
            <a:r>
              <a:rPr lang="en-US" sz="1500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(</a:t>
            </a:r>
            <a:r>
              <a:rPr lang="en-US" sz="1500" b="1" dirty="0">
                <a:solidFill>
                  <a:srgbClr val="7F0055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new</a:t>
            </a:r>
            <a:r>
              <a:rPr lang="en-US" sz="15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 Student(</a:t>
            </a:r>
            <a:r>
              <a:rPr lang="en-US" sz="1500" b="1" dirty="0">
                <a:solidFill>
                  <a:srgbClr val="2A00FF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"Brian"</a:t>
            </a:r>
            <a:r>
              <a:rPr lang="en-US" sz="15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, </a:t>
            </a:r>
            <a:r>
              <a:rPr lang="en-US" sz="1500" b="1" dirty="0">
                <a:solidFill>
                  <a:srgbClr val="7F0055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true</a:t>
            </a:r>
            <a:r>
              <a:rPr lang="en-US" sz="15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, 22, 95.0f));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dirty="0" err="1">
                <a:solidFill>
                  <a:srgbClr val="6A3E3E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listStudent</a:t>
            </a:r>
            <a:r>
              <a:rPr lang="en-US" sz="1500" dirty="0" err="1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.add</a:t>
            </a:r>
            <a:r>
              <a:rPr lang="en-US" sz="1500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(</a:t>
            </a:r>
            <a:r>
              <a:rPr lang="en-US" sz="1500" b="1" dirty="0">
                <a:solidFill>
                  <a:srgbClr val="7F0055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new</a:t>
            </a:r>
            <a:r>
              <a:rPr lang="en-US" sz="15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 Student(</a:t>
            </a:r>
            <a:r>
              <a:rPr lang="en-US" sz="1500" b="1" dirty="0">
                <a:solidFill>
                  <a:srgbClr val="2A00FF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"Carol"</a:t>
            </a:r>
            <a:r>
              <a:rPr lang="en-US" sz="15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, </a:t>
            </a:r>
            <a:r>
              <a:rPr lang="en-US" sz="1500" b="1" dirty="0">
                <a:solidFill>
                  <a:srgbClr val="7F0055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false</a:t>
            </a:r>
            <a:r>
              <a:rPr lang="en-US" sz="15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, 21, 79.8f));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StudentRecordWriter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6A3E3E"/>
                </a:solidFill>
                <a:latin typeface="Courier New" panose="02070309020205020404" pitchFamily="49" charset="0"/>
              </a:rPr>
              <a:t>writer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StudentRecordWriter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500" b="1" dirty="0">
                <a:solidFill>
                  <a:srgbClr val="2A00FF"/>
                </a:solidFill>
                <a:latin typeface="Courier New" panose="02070309020205020404" pitchFamily="49" charset="0"/>
              </a:rPr>
              <a:t>"students.txt"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b="1" dirty="0">
                <a:solidFill>
                  <a:srgbClr val="7F0055"/>
                </a:solidFill>
                <a:latin typeface="Courier New" panose="02070309020205020404" pitchFamily="49" charset="0"/>
              </a:rPr>
              <a:t>for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(Student </a:t>
            </a:r>
            <a:r>
              <a:rPr lang="en-US" sz="15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: </a:t>
            </a:r>
            <a:r>
              <a:rPr lang="en-US" sz="1500" b="1" dirty="0" err="1">
                <a:solidFill>
                  <a:srgbClr val="6A3E3E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listStudent</a:t>
            </a:r>
            <a:r>
              <a:rPr lang="en-US" sz="15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1500" dirty="0" err="1">
                <a:solidFill>
                  <a:srgbClr val="6A3E3E"/>
                </a:solidFill>
                <a:latin typeface="Courier New" panose="02070309020205020404" pitchFamily="49" charset="0"/>
              </a:rPr>
              <a:t>writer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.write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500" dirty="0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}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500" dirty="0" err="1">
                <a:solidFill>
                  <a:srgbClr val="6A3E3E"/>
                </a:solidFill>
                <a:latin typeface="Courier New" panose="02070309020205020404" pitchFamily="49" charset="0"/>
              </a:rPr>
              <a:t>writer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.save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2250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28600"/>
            <a:ext cx="9144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java.util</a:t>
            </a:r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.*; </a:t>
            </a:r>
            <a:r>
              <a:rPr lang="en-US" sz="14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java.io.*;</a:t>
            </a:r>
          </a:p>
          <a:p>
            <a:r>
              <a:rPr lang="en-US" sz="14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StudentRecordReader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DataInputStream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dataInput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StudentRecordReader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</a:t>
            </a:r>
            <a:r>
              <a:rPr lang="en-US" sz="14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inputFile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IOException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dataInput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DataInputStream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FileInputStream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4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inputFile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List&lt;Student&gt;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readAll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IOException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List&lt;Student&gt; </a:t>
            </a:r>
            <a:r>
              <a:rPr lang="en-US" sz="1400" dirty="0" err="1">
                <a:solidFill>
                  <a:srgbClr val="6A3E3E"/>
                </a:solidFill>
                <a:latin typeface="Courier New" panose="02070309020205020404" pitchFamily="49" charset="0"/>
              </a:rPr>
              <a:t>listStudent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ArrayList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&lt;&gt;();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  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while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true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String </a:t>
            </a:r>
            <a:r>
              <a:rPr lang="en-US" sz="1400" dirty="0">
                <a:solidFill>
                  <a:srgbClr val="6A3E3E"/>
                </a:solidFill>
                <a:latin typeface="Courier New" panose="02070309020205020404" pitchFamily="49" charset="0"/>
              </a:rPr>
              <a:t>name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dataInput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.readUTF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14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boolean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6A3E3E"/>
                </a:solidFill>
                <a:latin typeface="Courier New" panose="02070309020205020404" pitchFamily="49" charset="0"/>
              </a:rPr>
              <a:t>gender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4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dataInput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.readBoolean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14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6A3E3E"/>
                </a:solidFill>
                <a:latin typeface="Courier New" panose="02070309020205020404" pitchFamily="49" charset="0"/>
              </a:rPr>
              <a:t>age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4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dataInput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.readInt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float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6A3E3E"/>
                </a:solidFill>
                <a:latin typeface="Courier New" panose="02070309020205020404" pitchFamily="49" charset="0"/>
              </a:rPr>
              <a:t>grade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4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dataInput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.readFloat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        Student </a:t>
            </a:r>
            <a:r>
              <a:rPr lang="en-US" sz="14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Student(</a:t>
            </a:r>
            <a:r>
              <a:rPr lang="en-US" sz="1400" b="1" dirty="0">
                <a:solidFill>
                  <a:srgbClr val="6A3E3E"/>
                </a:solidFill>
                <a:latin typeface="Courier New" panose="02070309020205020404" pitchFamily="49" charset="0"/>
              </a:rPr>
              <a:t>name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400" b="1" dirty="0">
                <a:solidFill>
                  <a:srgbClr val="6A3E3E"/>
                </a:solidFill>
                <a:latin typeface="Courier New" panose="02070309020205020404" pitchFamily="49" charset="0"/>
              </a:rPr>
              <a:t>gender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400" b="1" dirty="0">
                <a:solidFill>
                  <a:srgbClr val="6A3E3E"/>
                </a:solidFill>
                <a:latin typeface="Courier New" panose="02070309020205020404" pitchFamily="49" charset="0"/>
              </a:rPr>
              <a:t>age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400" b="1" dirty="0">
                <a:solidFill>
                  <a:srgbClr val="6A3E3E"/>
                </a:solidFill>
                <a:latin typeface="Courier New" panose="02070309020205020404" pitchFamily="49" charset="0"/>
              </a:rPr>
              <a:t>grade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1400" dirty="0" err="1">
                <a:solidFill>
                  <a:srgbClr val="6A3E3E"/>
                </a:solidFill>
                <a:latin typeface="Courier New" panose="02070309020205020404" pitchFamily="49" charset="0"/>
              </a:rPr>
              <a:t>listStudent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.add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}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} </a:t>
            </a:r>
            <a:r>
              <a:rPr lang="en-US" sz="1400" dirty="0" err="1" smtClean="0">
                <a:solidFill>
                  <a:srgbClr val="0000C0"/>
                </a:solidFill>
                <a:latin typeface="Courier New" panose="02070309020205020404" pitchFamily="49" charset="0"/>
              </a:rPr>
              <a:t>dataInput</a:t>
            </a:r>
            <a:r>
              <a:rPr lang="en-US" sz="14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.close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listStudent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sz="14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args</a:t>
            </a:r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 throws Exception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14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StudentRecordReader</a:t>
            </a:r>
            <a:r>
              <a:rPr lang="en-US" sz="1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6A3E3E"/>
                </a:solidFill>
                <a:latin typeface="Courier New" panose="02070309020205020404" pitchFamily="49" charset="0"/>
              </a:rPr>
              <a:t>reader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StudentRecordReader</a:t>
            </a:r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2A00FF"/>
                </a:solidFill>
                <a:latin typeface="Courier New" panose="02070309020205020404" pitchFamily="49" charset="0"/>
              </a:rPr>
              <a:t>"students.txt"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List&lt;Student&gt; </a:t>
            </a:r>
            <a:r>
              <a:rPr lang="en-US" sz="1400" dirty="0" err="1">
                <a:solidFill>
                  <a:srgbClr val="6A3E3E"/>
                </a:solidFill>
                <a:latin typeface="Courier New" panose="02070309020205020404" pitchFamily="49" charset="0"/>
              </a:rPr>
              <a:t>listStudent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rgbClr val="6A3E3E"/>
                </a:solidFill>
                <a:latin typeface="Courier New" panose="02070309020205020404" pitchFamily="49" charset="0"/>
              </a:rPr>
              <a:t>reader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.readAll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7F0055"/>
                </a:solidFill>
                <a:latin typeface="Courier New" panose="02070309020205020404" pitchFamily="49" charset="0"/>
              </a:rPr>
              <a:t>for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(Student </a:t>
            </a:r>
            <a:r>
              <a:rPr lang="en-US" sz="14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: </a:t>
            </a:r>
            <a:r>
              <a:rPr lang="en-US" sz="14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listStudent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4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4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</a:t>
            </a:r>
            <a:r>
              <a:rPr lang="en-US" sz="1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400" b="1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4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.getName</a:t>
            </a:r>
            <a:r>
              <a:rPr lang="en-US" sz="1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 + </a:t>
            </a:r>
            <a:r>
              <a:rPr lang="en-US" sz="14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"\t"</a:t>
            </a:r>
            <a:r>
              <a:rPr lang="en-US" sz="1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4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4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</a:t>
            </a:r>
            <a:r>
              <a:rPr lang="en-US" sz="1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400" b="1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4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.getGender</a:t>
            </a:r>
            <a:r>
              <a:rPr lang="en-US" sz="1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 + </a:t>
            </a:r>
            <a:r>
              <a:rPr lang="en-US" sz="14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"\t"</a:t>
            </a:r>
            <a:r>
              <a:rPr lang="en-US" sz="1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4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4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</a:t>
            </a:r>
            <a:r>
              <a:rPr lang="en-US" sz="1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400" b="1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4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.getAge</a:t>
            </a:r>
            <a:r>
              <a:rPr lang="en-US" sz="1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 + </a:t>
            </a:r>
            <a:r>
              <a:rPr lang="en-US" sz="14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"\t"</a:t>
            </a:r>
            <a:r>
              <a:rPr lang="en-US" sz="1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4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4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400" b="1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student</a:t>
            </a:r>
            <a:r>
              <a:rPr lang="en-US" sz="14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.getGrade</a:t>
            </a:r>
            <a:r>
              <a:rPr lang="en-US" sz="1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}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sz="1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-152400"/>
            <a:ext cx="8610600" cy="63598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Example (Students)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0560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/>
          <a:lstStyle/>
          <a:p>
            <a:r>
              <a:rPr lang="en-US" sz="3600" dirty="0" smtClean="0"/>
              <a:t>File &amp; </a:t>
            </a:r>
            <a:r>
              <a:rPr lang="en-US" sz="3600" dirty="0" err="1" smtClean="0"/>
              <a:t>RandomAccess</a:t>
            </a:r>
            <a:r>
              <a:rPr lang="en-US" sz="3600" dirty="0" smtClean="0"/>
              <a:t> File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6020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File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(String pathname) 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String </a:t>
            </a:r>
            <a:r>
              <a:rPr lang="en-US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getName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 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exists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 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long </a:t>
            </a: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 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long </a:t>
            </a:r>
            <a:r>
              <a:rPr lang="en-US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lastModified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 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canRead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 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canWrite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 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isFile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 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isDirectory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 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String[] </a:t>
            </a: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list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 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mkdir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renameTo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(File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400050" indent="-292100">
              <a:buFont typeface="+mj-lt"/>
              <a:buAutoNum type="arabicPeriod"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public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delete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File class: Constructor and Methods</a:t>
            </a:r>
          </a:p>
        </p:txBody>
      </p:sp>
    </p:spTree>
    <p:extLst>
      <p:ext uri="{BB962C8B-B14F-4D97-AF65-F5344CB8AC3E}">
        <p14:creationId xmlns:p14="http://schemas.microsoft.com/office/powerpoint/2010/main" val="325547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50" name="Rectangle 14"/>
          <p:cNvSpPr>
            <a:spLocks noChangeArrowheads="1"/>
          </p:cNvSpPr>
          <p:nvPr/>
        </p:nvSpPr>
        <p:spPr bwMode="auto">
          <a:xfrm>
            <a:off x="19050" y="1121688"/>
            <a:ext cx="9124950" cy="5355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sz="18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FileInfo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8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show(String s) {</a:t>
            </a:r>
          </a:p>
          <a:p>
            <a:r>
              <a:rPr lang="en-US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18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(s);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	}</a:t>
            </a:r>
          </a:p>
          <a:p>
            <a:r>
              <a:rPr lang="en-US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main(String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[]){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String fi;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Scanner </a:t>
            </a:r>
            <a:r>
              <a:rPr lang="en-US" sz="1800" u="sng" dirty="0">
                <a:solidFill>
                  <a:srgbClr val="000000"/>
                </a:solidFill>
                <a:latin typeface="Consolas"/>
              </a:rPr>
              <a:t>in= </a:t>
            </a:r>
            <a:r>
              <a:rPr lang="en-US" sz="1800" b="1" u="sng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1800" b="1" u="sng" dirty="0">
                <a:solidFill>
                  <a:srgbClr val="000000"/>
                </a:solidFill>
                <a:latin typeface="Consolas"/>
              </a:rPr>
              <a:t> Scanner(System.</a:t>
            </a:r>
            <a:r>
              <a:rPr lang="en-US" sz="1800" b="1" i="1" u="sng" dirty="0">
                <a:solidFill>
                  <a:srgbClr val="0000C0"/>
                </a:solidFill>
                <a:latin typeface="Consolas"/>
              </a:rPr>
              <a:t>in</a:t>
            </a:r>
            <a:r>
              <a:rPr lang="en-US" sz="1800" b="1" i="1" u="sng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fi=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in.next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File f1 =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File(fi);</a:t>
            </a:r>
          </a:p>
          <a:p>
            <a:r>
              <a:rPr lang="en-US" sz="1800" i="1" dirty="0">
                <a:solidFill>
                  <a:srgbClr val="000000"/>
                </a:solidFill>
                <a:latin typeface="Consolas"/>
              </a:rPr>
              <a:t>show(f1.getName()+(f1.exists()?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 exists"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 does not exist"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800" i="1" dirty="0">
                <a:solidFill>
                  <a:srgbClr val="000000"/>
                </a:solidFill>
                <a:latin typeface="Consolas"/>
              </a:rPr>
              <a:t>show (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"File size   :"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+f1.length()+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 bytes"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800" i="1" dirty="0">
                <a:solidFill>
                  <a:srgbClr val="000000"/>
                </a:solidFill>
                <a:latin typeface="Consolas"/>
              </a:rPr>
              <a:t>show (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"Is"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+(f1.isDirectory()?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 a </a:t>
            </a:r>
            <a:r>
              <a:rPr lang="en-US" sz="1800" i="1" dirty="0" err="1">
                <a:solidFill>
                  <a:srgbClr val="2A00FF"/>
                </a:solidFill>
                <a:latin typeface="Consolas"/>
              </a:rPr>
              <a:t>directory"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800" i="1" dirty="0" err="1">
                <a:solidFill>
                  <a:srgbClr val="2A00FF"/>
                </a:solidFill>
                <a:latin typeface="Consolas"/>
              </a:rPr>
              <a:t>"not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 a directory"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 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show (f1.getName()+(f1.canWrite()? 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 is writable"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 is not writable"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 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show(f1.getName()+(f1.canRead()? 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 is readable"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 is not readable"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show(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"File was last modified :"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+ f1.lastModified());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	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800" dirty="0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954078573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537" indent="0">
              <a:buNone/>
            </a:pPr>
            <a:endParaRPr lang="en-US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38100"/>
            <a:ext cx="8610600" cy="762000"/>
          </a:xfrm>
        </p:spPr>
        <p:txBody>
          <a:bodyPr/>
          <a:lstStyle/>
          <a:p>
            <a:r>
              <a:rPr lang="en-US" sz="3200"/>
              <a:t>Ex: Creates a file and sets it to read-only</a:t>
            </a:r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0" y="1174392"/>
            <a:ext cx="9124950" cy="5375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b="1" dirty="0">
                <a:solidFill>
                  <a:srgbClr val="7F0055"/>
                </a:solidFill>
                <a:latin typeface="Consolas"/>
                <a:cs typeface="Arial" pitchFamily="34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  <a:cs typeface="Arial" pitchFamily="34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CreateFile_RO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{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  </a:t>
            </a:r>
            <a:r>
              <a:rPr lang="en-US" sz="2000" b="1" dirty="0">
                <a:solidFill>
                  <a:srgbClr val="7F0055"/>
                </a:solidFill>
                <a:latin typeface="Consolas"/>
                <a:cs typeface="Arial" pitchFamily="34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  <a:cs typeface="Arial" pitchFamily="34" charset="0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  <a:cs typeface="Arial" pitchFamily="34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main (String[]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args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) </a:t>
            </a:r>
            <a:r>
              <a:rPr lang="en-US" sz="2000" b="1" dirty="0">
                <a:solidFill>
                  <a:srgbClr val="7F0055"/>
                </a:solidFill>
                <a:latin typeface="Consolas"/>
                <a:cs typeface="Arial" pitchFamily="34" charset="0"/>
              </a:rPr>
              <a:t>throws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IOException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	{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      </a:t>
            </a:r>
            <a:r>
              <a:rPr lang="en-US" sz="2000" dirty="0">
                <a:solidFill>
                  <a:srgbClr val="3F7F5F"/>
                </a:solidFill>
                <a:latin typeface="Consolas"/>
                <a:cs typeface="Arial" pitchFamily="34" charset="0"/>
              </a:rPr>
              <a:t>// Create a new file, by default </a:t>
            </a:r>
            <a:r>
              <a:rPr lang="en-US" sz="2000" dirty="0" err="1">
                <a:solidFill>
                  <a:srgbClr val="3F7F5F"/>
                </a:solidFill>
                <a:latin typeface="Consolas"/>
                <a:cs typeface="Arial" pitchFamily="34" charset="0"/>
              </a:rPr>
              <a:t>canWrite</a:t>
            </a:r>
            <a:r>
              <a:rPr lang="en-US" sz="2000" dirty="0">
                <a:solidFill>
                  <a:srgbClr val="3F7F5F"/>
                </a:solidFill>
                <a:latin typeface="Consolas"/>
                <a:cs typeface="Arial" pitchFamily="34" charset="0"/>
              </a:rPr>
              <a:t>=true,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     </a:t>
            </a:r>
            <a:r>
              <a:rPr lang="en-US" sz="2000" b="1" dirty="0" err="1">
                <a:solidFill>
                  <a:srgbClr val="7F0055"/>
                </a:solidFill>
                <a:latin typeface="Consolas"/>
                <a:cs typeface="Arial" pitchFamily="34" charset="0"/>
              </a:rPr>
              <a:t>boolean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</a:t>
            </a:r>
            <a:r>
              <a:rPr lang="en-US" sz="2000" b="1" u="sng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readonly</a:t>
            </a:r>
            <a:r>
              <a:rPr lang="en-US" sz="2000" b="1" u="sng" dirty="0">
                <a:solidFill>
                  <a:srgbClr val="000000"/>
                </a:solidFill>
                <a:latin typeface="Consolas"/>
                <a:cs typeface="Arial" pitchFamily="34" charset="0"/>
              </a:rPr>
              <a:t>=</a:t>
            </a:r>
            <a:r>
              <a:rPr lang="en-US" sz="2000" b="1" u="sng" dirty="0">
                <a:solidFill>
                  <a:srgbClr val="7F0055"/>
                </a:solidFill>
                <a:latin typeface="Consolas"/>
                <a:cs typeface="Arial" pitchFamily="34" charset="0"/>
              </a:rPr>
              <a:t>false</a:t>
            </a:r>
            <a:r>
              <a:rPr lang="en-US" sz="2000" b="1" u="sng" dirty="0">
                <a:solidFill>
                  <a:srgbClr val="000000"/>
                </a:solidFill>
                <a:latin typeface="Consolas"/>
                <a:cs typeface="Arial" pitchFamily="34" charset="0"/>
              </a:rPr>
              <a:t>;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      File </a:t>
            </a:r>
            <a:r>
              <a:rPr lang="en-US" sz="2000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file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= </a:t>
            </a:r>
            <a:r>
              <a:rPr lang="en-US" sz="2000" b="1" dirty="0">
                <a:solidFill>
                  <a:srgbClr val="7F0055"/>
                </a:solidFill>
                <a:latin typeface="Consolas"/>
                <a:cs typeface="Arial" pitchFamily="34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File (</a:t>
            </a:r>
            <a:r>
              <a:rPr lang="en-US" sz="2000" b="1" dirty="0">
                <a:solidFill>
                  <a:srgbClr val="2A00FF"/>
                </a:solidFill>
                <a:latin typeface="Consolas"/>
                <a:cs typeface="Arial" pitchFamily="34" charset="0"/>
              </a:rPr>
              <a:t>"test.txt"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);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      </a:t>
            </a:r>
            <a:r>
              <a:rPr lang="en-US" sz="2000" b="1" dirty="0">
                <a:solidFill>
                  <a:srgbClr val="7F0055"/>
                </a:solidFill>
                <a:latin typeface="Consolas"/>
                <a:cs typeface="Arial" pitchFamily="34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(</a:t>
            </a:r>
            <a:r>
              <a:rPr lang="en-US" sz="2000" b="1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file.</a:t>
            </a:r>
            <a:r>
              <a:rPr lang="en-US" sz="2000" b="1" dirty="0" err="1">
                <a:solidFill>
                  <a:srgbClr val="C00000"/>
                </a:solidFill>
                <a:latin typeface="Consolas"/>
                <a:cs typeface="Arial" pitchFamily="34" charset="0"/>
              </a:rPr>
              <a:t>exists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()) 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          </a:t>
            </a:r>
            <a:r>
              <a:rPr lang="en-US" sz="2000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file.</a:t>
            </a:r>
            <a:r>
              <a:rPr lang="en-US" sz="2000" b="1" dirty="0" err="1">
                <a:solidFill>
                  <a:srgbClr val="C00000"/>
                </a:solidFill>
                <a:latin typeface="Consolas"/>
                <a:cs typeface="Arial" pitchFamily="34" charset="0"/>
              </a:rPr>
              <a:t>delete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();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file.</a:t>
            </a:r>
            <a:r>
              <a:rPr lang="en-US" sz="2000" b="1" dirty="0" err="1">
                <a:solidFill>
                  <a:srgbClr val="C00000"/>
                </a:solidFill>
                <a:latin typeface="Consolas"/>
                <a:cs typeface="Arial" pitchFamily="34" charset="0"/>
              </a:rPr>
              <a:t>createNewFile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();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System.</a:t>
            </a:r>
            <a:r>
              <a:rPr lang="en-US" sz="2000" i="1" dirty="0" err="1">
                <a:solidFill>
                  <a:srgbClr val="0000C0"/>
                </a:solidFill>
                <a:latin typeface="Consolas"/>
                <a:cs typeface="Arial" pitchFamily="34" charset="0"/>
              </a:rPr>
              <a:t>out</a:t>
            </a:r>
            <a:r>
              <a:rPr lang="en-US" sz="2000" i="1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.println</a:t>
            </a:r>
            <a:r>
              <a:rPr lang="en-US" sz="2000" i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(</a:t>
            </a:r>
            <a:r>
              <a:rPr lang="en-US" sz="2000" i="1" dirty="0">
                <a:solidFill>
                  <a:srgbClr val="2A00FF"/>
                </a:solidFill>
                <a:latin typeface="Consolas"/>
                <a:cs typeface="Arial" pitchFamily="34" charset="0"/>
              </a:rPr>
              <a:t>"Before. </a:t>
            </a:r>
            <a:r>
              <a:rPr lang="en-US" sz="2000" i="1" dirty="0" err="1">
                <a:solidFill>
                  <a:srgbClr val="2A00FF"/>
                </a:solidFill>
                <a:latin typeface="Consolas"/>
                <a:cs typeface="Arial" pitchFamily="34" charset="0"/>
              </a:rPr>
              <a:t>canWrite</a:t>
            </a:r>
            <a:r>
              <a:rPr lang="en-US" sz="2000" i="1" dirty="0">
                <a:solidFill>
                  <a:srgbClr val="2A00FF"/>
                </a:solidFill>
                <a:latin typeface="Consolas"/>
                <a:cs typeface="Arial" pitchFamily="34" charset="0"/>
              </a:rPr>
              <a:t>? "</a:t>
            </a:r>
            <a:r>
              <a:rPr lang="en-US" sz="2000" i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+ </a:t>
            </a:r>
            <a:r>
              <a:rPr lang="en-US" sz="2000" i="1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file.</a:t>
            </a:r>
            <a:r>
              <a:rPr lang="en-US" sz="2000" b="1" i="1" dirty="0" err="1">
                <a:solidFill>
                  <a:srgbClr val="C00000"/>
                </a:solidFill>
                <a:latin typeface="Consolas"/>
                <a:cs typeface="Arial" pitchFamily="34" charset="0"/>
              </a:rPr>
              <a:t>canWrite</a:t>
            </a:r>
            <a:r>
              <a:rPr lang="en-US" sz="2000" i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());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      </a:t>
            </a:r>
            <a:r>
              <a:rPr lang="en-US" sz="2000" dirty="0">
                <a:solidFill>
                  <a:srgbClr val="3F7F5F"/>
                </a:solidFill>
                <a:latin typeface="Consolas"/>
                <a:cs typeface="Arial" pitchFamily="34" charset="0"/>
              </a:rPr>
              <a:t>// set to read-only, </a:t>
            </a:r>
            <a:r>
              <a:rPr lang="en-US" sz="2000" u="sng" dirty="0" err="1">
                <a:solidFill>
                  <a:srgbClr val="3F7F5F"/>
                </a:solidFill>
                <a:latin typeface="Consolas"/>
                <a:cs typeface="Arial" pitchFamily="34" charset="0"/>
              </a:rPr>
              <a:t>canWrite</a:t>
            </a:r>
            <a:r>
              <a:rPr lang="en-US" sz="2000" u="sng" dirty="0">
                <a:solidFill>
                  <a:srgbClr val="3F7F5F"/>
                </a:solidFill>
                <a:latin typeface="Consolas"/>
                <a:cs typeface="Arial" pitchFamily="34" charset="0"/>
              </a:rPr>
              <a:t> = false */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file.</a:t>
            </a:r>
            <a:r>
              <a:rPr lang="en-US" sz="2000" b="1" dirty="0" err="1">
                <a:solidFill>
                  <a:srgbClr val="C00000"/>
                </a:solidFill>
                <a:latin typeface="Consolas"/>
                <a:cs typeface="Arial" pitchFamily="34" charset="0"/>
              </a:rPr>
              <a:t>setWritable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(</a:t>
            </a:r>
            <a:r>
              <a:rPr lang="en-US" sz="2000" b="1" dirty="0">
                <a:solidFill>
                  <a:srgbClr val="7F0055"/>
                </a:solidFill>
                <a:latin typeface="Consolas"/>
                <a:cs typeface="Arial" pitchFamily="34" charset="0"/>
              </a:rPr>
              <a:t>false</a:t>
            </a:r>
            <a:r>
              <a:rPr lang="en-US" sz="2000" b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);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System.</a:t>
            </a:r>
            <a:r>
              <a:rPr lang="en-US" sz="2000" i="1" dirty="0" err="1">
                <a:solidFill>
                  <a:srgbClr val="0000C0"/>
                </a:solidFill>
                <a:latin typeface="Consolas"/>
                <a:cs typeface="Arial" pitchFamily="34" charset="0"/>
              </a:rPr>
              <a:t>out</a:t>
            </a:r>
            <a:r>
              <a:rPr lang="en-US" sz="2000" i="1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.println</a:t>
            </a:r>
            <a:r>
              <a:rPr lang="en-US" sz="2000" i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(</a:t>
            </a:r>
            <a:r>
              <a:rPr lang="en-US" sz="2000" i="1" dirty="0">
                <a:solidFill>
                  <a:srgbClr val="2A00FF"/>
                </a:solidFill>
                <a:latin typeface="Consolas"/>
                <a:cs typeface="Arial" pitchFamily="34" charset="0"/>
              </a:rPr>
              <a:t>"After. </a:t>
            </a:r>
            <a:r>
              <a:rPr lang="en-US" sz="2000" i="1" dirty="0" err="1">
                <a:solidFill>
                  <a:srgbClr val="2A00FF"/>
                </a:solidFill>
                <a:latin typeface="Consolas"/>
                <a:cs typeface="Arial" pitchFamily="34" charset="0"/>
              </a:rPr>
              <a:t>canWrite</a:t>
            </a:r>
            <a:r>
              <a:rPr lang="en-US" sz="2000" i="1" dirty="0">
                <a:solidFill>
                  <a:srgbClr val="2A00FF"/>
                </a:solidFill>
                <a:latin typeface="Consolas"/>
                <a:cs typeface="Arial" pitchFamily="34" charset="0"/>
              </a:rPr>
              <a:t>? "</a:t>
            </a:r>
            <a:r>
              <a:rPr lang="en-US" sz="2000" i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+ </a:t>
            </a:r>
            <a:r>
              <a:rPr lang="en-US" sz="2000" i="1" dirty="0" err="1">
                <a:solidFill>
                  <a:srgbClr val="000000"/>
                </a:solidFill>
                <a:latin typeface="Consolas"/>
                <a:cs typeface="Arial" pitchFamily="34" charset="0"/>
              </a:rPr>
              <a:t>file.</a:t>
            </a:r>
            <a:r>
              <a:rPr lang="en-US" sz="2000" b="1" i="1" dirty="0" err="1">
                <a:solidFill>
                  <a:srgbClr val="C00000"/>
                </a:solidFill>
                <a:latin typeface="Consolas"/>
                <a:cs typeface="Arial" pitchFamily="34" charset="0"/>
              </a:rPr>
              <a:t>canWrite</a:t>
            </a:r>
            <a:r>
              <a:rPr lang="en-US" sz="2000" i="1" dirty="0">
                <a:solidFill>
                  <a:srgbClr val="000000"/>
                </a:solidFill>
                <a:latin typeface="Consolas"/>
                <a:cs typeface="Arial" pitchFamily="34" charset="0"/>
              </a:rPr>
              <a:t> ());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    	}</a:t>
            </a:r>
          </a:p>
          <a:p>
            <a:pPr marL="109537" lvl="0">
              <a:spcBef>
                <a:spcPts val="400"/>
              </a:spcBef>
              <a:buClr>
                <a:srgbClr val="0000CC"/>
              </a:buClr>
              <a:buSzPct val="68000"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Arial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626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Random Access Files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Random access files are files in which records can be accessed in any order</a:t>
            </a:r>
          </a:p>
          <a:p>
            <a:pPr lvl="1" eaLnBrk="1" hangingPunct="1"/>
            <a:r>
              <a:rPr lang="en-US" altLang="en-US" smtClean="0"/>
              <a:t>Also called direct access files</a:t>
            </a:r>
          </a:p>
          <a:p>
            <a:pPr lvl="1" eaLnBrk="1" hangingPunct="1"/>
            <a:r>
              <a:rPr lang="en-US" altLang="en-US" smtClean="0"/>
              <a:t>More efficient than sequential access files</a:t>
            </a:r>
          </a:p>
          <a:p>
            <a:pPr lvl="1" eaLnBrk="1" hangingPunct="1">
              <a:buFontTx/>
              <a:buNone/>
            </a:pPr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86200"/>
            <a:ext cx="5486400" cy="2133600"/>
          </a:xfrm>
          <a:prstGeom prst="rect">
            <a:avLst/>
          </a:prstGeom>
          <a:noFill/>
          <a:ln w="38100">
            <a:solidFill>
              <a:srgbClr val="6666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370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762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 sz="3400" dirty="0" smtClean="0"/>
              <a:t>Need for Random Access Files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Real-time applications require immediate response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Example: respond to customer query about a bill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Sequencing through records for account is time-intensive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Random (immediate) access meets real-time need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Directly read from or write to desired record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9902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5429" y="1388609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Consider the </a:t>
            </a:r>
            <a:r>
              <a:rPr lang="en-US" altLang="en-US" sz="2400" dirty="0" smtClean="0">
                <a:solidFill>
                  <a:schemeClr val="tx2"/>
                </a:solidFill>
              </a:rPr>
              <a:t>zip format</a:t>
            </a:r>
            <a:r>
              <a:rPr lang="en-US" altLang="en-US" sz="2400" dirty="0" smtClean="0"/>
              <a:t>. A ZIP archive contains files and is typically compressed to save space. </a:t>
            </a:r>
          </a:p>
          <a:p>
            <a:pPr eaLnBrk="1" hangingPunct="1"/>
            <a:r>
              <a:rPr lang="en-US" altLang="en-US" sz="2400" dirty="0" smtClean="0"/>
              <a:t>It also contain a </a:t>
            </a:r>
            <a:r>
              <a:rPr lang="en-US" altLang="en-US" sz="2400" dirty="0" smtClean="0">
                <a:solidFill>
                  <a:schemeClr val="tx2"/>
                </a:solidFill>
              </a:rPr>
              <a:t>directory entry </a:t>
            </a:r>
            <a:r>
              <a:rPr lang="en-US" altLang="en-US" sz="2400" dirty="0" smtClean="0"/>
              <a:t>at the end that indicates where the various files contained within the ZIP archive begin  </a:t>
            </a:r>
          </a:p>
        </p:txBody>
      </p:sp>
      <p:pic>
        <p:nvPicPr>
          <p:cNvPr id="26626" name="Picture 2" descr="https://upload.wikimedia.org/wikipedia/commons/thumb/6/63/ZIP-64_Internal_Layout.svg/400px-ZIP-64_Internal_Layout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30" y="3200400"/>
            <a:ext cx="6900140" cy="374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8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"/>
            <a:ext cx="7302500" cy="14319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Accessing a specific file using sequential access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en-US" sz="2400" dirty="0" smtClean="0"/>
              <a:t>Open the ZIP archive. </a:t>
            </a:r>
          </a:p>
          <a:p>
            <a:pPr marL="609600" indent="-609600" eaLnBrk="1" hangingPunct="1"/>
            <a:r>
              <a:rPr lang="en-US" altLang="en-US" sz="2400" dirty="0" smtClean="0"/>
              <a:t>Search through the ZIP archive until you locate the file you want to extract. </a:t>
            </a:r>
          </a:p>
          <a:p>
            <a:pPr marL="609600" indent="-609600" eaLnBrk="1" hangingPunct="1"/>
            <a:r>
              <a:rPr lang="en-US" altLang="en-US" sz="2400" dirty="0" smtClean="0"/>
              <a:t>Extract the file. </a:t>
            </a:r>
          </a:p>
          <a:p>
            <a:pPr marL="609600" indent="-609600" eaLnBrk="1" hangingPunct="1"/>
            <a:r>
              <a:rPr lang="en-US" altLang="en-US" sz="2400" dirty="0" smtClean="0"/>
              <a:t>Close the ZIP archive. </a:t>
            </a:r>
          </a:p>
          <a:p>
            <a:pPr marL="609600" indent="-609600" eaLnBrk="1" hangingPunct="1"/>
            <a:r>
              <a:rPr lang="en-US" altLang="en-US" sz="2400" dirty="0" smtClean="0">
                <a:solidFill>
                  <a:schemeClr val="tx2"/>
                </a:solidFill>
              </a:rPr>
              <a:t>On an average, we have to read half of the zip archive to find the required file</a:t>
            </a:r>
          </a:p>
        </p:txBody>
      </p:sp>
    </p:spTree>
    <p:extLst>
      <p:ext uri="{BB962C8B-B14F-4D97-AF65-F5344CB8AC3E}">
        <p14:creationId xmlns:p14="http://schemas.microsoft.com/office/powerpoint/2010/main" val="147454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302500" cy="14319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Accessing a specific file using random access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Open the ZIP archive.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Seek to the directory entry and locate the entry for the file you want to extract from the ZIP archive.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Seek (backward) within the ZIP archive to the position of the file to extract.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Extract the file.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Close the ZIP archive.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chemeClr val="tx2"/>
                </a:solidFill>
              </a:rPr>
              <a:t>This is more efficient as you read only the directory entry and  file that you want to extract. </a:t>
            </a:r>
          </a:p>
        </p:txBody>
      </p:sp>
    </p:spTree>
    <p:extLst>
      <p:ext uri="{BB962C8B-B14F-4D97-AF65-F5344CB8AC3E}">
        <p14:creationId xmlns:p14="http://schemas.microsoft.com/office/powerpoint/2010/main" val="319381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RandomAccessFiles class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The </a:t>
            </a:r>
            <a:r>
              <a:rPr lang="en-US" altLang="en-US" sz="2400" dirty="0" err="1" smtClean="0">
                <a:solidFill>
                  <a:schemeClr val="tx2"/>
                </a:solidFill>
              </a:rPr>
              <a:t>RandomAccessFile</a:t>
            </a:r>
            <a:r>
              <a:rPr lang="en-US" altLang="en-US" sz="2400" dirty="0" smtClean="0">
                <a:solidFill>
                  <a:schemeClr val="tx2"/>
                </a:solidFill>
              </a:rPr>
              <a:t> </a:t>
            </a:r>
            <a:r>
              <a:rPr lang="en-US" altLang="en-US" sz="2400" dirty="0" smtClean="0"/>
              <a:t>class contains the same </a:t>
            </a:r>
            <a:r>
              <a:rPr lang="en-US" altLang="en-US" sz="2400" dirty="0" smtClean="0">
                <a:solidFill>
                  <a:schemeClr val="tx2"/>
                </a:solidFill>
              </a:rPr>
              <a:t>read(), write() and close()</a:t>
            </a:r>
            <a:r>
              <a:rPr lang="en-US" altLang="en-US" sz="2400" dirty="0" smtClean="0"/>
              <a:t> methods as Input and </a:t>
            </a:r>
            <a:r>
              <a:rPr lang="en-US" altLang="en-US" sz="2400" dirty="0" err="1" smtClean="0"/>
              <a:t>OutputStream</a:t>
            </a:r>
            <a:endParaRPr lang="en-US" altLang="en-US" sz="2400" dirty="0" smtClean="0"/>
          </a:p>
          <a:p>
            <a:pPr eaLnBrk="1" hangingPunct="1"/>
            <a:r>
              <a:rPr lang="en-US" altLang="en-US" sz="2400" dirty="0" smtClean="0"/>
              <a:t>Also contains </a:t>
            </a:r>
            <a:r>
              <a:rPr lang="en-US" altLang="en-US" sz="2400" dirty="0" smtClean="0">
                <a:solidFill>
                  <a:schemeClr val="tx2"/>
                </a:solidFill>
              </a:rPr>
              <a:t>seek() </a:t>
            </a:r>
            <a:r>
              <a:rPr lang="en-US" altLang="en-US" sz="2400" dirty="0" smtClean="0"/>
              <a:t>that lets you select a beginning position within the file before reading or writing data</a:t>
            </a:r>
          </a:p>
          <a:p>
            <a:pPr eaLnBrk="1" hangingPunct="1"/>
            <a:r>
              <a:rPr lang="en-US" altLang="en-US" sz="2400" dirty="0" smtClean="0"/>
              <a:t>Includes capabilities for reading and writing primitive-type values, </a:t>
            </a:r>
            <a:r>
              <a:rPr lang="en-US" altLang="en-US" sz="2400" dirty="0" smtClean="0">
                <a:latin typeface="Lucida Console" pitchFamily="49" charset="0"/>
              </a:rPr>
              <a:t>byte</a:t>
            </a:r>
            <a:r>
              <a:rPr lang="en-US" altLang="en-US" sz="2400" dirty="0" smtClean="0"/>
              <a:t> arrays and strings</a:t>
            </a:r>
          </a:p>
        </p:txBody>
      </p:sp>
    </p:spTree>
    <p:extLst>
      <p:ext uri="{BB962C8B-B14F-4D97-AF65-F5344CB8AC3E}">
        <p14:creationId xmlns:p14="http://schemas.microsoft.com/office/powerpoint/2010/main" val="123307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RandomAccessFile Class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NOT compatible with the stream/reader/writer models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With a random-access file, you can seek to the desired position and then read and write an amount of bytes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Only support seeking relative to the beginning of the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Not relative to current position of file pointer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However there are methods that report the current position</a:t>
            </a:r>
          </a:p>
        </p:txBody>
      </p:sp>
    </p:spTree>
    <p:extLst>
      <p:ext uri="{BB962C8B-B14F-4D97-AF65-F5344CB8AC3E}">
        <p14:creationId xmlns:p14="http://schemas.microsoft.com/office/powerpoint/2010/main" val="94033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Methods to support seeking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smtClean="0">
                <a:latin typeface="Arial Unicode MS" pitchFamily="34" charset="-128"/>
              </a:rPr>
              <a:t>long </a:t>
            </a:r>
            <a:r>
              <a:rPr lang="en-US" altLang="en-US" sz="2400" b="1" dirty="0" err="1" smtClean="0">
                <a:latin typeface="Arial Unicode MS" pitchFamily="34" charset="-128"/>
                <a:hlinkClick r:id="rId2" action="ppaction://hlinkfile"/>
              </a:rPr>
              <a:t>getFilePointer</a:t>
            </a:r>
            <a:r>
              <a:rPr lang="en-US" altLang="en-US" sz="2400" dirty="0" smtClean="0">
                <a:latin typeface="Arial Unicode MS" pitchFamily="34" charset="-128"/>
              </a:rPr>
              <a:t>()</a:t>
            </a:r>
            <a:r>
              <a:rPr lang="en-US" altLang="en-US" sz="2400" dirty="0" smtClean="0"/>
              <a:t> </a:t>
            </a:r>
            <a:br>
              <a:rPr lang="en-US" altLang="en-US" sz="2400" dirty="0" smtClean="0"/>
            </a:br>
            <a:r>
              <a:rPr lang="en-US" altLang="en-US" sz="2400" dirty="0" smtClean="0"/>
              <a:t>     Returns the current offset in this file.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smtClean="0"/>
              <a:t> </a:t>
            </a:r>
            <a:r>
              <a:rPr lang="en-US" altLang="en-US" sz="2400" dirty="0" smtClean="0">
                <a:latin typeface="Arial Unicode MS" pitchFamily="34" charset="-128"/>
              </a:rPr>
              <a:t>long </a:t>
            </a:r>
            <a:r>
              <a:rPr lang="en-US" altLang="en-US" sz="2400" b="1" dirty="0" smtClean="0">
                <a:latin typeface="Arial Unicode MS" pitchFamily="34" charset="-128"/>
                <a:hlinkClick r:id="rId3" action="ppaction://hlinkfile"/>
              </a:rPr>
              <a:t>length</a:t>
            </a:r>
            <a:r>
              <a:rPr lang="en-US" altLang="en-US" sz="2400" dirty="0" smtClean="0">
                <a:latin typeface="Arial Unicode MS" pitchFamily="34" charset="-128"/>
              </a:rPr>
              <a:t>()</a:t>
            </a:r>
            <a:r>
              <a:rPr lang="en-US" altLang="en-US" sz="2400" dirty="0" smtClean="0"/>
              <a:t> </a:t>
            </a:r>
            <a:br>
              <a:rPr lang="en-US" altLang="en-US" sz="2400" dirty="0" smtClean="0"/>
            </a:br>
            <a:r>
              <a:rPr lang="en-US" altLang="en-US" sz="2400" dirty="0" smtClean="0"/>
              <a:t>     Returns the length of this file.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smtClean="0"/>
              <a:t> </a:t>
            </a:r>
            <a:r>
              <a:rPr lang="en-US" altLang="en-US" sz="2400" dirty="0" smtClean="0">
                <a:latin typeface="Arial Unicode MS" pitchFamily="34" charset="-128"/>
              </a:rPr>
              <a:t>void </a:t>
            </a:r>
            <a:r>
              <a:rPr lang="en-US" altLang="en-US" sz="2400" b="1" dirty="0" smtClean="0">
                <a:latin typeface="Arial Unicode MS" pitchFamily="34" charset="-128"/>
                <a:hlinkClick r:id="rId4" action="ppaction://hlinkfile"/>
              </a:rPr>
              <a:t>seek</a:t>
            </a:r>
            <a:r>
              <a:rPr lang="en-US" altLang="en-US" sz="2400" dirty="0" smtClean="0">
                <a:latin typeface="Arial Unicode MS" pitchFamily="34" charset="-128"/>
              </a:rPr>
              <a:t>(long</a:t>
            </a:r>
            <a:r>
              <a:rPr lang="en-US" altLang="en-US" sz="2400" dirty="0" smtClean="0"/>
              <a:t> </a:t>
            </a:r>
            <a:r>
              <a:rPr lang="en-US" altLang="en-US" sz="2400" dirty="0" err="1" smtClean="0">
                <a:latin typeface="Arial Unicode MS" pitchFamily="34" charset="-128"/>
              </a:rPr>
              <a:t>pos</a:t>
            </a:r>
            <a:r>
              <a:rPr lang="en-US" altLang="en-US" sz="2400" dirty="0" smtClean="0">
                <a:latin typeface="Arial Unicode MS" pitchFamily="34" charset="-128"/>
              </a:rPr>
              <a:t>)</a:t>
            </a:r>
            <a:r>
              <a:rPr lang="en-US" altLang="en-US" sz="2400" dirty="0" smtClean="0"/>
              <a:t> </a:t>
            </a:r>
            <a:br>
              <a:rPr lang="en-US" altLang="en-US" sz="2400" dirty="0" smtClean="0"/>
            </a:br>
            <a:r>
              <a:rPr lang="en-US" altLang="en-US" sz="2400" dirty="0" smtClean="0"/>
              <a:t>     Sets the file-pointer offset, measured from the beginning of this file, at which the next read or write occurs.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03934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Constructor Summary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smtClean="0">
                <a:latin typeface="Arial Unicode MS" pitchFamily="34" charset="-128"/>
                <a:hlinkClick r:id="rId2" action="ppaction://hlinkfile"/>
              </a:rPr>
              <a:t>RandomAccessFile</a:t>
            </a:r>
            <a:r>
              <a:rPr lang="en-US" altLang="en-US" sz="2400" smtClean="0">
                <a:latin typeface="Arial Unicode MS" pitchFamily="34" charset="-128"/>
              </a:rPr>
              <a:t>(</a:t>
            </a:r>
            <a:r>
              <a:rPr lang="en-US" altLang="en-US" sz="2400" smtClean="0">
                <a:latin typeface="Arial Unicode MS" pitchFamily="34" charset="-128"/>
                <a:hlinkClick r:id="rId3" action="ppaction://hlinkfile"/>
              </a:rPr>
              <a:t>File</a:t>
            </a:r>
            <a:r>
              <a:rPr lang="en-US" altLang="en-US" sz="2400" smtClean="0"/>
              <a:t> </a:t>
            </a:r>
            <a:r>
              <a:rPr lang="en-US" altLang="en-US" sz="2400" smtClean="0">
                <a:latin typeface="Arial Unicode MS" pitchFamily="34" charset="-128"/>
              </a:rPr>
              <a:t>file, </a:t>
            </a:r>
            <a:r>
              <a:rPr lang="en-US" altLang="en-US" sz="2400" smtClean="0">
                <a:latin typeface="Arial Unicode MS" pitchFamily="34" charset="-128"/>
                <a:hlinkClick r:id="rId4" action="ppaction://hlinkfile"/>
              </a:rPr>
              <a:t>String</a:t>
            </a:r>
            <a:r>
              <a:rPr lang="en-US" altLang="en-US" sz="2400" smtClean="0"/>
              <a:t> </a:t>
            </a:r>
            <a:r>
              <a:rPr lang="en-US" altLang="en-US" sz="2400" smtClean="0">
                <a:latin typeface="Arial Unicode MS" pitchFamily="34" charset="-128"/>
              </a:rPr>
              <a:t>mode)</a:t>
            </a:r>
            <a:r>
              <a:rPr lang="en-US" altLang="en-US" sz="2400" smtClean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smtClean="0"/>
              <a:t>   Creates a random access file stream to read from, and optionally to write to, the file specified by the </a:t>
            </a:r>
            <a:r>
              <a:rPr lang="en-US" altLang="en-US" sz="2400" smtClean="0">
                <a:latin typeface="Arial Unicode MS" pitchFamily="34" charset="-128"/>
              </a:rPr>
              <a:t>File</a:t>
            </a:r>
            <a:r>
              <a:rPr lang="en-US" altLang="en-US" sz="2400" smtClean="0"/>
              <a:t> argument.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smtClean="0">
                <a:latin typeface="Arial Unicode MS" pitchFamily="34" charset="-128"/>
                <a:hlinkClick r:id="rId5" action="ppaction://hlinkfile"/>
              </a:rPr>
              <a:t>RandomAccessFile</a:t>
            </a:r>
            <a:r>
              <a:rPr lang="en-US" altLang="en-US" sz="2400" smtClean="0">
                <a:latin typeface="Arial Unicode MS" pitchFamily="34" charset="-128"/>
              </a:rPr>
              <a:t>(</a:t>
            </a:r>
            <a:r>
              <a:rPr lang="en-US" altLang="en-US" sz="2400" smtClean="0">
                <a:latin typeface="Arial Unicode MS" pitchFamily="34" charset="-128"/>
                <a:hlinkClick r:id="rId4" action="ppaction://hlinkfile"/>
              </a:rPr>
              <a:t>String</a:t>
            </a:r>
            <a:r>
              <a:rPr lang="en-US" altLang="en-US" sz="2400" smtClean="0"/>
              <a:t> </a:t>
            </a:r>
            <a:r>
              <a:rPr lang="en-US" altLang="en-US" sz="2400" smtClean="0">
                <a:latin typeface="Arial Unicode MS" pitchFamily="34" charset="-128"/>
              </a:rPr>
              <a:t>name, </a:t>
            </a:r>
            <a:r>
              <a:rPr lang="en-US" altLang="en-US" sz="2400" smtClean="0">
                <a:latin typeface="Arial Unicode MS" pitchFamily="34" charset="-128"/>
                <a:hlinkClick r:id="rId6" action="ppaction://hlinkfile"/>
              </a:rPr>
              <a:t>String</a:t>
            </a:r>
            <a:r>
              <a:rPr lang="en-US" altLang="en-US" sz="2400" smtClean="0"/>
              <a:t> </a:t>
            </a:r>
            <a:r>
              <a:rPr lang="en-US" altLang="en-US" sz="2400" smtClean="0">
                <a:latin typeface="Arial Unicode MS" pitchFamily="34" charset="-128"/>
              </a:rPr>
              <a:t>mode)</a:t>
            </a:r>
            <a:r>
              <a:rPr lang="en-US" altLang="en-US" sz="2400" smtClean="0"/>
              <a:t> </a:t>
            </a:r>
            <a:br>
              <a:rPr lang="en-US" altLang="en-US" sz="2400" smtClean="0"/>
            </a:br>
            <a:r>
              <a:rPr lang="en-US" altLang="en-US" sz="2400" smtClean="0"/>
              <a:t>Creates a random access file stream to read from, and optionally to write to, a file with the specified name.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The mode should be either “r” or “rw”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/>
              <a:t>No “w”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96511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Constructor Summary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When a RandomAccessFile is created in read-only mode a FileNotFoundException is generated</a:t>
            </a:r>
          </a:p>
          <a:p>
            <a:pPr eaLnBrk="1" hangingPunct="1"/>
            <a:r>
              <a:rPr lang="en-US" altLang="en-US" smtClean="0"/>
              <a:t>When a RandomAccessFile is created in read-write a zero length file will be created</a:t>
            </a:r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6064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Methods</a:t>
            </a:r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1371600"/>
            <a:ext cx="5562600" cy="5381625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42788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File Pointer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>
                <a:solidFill>
                  <a:schemeClr val="tx2"/>
                </a:solidFill>
              </a:rPr>
              <a:t>RandomAccessFile</a:t>
            </a:r>
            <a:r>
              <a:rPr lang="en-US" altLang="en-US" dirty="0" smtClean="0">
                <a:solidFill>
                  <a:schemeClr val="tx2"/>
                </a:solidFill>
              </a:rPr>
              <a:t> </a:t>
            </a:r>
            <a:r>
              <a:rPr lang="en-US" altLang="en-US" dirty="0" smtClean="0"/>
              <a:t>supports </a:t>
            </a:r>
            <a:r>
              <a:rPr lang="en-US" altLang="en-US" i="1" dirty="0" smtClean="0">
                <a:solidFill>
                  <a:schemeClr val="tx2"/>
                </a:solidFill>
              </a:rPr>
              <a:t>file pointer</a:t>
            </a:r>
            <a:r>
              <a:rPr lang="en-US" altLang="en-US" dirty="0" smtClean="0">
                <a:solidFill>
                  <a:schemeClr val="tx2"/>
                </a:solidFill>
              </a:rPr>
              <a:t> </a:t>
            </a:r>
            <a:r>
              <a:rPr lang="en-US" altLang="en-US" dirty="0" smtClean="0"/>
              <a:t>which indicates the </a:t>
            </a:r>
            <a:r>
              <a:rPr lang="en-US" altLang="en-US" dirty="0" smtClean="0">
                <a:solidFill>
                  <a:schemeClr val="tx2"/>
                </a:solidFill>
              </a:rPr>
              <a:t>current location </a:t>
            </a:r>
            <a:r>
              <a:rPr lang="en-US" altLang="en-US" dirty="0" smtClean="0"/>
              <a:t>in the file. </a:t>
            </a:r>
          </a:p>
          <a:p>
            <a:pPr eaLnBrk="1" hangingPunct="1"/>
            <a:r>
              <a:rPr lang="en-US" altLang="en-US" dirty="0" smtClean="0"/>
              <a:t>When the file is first created, the file pointer is set to 0, indicating the beginning of the file. </a:t>
            </a:r>
          </a:p>
          <a:p>
            <a:pPr eaLnBrk="1" hangingPunct="1"/>
            <a:r>
              <a:rPr lang="en-US" altLang="en-US" dirty="0" smtClean="0"/>
              <a:t>Calls to the read and write methods adjust the file pointer by the number of bytes read or written. </a:t>
            </a:r>
          </a:p>
        </p:txBody>
      </p:sp>
    </p:spTree>
    <p:extLst>
      <p:ext uri="{BB962C8B-B14F-4D97-AF65-F5344CB8AC3E}">
        <p14:creationId xmlns:p14="http://schemas.microsoft.com/office/powerpoint/2010/main" val="3590729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Manipulate file pointer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err="1" smtClean="0">
                <a:solidFill>
                  <a:schemeClr val="tx2"/>
                </a:solidFill>
              </a:rPr>
              <a:t>RandomAccessFile</a:t>
            </a:r>
            <a:r>
              <a:rPr lang="en-US" altLang="en-US" sz="2400" dirty="0" smtClean="0">
                <a:solidFill>
                  <a:schemeClr val="tx2"/>
                </a:solidFill>
              </a:rPr>
              <a:t> </a:t>
            </a:r>
            <a:r>
              <a:rPr lang="en-US" altLang="en-US" sz="2400" dirty="0" smtClean="0"/>
              <a:t>contains three methods for explicitly manipulating the file pointer. </a:t>
            </a:r>
          </a:p>
          <a:p>
            <a:pPr eaLnBrk="1" hangingPunct="1"/>
            <a:r>
              <a:rPr lang="en-US" altLang="en-US" sz="2400" dirty="0" err="1" smtClean="0"/>
              <a:t>int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>
                <a:solidFill>
                  <a:schemeClr val="tx2"/>
                </a:solidFill>
              </a:rPr>
              <a:t>skipBytes</a:t>
            </a:r>
            <a:r>
              <a:rPr lang="en-US" altLang="en-US" sz="2400" dirty="0" smtClean="0">
                <a:solidFill>
                  <a:schemeClr val="tx2"/>
                </a:solidFill>
              </a:rPr>
              <a:t>(</a:t>
            </a:r>
            <a:r>
              <a:rPr lang="en-US" altLang="en-US" sz="2400" dirty="0" err="1" smtClean="0">
                <a:solidFill>
                  <a:schemeClr val="tx2"/>
                </a:solidFill>
              </a:rPr>
              <a:t>int</a:t>
            </a:r>
            <a:r>
              <a:rPr lang="en-US" altLang="en-US" sz="2400" dirty="0" smtClean="0">
                <a:solidFill>
                  <a:schemeClr val="tx2"/>
                </a:solidFill>
              </a:rPr>
              <a:t>) </a:t>
            </a:r>
            <a:r>
              <a:rPr lang="en-US" altLang="en-US" sz="2400" dirty="0" smtClean="0"/>
              <a:t>— Moves the file pointer forward the specified number of bytes </a:t>
            </a:r>
          </a:p>
          <a:p>
            <a:pPr eaLnBrk="1" hangingPunct="1"/>
            <a:r>
              <a:rPr lang="en-US" altLang="en-US" sz="2400" dirty="0" smtClean="0"/>
              <a:t>void </a:t>
            </a:r>
            <a:r>
              <a:rPr lang="en-US" altLang="en-US" sz="2400" dirty="0" smtClean="0">
                <a:solidFill>
                  <a:schemeClr val="tx2"/>
                </a:solidFill>
              </a:rPr>
              <a:t>seek(long) </a:t>
            </a:r>
            <a:r>
              <a:rPr lang="en-US" altLang="en-US" sz="2400" dirty="0" smtClean="0"/>
              <a:t>— Positions the file pointer just before the specified byte </a:t>
            </a:r>
          </a:p>
          <a:p>
            <a:pPr eaLnBrk="1" hangingPunct="1"/>
            <a:r>
              <a:rPr lang="en-US" altLang="en-US" sz="2400" dirty="0" smtClean="0"/>
              <a:t>long </a:t>
            </a:r>
            <a:r>
              <a:rPr lang="en-US" altLang="en-US" sz="2400" dirty="0" err="1" smtClean="0">
                <a:solidFill>
                  <a:schemeClr val="tx2"/>
                </a:solidFill>
              </a:rPr>
              <a:t>getFilePointer</a:t>
            </a:r>
            <a:r>
              <a:rPr lang="en-US" altLang="en-US" sz="2400" dirty="0" smtClean="0">
                <a:solidFill>
                  <a:schemeClr val="tx2"/>
                </a:solidFill>
              </a:rPr>
              <a:t>() </a:t>
            </a:r>
            <a:r>
              <a:rPr lang="en-US" altLang="en-US" sz="2400" dirty="0" smtClean="0"/>
              <a:t>— Returns the current byte location of the file pointer </a:t>
            </a:r>
          </a:p>
          <a:p>
            <a:pPr eaLnBrk="1" hangingPunct="1">
              <a:buFontTx/>
              <a:buNone/>
            </a:pP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61175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z="1400" smtClean="0"/>
          </a:p>
          <a:p>
            <a:pPr eaLnBrk="1" hangingPunct="1"/>
            <a:r>
              <a:rPr lang="en-US" altLang="en-US" smtClean="0"/>
              <a:t>To move the file pointer to a specific byte </a:t>
            </a:r>
            <a:br>
              <a:rPr lang="en-US" altLang="en-US" smtClean="0"/>
            </a:br>
            <a:r>
              <a:rPr lang="en-US" altLang="en-US" smtClean="0"/>
              <a:t> </a:t>
            </a:r>
            <a:r>
              <a:rPr lang="en-US" altLang="en-US" sz="2000" b="1" smtClean="0">
                <a:solidFill>
                  <a:schemeClr val="accent2"/>
                </a:solidFill>
                <a:latin typeface="Courier New" pitchFamily="49" charset="0"/>
              </a:rPr>
              <a:t>f.seek(n);</a:t>
            </a:r>
          </a:p>
          <a:p>
            <a:pPr eaLnBrk="1" hangingPunct="1"/>
            <a:r>
              <a:rPr lang="en-US" altLang="en-US" smtClean="0"/>
              <a:t>To get  current position of the file pointer.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   </a:t>
            </a:r>
            <a:r>
              <a:rPr lang="en-US" altLang="en-US" sz="2000" b="1" smtClean="0">
                <a:solidFill>
                  <a:schemeClr val="accent2"/>
                </a:solidFill>
                <a:latin typeface="Courier New" pitchFamily="49" charset="0"/>
              </a:rPr>
              <a:t>long n = f.getFilePointer();</a:t>
            </a:r>
          </a:p>
          <a:p>
            <a:pPr eaLnBrk="1" hangingPunct="1"/>
            <a:r>
              <a:rPr lang="en-US" altLang="en-US" smtClean="0"/>
              <a:t>To find the number of bytes in a file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    </a:t>
            </a:r>
            <a:r>
              <a:rPr lang="en-US" altLang="en-US" sz="2000" b="1" smtClean="0">
                <a:solidFill>
                  <a:schemeClr val="accent2"/>
                </a:solidFill>
                <a:latin typeface="Courier New" pitchFamily="49" charset="0"/>
              </a:rPr>
              <a:t>long filelength = f.length();</a:t>
            </a:r>
          </a:p>
          <a:p>
            <a:pPr eaLnBrk="1" hangingPunct="1">
              <a:buFontTx/>
              <a:buNone/>
            </a:pPr>
            <a:endParaRPr lang="en-US" altLang="en-US" sz="2000" b="1" smtClean="0">
              <a:solidFill>
                <a:schemeClr val="accent2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06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Writing Example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import java.io.*;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public class </a:t>
            </a:r>
            <a:r>
              <a:rPr lang="en-US" altLang="en-US" sz="2000" b="1" dirty="0" err="1" smtClean="0">
                <a:solidFill>
                  <a:schemeClr val="tx2"/>
                </a:solidFill>
                <a:latin typeface="Courier New" pitchFamily="49" charset="0"/>
              </a:rPr>
              <a:t>RandomAccess</a:t>
            </a:r>
            <a:r>
              <a:rPr lang="en-US" altLang="en-US" sz="2000" b="1" dirty="0" smtClean="0">
                <a:solidFill>
                  <a:schemeClr val="tx2"/>
                </a:solidFill>
                <a:latin typeface="Courier New" pitchFamily="49" charset="0"/>
              </a:rPr>
              <a:t> 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   public static void </a:t>
            </a:r>
            <a:r>
              <a:rPr lang="en-US" altLang="en-US" sz="2000" b="1" dirty="0" smtClean="0">
                <a:solidFill>
                  <a:schemeClr val="tx2"/>
                </a:solidFill>
                <a:latin typeface="Courier New" pitchFamily="49" charset="0"/>
              </a:rPr>
              <a:t>main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(String 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args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[]) throws 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IOException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RandomAccessFile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= new 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RandomAccessFile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("rand.dat", "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rw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myfile.writeInt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(120);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myfile.writeDouble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(375.50);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  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myfile.writeInt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('A'+1);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  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myfile.writeBoolean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(true);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  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myfile.writeChar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('X');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>
                <a:solidFill>
                  <a:schemeClr val="accent2"/>
                </a:solidFill>
                <a:latin typeface="Courier New" pitchFamily="49" charset="0"/>
              </a:rPr>
              <a:t>}</a:t>
            </a:r>
            <a:endParaRPr lang="en-US" altLang="en-US" sz="2000" b="1" dirty="0" smtClean="0">
              <a:solidFill>
                <a:schemeClr val="accent2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109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799" y="1981200"/>
            <a:ext cx="8208963" cy="487680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b="1" dirty="0" smtClean="0">
              <a:solidFill>
                <a:schemeClr val="accent2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//(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myfile.readBoolean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// Go to the end and </a:t>
            </a:r>
            <a:r>
              <a:rPr lang="en-US" altLang="en-US" sz="2000" b="1" dirty="0" smtClean="0">
                <a:solidFill>
                  <a:schemeClr val="accent2"/>
                </a:solidFill>
              </a:rPr>
              <a:t>“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append</a:t>
            </a:r>
            <a:r>
              <a:rPr lang="en-US" altLang="en-US" sz="2000" b="1" dirty="0" smtClean="0">
                <a:solidFill>
                  <a:schemeClr val="accent2"/>
                </a:solidFill>
              </a:rPr>
              <a:t>”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b="1" dirty="0" smtClean="0">
              <a:solidFill>
                <a:schemeClr val="accent2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myfile.seek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myfile.length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       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myfile.writeInt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(2003);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       // read 5th and 6th items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       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myfile.seek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(17);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       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000" b="1" dirty="0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System.out.println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myfile.readChar</a:t>
            </a:r>
            <a:r>
              <a:rPr lang="en-US" altLang="en-US" sz="2000" b="1" dirty="0">
                <a:solidFill>
                  <a:schemeClr val="accent2"/>
                </a:solidFill>
                <a:latin typeface="Courier New" pitchFamily="49" charset="0"/>
              </a:rPr>
              <a:t>());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		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System.out.println</a:t>
            </a: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myfile.readInt</a:t>
            </a:r>
            <a:r>
              <a:rPr lang="en-US" altLang="en-US" sz="2000" b="1" dirty="0">
                <a:solidFill>
                  <a:schemeClr val="accent2"/>
                </a:solidFill>
                <a:latin typeface="Courier New" pitchFamily="49" charset="0"/>
              </a:rPr>
              <a:t>());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chemeClr val="accent2"/>
                </a:solidFill>
                <a:latin typeface="Courier New" pitchFamily="49" charset="0"/>
              </a:rPr>
              <a:t>   </a:t>
            </a:r>
            <a:endParaRPr lang="en-US" altLang="en-US" sz="2000" b="1" dirty="0" smtClean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endParaRPr lang="en-US" altLang="en-US" sz="2000" b="1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endParaRPr lang="en-US" altLang="en-US" sz="2000" b="1" dirty="0" smtClean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endParaRPr lang="en-US" altLang="en-US" sz="2000" b="1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 smtClean="0">
                <a:solidFill>
                  <a:schemeClr val="accent2"/>
                </a:solidFill>
                <a:latin typeface="Courier New" pitchFamily="49" charset="0"/>
              </a:rPr>
              <a:t>     </a:t>
            </a:r>
            <a:r>
              <a:rPr lang="en-US" altLang="en-US" sz="2000" b="1" dirty="0" err="1">
                <a:solidFill>
                  <a:schemeClr val="accent2"/>
                </a:solidFill>
                <a:latin typeface="Courier New" pitchFamily="49" charset="0"/>
              </a:rPr>
              <a:t>System.out.println</a:t>
            </a:r>
            <a:r>
              <a:rPr lang="en-US" altLang="en-US" sz="2000" b="1" dirty="0">
                <a:solidFill>
                  <a:schemeClr val="accent2"/>
                </a:solidFill>
                <a:latin typeface="Courier New" pitchFamily="49" charset="0"/>
              </a:rPr>
              <a:t>("File length: "+</a:t>
            </a:r>
            <a:r>
              <a:rPr lang="en-US" altLang="en-US" sz="2000" b="1" dirty="0" err="1">
                <a:solidFill>
                  <a:schemeClr val="accent2"/>
                </a:solidFill>
                <a:latin typeface="Courier New" pitchFamily="49" charset="0"/>
              </a:rPr>
              <a:t>myfile.length</a:t>
            </a:r>
            <a:r>
              <a:rPr lang="en-US" altLang="en-US" sz="2000" b="1" dirty="0">
                <a:solidFill>
                  <a:schemeClr val="accent2"/>
                </a:solidFill>
                <a:latin typeface="Courier New" pitchFamily="49" charset="0"/>
              </a:rPr>
              <a:t>());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chemeClr val="accent2"/>
                </a:solidFill>
                <a:latin typeface="Courier New" pitchFamily="49" charset="0"/>
              </a:rPr>
              <a:t>     </a:t>
            </a:r>
            <a:r>
              <a:rPr lang="en-US" altLang="en-US" sz="2000" b="1" dirty="0" err="1" smtClean="0">
                <a:solidFill>
                  <a:schemeClr val="accent2"/>
                </a:solidFill>
                <a:latin typeface="Courier New" pitchFamily="49" charset="0"/>
              </a:rPr>
              <a:t>myfile.close</a:t>
            </a:r>
            <a:r>
              <a:rPr lang="en-US" altLang="en-US" sz="2000" b="1" dirty="0">
                <a:solidFill>
                  <a:schemeClr val="accent2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chemeClr val="accent2"/>
                </a:solidFill>
                <a:latin typeface="Courier New" pitchFamily="49" charset="0"/>
              </a:rPr>
              <a:t>    }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chemeClr val="accent2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b="1" dirty="0" smtClean="0">
              <a:solidFill>
                <a:schemeClr val="accent2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dirty="0" smtClean="0">
              <a:solidFill>
                <a:schemeClr val="accent2"/>
              </a:solidFill>
            </a:endParaRPr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7315200" y="1981200"/>
            <a:ext cx="838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Int</a:t>
            </a: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7315200" y="2590800"/>
            <a:ext cx="838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Double</a:t>
            </a:r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7315200" y="3505200"/>
            <a:ext cx="838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Int</a:t>
            </a:r>
          </a:p>
        </p:txBody>
      </p:sp>
      <p:sp>
        <p:nvSpPr>
          <p:cNvPr id="20486" name="Rectangle 7"/>
          <p:cNvSpPr>
            <a:spLocks noChangeArrowheads="1"/>
          </p:cNvSpPr>
          <p:nvPr/>
        </p:nvSpPr>
        <p:spPr bwMode="auto">
          <a:xfrm>
            <a:off x="7315200" y="4114800"/>
            <a:ext cx="838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 dirty="0" err="1">
                <a:latin typeface="Tahoma" pitchFamily="34" charset="0"/>
                <a:ea typeface="SimSun" pitchFamily="2" charset="-122"/>
              </a:rPr>
              <a:t>boolean</a:t>
            </a:r>
            <a:endParaRPr lang="en-US" altLang="en-US" sz="1800" dirty="0">
              <a:latin typeface="Tahoma" pitchFamily="34" charset="0"/>
              <a:ea typeface="SimSun" pitchFamily="2" charset="-122"/>
            </a:endParaRPr>
          </a:p>
        </p:txBody>
      </p:sp>
      <p:sp>
        <p:nvSpPr>
          <p:cNvPr id="20487" name="Rectangle 8"/>
          <p:cNvSpPr>
            <a:spLocks noChangeArrowheads="1"/>
          </p:cNvSpPr>
          <p:nvPr/>
        </p:nvSpPr>
        <p:spPr bwMode="auto">
          <a:xfrm>
            <a:off x="7315200" y="4343400"/>
            <a:ext cx="838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Char</a:t>
            </a:r>
          </a:p>
        </p:txBody>
      </p:sp>
      <p:sp>
        <p:nvSpPr>
          <p:cNvPr id="20488" name="Rectangle 9"/>
          <p:cNvSpPr>
            <a:spLocks noChangeArrowheads="1"/>
          </p:cNvSpPr>
          <p:nvPr/>
        </p:nvSpPr>
        <p:spPr bwMode="auto">
          <a:xfrm>
            <a:off x="7315200" y="4724400"/>
            <a:ext cx="838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Int</a:t>
            </a:r>
          </a:p>
        </p:txBody>
      </p:sp>
      <p:sp>
        <p:nvSpPr>
          <p:cNvPr id="20489" name="Line 10"/>
          <p:cNvSpPr>
            <a:spLocks noChangeShapeType="1"/>
          </p:cNvSpPr>
          <p:nvPr/>
        </p:nvSpPr>
        <p:spPr bwMode="auto">
          <a:xfrm flipH="1">
            <a:off x="8229600" y="1981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20490" name="Text Box 11"/>
          <p:cNvSpPr txBox="1">
            <a:spLocks noChangeArrowheads="1"/>
          </p:cNvSpPr>
          <p:nvPr/>
        </p:nvSpPr>
        <p:spPr bwMode="auto">
          <a:xfrm>
            <a:off x="8453438" y="1784350"/>
            <a:ext cx="3095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0</a:t>
            </a:r>
          </a:p>
        </p:txBody>
      </p:sp>
      <p:sp>
        <p:nvSpPr>
          <p:cNvPr id="20491" name="Line 12"/>
          <p:cNvSpPr>
            <a:spLocks noChangeShapeType="1"/>
          </p:cNvSpPr>
          <p:nvPr/>
        </p:nvSpPr>
        <p:spPr bwMode="auto">
          <a:xfrm flipH="1">
            <a:off x="8229600" y="264953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20492" name="Text Box 13"/>
          <p:cNvSpPr txBox="1">
            <a:spLocks noChangeArrowheads="1"/>
          </p:cNvSpPr>
          <p:nvPr/>
        </p:nvSpPr>
        <p:spPr bwMode="auto">
          <a:xfrm>
            <a:off x="8456613" y="2452688"/>
            <a:ext cx="309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4</a:t>
            </a:r>
          </a:p>
        </p:txBody>
      </p:sp>
      <p:sp>
        <p:nvSpPr>
          <p:cNvPr id="20493" name="Line 14"/>
          <p:cNvSpPr>
            <a:spLocks noChangeShapeType="1"/>
          </p:cNvSpPr>
          <p:nvPr/>
        </p:nvSpPr>
        <p:spPr bwMode="auto">
          <a:xfrm flipH="1">
            <a:off x="8226425" y="35496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20494" name="Line 15"/>
          <p:cNvSpPr>
            <a:spLocks noChangeShapeType="1"/>
          </p:cNvSpPr>
          <p:nvPr/>
        </p:nvSpPr>
        <p:spPr bwMode="auto">
          <a:xfrm flipH="1">
            <a:off x="8239125" y="41592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20495" name="Line 16"/>
          <p:cNvSpPr>
            <a:spLocks noChangeShapeType="1"/>
          </p:cNvSpPr>
          <p:nvPr/>
        </p:nvSpPr>
        <p:spPr bwMode="auto">
          <a:xfrm flipH="1">
            <a:off x="8229600" y="43878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20496" name="Line 17"/>
          <p:cNvSpPr>
            <a:spLocks noChangeShapeType="1"/>
          </p:cNvSpPr>
          <p:nvPr/>
        </p:nvSpPr>
        <p:spPr bwMode="auto">
          <a:xfrm flipH="1">
            <a:off x="8229600" y="478313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20497" name="Line 18"/>
          <p:cNvSpPr>
            <a:spLocks noChangeShapeType="1"/>
          </p:cNvSpPr>
          <p:nvPr/>
        </p:nvSpPr>
        <p:spPr bwMode="auto">
          <a:xfrm flipH="1">
            <a:off x="8229600" y="539273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20498" name="Text Box 19"/>
          <p:cNvSpPr txBox="1">
            <a:spLocks noChangeArrowheads="1"/>
          </p:cNvSpPr>
          <p:nvPr/>
        </p:nvSpPr>
        <p:spPr bwMode="auto">
          <a:xfrm>
            <a:off x="8391525" y="3352800"/>
            <a:ext cx="434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12</a:t>
            </a:r>
          </a:p>
        </p:txBody>
      </p:sp>
      <p:sp>
        <p:nvSpPr>
          <p:cNvPr id="20499" name="Text Box 20"/>
          <p:cNvSpPr txBox="1">
            <a:spLocks noChangeArrowheads="1"/>
          </p:cNvSpPr>
          <p:nvPr/>
        </p:nvSpPr>
        <p:spPr bwMode="auto">
          <a:xfrm>
            <a:off x="8404225" y="3962400"/>
            <a:ext cx="434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16</a:t>
            </a:r>
          </a:p>
        </p:txBody>
      </p:sp>
      <p:sp>
        <p:nvSpPr>
          <p:cNvPr id="20500" name="Text Box 21"/>
          <p:cNvSpPr txBox="1">
            <a:spLocks noChangeArrowheads="1"/>
          </p:cNvSpPr>
          <p:nvPr/>
        </p:nvSpPr>
        <p:spPr bwMode="auto">
          <a:xfrm>
            <a:off x="8394700" y="4191000"/>
            <a:ext cx="434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17</a:t>
            </a:r>
          </a:p>
        </p:txBody>
      </p:sp>
      <p:sp>
        <p:nvSpPr>
          <p:cNvPr id="20501" name="Text Box 22"/>
          <p:cNvSpPr txBox="1">
            <a:spLocks noChangeArrowheads="1"/>
          </p:cNvSpPr>
          <p:nvPr/>
        </p:nvSpPr>
        <p:spPr bwMode="auto">
          <a:xfrm>
            <a:off x="8394700" y="4586288"/>
            <a:ext cx="434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19</a:t>
            </a:r>
          </a:p>
        </p:txBody>
      </p:sp>
      <p:sp>
        <p:nvSpPr>
          <p:cNvPr id="20502" name="Text Box 23"/>
          <p:cNvSpPr txBox="1">
            <a:spLocks noChangeArrowheads="1"/>
          </p:cNvSpPr>
          <p:nvPr/>
        </p:nvSpPr>
        <p:spPr bwMode="auto">
          <a:xfrm>
            <a:off x="8394700" y="5195888"/>
            <a:ext cx="434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itchFamily="34" charset="0"/>
                <a:ea typeface="SimSun" pitchFamily="2" charset="-122"/>
              </a:rPr>
              <a:t>23</a:t>
            </a:r>
          </a:p>
        </p:txBody>
      </p:sp>
      <p:sp>
        <p:nvSpPr>
          <p:cNvPr id="20503" name="Line 24"/>
          <p:cNvSpPr>
            <a:spLocks noChangeShapeType="1"/>
          </p:cNvSpPr>
          <p:nvPr/>
        </p:nvSpPr>
        <p:spPr bwMode="auto">
          <a:xfrm flipH="1" flipV="1">
            <a:off x="6553200" y="4387850"/>
            <a:ext cx="685800" cy="317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// set pointer to the beginning of file and read next two items</a:t>
            </a:r>
          </a:p>
          <a:p>
            <a:pPr>
              <a:lnSpc>
                <a:spcPct val="80000"/>
              </a:lnSpc>
            </a:pP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        </a:t>
            </a:r>
            <a:r>
              <a:rPr lang="en-US" altLang="en-US" b="1" dirty="0" err="1">
                <a:solidFill>
                  <a:schemeClr val="accent2"/>
                </a:solidFill>
                <a:latin typeface="Courier New" pitchFamily="49" charset="0"/>
              </a:rPr>
              <a:t>myfile.seek</a:t>
            </a: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(0);</a:t>
            </a:r>
          </a:p>
          <a:p>
            <a:pPr>
              <a:lnSpc>
                <a:spcPct val="80000"/>
              </a:lnSpc>
            </a:pP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        </a:t>
            </a:r>
            <a:r>
              <a:rPr lang="en-US" altLang="en-US" b="1" dirty="0" err="1">
                <a:solidFill>
                  <a:schemeClr val="accent2"/>
                </a:solidFill>
                <a:latin typeface="Courier New" pitchFamily="49" charset="0"/>
              </a:rPr>
              <a:t>System.out.println</a:t>
            </a: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altLang="en-US" b="1" dirty="0" err="1">
                <a:solidFill>
                  <a:schemeClr val="accent2"/>
                </a:solidFill>
                <a:latin typeface="Courier New" pitchFamily="49" charset="0"/>
              </a:rPr>
              <a:t>myfile.readInt</a:t>
            </a: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());</a:t>
            </a:r>
          </a:p>
          <a:p>
            <a:pPr>
              <a:lnSpc>
                <a:spcPct val="80000"/>
              </a:lnSpc>
            </a:pP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        </a:t>
            </a:r>
            <a:r>
              <a:rPr lang="en-US" altLang="en-US" b="1" dirty="0" err="1">
                <a:solidFill>
                  <a:schemeClr val="accent2"/>
                </a:solidFill>
                <a:latin typeface="Courier New" pitchFamily="49" charset="0"/>
              </a:rPr>
              <a:t>System.out.println</a:t>
            </a: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altLang="en-US" b="1" dirty="0" err="1">
                <a:solidFill>
                  <a:schemeClr val="accent2"/>
                </a:solidFill>
                <a:latin typeface="Courier New" pitchFamily="49" charset="0"/>
              </a:rPr>
              <a:t>myfile.readDouble</a:t>
            </a: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());</a:t>
            </a:r>
          </a:p>
          <a:p>
            <a:pPr>
              <a:lnSpc>
                <a:spcPct val="80000"/>
              </a:lnSpc>
            </a:pPr>
            <a:endParaRPr lang="en-US" altLang="en-US" b="1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//set pointer to the 4th item and read it</a:t>
            </a:r>
          </a:p>
          <a:p>
            <a:pPr>
              <a:lnSpc>
                <a:spcPct val="80000"/>
              </a:lnSpc>
            </a:pP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        </a:t>
            </a:r>
            <a:r>
              <a:rPr lang="en-US" altLang="en-US" b="1" dirty="0" err="1">
                <a:solidFill>
                  <a:schemeClr val="accent2"/>
                </a:solidFill>
                <a:latin typeface="Courier New" pitchFamily="49" charset="0"/>
              </a:rPr>
              <a:t>myfile.seek</a:t>
            </a: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(16);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        </a:t>
            </a:r>
            <a:r>
              <a:rPr lang="en-US" altLang="en-US" b="1" dirty="0" err="1">
                <a:solidFill>
                  <a:schemeClr val="accent2"/>
                </a:solidFill>
                <a:latin typeface="Courier New" pitchFamily="49" charset="0"/>
              </a:rPr>
              <a:t>System.out.println</a:t>
            </a: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 (</a:t>
            </a:r>
            <a:r>
              <a:rPr lang="en-US" altLang="en-US" b="1" dirty="0" err="1">
                <a:solidFill>
                  <a:schemeClr val="accent2"/>
                </a:solidFill>
                <a:latin typeface="Courier New" pitchFamily="49" charset="0"/>
              </a:rPr>
              <a:t>myfile.readBoolean</a:t>
            </a:r>
            <a:r>
              <a:rPr lang="en-US" altLang="en-US" b="1" dirty="0">
                <a:solidFill>
                  <a:schemeClr val="accent2"/>
                </a:solidFill>
                <a:latin typeface="Courier New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272857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/>
              <a:t>Ex, Write, modify and read file (byte)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0" y="2462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1622" name="Rectangle 6"/>
          <p:cNvSpPr>
            <a:spLocks noChangeArrowheads="1"/>
          </p:cNvSpPr>
          <p:nvPr/>
        </p:nvSpPr>
        <p:spPr bwMode="auto">
          <a:xfrm>
            <a:off x="114300" y="969288"/>
            <a:ext cx="8915400" cy="5355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en-US" sz="18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java.io.IOException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8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java.io.RandomAccessFile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800" dirty="0">
              <a:latin typeface="Consolas"/>
            </a:endParaRPr>
          </a:p>
          <a:p>
            <a:r>
              <a:rPr lang="en-US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RAF_SaveRead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RandomAccessFile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rf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RandomAccessFile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b="1" dirty="0">
                <a:solidFill>
                  <a:srgbClr val="2A00FF"/>
                </a:solidFill>
                <a:latin typeface="Consolas"/>
              </a:rPr>
              <a:t>"test.dat"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800" b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800" b="1" dirty="0" err="1">
                <a:solidFill>
                  <a:srgbClr val="2A00FF"/>
                </a:solidFill>
                <a:latin typeface="Consolas"/>
              </a:rPr>
              <a:t>rw</a:t>
            </a:r>
            <a:r>
              <a:rPr lang="en-US" sz="1800" b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nn-NO" sz="18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nn-NO" sz="18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nn-NO" sz="1800" b="1" dirty="0">
                <a:solidFill>
                  <a:srgbClr val="7F0055"/>
                </a:solidFill>
                <a:latin typeface="Consolas"/>
              </a:rPr>
              <a:t>int</a:t>
            </a:r>
            <a:r>
              <a:rPr lang="nn-NO" sz="1800" b="1" dirty="0">
                <a:solidFill>
                  <a:srgbClr val="000000"/>
                </a:solidFill>
                <a:latin typeface="Consolas"/>
              </a:rPr>
              <a:t> i = 0; i &lt; 10;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rf.</a:t>
            </a:r>
            <a:r>
              <a:rPr lang="en-US" sz="1800" b="1" dirty="0" err="1">
                <a:solidFill>
                  <a:srgbClr val="C00000"/>
                </a:solidFill>
                <a:latin typeface="Consolas"/>
              </a:rPr>
              <a:t>writeByte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rf.close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rf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RandomAccessFile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b="1" dirty="0">
                <a:solidFill>
                  <a:srgbClr val="2A00FF"/>
                </a:solidFill>
                <a:latin typeface="Consolas"/>
              </a:rPr>
              <a:t>"test.dat"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800" b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800" b="1" dirty="0" err="1">
                <a:solidFill>
                  <a:srgbClr val="2A00FF"/>
                </a:solidFill>
                <a:latin typeface="Consolas"/>
              </a:rPr>
              <a:t>rw</a:t>
            </a:r>
            <a:r>
              <a:rPr lang="en-US" sz="1800" b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rf.</a:t>
            </a:r>
            <a:r>
              <a:rPr lang="en-US" sz="1800" b="1" dirty="0" err="1">
                <a:solidFill>
                  <a:srgbClr val="C00000"/>
                </a:solidFill>
                <a:latin typeface="Consolas"/>
              </a:rPr>
              <a:t>seek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(5); </a:t>
            </a:r>
            <a:r>
              <a:rPr lang="en-US" sz="1800" dirty="0">
                <a:solidFill>
                  <a:srgbClr val="3F7F5F"/>
                </a:solidFill>
                <a:latin typeface="Consolas"/>
              </a:rPr>
              <a:t>//seek at the byte 5th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rf.</a:t>
            </a:r>
            <a:r>
              <a:rPr lang="en-US" sz="1800" b="1" dirty="0" err="1">
                <a:solidFill>
                  <a:srgbClr val="C00000"/>
                </a:solidFill>
                <a:latin typeface="Consolas"/>
              </a:rPr>
              <a:t>writeByte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(100); </a:t>
            </a:r>
            <a:r>
              <a:rPr lang="en-US" sz="1800" dirty="0">
                <a:solidFill>
                  <a:srgbClr val="3F7F5F"/>
                </a:solidFill>
                <a:latin typeface="Consolas"/>
              </a:rPr>
              <a:t>//change value to 100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rf.</a:t>
            </a:r>
            <a:r>
              <a:rPr lang="en-US" sz="1800" b="1" dirty="0" err="1">
                <a:solidFill>
                  <a:srgbClr val="C00000"/>
                </a:solidFill>
                <a:latin typeface="Consolas"/>
              </a:rPr>
              <a:t>close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rf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/>
              </a:rPr>
              <a:t>RandomAccessFile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b="1" dirty="0">
                <a:solidFill>
                  <a:srgbClr val="2A00FF"/>
                </a:solidFill>
                <a:latin typeface="Consolas"/>
              </a:rPr>
              <a:t>"test.dat"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800" b="1" dirty="0">
                <a:solidFill>
                  <a:srgbClr val="2A00FF"/>
                </a:solidFill>
                <a:latin typeface="Consolas"/>
              </a:rPr>
              <a:t>"r"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nn-NO" sz="18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nn-NO" sz="18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nn-NO" sz="1800" b="1" dirty="0">
                <a:solidFill>
                  <a:srgbClr val="7F0055"/>
                </a:solidFill>
                <a:latin typeface="Consolas"/>
              </a:rPr>
              <a:t>int</a:t>
            </a:r>
            <a:r>
              <a:rPr lang="nn-NO" sz="1800" b="1" dirty="0">
                <a:solidFill>
                  <a:srgbClr val="000000"/>
                </a:solidFill>
                <a:latin typeface="Consolas"/>
              </a:rPr>
              <a:t> i = 0; i &lt; 10;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18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"Value 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800" i="1" dirty="0">
                <a:solidFill>
                  <a:srgbClr val="2A00FF"/>
                </a:solidFill>
                <a:latin typeface="Consolas"/>
              </a:rPr>
              <a:t>": "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800" i="1" dirty="0" err="1">
                <a:solidFill>
                  <a:srgbClr val="000000"/>
                </a:solidFill>
                <a:latin typeface="Consolas"/>
              </a:rPr>
              <a:t>rf.</a:t>
            </a:r>
            <a:r>
              <a:rPr lang="en-US" sz="1800" b="1" i="1" dirty="0" err="1">
                <a:solidFill>
                  <a:srgbClr val="C00000"/>
                </a:solidFill>
                <a:latin typeface="Consolas"/>
              </a:rPr>
              <a:t>readByte</a:t>
            </a:r>
            <a:r>
              <a:rPr lang="en-US" sz="1800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rf.close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5488965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 sz="3400" dirty="0" smtClean="0"/>
              <a:t>Reading Example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 err="1" smtClean="0"/>
              <a:t>RandomAccessFile</a:t>
            </a:r>
            <a:r>
              <a:rPr lang="en-US" altLang="en-US" sz="2400" dirty="0" smtClean="0"/>
              <a:t> creates random access files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smtClean="0"/>
              <a:t>Contains familiar read( ), write( ), open( ), close( )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smtClean="0"/>
              <a:t>seek( ) method selects start position within a file before read or write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smtClean="0"/>
              <a:t>Places a file pointer at the selected location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smtClean="0"/>
              <a:t>File pointer holds byte number of next file position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smtClean="0"/>
              <a:t>Ex: locate 32</a:t>
            </a:r>
            <a:r>
              <a:rPr lang="en-US" altLang="en-US" baseline="30000" dirty="0" smtClean="0"/>
              <a:t>nd</a:t>
            </a:r>
            <a:r>
              <a:rPr lang="en-US" altLang="en-US" dirty="0" smtClean="0"/>
              <a:t>  character in file, which may then be read</a:t>
            </a:r>
            <a:r>
              <a:rPr lang="en-US" altLang="en-US" sz="2000" dirty="0" smtClean="0"/>
              <a:t>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33360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Reading a File using </a:t>
            </a:r>
            <a:r>
              <a:rPr lang="en-US" altLang="en-US" dirty="0" err="1" smtClean="0"/>
              <a:t>RandomAccessFile</a:t>
            </a:r>
            <a:endParaRPr lang="en-US" alt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152400" y="121920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java.io.*;</a:t>
            </a:r>
          </a:p>
          <a:p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AccessCharacter</a:t>
            </a: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sz="16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args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IOException</a:t>
            </a: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RandomAccessFile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inFile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RandomAccessFile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sz="1600" b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test.txt"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1600" b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"r</a:t>
            </a:r>
            <a:r>
              <a:rPr lang="en-US" sz="1600" b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pos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17;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try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{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inFile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.seek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 (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inFile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.read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())!=-1)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6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6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((</a:t>
            </a:r>
            <a:r>
              <a:rPr lang="en-US" sz="1600" b="1" i="1" dirty="0">
                <a:solidFill>
                  <a:srgbClr val="7F0055"/>
                </a:solidFill>
                <a:latin typeface="Courier New" panose="02070309020205020404" pitchFamily="49" charset="0"/>
              </a:rPr>
              <a:t>char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sz="1600" b="1" i="1" dirty="0">
                <a:solidFill>
                  <a:srgbClr val="6A3E3E"/>
                </a:solidFill>
                <a:latin typeface="Courier New" panose="02070309020205020404" pitchFamily="49" charset="0"/>
              </a:rPr>
              <a:t>c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catch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IOException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{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6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6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inFile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.close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} </a:t>
            </a:r>
          </a:p>
          <a:p>
            <a:endParaRPr lang="en-US" sz="1600" dirty="0">
              <a:latin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61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/>
              <a:t>Zip File Example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517803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java.util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.*;</a:t>
            </a:r>
          </a:p>
          <a:p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java.util.zip.*;</a:t>
            </a:r>
          </a:p>
          <a:p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java.io.*;</a:t>
            </a:r>
          </a:p>
          <a:p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ZipFileTest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sz="16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args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Exception{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ZipFile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u="sng" dirty="0" err="1">
                <a:solidFill>
                  <a:srgbClr val="6A3E3E"/>
                </a:solidFill>
                <a:latin typeface="Courier New" panose="02070309020205020404" pitchFamily="49" charset="0"/>
              </a:rPr>
              <a:t>zipFile</a:t>
            </a:r>
            <a:r>
              <a:rPr lang="en-US" sz="1600" u="sng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u="sng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6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ZipFile</a:t>
            </a:r>
            <a:r>
              <a:rPr lang="en-US" sz="16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u="sng" dirty="0">
                <a:solidFill>
                  <a:srgbClr val="2A00FF"/>
                </a:solidFill>
                <a:latin typeface="Courier New" panose="02070309020205020404" pitchFamily="49" charset="0"/>
              </a:rPr>
              <a:t>"test.zip"</a:t>
            </a:r>
            <a:r>
              <a:rPr lang="en-US" sz="16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600" dirty="0" smtClean="0">
                <a:solidFill>
                  <a:srgbClr val="3F7F5F"/>
                </a:solidFill>
                <a:latin typeface="Courier New" panose="02070309020205020404" pitchFamily="49" charset="0"/>
              </a:rPr>
              <a:t>	// </a:t>
            </a:r>
            <a:r>
              <a:rPr lang="en-US" sz="1600" dirty="0">
                <a:solidFill>
                  <a:srgbClr val="3F7F5F"/>
                </a:solidFill>
                <a:latin typeface="Courier New" panose="02070309020205020404" pitchFamily="49" charset="0"/>
              </a:rPr>
              <a:t>Get a single entry from a </a:t>
            </a:r>
            <a:r>
              <a:rPr lang="en-US" sz="1600" u="sng" dirty="0">
                <a:solidFill>
                  <a:srgbClr val="3F7F5F"/>
                </a:solidFill>
                <a:latin typeface="Courier New" panose="02070309020205020404" pitchFamily="49" charset="0"/>
              </a:rPr>
              <a:t>zip file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ZipEntry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zipEntry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zipFile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.getEntry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2A00FF"/>
                </a:solidFill>
                <a:latin typeface="Courier New" panose="02070309020205020404" pitchFamily="49" charset="0"/>
              </a:rPr>
              <a:t>"test/test.txt"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InputStream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inputStream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zipFile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.getInputStream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zipEntry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600" b="1" dirty="0" err="1" smtClean="0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while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((</a:t>
            </a:r>
            <a:r>
              <a:rPr lang="en-US" sz="16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16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inputStream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.read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())!=-1)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600" b="1" i="1" dirty="0" err="1" smtClean="0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600" b="1" i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.print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((</a:t>
            </a:r>
            <a:r>
              <a:rPr lang="en-US" sz="1600" b="1" i="1" dirty="0">
                <a:solidFill>
                  <a:srgbClr val="7F0055"/>
                </a:solidFill>
                <a:latin typeface="Courier New" panose="02070309020205020404" pitchFamily="49" charset="0"/>
              </a:rPr>
              <a:t>char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sz="1600" b="1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i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600" dirty="0" smtClean="0">
                <a:solidFill>
                  <a:srgbClr val="3F7F5F"/>
                </a:solidFill>
                <a:latin typeface="Courier New" panose="02070309020205020404" pitchFamily="49" charset="0"/>
              </a:rPr>
              <a:t>	//</a:t>
            </a:r>
            <a:r>
              <a:rPr lang="en-US" sz="1600" dirty="0">
                <a:solidFill>
                  <a:srgbClr val="3F7F5F"/>
                </a:solidFill>
                <a:latin typeface="Courier New" panose="02070309020205020404" pitchFamily="49" charset="0"/>
              </a:rPr>
              <a:t>list all entries in a </a:t>
            </a:r>
            <a:r>
              <a:rPr lang="en-US" sz="1600" u="sng" dirty="0">
                <a:solidFill>
                  <a:srgbClr val="3F7F5F"/>
                </a:solidFill>
                <a:latin typeface="Courier New" panose="02070309020205020404" pitchFamily="49" charset="0"/>
              </a:rPr>
              <a:t>zip file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Enumeration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&lt;?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extends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ZipEntry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&gt;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entries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zipFile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.entries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while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 err="1" smtClean="0">
                <a:solidFill>
                  <a:srgbClr val="6A3E3E"/>
                </a:solidFill>
                <a:latin typeface="Courier New" panose="02070309020205020404" pitchFamily="49" charset="0"/>
              </a:rPr>
              <a:t>entries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.hasMoreElements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()){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ZipEntry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6A3E3E"/>
                </a:solidFill>
                <a:latin typeface="Courier New" panose="02070309020205020404" pitchFamily="49" charset="0"/>
              </a:rPr>
              <a:t>entry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entries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.nextElement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 err="1" smtClean="0">
                <a:solidFill>
                  <a:srgbClr val="6A3E3E"/>
                </a:solidFill>
                <a:latin typeface="Courier New" panose="02070309020205020404" pitchFamily="49" charset="0"/>
              </a:rPr>
              <a:t>entry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.isDirectory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()){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600" b="1" i="1" dirty="0" err="1" smtClean="0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600" b="1" i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sz="1600" b="1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dir</a:t>
            </a:r>
            <a:r>
              <a:rPr lang="en-US" sz="16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  : "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sz="1600" b="1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entry</a:t>
            </a:r>
            <a:r>
              <a:rPr lang="en-US" sz="16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.getName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	}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else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600" b="1" i="1" dirty="0" err="1" smtClean="0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600" b="1" i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"file : "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sz="1600" b="1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entry</a:t>
            </a:r>
            <a:r>
              <a:rPr lang="en-US" sz="16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.getName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	}</a:t>
            </a: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42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2D679B6F40C48B2519DEB851FE85E" ma:contentTypeVersion="0" ma:contentTypeDescription="Create a new document." ma:contentTypeScope="" ma:versionID="ca0eff15ccbfe079c26c4eccae0f3b9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5A5AD5E-1A32-4456-91F9-883EE6370C8A}"/>
</file>

<file path=customXml/itemProps2.xml><?xml version="1.0" encoding="utf-8"?>
<ds:datastoreItem xmlns:ds="http://schemas.openxmlformats.org/officeDocument/2006/customXml" ds:itemID="{E2A2D877-1283-462A-8194-BDEC80992857}"/>
</file>

<file path=customXml/itemProps3.xml><?xml version="1.0" encoding="utf-8"?>
<ds:datastoreItem xmlns:ds="http://schemas.openxmlformats.org/officeDocument/2006/customXml" ds:itemID="{2EA3C30B-179B-4216-8351-E05443EBC310}"/>
</file>

<file path=docProps/app.xml><?xml version="1.0" encoding="utf-8"?>
<Properties xmlns="http://schemas.openxmlformats.org/officeDocument/2006/extended-properties" xmlns:vt="http://schemas.openxmlformats.org/officeDocument/2006/docPropsVTypes">
  <TotalTime>3511</TotalTime>
  <Words>2304</Words>
  <Application>Microsoft Office PowerPoint</Application>
  <PresentationFormat>On-screen Show (4:3)</PresentationFormat>
  <Paragraphs>557</Paragraphs>
  <Slides>48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SimSun</vt:lpstr>
      <vt:lpstr>Arial</vt:lpstr>
      <vt:lpstr>Arial Unicode MS</vt:lpstr>
      <vt:lpstr>Calibri</vt:lpstr>
      <vt:lpstr>Consolas</vt:lpstr>
      <vt:lpstr>Courier New</vt:lpstr>
      <vt:lpstr>Lucida Console</vt:lpstr>
      <vt:lpstr>Segoe UI</vt:lpstr>
      <vt:lpstr>Tahoma</vt:lpstr>
      <vt:lpstr>Office Theme</vt:lpstr>
      <vt:lpstr>Bitmap Image</vt:lpstr>
      <vt:lpstr>Java I/O</vt:lpstr>
      <vt:lpstr>PowerPoint Presentation</vt:lpstr>
      <vt:lpstr>Byte Stream</vt:lpstr>
      <vt:lpstr>Character Stream</vt:lpstr>
      <vt:lpstr>ByteArrayInputStream class</vt:lpstr>
      <vt:lpstr>Ex: Convert string into InputStream using ByteArrayInputStream class</vt:lpstr>
      <vt:lpstr>ByteArrayOutputStream</vt:lpstr>
      <vt:lpstr>Ex: Convert  OutputStream to String using ByteArrayOutputStream class</vt:lpstr>
      <vt:lpstr>Ex ByteArrayIOStream</vt:lpstr>
      <vt:lpstr>Buffered IO Stream</vt:lpstr>
      <vt:lpstr>Filter IO Stream</vt:lpstr>
      <vt:lpstr>Buffered IO Stream</vt:lpstr>
      <vt:lpstr>Ex Read from String with BufferedInputStream</vt:lpstr>
      <vt:lpstr>BufferedInputStream</vt:lpstr>
      <vt:lpstr>Ex, Read from file with BufferedInputStream</vt:lpstr>
      <vt:lpstr>File Copy Without Buffer</vt:lpstr>
      <vt:lpstr>File Copy With Buffered Stream</vt:lpstr>
      <vt:lpstr>Data IO Stream</vt:lpstr>
      <vt:lpstr>DataInputStream</vt:lpstr>
      <vt:lpstr>DataOutStream</vt:lpstr>
      <vt:lpstr>Ex, DataInput/OutputStream</vt:lpstr>
      <vt:lpstr>Example (Students)</vt:lpstr>
      <vt:lpstr>Example (Students)</vt:lpstr>
      <vt:lpstr>Example (Students)</vt:lpstr>
      <vt:lpstr>File &amp; RandomAccess File</vt:lpstr>
      <vt:lpstr>File class: Constructor and Methods</vt:lpstr>
      <vt:lpstr>Example</vt:lpstr>
      <vt:lpstr>Ex: Creates a file and sets it to read-only</vt:lpstr>
      <vt:lpstr>Random Access Files</vt:lpstr>
      <vt:lpstr>Need for Random Access Files</vt:lpstr>
      <vt:lpstr>Example</vt:lpstr>
      <vt:lpstr>Accessing a specific file using sequential access</vt:lpstr>
      <vt:lpstr>Accessing a specific file using random access</vt:lpstr>
      <vt:lpstr>RandomAccessFiles class</vt:lpstr>
      <vt:lpstr>RandomAccessFile Class</vt:lpstr>
      <vt:lpstr>Methods to support seeking</vt:lpstr>
      <vt:lpstr>Constructor Summary</vt:lpstr>
      <vt:lpstr>Constructor Summary</vt:lpstr>
      <vt:lpstr>Methods</vt:lpstr>
      <vt:lpstr>File Pointer</vt:lpstr>
      <vt:lpstr>Manipulate file pointer</vt:lpstr>
      <vt:lpstr>Example</vt:lpstr>
      <vt:lpstr>Writing Example</vt:lpstr>
      <vt:lpstr>PowerPoint Presentation</vt:lpstr>
      <vt:lpstr>Ex, Write, modify and read file (byte)</vt:lpstr>
      <vt:lpstr>Reading Example</vt:lpstr>
      <vt:lpstr>Reading a File using RandomAccessFile</vt:lpstr>
      <vt:lpstr>Zip File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Imran</dc:creator>
  <cp:lastModifiedBy>Adeel-ur-Rehman</cp:lastModifiedBy>
  <cp:revision>1648</cp:revision>
  <dcterms:created xsi:type="dcterms:W3CDTF">2016-10-08T12:39:52Z</dcterms:created>
  <dcterms:modified xsi:type="dcterms:W3CDTF">2019-09-30T10:59:04Z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0x0101008242D679B6F40C48B2519DEB851FE85E</vt:lpwstr>
  </property>
</Properties>
</file>