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s/slide39.xml" ContentType="application/vnd.openxmlformats-officedocument.presentationml.slide+xml"/>
  <Override PartName="/ppt/slides/slide38.xml" ContentType="application/vnd.openxmlformats-officedocument.presentationml.slide+xml"/>
  <Override PartName="/ppt/slides/slide37.xml" ContentType="application/vnd.openxmlformats-officedocument.presentationml.slide+xml"/>
  <Override PartName="/ppt/slides/slide36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7.xml" ContentType="application/vnd.openxmlformats-officedocument.presentationml.slide+xml"/>
  <Override PartName="/ppt/slides/slide46.xml" ContentType="application/vnd.openxmlformats-officedocument.presentationml.slide+xml"/>
  <Override PartName="/ppt/slides/slide45.xml" ContentType="application/vnd.openxmlformats-officedocument.presentationml.slide+xml"/>
  <Override PartName="/ppt/slides/slide44.xml" ContentType="application/vnd.openxmlformats-officedocument.presentationml.slide+xml"/>
  <Override PartName="/ppt/slides/slide35.xml" ContentType="application/vnd.openxmlformats-officedocument.presentationml.slide+xml"/>
  <Override PartName="/ppt/slides/slide34.xml" ContentType="application/vnd.openxmlformats-officedocument.presentationml.slide+xml"/>
  <Override PartName="/ppt/slides/slide33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2.xml" ContentType="application/vnd.openxmlformats-officedocument.presentationml.slide+xml"/>
  <Override PartName="/ppt/slides/slide31.xml" ContentType="application/vnd.openxmlformats-officedocument.presentationml.slide+xml"/>
  <Override PartName="/ppt/slides/slide30.xml" ContentType="application/vnd.openxmlformats-officedocument.presentationml.slide+xml"/>
  <Override PartName="/ppt/slides/slide29.xml" ContentType="application/vnd.openxmlformats-officedocument.presentationml.slide+xml"/>
  <Override PartName="/ppt/slides/slide19.xml" ContentType="application/vnd.openxmlformats-officedocument.presentationml.slide+xml"/>
  <Override PartName="/ppt/slides/slide18.xml" ContentType="application/vnd.openxmlformats-officedocument.presentationml.slide+xml"/>
  <Override PartName="/ppt/slides/slide16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9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theme/theme3.xml" ContentType="application/vnd.openxmlformats-officedocument.theme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72" r:id="rId1"/>
  </p:sldMasterIdLst>
  <p:notesMasterIdLst>
    <p:notesMasterId r:id="rId49"/>
  </p:notesMasterIdLst>
  <p:handoutMasterIdLst>
    <p:handoutMasterId r:id="rId50"/>
  </p:handoutMasterIdLst>
  <p:sldIdLst>
    <p:sldId id="397" r:id="rId2"/>
    <p:sldId id="398" r:id="rId3"/>
    <p:sldId id="400" r:id="rId4"/>
    <p:sldId id="401" r:id="rId5"/>
    <p:sldId id="402" r:id="rId6"/>
    <p:sldId id="403" r:id="rId7"/>
    <p:sldId id="404" r:id="rId8"/>
    <p:sldId id="405" r:id="rId9"/>
    <p:sldId id="406" r:id="rId10"/>
    <p:sldId id="407" r:id="rId11"/>
    <p:sldId id="293" r:id="rId12"/>
    <p:sldId id="319" r:id="rId13"/>
    <p:sldId id="321" r:id="rId14"/>
    <p:sldId id="324" r:id="rId15"/>
    <p:sldId id="326" r:id="rId16"/>
    <p:sldId id="327" r:id="rId17"/>
    <p:sldId id="328" r:id="rId18"/>
    <p:sldId id="329" r:id="rId19"/>
    <p:sldId id="330" r:id="rId20"/>
    <p:sldId id="331" r:id="rId21"/>
    <p:sldId id="332" r:id="rId22"/>
    <p:sldId id="333" r:id="rId23"/>
    <p:sldId id="335" r:id="rId24"/>
    <p:sldId id="336" r:id="rId25"/>
    <p:sldId id="345" r:id="rId26"/>
    <p:sldId id="346" r:id="rId27"/>
    <p:sldId id="371" r:id="rId28"/>
    <p:sldId id="373" r:id="rId29"/>
    <p:sldId id="374" r:id="rId30"/>
    <p:sldId id="375" r:id="rId31"/>
    <p:sldId id="377" r:id="rId32"/>
    <p:sldId id="376" r:id="rId33"/>
    <p:sldId id="387" r:id="rId34"/>
    <p:sldId id="381" r:id="rId35"/>
    <p:sldId id="382" r:id="rId36"/>
    <p:sldId id="384" r:id="rId37"/>
    <p:sldId id="383" r:id="rId38"/>
    <p:sldId id="385" r:id="rId39"/>
    <p:sldId id="408" r:id="rId40"/>
    <p:sldId id="409" r:id="rId41"/>
    <p:sldId id="410" r:id="rId42"/>
    <p:sldId id="411" r:id="rId43"/>
    <p:sldId id="412" r:id="rId44"/>
    <p:sldId id="413" r:id="rId45"/>
    <p:sldId id="414" r:id="rId46"/>
    <p:sldId id="415" r:id="rId47"/>
    <p:sldId id="416" r:id="rId48"/>
  </p:sldIdLst>
  <p:sldSz cx="9144000" cy="6858000" type="screen4x3"/>
  <p:notesSz cx="70485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2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234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226" autoAdjust="0"/>
    <p:restoredTop sz="94660"/>
  </p:normalViewPr>
  <p:slideViewPr>
    <p:cSldViewPr>
      <p:cViewPr varScale="1">
        <p:scale>
          <a:sx n="69" d="100"/>
          <a:sy n="69" d="100"/>
        </p:scale>
        <p:origin x="1386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23874"/>
    </p:cViewPr>
  </p:sorterViewPr>
  <p:notesViewPr>
    <p:cSldViewPr>
      <p:cViewPr varScale="1">
        <p:scale>
          <a:sx n="57" d="100"/>
          <a:sy n="57" d="100"/>
        </p:scale>
        <p:origin x="-1662" y="-84"/>
      </p:cViewPr>
      <p:guideLst>
        <p:guide orient="horz" pos="2928"/>
        <p:guide pos="222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handoutMaster" Target="handoutMasters/handoutMaster1.xml"/><Relationship Id="rId55" Type="http://schemas.openxmlformats.org/officeDocument/2006/relationships/customXml" Target="../customXml/item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customXml" Target="../customXml/item2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Relationship Id="rId57" Type="http://schemas.openxmlformats.org/officeDocument/2006/relationships/customXml" Target="../customXml/item3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07102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52763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532" tIns="0" rIns="19532" bIns="0" numCol="1" anchor="t" anchorCtr="0" compatLnSpc="1">
            <a:prstTxWarp prst="textNoShape">
              <a:avLst/>
            </a:prstTxWarp>
          </a:bodyPr>
          <a:lstStyle>
            <a:lvl1pPr defTabSz="936625">
              <a:defRPr sz="1000" i="1"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95738" y="0"/>
            <a:ext cx="3052762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532" tIns="0" rIns="19532" bIns="0" numCol="1" anchor="t" anchorCtr="0" compatLnSpc="1">
            <a:prstTxWarp prst="textNoShape">
              <a:avLst/>
            </a:prstTxWarp>
          </a:bodyPr>
          <a:lstStyle>
            <a:lvl1pPr algn="r" defTabSz="936625">
              <a:defRPr sz="1000" i="1"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08088" y="703263"/>
            <a:ext cx="4630737" cy="34734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8213" y="4418013"/>
            <a:ext cx="5172075" cy="4181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402" tIns="47202" rIns="94402" bIns="4720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 smtClean="0"/>
              <a:t>Click to edit Master text styles</a:t>
            </a:r>
          </a:p>
          <a:p>
            <a:pPr lvl="1"/>
            <a:r>
              <a:rPr lang="en-US" altLang="en-US" noProof="0" smtClean="0"/>
              <a:t>Second level</a:t>
            </a:r>
          </a:p>
          <a:p>
            <a:pPr lvl="2"/>
            <a:r>
              <a:rPr lang="en-US" altLang="en-US" noProof="0" smtClean="0"/>
              <a:t>Third level</a:t>
            </a:r>
          </a:p>
          <a:p>
            <a:pPr lvl="3"/>
            <a:r>
              <a:rPr lang="en-US" altLang="en-US" noProof="0" smtClean="0"/>
              <a:t>Fourth level</a:t>
            </a:r>
          </a:p>
          <a:p>
            <a:pPr lvl="4"/>
            <a:r>
              <a:rPr lang="en-US" altLang="en-US" noProof="0" smtClean="0"/>
              <a:t>Fifth level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1263"/>
            <a:ext cx="3052763" cy="465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532" tIns="0" rIns="19532" bIns="0" numCol="1" anchor="b" anchorCtr="0" compatLnSpc="1">
            <a:prstTxWarp prst="textNoShape">
              <a:avLst/>
            </a:prstTxWarp>
          </a:bodyPr>
          <a:lstStyle>
            <a:lvl1pPr defTabSz="936625">
              <a:defRPr sz="1000" i="1"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95738" y="8831263"/>
            <a:ext cx="3052762" cy="465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532" tIns="0" rIns="19532" bIns="0" numCol="1" anchor="b" anchorCtr="0" compatLnSpc="1">
            <a:prstTxWarp prst="textNoShape">
              <a:avLst/>
            </a:prstTxWarp>
          </a:bodyPr>
          <a:lstStyle>
            <a:lvl1pPr algn="r" defTabSz="936625">
              <a:defRPr sz="1000" i="1"/>
            </a:lvl1pPr>
          </a:lstStyle>
          <a:p>
            <a:fld id="{35945367-7ABC-48DC-A297-DBD9F322FD1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6969133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6625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defTabSz="936625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defTabSz="936625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defTabSz="936625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defTabSz="936625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2A4AA5CC-5CF6-479B-A57B-622A96937481}" type="slidenum">
              <a:rPr lang="en-US" altLang="en-US" sz="1000"/>
              <a:pPr/>
              <a:t>31</a:t>
            </a:fld>
            <a:endParaRPr lang="en-US" altLang="en-US" sz="1000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3952A-6BF4-4EE8-ADA3-F2CD072E03D5}" type="datetimeFigureOut">
              <a:rPr lang="en-IE" smtClean="0"/>
              <a:t>23/12/2019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2447F-8EE8-44A5-83C2-9273BE9D6028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6909392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3952A-6BF4-4EE8-ADA3-F2CD072E03D5}" type="datetimeFigureOut">
              <a:rPr lang="en-IE" smtClean="0"/>
              <a:t>23/12/2019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2447F-8EE8-44A5-83C2-9273BE9D6028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018735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3952A-6BF4-4EE8-ADA3-F2CD072E03D5}" type="datetimeFigureOut">
              <a:rPr lang="en-IE" smtClean="0"/>
              <a:t>23/12/2019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2447F-8EE8-44A5-83C2-9273BE9D6028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09640327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3952A-6BF4-4EE8-ADA3-F2CD072E03D5}" type="datetimeFigureOut">
              <a:rPr lang="en-IE" smtClean="0"/>
              <a:t>23/12/2019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2447F-8EE8-44A5-83C2-9273BE9D6028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722873007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3952A-6BF4-4EE8-ADA3-F2CD072E03D5}" type="datetimeFigureOut">
              <a:rPr lang="en-IE" smtClean="0"/>
              <a:t>23/12/2019</a:t>
            </a:fld>
            <a:endParaRPr lang="en-I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2447F-8EE8-44A5-83C2-9273BE9D6028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320163440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3952A-6BF4-4EE8-ADA3-F2CD072E03D5}" type="datetimeFigureOut">
              <a:rPr lang="en-IE" smtClean="0"/>
              <a:t>23/12/2019</a:t>
            </a:fld>
            <a:endParaRPr lang="en-I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2447F-8EE8-44A5-83C2-9273BE9D6028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7315614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3952A-6BF4-4EE8-ADA3-F2CD072E03D5}" type="datetimeFigureOut">
              <a:rPr lang="en-IE" smtClean="0"/>
              <a:t>23/12/2019</a:t>
            </a:fld>
            <a:endParaRPr lang="en-I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2447F-8EE8-44A5-83C2-9273BE9D6028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202517381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3952A-6BF4-4EE8-ADA3-F2CD072E03D5}" type="datetimeFigureOut">
              <a:rPr lang="en-IE" smtClean="0"/>
              <a:t>23/12/2019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2447F-8EE8-44A5-83C2-9273BE9D6028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001539098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3952A-6BF4-4EE8-ADA3-F2CD072E03D5}" type="datetimeFigureOut">
              <a:rPr lang="en-IE" smtClean="0"/>
              <a:t>23/12/2019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2447F-8EE8-44A5-83C2-9273BE9D6028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699312447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3952A-6BF4-4EE8-ADA3-F2CD072E03D5}" type="datetimeFigureOut">
              <a:rPr lang="en-IE" smtClean="0"/>
              <a:t>23/12/2019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2447F-8EE8-44A5-83C2-9273BE9D6028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924560692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3952A-6BF4-4EE8-ADA3-F2CD072E03D5}" type="datetimeFigureOut">
              <a:rPr lang="en-IE" smtClean="0"/>
              <a:t>23/12/2019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2447F-8EE8-44A5-83C2-9273BE9D6028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548084035"/>
      </p:ext>
    </p:extLst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93952A-6BF4-4EE8-ADA3-F2CD072E03D5}" type="datetimeFigureOut">
              <a:rPr lang="en-IE" smtClean="0"/>
              <a:t>23/12/2019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32447F-8EE8-44A5-83C2-9273BE9D6028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552082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wmf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0"/>
            <a:ext cx="8229600" cy="1143000"/>
          </a:xfrm>
        </p:spPr>
        <p:txBody>
          <a:bodyPr/>
          <a:lstStyle/>
          <a:p>
            <a:r>
              <a:rPr lang="en-US" altLang="en-US" dirty="0" smtClean="0"/>
              <a:t>Remote Method Invocation</a:t>
            </a:r>
          </a:p>
        </p:txBody>
      </p:sp>
      <p:sp>
        <p:nvSpPr>
          <p:cNvPr id="6149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4038600"/>
            <a:ext cx="8534400" cy="2819400"/>
          </a:xfrm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txBody>
          <a:bodyPr>
            <a:normAutofit/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endParaRPr lang="en-US" altLang="en-US" sz="2800" dirty="0" smtClean="0">
              <a:solidFill>
                <a:srgbClr val="FF0000"/>
              </a:solidFill>
            </a:endParaRPr>
          </a:p>
          <a:p>
            <a:pPr marL="0" indent="0" algn="ctr">
              <a:lnSpc>
                <a:spcPct val="90000"/>
              </a:lnSpc>
              <a:spcBef>
                <a:spcPct val="30000"/>
              </a:spcBef>
              <a:buNone/>
            </a:pPr>
            <a:r>
              <a:rPr lang="en-US" altLang="en-US" sz="2800" dirty="0" smtClean="0">
                <a:solidFill>
                  <a:srgbClr val="FF0000"/>
                </a:solidFill>
              </a:rPr>
              <a:t>Adeel-ur-Rehman</a:t>
            </a:r>
            <a:endParaRPr lang="en-US" altLang="en-US" sz="2400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2099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“The network is the computer”*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371600"/>
            <a:ext cx="8382000" cy="609600"/>
          </a:xfrm>
        </p:spPr>
        <p:txBody>
          <a:bodyPr/>
          <a:lstStyle/>
          <a:p>
            <a:pPr eaLnBrk="1" hangingPunct="1"/>
            <a:r>
              <a:rPr lang="en-US" altLang="en-US" smtClean="0"/>
              <a:t>Consider the following program organization:</a:t>
            </a:r>
          </a:p>
        </p:txBody>
      </p:sp>
      <p:sp>
        <p:nvSpPr>
          <p:cNvPr id="6148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57200" y="4495800"/>
            <a:ext cx="8382000" cy="1219200"/>
          </a:xfrm>
        </p:spPr>
        <p:txBody>
          <a:bodyPr/>
          <a:lstStyle/>
          <a:p>
            <a:pPr eaLnBrk="1" hangingPunct="1"/>
            <a:r>
              <a:rPr lang="en-US" altLang="en-US" smtClean="0"/>
              <a:t>If the network </a:t>
            </a:r>
            <a:r>
              <a:rPr lang="en-US" altLang="en-US" i="1" smtClean="0"/>
              <a:t>is</a:t>
            </a:r>
            <a:r>
              <a:rPr lang="en-US" altLang="en-US" smtClean="0"/>
              <a:t> the computer, we ought to be able to put the two classes on different computers</a:t>
            </a:r>
            <a:endParaRPr lang="en-US" altLang="en-US" sz="2400" smtClean="0"/>
          </a:p>
        </p:txBody>
      </p:sp>
      <p:grpSp>
        <p:nvGrpSpPr>
          <p:cNvPr id="6168" name="Group 24"/>
          <p:cNvGrpSpPr>
            <a:grpSpLocks/>
          </p:cNvGrpSpPr>
          <p:nvPr/>
        </p:nvGrpSpPr>
        <p:grpSpPr bwMode="auto">
          <a:xfrm>
            <a:off x="1754188" y="2324100"/>
            <a:ext cx="5180012" cy="1409700"/>
            <a:chOff x="1105" y="1512"/>
            <a:chExt cx="3263" cy="888"/>
          </a:xfrm>
        </p:grpSpPr>
        <p:sp>
          <p:nvSpPr>
            <p:cNvPr id="5134" name="AutoShape 7"/>
            <p:cNvSpPr>
              <a:spLocks noChangeArrowheads="1"/>
            </p:cNvSpPr>
            <p:nvPr/>
          </p:nvSpPr>
          <p:spPr bwMode="auto">
            <a:xfrm>
              <a:off x="1105" y="1825"/>
              <a:ext cx="1055" cy="288"/>
            </a:xfrm>
            <a:prstGeom prst="roundRect">
              <a:avLst>
                <a:gd name="adj" fmla="val 16667"/>
              </a:avLst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</a:defRPr>
              </a:lvl9pPr>
            </a:lstStyle>
            <a:p>
              <a:pPr algn="ctr"/>
              <a:r>
                <a:rPr lang="en-US" altLang="en-US">
                  <a:solidFill>
                    <a:schemeClr val="accent2"/>
                  </a:solidFill>
                  <a:latin typeface="Trebuchet MS" pitchFamily="34" charset="0"/>
                </a:rPr>
                <a:t>SomeClass</a:t>
              </a:r>
              <a:endParaRPr lang="en-US" altLang="en-US"/>
            </a:p>
          </p:txBody>
        </p:sp>
        <p:sp>
          <p:nvSpPr>
            <p:cNvPr id="5135" name="AutoShape 8"/>
            <p:cNvSpPr>
              <a:spLocks noChangeArrowheads="1"/>
            </p:cNvSpPr>
            <p:nvPr/>
          </p:nvSpPr>
          <p:spPr bwMode="auto">
            <a:xfrm>
              <a:off x="3025" y="1824"/>
              <a:ext cx="1343" cy="288"/>
            </a:xfrm>
            <a:prstGeom prst="roundRect">
              <a:avLst>
                <a:gd name="adj" fmla="val 16667"/>
              </a:avLst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</a:defRPr>
              </a:lvl9pPr>
            </a:lstStyle>
            <a:p>
              <a:pPr algn="ctr"/>
              <a:r>
                <a:rPr lang="en-US" altLang="en-US">
                  <a:solidFill>
                    <a:schemeClr val="accent2"/>
                  </a:solidFill>
                  <a:latin typeface="Trebuchet MS" pitchFamily="34" charset="0"/>
                </a:rPr>
                <a:t>AnotherClass</a:t>
              </a:r>
              <a:endParaRPr lang="en-US" altLang="en-US"/>
            </a:p>
          </p:txBody>
        </p:sp>
        <p:sp>
          <p:nvSpPr>
            <p:cNvPr id="5136" name="Freeform 14"/>
            <p:cNvSpPr>
              <a:spLocks/>
            </p:cNvSpPr>
            <p:nvPr/>
          </p:nvSpPr>
          <p:spPr bwMode="auto">
            <a:xfrm>
              <a:off x="2160" y="1680"/>
              <a:ext cx="864" cy="144"/>
            </a:xfrm>
            <a:custGeom>
              <a:avLst/>
              <a:gdLst>
                <a:gd name="T0" fmla="*/ 0 w 864"/>
                <a:gd name="T1" fmla="*/ 144 h 192"/>
                <a:gd name="T2" fmla="*/ 432 w 864"/>
                <a:gd name="T3" fmla="*/ 0 h 192"/>
                <a:gd name="T4" fmla="*/ 864 w 864"/>
                <a:gd name="T5" fmla="*/ 144 h 19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64" h="192">
                  <a:moveTo>
                    <a:pt x="0" y="192"/>
                  </a:moveTo>
                  <a:cubicBezTo>
                    <a:pt x="144" y="96"/>
                    <a:pt x="288" y="0"/>
                    <a:pt x="432" y="0"/>
                  </a:cubicBezTo>
                  <a:cubicBezTo>
                    <a:pt x="576" y="0"/>
                    <a:pt x="720" y="96"/>
                    <a:pt x="864" y="192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E"/>
            </a:p>
          </p:txBody>
        </p:sp>
        <p:sp>
          <p:nvSpPr>
            <p:cNvPr id="5137" name="Freeform 15"/>
            <p:cNvSpPr>
              <a:spLocks/>
            </p:cNvSpPr>
            <p:nvPr/>
          </p:nvSpPr>
          <p:spPr bwMode="auto">
            <a:xfrm flipH="1" flipV="1">
              <a:off x="2160" y="2112"/>
              <a:ext cx="864" cy="144"/>
            </a:xfrm>
            <a:custGeom>
              <a:avLst/>
              <a:gdLst>
                <a:gd name="T0" fmla="*/ 0 w 864"/>
                <a:gd name="T1" fmla="*/ 144 h 192"/>
                <a:gd name="T2" fmla="*/ 432 w 864"/>
                <a:gd name="T3" fmla="*/ 0 h 192"/>
                <a:gd name="T4" fmla="*/ 864 w 864"/>
                <a:gd name="T5" fmla="*/ 144 h 19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64" h="192">
                  <a:moveTo>
                    <a:pt x="0" y="192"/>
                  </a:moveTo>
                  <a:cubicBezTo>
                    <a:pt x="144" y="96"/>
                    <a:pt x="288" y="0"/>
                    <a:pt x="432" y="0"/>
                  </a:cubicBezTo>
                  <a:cubicBezTo>
                    <a:pt x="576" y="0"/>
                    <a:pt x="720" y="96"/>
                    <a:pt x="864" y="192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E"/>
            </a:p>
          </p:txBody>
        </p:sp>
        <p:sp>
          <p:nvSpPr>
            <p:cNvPr id="5138" name="Text Box 16"/>
            <p:cNvSpPr txBox="1">
              <a:spLocks noChangeArrowheads="1"/>
            </p:cNvSpPr>
            <p:nvPr/>
          </p:nvSpPr>
          <p:spPr bwMode="auto">
            <a:xfrm>
              <a:off x="1400" y="1512"/>
              <a:ext cx="105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method call</a:t>
              </a:r>
            </a:p>
          </p:txBody>
        </p:sp>
        <p:sp>
          <p:nvSpPr>
            <p:cNvPr id="5139" name="Text Box 17"/>
            <p:cNvSpPr txBox="1">
              <a:spLocks noChangeArrowheads="1"/>
            </p:cNvSpPr>
            <p:nvPr/>
          </p:nvSpPr>
          <p:spPr bwMode="auto">
            <a:xfrm>
              <a:off x="2880" y="2112"/>
              <a:ext cx="13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returned object</a:t>
              </a:r>
            </a:p>
          </p:txBody>
        </p:sp>
      </p:grpSp>
      <p:sp>
        <p:nvSpPr>
          <p:cNvPr id="6162" name="Rectangle 18"/>
          <p:cNvSpPr>
            <a:spLocks noChangeArrowheads="1"/>
          </p:cNvSpPr>
          <p:nvPr/>
        </p:nvSpPr>
        <p:spPr bwMode="auto">
          <a:xfrm>
            <a:off x="457200" y="4953000"/>
            <a:ext cx="8229600" cy="1031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endParaRPr lang="en-US" altLang="en-US" sz="2800">
              <a:latin typeface="Times New Roman" pitchFamily="18" charset="0"/>
            </a:endParaRPr>
          </a:p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altLang="en-US" sz="2800">
                <a:latin typeface="Times New Roman" pitchFamily="18" charset="0"/>
              </a:rPr>
              <a:t>  RMI is one technology that makes this possible</a:t>
            </a:r>
          </a:p>
        </p:txBody>
      </p:sp>
      <p:grpSp>
        <p:nvGrpSpPr>
          <p:cNvPr id="6170" name="Group 26"/>
          <p:cNvGrpSpPr>
            <a:grpSpLocks/>
          </p:cNvGrpSpPr>
          <p:nvPr/>
        </p:nvGrpSpPr>
        <p:grpSpPr bwMode="auto">
          <a:xfrm>
            <a:off x="1219200" y="2133600"/>
            <a:ext cx="6019800" cy="2133600"/>
            <a:chOff x="768" y="1392"/>
            <a:chExt cx="3792" cy="1344"/>
          </a:xfrm>
        </p:grpSpPr>
        <p:sp>
          <p:nvSpPr>
            <p:cNvPr id="5130" name="AutoShape 19"/>
            <p:cNvSpPr>
              <a:spLocks noChangeArrowheads="1"/>
            </p:cNvSpPr>
            <p:nvPr/>
          </p:nvSpPr>
          <p:spPr bwMode="auto">
            <a:xfrm>
              <a:off x="768" y="1392"/>
              <a:ext cx="1728" cy="1248"/>
            </a:xfrm>
            <a:prstGeom prst="roundRect">
              <a:avLst>
                <a:gd name="adj" fmla="val 16667"/>
              </a:avLst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131" name="AutoShape 21"/>
            <p:cNvSpPr>
              <a:spLocks noChangeArrowheads="1"/>
            </p:cNvSpPr>
            <p:nvPr/>
          </p:nvSpPr>
          <p:spPr bwMode="auto">
            <a:xfrm>
              <a:off x="2832" y="1392"/>
              <a:ext cx="1728" cy="1248"/>
            </a:xfrm>
            <a:prstGeom prst="roundRect">
              <a:avLst>
                <a:gd name="adj" fmla="val 16667"/>
              </a:avLst>
            </a:prstGeom>
            <a:noFill/>
            <a:ln w="2857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132" name="Rectangle 22"/>
            <p:cNvSpPr>
              <a:spLocks noChangeArrowheads="1"/>
            </p:cNvSpPr>
            <p:nvPr/>
          </p:nvSpPr>
          <p:spPr bwMode="auto">
            <a:xfrm>
              <a:off x="1104" y="2544"/>
              <a:ext cx="1056" cy="192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</a:defRPr>
              </a:lvl9pPr>
            </a:lstStyle>
            <a:p>
              <a:pPr algn="ctr"/>
              <a:r>
                <a:rPr lang="en-US" altLang="en-US" sz="2000">
                  <a:solidFill>
                    <a:schemeClr val="tx2"/>
                  </a:solidFill>
                  <a:latin typeface="Verdana" pitchFamily="34" charset="0"/>
                </a:rPr>
                <a:t>computer 1</a:t>
              </a:r>
            </a:p>
          </p:txBody>
        </p:sp>
        <p:sp>
          <p:nvSpPr>
            <p:cNvPr id="5133" name="Rectangle 23"/>
            <p:cNvSpPr>
              <a:spLocks noChangeArrowheads="1"/>
            </p:cNvSpPr>
            <p:nvPr/>
          </p:nvSpPr>
          <p:spPr bwMode="auto">
            <a:xfrm>
              <a:off x="3168" y="2544"/>
              <a:ext cx="1056" cy="192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</a:defRPr>
              </a:lvl9pPr>
            </a:lstStyle>
            <a:p>
              <a:pPr algn="ctr"/>
              <a:r>
                <a:rPr lang="en-US" altLang="en-US" sz="2000">
                  <a:solidFill>
                    <a:schemeClr val="folHlink"/>
                  </a:solidFill>
                  <a:latin typeface="Verdana" pitchFamily="34" charset="0"/>
                </a:rPr>
                <a:t>computer 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64090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What is needed for RMI</a:t>
            </a:r>
          </a:p>
        </p:txBody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/>
            <a:r>
              <a:rPr lang="en-US" altLang="en-US" dirty="0" smtClean="0"/>
              <a:t>Java makes RMI (Remote Method Invocation) </a:t>
            </a:r>
            <a:r>
              <a:rPr lang="en-US" altLang="en-US" i="1" dirty="0" smtClean="0"/>
              <a:t>fairly</a:t>
            </a:r>
            <a:r>
              <a:rPr lang="en-US" altLang="en-US" dirty="0" smtClean="0"/>
              <a:t> easy. Following steps are required:</a:t>
            </a:r>
          </a:p>
          <a:p>
            <a:pPr eaLnBrk="1" hangingPunct="1"/>
            <a:r>
              <a:rPr lang="en-US" altLang="en-US" dirty="0" smtClean="0"/>
              <a:t>To send a message to a remote “server object,”</a:t>
            </a:r>
          </a:p>
          <a:p>
            <a:pPr lvl="1" eaLnBrk="1" hangingPunct="1"/>
            <a:r>
              <a:rPr lang="en-US" altLang="en-US" dirty="0" smtClean="0"/>
              <a:t>The “client object” has to </a:t>
            </a:r>
            <a:r>
              <a:rPr lang="en-US" altLang="en-US" i="1" dirty="0" smtClean="0"/>
              <a:t>find</a:t>
            </a:r>
            <a:r>
              <a:rPr lang="en-US" altLang="en-US" dirty="0" smtClean="0"/>
              <a:t> the object</a:t>
            </a:r>
          </a:p>
          <a:p>
            <a:pPr lvl="2" eaLnBrk="1" hangingPunct="1"/>
            <a:r>
              <a:rPr lang="en-US" altLang="en-US" dirty="0" smtClean="0"/>
              <a:t>Do this by looking it up in a </a:t>
            </a:r>
            <a:r>
              <a:rPr lang="en-US" altLang="en-US" dirty="0" smtClean="0">
                <a:solidFill>
                  <a:schemeClr val="tx2"/>
                </a:solidFill>
              </a:rPr>
              <a:t>registry</a:t>
            </a:r>
          </a:p>
          <a:p>
            <a:pPr lvl="1" eaLnBrk="1" hangingPunct="1"/>
            <a:r>
              <a:rPr lang="en-US" altLang="en-US" dirty="0" smtClean="0"/>
              <a:t>The client object then has to </a:t>
            </a:r>
            <a:r>
              <a:rPr lang="en-US" altLang="en-US" dirty="0" smtClean="0">
                <a:solidFill>
                  <a:schemeClr val="tx2"/>
                </a:solidFill>
              </a:rPr>
              <a:t>marshal</a:t>
            </a:r>
            <a:r>
              <a:rPr lang="en-US" altLang="en-US" dirty="0" smtClean="0"/>
              <a:t> the parameters (prepare them for transmission)</a:t>
            </a:r>
          </a:p>
          <a:p>
            <a:pPr lvl="2" eaLnBrk="1" hangingPunct="1"/>
            <a:r>
              <a:rPr lang="en-US" altLang="en-US" dirty="0" smtClean="0"/>
              <a:t>Java requires Serializable parameters</a:t>
            </a:r>
          </a:p>
          <a:p>
            <a:pPr lvl="2" eaLnBrk="1" hangingPunct="1"/>
            <a:r>
              <a:rPr lang="en-US" altLang="en-US" dirty="0" smtClean="0"/>
              <a:t>The server object has to </a:t>
            </a:r>
            <a:r>
              <a:rPr lang="en-US" altLang="en-US" dirty="0" err="1" smtClean="0">
                <a:solidFill>
                  <a:schemeClr val="tx2"/>
                </a:solidFill>
              </a:rPr>
              <a:t>unmarshal</a:t>
            </a:r>
            <a:r>
              <a:rPr lang="en-US" altLang="en-US" dirty="0" smtClean="0"/>
              <a:t> its parameters, do its computation, and marshal its response</a:t>
            </a:r>
          </a:p>
          <a:p>
            <a:pPr lvl="1" eaLnBrk="1" hangingPunct="1"/>
            <a:r>
              <a:rPr lang="en-US" altLang="en-US" dirty="0" smtClean="0"/>
              <a:t>The client object has to </a:t>
            </a:r>
            <a:r>
              <a:rPr lang="en-US" altLang="en-US" dirty="0" err="1" smtClean="0"/>
              <a:t>unmarshal</a:t>
            </a:r>
            <a:r>
              <a:rPr lang="en-US" altLang="en-US" dirty="0" smtClean="0"/>
              <a:t> the response</a:t>
            </a:r>
          </a:p>
          <a:p>
            <a:pPr eaLnBrk="1" hangingPunct="1"/>
            <a:r>
              <a:rPr lang="en-US" altLang="en-US" dirty="0" smtClean="0"/>
              <a:t>Much of this is done for you by special software</a:t>
            </a:r>
          </a:p>
        </p:txBody>
      </p:sp>
    </p:spTree>
    <p:extLst>
      <p:ext uri="{BB962C8B-B14F-4D97-AF65-F5344CB8AC3E}">
        <p14:creationId xmlns:p14="http://schemas.microsoft.com/office/powerpoint/2010/main" val="2933500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Terminology</a:t>
            </a:r>
          </a:p>
        </p:txBody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/>
            <a:r>
              <a:rPr lang="en-US" altLang="en-US" dirty="0" smtClean="0"/>
              <a:t>A </a:t>
            </a:r>
            <a:r>
              <a:rPr lang="en-US" altLang="en-US" dirty="0" smtClean="0">
                <a:solidFill>
                  <a:schemeClr val="tx2"/>
                </a:solidFill>
              </a:rPr>
              <a:t>remote object</a:t>
            </a:r>
            <a:r>
              <a:rPr lang="en-US" altLang="en-US" dirty="0" smtClean="0"/>
              <a:t> is an object on another computer</a:t>
            </a:r>
          </a:p>
          <a:p>
            <a:pPr eaLnBrk="1" hangingPunct="1"/>
            <a:r>
              <a:rPr lang="en-US" altLang="en-US" dirty="0" smtClean="0"/>
              <a:t>The </a:t>
            </a:r>
            <a:r>
              <a:rPr lang="en-US" altLang="en-US" dirty="0" smtClean="0">
                <a:solidFill>
                  <a:schemeClr val="tx2"/>
                </a:solidFill>
              </a:rPr>
              <a:t>client object</a:t>
            </a:r>
            <a:r>
              <a:rPr lang="en-US" altLang="en-US" dirty="0" smtClean="0"/>
              <a:t> is the object making the request (sending a message to the other object)</a:t>
            </a:r>
          </a:p>
          <a:p>
            <a:pPr eaLnBrk="1" hangingPunct="1"/>
            <a:r>
              <a:rPr lang="en-US" altLang="en-US" dirty="0" smtClean="0"/>
              <a:t>The server object is the object receiving the request</a:t>
            </a:r>
          </a:p>
          <a:p>
            <a:pPr eaLnBrk="1" hangingPunct="1"/>
            <a:r>
              <a:rPr lang="en-US" altLang="en-US" dirty="0" smtClean="0"/>
              <a:t>As usual, “client” and “server” can easily trade roles (each can make requests of the other)</a:t>
            </a:r>
          </a:p>
          <a:p>
            <a:pPr eaLnBrk="1" hangingPunct="1"/>
            <a:r>
              <a:rPr lang="en-US" altLang="en-US" dirty="0" smtClean="0"/>
              <a:t>The </a:t>
            </a:r>
            <a:r>
              <a:rPr lang="en-US" altLang="en-US" dirty="0" err="1" smtClean="0">
                <a:solidFill>
                  <a:schemeClr val="tx2"/>
                </a:solidFill>
                <a:latin typeface="Trebuchet MS" pitchFamily="34" charset="0"/>
              </a:rPr>
              <a:t>rmiregistry</a:t>
            </a:r>
            <a:r>
              <a:rPr lang="en-US" altLang="en-US" dirty="0" smtClean="0"/>
              <a:t> is a special server that looks up objects by name</a:t>
            </a:r>
          </a:p>
          <a:p>
            <a:pPr lvl="1" eaLnBrk="1" hangingPunct="1"/>
            <a:r>
              <a:rPr lang="en-US" altLang="en-US" dirty="0" smtClean="0"/>
              <a:t>Hopefully, the name is unique!</a:t>
            </a:r>
          </a:p>
        </p:txBody>
      </p:sp>
    </p:spTree>
    <p:extLst>
      <p:ext uri="{BB962C8B-B14F-4D97-AF65-F5344CB8AC3E}">
        <p14:creationId xmlns:p14="http://schemas.microsoft.com/office/powerpoint/2010/main" val="3179500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Processes</a:t>
            </a:r>
          </a:p>
        </p:txBody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For RMI, you need to be running </a:t>
            </a:r>
            <a:r>
              <a:rPr lang="en-US" altLang="en-US" i="1" dirty="0" smtClean="0"/>
              <a:t>three</a:t>
            </a:r>
            <a:r>
              <a:rPr lang="en-US" altLang="en-US" dirty="0" smtClean="0"/>
              <a:t> processes</a:t>
            </a:r>
          </a:p>
          <a:p>
            <a:pPr lvl="1" eaLnBrk="1" hangingPunct="1"/>
            <a:r>
              <a:rPr lang="en-US" altLang="en-US" dirty="0" smtClean="0"/>
              <a:t>The Client</a:t>
            </a:r>
          </a:p>
          <a:p>
            <a:pPr lvl="1" eaLnBrk="1" hangingPunct="1"/>
            <a:r>
              <a:rPr lang="en-US" altLang="en-US" dirty="0" smtClean="0"/>
              <a:t>The Server</a:t>
            </a:r>
          </a:p>
          <a:p>
            <a:pPr lvl="1" eaLnBrk="1" hangingPunct="1"/>
            <a:r>
              <a:rPr lang="en-US" altLang="en-US" dirty="0" smtClean="0"/>
              <a:t>The </a:t>
            </a:r>
            <a:r>
              <a:rPr lang="en-US" altLang="en-US" dirty="0" smtClean="0">
                <a:solidFill>
                  <a:schemeClr val="tx2"/>
                </a:solidFill>
              </a:rPr>
              <a:t>Object Registry</a:t>
            </a:r>
            <a:r>
              <a:rPr lang="en-US" altLang="en-US" dirty="0" smtClean="0"/>
              <a:t>, </a:t>
            </a:r>
            <a:r>
              <a:rPr lang="en-US" altLang="en-US" dirty="0" err="1" smtClean="0">
                <a:solidFill>
                  <a:schemeClr val="accent2"/>
                </a:solidFill>
                <a:latin typeface="Trebuchet MS" pitchFamily="34" charset="0"/>
              </a:rPr>
              <a:t>rmiregistry</a:t>
            </a:r>
            <a:r>
              <a:rPr lang="en-US" altLang="en-US" dirty="0" smtClean="0"/>
              <a:t>, which is like a DNS service for objects</a:t>
            </a:r>
          </a:p>
          <a:p>
            <a:pPr lvl="1" eaLnBrk="1" hangingPunct="1"/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224328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Interfaces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85000"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mtClean="0"/>
              <a:t>Interfaces define behavior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mtClean="0"/>
              <a:t>Classes define implementation</a:t>
            </a:r>
            <a:br>
              <a:rPr lang="en-US" altLang="en-US" smtClean="0"/>
            </a:br>
            <a:endParaRPr lang="en-US" altLang="en-US" smtClean="0"/>
          </a:p>
          <a:p>
            <a:pPr eaLnBrk="1" hangingPunct="1">
              <a:lnSpc>
                <a:spcPct val="90000"/>
              </a:lnSpc>
            </a:pPr>
            <a:r>
              <a:rPr lang="en-US" altLang="en-US" smtClean="0"/>
              <a:t>Therefore,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mtClean="0"/>
              <a:t>In order to use a remote object, the client must know its behavior (interface), but does not need to know its implementation (class)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mtClean="0"/>
              <a:t>In order to provide an object, the server must know both its interface (behavior) and its class (implementation)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mtClean="0"/>
              <a:t>In short,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mtClean="0"/>
              <a:t>The interface must be available to both client and server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mtClean="0"/>
              <a:t>The class should only be on the server</a:t>
            </a:r>
          </a:p>
        </p:txBody>
      </p:sp>
    </p:spTree>
    <p:extLst>
      <p:ext uri="{BB962C8B-B14F-4D97-AF65-F5344CB8AC3E}">
        <p14:creationId xmlns:p14="http://schemas.microsoft.com/office/powerpoint/2010/main" val="2719716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Classes</a:t>
            </a:r>
          </a:p>
        </p:txBody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hangingPunct="1"/>
            <a:r>
              <a:rPr lang="en-US" altLang="en-US" dirty="0" smtClean="0"/>
              <a:t>A </a:t>
            </a:r>
            <a:r>
              <a:rPr lang="en-US" altLang="en-US" dirty="0" smtClean="0">
                <a:solidFill>
                  <a:schemeClr val="tx2"/>
                </a:solidFill>
                <a:latin typeface="Trebuchet MS" pitchFamily="34" charset="0"/>
              </a:rPr>
              <a:t>Remote</a:t>
            </a:r>
            <a:r>
              <a:rPr lang="en-US" altLang="en-US" dirty="0" smtClean="0"/>
              <a:t> class is one whose instances can be accessed remotely</a:t>
            </a:r>
          </a:p>
          <a:p>
            <a:pPr lvl="1" eaLnBrk="1" hangingPunct="1"/>
            <a:r>
              <a:rPr lang="en-US" altLang="en-US" dirty="0" smtClean="0"/>
              <a:t>On the computer where it is defined, instances of this class can be accessed just like any other object</a:t>
            </a:r>
          </a:p>
          <a:p>
            <a:pPr lvl="1" eaLnBrk="1" hangingPunct="1"/>
            <a:r>
              <a:rPr lang="en-US" altLang="en-US" dirty="0" smtClean="0"/>
              <a:t>On other computers, the remote object can be accessed via </a:t>
            </a:r>
            <a:r>
              <a:rPr lang="en-US" altLang="en-US" dirty="0" smtClean="0">
                <a:solidFill>
                  <a:schemeClr val="tx2"/>
                </a:solidFill>
              </a:rPr>
              <a:t>object handles</a:t>
            </a:r>
          </a:p>
          <a:p>
            <a:pPr eaLnBrk="1" hangingPunct="1"/>
            <a:r>
              <a:rPr lang="en-US" altLang="en-US" dirty="0" smtClean="0"/>
              <a:t>A </a:t>
            </a:r>
            <a:r>
              <a:rPr lang="en-US" altLang="en-US" dirty="0" smtClean="0">
                <a:solidFill>
                  <a:schemeClr val="tx2"/>
                </a:solidFill>
                <a:latin typeface="Trebuchet MS" pitchFamily="34" charset="0"/>
              </a:rPr>
              <a:t>Serializable</a:t>
            </a:r>
            <a:r>
              <a:rPr lang="en-US" altLang="en-US" dirty="0" smtClean="0"/>
              <a:t> class is one whose instances can be marshaled (turned into a linear sequence of bits)</a:t>
            </a:r>
          </a:p>
          <a:p>
            <a:pPr lvl="1" eaLnBrk="1" hangingPunct="1"/>
            <a:r>
              <a:rPr lang="en-US" altLang="en-US" dirty="0" smtClean="0"/>
              <a:t>Serializable objects can be transmitted from one computer to another</a:t>
            </a:r>
          </a:p>
          <a:p>
            <a:pPr eaLnBrk="1" hangingPunct="1"/>
            <a:r>
              <a:rPr lang="en-US" altLang="en-US" dirty="0" smtClean="0"/>
              <a:t>It probably isn’t a good idea for an object to be both remote and serializable</a:t>
            </a:r>
          </a:p>
        </p:txBody>
      </p:sp>
    </p:spTree>
    <p:extLst>
      <p:ext uri="{BB962C8B-B14F-4D97-AF65-F5344CB8AC3E}">
        <p14:creationId xmlns:p14="http://schemas.microsoft.com/office/powerpoint/2010/main" val="847484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Conditions for serializability</a:t>
            </a:r>
          </a:p>
        </p:txBody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3200" smtClean="0"/>
              <a:t>If an object is to be serialized:</a:t>
            </a:r>
          </a:p>
          <a:p>
            <a:pPr lvl="1" eaLnBrk="1" hangingPunct="1"/>
            <a:r>
              <a:rPr lang="en-US" altLang="en-US" sz="2800" smtClean="0"/>
              <a:t>The class must be declared as public</a:t>
            </a:r>
          </a:p>
          <a:p>
            <a:pPr lvl="1" eaLnBrk="1" hangingPunct="1"/>
            <a:r>
              <a:rPr lang="en-US" altLang="en-US" sz="2800" smtClean="0"/>
              <a:t>The class must implement </a:t>
            </a:r>
            <a:r>
              <a:rPr lang="en-US" altLang="en-US" sz="2800" smtClean="0">
                <a:solidFill>
                  <a:schemeClr val="accent2"/>
                </a:solidFill>
                <a:latin typeface="Trebuchet MS" pitchFamily="34" charset="0"/>
              </a:rPr>
              <a:t>Serializable</a:t>
            </a:r>
            <a:endParaRPr lang="en-US" altLang="en-US" sz="2800" smtClean="0">
              <a:solidFill>
                <a:schemeClr val="accent2"/>
              </a:solidFill>
            </a:endParaRPr>
          </a:p>
          <a:p>
            <a:pPr lvl="1" eaLnBrk="1" hangingPunct="1"/>
            <a:r>
              <a:rPr lang="en-US" altLang="en-US" sz="2800" smtClean="0"/>
              <a:t>The class must have a no-argument constructor</a:t>
            </a:r>
          </a:p>
          <a:p>
            <a:pPr lvl="1" eaLnBrk="1" hangingPunct="1"/>
            <a:r>
              <a:rPr lang="en-US" altLang="en-US" sz="2800" smtClean="0"/>
              <a:t>All fields of the class must be serializable: either primitive types or serializable objects</a:t>
            </a:r>
          </a:p>
          <a:p>
            <a:pPr lvl="1" eaLnBrk="1" hangingPunct="1"/>
            <a:endParaRPr lang="en-US" altLang="en-US" sz="2800" smtClean="0"/>
          </a:p>
        </p:txBody>
      </p:sp>
    </p:spTree>
    <p:extLst>
      <p:ext uri="{BB962C8B-B14F-4D97-AF65-F5344CB8AC3E}">
        <p14:creationId xmlns:p14="http://schemas.microsoft.com/office/powerpoint/2010/main" val="35037460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Remote interfaces and class</a:t>
            </a:r>
          </a:p>
        </p:txBody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3200" smtClean="0"/>
              <a:t>A </a:t>
            </a:r>
            <a:r>
              <a:rPr lang="en-US" altLang="en-US" sz="3200" smtClean="0">
                <a:solidFill>
                  <a:schemeClr val="accent2"/>
                </a:solidFill>
                <a:latin typeface="Trebuchet MS" pitchFamily="34" charset="0"/>
              </a:rPr>
              <a:t>Remote</a:t>
            </a:r>
            <a:r>
              <a:rPr lang="en-US" altLang="en-US" sz="3200" smtClean="0"/>
              <a:t> class has two parts: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800" smtClean="0"/>
              <a:t>The interface (used by both client and server):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400" smtClean="0"/>
              <a:t>Must be public 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400" smtClean="0"/>
              <a:t>Must extend the interface </a:t>
            </a:r>
            <a:r>
              <a:rPr lang="en-US" altLang="en-US" sz="2400" smtClean="0">
                <a:solidFill>
                  <a:schemeClr val="accent2"/>
                </a:solidFill>
                <a:latin typeface="Trebuchet MS" pitchFamily="34" charset="0"/>
              </a:rPr>
              <a:t>java.rmi.Remote</a:t>
            </a:r>
            <a:endParaRPr lang="en-US" altLang="en-US" sz="2400" smtClean="0"/>
          </a:p>
          <a:p>
            <a:pPr lvl="2" eaLnBrk="1" hangingPunct="1">
              <a:lnSpc>
                <a:spcPct val="90000"/>
              </a:lnSpc>
            </a:pPr>
            <a:r>
              <a:rPr lang="en-US" altLang="en-US" sz="2400" smtClean="0"/>
              <a:t>Every method in the interface must declare that it throws </a:t>
            </a:r>
            <a:r>
              <a:rPr lang="en-US" altLang="en-US" sz="2400" smtClean="0">
                <a:solidFill>
                  <a:schemeClr val="accent2"/>
                </a:solidFill>
                <a:latin typeface="Trebuchet MS" pitchFamily="34" charset="0"/>
              </a:rPr>
              <a:t>java.rmi.RemoteException</a:t>
            </a:r>
            <a:r>
              <a:rPr lang="en-US" altLang="en-US" sz="2400" smtClean="0"/>
              <a:t>  (other exceptions may also be thrown)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800" smtClean="0"/>
              <a:t>The class itself (used only by the server):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400" smtClean="0"/>
              <a:t>Must implement a </a:t>
            </a:r>
            <a:r>
              <a:rPr lang="en-US" altLang="en-US" sz="2400" smtClean="0">
                <a:solidFill>
                  <a:schemeClr val="accent2"/>
                </a:solidFill>
                <a:latin typeface="Trebuchet MS" pitchFamily="34" charset="0"/>
              </a:rPr>
              <a:t>Remote</a:t>
            </a:r>
            <a:r>
              <a:rPr lang="en-US" altLang="en-US" sz="2400" smtClean="0"/>
              <a:t> interface 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400" smtClean="0"/>
              <a:t>Should extend </a:t>
            </a:r>
            <a:r>
              <a:rPr lang="en-US" altLang="en-US" sz="2400" smtClean="0">
                <a:solidFill>
                  <a:schemeClr val="accent2"/>
                </a:solidFill>
                <a:latin typeface="Trebuchet MS" pitchFamily="34" charset="0"/>
              </a:rPr>
              <a:t>java.rmi.server.UnicastRemoteObject</a:t>
            </a:r>
            <a:endParaRPr lang="en-US" altLang="en-US" sz="2400" smtClean="0"/>
          </a:p>
          <a:p>
            <a:pPr lvl="2" eaLnBrk="1" hangingPunct="1">
              <a:lnSpc>
                <a:spcPct val="90000"/>
              </a:lnSpc>
            </a:pPr>
            <a:r>
              <a:rPr lang="en-US" altLang="en-US" sz="2400" smtClean="0"/>
              <a:t>May have locally accessible methods that are not in its </a:t>
            </a:r>
            <a:r>
              <a:rPr lang="en-US" altLang="en-US" sz="2400" smtClean="0">
                <a:solidFill>
                  <a:schemeClr val="accent2"/>
                </a:solidFill>
                <a:latin typeface="Trebuchet MS" pitchFamily="34" charset="0"/>
              </a:rPr>
              <a:t>Remote</a:t>
            </a:r>
            <a:r>
              <a:rPr lang="en-US" altLang="en-US" sz="2400" smtClean="0"/>
              <a:t> interface</a:t>
            </a:r>
          </a:p>
        </p:txBody>
      </p:sp>
    </p:spTree>
    <p:extLst>
      <p:ext uri="{BB962C8B-B14F-4D97-AF65-F5344CB8AC3E}">
        <p14:creationId xmlns:p14="http://schemas.microsoft.com/office/powerpoint/2010/main" val="3596503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solidFill>
                  <a:schemeClr val="tx1"/>
                </a:solidFill>
                <a:latin typeface="Trebuchet MS" pitchFamily="34" charset="0"/>
              </a:rPr>
              <a:t>Remote</a:t>
            </a:r>
            <a:r>
              <a:rPr lang="en-US" altLang="en-US" smtClean="0"/>
              <a:t> vs. </a:t>
            </a:r>
            <a:r>
              <a:rPr lang="en-US" altLang="en-US" smtClean="0">
                <a:solidFill>
                  <a:schemeClr val="tx1"/>
                </a:solidFill>
                <a:latin typeface="Trebuchet MS" pitchFamily="34" charset="0"/>
              </a:rPr>
              <a:t>Serializable</a:t>
            </a:r>
          </a:p>
        </p:txBody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hangingPunct="1"/>
            <a:r>
              <a:rPr lang="en-US" altLang="en-US" smtClean="0"/>
              <a:t>A </a:t>
            </a:r>
            <a:r>
              <a:rPr lang="en-US" altLang="en-US" smtClean="0">
                <a:solidFill>
                  <a:schemeClr val="accent2"/>
                </a:solidFill>
                <a:latin typeface="Trebuchet MS" pitchFamily="34" charset="0"/>
              </a:rPr>
              <a:t>Remote</a:t>
            </a:r>
            <a:r>
              <a:rPr lang="en-US" altLang="en-US" smtClean="0"/>
              <a:t> object lives on another computer (such as the Server)</a:t>
            </a:r>
          </a:p>
          <a:p>
            <a:pPr lvl="1" eaLnBrk="1" hangingPunct="1"/>
            <a:r>
              <a:rPr lang="en-US" altLang="en-US" smtClean="0"/>
              <a:t>You can send messages to a </a:t>
            </a:r>
            <a:r>
              <a:rPr lang="en-US" altLang="en-US" smtClean="0">
                <a:solidFill>
                  <a:schemeClr val="accent2"/>
                </a:solidFill>
                <a:latin typeface="Trebuchet MS" pitchFamily="34" charset="0"/>
              </a:rPr>
              <a:t>Remote</a:t>
            </a:r>
            <a:r>
              <a:rPr lang="en-US" altLang="en-US" smtClean="0"/>
              <a:t> object and get responses back from the object</a:t>
            </a:r>
          </a:p>
          <a:p>
            <a:pPr lvl="1" eaLnBrk="1" hangingPunct="1"/>
            <a:r>
              <a:rPr lang="en-US" altLang="en-US" smtClean="0"/>
              <a:t>All you need to know about the </a:t>
            </a:r>
            <a:r>
              <a:rPr lang="en-US" altLang="en-US" smtClean="0">
                <a:solidFill>
                  <a:schemeClr val="accent2"/>
                </a:solidFill>
                <a:latin typeface="Trebuchet MS" pitchFamily="34" charset="0"/>
              </a:rPr>
              <a:t>Remote</a:t>
            </a:r>
            <a:r>
              <a:rPr lang="en-US" altLang="en-US" smtClean="0"/>
              <a:t> object is its interface</a:t>
            </a:r>
          </a:p>
          <a:p>
            <a:pPr lvl="1" eaLnBrk="1" hangingPunct="1"/>
            <a:r>
              <a:rPr lang="en-US" altLang="en-US" smtClean="0"/>
              <a:t>Remote objects don’t pose much of a security issue</a:t>
            </a:r>
          </a:p>
          <a:p>
            <a:pPr eaLnBrk="1" hangingPunct="1"/>
            <a:r>
              <a:rPr lang="en-US" altLang="en-US" smtClean="0"/>
              <a:t>You can transmit a </a:t>
            </a:r>
            <a:r>
              <a:rPr lang="en-US" altLang="en-US" i="1" smtClean="0"/>
              <a:t>copy</a:t>
            </a:r>
            <a:r>
              <a:rPr lang="en-US" altLang="en-US" smtClean="0"/>
              <a:t> of a </a:t>
            </a:r>
            <a:r>
              <a:rPr lang="en-US" altLang="en-US" smtClean="0">
                <a:solidFill>
                  <a:schemeClr val="accent2"/>
                </a:solidFill>
                <a:latin typeface="Trebuchet MS" pitchFamily="34" charset="0"/>
              </a:rPr>
              <a:t>Serializable</a:t>
            </a:r>
            <a:r>
              <a:rPr lang="en-US" altLang="en-US" smtClean="0"/>
              <a:t> object between computers</a:t>
            </a:r>
          </a:p>
          <a:p>
            <a:pPr lvl="1" eaLnBrk="1" hangingPunct="1"/>
            <a:r>
              <a:rPr lang="en-US" altLang="en-US" smtClean="0"/>
              <a:t>The receiving object needs to know how the object is implemented; it needs the class as well as the interface</a:t>
            </a:r>
          </a:p>
          <a:p>
            <a:pPr lvl="1" eaLnBrk="1" hangingPunct="1"/>
            <a:r>
              <a:rPr lang="en-US" altLang="en-US" smtClean="0"/>
              <a:t>There is a way to transmit the class definition</a:t>
            </a:r>
          </a:p>
          <a:p>
            <a:pPr lvl="1" eaLnBrk="1" hangingPunct="1"/>
            <a:r>
              <a:rPr lang="en-US" altLang="en-US" smtClean="0"/>
              <a:t>Accepting classes </a:t>
            </a:r>
            <a:r>
              <a:rPr lang="en-US" altLang="en-US" i="1" smtClean="0"/>
              <a:t>does</a:t>
            </a:r>
            <a:r>
              <a:rPr lang="en-US" altLang="en-US" smtClean="0"/>
              <a:t> pose a security issue</a:t>
            </a:r>
          </a:p>
        </p:txBody>
      </p:sp>
    </p:spTree>
    <p:extLst>
      <p:ext uri="{BB962C8B-B14F-4D97-AF65-F5344CB8AC3E}">
        <p14:creationId xmlns:p14="http://schemas.microsoft.com/office/powerpoint/2010/main" val="1093631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altLang="en-US" dirty="0" smtClean="0"/>
              <a:t>Remote Method Invocation</a:t>
            </a:r>
          </a:p>
        </p:txBody>
      </p:sp>
      <p:sp>
        <p:nvSpPr>
          <p:cNvPr id="6149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219200"/>
            <a:ext cx="8534400" cy="5638800"/>
          </a:xfrm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txBody>
          <a:bodyPr>
            <a:normAutofit fontScale="85000" lnSpcReduction="20000"/>
          </a:bodyPr>
          <a:lstStyle/>
          <a:p>
            <a:pPr>
              <a:lnSpc>
                <a:spcPct val="90000"/>
              </a:lnSpc>
              <a:spcBef>
                <a:spcPct val="30000"/>
              </a:spcBef>
            </a:pPr>
            <a:r>
              <a:rPr lang="en-US" altLang="en-US" dirty="0" smtClean="0"/>
              <a:t>Java RMI is a mechanism that allows a Java program running on one computer (e.g., the client) to apply a method to an object </a:t>
            </a:r>
            <a:r>
              <a:rPr lang="en-US" altLang="en-US" dirty="0" smtClean="0">
                <a:solidFill>
                  <a:srgbClr val="FF0000"/>
                </a:solidFill>
              </a:rPr>
              <a:t>on a different computer </a:t>
            </a:r>
            <a:r>
              <a:rPr lang="en-US" altLang="en-US" dirty="0" smtClean="0"/>
              <a:t>(e.g., the server).</a:t>
            </a:r>
          </a:p>
          <a:p>
            <a:pPr>
              <a:lnSpc>
                <a:spcPct val="90000"/>
              </a:lnSpc>
              <a:spcBef>
                <a:spcPct val="30000"/>
              </a:spcBef>
            </a:pPr>
            <a:r>
              <a:rPr lang="en-US" altLang="en-US" dirty="0" smtClean="0"/>
              <a:t>In itself, the syntax of the remote invocation looks </a:t>
            </a:r>
            <a:r>
              <a:rPr lang="en-US" altLang="en-US" i="1" dirty="0" smtClean="0"/>
              <a:t>exactly</a:t>
            </a:r>
            <a:r>
              <a:rPr lang="en-US" altLang="en-US" dirty="0" smtClean="0"/>
              <a:t> like an ordinary Java method invocation.  </a:t>
            </a:r>
          </a:p>
          <a:p>
            <a:pPr>
              <a:lnSpc>
                <a:spcPct val="90000"/>
              </a:lnSpc>
              <a:spcBef>
                <a:spcPct val="30000"/>
              </a:spcBef>
            </a:pPr>
            <a:r>
              <a:rPr lang="en-US" altLang="en-US" dirty="0" smtClean="0"/>
              <a:t>The remote method call can be passed arguments computed in the context of the local machine.  </a:t>
            </a:r>
          </a:p>
          <a:p>
            <a:pPr>
              <a:lnSpc>
                <a:spcPct val="90000"/>
              </a:lnSpc>
              <a:spcBef>
                <a:spcPct val="30000"/>
              </a:spcBef>
            </a:pPr>
            <a:r>
              <a:rPr lang="en-US" altLang="en-US" dirty="0" smtClean="0"/>
              <a:t>It can return arbitrary values computed in the context of the remote machine.  </a:t>
            </a:r>
          </a:p>
          <a:p>
            <a:pPr>
              <a:lnSpc>
                <a:spcPct val="90000"/>
              </a:lnSpc>
              <a:spcBef>
                <a:spcPct val="30000"/>
              </a:spcBef>
            </a:pPr>
            <a:r>
              <a:rPr lang="en-US" altLang="en-US" dirty="0" smtClean="0"/>
              <a:t>The RMI system </a:t>
            </a:r>
            <a:r>
              <a:rPr lang="en-US" altLang="en-US" dirty="0" smtClean="0">
                <a:solidFill>
                  <a:schemeClr val="tx2"/>
                </a:solidFill>
              </a:rPr>
              <a:t>transparently forwards</a:t>
            </a:r>
            <a:r>
              <a:rPr lang="en-US" altLang="en-US" dirty="0" smtClean="0"/>
              <a:t> these arguments and results.</a:t>
            </a:r>
          </a:p>
          <a:p>
            <a:pPr>
              <a:lnSpc>
                <a:spcPct val="90000"/>
              </a:lnSpc>
              <a:spcBef>
                <a:spcPct val="30000"/>
              </a:spcBef>
            </a:pPr>
            <a:r>
              <a:rPr lang="en-US" altLang="en-US" dirty="0" smtClean="0"/>
              <a:t>RMI is an implementation of the of the </a:t>
            </a:r>
            <a:r>
              <a:rPr lang="en-US" altLang="en-US" dirty="0" smtClean="0">
                <a:solidFill>
                  <a:schemeClr val="tx2"/>
                </a:solidFill>
              </a:rPr>
              <a:t>Distributed Object</a:t>
            </a:r>
            <a:r>
              <a:rPr lang="en-US" altLang="en-US" dirty="0" smtClean="0"/>
              <a:t> programming model—similar to CORBA, but simpler, and specialized to the Java language</a:t>
            </a:r>
            <a:endParaRPr lang="en-US" altLang="en-US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Example</a:t>
            </a:r>
          </a:p>
        </p:txBody>
      </p:sp>
      <p:sp>
        <p:nvSpPr>
          <p:cNvPr id="7179" name="Rectangle 13"/>
          <p:cNvSpPr>
            <a:spLocks noGrp="1" noChangeArrowheads="1"/>
          </p:cNvSpPr>
          <p:nvPr>
            <p:ph idx="1"/>
          </p:nvPr>
        </p:nvSpPr>
        <p:spPr>
          <a:xfrm>
            <a:off x="457200" y="1219200"/>
            <a:ext cx="8382000" cy="914400"/>
          </a:xfrm>
        </p:spPr>
        <p:txBody>
          <a:bodyPr>
            <a:normAutofit fontScale="85000" lnSpcReduction="10000"/>
          </a:bodyPr>
          <a:lstStyle/>
          <a:p>
            <a:r>
              <a:rPr lang="en-US" altLang="en-US" smtClean="0"/>
              <a:t>Assume code running in the local machine holds a </a:t>
            </a:r>
            <a:r>
              <a:rPr lang="en-US" altLang="en-US" i="1" smtClean="0">
                <a:solidFill>
                  <a:schemeClr val="tx2"/>
                </a:solidFill>
              </a:rPr>
              <a:t>remote reference</a:t>
            </a:r>
            <a:r>
              <a:rPr lang="en-US" altLang="en-US" smtClean="0"/>
              <a:t> to an object </a:t>
            </a:r>
            <a:r>
              <a:rPr lang="en-US" altLang="en-US" b="1" smtClean="0">
                <a:solidFill>
                  <a:schemeClr val="tx2"/>
                </a:solidFill>
              </a:rPr>
              <a:t>obj</a:t>
            </a:r>
            <a:r>
              <a:rPr lang="en-US" altLang="en-US" smtClean="0"/>
              <a:t> on a remote machine:</a:t>
            </a:r>
          </a:p>
        </p:txBody>
      </p:sp>
      <p:sp>
        <p:nvSpPr>
          <p:cNvPr id="7173" name="Rectangle 4"/>
          <p:cNvSpPr>
            <a:spLocks noChangeArrowheads="1"/>
          </p:cNvSpPr>
          <p:nvPr/>
        </p:nvSpPr>
        <p:spPr bwMode="auto">
          <a:xfrm>
            <a:off x="762000" y="2406650"/>
            <a:ext cx="2667000" cy="2667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74" name="Rectangle 5"/>
          <p:cNvSpPr>
            <a:spLocks noChangeArrowheads="1"/>
          </p:cNvSpPr>
          <p:nvPr/>
        </p:nvSpPr>
        <p:spPr bwMode="auto">
          <a:xfrm>
            <a:off x="4724400" y="2863850"/>
            <a:ext cx="4038600" cy="28194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175" name="Text Box 6"/>
          <p:cNvSpPr txBox="1">
            <a:spLocks noChangeArrowheads="1"/>
          </p:cNvSpPr>
          <p:nvPr/>
        </p:nvSpPr>
        <p:spPr bwMode="auto">
          <a:xfrm>
            <a:off x="914400" y="5226050"/>
            <a:ext cx="228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altLang="en-US">
                <a:solidFill>
                  <a:schemeClr val="tx2"/>
                </a:solidFill>
                <a:latin typeface="Palatino" pitchFamily="18" charset="0"/>
              </a:rPr>
              <a:t>Local Machine</a:t>
            </a:r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7176" name="Text Box 7"/>
          <p:cNvSpPr txBox="1">
            <a:spLocks noChangeArrowheads="1"/>
          </p:cNvSpPr>
          <p:nvPr/>
        </p:nvSpPr>
        <p:spPr bwMode="auto">
          <a:xfrm>
            <a:off x="5578475" y="5851525"/>
            <a:ext cx="25749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altLang="en-US">
                <a:solidFill>
                  <a:schemeClr val="tx2"/>
                </a:solidFill>
                <a:latin typeface="Palatino" pitchFamily="18" charset="0"/>
              </a:rPr>
              <a:t>Remote Machine</a:t>
            </a:r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7177" name="Oval 9"/>
          <p:cNvSpPr>
            <a:spLocks noChangeArrowheads="1"/>
          </p:cNvSpPr>
          <p:nvPr/>
        </p:nvSpPr>
        <p:spPr bwMode="auto">
          <a:xfrm>
            <a:off x="838200" y="2635250"/>
            <a:ext cx="2514600" cy="22098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altLang="en-US" sz="2000" b="1">
                <a:solidFill>
                  <a:schemeClr val="bg2"/>
                </a:solidFill>
                <a:latin typeface="Palatino" pitchFamily="18" charset="0"/>
              </a:rPr>
              <a:t>res = obj.meth(arg) ;</a:t>
            </a:r>
          </a:p>
        </p:txBody>
      </p:sp>
      <p:sp>
        <p:nvSpPr>
          <p:cNvPr id="7178" name="Oval 10"/>
          <p:cNvSpPr>
            <a:spLocks noChangeArrowheads="1"/>
          </p:cNvSpPr>
          <p:nvPr/>
        </p:nvSpPr>
        <p:spPr bwMode="auto">
          <a:xfrm>
            <a:off x="4800600" y="3016250"/>
            <a:ext cx="3886200" cy="2514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altLang="en-US" sz="1800" b="1">
                <a:solidFill>
                  <a:schemeClr val="bg2"/>
                </a:solidFill>
                <a:latin typeface="Palatino" pitchFamily="18" charset="0"/>
              </a:rPr>
              <a:t>ResType  meth(ArgType arg) {</a:t>
            </a:r>
          </a:p>
          <a:p>
            <a:r>
              <a:rPr lang="en-US" altLang="en-US" sz="1800" b="1">
                <a:solidFill>
                  <a:schemeClr val="bg2"/>
                </a:solidFill>
                <a:latin typeface="Palatino" pitchFamily="18" charset="0"/>
              </a:rPr>
              <a:t>       . . .</a:t>
            </a:r>
          </a:p>
          <a:p>
            <a:r>
              <a:rPr lang="en-US" altLang="en-US" sz="1800" b="1">
                <a:solidFill>
                  <a:schemeClr val="bg2"/>
                </a:solidFill>
                <a:latin typeface="Palatino" pitchFamily="18" charset="0"/>
              </a:rPr>
              <a:t>       return new ResImpl(. . .) ;</a:t>
            </a:r>
          </a:p>
          <a:p>
            <a:pPr>
              <a:lnSpc>
                <a:spcPct val="80000"/>
              </a:lnSpc>
            </a:pPr>
            <a:r>
              <a:rPr lang="en-US" altLang="en-US" sz="1800" b="1">
                <a:solidFill>
                  <a:schemeClr val="bg2"/>
                </a:solidFill>
                <a:latin typeface="Palatino" pitchFamily="18" charset="0"/>
              </a:rPr>
              <a:t>}</a:t>
            </a:r>
          </a:p>
        </p:txBody>
      </p:sp>
      <p:sp>
        <p:nvSpPr>
          <p:cNvPr id="7180" name="Text Box 15"/>
          <p:cNvSpPr txBox="1">
            <a:spLocks noChangeArrowheads="1"/>
          </p:cNvSpPr>
          <p:nvPr/>
        </p:nvSpPr>
        <p:spPr bwMode="auto">
          <a:xfrm>
            <a:off x="4800600" y="2940050"/>
            <a:ext cx="608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altLang="en-US" b="1">
                <a:solidFill>
                  <a:schemeClr val="bg2"/>
                </a:solidFill>
              </a:rPr>
              <a:t>obj</a:t>
            </a:r>
          </a:p>
        </p:txBody>
      </p:sp>
      <p:sp>
        <p:nvSpPr>
          <p:cNvPr id="7181" name="Freeform 21"/>
          <p:cNvSpPr>
            <a:spLocks/>
          </p:cNvSpPr>
          <p:nvPr/>
        </p:nvSpPr>
        <p:spPr bwMode="auto">
          <a:xfrm>
            <a:off x="2971800" y="2514600"/>
            <a:ext cx="5029200" cy="1219200"/>
          </a:xfrm>
          <a:custGeom>
            <a:avLst/>
            <a:gdLst>
              <a:gd name="T0" fmla="*/ 0 w 3168"/>
              <a:gd name="T1" fmla="*/ 1036320 h 640"/>
              <a:gd name="T2" fmla="*/ 2438400 w 3168"/>
              <a:gd name="T3" fmla="*/ 30480 h 640"/>
              <a:gd name="T4" fmla="*/ 5029200 w 3168"/>
              <a:gd name="T5" fmla="*/ 1219200 h 64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3168" h="640">
                <a:moveTo>
                  <a:pt x="0" y="544"/>
                </a:moveTo>
                <a:cubicBezTo>
                  <a:pt x="504" y="272"/>
                  <a:pt x="1008" y="0"/>
                  <a:pt x="1536" y="16"/>
                </a:cubicBezTo>
                <a:cubicBezTo>
                  <a:pt x="2064" y="32"/>
                  <a:pt x="2616" y="336"/>
                  <a:pt x="3168" y="640"/>
                </a:cubicBezTo>
              </a:path>
            </a:pathLst>
          </a:custGeom>
          <a:noFill/>
          <a:ln w="25400" cap="flat" cmpd="sng">
            <a:solidFill>
              <a:schemeClr val="accent2"/>
            </a:solidFill>
            <a:prstDash val="solid"/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E"/>
          </a:p>
        </p:txBody>
      </p:sp>
      <p:sp>
        <p:nvSpPr>
          <p:cNvPr id="7182" name="Freeform 22"/>
          <p:cNvSpPr>
            <a:spLocks/>
          </p:cNvSpPr>
          <p:nvPr/>
        </p:nvSpPr>
        <p:spPr bwMode="auto">
          <a:xfrm rot="-10474935">
            <a:off x="1219200" y="4191000"/>
            <a:ext cx="5946775" cy="1016000"/>
          </a:xfrm>
          <a:custGeom>
            <a:avLst/>
            <a:gdLst>
              <a:gd name="T0" fmla="*/ 0 w 3168"/>
              <a:gd name="T1" fmla="*/ 863600 h 640"/>
              <a:gd name="T2" fmla="*/ 2883285 w 3168"/>
              <a:gd name="T3" fmla="*/ 25400 h 640"/>
              <a:gd name="T4" fmla="*/ 5946775 w 3168"/>
              <a:gd name="T5" fmla="*/ 1016000 h 64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3168" h="640">
                <a:moveTo>
                  <a:pt x="0" y="544"/>
                </a:moveTo>
                <a:cubicBezTo>
                  <a:pt x="504" y="272"/>
                  <a:pt x="1008" y="0"/>
                  <a:pt x="1536" y="16"/>
                </a:cubicBezTo>
                <a:cubicBezTo>
                  <a:pt x="2064" y="32"/>
                  <a:pt x="2616" y="336"/>
                  <a:pt x="3168" y="640"/>
                </a:cubicBezTo>
              </a:path>
            </a:pathLst>
          </a:custGeom>
          <a:noFill/>
          <a:ln w="25400" cap="flat" cmpd="sng">
            <a:solidFill>
              <a:schemeClr val="accent2"/>
            </a:solidFill>
            <a:prstDash val="solid"/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7924800" cy="800100"/>
          </a:xfrm>
        </p:spPr>
        <p:txBody>
          <a:bodyPr>
            <a:normAutofit fontScale="90000"/>
          </a:bodyPr>
          <a:lstStyle/>
          <a:p>
            <a:r>
              <a:rPr lang="en-US" altLang="en-US" smtClean="0"/>
              <a:t>Related Approaches to Networking</a:t>
            </a:r>
          </a:p>
        </p:txBody>
      </p:sp>
      <p:sp>
        <p:nvSpPr>
          <p:cNvPr id="1024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143000"/>
            <a:ext cx="8153400" cy="5181600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90000"/>
              </a:lnSpc>
              <a:spcBef>
                <a:spcPct val="30000"/>
              </a:spcBef>
            </a:pPr>
            <a:r>
              <a:rPr lang="en-US" altLang="en-US" dirty="0" smtClean="0">
                <a:solidFill>
                  <a:schemeClr val="tx2"/>
                </a:solidFill>
              </a:rPr>
              <a:t>Sockets</a:t>
            </a:r>
          </a:p>
          <a:p>
            <a:pPr lvl="1">
              <a:lnSpc>
                <a:spcPct val="90000"/>
              </a:lnSpc>
              <a:spcBef>
                <a:spcPct val="30000"/>
              </a:spcBef>
            </a:pPr>
            <a:r>
              <a:rPr lang="en-US" altLang="en-US" dirty="0" smtClean="0"/>
              <a:t>Traditionally quite hard to program, although the </a:t>
            </a:r>
            <a:r>
              <a:rPr lang="en-US" altLang="en-US" b="1" dirty="0" smtClean="0">
                <a:solidFill>
                  <a:schemeClr val="tx2"/>
                </a:solidFill>
              </a:rPr>
              <a:t>java.net</a:t>
            </a:r>
            <a:r>
              <a:rPr lang="en-US" altLang="en-US" dirty="0" smtClean="0"/>
              <a:t> package makes it relatively easy to establish a socket network connection to another host.  Communication takes place via streams, but you must define the detailed protocols for message exchange yourself.</a:t>
            </a:r>
          </a:p>
          <a:p>
            <a:pPr lvl="1">
              <a:lnSpc>
                <a:spcPct val="90000"/>
              </a:lnSpc>
              <a:spcBef>
                <a:spcPct val="30000"/>
              </a:spcBef>
            </a:pPr>
            <a:r>
              <a:rPr lang="en-US" altLang="en-US" dirty="0" smtClean="0"/>
              <a:t>High-level compared with Unix sockets, but low-level compared to RMI.</a:t>
            </a:r>
          </a:p>
          <a:p>
            <a:pPr>
              <a:lnSpc>
                <a:spcPct val="90000"/>
              </a:lnSpc>
              <a:spcBef>
                <a:spcPct val="30000"/>
              </a:spcBef>
            </a:pPr>
            <a:r>
              <a:rPr lang="en-US" altLang="en-US" dirty="0" smtClean="0">
                <a:solidFill>
                  <a:schemeClr val="tx2"/>
                </a:solidFill>
              </a:rPr>
              <a:t>Remote Procedure Call</a:t>
            </a:r>
            <a:r>
              <a:rPr lang="en-US" altLang="en-US" dirty="0" smtClean="0"/>
              <a:t> </a:t>
            </a:r>
            <a:r>
              <a:rPr lang="en-US" altLang="en-US" dirty="0" smtClean="0">
                <a:solidFill>
                  <a:schemeClr val="tx2"/>
                </a:solidFill>
              </a:rPr>
              <a:t>(RPC)</a:t>
            </a:r>
          </a:p>
          <a:p>
            <a:pPr lvl="1">
              <a:lnSpc>
                <a:spcPct val="90000"/>
              </a:lnSpc>
              <a:spcBef>
                <a:spcPct val="30000"/>
              </a:spcBef>
            </a:pPr>
            <a:r>
              <a:rPr lang="en-US" altLang="en-US" dirty="0" smtClean="0"/>
              <a:t>An earlier UNIX protocol to allow calling remote procedures.  </a:t>
            </a:r>
          </a:p>
          <a:p>
            <a:pPr lvl="1">
              <a:lnSpc>
                <a:spcPct val="90000"/>
              </a:lnSpc>
              <a:spcBef>
                <a:spcPct val="30000"/>
              </a:spcBef>
            </a:pPr>
            <a:r>
              <a:rPr lang="en-US" altLang="en-US" dirty="0" smtClean="0"/>
              <a:t>Programmers register their application with a host </a:t>
            </a:r>
            <a:r>
              <a:rPr lang="en-US" altLang="en-US" dirty="0" smtClean="0">
                <a:solidFill>
                  <a:schemeClr val="tx2"/>
                </a:solidFill>
              </a:rPr>
              <a:t>port mapper</a:t>
            </a:r>
            <a:r>
              <a:rPr lang="en-US" altLang="en-US" dirty="0" smtClean="0"/>
              <a:t>.</a:t>
            </a:r>
          </a:p>
          <a:p>
            <a:pPr lvl="1">
              <a:lnSpc>
                <a:spcPct val="90000"/>
              </a:lnSpc>
              <a:spcBef>
                <a:spcPct val="30000"/>
              </a:spcBef>
            </a:pPr>
            <a:r>
              <a:rPr lang="en-US" altLang="en-US" dirty="0" smtClean="0"/>
              <a:t>Protocols for parameter-passing support a limited number of types.</a:t>
            </a:r>
          </a:p>
          <a:p>
            <a:pPr>
              <a:lnSpc>
                <a:spcPct val="90000"/>
              </a:lnSpc>
              <a:spcBef>
                <a:spcPct val="30000"/>
              </a:spcBef>
            </a:pPr>
            <a:r>
              <a:rPr lang="en-US" altLang="en-US" dirty="0" smtClean="0">
                <a:solidFill>
                  <a:schemeClr val="tx2"/>
                </a:solidFill>
              </a:rPr>
              <a:t>CORBA</a:t>
            </a:r>
          </a:p>
          <a:p>
            <a:pPr lvl="1">
              <a:lnSpc>
                <a:spcPct val="90000"/>
              </a:lnSpc>
              <a:spcBef>
                <a:spcPct val="30000"/>
              </a:spcBef>
            </a:pPr>
            <a:r>
              <a:rPr lang="en-US" altLang="en-US" dirty="0" smtClean="0"/>
              <a:t>Next topic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The Remote Interface</a:t>
            </a:r>
          </a:p>
        </p:txBody>
      </p:sp>
      <p:sp>
        <p:nvSpPr>
          <p:cNvPr id="1331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  <a:spcBef>
                <a:spcPct val="30000"/>
              </a:spcBef>
            </a:pPr>
            <a:r>
              <a:rPr lang="en-US" altLang="en-US" dirty="0" smtClean="0"/>
              <a:t>In RMI, a common </a:t>
            </a:r>
            <a:r>
              <a:rPr lang="en-US" altLang="en-US" dirty="0" smtClean="0">
                <a:solidFill>
                  <a:schemeClr val="tx2"/>
                </a:solidFill>
              </a:rPr>
              <a:t>remote interface</a:t>
            </a:r>
            <a:r>
              <a:rPr lang="en-US" altLang="en-US" dirty="0" smtClean="0"/>
              <a:t> is the minimum amount of information that must be shared in advance between “client” and “server” machines. </a:t>
            </a:r>
          </a:p>
          <a:p>
            <a:pPr>
              <a:lnSpc>
                <a:spcPct val="90000"/>
              </a:lnSpc>
              <a:spcBef>
                <a:spcPct val="30000"/>
              </a:spcBef>
            </a:pPr>
            <a:r>
              <a:rPr lang="en-US" altLang="en-US" dirty="0" smtClean="0"/>
              <a:t>It defines a high-level “protocol” through which the machines will communicate.</a:t>
            </a:r>
          </a:p>
          <a:p>
            <a:pPr>
              <a:lnSpc>
                <a:spcPct val="90000"/>
              </a:lnSpc>
              <a:spcBef>
                <a:spcPct val="30000"/>
              </a:spcBef>
            </a:pPr>
            <a:r>
              <a:rPr lang="en-US" altLang="en-US" dirty="0" smtClean="0"/>
              <a:t>A remote interface is an ordinary Java interface, which must extent the marker interface </a:t>
            </a:r>
            <a:r>
              <a:rPr lang="en-US" altLang="en-US" b="1" dirty="0" err="1" smtClean="0">
                <a:solidFill>
                  <a:schemeClr val="tx2"/>
                </a:solidFill>
              </a:rPr>
              <a:t>java.rmi.Remote</a:t>
            </a:r>
            <a:r>
              <a:rPr lang="en-US" altLang="en-US" dirty="0" smtClean="0"/>
              <a:t>.</a:t>
            </a:r>
          </a:p>
          <a:p>
            <a:pPr>
              <a:lnSpc>
                <a:spcPct val="90000"/>
              </a:lnSpc>
              <a:spcBef>
                <a:spcPct val="30000"/>
              </a:spcBef>
            </a:pPr>
            <a:r>
              <a:rPr lang="en-US" altLang="en-US" dirty="0" smtClean="0"/>
              <a:t>All methods in a remote interface </a:t>
            </a:r>
            <a:r>
              <a:rPr lang="en-US" altLang="en-US" i="1" dirty="0" smtClean="0">
                <a:solidFill>
                  <a:schemeClr val="tx2"/>
                </a:solidFill>
              </a:rPr>
              <a:t>must</a:t>
            </a:r>
            <a:r>
              <a:rPr lang="en-US" altLang="en-US" dirty="0" smtClean="0"/>
              <a:t> be declared to throw the </a:t>
            </a:r>
            <a:r>
              <a:rPr lang="en-US" altLang="en-US" b="1" dirty="0" err="1" smtClean="0">
                <a:solidFill>
                  <a:schemeClr val="tx2"/>
                </a:solidFill>
              </a:rPr>
              <a:t>java.rmi.RemoteException</a:t>
            </a:r>
            <a:r>
              <a:rPr lang="en-US" altLang="en-US" dirty="0" smtClean="0"/>
              <a:t> exception.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A Simple Example</a:t>
            </a:r>
          </a:p>
        </p:txBody>
      </p:sp>
      <p:sp>
        <p:nvSpPr>
          <p:cNvPr id="1434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90000"/>
              </a:lnSpc>
              <a:spcBef>
                <a:spcPct val="30000"/>
              </a:spcBef>
            </a:pPr>
            <a:r>
              <a:rPr lang="en-US" altLang="en-US" dirty="0" smtClean="0"/>
              <a:t>A file </a:t>
            </a:r>
            <a:r>
              <a:rPr lang="en-US" altLang="en-US" b="1" dirty="0" smtClean="0">
                <a:solidFill>
                  <a:schemeClr val="tx2"/>
                </a:solidFill>
              </a:rPr>
              <a:t>MessageWriter.java </a:t>
            </a:r>
            <a:r>
              <a:rPr lang="en-US" altLang="en-US" dirty="0" smtClean="0"/>
              <a:t>contains the interface definition:</a:t>
            </a:r>
          </a:p>
          <a:p>
            <a:pPr lvl="1">
              <a:spcBef>
                <a:spcPct val="50000"/>
              </a:spcBef>
              <a:buFontTx/>
              <a:buNone/>
            </a:pPr>
            <a:r>
              <a:rPr lang="en-US" altLang="en-US" b="1" dirty="0" smtClean="0">
                <a:solidFill>
                  <a:schemeClr val="tx2"/>
                </a:solidFill>
              </a:rPr>
              <a:t>    import java.rmi.* ;</a:t>
            </a:r>
          </a:p>
          <a:p>
            <a:pPr lvl="1">
              <a:lnSpc>
                <a:spcPct val="90000"/>
              </a:lnSpc>
              <a:spcBef>
                <a:spcPct val="70000"/>
              </a:spcBef>
              <a:buFontTx/>
              <a:buNone/>
            </a:pPr>
            <a:r>
              <a:rPr lang="en-US" altLang="en-US" b="1" dirty="0" smtClean="0">
                <a:solidFill>
                  <a:schemeClr val="tx2"/>
                </a:solidFill>
              </a:rPr>
              <a:t>    public interface  </a:t>
            </a:r>
            <a:r>
              <a:rPr lang="en-US" altLang="en-US" b="1" dirty="0" err="1" smtClean="0">
                <a:solidFill>
                  <a:schemeClr val="tx2"/>
                </a:solidFill>
              </a:rPr>
              <a:t>MessageWriter</a:t>
            </a:r>
            <a:r>
              <a:rPr lang="en-US" altLang="en-US" b="1" dirty="0" smtClean="0">
                <a:solidFill>
                  <a:schemeClr val="tx2"/>
                </a:solidFill>
              </a:rPr>
              <a:t>  extends Remote {</a:t>
            </a:r>
          </a:p>
          <a:p>
            <a:pPr lvl="1">
              <a:lnSpc>
                <a:spcPct val="90000"/>
              </a:lnSpc>
              <a:spcBef>
                <a:spcPct val="40000"/>
              </a:spcBef>
              <a:buFontTx/>
              <a:buNone/>
            </a:pPr>
            <a:r>
              <a:rPr lang="en-US" altLang="en-US" b="1" dirty="0" smtClean="0">
                <a:solidFill>
                  <a:schemeClr val="tx2"/>
                </a:solidFill>
              </a:rPr>
              <a:t>           void  </a:t>
            </a:r>
            <a:r>
              <a:rPr lang="en-US" altLang="en-US" b="1" dirty="0" err="1" smtClean="0">
                <a:solidFill>
                  <a:schemeClr val="tx2"/>
                </a:solidFill>
              </a:rPr>
              <a:t>writeMessage</a:t>
            </a:r>
            <a:r>
              <a:rPr lang="en-US" altLang="en-US" b="1" dirty="0" smtClean="0">
                <a:solidFill>
                  <a:schemeClr val="tx2"/>
                </a:solidFill>
              </a:rPr>
              <a:t>(String s)  throws </a:t>
            </a:r>
            <a:r>
              <a:rPr lang="en-US" altLang="en-US" b="1" dirty="0" err="1" smtClean="0">
                <a:solidFill>
                  <a:schemeClr val="tx2"/>
                </a:solidFill>
              </a:rPr>
              <a:t>RemoteException</a:t>
            </a:r>
            <a:r>
              <a:rPr lang="en-US" altLang="en-US" b="1" dirty="0" smtClean="0">
                <a:solidFill>
                  <a:schemeClr val="tx2"/>
                </a:solidFill>
              </a:rPr>
              <a:t> ;</a:t>
            </a:r>
          </a:p>
          <a:p>
            <a:pPr lvl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en-US" b="1" dirty="0" smtClean="0">
                <a:solidFill>
                  <a:schemeClr val="tx2"/>
                </a:solidFill>
              </a:rPr>
              <a:t>    }</a:t>
            </a:r>
          </a:p>
          <a:p>
            <a:pPr>
              <a:lnSpc>
                <a:spcPct val="90000"/>
              </a:lnSpc>
              <a:spcBef>
                <a:spcPct val="60000"/>
              </a:spcBef>
            </a:pPr>
            <a:r>
              <a:rPr lang="en-US" altLang="en-US" dirty="0" smtClean="0"/>
              <a:t>This interface defines a single remote method, </a:t>
            </a:r>
            <a:r>
              <a:rPr lang="en-US" altLang="en-US" b="1" dirty="0" err="1" smtClean="0">
                <a:solidFill>
                  <a:schemeClr val="tx2"/>
                </a:solidFill>
              </a:rPr>
              <a:t>writeMessage</a:t>
            </a:r>
            <a:r>
              <a:rPr lang="en-US" altLang="en-US" b="1" dirty="0" smtClean="0">
                <a:solidFill>
                  <a:schemeClr val="tx2"/>
                </a:solidFill>
              </a:rPr>
              <a:t>()</a:t>
            </a:r>
            <a:r>
              <a:rPr lang="en-US" altLang="en-US" dirty="0" smtClean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smtClean="0"/>
              <a:t>java.rmi.Remote</a:t>
            </a:r>
          </a:p>
        </p:txBody>
      </p:sp>
      <p:sp>
        <p:nvSpPr>
          <p:cNvPr id="1536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219200"/>
            <a:ext cx="8153400" cy="4953000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ct val="30000"/>
              </a:spcBef>
            </a:pPr>
            <a:r>
              <a:rPr lang="en-US" altLang="en-US" dirty="0" smtClean="0"/>
              <a:t>The interface </a:t>
            </a:r>
            <a:r>
              <a:rPr lang="en-US" altLang="en-US" b="1" dirty="0" err="1" smtClean="0">
                <a:solidFill>
                  <a:schemeClr val="tx2"/>
                </a:solidFill>
              </a:rPr>
              <a:t>java.rmi.Remote</a:t>
            </a:r>
            <a:r>
              <a:rPr lang="en-US" altLang="en-US" b="1" dirty="0" smtClean="0">
                <a:solidFill>
                  <a:schemeClr val="tx2"/>
                </a:solidFill>
              </a:rPr>
              <a:t> </a:t>
            </a:r>
            <a:r>
              <a:rPr lang="en-US" altLang="en-US" dirty="0" smtClean="0"/>
              <a:t>is a </a:t>
            </a:r>
            <a:r>
              <a:rPr lang="en-US" altLang="en-US" i="1" dirty="0" smtClean="0">
                <a:solidFill>
                  <a:schemeClr val="tx2"/>
                </a:solidFill>
              </a:rPr>
              <a:t>marker interface</a:t>
            </a:r>
            <a:r>
              <a:rPr lang="en-US" altLang="en-US" dirty="0" smtClean="0"/>
              <a:t>.</a:t>
            </a:r>
          </a:p>
          <a:p>
            <a:pPr>
              <a:lnSpc>
                <a:spcPct val="90000"/>
              </a:lnSpc>
              <a:spcBef>
                <a:spcPct val="30000"/>
              </a:spcBef>
            </a:pPr>
            <a:r>
              <a:rPr lang="en-US" altLang="en-US" dirty="0" smtClean="0"/>
              <a:t>It declares</a:t>
            </a:r>
            <a:r>
              <a:rPr lang="en-US" altLang="en-US" dirty="0" smtClean="0">
                <a:solidFill>
                  <a:schemeClr val="tx2"/>
                </a:solidFill>
              </a:rPr>
              <a:t> no </a:t>
            </a:r>
            <a:r>
              <a:rPr lang="en-US" altLang="en-US" dirty="0" smtClean="0"/>
              <a:t>methods or fields; however, extending it </a:t>
            </a:r>
            <a:r>
              <a:rPr lang="en-US" altLang="en-US" dirty="0" smtClean="0">
                <a:solidFill>
                  <a:schemeClr val="tx2"/>
                </a:solidFill>
              </a:rPr>
              <a:t>tells the RMI system</a:t>
            </a:r>
            <a:r>
              <a:rPr lang="en-US" altLang="en-US" dirty="0" smtClean="0"/>
              <a:t> to treat the interface concerned as a remote interface.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The Remote Object</a:t>
            </a:r>
          </a:p>
        </p:txBody>
      </p:sp>
      <p:sp>
        <p:nvSpPr>
          <p:cNvPr id="1741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219200"/>
            <a:ext cx="8153400" cy="4953000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90000"/>
              </a:lnSpc>
              <a:spcBef>
                <a:spcPct val="30000"/>
              </a:spcBef>
            </a:pPr>
            <a:r>
              <a:rPr lang="en-US" altLang="en-US" smtClean="0"/>
              <a:t>A </a:t>
            </a:r>
            <a:r>
              <a:rPr lang="en-US" altLang="en-US" smtClean="0">
                <a:solidFill>
                  <a:schemeClr val="tx2"/>
                </a:solidFill>
              </a:rPr>
              <a:t>remote object</a:t>
            </a:r>
            <a:r>
              <a:rPr lang="en-US" altLang="en-US" smtClean="0"/>
              <a:t> is an instance of a class that implements a remote interface.</a:t>
            </a:r>
          </a:p>
          <a:p>
            <a:pPr>
              <a:lnSpc>
                <a:spcPct val="90000"/>
              </a:lnSpc>
              <a:spcBef>
                <a:spcPct val="30000"/>
              </a:spcBef>
            </a:pPr>
            <a:r>
              <a:rPr lang="en-US" altLang="en-US" smtClean="0"/>
              <a:t>Most often this class also extends the library class </a:t>
            </a:r>
            <a:r>
              <a:rPr lang="en-US" altLang="en-US" b="1" smtClean="0">
                <a:solidFill>
                  <a:schemeClr val="tx2"/>
                </a:solidFill>
              </a:rPr>
              <a:t>java.rmi.server.UnicastRemoteObject</a:t>
            </a:r>
            <a:r>
              <a:rPr lang="en-US" altLang="en-US" smtClean="0"/>
              <a:t>.  This class includes a constructor that </a:t>
            </a:r>
            <a:r>
              <a:rPr lang="en-US" altLang="en-US" i="1" smtClean="0">
                <a:solidFill>
                  <a:schemeClr val="tx2"/>
                </a:solidFill>
              </a:rPr>
              <a:t>exports</a:t>
            </a:r>
            <a:r>
              <a:rPr lang="en-US" altLang="en-US" smtClean="0"/>
              <a:t> the object to the RMI system when it is created, thus making the object visible to the outside world.</a:t>
            </a:r>
          </a:p>
          <a:p>
            <a:pPr>
              <a:lnSpc>
                <a:spcPct val="90000"/>
              </a:lnSpc>
              <a:spcBef>
                <a:spcPct val="30000"/>
              </a:spcBef>
            </a:pPr>
            <a:r>
              <a:rPr lang="en-US" altLang="en-US" smtClean="0"/>
              <a:t>Usually you will not have to deal with this class explicitly—your remote object classes just have to extend it.</a:t>
            </a:r>
          </a:p>
          <a:p>
            <a:pPr>
              <a:lnSpc>
                <a:spcPct val="90000"/>
              </a:lnSpc>
              <a:spcBef>
                <a:spcPct val="30000"/>
              </a:spcBef>
            </a:pPr>
            <a:r>
              <a:rPr lang="en-US" altLang="en-US" smtClean="0"/>
              <a:t>One fairly common convention is to name the class of the remote object after the name of the remote interface it implements, but append </a:t>
            </a:r>
            <a:r>
              <a:rPr lang="en-US" altLang="en-US" smtClean="0">
                <a:solidFill>
                  <a:schemeClr val="tx2"/>
                </a:solidFill>
              </a:rPr>
              <a:t>“</a:t>
            </a:r>
            <a:r>
              <a:rPr lang="en-US" altLang="en-US" b="1" smtClean="0">
                <a:solidFill>
                  <a:schemeClr val="tx2"/>
                </a:solidFill>
              </a:rPr>
              <a:t>Impl</a:t>
            </a:r>
            <a:r>
              <a:rPr lang="en-US" altLang="en-US" smtClean="0">
                <a:solidFill>
                  <a:schemeClr val="tx2"/>
                </a:solidFill>
              </a:rPr>
              <a:t>”</a:t>
            </a:r>
            <a:r>
              <a:rPr lang="en-US" altLang="en-US" smtClean="0"/>
              <a:t> to the end.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382000" cy="800100"/>
          </a:xfrm>
        </p:spPr>
        <p:txBody>
          <a:bodyPr>
            <a:normAutofit fontScale="90000"/>
          </a:bodyPr>
          <a:lstStyle/>
          <a:p>
            <a:r>
              <a:rPr lang="en-US" altLang="en-US" smtClean="0"/>
              <a:t>A Remote Object Implementation Class</a:t>
            </a:r>
          </a:p>
        </p:txBody>
      </p:sp>
      <p:sp>
        <p:nvSpPr>
          <p:cNvPr id="1843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143000"/>
            <a:ext cx="8763000" cy="4953000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90000"/>
              </a:lnSpc>
              <a:spcBef>
                <a:spcPct val="30000"/>
              </a:spcBef>
            </a:pPr>
            <a:r>
              <a:rPr lang="en-US" altLang="en-US" dirty="0" smtClean="0"/>
              <a:t>The file </a:t>
            </a:r>
            <a:r>
              <a:rPr lang="en-US" altLang="en-US" b="1" dirty="0" smtClean="0">
                <a:solidFill>
                  <a:schemeClr val="tx2"/>
                </a:solidFill>
              </a:rPr>
              <a:t>MessageWriterImpl.java</a:t>
            </a:r>
            <a:r>
              <a:rPr lang="en-US" altLang="en-US" dirty="0" smtClean="0"/>
              <a:t> contains the class declaration:</a:t>
            </a:r>
          </a:p>
          <a:p>
            <a:pPr lvl="1">
              <a:lnSpc>
                <a:spcPct val="90000"/>
              </a:lnSpc>
              <a:spcBef>
                <a:spcPct val="100000"/>
              </a:spcBef>
              <a:buFontTx/>
              <a:buNone/>
            </a:pPr>
            <a:r>
              <a:rPr lang="en-US" altLang="en-US" b="1" dirty="0" smtClean="0">
                <a:solidFill>
                  <a:schemeClr val="tx2"/>
                </a:solidFill>
              </a:rPr>
              <a:t>  import java.rmi.* ;</a:t>
            </a:r>
          </a:p>
          <a:p>
            <a:pPr lvl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b="1" dirty="0" smtClean="0">
                <a:solidFill>
                  <a:schemeClr val="tx2"/>
                </a:solidFill>
              </a:rPr>
              <a:t>  import java.rmi.server.* ;</a:t>
            </a:r>
          </a:p>
          <a:p>
            <a:pPr lvl="1">
              <a:lnSpc>
                <a:spcPct val="90000"/>
              </a:lnSpc>
              <a:spcBef>
                <a:spcPct val="60000"/>
              </a:spcBef>
              <a:buFontTx/>
              <a:buNone/>
            </a:pPr>
            <a:r>
              <a:rPr lang="en-US" altLang="en-US" b="1" dirty="0" smtClean="0">
                <a:solidFill>
                  <a:schemeClr val="tx2"/>
                </a:solidFill>
              </a:rPr>
              <a:t>  public class </a:t>
            </a:r>
            <a:r>
              <a:rPr lang="en-US" altLang="en-US" b="1" dirty="0" err="1" smtClean="0">
                <a:solidFill>
                  <a:schemeClr val="tx2"/>
                </a:solidFill>
              </a:rPr>
              <a:t>MessageWriterImpl</a:t>
            </a:r>
            <a:r>
              <a:rPr lang="en-US" altLang="en-US" b="1" dirty="0" smtClean="0">
                <a:solidFill>
                  <a:schemeClr val="tx2"/>
                </a:solidFill>
              </a:rPr>
              <a:t> </a:t>
            </a:r>
            <a:r>
              <a:rPr lang="en-US" altLang="en-US" b="1" dirty="0" smtClean="0"/>
              <a:t>extends </a:t>
            </a:r>
            <a:r>
              <a:rPr lang="en-US" altLang="en-US" b="1" dirty="0" err="1" smtClean="0"/>
              <a:t>UnicastRemoteObject</a:t>
            </a:r>
            <a:endParaRPr lang="en-US" altLang="en-US" b="1" dirty="0" smtClean="0">
              <a:solidFill>
                <a:schemeClr val="tx2"/>
              </a:solidFill>
            </a:endParaRPr>
          </a:p>
          <a:p>
            <a:pPr lvl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b="1" dirty="0" smtClean="0">
                <a:solidFill>
                  <a:schemeClr val="tx2"/>
                </a:solidFill>
              </a:rPr>
              <a:t>                                                              </a:t>
            </a:r>
            <a:r>
              <a:rPr lang="en-US" altLang="en-US" b="1" dirty="0" smtClean="0"/>
              <a:t>implements </a:t>
            </a:r>
            <a:r>
              <a:rPr lang="en-US" altLang="en-US" b="1" dirty="0" err="1" smtClean="0"/>
              <a:t>MessageWriter</a:t>
            </a:r>
            <a:r>
              <a:rPr lang="en-US" altLang="en-US" b="1" dirty="0" smtClean="0">
                <a:solidFill>
                  <a:schemeClr val="tx2"/>
                </a:solidFill>
              </a:rPr>
              <a:t> {</a:t>
            </a:r>
          </a:p>
          <a:p>
            <a:pPr lvl="1"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lang="en-US" altLang="en-US" b="1" dirty="0" smtClean="0">
                <a:solidFill>
                  <a:schemeClr val="tx2"/>
                </a:solidFill>
              </a:rPr>
              <a:t>       public </a:t>
            </a:r>
            <a:r>
              <a:rPr lang="en-US" altLang="en-US" b="1" dirty="0" err="1" smtClean="0">
                <a:solidFill>
                  <a:schemeClr val="tx2"/>
                </a:solidFill>
              </a:rPr>
              <a:t>MessageWriterImpl</a:t>
            </a:r>
            <a:r>
              <a:rPr lang="en-US" altLang="en-US" b="1" dirty="0" smtClean="0">
                <a:solidFill>
                  <a:schemeClr val="tx2"/>
                </a:solidFill>
              </a:rPr>
              <a:t>() </a:t>
            </a:r>
            <a:r>
              <a:rPr lang="en-US" altLang="en-US" b="1" dirty="0" smtClean="0"/>
              <a:t>throws </a:t>
            </a:r>
            <a:r>
              <a:rPr lang="en-US" altLang="en-US" b="1" dirty="0" err="1" smtClean="0"/>
              <a:t>RemoteException</a:t>
            </a:r>
            <a:r>
              <a:rPr lang="en-US" altLang="en-US" b="1" dirty="0" smtClean="0">
                <a:solidFill>
                  <a:schemeClr val="tx2"/>
                </a:solidFill>
              </a:rPr>
              <a:t> {</a:t>
            </a:r>
          </a:p>
          <a:p>
            <a:pPr lvl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b="1" dirty="0" smtClean="0">
                <a:solidFill>
                  <a:schemeClr val="tx2"/>
                </a:solidFill>
              </a:rPr>
              <a:t>       }</a:t>
            </a:r>
          </a:p>
          <a:p>
            <a:pPr lvl="1">
              <a:lnSpc>
                <a:spcPct val="90000"/>
              </a:lnSpc>
              <a:spcBef>
                <a:spcPct val="60000"/>
              </a:spcBef>
              <a:buFontTx/>
              <a:buNone/>
            </a:pPr>
            <a:r>
              <a:rPr lang="en-US" altLang="en-US" b="1" dirty="0" smtClean="0">
                <a:solidFill>
                  <a:schemeClr val="tx2"/>
                </a:solidFill>
              </a:rPr>
              <a:t>       public void </a:t>
            </a:r>
            <a:r>
              <a:rPr lang="en-US" altLang="en-US" b="1" dirty="0" err="1" smtClean="0">
                <a:solidFill>
                  <a:schemeClr val="tx2"/>
                </a:solidFill>
              </a:rPr>
              <a:t>writeMessage</a:t>
            </a:r>
            <a:r>
              <a:rPr lang="en-US" altLang="en-US" b="1" dirty="0" smtClean="0">
                <a:solidFill>
                  <a:schemeClr val="tx2"/>
                </a:solidFill>
              </a:rPr>
              <a:t>(String s) throws </a:t>
            </a:r>
            <a:r>
              <a:rPr lang="en-US" altLang="en-US" b="1" dirty="0" err="1" smtClean="0">
                <a:solidFill>
                  <a:schemeClr val="tx2"/>
                </a:solidFill>
              </a:rPr>
              <a:t>RemoteException</a:t>
            </a:r>
            <a:r>
              <a:rPr lang="en-US" altLang="en-US" b="1" dirty="0" smtClean="0">
                <a:solidFill>
                  <a:schemeClr val="tx2"/>
                </a:solidFill>
              </a:rPr>
              <a:t> {</a:t>
            </a:r>
          </a:p>
          <a:p>
            <a:pPr lvl="1"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lang="en-US" altLang="en-US" b="1" dirty="0" smtClean="0">
                <a:solidFill>
                  <a:schemeClr val="tx2"/>
                </a:solidFill>
              </a:rPr>
              <a:t>              </a:t>
            </a:r>
            <a:r>
              <a:rPr lang="en-US" altLang="en-US" b="1" dirty="0" err="1" smtClean="0">
                <a:solidFill>
                  <a:schemeClr val="tx2"/>
                </a:solidFill>
              </a:rPr>
              <a:t>System.out.println</a:t>
            </a:r>
            <a:r>
              <a:rPr lang="en-US" altLang="en-US" b="1" dirty="0" smtClean="0">
                <a:solidFill>
                  <a:schemeClr val="tx2"/>
                </a:solidFill>
              </a:rPr>
              <a:t>(s) ;</a:t>
            </a:r>
          </a:p>
          <a:p>
            <a:pPr lvl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en-US" b="1" dirty="0" smtClean="0">
                <a:solidFill>
                  <a:schemeClr val="tx2"/>
                </a:solidFill>
              </a:rPr>
              <a:t>       }</a:t>
            </a:r>
          </a:p>
          <a:p>
            <a:pPr lvl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en-US" b="1" dirty="0" smtClean="0">
                <a:solidFill>
                  <a:schemeClr val="tx2"/>
                </a:solidFill>
              </a:rPr>
              <a:t>  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Remarks</a:t>
            </a:r>
          </a:p>
        </p:txBody>
      </p:sp>
      <p:sp>
        <p:nvSpPr>
          <p:cNvPr id="1946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90000"/>
              </a:lnSpc>
              <a:spcBef>
                <a:spcPct val="30000"/>
              </a:spcBef>
            </a:pPr>
            <a:r>
              <a:rPr lang="en-US" altLang="en-US" smtClean="0"/>
              <a:t>The constructor </a:t>
            </a:r>
            <a:r>
              <a:rPr lang="en-US" altLang="en-US" b="1" smtClean="0">
                <a:solidFill>
                  <a:schemeClr val="tx2"/>
                </a:solidFill>
              </a:rPr>
              <a:t>MessageWriterImpl() </a:t>
            </a:r>
            <a:r>
              <a:rPr lang="en-US" altLang="en-US" smtClean="0"/>
              <a:t>has an empty body.  But recall that if there is no </a:t>
            </a:r>
            <a:r>
              <a:rPr lang="en-US" altLang="en-US" i="1" smtClean="0"/>
              <a:t>explicit constructor invocation</a:t>
            </a:r>
            <a:r>
              <a:rPr lang="en-US" altLang="en-US" smtClean="0"/>
              <a:t> in the body of a subclass constructor, it </a:t>
            </a:r>
            <a:r>
              <a:rPr lang="en-US" altLang="en-US" i="1" smtClean="0">
                <a:solidFill>
                  <a:schemeClr val="tx2"/>
                </a:solidFill>
              </a:rPr>
              <a:t>implicitly</a:t>
            </a:r>
            <a:r>
              <a:rPr lang="en-US" altLang="en-US" smtClean="0">
                <a:solidFill>
                  <a:schemeClr val="tx2"/>
                </a:solidFill>
              </a:rPr>
              <a:t> </a:t>
            </a:r>
            <a:r>
              <a:rPr lang="en-US" altLang="en-US" smtClean="0"/>
              <a:t>invokes </a:t>
            </a:r>
            <a:r>
              <a:rPr lang="en-US" altLang="en-US" b="1" smtClean="0">
                <a:solidFill>
                  <a:schemeClr val="tx2"/>
                </a:solidFill>
              </a:rPr>
              <a:t>super()</a:t>
            </a:r>
            <a:r>
              <a:rPr lang="en-US" altLang="en-US" smtClean="0"/>
              <a:t>.</a:t>
            </a:r>
          </a:p>
          <a:p>
            <a:pPr>
              <a:lnSpc>
                <a:spcPct val="90000"/>
              </a:lnSpc>
              <a:spcBef>
                <a:spcPct val="30000"/>
              </a:spcBef>
            </a:pPr>
            <a:r>
              <a:rPr lang="en-US" altLang="en-US" smtClean="0"/>
              <a:t>Hence the vital constructor of </a:t>
            </a:r>
            <a:r>
              <a:rPr lang="en-US" altLang="en-US" b="1" smtClean="0">
                <a:solidFill>
                  <a:schemeClr val="tx2"/>
                </a:solidFill>
              </a:rPr>
              <a:t>UnicastRemoteObject</a:t>
            </a:r>
            <a:r>
              <a:rPr lang="en-US" altLang="en-US" smtClean="0"/>
              <a:t> is called.</a:t>
            </a:r>
          </a:p>
          <a:p>
            <a:pPr>
              <a:lnSpc>
                <a:spcPct val="90000"/>
              </a:lnSpc>
              <a:spcBef>
                <a:spcPct val="30000"/>
              </a:spcBef>
            </a:pPr>
            <a:r>
              <a:rPr lang="en-US" altLang="en-US" smtClean="0"/>
              <a:t>This constructor is declared to throw </a:t>
            </a:r>
            <a:r>
              <a:rPr lang="en-US" altLang="en-US" b="1" smtClean="0">
                <a:solidFill>
                  <a:schemeClr val="tx2"/>
                </a:solidFill>
              </a:rPr>
              <a:t>RemoteException</a:t>
            </a:r>
            <a:r>
              <a:rPr lang="en-US" altLang="en-US" smtClean="0"/>
              <a:t>. The </a:t>
            </a:r>
            <a:r>
              <a:rPr lang="en-US" altLang="en-US" b="1" smtClean="0">
                <a:solidFill>
                  <a:schemeClr val="tx2"/>
                </a:solidFill>
              </a:rPr>
              <a:t>MessageWriterImpl()</a:t>
            </a:r>
            <a:r>
              <a:rPr lang="en-US" altLang="en-US" smtClean="0"/>
              <a:t> constructor must be declared to throw this exception in turn, otherwise there will be a compiler error message.</a:t>
            </a:r>
          </a:p>
          <a:p>
            <a:pPr>
              <a:lnSpc>
                <a:spcPct val="90000"/>
              </a:lnSpc>
              <a:spcBef>
                <a:spcPct val="30000"/>
              </a:spcBef>
            </a:pPr>
            <a:r>
              <a:rPr lang="en-US" altLang="en-US" smtClean="0"/>
              <a:t>Of course the class must also define all the methods of the remote interface </a:t>
            </a:r>
            <a:r>
              <a:rPr lang="en-US" altLang="en-US" b="1" smtClean="0">
                <a:solidFill>
                  <a:schemeClr val="tx2"/>
                </a:solidFill>
              </a:rPr>
              <a:t>MessageWriter</a:t>
            </a:r>
            <a:r>
              <a:rPr lang="en-US" altLang="en-US" smtClean="0"/>
              <a:t>, which it implements.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Client and Server Programs</a:t>
            </a:r>
          </a:p>
        </p:txBody>
      </p:sp>
      <p:sp>
        <p:nvSpPr>
          <p:cNvPr id="2150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143000"/>
            <a:ext cx="8153400" cy="5105400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  <a:spcBef>
                <a:spcPct val="30000"/>
              </a:spcBef>
            </a:pPr>
            <a:r>
              <a:rPr lang="en-US" altLang="en-US" dirty="0" smtClean="0"/>
              <a:t>We have completed the Java files for the remote object class itself, but we still need the actual client and server programs that </a:t>
            </a:r>
            <a:r>
              <a:rPr lang="en-US" altLang="en-US" i="1" dirty="0" smtClean="0">
                <a:solidFill>
                  <a:schemeClr val="tx2"/>
                </a:solidFill>
              </a:rPr>
              <a:t>use</a:t>
            </a:r>
            <a:r>
              <a:rPr lang="en-US" altLang="en-US" dirty="0" smtClean="0">
                <a:solidFill>
                  <a:schemeClr val="tx2"/>
                </a:solidFill>
              </a:rPr>
              <a:t> </a:t>
            </a:r>
            <a:r>
              <a:rPr lang="en-US" altLang="en-US" dirty="0" smtClean="0"/>
              <a:t>this class.</a:t>
            </a:r>
          </a:p>
          <a:p>
            <a:pPr>
              <a:lnSpc>
                <a:spcPct val="90000"/>
              </a:lnSpc>
              <a:spcBef>
                <a:spcPct val="30000"/>
              </a:spcBef>
            </a:pPr>
            <a:r>
              <a:rPr lang="en-US" altLang="en-US" dirty="0" smtClean="0"/>
              <a:t>To minimize distractions, we initially make the simplifying assumption that both client and server have </a:t>
            </a:r>
            <a:r>
              <a:rPr lang="en-US" altLang="en-US" dirty="0" smtClean="0">
                <a:solidFill>
                  <a:schemeClr val="tx2"/>
                </a:solidFill>
              </a:rPr>
              <a:t>copies of all class files</a:t>
            </a:r>
            <a:r>
              <a:rPr lang="en-US" altLang="en-US" dirty="0" smtClean="0"/>
              <a:t> for </a:t>
            </a:r>
            <a:r>
              <a:rPr lang="en-US" altLang="en-US" b="1" dirty="0" err="1" smtClean="0">
                <a:solidFill>
                  <a:schemeClr val="tx2"/>
                </a:solidFill>
              </a:rPr>
              <a:t>MessageWriter</a:t>
            </a:r>
            <a:r>
              <a:rPr lang="en-US" altLang="en-US" dirty="0" smtClean="0"/>
              <a:t> (e.g., they may share access through shared NFS directories).</a:t>
            </a:r>
          </a:p>
          <a:p>
            <a:pPr>
              <a:lnSpc>
                <a:spcPct val="90000"/>
              </a:lnSpc>
              <a:spcBef>
                <a:spcPct val="30000"/>
              </a:spcBef>
            </a:pPr>
            <a:r>
              <a:rPr lang="en-US" altLang="en-US" dirty="0" smtClean="0"/>
              <a:t>Then we also don’t need a security manager, because all code</a:t>
            </a:r>
            <a:r>
              <a:rPr lang="en-US" altLang="en-US" i="1" dirty="0" smtClean="0">
                <a:solidFill>
                  <a:schemeClr val="tx2"/>
                </a:solidFill>
              </a:rPr>
              <a:t> </a:t>
            </a:r>
            <a:r>
              <a:rPr lang="en-US" altLang="en-US" dirty="0" smtClean="0"/>
              <a:t>is “local”, and therefore trusted.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A Server Program</a:t>
            </a:r>
          </a:p>
        </p:txBody>
      </p:sp>
      <p:sp>
        <p:nvSpPr>
          <p:cNvPr id="2253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ct val="90000"/>
              </a:lnSpc>
              <a:spcBef>
                <a:spcPct val="30000"/>
              </a:spcBef>
            </a:pPr>
            <a:r>
              <a:rPr lang="en-US" altLang="en-US" dirty="0" smtClean="0"/>
              <a:t>We assume the file </a:t>
            </a:r>
            <a:r>
              <a:rPr lang="en-US" altLang="en-US" b="1" dirty="0" smtClean="0">
                <a:solidFill>
                  <a:schemeClr val="tx2"/>
                </a:solidFill>
              </a:rPr>
              <a:t>HelloServer.java</a:t>
            </a:r>
            <a:r>
              <a:rPr lang="en-US" altLang="en-US" dirty="0" smtClean="0"/>
              <a:t> contains the class declaration:</a:t>
            </a:r>
          </a:p>
          <a:p>
            <a:pPr lvl="1">
              <a:lnSpc>
                <a:spcPct val="90000"/>
              </a:lnSpc>
              <a:spcBef>
                <a:spcPct val="100000"/>
              </a:spcBef>
              <a:buFontTx/>
              <a:buNone/>
            </a:pPr>
            <a:r>
              <a:rPr lang="en-US" altLang="en-US" b="1" dirty="0" smtClean="0">
                <a:solidFill>
                  <a:schemeClr val="tx2"/>
                </a:solidFill>
              </a:rPr>
              <a:t>import java.rmi.* ;</a:t>
            </a:r>
          </a:p>
          <a:p>
            <a:pPr lvl="1">
              <a:lnSpc>
                <a:spcPct val="90000"/>
              </a:lnSpc>
              <a:spcBef>
                <a:spcPct val="100000"/>
              </a:spcBef>
              <a:buNone/>
            </a:pPr>
            <a:r>
              <a:rPr lang="en-IE" b="1" dirty="0">
                <a:solidFill>
                  <a:schemeClr val="tx2"/>
                </a:solidFill>
              </a:rPr>
              <a:t>import </a:t>
            </a:r>
            <a:r>
              <a:rPr lang="en-IE" b="1" dirty="0" err="1">
                <a:solidFill>
                  <a:schemeClr val="tx2"/>
                </a:solidFill>
              </a:rPr>
              <a:t>java.rmi.registry</a:t>
            </a:r>
            <a:r>
              <a:rPr lang="en-IE" b="1" dirty="0">
                <a:solidFill>
                  <a:schemeClr val="tx2"/>
                </a:solidFill>
              </a:rPr>
              <a:t>.*;</a:t>
            </a:r>
          </a:p>
          <a:p>
            <a:pPr lvl="1">
              <a:lnSpc>
                <a:spcPct val="90000"/>
              </a:lnSpc>
              <a:spcBef>
                <a:spcPct val="60000"/>
              </a:spcBef>
              <a:buFontTx/>
              <a:buNone/>
            </a:pPr>
            <a:r>
              <a:rPr lang="en-US" altLang="en-US" b="1" dirty="0" smtClean="0">
                <a:solidFill>
                  <a:schemeClr val="tx2"/>
                </a:solidFill>
              </a:rPr>
              <a:t>public class </a:t>
            </a:r>
            <a:r>
              <a:rPr lang="en-US" altLang="en-US" b="1" dirty="0" err="1" smtClean="0">
                <a:solidFill>
                  <a:schemeClr val="tx2"/>
                </a:solidFill>
              </a:rPr>
              <a:t>HelloServer</a:t>
            </a:r>
            <a:r>
              <a:rPr lang="en-US" altLang="en-US" b="1" dirty="0" smtClean="0">
                <a:solidFill>
                  <a:schemeClr val="tx2"/>
                </a:solidFill>
              </a:rPr>
              <a:t> {</a:t>
            </a:r>
          </a:p>
          <a:p>
            <a:pPr lvl="1"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lang="en-US" altLang="en-US" b="1" dirty="0" smtClean="0">
                <a:solidFill>
                  <a:schemeClr val="tx2"/>
                </a:solidFill>
              </a:rPr>
              <a:t>       public static void main(String [] </a:t>
            </a:r>
            <a:r>
              <a:rPr lang="en-US" altLang="en-US" b="1" dirty="0" err="1" smtClean="0">
                <a:solidFill>
                  <a:schemeClr val="tx2"/>
                </a:solidFill>
              </a:rPr>
              <a:t>args</a:t>
            </a:r>
            <a:r>
              <a:rPr lang="en-US" altLang="en-US" b="1" dirty="0" smtClean="0">
                <a:solidFill>
                  <a:schemeClr val="tx2"/>
                </a:solidFill>
              </a:rPr>
              <a:t>) throws Exception {</a:t>
            </a:r>
          </a:p>
          <a:p>
            <a:pPr lvl="1"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lang="en-US" altLang="en-US" b="1" dirty="0" smtClean="0">
                <a:solidFill>
                  <a:schemeClr val="tx2"/>
                </a:solidFill>
              </a:rPr>
              <a:t>              </a:t>
            </a:r>
            <a:r>
              <a:rPr lang="en-US" altLang="en-US" b="1" dirty="0" err="1" smtClean="0">
                <a:solidFill>
                  <a:schemeClr val="tx2"/>
                </a:solidFill>
              </a:rPr>
              <a:t>MessageWriter</a:t>
            </a:r>
            <a:r>
              <a:rPr lang="en-US" altLang="en-US" b="1" dirty="0" smtClean="0">
                <a:solidFill>
                  <a:schemeClr val="tx2"/>
                </a:solidFill>
              </a:rPr>
              <a:t> server = new </a:t>
            </a:r>
            <a:r>
              <a:rPr lang="en-US" altLang="en-US" b="1" dirty="0" err="1" smtClean="0">
                <a:solidFill>
                  <a:schemeClr val="tx2"/>
                </a:solidFill>
              </a:rPr>
              <a:t>MessageWriterImpl</a:t>
            </a:r>
            <a:r>
              <a:rPr lang="en-US" altLang="en-US" b="1" dirty="0" smtClean="0">
                <a:solidFill>
                  <a:schemeClr val="tx2"/>
                </a:solidFill>
              </a:rPr>
              <a:t>() ;</a:t>
            </a:r>
          </a:p>
          <a:p>
            <a:pPr lvl="1">
              <a:lnSpc>
                <a:spcPct val="90000"/>
              </a:lnSpc>
              <a:spcBef>
                <a:spcPct val="70000"/>
              </a:spcBef>
              <a:buFontTx/>
              <a:buNone/>
            </a:pPr>
            <a:r>
              <a:rPr lang="en-IE" dirty="0"/>
              <a:t> </a:t>
            </a:r>
            <a:r>
              <a:rPr lang="en-IE" dirty="0" smtClean="0"/>
              <a:t>		       </a:t>
            </a:r>
            <a:r>
              <a:rPr lang="en-IE" b="1" dirty="0" err="1">
                <a:solidFill>
                  <a:schemeClr val="tx2"/>
                </a:solidFill>
              </a:rPr>
              <a:t>LocateRegistry.createRegistry</a:t>
            </a:r>
            <a:r>
              <a:rPr lang="en-IE" b="1" dirty="0">
                <a:solidFill>
                  <a:schemeClr val="tx2"/>
                </a:solidFill>
              </a:rPr>
              <a:t>(2020);</a:t>
            </a:r>
            <a:r>
              <a:rPr lang="en-US" altLang="en-US" b="1" dirty="0">
                <a:solidFill>
                  <a:schemeClr val="tx2"/>
                </a:solidFill>
              </a:rPr>
              <a:t>              </a:t>
            </a:r>
          </a:p>
          <a:p>
            <a:pPr lvl="1">
              <a:lnSpc>
                <a:spcPct val="90000"/>
              </a:lnSpc>
              <a:spcBef>
                <a:spcPct val="70000"/>
              </a:spcBef>
              <a:buFontTx/>
              <a:buNone/>
            </a:pPr>
            <a:r>
              <a:rPr lang="en-US" altLang="en-US" b="1" dirty="0" err="1" smtClean="0"/>
              <a:t>Naming.rebind</a:t>
            </a:r>
            <a:r>
              <a:rPr lang="en-US" altLang="en-US" b="1" dirty="0" smtClean="0"/>
              <a:t>(“//localhost:2020/</a:t>
            </a:r>
            <a:r>
              <a:rPr lang="en-US" altLang="en-US" b="1" dirty="0" err="1" smtClean="0"/>
              <a:t>messageservice</a:t>
            </a:r>
            <a:r>
              <a:rPr lang="en-US" altLang="en-US" b="1" dirty="0" smtClean="0"/>
              <a:t>”, server) ;</a:t>
            </a:r>
            <a:endParaRPr lang="en-US" altLang="en-US" b="1" dirty="0" smtClean="0">
              <a:solidFill>
                <a:schemeClr val="tx2"/>
              </a:solidFill>
            </a:endParaRPr>
          </a:p>
          <a:p>
            <a:pPr lvl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en-US" b="1" dirty="0" smtClean="0">
                <a:solidFill>
                  <a:schemeClr val="tx2"/>
                </a:solidFill>
              </a:rPr>
              <a:t>       }</a:t>
            </a:r>
          </a:p>
          <a:p>
            <a:pPr lvl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en-US" b="1" dirty="0" smtClean="0">
                <a:solidFill>
                  <a:schemeClr val="tx2"/>
                </a:solidFill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Remarks</a:t>
            </a:r>
          </a:p>
        </p:txBody>
      </p:sp>
      <p:sp>
        <p:nvSpPr>
          <p:cNvPr id="2355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lnSpc>
                <a:spcPct val="90000"/>
              </a:lnSpc>
              <a:spcBef>
                <a:spcPct val="30000"/>
              </a:spcBef>
            </a:pPr>
            <a:r>
              <a:rPr lang="en-US" altLang="en-US" dirty="0" smtClean="0"/>
              <a:t>To avoid cluttering this illustrative code with </a:t>
            </a:r>
            <a:r>
              <a:rPr lang="en-US" altLang="en-US" b="1" dirty="0" smtClean="0">
                <a:solidFill>
                  <a:schemeClr val="tx2"/>
                </a:solidFill>
              </a:rPr>
              <a:t>try-catch</a:t>
            </a:r>
            <a:r>
              <a:rPr lang="en-US" altLang="en-US" dirty="0" smtClean="0"/>
              <a:t> statements, we simply have the </a:t>
            </a:r>
            <a:r>
              <a:rPr lang="en-US" altLang="en-US" b="1" dirty="0" smtClean="0">
                <a:solidFill>
                  <a:schemeClr val="tx2"/>
                </a:solidFill>
              </a:rPr>
              <a:t>main() </a:t>
            </a:r>
            <a:r>
              <a:rPr lang="en-US" altLang="en-US" dirty="0" smtClean="0"/>
              <a:t>method throw all exceptions (not good practice in general).</a:t>
            </a:r>
          </a:p>
          <a:p>
            <a:pPr>
              <a:lnSpc>
                <a:spcPct val="90000"/>
              </a:lnSpc>
              <a:spcBef>
                <a:spcPct val="30000"/>
              </a:spcBef>
            </a:pPr>
            <a:r>
              <a:rPr lang="en-US" altLang="en-US" dirty="0" smtClean="0"/>
              <a:t>This program does two things:</a:t>
            </a:r>
          </a:p>
          <a:p>
            <a:pPr lvl="1">
              <a:lnSpc>
                <a:spcPct val="90000"/>
              </a:lnSpc>
              <a:spcBef>
                <a:spcPct val="30000"/>
              </a:spcBef>
            </a:pPr>
            <a:r>
              <a:rPr lang="en-US" altLang="en-US" sz="2400" dirty="0" smtClean="0"/>
              <a:t>It creates a remote object with local name </a:t>
            </a:r>
            <a:r>
              <a:rPr lang="en-US" altLang="en-US" sz="2400" b="1" dirty="0" smtClean="0">
                <a:solidFill>
                  <a:schemeClr val="tx2"/>
                </a:solidFill>
              </a:rPr>
              <a:t>server</a:t>
            </a:r>
            <a:r>
              <a:rPr lang="en-US" altLang="en-US" sz="2400" dirty="0" smtClean="0"/>
              <a:t>.</a:t>
            </a:r>
          </a:p>
          <a:p>
            <a:pPr lvl="1">
              <a:lnSpc>
                <a:spcPct val="90000"/>
              </a:lnSpc>
              <a:spcBef>
                <a:spcPct val="30000"/>
              </a:spcBef>
            </a:pPr>
            <a:r>
              <a:rPr lang="en-US" altLang="en-US" sz="2400" dirty="0" smtClean="0"/>
              <a:t>It publishes a remote reference to that object with external name </a:t>
            </a:r>
            <a:r>
              <a:rPr lang="en-US" altLang="en-US" sz="2400" b="1" dirty="0" smtClean="0">
                <a:solidFill>
                  <a:schemeClr val="tx2"/>
                </a:solidFill>
              </a:rPr>
              <a:t>“</a:t>
            </a:r>
            <a:r>
              <a:rPr lang="en-IE" sz="2000" dirty="0" err="1">
                <a:solidFill>
                  <a:srgbClr val="FF0000"/>
                </a:solidFill>
              </a:rPr>
              <a:t>messageservice</a:t>
            </a:r>
            <a:r>
              <a:rPr lang="en-US" altLang="en-US" sz="2400" b="1" dirty="0" smtClean="0">
                <a:solidFill>
                  <a:schemeClr val="tx2"/>
                </a:solidFill>
              </a:rPr>
              <a:t>”</a:t>
            </a:r>
            <a:r>
              <a:rPr lang="en-US" altLang="en-US" sz="2400" dirty="0" smtClean="0"/>
              <a:t>.</a:t>
            </a:r>
          </a:p>
          <a:p>
            <a:pPr>
              <a:lnSpc>
                <a:spcPct val="90000"/>
              </a:lnSpc>
              <a:spcBef>
                <a:spcPct val="30000"/>
              </a:spcBef>
            </a:pPr>
            <a:r>
              <a:rPr lang="en-US" altLang="en-US" dirty="0" smtClean="0"/>
              <a:t>The call to </a:t>
            </a:r>
            <a:r>
              <a:rPr lang="en-US" altLang="en-US" b="1" dirty="0" err="1" smtClean="0">
                <a:solidFill>
                  <a:schemeClr val="tx2"/>
                </a:solidFill>
              </a:rPr>
              <a:t>Naming.rebind</a:t>
            </a:r>
            <a:r>
              <a:rPr lang="en-US" altLang="en-US" b="1" dirty="0" smtClean="0">
                <a:solidFill>
                  <a:schemeClr val="tx2"/>
                </a:solidFill>
              </a:rPr>
              <a:t>() </a:t>
            </a:r>
            <a:r>
              <a:rPr lang="en-US" altLang="en-US" dirty="0" smtClean="0"/>
              <a:t>places a reference to </a:t>
            </a:r>
            <a:r>
              <a:rPr lang="en-US" altLang="en-US" b="1" dirty="0" smtClean="0">
                <a:solidFill>
                  <a:schemeClr val="tx2"/>
                </a:solidFill>
              </a:rPr>
              <a:t>server </a:t>
            </a:r>
            <a:r>
              <a:rPr lang="en-US" altLang="en-US" dirty="0" smtClean="0"/>
              <a:t>in an </a:t>
            </a:r>
            <a:r>
              <a:rPr lang="en-US" altLang="en-US" i="1" dirty="0" smtClean="0">
                <a:solidFill>
                  <a:schemeClr val="tx2"/>
                </a:solidFill>
              </a:rPr>
              <a:t>RMI registry</a:t>
            </a:r>
            <a:r>
              <a:rPr lang="en-US" altLang="en-US" dirty="0" smtClean="0"/>
              <a:t> running on the local host (i.e., the host where the </a:t>
            </a:r>
            <a:r>
              <a:rPr lang="en-US" altLang="en-US" b="1" dirty="0" err="1" smtClean="0">
                <a:solidFill>
                  <a:schemeClr val="tx2"/>
                </a:solidFill>
              </a:rPr>
              <a:t>HelloServer</a:t>
            </a:r>
            <a:r>
              <a:rPr lang="en-US" altLang="en-US" dirty="0" smtClean="0"/>
              <a:t> program is run).</a:t>
            </a:r>
          </a:p>
          <a:p>
            <a:pPr>
              <a:lnSpc>
                <a:spcPct val="90000"/>
              </a:lnSpc>
              <a:spcBef>
                <a:spcPct val="30000"/>
              </a:spcBef>
            </a:pPr>
            <a:r>
              <a:rPr lang="en-US" altLang="en-US" dirty="0" smtClean="0"/>
              <a:t>Client programs can obtain a reference to the remote object by looking it up in this registry.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A Client Program</a:t>
            </a:r>
          </a:p>
        </p:txBody>
      </p:sp>
      <p:sp>
        <p:nvSpPr>
          <p:cNvPr id="2458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143000"/>
            <a:ext cx="8382000" cy="49530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30000"/>
              </a:spcBef>
            </a:pPr>
            <a:r>
              <a:rPr lang="en-US" altLang="en-US" dirty="0" smtClean="0"/>
              <a:t>We assume the file </a:t>
            </a:r>
            <a:r>
              <a:rPr lang="en-US" altLang="en-US" b="1" dirty="0" smtClean="0">
                <a:solidFill>
                  <a:schemeClr val="tx2"/>
                </a:solidFill>
              </a:rPr>
              <a:t>HelloClient.java</a:t>
            </a:r>
            <a:r>
              <a:rPr lang="en-US" altLang="en-US" dirty="0" smtClean="0"/>
              <a:t> contains the class declaration:</a:t>
            </a:r>
            <a:endParaRPr lang="en-US" altLang="en-US" dirty="0"/>
          </a:p>
          <a:p>
            <a:pPr marL="0" indent="0">
              <a:buNone/>
            </a:pPr>
            <a:r>
              <a:rPr lang="en-IE" sz="2000" b="1" dirty="0">
                <a:solidFill>
                  <a:srgbClr val="7F0055"/>
                </a:solidFill>
                <a:latin typeface="Consolas"/>
              </a:rPr>
              <a:t>import</a:t>
            </a:r>
            <a:r>
              <a:rPr lang="en-IE" sz="2000" b="1" dirty="0">
                <a:solidFill>
                  <a:srgbClr val="000000"/>
                </a:solidFill>
                <a:latin typeface="Consolas"/>
              </a:rPr>
              <a:t> java.rmi.* ;</a:t>
            </a:r>
          </a:p>
          <a:p>
            <a:pPr marL="0" indent="0">
              <a:buNone/>
            </a:pPr>
            <a:r>
              <a:rPr lang="en-IE" sz="2000" b="1" dirty="0">
                <a:solidFill>
                  <a:srgbClr val="7F0055"/>
                </a:solidFill>
                <a:latin typeface="Consolas"/>
              </a:rPr>
              <a:t>public</a:t>
            </a:r>
            <a:r>
              <a:rPr lang="en-IE" sz="20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2000" b="1" dirty="0">
                <a:solidFill>
                  <a:srgbClr val="7F0055"/>
                </a:solidFill>
                <a:latin typeface="Consolas"/>
              </a:rPr>
              <a:t>class</a:t>
            </a:r>
            <a:r>
              <a:rPr lang="en-IE" sz="20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2000" b="1" dirty="0" err="1">
                <a:solidFill>
                  <a:srgbClr val="000000"/>
                </a:solidFill>
                <a:latin typeface="Consolas"/>
              </a:rPr>
              <a:t>HelloClient</a:t>
            </a:r>
            <a:r>
              <a:rPr lang="en-IE" sz="2000" b="1" dirty="0">
                <a:solidFill>
                  <a:srgbClr val="000000"/>
                </a:solidFill>
                <a:latin typeface="Consolas"/>
              </a:rPr>
              <a:t> {</a:t>
            </a:r>
          </a:p>
          <a:p>
            <a:pPr marL="0" indent="0">
              <a:buNone/>
            </a:pPr>
            <a:r>
              <a:rPr lang="en-IE" sz="2000" dirty="0">
                <a:solidFill>
                  <a:srgbClr val="000000"/>
                </a:solidFill>
                <a:latin typeface="Consolas"/>
              </a:rPr>
              <a:t>       </a:t>
            </a:r>
            <a:r>
              <a:rPr lang="en-IE" sz="2000" b="1" dirty="0">
                <a:solidFill>
                  <a:srgbClr val="7F0055"/>
                </a:solidFill>
                <a:latin typeface="Consolas"/>
              </a:rPr>
              <a:t>public</a:t>
            </a:r>
            <a:r>
              <a:rPr lang="en-IE" sz="20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2000" b="1" dirty="0">
                <a:solidFill>
                  <a:srgbClr val="7F0055"/>
                </a:solidFill>
                <a:latin typeface="Consolas"/>
              </a:rPr>
              <a:t>static</a:t>
            </a:r>
            <a:r>
              <a:rPr lang="en-IE" sz="20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2000" b="1" dirty="0">
                <a:solidFill>
                  <a:srgbClr val="7F0055"/>
                </a:solidFill>
                <a:latin typeface="Consolas"/>
              </a:rPr>
              <a:t>void</a:t>
            </a:r>
            <a:r>
              <a:rPr lang="en-IE" sz="2000" b="1" dirty="0">
                <a:solidFill>
                  <a:srgbClr val="000000"/>
                </a:solidFill>
                <a:latin typeface="Consolas"/>
              </a:rPr>
              <a:t> main(String [] </a:t>
            </a:r>
            <a:r>
              <a:rPr lang="en-IE" sz="2000" b="1" dirty="0" err="1">
                <a:solidFill>
                  <a:srgbClr val="6A3E3E"/>
                </a:solidFill>
                <a:latin typeface="Consolas"/>
              </a:rPr>
              <a:t>args</a:t>
            </a:r>
            <a:r>
              <a:rPr lang="en-IE" sz="2000" b="1" dirty="0">
                <a:solidFill>
                  <a:srgbClr val="000000"/>
                </a:solidFill>
                <a:latin typeface="Consolas"/>
              </a:rPr>
              <a:t>) </a:t>
            </a:r>
            <a:r>
              <a:rPr lang="en-IE" sz="2000" b="1" dirty="0">
                <a:solidFill>
                  <a:srgbClr val="7F0055"/>
                </a:solidFill>
                <a:latin typeface="Consolas"/>
              </a:rPr>
              <a:t>throws</a:t>
            </a:r>
            <a:r>
              <a:rPr lang="en-IE" sz="2000" b="1" dirty="0">
                <a:solidFill>
                  <a:srgbClr val="000000"/>
                </a:solidFill>
                <a:latin typeface="Consolas"/>
              </a:rPr>
              <a:t> Exception {</a:t>
            </a:r>
          </a:p>
          <a:p>
            <a:pPr marL="0" indent="0">
              <a:buNone/>
            </a:pPr>
            <a:r>
              <a:rPr lang="en-IE" sz="2000" dirty="0">
                <a:solidFill>
                  <a:srgbClr val="000000"/>
                </a:solidFill>
                <a:latin typeface="Consolas"/>
              </a:rPr>
              <a:t>      </a:t>
            </a:r>
            <a:r>
              <a:rPr lang="en-IE" sz="2000" dirty="0" err="1" smtClean="0">
                <a:solidFill>
                  <a:srgbClr val="000000"/>
                </a:solidFill>
                <a:latin typeface="Consolas"/>
              </a:rPr>
              <a:t>MessageWriter</a:t>
            </a:r>
            <a:r>
              <a:rPr lang="en-IE" sz="20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2000" dirty="0">
                <a:solidFill>
                  <a:srgbClr val="6A3E3E"/>
                </a:solidFill>
                <a:latin typeface="Consolas"/>
              </a:rPr>
              <a:t>server</a:t>
            </a:r>
            <a:r>
              <a:rPr lang="en-IE" sz="2000" dirty="0">
                <a:solidFill>
                  <a:srgbClr val="000000"/>
                </a:solidFill>
                <a:latin typeface="Consolas"/>
              </a:rPr>
              <a:t> = (</a:t>
            </a:r>
            <a:r>
              <a:rPr lang="en-IE" sz="2000" dirty="0" err="1">
                <a:solidFill>
                  <a:srgbClr val="000000"/>
                </a:solidFill>
                <a:latin typeface="Consolas"/>
              </a:rPr>
              <a:t>MessageWriter</a:t>
            </a:r>
            <a:r>
              <a:rPr lang="en-IE" sz="2000" dirty="0">
                <a:solidFill>
                  <a:srgbClr val="000000"/>
                </a:solidFill>
                <a:latin typeface="Consolas"/>
              </a:rPr>
              <a:t>) </a:t>
            </a:r>
            <a:r>
              <a:rPr lang="en-IE" sz="2000" dirty="0" err="1">
                <a:solidFill>
                  <a:srgbClr val="000000"/>
                </a:solidFill>
                <a:latin typeface="Consolas"/>
              </a:rPr>
              <a:t>Naming.</a:t>
            </a:r>
            <a:r>
              <a:rPr lang="en-IE" sz="2000" i="1" dirty="0" err="1">
                <a:solidFill>
                  <a:srgbClr val="000000"/>
                </a:solidFill>
                <a:latin typeface="Consolas"/>
              </a:rPr>
              <a:t>lookup</a:t>
            </a:r>
            <a:r>
              <a:rPr lang="en-IE" sz="2000" i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IE" sz="2000" i="1" dirty="0">
                <a:solidFill>
                  <a:srgbClr val="2A00FF"/>
                </a:solidFill>
                <a:latin typeface="Consolas"/>
              </a:rPr>
              <a:t>"</a:t>
            </a:r>
            <a:r>
              <a:rPr lang="en-IE" sz="2000" i="1" dirty="0" err="1">
                <a:solidFill>
                  <a:srgbClr val="2A00FF"/>
                </a:solidFill>
                <a:latin typeface="Consolas"/>
              </a:rPr>
              <a:t>rmi</a:t>
            </a:r>
            <a:r>
              <a:rPr lang="en-IE" sz="2000" i="1" dirty="0">
                <a:solidFill>
                  <a:srgbClr val="2A00FF"/>
                </a:solidFill>
                <a:latin typeface="Consolas"/>
              </a:rPr>
              <a:t>://localhost:2020/</a:t>
            </a:r>
            <a:r>
              <a:rPr lang="en-IE" sz="2000" i="1" dirty="0" err="1">
                <a:solidFill>
                  <a:srgbClr val="2A00FF"/>
                </a:solidFill>
                <a:latin typeface="Consolas"/>
              </a:rPr>
              <a:t>messageservice</a:t>
            </a:r>
            <a:r>
              <a:rPr lang="en-IE" sz="2000" i="1" dirty="0">
                <a:solidFill>
                  <a:srgbClr val="2A00FF"/>
                </a:solidFill>
                <a:latin typeface="Consolas"/>
              </a:rPr>
              <a:t>"</a:t>
            </a:r>
            <a:r>
              <a:rPr lang="en-IE" sz="2000" i="1" dirty="0">
                <a:solidFill>
                  <a:srgbClr val="000000"/>
                </a:solidFill>
                <a:latin typeface="Consolas"/>
              </a:rPr>
              <a:t>) ;</a:t>
            </a:r>
          </a:p>
          <a:p>
            <a:pPr marL="0" indent="0">
              <a:buNone/>
            </a:pPr>
            <a:r>
              <a:rPr lang="en-IE" sz="2000" dirty="0">
                <a:solidFill>
                  <a:srgbClr val="000000"/>
                </a:solidFill>
                <a:latin typeface="Consolas"/>
              </a:rPr>
              <a:t>      </a:t>
            </a:r>
            <a:r>
              <a:rPr lang="en-IE" sz="2000" dirty="0" err="1" smtClean="0">
                <a:solidFill>
                  <a:srgbClr val="6A3E3E"/>
                </a:solidFill>
                <a:latin typeface="Consolas"/>
              </a:rPr>
              <a:t>server</a:t>
            </a:r>
            <a:r>
              <a:rPr lang="en-IE" sz="2000" dirty="0" err="1" smtClean="0">
                <a:solidFill>
                  <a:srgbClr val="000000"/>
                </a:solidFill>
                <a:latin typeface="Consolas"/>
              </a:rPr>
              <a:t>.writeMessage</a:t>
            </a:r>
            <a:r>
              <a:rPr lang="en-IE" sz="20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IE" sz="2000" dirty="0">
                <a:solidFill>
                  <a:srgbClr val="2A00FF"/>
                </a:solidFill>
                <a:latin typeface="Consolas"/>
              </a:rPr>
              <a:t>"Hello, other world"</a:t>
            </a:r>
            <a:r>
              <a:rPr lang="en-IE" sz="20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pPr marL="0" indent="0">
              <a:buNone/>
            </a:pPr>
            <a:r>
              <a:rPr lang="en-IE" sz="2000" dirty="0">
                <a:solidFill>
                  <a:srgbClr val="000000"/>
                </a:solidFill>
                <a:latin typeface="Consolas"/>
              </a:rPr>
              <a:t>       }</a:t>
            </a:r>
          </a:p>
          <a:p>
            <a:pPr marL="0" indent="0">
              <a:buNone/>
            </a:pPr>
            <a:r>
              <a:rPr lang="en-IE" sz="2000" dirty="0">
                <a:solidFill>
                  <a:srgbClr val="000000"/>
                </a:solidFill>
                <a:latin typeface="Consolas"/>
              </a:rPr>
              <a:t>}</a:t>
            </a:r>
          </a:p>
          <a:p>
            <a:pPr marL="0" indent="0">
              <a:lnSpc>
                <a:spcPct val="90000"/>
              </a:lnSpc>
              <a:spcBef>
                <a:spcPct val="30000"/>
              </a:spcBef>
              <a:buNone/>
            </a:pPr>
            <a:endParaRPr lang="en-US" altLang="en-US" sz="2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Remarks</a:t>
            </a:r>
          </a:p>
        </p:txBody>
      </p:sp>
      <p:sp>
        <p:nvSpPr>
          <p:cNvPr id="2560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30000"/>
              </a:spcBef>
            </a:pPr>
            <a:r>
              <a:rPr lang="en-US" altLang="en-US" dirty="0" smtClean="0"/>
              <a:t>Again the program does two things:</a:t>
            </a:r>
          </a:p>
          <a:p>
            <a:pPr lvl="1">
              <a:lnSpc>
                <a:spcPct val="90000"/>
              </a:lnSpc>
              <a:spcBef>
                <a:spcPct val="30000"/>
              </a:spcBef>
            </a:pPr>
            <a:r>
              <a:rPr lang="en-US" altLang="en-US" sz="2400" dirty="0" smtClean="0"/>
              <a:t>It looks up a reference to a remote object with external name </a:t>
            </a:r>
            <a:r>
              <a:rPr lang="en-US" altLang="en-US" sz="2400" b="1" dirty="0" smtClean="0">
                <a:solidFill>
                  <a:schemeClr val="tx2"/>
                </a:solidFill>
              </a:rPr>
              <a:t>“</a:t>
            </a:r>
            <a:r>
              <a:rPr lang="en-IE" sz="2400" dirty="0" err="1">
                <a:solidFill>
                  <a:srgbClr val="FF0000"/>
                </a:solidFill>
              </a:rPr>
              <a:t>messageservice</a:t>
            </a:r>
            <a:r>
              <a:rPr lang="en-US" altLang="en-US" sz="2400" b="1" dirty="0" smtClean="0">
                <a:solidFill>
                  <a:schemeClr val="tx2"/>
                </a:solidFill>
              </a:rPr>
              <a:t>”</a:t>
            </a:r>
            <a:r>
              <a:rPr lang="en-US" altLang="en-US" sz="2400" dirty="0" smtClean="0"/>
              <a:t>, and stores the returned reference with local name </a:t>
            </a:r>
            <a:r>
              <a:rPr lang="en-US" altLang="en-US" sz="2400" b="1" dirty="0" smtClean="0">
                <a:solidFill>
                  <a:schemeClr val="tx2"/>
                </a:solidFill>
              </a:rPr>
              <a:t>server</a:t>
            </a:r>
            <a:r>
              <a:rPr lang="en-US" altLang="en-US" sz="2400" dirty="0" smtClean="0"/>
              <a:t>.</a:t>
            </a:r>
          </a:p>
          <a:p>
            <a:pPr lvl="1">
              <a:lnSpc>
                <a:spcPct val="90000"/>
              </a:lnSpc>
              <a:spcBef>
                <a:spcPct val="30000"/>
              </a:spcBef>
            </a:pPr>
            <a:r>
              <a:rPr lang="en-US" altLang="en-US" sz="2400" dirty="0" smtClean="0"/>
              <a:t>Finally (!), it invokes the remote method, </a:t>
            </a:r>
            <a:r>
              <a:rPr lang="en-US" altLang="en-US" sz="2400" b="1" dirty="0" err="1" smtClean="0">
                <a:solidFill>
                  <a:schemeClr val="tx2"/>
                </a:solidFill>
              </a:rPr>
              <a:t>writeMessage</a:t>
            </a:r>
            <a:r>
              <a:rPr lang="en-US" altLang="en-US" sz="2400" b="1" dirty="0" smtClean="0">
                <a:solidFill>
                  <a:schemeClr val="tx2"/>
                </a:solidFill>
              </a:rPr>
              <a:t>()</a:t>
            </a:r>
            <a:r>
              <a:rPr lang="en-US" altLang="en-US" sz="2400" dirty="0" smtClean="0"/>
              <a:t>, on </a:t>
            </a:r>
            <a:r>
              <a:rPr lang="en-US" altLang="en-US" sz="2400" b="1" dirty="0" smtClean="0">
                <a:solidFill>
                  <a:schemeClr val="tx2"/>
                </a:solidFill>
              </a:rPr>
              <a:t>server</a:t>
            </a:r>
            <a:r>
              <a:rPr lang="en-US" altLang="en-US" sz="2400" dirty="0" smtClean="0"/>
              <a:t>.</a:t>
            </a:r>
          </a:p>
          <a:p>
            <a:pPr>
              <a:lnSpc>
                <a:spcPct val="90000"/>
              </a:lnSpc>
              <a:spcBef>
                <a:spcPct val="30000"/>
              </a:spcBef>
            </a:pPr>
            <a:r>
              <a:rPr lang="en-US" altLang="en-US" dirty="0" smtClean="0"/>
              <a:t>The call to </a:t>
            </a:r>
            <a:r>
              <a:rPr lang="en-US" altLang="en-US" b="1" dirty="0" err="1" smtClean="0">
                <a:solidFill>
                  <a:schemeClr val="tx2"/>
                </a:solidFill>
              </a:rPr>
              <a:t>Naming.lookup</a:t>
            </a:r>
            <a:r>
              <a:rPr lang="en-US" altLang="en-US" b="1" dirty="0" smtClean="0">
                <a:solidFill>
                  <a:schemeClr val="tx2"/>
                </a:solidFill>
              </a:rPr>
              <a:t>() </a:t>
            </a:r>
            <a:r>
              <a:rPr lang="en-US" altLang="en-US" dirty="0" smtClean="0"/>
              <a:t>searches in</a:t>
            </a:r>
            <a:r>
              <a:rPr lang="en-US" altLang="en-US" b="1" dirty="0" smtClean="0">
                <a:solidFill>
                  <a:schemeClr val="tx2"/>
                </a:solidFill>
              </a:rPr>
              <a:t> </a:t>
            </a:r>
            <a:r>
              <a:rPr lang="en-US" altLang="en-US" dirty="0" smtClean="0"/>
              <a:t>a remote</a:t>
            </a:r>
            <a:r>
              <a:rPr lang="en-US" altLang="en-US" b="1" dirty="0" smtClean="0">
                <a:solidFill>
                  <a:schemeClr val="tx2"/>
                </a:solidFill>
              </a:rPr>
              <a:t> </a:t>
            </a:r>
            <a:r>
              <a:rPr lang="en-US" altLang="en-US" dirty="0" smtClean="0"/>
              <a:t>RMI registry.  Its argument is a </a:t>
            </a:r>
            <a:r>
              <a:rPr lang="en-US" altLang="en-US" b="1" i="1" dirty="0" smtClean="0">
                <a:solidFill>
                  <a:schemeClr val="tx2"/>
                </a:solidFill>
              </a:rPr>
              <a:t>URL</a:t>
            </a:r>
            <a:r>
              <a:rPr lang="en-US" altLang="en-US" i="1" dirty="0" smtClean="0"/>
              <a:t>,</a:t>
            </a:r>
            <a:r>
              <a:rPr lang="en-US" altLang="en-US" i="1" dirty="0" smtClean="0">
                <a:solidFill>
                  <a:schemeClr val="tx2"/>
                </a:solidFill>
              </a:rPr>
              <a:t> </a:t>
            </a:r>
            <a:r>
              <a:rPr lang="en-US" altLang="en-US" dirty="0" smtClean="0"/>
              <a:t>with protocol tag </a:t>
            </a:r>
            <a:r>
              <a:rPr lang="en-US" altLang="en-US" dirty="0" smtClean="0">
                <a:solidFill>
                  <a:schemeClr val="tx2"/>
                </a:solidFill>
              </a:rPr>
              <a:t>“</a:t>
            </a:r>
            <a:r>
              <a:rPr lang="en-US" altLang="en-US" b="1" dirty="0" err="1" smtClean="0">
                <a:solidFill>
                  <a:schemeClr val="tx2"/>
                </a:solidFill>
              </a:rPr>
              <a:t>rmi</a:t>
            </a:r>
            <a:r>
              <a:rPr lang="en-US" altLang="en-US" dirty="0" smtClean="0">
                <a:solidFill>
                  <a:schemeClr val="tx2"/>
                </a:solidFill>
              </a:rPr>
              <a:t>”</a:t>
            </a:r>
            <a:r>
              <a:rPr lang="en-US" altLang="en-US" dirty="0" smtClean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mtClean="0"/>
              <a:t>Compiling and Running the Example</a:t>
            </a:r>
          </a:p>
        </p:txBody>
      </p:sp>
      <p:sp>
        <p:nvSpPr>
          <p:cNvPr id="2662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en-US" smtClean="0"/>
              <a:t>Compile </a:t>
            </a:r>
            <a:r>
              <a:rPr lang="en-US" altLang="en-US" b="1" smtClean="0">
                <a:solidFill>
                  <a:schemeClr val="tx2"/>
                </a:solidFill>
              </a:rPr>
              <a:t>HelloServer </a:t>
            </a:r>
            <a:r>
              <a:rPr lang="en-US" altLang="en-US" smtClean="0"/>
              <a:t>and </a:t>
            </a:r>
            <a:r>
              <a:rPr lang="en-US" altLang="en-US" b="1" smtClean="0">
                <a:solidFill>
                  <a:schemeClr val="tx2"/>
                </a:solidFill>
              </a:rPr>
              <a:t>HelloClient</a:t>
            </a:r>
            <a:r>
              <a:rPr lang="en-US" altLang="en-US" smtClean="0"/>
              <a:t> on their respective hosts, e.g.:</a:t>
            </a:r>
          </a:p>
          <a:p>
            <a:pPr lvl="1">
              <a:lnSpc>
                <a:spcPct val="90000"/>
              </a:lnSpc>
              <a:spcBef>
                <a:spcPct val="60000"/>
              </a:spcBef>
              <a:buFontTx/>
              <a:buNone/>
            </a:pPr>
            <a:r>
              <a:rPr lang="en-US" altLang="en-US" b="1" smtClean="0">
                <a:solidFill>
                  <a:schemeClr val="tx2"/>
                </a:solidFill>
              </a:rPr>
              <a:t>                 sirah$  javac HelloServer</a:t>
            </a:r>
            <a:endParaRPr lang="en-US" altLang="en-US" smtClean="0"/>
          </a:p>
          <a:p>
            <a:pPr lvl="1">
              <a:lnSpc>
                <a:spcPct val="90000"/>
              </a:lnSpc>
              <a:spcBef>
                <a:spcPct val="60000"/>
              </a:spcBef>
              <a:buFontTx/>
              <a:buNone/>
            </a:pPr>
            <a:r>
              <a:rPr lang="en-US" altLang="en-US" b="1" smtClean="0">
                <a:solidFill>
                  <a:schemeClr val="tx2"/>
                </a:solidFill>
              </a:rPr>
              <a:t>                 merlot$  javac HelloClient</a:t>
            </a:r>
          </a:p>
          <a:p>
            <a:pPr>
              <a:lnSpc>
                <a:spcPct val="90000"/>
              </a:lnSpc>
              <a:spcBef>
                <a:spcPct val="60000"/>
              </a:spcBef>
            </a:pPr>
            <a:r>
              <a:rPr lang="en-US" altLang="en-US" smtClean="0"/>
              <a:t>Either ensure client and server </a:t>
            </a:r>
            <a:r>
              <a:rPr lang="en-US" altLang="en-US" smtClean="0">
                <a:solidFill>
                  <a:schemeClr val="tx2"/>
                </a:solidFill>
              </a:rPr>
              <a:t>share</a:t>
            </a:r>
            <a:r>
              <a:rPr lang="en-US" altLang="en-US" smtClean="0"/>
              <a:t> the current directory, or </a:t>
            </a:r>
            <a:r>
              <a:rPr lang="en-US" altLang="en-US" smtClean="0">
                <a:solidFill>
                  <a:schemeClr val="tx2"/>
                </a:solidFill>
              </a:rPr>
              <a:t>copy</a:t>
            </a:r>
            <a:r>
              <a:rPr lang="en-US" altLang="en-US" smtClean="0"/>
              <a:t> all files with names of the form </a:t>
            </a:r>
            <a:r>
              <a:rPr lang="en-US" altLang="en-US" b="1" smtClean="0">
                <a:solidFill>
                  <a:schemeClr val="tx2"/>
                </a:solidFill>
              </a:rPr>
              <a:t>MessageWriter * .class </a:t>
            </a:r>
            <a:r>
              <a:rPr lang="en-US" altLang="en-US" smtClean="0"/>
              <a:t>to the client’s current directory.</a:t>
            </a:r>
          </a:p>
          <a:p>
            <a:pPr>
              <a:lnSpc>
                <a:spcPct val="90000"/>
              </a:lnSpc>
              <a:spcBef>
                <a:spcPct val="60000"/>
              </a:spcBef>
            </a:pPr>
            <a:r>
              <a:rPr lang="en-US" altLang="en-US" smtClean="0"/>
              <a:t>Then. . 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Remark on Using the RMI Registry</a:t>
            </a:r>
          </a:p>
        </p:txBody>
      </p:sp>
      <p:sp>
        <p:nvSpPr>
          <p:cNvPr id="32773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295400"/>
            <a:ext cx="8839200" cy="472440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  <a:spcBef>
                <a:spcPct val="30000"/>
              </a:spcBef>
            </a:pPr>
            <a:r>
              <a:rPr lang="en-US" altLang="en-US" dirty="0" smtClean="0"/>
              <a:t>In this example we ran the RMI registry on 2020 port. </a:t>
            </a:r>
          </a:p>
          <a:p>
            <a:pPr>
              <a:lnSpc>
                <a:spcPct val="90000"/>
              </a:lnSpc>
              <a:spcBef>
                <a:spcPct val="30000"/>
              </a:spcBef>
            </a:pPr>
            <a:r>
              <a:rPr lang="en-US" altLang="en-US" dirty="0" smtClean="0"/>
              <a:t>Running </a:t>
            </a:r>
            <a:r>
              <a:rPr lang="en-US" altLang="en-US" dirty="0" err="1" smtClean="0"/>
              <a:t>rmi</a:t>
            </a:r>
            <a:r>
              <a:rPr lang="en-US" altLang="en-US" dirty="0" smtClean="0"/>
              <a:t> on default port is bad idea, especially if the server is used by many people, because there is no mechanism to prevent interference.</a:t>
            </a:r>
          </a:p>
          <a:p>
            <a:pPr>
              <a:lnSpc>
                <a:spcPct val="90000"/>
              </a:lnSpc>
              <a:spcBef>
                <a:spcPct val="30000"/>
              </a:spcBef>
            </a:pPr>
            <a:r>
              <a:rPr lang="en-US" altLang="en-US" dirty="0" smtClean="0"/>
              <a:t>It is better to start a registry a non-default port number of your own choice, e.g.:</a:t>
            </a:r>
          </a:p>
          <a:p>
            <a:pPr lvl="1">
              <a:lnSpc>
                <a:spcPct val="90000"/>
              </a:lnSpc>
              <a:spcBef>
                <a:spcPct val="60000"/>
              </a:spcBef>
              <a:buFontTx/>
              <a:buNone/>
            </a:pPr>
            <a:r>
              <a:rPr lang="en-US" altLang="en-US" b="1" dirty="0" smtClean="0">
                <a:solidFill>
                  <a:schemeClr val="tx2"/>
                </a:solidFill>
              </a:rPr>
              <a:t>                 $   </a:t>
            </a:r>
            <a:r>
              <a:rPr lang="en-US" altLang="en-US" b="1" dirty="0" err="1" smtClean="0">
                <a:solidFill>
                  <a:schemeClr val="tx2"/>
                </a:solidFill>
              </a:rPr>
              <a:t>rmiregistry</a:t>
            </a:r>
            <a:r>
              <a:rPr lang="en-US" altLang="en-US" b="1" dirty="0" smtClean="0">
                <a:solidFill>
                  <a:schemeClr val="tx2"/>
                </a:solidFill>
              </a:rPr>
              <a:t>  2020</a:t>
            </a:r>
          </a:p>
          <a:p>
            <a:pPr>
              <a:lnSpc>
                <a:spcPct val="90000"/>
              </a:lnSpc>
              <a:spcBef>
                <a:spcPct val="60000"/>
              </a:spcBef>
            </a:pPr>
            <a:r>
              <a:rPr lang="en-US" altLang="en-US" dirty="0" smtClean="0"/>
              <a:t>The </a:t>
            </a:r>
            <a:r>
              <a:rPr lang="en-US" altLang="en-US" b="1" dirty="0" smtClean="0">
                <a:solidFill>
                  <a:schemeClr val="tx2"/>
                </a:solidFill>
              </a:rPr>
              <a:t>Naming</a:t>
            </a:r>
            <a:r>
              <a:rPr lang="en-US" altLang="en-US" dirty="0" smtClean="0"/>
              <a:t> calls become, e.g.:</a:t>
            </a:r>
          </a:p>
          <a:p>
            <a:pPr lvl="1">
              <a:lnSpc>
                <a:spcPct val="90000"/>
              </a:lnSpc>
              <a:spcBef>
                <a:spcPct val="60000"/>
              </a:spcBef>
              <a:buFontTx/>
              <a:buNone/>
            </a:pPr>
            <a:r>
              <a:rPr lang="en-US" altLang="en-US" b="1" dirty="0" err="1" smtClean="0">
                <a:solidFill>
                  <a:schemeClr val="tx2"/>
                </a:solidFill>
              </a:rPr>
              <a:t>Naming.rebind</a:t>
            </a:r>
            <a:r>
              <a:rPr lang="en-US" altLang="en-US" b="1" dirty="0" smtClean="0">
                <a:solidFill>
                  <a:schemeClr val="tx2"/>
                </a:solidFill>
              </a:rPr>
              <a:t>(“//localhost:2020/</a:t>
            </a:r>
            <a:r>
              <a:rPr lang="en-US" altLang="en-US" b="1" dirty="0" err="1" smtClean="0">
                <a:solidFill>
                  <a:schemeClr val="tx2"/>
                </a:solidFill>
              </a:rPr>
              <a:t>messageservice</a:t>
            </a:r>
            <a:r>
              <a:rPr lang="en-US" altLang="en-US" b="1" dirty="0" smtClean="0">
                <a:solidFill>
                  <a:schemeClr val="tx2"/>
                </a:solidFill>
              </a:rPr>
              <a:t>”, server) ;</a:t>
            </a:r>
          </a:p>
          <a:p>
            <a:pPr lvl="1">
              <a:lnSpc>
                <a:spcPct val="90000"/>
              </a:lnSpc>
              <a:spcBef>
                <a:spcPct val="60000"/>
              </a:spcBef>
              <a:buFontTx/>
              <a:buNone/>
            </a:pPr>
            <a:r>
              <a:rPr lang="en-US" altLang="en-US" b="1" dirty="0" err="1" smtClean="0">
                <a:solidFill>
                  <a:schemeClr val="tx2"/>
                </a:solidFill>
              </a:rPr>
              <a:t>Naming.lookup</a:t>
            </a:r>
            <a:r>
              <a:rPr lang="en-US" altLang="en-US" b="1" dirty="0" smtClean="0">
                <a:solidFill>
                  <a:schemeClr val="tx2"/>
                </a:solidFill>
              </a:rPr>
              <a:t>(“</a:t>
            </a:r>
            <a:r>
              <a:rPr lang="en-US" altLang="en-US" b="1" dirty="0" err="1" smtClean="0">
                <a:solidFill>
                  <a:schemeClr val="tx2"/>
                </a:solidFill>
              </a:rPr>
              <a:t>rmi</a:t>
            </a:r>
            <a:r>
              <a:rPr lang="en-US" altLang="en-US" b="1" dirty="0" smtClean="0">
                <a:solidFill>
                  <a:schemeClr val="tx2"/>
                </a:solidFill>
              </a:rPr>
              <a:t>://localhost:2020/</a:t>
            </a:r>
            <a:r>
              <a:rPr lang="en-US" altLang="en-US" b="1" dirty="0" err="1" smtClean="0">
                <a:solidFill>
                  <a:schemeClr val="tx2"/>
                </a:solidFill>
              </a:rPr>
              <a:t>messageservice</a:t>
            </a:r>
            <a:r>
              <a:rPr lang="en-US" altLang="en-US" b="1" dirty="0" smtClean="0">
                <a:solidFill>
                  <a:schemeClr val="tx2"/>
                </a:solidFill>
              </a:rPr>
              <a:t>”) 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0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Argument Passing in RMI</a:t>
            </a:r>
          </a:p>
        </p:txBody>
      </p:sp>
      <p:sp>
        <p:nvSpPr>
          <p:cNvPr id="5530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143000"/>
            <a:ext cx="8153400" cy="38100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30000"/>
              </a:spcBef>
            </a:pPr>
            <a:r>
              <a:rPr lang="en-US" altLang="en-US" dirty="0" smtClean="0"/>
              <a:t>In general any object-valued </a:t>
            </a:r>
            <a:r>
              <a:rPr lang="en-US" altLang="en-US" dirty="0" smtClean="0">
                <a:solidFill>
                  <a:schemeClr val="tx2"/>
                </a:solidFill>
              </a:rPr>
              <a:t>argument or result</a:t>
            </a:r>
            <a:r>
              <a:rPr lang="en-US" altLang="en-US" dirty="0" smtClean="0"/>
              <a:t> of a remote method must </a:t>
            </a:r>
            <a:r>
              <a:rPr lang="en-US" altLang="en-US" i="1" dirty="0" smtClean="0">
                <a:solidFill>
                  <a:schemeClr val="tx2"/>
                </a:solidFill>
              </a:rPr>
              <a:t>either</a:t>
            </a:r>
            <a:r>
              <a:rPr lang="en-US" altLang="en-US" dirty="0" smtClean="0"/>
              <a:t> implement </a:t>
            </a:r>
            <a:r>
              <a:rPr lang="en-US" altLang="en-US" b="1" dirty="0" smtClean="0">
                <a:solidFill>
                  <a:schemeClr val="tx2"/>
                </a:solidFill>
              </a:rPr>
              <a:t>Remote</a:t>
            </a:r>
            <a:r>
              <a:rPr lang="en-US" altLang="en-US" dirty="0" smtClean="0"/>
              <a:t> or </a:t>
            </a:r>
            <a:r>
              <a:rPr lang="en-US" altLang="en-US" b="1" dirty="0" smtClean="0">
                <a:solidFill>
                  <a:schemeClr val="tx2"/>
                </a:solidFill>
              </a:rPr>
              <a:t>Serializable</a:t>
            </a:r>
            <a:r>
              <a:rPr lang="en-US" altLang="en-US" dirty="0" smtClean="0"/>
              <a:t>.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altLang="en-US" dirty="0" smtClean="0"/>
              <a:t>If the argument or result implements </a:t>
            </a:r>
            <a:r>
              <a:rPr lang="en-US" altLang="en-US" b="1" dirty="0" smtClean="0">
                <a:solidFill>
                  <a:schemeClr val="tx2"/>
                </a:solidFill>
              </a:rPr>
              <a:t>Remote</a:t>
            </a:r>
            <a:r>
              <a:rPr lang="en-US" altLang="en-US" dirty="0" smtClean="0"/>
              <a:t>, it is effectively passed by (remote) reference.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altLang="en-US" dirty="0" smtClean="0"/>
              <a:t>If it implements </a:t>
            </a:r>
            <a:r>
              <a:rPr lang="en-US" altLang="en-US" b="1" dirty="0" smtClean="0">
                <a:solidFill>
                  <a:schemeClr val="tx2"/>
                </a:solidFill>
              </a:rPr>
              <a:t>Serializable</a:t>
            </a:r>
            <a:r>
              <a:rPr lang="en-US" altLang="en-US" dirty="0" smtClean="0"/>
              <a:t>, it is passed by serialization and copying. 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Example: a File Reading Service</a:t>
            </a:r>
          </a:p>
        </p:txBody>
      </p:sp>
      <p:sp>
        <p:nvSpPr>
          <p:cNvPr id="5837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  <a:spcBef>
                <a:spcPct val="30000"/>
              </a:spcBef>
            </a:pPr>
            <a:r>
              <a:rPr lang="en-US" altLang="en-US" smtClean="0"/>
              <a:t>The earlier “Hello” example involved a very trivial remote I/O service, whereby a client could write a string to the console of a server.</a:t>
            </a:r>
          </a:p>
          <a:p>
            <a:pPr>
              <a:lnSpc>
                <a:spcPct val="90000"/>
              </a:lnSpc>
              <a:spcBef>
                <a:spcPct val="30000"/>
              </a:spcBef>
            </a:pPr>
            <a:r>
              <a:rPr lang="en-US" altLang="en-US" smtClean="0"/>
              <a:t>Here we generalize to a more useful service that reads a file on the server and returns its contents to a client.</a:t>
            </a:r>
          </a:p>
          <a:p>
            <a:pPr>
              <a:lnSpc>
                <a:spcPct val="90000"/>
              </a:lnSpc>
              <a:spcBef>
                <a:spcPct val="30000"/>
              </a:spcBef>
            </a:pPr>
            <a:r>
              <a:rPr lang="en-US" altLang="en-US" smtClean="0"/>
              <a:t>In particular it will illustrate how RMI implicitly uses serialization for a </a:t>
            </a:r>
            <a:r>
              <a:rPr lang="en-US" altLang="en-US" b="1" smtClean="0">
                <a:solidFill>
                  <a:schemeClr val="tx2"/>
                </a:solidFill>
              </a:rPr>
              <a:t>java.util</a:t>
            </a:r>
            <a:r>
              <a:rPr lang="en-US" altLang="en-US" smtClean="0"/>
              <a:t> class, returned as a remote method result.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The Remote Interface</a:t>
            </a:r>
          </a:p>
        </p:txBody>
      </p:sp>
      <p:sp>
        <p:nvSpPr>
          <p:cNvPr id="5939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altLang="en-US" dirty="0" smtClean="0"/>
              <a:t>The file </a:t>
            </a:r>
            <a:r>
              <a:rPr lang="en-US" altLang="en-US" b="1" dirty="0" smtClean="0">
                <a:solidFill>
                  <a:schemeClr val="tx2"/>
                </a:solidFill>
              </a:rPr>
              <a:t>FileSource.java</a:t>
            </a:r>
            <a:r>
              <a:rPr lang="en-US" altLang="en-US" b="1" dirty="0" smtClean="0"/>
              <a:t>:</a:t>
            </a:r>
          </a:p>
          <a:p>
            <a:endParaRPr lang="en-US" altLang="en-US" b="1" dirty="0"/>
          </a:p>
          <a:p>
            <a:pPr marL="0" indent="0">
              <a:buNone/>
            </a:pPr>
            <a:r>
              <a:rPr lang="en-IE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IE" b="1" dirty="0" smtClean="0">
                <a:solidFill>
                  <a:srgbClr val="7F0055"/>
                </a:solidFill>
                <a:latin typeface="Consolas"/>
              </a:rPr>
              <a:t>import</a:t>
            </a:r>
            <a:r>
              <a:rPr lang="en-IE" b="1" dirty="0" smtClean="0">
                <a:solidFill>
                  <a:srgbClr val="000000"/>
                </a:solidFill>
                <a:latin typeface="Consolas"/>
              </a:rPr>
              <a:t> java.util.* ;</a:t>
            </a:r>
          </a:p>
          <a:p>
            <a:pPr marL="0" indent="0">
              <a:buNone/>
            </a:pPr>
            <a:r>
              <a:rPr lang="en-IE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IE" b="1" dirty="0" smtClean="0">
                <a:solidFill>
                  <a:srgbClr val="7F0055"/>
                </a:solidFill>
                <a:latin typeface="Consolas"/>
              </a:rPr>
              <a:t>import</a:t>
            </a:r>
            <a:r>
              <a:rPr lang="en-IE" b="1" dirty="0" smtClean="0">
                <a:solidFill>
                  <a:srgbClr val="000000"/>
                </a:solidFill>
                <a:latin typeface="Consolas"/>
              </a:rPr>
              <a:t> java.io.* ;</a:t>
            </a:r>
          </a:p>
          <a:p>
            <a:pPr marL="0" indent="0">
              <a:buNone/>
            </a:pPr>
            <a:r>
              <a:rPr lang="en-IE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IE" b="1" dirty="0" smtClean="0">
                <a:solidFill>
                  <a:srgbClr val="7F0055"/>
                </a:solidFill>
                <a:latin typeface="Consolas"/>
              </a:rPr>
              <a:t>import</a:t>
            </a:r>
            <a:r>
              <a:rPr lang="en-IE" b="1" dirty="0" smtClean="0">
                <a:solidFill>
                  <a:srgbClr val="000000"/>
                </a:solidFill>
                <a:latin typeface="Consolas"/>
              </a:rPr>
              <a:t> java.rmi.* ;</a:t>
            </a:r>
          </a:p>
          <a:p>
            <a:pPr marL="0" indent="0">
              <a:buNone/>
            </a:pPr>
            <a:endParaRPr lang="en-IE" dirty="0" smtClean="0">
              <a:solidFill>
                <a:srgbClr val="000000"/>
              </a:solidFill>
              <a:latin typeface="Consolas"/>
            </a:endParaRPr>
          </a:p>
          <a:p>
            <a:pPr marL="0" indent="0">
              <a:buNone/>
            </a:pPr>
            <a:r>
              <a:rPr lang="en-IE" b="1" dirty="0" smtClean="0">
                <a:solidFill>
                  <a:srgbClr val="7F0055"/>
                </a:solidFill>
                <a:latin typeface="Consolas"/>
              </a:rPr>
              <a:t>public</a:t>
            </a:r>
            <a:r>
              <a:rPr lang="en-IE" b="1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IE" b="1" dirty="0" smtClean="0">
                <a:solidFill>
                  <a:srgbClr val="7F0055"/>
                </a:solidFill>
                <a:latin typeface="Consolas"/>
              </a:rPr>
              <a:t>interface</a:t>
            </a:r>
            <a:r>
              <a:rPr lang="en-IE" b="1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IE" b="1" dirty="0" err="1" smtClean="0">
                <a:solidFill>
                  <a:srgbClr val="000000"/>
                </a:solidFill>
                <a:latin typeface="Consolas"/>
              </a:rPr>
              <a:t>FileSource</a:t>
            </a:r>
            <a:r>
              <a:rPr lang="en-IE" b="1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IE" b="1" dirty="0" smtClean="0">
                <a:solidFill>
                  <a:srgbClr val="7F0055"/>
                </a:solidFill>
                <a:latin typeface="Consolas"/>
              </a:rPr>
              <a:t>extends</a:t>
            </a:r>
            <a:r>
              <a:rPr lang="en-IE" b="1" dirty="0" smtClean="0">
                <a:solidFill>
                  <a:srgbClr val="000000"/>
                </a:solidFill>
                <a:latin typeface="Consolas"/>
              </a:rPr>
              <a:t> Remote {</a:t>
            </a:r>
          </a:p>
          <a:p>
            <a:pPr marL="0" indent="0">
              <a:buNone/>
            </a:pPr>
            <a:endParaRPr lang="en-IE" dirty="0" smtClean="0">
              <a:solidFill>
                <a:srgbClr val="000000"/>
              </a:solidFill>
              <a:latin typeface="Consolas"/>
            </a:endParaRPr>
          </a:p>
          <a:p>
            <a:pPr marL="0" indent="0">
              <a:buNone/>
            </a:pPr>
            <a:r>
              <a:rPr lang="en-IE" dirty="0" smtClean="0">
                <a:solidFill>
                  <a:srgbClr val="000000"/>
                </a:solidFill>
                <a:latin typeface="Consolas"/>
              </a:rPr>
              <a:t>    </a:t>
            </a:r>
            <a:r>
              <a:rPr lang="en-IE" b="1" dirty="0" smtClean="0">
                <a:solidFill>
                  <a:srgbClr val="7F0055"/>
                </a:solidFill>
                <a:latin typeface="Consolas"/>
              </a:rPr>
              <a:t>public</a:t>
            </a:r>
            <a:r>
              <a:rPr lang="en-IE" b="1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IE" b="1" u="sng" dirty="0" smtClean="0">
                <a:solidFill>
                  <a:srgbClr val="000000"/>
                </a:solidFill>
                <a:latin typeface="Consolas"/>
              </a:rPr>
              <a:t>Vector </a:t>
            </a:r>
            <a:r>
              <a:rPr lang="en-IE" b="1" u="sng" dirty="0" err="1" smtClean="0">
                <a:solidFill>
                  <a:srgbClr val="000000"/>
                </a:solidFill>
                <a:latin typeface="Consolas"/>
              </a:rPr>
              <a:t>readFile</a:t>
            </a:r>
            <a:r>
              <a:rPr lang="en-IE" b="1" u="sng" dirty="0" smtClean="0">
                <a:solidFill>
                  <a:srgbClr val="000000"/>
                </a:solidFill>
                <a:latin typeface="Consolas"/>
              </a:rPr>
              <a:t>(String </a:t>
            </a:r>
            <a:r>
              <a:rPr lang="en-IE" b="1" u="sng" dirty="0" smtClean="0">
                <a:solidFill>
                  <a:srgbClr val="6A3E3E"/>
                </a:solidFill>
                <a:latin typeface="Consolas"/>
              </a:rPr>
              <a:t>File</a:t>
            </a:r>
            <a:r>
              <a:rPr lang="en-IE" b="1" u="sng" dirty="0" smtClean="0">
                <a:solidFill>
                  <a:srgbClr val="000000"/>
                </a:solidFill>
                <a:latin typeface="Consolas"/>
              </a:rPr>
              <a:t>) </a:t>
            </a:r>
            <a:r>
              <a:rPr lang="en-IE" b="1" u="sng" dirty="0" smtClean="0">
                <a:solidFill>
                  <a:srgbClr val="7F0055"/>
                </a:solidFill>
                <a:latin typeface="Consolas"/>
              </a:rPr>
              <a:t>throws</a:t>
            </a:r>
            <a:r>
              <a:rPr lang="en-IE" b="1" u="sng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IE" b="1" u="sng" dirty="0" err="1" smtClean="0">
                <a:solidFill>
                  <a:srgbClr val="000000"/>
                </a:solidFill>
                <a:latin typeface="Consolas"/>
              </a:rPr>
              <a:t>RemoteException</a:t>
            </a:r>
            <a:r>
              <a:rPr lang="en-IE" b="1" u="sng" dirty="0" smtClean="0">
                <a:solidFill>
                  <a:srgbClr val="000000"/>
                </a:solidFill>
                <a:latin typeface="Consolas"/>
              </a:rPr>
              <a:t>, </a:t>
            </a:r>
            <a:r>
              <a:rPr lang="en-IE" b="1" u="sng" dirty="0" err="1" smtClean="0">
                <a:solidFill>
                  <a:srgbClr val="000000"/>
                </a:solidFill>
                <a:latin typeface="Consolas"/>
              </a:rPr>
              <a:t>IOException</a:t>
            </a:r>
            <a:r>
              <a:rPr lang="en-IE" b="1" u="sng" dirty="0" smtClean="0">
                <a:solidFill>
                  <a:srgbClr val="000000"/>
                </a:solidFill>
                <a:latin typeface="Consolas"/>
              </a:rPr>
              <a:t> ;</a:t>
            </a:r>
          </a:p>
          <a:p>
            <a:pPr marL="0" indent="0">
              <a:buNone/>
            </a:pPr>
            <a:endParaRPr lang="en-IE" dirty="0" smtClean="0">
              <a:solidFill>
                <a:srgbClr val="000000"/>
              </a:solidFill>
              <a:latin typeface="Consolas"/>
            </a:endParaRPr>
          </a:p>
          <a:p>
            <a:pPr marL="0" indent="0">
              <a:buNone/>
            </a:pPr>
            <a:r>
              <a:rPr lang="en-IE" dirty="0" smtClean="0">
                <a:solidFill>
                  <a:srgbClr val="000000"/>
                </a:solidFill>
                <a:latin typeface="Consolas"/>
              </a:rPr>
              <a:t>}</a:t>
            </a:r>
            <a:endParaRPr lang="en-US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2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mtClean="0"/>
              <a:t>The Remote Object Implementation</a:t>
            </a:r>
          </a:p>
        </p:txBody>
      </p:sp>
      <p:sp>
        <p:nvSpPr>
          <p:cNvPr id="6042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143000"/>
            <a:ext cx="8686800" cy="5410200"/>
          </a:xfrm>
        </p:spPr>
        <p:txBody>
          <a:bodyPr>
            <a:normAutofit fontScale="32500" lnSpcReduction="20000"/>
          </a:bodyPr>
          <a:lstStyle/>
          <a:p>
            <a:pPr>
              <a:lnSpc>
                <a:spcPct val="90000"/>
              </a:lnSpc>
            </a:pPr>
            <a:r>
              <a:rPr lang="en-US" altLang="en-US" sz="7400" dirty="0" smtClean="0"/>
              <a:t>The definition of </a:t>
            </a:r>
            <a:r>
              <a:rPr lang="en-US" altLang="en-US" sz="7400" b="1" dirty="0" err="1" smtClean="0">
                <a:solidFill>
                  <a:schemeClr val="tx2"/>
                </a:solidFill>
              </a:rPr>
              <a:t>FileSourceImpl</a:t>
            </a:r>
            <a:r>
              <a:rPr lang="en-US" altLang="en-US" sz="7400" dirty="0" smtClean="0"/>
              <a:t>:</a:t>
            </a:r>
          </a:p>
          <a:p>
            <a:pPr marL="0" indent="0">
              <a:buNone/>
            </a:pPr>
            <a:r>
              <a:rPr lang="en-IE" sz="4900" b="1" dirty="0" smtClean="0">
                <a:solidFill>
                  <a:srgbClr val="7F0055"/>
                </a:solidFill>
                <a:latin typeface="Consolas"/>
              </a:rPr>
              <a:t>import</a:t>
            </a:r>
            <a:r>
              <a:rPr lang="en-IE" sz="4900" b="1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4900" b="1" dirty="0" err="1" smtClean="0">
                <a:solidFill>
                  <a:srgbClr val="000000"/>
                </a:solidFill>
                <a:latin typeface="Consolas"/>
              </a:rPr>
              <a:t>java.io.BufferedReader</a:t>
            </a:r>
            <a:r>
              <a:rPr lang="en-IE" sz="4900" b="1" dirty="0" smtClean="0">
                <a:solidFill>
                  <a:srgbClr val="000000"/>
                </a:solidFill>
                <a:latin typeface="Consolas"/>
              </a:rPr>
              <a:t>;</a:t>
            </a:r>
          </a:p>
          <a:p>
            <a:pPr marL="0" indent="0">
              <a:buNone/>
            </a:pPr>
            <a:r>
              <a:rPr lang="en-IE" sz="4900" b="1" dirty="0" smtClean="0">
                <a:solidFill>
                  <a:srgbClr val="7F0055"/>
                </a:solidFill>
                <a:latin typeface="Consolas"/>
              </a:rPr>
              <a:t>import</a:t>
            </a:r>
            <a:r>
              <a:rPr lang="en-IE" sz="4900" b="1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4900" b="1" dirty="0" err="1" smtClean="0">
                <a:solidFill>
                  <a:srgbClr val="000000"/>
                </a:solidFill>
                <a:latin typeface="Consolas"/>
              </a:rPr>
              <a:t>java.io.FileReader</a:t>
            </a:r>
            <a:r>
              <a:rPr lang="en-IE" sz="4900" b="1" dirty="0" smtClean="0">
                <a:solidFill>
                  <a:srgbClr val="000000"/>
                </a:solidFill>
                <a:latin typeface="Consolas"/>
              </a:rPr>
              <a:t>;</a:t>
            </a:r>
          </a:p>
          <a:p>
            <a:pPr marL="0" indent="0">
              <a:buNone/>
            </a:pPr>
            <a:r>
              <a:rPr lang="en-IE" sz="4900" b="1" dirty="0" smtClean="0">
                <a:solidFill>
                  <a:srgbClr val="7F0055"/>
                </a:solidFill>
                <a:latin typeface="Consolas"/>
              </a:rPr>
              <a:t>import</a:t>
            </a:r>
            <a:r>
              <a:rPr lang="en-IE" sz="4900" b="1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4900" b="1" dirty="0" err="1" smtClean="0">
                <a:solidFill>
                  <a:srgbClr val="000000"/>
                </a:solidFill>
                <a:latin typeface="Consolas"/>
              </a:rPr>
              <a:t>java.io.IOException</a:t>
            </a:r>
            <a:r>
              <a:rPr lang="en-IE" sz="4900" b="1" dirty="0" smtClean="0">
                <a:solidFill>
                  <a:srgbClr val="000000"/>
                </a:solidFill>
                <a:latin typeface="Consolas"/>
              </a:rPr>
              <a:t>;</a:t>
            </a:r>
          </a:p>
          <a:p>
            <a:pPr marL="0" indent="0">
              <a:buNone/>
            </a:pPr>
            <a:r>
              <a:rPr lang="en-IE" sz="4900" b="1" dirty="0" smtClean="0">
                <a:solidFill>
                  <a:srgbClr val="7F0055"/>
                </a:solidFill>
                <a:latin typeface="Consolas"/>
              </a:rPr>
              <a:t>import</a:t>
            </a:r>
            <a:r>
              <a:rPr lang="en-IE" sz="4900" b="1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4900" b="1" dirty="0" err="1" smtClean="0">
                <a:solidFill>
                  <a:srgbClr val="000000"/>
                </a:solidFill>
                <a:latin typeface="Consolas"/>
              </a:rPr>
              <a:t>java.rmi.RemoteException</a:t>
            </a:r>
            <a:r>
              <a:rPr lang="en-IE" sz="4900" b="1" dirty="0" smtClean="0">
                <a:solidFill>
                  <a:srgbClr val="000000"/>
                </a:solidFill>
                <a:latin typeface="Consolas"/>
              </a:rPr>
              <a:t>;</a:t>
            </a:r>
          </a:p>
          <a:p>
            <a:pPr marL="0" indent="0">
              <a:buNone/>
            </a:pPr>
            <a:r>
              <a:rPr lang="en-IE" sz="4900" b="1" dirty="0" smtClean="0">
                <a:solidFill>
                  <a:srgbClr val="7F0055"/>
                </a:solidFill>
                <a:latin typeface="Consolas"/>
              </a:rPr>
              <a:t>import</a:t>
            </a:r>
            <a:r>
              <a:rPr lang="en-IE" sz="4900" b="1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4900" b="1" dirty="0" err="1" smtClean="0">
                <a:solidFill>
                  <a:srgbClr val="000000"/>
                </a:solidFill>
                <a:latin typeface="Consolas"/>
              </a:rPr>
              <a:t>java.rmi.server.UnicastRemoteObject</a:t>
            </a:r>
            <a:r>
              <a:rPr lang="en-IE" sz="4900" b="1" dirty="0" smtClean="0">
                <a:solidFill>
                  <a:srgbClr val="000000"/>
                </a:solidFill>
                <a:latin typeface="Consolas"/>
              </a:rPr>
              <a:t>;</a:t>
            </a:r>
          </a:p>
          <a:p>
            <a:pPr marL="0" indent="0">
              <a:buNone/>
            </a:pPr>
            <a:r>
              <a:rPr lang="en-IE" sz="4900" b="1" dirty="0" smtClean="0">
                <a:solidFill>
                  <a:srgbClr val="7F0055"/>
                </a:solidFill>
                <a:latin typeface="Consolas"/>
              </a:rPr>
              <a:t>import</a:t>
            </a:r>
            <a:r>
              <a:rPr lang="en-IE" sz="4900" b="1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4900" b="1" dirty="0" err="1" smtClean="0">
                <a:solidFill>
                  <a:srgbClr val="000000"/>
                </a:solidFill>
                <a:latin typeface="Consolas"/>
              </a:rPr>
              <a:t>java.util</a:t>
            </a:r>
            <a:r>
              <a:rPr lang="en-IE" sz="4900" b="1" dirty="0" smtClean="0">
                <a:solidFill>
                  <a:srgbClr val="000000"/>
                </a:solidFill>
                <a:latin typeface="Consolas"/>
              </a:rPr>
              <a:t>.*;</a:t>
            </a:r>
          </a:p>
          <a:p>
            <a:pPr marL="0" indent="0">
              <a:buNone/>
            </a:pPr>
            <a:r>
              <a:rPr lang="en-IE" sz="4900" b="1" dirty="0" smtClean="0">
                <a:solidFill>
                  <a:srgbClr val="7F0055"/>
                </a:solidFill>
                <a:latin typeface="Consolas"/>
              </a:rPr>
              <a:t>public</a:t>
            </a:r>
            <a:r>
              <a:rPr lang="en-IE" sz="4900" b="1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4900" b="1" dirty="0" smtClean="0">
                <a:solidFill>
                  <a:srgbClr val="7F0055"/>
                </a:solidFill>
                <a:latin typeface="Consolas"/>
              </a:rPr>
              <a:t>class</a:t>
            </a:r>
            <a:r>
              <a:rPr lang="en-IE" sz="4900" b="1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4900" b="1" u="sng" dirty="0" err="1" smtClean="0">
                <a:solidFill>
                  <a:srgbClr val="000000"/>
                </a:solidFill>
                <a:latin typeface="Consolas"/>
              </a:rPr>
              <a:t>FileSourceImpl</a:t>
            </a:r>
            <a:r>
              <a:rPr lang="en-IE" sz="4900" b="1" u="sng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4900" b="1" u="sng" dirty="0" smtClean="0">
                <a:solidFill>
                  <a:srgbClr val="7F0055"/>
                </a:solidFill>
                <a:latin typeface="Consolas"/>
              </a:rPr>
              <a:t>extends</a:t>
            </a:r>
            <a:r>
              <a:rPr lang="en-IE" sz="4900" b="1" u="sng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4900" b="1" u="sng" dirty="0" err="1" smtClean="0">
                <a:solidFill>
                  <a:srgbClr val="000000"/>
                </a:solidFill>
                <a:latin typeface="Consolas"/>
              </a:rPr>
              <a:t>UnicastRemoteObject</a:t>
            </a:r>
            <a:r>
              <a:rPr lang="en-IE" sz="4900" b="1" u="sng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4900" b="1" u="sng" dirty="0" smtClean="0">
                <a:solidFill>
                  <a:srgbClr val="7F0055"/>
                </a:solidFill>
                <a:latin typeface="Consolas"/>
              </a:rPr>
              <a:t>implements</a:t>
            </a:r>
            <a:r>
              <a:rPr lang="en-IE" sz="4900" b="1" u="sng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4900" b="1" u="sng" dirty="0" err="1" smtClean="0">
                <a:solidFill>
                  <a:srgbClr val="000000"/>
                </a:solidFill>
                <a:latin typeface="Consolas"/>
              </a:rPr>
              <a:t>FileSource</a:t>
            </a:r>
            <a:r>
              <a:rPr lang="en-IE" sz="4900" b="1" u="sng" dirty="0" smtClean="0">
                <a:solidFill>
                  <a:srgbClr val="000000"/>
                </a:solidFill>
                <a:latin typeface="Consolas"/>
              </a:rPr>
              <a:t> {</a:t>
            </a:r>
          </a:p>
          <a:p>
            <a:pPr marL="0" indent="0">
              <a:buNone/>
            </a:pPr>
            <a:r>
              <a:rPr lang="en-IE" sz="4900" dirty="0" smtClean="0">
                <a:solidFill>
                  <a:srgbClr val="000000"/>
                </a:solidFill>
                <a:latin typeface="Consolas"/>
              </a:rPr>
              <a:t>      </a:t>
            </a:r>
            <a:r>
              <a:rPr lang="en-IE" sz="4900" b="1" dirty="0" smtClean="0">
                <a:solidFill>
                  <a:srgbClr val="7F0055"/>
                </a:solidFill>
                <a:latin typeface="Consolas"/>
              </a:rPr>
              <a:t>public</a:t>
            </a:r>
            <a:r>
              <a:rPr lang="en-IE" sz="4900" b="1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4900" b="1" dirty="0" err="1" smtClean="0">
                <a:solidFill>
                  <a:srgbClr val="000000"/>
                </a:solidFill>
                <a:latin typeface="Consolas"/>
              </a:rPr>
              <a:t>FileSourceImpl</a:t>
            </a:r>
            <a:r>
              <a:rPr lang="en-IE" sz="4900" b="1" dirty="0" smtClean="0">
                <a:solidFill>
                  <a:srgbClr val="000000"/>
                </a:solidFill>
                <a:latin typeface="Consolas"/>
              </a:rPr>
              <a:t>() </a:t>
            </a:r>
            <a:r>
              <a:rPr lang="en-IE" sz="4900" b="1" dirty="0" smtClean="0">
                <a:solidFill>
                  <a:srgbClr val="7F0055"/>
                </a:solidFill>
                <a:latin typeface="Consolas"/>
              </a:rPr>
              <a:t>throws</a:t>
            </a:r>
            <a:r>
              <a:rPr lang="en-IE" sz="4900" b="1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4900" b="1" dirty="0" err="1" smtClean="0">
                <a:solidFill>
                  <a:srgbClr val="000000"/>
                </a:solidFill>
                <a:latin typeface="Consolas"/>
              </a:rPr>
              <a:t>RemoteException</a:t>
            </a:r>
            <a:r>
              <a:rPr lang="en-IE" sz="4900" b="1" dirty="0" smtClean="0">
                <a:solidFill>
                  <a:srgbClr val="000000"/>
                </a:solidFill>
                <a:latin typeface="Consolas"/>
              </a:rPr>
              <a:t> {}</a:t>
            </a:r>
          </a:p>
          <a:p>
            <a:pPr marL="0" indent="0">
              <a:buNone/>
            </a:pPr>
            <a:r>
              <a:rPr lang="en-IE" sz="4900" dirty="0" smtClean="0">
                <a:solidFill>
                  <a:srgbClr val="000000"/>
                </a:solidFill>
                <a:latin typeface="Consolas"/>
              </a:rPr>
              <a:t>      </a:t>
            </a:r>
            <a:r>
              <a:rPr lang="en-IE" sz="4900" b="1" dirty="0" smtClean="0">
                <a:solidFill>
                  <a:srgbClr val="7F0055"/>
                </a:solidFill>
                <a:latin typeface="Consolas"/>
              </a:rPr>
              <a:t>public</a:t>
            </a:r>
            <a:r>
              <a:rPr lang="en-IE" sz="4900" b="1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4900" b="1" u="sng" dirty="0" smtClean="0">
                <a:solidFill>
                  <a:srgbClr val="000000"/>
                </a:solidFill>
                <a:latin typeface="Consolas"/>
              </a:rPr>
              <a:t>Vector </a:t>
            </a:r>
            <a:r>
              <a:rPr lang="en-IE" sz="4900" b="1" u="sng" dirty="0" err="1" smtClean="0">
                <a:solidFill>
                  <a:srgbClr val="000000"/>
                </a:solidFill>
                <a:latin typeface="Consolas"/>
              </a:rPr>
              <a:t>readFile</a:t>
            </a:r>
            <a:r>
              <a:rPr lang="en-IE" sz="4900" b="1" u="sng" dirty="0" smtClean="0">
                <a:solidFill>
                  <a:srgbClr val="000000"/>
                </a:solidFill>
                <a:latin typeface="Consolas"/>
              </a:rPr>
              <a:t>(String </a:t>
            </a:r>
            <a:r>
              <a:rPr lang="en-IE" sz="4900" b="1" u="sng" dirty="0" smtClean="0">
                <a:solidFill>
                  <a:srgbClr val="6A3E3E"/>
                </a:solidFill>
                <a:latin typeface="Consolas"/>
              </a:rPr>
              <a:t>file</a:t>
            </a:r>
            <a:r>
              <a:rPr lang="en-IE" sz="4900" b="1" u="sng" dirty="0" smtClean="0">
                <a:solidFill>
                  <a:srgbClr val="000000"/>
                </a:solidFill>
                <a:latin typeface="Consolas"/>
              </a:rPr>
              <a:t>)</a:t>
            </a:r>
          </a:p>
          <a:p>
            <a:pPr marL="0" indent="0">
              <a:buNone/>
            </a:pPr>
            <a:r>
              <a:rPr lang="en-IE" sz="4900" dirty="0" smtClean="0">
                <a:solidFill>
                  <a:srgbClr val="000000"/>
                </a:solidFill>
                <a:latin typeface="Consolas"/>
              </a:rPr>
              <a:t>                               </a:t>
            </a:r>
            <a:r>
              <a:rPr lang="en-IE" sz="4900" b="1" dirty="0" smtClean="0">
                <a:solidFill>
                  <a:srgbClr val="7F0055"/>
                </a:solidFill>
                <a:latin typeface="Consolas"/>
              </a:rPr>
              <a:t>throws</a:t>
            </a:r>
            <a:r>
              <a:rPr lang="en-IE" sz="4900" b="1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4900" b="1" dirty="0" err="1" smtClean="0">
                <a:solidFill>
                  <a:srgbClr val="000000"/>
                </a:solidFill>
                <a:latin typeface="Consolas"/>
              </a:rPr>
              <a:t>RemoteException</a:t>
            </a:r>
            <a:r>
              <a:rPr lang="en-IE" sz="4900" b="1" dirty="0" smtClean="0">
                <a:solidFill>
                  <a:srgbClr val="000000"/>
                </a:solidFill>
                <a:latin typeface="Consolas"/>
              </a:rPr>
              <a:t>, </a:t>
            </a:r>
            <a:r>
              <a:rPr lang="en-IE" sz="4900" b="1" dirty="0" err="1" smtClean="0">
                <a:solidFill>
                  <a:srgbClr val="000000"/>
                </a:solidFill>
                <a:latin typeface="Consolas"/>
              </a:rPr>
              <a:t>IOException</a:t>
            </a:r>
            <a:r>
              <a:rPr lang="en-IE" sz="4900" b="1" dirty="0" smtClean="0">
                <a:solidFill>
                  <a:srgbClr val="000000"/>
                </a:solidFill>
                <a:latin typeface="Consolas"/>
              </a:rPr>
              <a:t> {</a:t>
            </a:r>
          </a:p>
          <a:p>
            <a:pPr marL="0" indent="0">
              <a:buNone/>
            </a:pPr>
            <a:r>
              <a:rPr lang="en-IE" sz="4900" dirty="0" smtClean="0">
                <a:solidFill>
                  <a:srgbClr val="000000"/>
                </a:solidFill>
                <a:latin typeface="Consolas"/>
              </a:rPr>
              <a:t>            </a:t>
            </a:r>
            <a:r>
              <a:rPr lang="en-IE" sz="4900" u="sng" dirty="0" smtClean="0">
                <a:solidFill>
                  <a:srgbClr val="000000"/>
                </a:solidFill>
                <a:latin typeface="Consolas"/>
              </a:rPr>
              <a:t>Vector </a:t>
            </a:r>
            <a:r>
              <a:rPr lang="en-IE" sz="4900" u="sng" dirty="0" smtClean="0">
                <a:solidFill>
                  <a:srgbClr val="6A3E3E"/>
                </a:solidFill>
                <a:latin typeface="Consolas"/>
              </a:rPr>
              <a:t>lines</a:t>
            </a:r>
            <a:r>
              <a:rPr lang="en-IE" sz="4900" u="sng" dirty="0" smtClean="0">
                <a:solidFill>
                  <a:srgbClr val="000000"/>
                </a:solidFill>
                <a:latin typeface="Consolas"/>
              </a:rPr>
              <a:t> = </a:t>
            </a:r>
            <a:r>
              <a:rPr lang="en-IE" sz="4900" b="1" u="sng" dirty="0" smtClean="0">
                <a:solidFill>
                  <a:srgbClr val="7F0055"/>
                </a:solidFill>
                <a:latin typeface="Consolas"/>
              </a:rPr>
              <a:t>new</a:t>
            </a:r>
            <a:r>
              <a:rPr lang="en-IE" sz="4900" b="1" u="sng" dirty="0" smtClean="0">
                <a:solidFill>
                  <a:srgbClr val="000000"/>
                </a:solidFill>
                <a:latin typeface="Consolas"/>
              </a:rPr>
              <a:t> Vector() ;</a:t>
            </a:r>
          </a:p>
          <a:p>
            <a:pPr marL="0" indent="0">
              <a:buNone/>
            </a:pPr>
            <a:r>
              <a:rPr lang="en-IE" sz="4900" dirty="0" smtClean="0">
                <a:solidFill>
                  <a:srgbClr val="000000"/>
                </a:solidFill>
                <a:latin typeface="Consolas"/>
              </a:rPr>
              <a:t>            </a:t>
            </a:r>
            <a:r>
              <a:rPr lang="en-IE" sz="4900" dirty="0" err="1" smtClean="0">
                <a:solidFill>
                  <a:srgbClr val="000000"/>
                </a:solidFill>
                <a:latin typeface="Consolas"/>
              </a:rPr>
              <a:t>BufferedReader</a:t>
            </a:r>
            <a:r>
              <a:rPr lang="en-IE" sz="49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4900" u="sng" dirty="0" smtClean="0">
                <a:solidFill>
                  <a:srgbClr val="6A3E3E"/>
                </a:solidFill>
                <a:latin typeface="Consolas"/>
              </a:rPr>
              <a:t>in</a:t>
            </a:r>
            <a:r>
              <a:rPr lang="en-IE" sz="4900" u="sng" dirty="0" smtClean="0">
                <a:solidFill>
                  <a:srgbClr val="000000"/>
                </a:solidFill>
                <a:latin typeface="Consolas"/>
              </a:rPr>
              <a:t> = </a:t>
            </a:r>
            <a:r>
              <a:rPr lang="en-IE" sz="4900" b="1" u="sng" dirty="0" smtClean="0">
                <a:solidFill>
                  <a:srgbClr val="7F0055"/>
                </a:solidFill>
                <a:latin typeface="Consolas"/>
              </a:rPr>
              <a:t>new</a:t>
            </a:r>
            <a:r>
              <a:rPr lang="en-IE" sz="4900" b="1" u="sng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4900" b="1" u="sng" dirty="0" err="1" smtClean="0">
                <a:solidFill>
                  <a:srgbClr val="000000"/>
                </a:solidFill>
                <a:latin typeface="Consolas"/>
              </a:rPr>
              <a:t>BufferedReader</a:t>
            </a:r>
            <a:r>
              <a:rPr lang="en-IE" sz="4900" b="1" u="sng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IE" sz="4900" b="1" u="sng" dirty="0" smtClean="0">
                <a:solidFill>
                  <a:srgbClr val="7F0055"/>
                </a:solidFill>
                <a:latin typeface="Consolas"/>
              </a:rPr>
              <a:t>new</a:t>
            </a:r>
            <a:r>
              <a:rPr lang="en-IE" sz="4900" b="1" u="sng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4900" b="1" u="sng" dirty="0" err="1" smtClean="0">
                <a:solidFill>
                  <a:srgbClr val="000000"/>
                </a:solidFill>
                <a:latin typeface="Consolas"/>
              </a:rPr>
              <a:t>FileReader</a:t>
            </a:r>
            <a:r>
              <a:rPr lang="en-IE" sz="4900" b="1" u="sng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IE" sz="4900" b="1" u="sng" dirty="0" smtClean="0">
                <a:solidFill>
                  <a:srgbClr val="6A3E3E"/>
                </a:solidFill>
                <a:latin typeface="Consolas"/>
              </a:rPr>
              <a:t>file</a:t>
            </a:r>
            <a:r>
              <a:rPr lang="en-IE" sz="4900" b="1" u="sng" dirty="0" smtClean="0">
                <a:solidFill>
                  <a:srgbClr val="000000"/>
                </a:solidFill>
                <a:latin typeface="Consolas"/>
              </a:rPr>
              <a:t>)) ;</a:t>
            </a:r>
          </a:p>
          <a:p>
            <a:pPr marL="0" indent="0">
              <a:buNone/>
            </a:pPr>
            <a:r>
              <a:rPr lang="en-IE" sz="4900" dirty="0" smtClean="0">
                <a:solidFill>
                  <a:srgbClr val="000000"/>
                </a:solidFill>
                <a:latin typeface="Consolas"/>
              </a:rPr>
              <a:t>            </a:t>
            </a:r>
            <a:r>
              <a:rPr lang="en-IE" sz="4900" b="1" dirty="0" smtClean="0">
                <a:solidFill>
                  <a:srgbClr val="7F0055"/>
                </a:solidFill>
                <a:latin typeface="Consolas"/>
              </a:rPr>
              <a:t>while</a:t>
            </a:r>
            <a:r>
              <a:rPr lang="en-IE" sz="4900" b="1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IE" sz="4900" b="1" dirty="0" smtClean="0">
                <a:solidFill>
                  <a:srgbClr val="7F0055"/>
                </a:solidFill>
                <a:latin typeface="Consolas"/>
              </a:rPr>
              <a:t>true</a:t>
            </a:r>
            <a:r>
              <a:rPr lang="en-IE" sz="4900" b="1" dirty="0" smtClean="0">
                <a:solidFill>
                  <a:srgbClr val="000000"/>
                </a:solidFill>
                <a:latin typeface="Consolas"/>
              </a:rPr>
              <a:t>) {</a:t>
            </a:r>
          </a:p>
          <a:p>
            <a:pPr marL="0" indent="0">
              <a:buNone/>
            </a:pPr>
            <a:r>
              <a:rPr lang="en-IE" sz="4900" dirty="0" smtClean="0">
                <a:solidFill>
                  <a:srgbClr val="000000"/>
                </a:solidFill>
                <a:latin typeface="Consolas"/>
              </a:rPr>
              <a:t>                  String </a:t>
            </a:r>
            <a:r>
              <a:rPr lang="en-IE" sz="4900" dirty="0" smtClean="0">
                <a:solidFill>
                  <a:srgbClr val="6A3E3E"/>
                </a:solidFill>
                <a:latin typeface="Consolas"/>
              </a:rPr>
              <a:t>line</a:t>
            </a:r>
            <a:r>
              <a:rPr lang="en-IE" sz="4900" dirty="0" smtClean="0">
                <a:solidFill>
                  <a:srgbClr val="000000"/>
                </a:solidFill>
                <a:latin typeface="Consolas"/>
              </a:rPr>
              <a:t> = </a:t>
            </a:r>
            <a:r>
              <a:rPr lang="en-IE" sz="4900" dirty="0" err="1" smtClean="0">
                <a:solidFill>
                  <a:srgbClr val="6A3E3E"/>
                </a:solidFill>
                <a:latin typeface="Consolas"/>
              </a:rPr>
              <a:t>in</a:t>
            </a:r>
            <a:r>
              <a:rPr lang="en-IE" sz="4900" dirty="0" err="1" smtClean="0">
                <a:solidFill>
                  <a:srgbClr val="000000"/>
                </a:solidFill>
                <a:latin typeface="Consolas"/>
              </a:rPr>
              <a:t>.readLine</a:t>
            </a:r>
            <a:r>
              <a:rPr lang="en-IE" sz="4900" dirty="0" smtClean="0">
                <a:solidFill>
                  <a:srgbClr val="000000"/>
                </a:solidFill>
                <a:latin typeface="Consolas"/>
              </a:rPr>
              <a:t>() ;</a:t>
            </a:r>
          </a:p>
          <a:p>
            <a:pPr marL="0" indent="0">
              <a:buNone/>
            </a:pPr>
            <a:r>
              <a:rPr lang="en-IE" sz="4900" dirty="0" smtClean="0">
                <a:solidFill>
                  <a:srgbClr val="000000"/>
                </a:solidFill>
                <a:latin typeface="Consolas"/>
              </a:rPr>
              <a:t>                  </a:t>
            </a:r>
            <a:r>
              <a:rPr lang="en-IE" sz="4900" b="1" dirty="0" smtClean="0">
                <a:solidFill>
                  <a:srgbClr val="7F0055"/>
                </a:solidFill>
                <a:latin typeface="Consolas"/>
              </a:rPr>
              <a:t>if</a:t>
            </a:r>
            <a:r>
              <a:rPr lang="en-IE" sz="4900" b="1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IE" sz="4900" b="1" dirty="0" smtClean="0">
                <a:solidFill>
                  <a:srgbClr val="6A3E3E"/>
                </a:solidFill>
                <a:latin typeface="Consolas"/>
              </a:rPr>
              <a:t>line</a:t>
            </a:r>
            <a:r>
              <a:rPr lang="en-IE" sz="4900" b="1" dirty="0" smtClean="0">
                <a:solidFill>
                  <a:srgbClr val="000000"/>
                </a:solidFill>
                <a:latin typeface="Consolas"/>
              </a:rPr>
              <a:t> == </a:t>
            </a:r>
            <a:r>
              <a:rPr lang="en-IE" sz="4900" b="1" dirty="0" smtClean="0">
                <a:solidFill>
                  <a:srgbClr val="7F0055"/>
                </a:solidFill>
                <a:latin typeface="Consolas"/>
              </a:rPr>
              <a:t>null</a:t>
            </a:r>
            <a:r>
              <a:rPr lang="en-IE" sz="4900" b="1" dirty="0" smtClean="0">
                <a:solidFill>
                  <a:srgbClr val="000000"/>
                </a:solidFill>
                <a:latin typeface="Consolas"/>
              </a:rPr>
              <a:t>) </a:t>
            </a:r>
            <a:r>
              <a:rPr lang="en-IE" sz="4900" b="1" dirty="0" smtClean="0">
                <a:solidFill>
                  <a:srgbClr val="7F0055"/>
                </a:solidFill>
                <a:latin typeface="Consolas"/>
              </a:rPr>
              <a:t>break</a:t>
            </a:r>
            <a:r>
              <a:rPr lang="en-IE" sz="4900" b="1" dirty="0" smtClean="0">
                <a:solidFill>
                  <a:srgbClr val="000000"/>
                </a:solidFill>
                <a:latin typeface="Consolas"/>
              </a:rPr>
              <a:t> ;</a:t>
            </a:r>
          </a:p>
          <a:p>
            <a:pPr marL="0" indent="0">
              <a:buNone/>
            </a:pPr>
            <a:r>
              <a:rPr lang="en-IE" sz="4900" dirty="0" smtClean="0">
                <a:solidFill>
                  <a:srgbClr val="000000"/>
                </a:solidFill>
                <a:latin typeface="Consolas"/>
              </a:rPr>
              <a:t>                  </a:t>
            </a:r>
            <a:r>
              <a:rPr lang="en-IE" sz="4900" u="sng" dirty="0" err="1" smtClean="0">
                <a:solidFill>
                  <a:srgbClr val="6A3E3E"/>
                </a:solidFill>
                <a:latin typeface="Consolas"/>
              </a:rPr>
              <a:t>lines</a:t>
            </a:r>
            <a:r>
              <a:rPr lang="en-IE" sz="4900" u="sng" dirty="0" err="1" smtClean="0">
                <a:solidFill>
                  <a:srgbClr val="000000"/>
                </a:solidFill>
                <a:latin typeface="Consolas"/>
              </a:rPr>
              <a:t>.addElement</a:t>
            </a:r>
            <a:r>
              <a:rPr lang="en-IE" sz="4900" u="sng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IE" sz="4900" u="sng" dirty="0" smtClean="0">
                <a:solidFill>
                  <a:srgbClr val="6A3E3E"/>
                </a:solidFill>
                <a:latin typeface="Consolas"/>
              </a:rPr>
              <a:t>line</a:t>
            </a:r>
            <a:r>
              <a:rPr lang="en-IE" sz="4900" u="sng" dirty="0" smtClean="0">
                <a:solidFill>
                  <a:srgbClr val="000000"/>
                </a:solidFill>
                <a:latin typeface="Consolas"/>
              </a:rPr>
              <a:t>) ;</a:t>
            </a:r>
          </a:p>
          <a:p>
            <a:pPr marL="0" indent="0">
              <a:buNone/>
            </a:pPr>
            <a:r>
              <a:rPr lang="en-IE" sz="4900" dirty="0" smtClean="0">
                <a:solidFill>
                  <a:srgbClr val="000000"/>
                </a:solidFill>
                <a:latin typeface="Consolas"/>
              </a:rPr>
              <a:t>            }</a:t>
            </a:r>
          </a:p>
          <a:p>
            <a:pPr marL="0" indent="0">
              <a:buNone/>
            </a:pPr>
            <a:r>
              <a:rPr lang="en-IE" sz="4900" dirty="0" smtClean="0">
                <a:solidFill>
                  <a:srgbClr val="000000"/>
                </a:solidFill>
                <a:latin typeface="Consolas"/>
              </a:rPr>
              <a:t>            </a:t>
            </a:r>
            <a:r>
              <a:rPr lang="en-IE" sz="4900" b="1" dirty="0" smtClean="0">
                <a:solidFill>
                  <a:srgbClr val="7F0055"/>
                </a:solidFill>
                <a:latin typeface="Consolas"/>
              </a:rPr>
              <a:t>return</a:t>
            </a:r>
            <a:r>
              <a:rPr lang="en-IE" sz="4900" b="1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4900" b="1" dirty="0" smtClean="0">
                <a:solidFill>
                  <a:srgbClr val="6A3E3E"/>
                </a:solidFill>
                <a:latin typeface="Consolas"/>
              </a:rPr>
              <a:t>lines</a:t>
            </a:r>
            <a:r>
              <a:rPr lang="en-IE" sz="4900" b="1" dirty="0" smtClean="0">
                <a:solidFill>
                  <a:srgbClr val="000000"/>
                </a:solidFill>
                <a:latin typeface="Consolas"/>
              </a:rPr>
              <a:t> ;</a:t>
            </a:r>
          </a:p>
          <a:p>
            <a:pPr marL="0" indent="0">
              <a:buNone/>
            </a:pPr>
            <a:r>
              <a:rPr lang="en-IE" sz="4900" dirty="0" smtClean="0">
                <a:solidFill>
                  <a:srgbClr val="000000"/>
                </a:solidFill>
                <a:latin typeface="Consolas"/>
              </a:rPr>
              <a:t>      }}</a:t>
            </a:r>
          </a:p>
          <a:p>
            <a:pPr marL="0" indent="0">
              <a:lnSpc>
                <a:spcPct val="90000"/>
              </a:lnSpc>
              <a:buNone/>
            </a:pPr>
            <a:endParaRPr lang="en-US" altLang="en-US" sz="49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r>
              <a:rPr lang="en-US" altLang="en-US" dirty="0" smtClean="0"/>
              <a:t>The Server Program</a:t>
            </a:r>
          </a:p>
        </p:txBody>
      </p:sp>
      <p:sp>
        <p:nvSpPr>
          <p:cNvPr id="6144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143000"/>
            <a:ext cx="8458200" cy="4953000"/>
          </a:xfrm>
        </p:spPr>
        <p:txBody>
          <a:bodyPr>
            <a:normAutofit fontScale="62500" lnSpcReduction="20000"/>
          </a:bodyPr>
          <a:lstStyle/>
          <a:p>
            <a:r>
              <a:rPr lang="en-US" altLang="en-US" dirty="0" smtClean="0"/>
              <a:t>The definition of the class </a:t>
            </a:r>
            <a:r>
              <a:rPr lang="en-US" altLang="en-US" b="1" dirty="0" err="1" smtClean="0">
                <a:solidFill>
                  <a:schemeClr val="tx2"/>
                </a:solidFill>
              </a:rPr>
              <a:t>FileServer</a:t>
            </a:r>
            <a:r>
              <a:rPr lang="en-US" altLang="en-US" dirty="0" smtClean="0"/>
              <a:t>:</a:t>
            </a:r>
          </a:p>
          <a:p>
            <a:pPr marL="0" indent="0">
              <a:buNone/>
            </a:pPr>
            <a:r>
              <a:rPr lang="en-US" altLang="en-US" b="1" dirty="0" smtClean="0">
                <a:solidFill>
                  <a:schemeClr val="tx2"/>
                </a:solidFill>
              </a:rPr>
              <a:t>     </a:t>
            </a:r>
            <a:r>
              <a:rPr lang="en-IE" b="1" dirty="0" smtClean="0">
                <a:solidFill>
                  <a:srgbClr val="7F0055"/>
                </a:solidFill>
                <a:latin typeface="Consolas"/>
              </a:rPr>
              <a:t>import</a:t>
            </a:r>
            <a:r>
              <a:rPr lang="en-IE" b="1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IE" b="1" dirty="0" err="1" smtClean="0">
                <a:solidFill>
                  <a:srgbClr val="000000"/>
                </a:solidFill>
                <a:latin typeface="Consolas"/>
              </a:rPr>
              <a:t>java.rmi.Naming</a:t>
            </a:r>
            <a:r>
              <a:rPr lang="en-IE" b="1" dirty="0" smtClean="0">
                <a:solidFill>
                  <a:srgbClr val="000000"/>
                </a:solidFill>
                <a:latin typeface="Consolas"/>
              </a:rPr>
              <a:t>;</a:t>
            </a:r>
          </a:p>
          <a:p>
            <a:pPr marL="0" indent="0">
              <a:buNone/>
            </a:pPr>
            <a:r>
              <a:rPr lang="en-IE" b="1" dirty="0" smtClean="0">
                <a:solidFill>
                  <a:srgbClr val="7F0055"/>
                </a:solidFill>
                <a:latin typeface="Consolas"/>
              </a:rPr>
              <a:t>import</a:t>
            </a:r>
            <a:r>
              <a:rPr lang="en-IE" b="1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IE" b="1" dirty="0" err="1" smtClean="0">
                <a:solidFill>
                  <a:srgbClr val="000000"/>
                </a:solidFill>
                <a:latin typeface="Consolas"/>
              </a:rPr>
              <a:t>java.rmi.registry.LocateRegistry</a:t>
            </a:r>
            <a:r>
              <a:rPr lang="en-IE" b="1" dirty="0" smtClean="0">
                <a:solidFill>
                  <a:srgbClr val="000000"/>
                </a:solidFill>
                <a:latin typeface="Consolas"/>
              </a:rPr>
              <a:t>;</a:t>
            </a:r>
          </a:p>
          <a:p>
            <a:pPr marL="0" indent="0">
              <a:buNone/>
            </a:pPr>
            <a:endParaRPr lang="en-IE" dirty="0" smtClean="0">
              <a:latin typeface="Consolas"/>
            </a:endParaRPr>
          </a:p>
          <a:p>
            <a:pPr marL="0" indent="0">
              <a:buNone/>
            </a:pPr>
            <a:r>
              <a:rPr lang="en-IE" b="1" dirty="0" smtClean="0">
                <a:solidFill>
                  <a:srgbClr val="7F0055"/>
                </a:solidFill>
                <a:latin typeface="Consolas"/>
              </a:rPr>
              <a:t>public</a:t>
            </a:r>
            <a:r>
              <a:rPr lang="en-IE" b="1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IE" b="1" dirty="0" smtClean="0">
                <a:solidFill>
                  <a:srgbClr val="7F0055"/>
                </a:solidFill>
                <a:latin typeface="Consolas"/>
              </a:rPr>
              <a:t>class</a:t>
            </a:r>
            <a:r>
              <a:rPr lang="en-IE" b="1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IE" b="1" dirty="0" err="1" smtClean="0">
                <a:solidFill>
                  <a:srgbClr val="000000"/>
                </a:solidFill>
                <a:latin typeface="Consolas"/>
              </a:rPr>
              <a:t>FileServer</a:t>
            </a:r>
            <a:r>
              <a:rPr lang="en-IE" b="1" dirty="0" smtClean="0">
                <a:solidFill>
                  <a:srgbClr val="000000"/>
                </a:solidFill>
                <a:latin typeface="Consolas"/>
              </a:rPr>
              <a:t> {</a:t>
            </a:r>
          </a:p>
          <a:p>
            <a:pPr marL="0" indent="0">
              <a:buNone/>
            </a:pPr>
            <a:r>
              <a:rPr lang="en-IE" dirty="0" smtClean="0">
                <a:solidFill>
                  <a:srgbClr val="000000"/>
                </a:solidFill>
                <a:latin typeface="Consolas"/>
              </a:rPr>
              <a:t>            </a:t>
            </a:r>
            <a:r>
              <a:rPr lang="en-IE" b="1" dirty="0" smtClean="0">
                <a:solidFill>
                  <a:srgbClr val="7F0055"/>
                </a:solidFill>
                <a:latin typeface="Consolas"/>
              </a:rPr>
              <a:t>public</a:t>
            </a:r>
            <a:r>
              <a:rPr lang="en-IE" b="1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IE" b="1" dirty="0" smtClean="0">
                <a:solidFill>
                  <a:srgbClr val="7F0055"/>
                </a:solidFill>
                <a:latin typeface="Consolas"/>
              </a:rPr>
              <a:t>static</a:t>
            </a:r>
            <a:r>
              <a:rPr lang="en-IE" b="1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IE" b="1" dirty="0" smtClean="0">
                <a:solidFill>
                  <a:srgbClr val="7F0055"/>
                </a:solidFill>
                <a:latin typeface="Consolas"/>
              </a:rPr>
              <a:t>void</a:t>
            </a:r>
            <a:r>
              <a:rPr lang="en-IE" b="1" dirty="0" smtClean="0">
                <a:solidFill>
                  <a:srgbClr val="000000"/>
                </a:solidFill>
                <a:latin typeface="Consolas"/>
              </a:rPr>
              <a:t> main(String [] </a:t>
            </a:r>
            <a:r>
              <a:rPr lang="en-IE" b="1" dirty="0" err="1" smtClean="0">
                <a:solidFill>
                  <a:srgbClr val="6A3E3E"/>
                </a:solidFill>
                <a:latin typeface="Consolas"/>
              </a:rPr>
              <a:t>args</a:t>
            </a:r>
            <a:r>
              <a:rPr lang="en-IE" b="1" dirty="0" smtClean="0">
                <a:solidFill>
                  <a:srgbClr val="000000"/>
                </a:solidFill>
                <a:latin typeface="Consolas"/>
              </a:rPr>
              <a:t>) </a:t>
            </a:r>
            <a:r>
              <a:rPr lang="en-IE" b="1" dirty="0" smtClean="0">
                <a:solidFill>
                  <a:srgbClr val="7F0055"/>
                </a:solidFill>
                <a:latin typeface="Consolas"/>
              </a:rPr>
              <a:t>throws</a:t>
            </a:r>
            <a:r>
              <a:rPr lang="en-IE" b="1" dirty="0" smtClean="0">
                <a:solidFill>
                  <a:srgbClr val="000000"/>
                </a:solidFill>
                <a:latin typeface="Consolas"/>
              </a:rPr>
              <a:t> Exception {</a:t>
            </a:r>
          </a:p>
          <a:p>
            <a:pPr marL="0" indent="0">
              <a:buNone/>
            </a:pPr>
            <a:r>
              <a:rPr lang="en-IE" dirty="0" smtClean="0">
                <a:solidFill>
                  <a:srgbClr val="000000"/>
                </a:solidFill>
                <a:latin typeface="Consolas"/>
              </a:rPr>
              <a:t>                  </a:t>
            </a:r>
            <a:r>
              <a:rPr lang="en-IE" dirty="0" err="1" smtClean="0">
                <a:solidFill>
                  <a:srgbClr val="000000"/>
                </a:solidFill>
                <a:latin typeface="Consolas"/>
              </a:rPr>
              <a:t>FileSource</a:t>
            </a:r>
            <a:r>
              <a:rPr lang="en-IE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IE" dirty="0" smtClean="0">
                <a:solidFill>
                  <a:srgbClr val="6A3E3E"/>
                </a:solidFill>
                <a:latin typeface="Consolas"/>
              </a:rPr>
              <a:t>server</a:t>
            </a:r>
            <a:r>
              <a:rPr lang="en-IE" dirty="0" smtClean="0">
                <a:solidFill>
                  <a:srgbClr val="000000"/>
                </a:solidFill>
                <a:latin typeface="Consolas"/>
              </a:rPr>
              <a:t> = </a:t>
            </a:r>
            <a:r>
              <a:rPr lang="en-IE" b="1" dirty="0" smtClean="0">
                <a:solidFill>
                  <a:srgbClr val="7F0055"/>
                </a:solidFill>
                <a:latin typeface="Consolas"/>
              </a:rPr>
              <a:t>new</a:t>
            </a:r>
            <a:r>
              <a:rPr lang="en-IE" b="1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IE" b="1" dirty="0" err="1" smtClean="0">
                <a:solidFill>
                  <a:srgbClr val="000000"/>
                </a:solidFill>
                <a:latin typeface="Consolas"/>
              </a:rPr>
              <a:t>FileSourceImpl</a:t>
            </a:r>
            <a:r>
              <a:rPr lang="en-IE" b="1" dirty="0" smtClean="0">
                <a:solidFill>
                  <a:srgbClr val="000000"/>
                </a:solidFill>
                <a:latin typeface="Consolas"/>
              </a:rPr>
              <a:t>() ;</a:t>
            </a:r>
          </a:p>
          <a:p>
            <a:pPr marL="0" indent="0">
              <a:buNone/>
            </a:pPr>
            <a:r>
              <a:rPr lang="en-IE" dirty="0" smtClean="0">
                <a:solidFill>
                  <a:srgbClr val="000000"/>
                </a:solidFill>
                <a:latin typeface="Consolas"/>
              </a:rPr>
              <a:t>              </a:t>
            </a:r>
          </a:p>
          <a:p>
            <a:pPr marL="0" indent="0">
              <a:buNone/>
            </a:pPr>
            <a:r>
              <a:rPr lang="en-IE" dirty="0" smtClean="0">
                <a:solidFill>
                  <a:srgbClr val="000000"/>
                </a:solidFill>
                <a:latin typeface="Consolas"/>
              </a:rPr>
              <a:t>                  </a:t>
            </a:r>
            <a:r>
              <a:rPr lang="en-IE" dirty="0" err="1" smtClean="0">
                <a:solidFill>
                  <a:srgbClr val="000000"/>
                </a:solidFill>
                <a:latin typeface="Consolas"/>
              </a:rPr>
              <a:t>LocateRegistry.</a:t>
            </a:r>
            <a:r>
              <a:rPr lang="en-IE" i="1" dirty="0" err="1" smtClean="0">
                <a:solidFill>
                  <a:srgbClr val="000000"/>
                </a:solidFill>
                <a:latin typeface="Consolas"/>
              </a:rPr>
              <a:t>createRegistry</a:t>
            </a:r>
            <a:r>
              <a:rPr lang="en-IE" i="1" dirty="0" smtClean="0">
                <a:solidFill>
                  <a:srgbClr val="000000"/>
                </a:solidFill>
                <a:latin typeface="Consolas"/>
              </a:rPr>
              <a:t>(2020);</a:t>
            </a:r>
          </a:p>
          <a:p>
            <a:pPr marL="0" indent="0">
              <a:buNone/>
            </a:pPr>
            <a:endParaRPr lang="en-IE" dirty="0" smtClean="0">
              <a:latin typeface="Consolas"/>
            </a:endParaRPr>
          </a:p>
          <a:p>
            <a:pPr marL="0" indent="0">
              <a:buNone/>
            </a:pPr>
            <a:r>
              <a:rPr lang="en-IE" dirty="0" smtClean="0">
                <a:solidFill>
                  <a:srgbClr val="000000"/>
                </a:solidFill>
                <a:latin typeface="Consolas"/>
              </a:rPr>
              <a:t>                  </a:t>
            </a:r>
            <a:r>
              <a:rPr lang="en-IE" dirty="0" err="1" smtClean="0">
                <a:solidFill>
                  <a:srgbClr val="000000"/>
                </a:solidFill>
                <a:latin typeface="Consolas"/>
              </a:rPr>
              <a:t>Naming.</a:t>
            </a:r>
            <a:r>
              <a:rPr lang="en-IE" i="1" dirty="0" err="1" smtClean="0">
                <a:solidFill>
                  <a:srgbClr val="000000"/>
                </a:solidFill>
                <a:latin typeface="Consolas"/>
              </a:rPr>
              <a:t>rebind</a:t>
            </a:r>
            <a:r>
              <a:rPr lang="en-IE" i="1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IE" i="1" dirty="0" smtClean="0">
                <a:solidFill>
                  <a:srgbClr val="2A00FF"/>
                </a:solidFill>
                <a:latin typeface="Consolas"/>
              </a:rPr>
              <a:t>"</a:t>
            </a:r>
            <a:r>
              <a:rPr lang="en-IE" i="1" dirty="0" err="1" smtClean="0">
                <a:solidFill>
                  <a:srgbClr val="2A00FF"/>
                </a:solidFill>
                <a:latin typeface="Consolas"/>
              </a:rPr>
              <a:t>rmi</a:t>
            </a:r>
            <a:r>
              <a:rPr lang="en-IE" i="1" dirty="0" smtClean="0">
                <a:solidFill>
                  <a:srgbClr val="2A00FF"/>
                </a:solidFill>
                <a:latin typeface="Consolas"/>
              </a:rPr>
              <a:t>://localhost:2020/</a:t>
            </a:r>
            <a:r>
              <a:rPr lang="en-IE" i="1" dirty="0" err="1" smtClean="0">
                <a:solidFill>
                  <a:srgbClr val="2A00FF"/>
                </a:solidFill>
                <a:latin typeface="Consolas"/>
              </a:rPr>
              <a:t>fileservice</a:t>
            </a:r>
            <a:r>
              <a:rPr lang="en-IE" i="1" dirty="0" smtClean="0">
                <a:solidFill>
                  <a:srgbClr val="2A00FF"/>
                </a:solidFill>
                <a:latin typeface="Consolas"/>
              </a:rPr>
              <a:t>"</a:t>
            </a:r>
            <a:r>
              <a:rPr lang="en-IE" i="1" dirty="0" smtClean="0">
                <a:solidFill>
                  <a:srgbClr val="000000"/>
                </a:solidFill>
                <a:latin typeface="Consolas"/>
              </a:rPr>
              <a:t>, </a:t>
            </a:r>
            <a:r>
              <a:rPr lang="en-IE" i="1" dirty="0" smtClean="0">
                <a:solidFill>
                  <a:srgbClr val="6A3E3E"/>
                </a:solidFill>
                <a:latin typeface="Consolas"/>
              </a:rPr>
              <a:t>server</a:t>
            </a:r>
            <a:r>
              <a:rPr lang="en-IE" i="1" dirty="0" smtClean="0">
                <a:solidFill>
                  <a:srgbClr val="000000"/>
                </a:solidFill>
                <a:latin typeface="Consolas"/>
              </a:rPr>
              <a:t>) ;</a:t>
            </a:r>
          </a:p>
          <a:p>
            <a:pPr marL="0" indent="0">
              <a:buNone/>
            </a:pPr>
            <a:r>
              <a:rPr lang="en-IE" dirty="0" smtClean="0">
                <a:solidFill>
                  <a:srgbClr val="000000"/>
                </a:solidFill>
                <a:latin typeface="Consolas"/>
              </a:rPr>
              <a:t> }      }</a:t>
            </a:r>
          </a:p>
          <a:p>
            <a:pPr>
              <a:lnSpc>
                <a:spcPct val="90000"/>
              </a:lnSpc>
              <a:spcBef>
                <a:spcPct val="100000"/>
              </a:spcBef>
            </a:pPr>
            <a:r>
              <a:rPr lang="en-US" altLang="en-US" dirty="0" smtClean="0"/>
              <a:t>(We chose the registry port as a random number between 1024 and 64K.)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The Client Program</a:t>
            </a:r>
          </a:p>
        </p:txBody>
      </p:sp>
      <p:sp>
        <p:nvSpPr>
          <p:cNvPr id="6349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143000"/>
            <a:ext cx="8458200" cy="5715000"/>
          </a:xfrm>
        </p:spPr>
        <p:txBody>
          <a:bodyPr>
            <a:normAutofit fontScale="70000" lnSpcReduction="20000"/>
          </a:bodyPr>
          <a:lstStyle/>
          <a:p>
            <a:r>
              <a:rPr lang="en-US" altLang="en-US" dirty="0" smtClean="0"/>
              <a:t>The definition of the class </a:t>
            </a:r>
            <a:r>
              <a:rPr lang="en-US" altLang="en-US" b="1" dirty="0" err="1" smtClean="0">
                <a:solidFill>
                  <a:schemeClr val="tx2"/>
                </a:solidFill>
              </a:rPr>
              <a:t>FileClient</a:t>
            </a:r>
            <a:r>
              <a:rPr lang="en-US" altLang="en-US" dirty="0" smtClean="0"/>
              <a:t>:</a:t>
            </a:r>
          </a:p>
          <a:p>
            <a:pPr marL="0" indent="0">
              <a:buNone/>
            </a:pPr>
            <a:r>
              <a:rPr lang="en-IE" b="1" dirty="0" smtClean="0">
                <a:solidFill>
                  <a:srgbClr val="7F0055"/>
                </a:solidFill>
                <a:latin typeface="Consolas"/>
              </a:rPr>
              <a:t>import</a:t>
            </a:r>
            <a:r>
              <a:rPr lang="en-IE" b="1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IE" b="1" dirty="0" err="1" smtClean="0">
                <a:solidFill>
                  <a:srgbClr val="000000"/>
                </a:solidFill>
                <a:latin typeface="Consolas"/>
              </a:rPr>
              <a:t>java.rmi.Naming</a:t>
            </a:r>
            <a:r>
              <a:rPr lang="en-IE" b="1" dirty="0" smtClean="0">
                <a:solidFill>
                  <a:srgbClr val="000000"/>
                </a:solidFill>
                <a:latin typeface="Consolas"/>
              </a:rPr>
              <a:t>;</a:t>
            </a:r>
          </a:p>
          <a:p>
            <a:pPr marL="0" indent="0">
              <a:buNone/>
            </a:pPr>
            <a:r>
              <a:rPr lang="en-IE" b="1" dirty="0" smtClean="0">
                <a:solidFill>
                  <a:srgbClr val="7F0055"/>
                </a:solidFill>
                <a:latin typeface="Consolas"/>
              </a:rPr>
              <a:t>import</a:t>
            </a:r>
            <a:r>
              <a:rPr lang="en-IE" b="1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IE" b="1" dirty="0" err="1" smtClean="0">
                <a:solidFill>
                  <a:srgbClr val="000000"/>
                </a:solidFill>
                <a:latin typeface="Consolas"/>
              </a:rPr>
              <a:t>java.util.Vector</a:t>
            </a:r>
            <a:r>
              <a:rPr lang="en-IE" b="1" dirty="0" smtClean="0">
                <a:solidFill>
                  <a:srgbClr val="000000"/>
                </a:solidFill>
                <a:latin typeface="Consolas"/>
              </a:rPr>
              <a:t>;</a:t>
            </a:r>
          </a:p>
          <a:p>
            <a:pPr marL="0" indent="0">
              <a:buNone/>
            </a:pPr>
            <a:r>
              <a:rPr lang="en-IE" dirty="0" smtClean="0">
                <a:solidFill>
                  <a:srgbClr val="000000"/>
                </a:solidFill>
                <a:latin typeface="Consolas"/>
              </a:rPr>
              <a:t>  </a:t>
            </a:r>
            <a:r>
              <a:rPr lang="en-IE" b="1" dirty="0" smtClean="0">
                <a:solidFill>
                  <a:srgbClr val="7F0055"/>
                </a:solidFill>
                <a:latin typeface="Consolas"/>
              </a:rPr>
              <a:t>public</a:t>
            </a:r>
            <a:r>
              <a:rPr lang="en-IE" b="1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IE" b="1" dirty="0" smtClean="0">
                <a:solidFill>
                  <a:srgbClr val="7F0055"/>
                </a:solidFill>
                <a:latin typeface="Consolas"/>
              </a:rPr>
              <a:t>class</a:t>
            </a:r>
            <a:r>
              <a:rPr lang="en-IE" b="1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IE" b="1" dirty="0" err="1" smtClean="0">
                <a:solidFill>
                  <a:srgbClr val="000000"/>
                </a:solidFill>
                <a:latin typeface="Consolas"/>
              </a:rPr>
              <a:t>FileClient</a:t>
            </a:r>
            <a:r>
              <a:rPr lang="en-IE" b="1" dirty="0" smtClean="0">
                <a:solidFill>
                  <a:srgbClr val="000000"/>
                </a:solidFill>
                <a:latin typeface="Consolas"/>
              </a:rPr>
              <a:t> {</a:t>
            </a:r>
          </a:p>
          <a:p>
            <a:pPr marL="0" indent="0">
              <a:buNone/>
            </a:pPr>
            <a:r>
              <a:rPr lang="en-IE" dirty="0" smtClean="0">
                <a:solidFill>
                  <a:srgbClr val="000000"/>
                </a:solidFill>
                <a:latin typeface="Consolas"/>
              </a:rPr>
              <a:t>        </a:t>
            </a:r>
            <a:r>
              <a:rPr lang="en-IE" b="1" dirty="0" smtClean="0">
                <a:solidFill>
                  <a:srgbClr val="7F0055"/>
                </a:solidFill>
                <a:latin typeface="Consolas"/>
              </a:rPr>
              <a:t>public</a:t>
            </a:r>
            <a:r>
              <a:rPr lang="en-IE" b="1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IE" b="1" dirty="0" smtClean="0">
                <a:solidFill>
                  <a:srgbClr val="7F0055"/>
                </a:solidFill>
                <a:latin typeface="Consolas"/>
              </a:rPr>
              <a:t>static</a:t>
            </a:r>
            <a:r>
              <a:rPr lang="en-IE" b="1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IE" b="1" dirty="0" smtClean="0">
                <a:solidFill>
                  <a:srgbClr val="7F0055"/>
                </a:solidFill>
                <a:latin typeface="Consolas"/>
              </a:rPr>
              <a:t>void</a:t>
            </a:r>
            <a:r>
              <a:rPr lang="en-IE" b="1" dirty="0" smtClean="0">
                <a:solidFill>
                  <a:srgbClr val="000000"/>
                </a:solidFill>
                <a:latin typeface="Consolas"/>
              </a:rPr>
              <a:t> main(String [] </a:t>
            </a:r>
            <a:r>
              <a:rPr lang="en-IE" b="1" dirty="0" err="1" smtClean="0">
                <a:solidFill>
                  <a:srgbClr val="6A3E3E"/>
                </a:solidFill>
                <a:latin typeface="Consolas"/>
              </a:rPr>
              <a:t>args</a:t>
            </a:r>
            <a:r>
              <a:rPr lang="en-IE" b="1" dirty="0" smtClean="0">
                <a:solidFill>
                  <a:srgbClr val="000000"/>
                </a:solidFill>
                <a:latin typeface="Consolas"/>
              </a:rPr>
              <a:t>) </a:t>
            </a:r>
            <a:r>
              <a:rPr lang="en-IE" b="1" dirty="0" smtClean="0">
                <a:solidFill>
                  <a:srgbClr val="7F0055"/>
                </a:solidFill>
                <a:latin typeface="Consolas"/>
              </a:rPr>
              <a:t>throws</a:t>
            </a:r>
            <a:r>
              <a:rPr lang="en-IE" b="1" dirty="0" smtClean="0">
                <a:solidFill>
                  <a:srgbClr val="000000"/>
                </a:solidFill>
                <a:latin typeface="Consolas"/>
              </a:rPr>
              <a:t> Exception {</a:t>
            </a:r>
          </a:p>
          <a:p>
            <a:pPr marL="0" indent="0">
              <a:buNone/>
            </a:pPr>
            <a:r>
              <a:rPr lang="en-IE" dirty="0" smtClean="0">
                <a:solidFill>
                  <a:srgbClr val="000000"/>
                </a:solidFill>
                <a:latin typeface="Consolas"/>
              </a:rPr>
              <a:t>              </a:t>
            </a:r>
            <a:r>
              <a:rPr lang="en-IE" dirty="0" err="1" smtClean="0">
                <a:solidFill>
                  <a:srgbClr val="000000"/>
                </a:solidFill>
                <a:latin typeface="Consolas"/>
              </a:rPr>
              <a:t>FileSource</a:t>
            </a:r>
            <a:r>
              <a:rPr lang="en-IE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IE" dirty="0" smtClean="0">
                <a:solidFill>
                  <a:srgbClr val="6A3E3E"/>
                </a:solidFill>
                <a:latin typeface="Consolas"/>
              </a:rPr>
              <a:t>server</a:t>
            </a:r>
            <a:r>
              <a:rPr lang="en-IE" dirty="0" smtClean="0">
                <a:solidFill>
                  <a:srgbClr val="000000"/>
                </a:solidFill>
                <a:latin typeface="Consolas"/>
              </a:rPr>
              <a:t> = (</a:t>
            </a:r>
            <a:r>
              <a:rPr lang="en-IE" dirty="0" err="1" smtClean="0">
                <a:solidFill>
                  <a:srgbClr val="000000"/>
                </a:solidFill>
                <a:latin typeface="Consolas"/>
              </a:rPr>
              <a:t>FileSource</a:t>
            </a:r>
            <a:r>
              <a:rPr lang="en-IE" dirty="0" smtClean="0">
                <a:solidFill>
                  <a:srgbClr val="000000"/>
                </a:solidFill>
                <a:latin typeface="Consolas"/>
              </a:rPr>
              <a:t>)  </a:t>
            </a:r>
            <a:r>
              <a:rPr lang="en-IE" dirty="0" err="1" smtClean="0">
                <a:solidFill>
                  <a:srgbClr val="000000"/>
                </a:solidFill>
                <a:latin typeface="Consolas"/>
              </a:rPr>
              <a:t>Naming.</a:t>
            </a:r>
            <a:r>
              <a:rPr lang="en-IE" i="1" dirty="0" err="1" smtClean="0">
                <a:solidFill>
                  <a:srgbClr val="000000"/>
                </a:solidFill>
                <a:latin typeface="Consolas"/>
              </a:rPr>
              <a:t>lookup</a:t>
            </a:r>
            <a:r>
              <a:rPr lang="en-IE" i="1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IE" i="1" dirty="0" smtClean="0">
                <a:solidFill>
                  <a:srgbClr val="2A00FF"/>
                </a:solidFill>
                <a:latin typeface="Consolas"/>
              </a:rPr>
              <a:t>"</a:t>
            </a:r>
            <a:r>
              <a:rPr lang="en-IE" i="1" dirty="0" err="1" smtClean="0">
                <a:solidFill>
                  <a:srgbClr val="2A00FF"/>
                </a:solidFill>
                <a:latin typeface="Consolas"/>
              </a:rPr>
              <a:t>rmi</a:t>
            </a:r>
            <a:r>
              <a:rPr lang="en-IE" i="1" dirty="0" smtClean="0">
                <a:solidFill>
                  <a:srgbClr val="2A00FF"/>
                </a:solidFill>
                <a:latin typeface="Consolas"/>
              </a:rPr>
              <a:t>://localhost:2020/</a:t>
            </a:r>
            <a:r>
              <a:rPr lang="en-IE" i="1" dirty="0" err="1" smtClean="0">
                <a:solidFill>
                  <a:srgbClr val="2A00FF"/>
                </a:solidFill>
                <a:latin typeface="Consolas"/>
              </a:rPr>
              <a:t>fileservice</a:t>
            </a:r>
            <a:r>
              <a:rPr lang="en-IE" i="1" dirty="0" smtClean="0">
                <a:solidFill>
                  <a:srgbClr val="2A00FF"/>
                </a:solidFill>
                <a:latin typeface="Consolas"/>
              </a:rPr>
              <a:t>"</a:t>
            </a:r>
            <a:r>
              <a:rPr lang="en-IE" i="1" dirty="0" smtClean="0">
                <a:solidFill>
                  <a:srgbClr val="000000"/>
                </a:solidFill>
                <a:latin typeface="Consolas"/>
              </a:rPr>
              <a:t>) ;</a:t>
            </a:r>
          </a:p>
          <a:p>
            <a:pPr marL="0" indent="0">
              <a:buNone/>
            </a:pPr>
            <a:r>
              <a:rPr lang="en-IE" dirty="0" smtClean="0">
                <a:solidFill>
                  <a:srgbClr val="000000"/>
                </a:solidFill>
                <a:latin typeface="Consolas"/>
              </a:rPr>
              <a:t>              </a:t>
            </a:r>
            <a:r>
              <a:rPr lang="en-IE" u="sng" dirty="0" smtClean="0">
                <a:solidFill>
                  <a:srgbClr val="000000"/>
                </a:solidFill>
                <a:latin typeface="Consolas"/>
              </a:rPr>
              <a:t>Vector </a:t>
            </a:r>
            <a:r>
              <a:rPr lang="en-IE" u="sng" dirty="0" smtClean="0">
                <a:solidFill>
                  <a:srgbClr val="6A3E3E"/>
                </a:solidFill>
                <a:latin typeface="Consolas"/>
              </a:rPr>
              <a:t>lines</a:t>
            </a:r>
            <a:r>
              <a:rPr lang="en-IE" u="sng" dirty="0" smtClean="0">
                <a:solidFill>
                  <a:srgbClr val="000000"/>
                </a:solidFill>
                <a:latin typeface="Consolas"/>
              </a:rPr>
              <a:t> = </a:t>
            </a:r>
            <a:r>
              <a:rPr lang="en-IE" u="sng" dirty="0" err="1" smtClean="0">
                <a:solidFill>
                  <a:srgbClr val="6A3E3E"/>
                </a:solidFill>
                <a:latin typeface="Consolas"/>
              </a:rPr>
              <a:t>server</a:t>
            </a:r>
            <a:r>
              <a:rPr lang="en-IE" u="sng" dirty="0" err="1" smtClean="0">
                <a:solidFill>
                  <a:srgbClr val="000000"/>
                </a:solidFill>
                <a:latin typeface="Consolas"/>
              </a:rPr>
              <a:t>.readFile</a:t>
            </a:r>
            <a:r>
              <a:rPr lang="en-IE" u="sng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IE" u="sng" dirty="0" smtClean="0">
                <a:solidFill>
                  <a:srgbClr val="2A00FF"/>
                </a:solidFill>
                <a:latin typeface="Consolas"/>
              </a:rPr>
              <a:t>"students.txt"</a:t>
            </a:r>
            <a:r>
              <a:rPr lang="en-IE" u="sng" dirty="0" smtClean="0">
                <a:solidFill>
                  <a:srgbClr val="000000"/>
                </a:solidFill>
                <a:latin typeface="Consolas"/>
              </a:rPr>
              <a:t>) ;</a:t>
            </a:r>
          </a:p>
          <a:p>
            <a:pPr marL="0" indent="0">
              <a:buNone/>
            </a:pPr>
            <a:r>
              <a:rPr lang="en-IE" dirty="0" smtClean="0">
                <a:solidFill>
                  <a:srgbClr val="000000"/>
                </a:solidFill>
                <a:latin typeface="Consolas"/>
              </a:rPr>
              <a:t>                                                            </a:t>
            </a:r>
            <a:r>
              <a:rPr lang="en-IE" dirty="0" smtClean="0">
                <a:solidFill>
                  <a:srgbClr val="3F7F5F"/>
                </a:solidFill>
                <a:latin typeface="Consolas"/>
              </a:rPr>
              <a:t>// The remote invocation</a:t>
            </a:r>
          </a:p>
          <a:p>
            <a:pPr marL="0" indent="0">
              <a:buNone/>
            </a:pPr>
            <a:r>
              <a:rPr lang="nn-NO" dirty="0" smtClean="0">
                <a:solidFill>
                  <a:srgbClr val="000000"/>
                </a:solidFill>
                <a:latin typeface="Consolas"/>
              </a:rPr>
              <a:t>              </a:t>
            </a:r>
            <a:r>
              <a:rPr lang="nn-NO" b="1" dirty="0" smtClean="0">
                <a:solidFill>
                  <a:srgbClr val="7F0055"/>
                </a:solidFill>
                <a:latin typeface="Consolas"/>
              </a:rPr>
              <a:t>for</a:t>
            </a:r>
            <a:r>
              <a:rPr lang="nn-NO" b="1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nn-NO" b="1" dirty="0" smtClean="0">
                <a:solidFill>
                  <a:srgbClr val="7F0055"/>
                </a:solidFill>
                <a:latin typeface="Consolas"/>
              </a:rPr>
              <a:t>int</a:t>
            </a:r>
            <a:r>
              <a:rPr lang="nn-NO" b="1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nn-NO" b="1" dirty="0" smtClean="0">
                <a:solidFill>
                  <a:srgbClr val="6A3E3E"/>
                </a:solidFill>
                <a:latin typeface="Consolas"/>
              </a:rPr>
              <a:t>i</a:t>
            </a:r>
            <a:r>
              <a:rPr lang="nn-NO" b="1" dirty="0" smtClean="0">
                <a:solidFill>
                  <a:srgbClr val="000000"/>
                </a:solidFill>
                <a:latin typeface="Consolas"/>
              </a:rPr>
              <a:t> = 0 ; </a:t>
            </a:r>
            <a:r>
              <a:rPr lang="nn-NO" b="1" dirty="0" smtClean="0">
                <a:solidFill>
                  <a:srgbClr val="6A3E3E"/>
                </a:solidFill>
                <a:latin typeface="Consolas"/>
              </a:rPr>
              <a:t>i</a:t>
            </a:r>
            <a:r>
              <a:rPr lang="nn-NO" b="1" dirty="0" smtClean="0">
                <a:solidFill>
                  <a:srgbClr val="000000"/>
                </a:solidFill>
                <a:latin typeface="Consolas"/>
              </a:rPr>
              <a:t> &lt; </a:t>
            </a:r>
            <a:r>
              <a:rPr lang="nn-NO" b="1" dirty="0" smtClean="0">
                <a:solidFill>
                  <a:srgbClr val="6A3E3E"/>
                </a:solidFill>
                <a:latin typeface="Consolas"/>
              </a:rPr>
              <a:t>lines</a:t>
            </a:r>
            <a:r>
              <a:rPr lang="nn-NO" b="1" dirty="0" smtClean="0">
                <a:solidFill>
                  <a:srgbClr val="000000"/>
                </a:solidFill>
                <a:latin typeface="Consolas"/>
              </a:rPr>
              <a:t>.size() ; </a:t>
            </a:r>
            <a:r>
              <a:rPr lang="nn-NO" b="1" dirty="0" smtClean="0">
                <a:solidFill>
                  <a:srgbClr val="6A3E3E"/>
                </a:solidFill>
                <a:latin typeface="Consolas"/>
              </a:rPr>
              <a:t>i</a:t>
            </a:r>
            <a:r>
              <a:rPr lang="nn-NO" b="1" dirty="0" smtClean="0">
                <a:solidFill>
                  <a:srgbClr val="000000"/>
                </a:solidFill>
                <a:latin typeface="Consolas"/>
              </a:rPr>
              <a:t>++)</a:t>
            </a:r>
          </a:p>
          <a:p>
            <a:pPr marL="0" indent="0">
              <a:buNone/>
            </a:pPr>
            <a:r>
              <a:rPr lang="en-IE" dirty="0" smtClean="0">
                <a:solidFill>
                  <a:srgbClr val="000000"/>
                </a:solidFill>
                <a:latin typeface="Consolas"/>
              </a:rPr>
              <a:t>                    </a:t>
            </a:r>
            <a:r>
              <a:rPr lang="en-IE" dirty="0" err="1" smtClean="0">
                <a:solidFill>
                  <a:srgbClr val="000000"/>
                </a:solidFill>
                <a:latin typeface="Consolas"/>
              </a:rPr>
              <a:t>System.</a:t>
            </a:r>
            <a:r>
              <a:rPr lang="en-IE" b="1" i="1" dirty="0" err="1" smtClean="0">
                <a:solidFill>
                  <a:srgbClr val="0000C0"/>
                </a:solidFill>
                <a:latin typeface="Consolas"/>
              </a:rPr>
              <a:t>out</a:t>
            </a:r>
            <a:r>
              <a:rPr lang="en-IE" b="1" i="1" dirty="0" err="1" smtClean="0">
                <a:solidFill>
                  <a:srgbClr val="000000"/>
                </a:solidFill>
                <a:latin typeface="Consolas"/>
              </a:rPr>
              <a:t>.println</a:t>
            </a:r>
            <a:r>
              <a:rPr lang="en-IE" b="1" i="1" dirty="0" smtClean="0">
                <a:solidFill>
                  <a:srgbClr val="000000"/>
                </a:solidFill>
                <a:latin typeface="Consolas"/>
              </a:rPr>
              <a:t>((String) </a:t>
            </a:r>
            <a:r>
              <a:rPr lang="en-IE" b="1" i="1" dirty="0" err="1" smtClean="0">
                <a:solidFill>
                  <a:srgbClr val="6A3E3E"/>
                </a:solidFill>
                <a:latin typeface="Consolas"/>
              </a:rPr>
              <a:t>lines</a:t>
            </a:r>
            <a:r>
              <a:rPr lang="en-IE" b="1" i="1" dirty="0" err="1" smtClean="0">
                <a:solidFill>
                  <a:srgbClr val="000000"/>
                </a:solidFill>
                <a:latin typeface="Consolas"/>
              </a:rPr>
              <a:t>.get</a:t>
            </a:r>
            <a:r>
              <a:rPr lang="en-IE" b="1" i="1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IE" b="1" i="1" dirty="0" err="1" smtClean="0">
                <a:solidFill>
                  <a:srgbClr val="6A3E3E"/>
                </a:solidFill>
                <a:latin typeface="Consolas"/>
              </a:rPr>
              <a:t>i</a:t>
            </a:r>
            <a:r>
              <a:rPr lang="en-IE" b="1" i="1" dirty="0" smtClean="0">
                <a:solidFill>
                  <a:srgbClr val="000000"/>
                </a:solidFill>
                <a:latin typeface="Consolas"/>
              </a:rPr>
              <a:t>)) ;</a:t>
            </a:r>
          </a:p>
          <a:p>
            <a:pPr marL="0" indent="0">
              <a:buNone/>
            </a:pPr>
            <a:r>
              <a:rPr lang="en-IE" dirty="0" smtClean="0">
                <a:solidFill>
                  <a:srgbClr val="000000"/>
                </a:solidFill>
                <a:latin typeface="Consolas"/>
              </a:rPr>
              <a:t>        }</a:t>
            </a:r>
          </a:p>
          <a:p>
            <a:pPr marL="0" indent="0">
              <a:buNone/>
            </a:pPr>
            <a:r>
              <a:rPr lang="en-IE" dirty="0" smtClean="0">
                <a:solidFill>
                  <a:srgbClr val="000000"/>
                </a:solidFill>
                <a:latin typeface="Consolas"/>
              </a:rPr>
              <a:t>  }</a:t>
            </a:r>
          </a:p>
          <a:p>
            <a:endParaRPr lang="en-US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Remarks</a:t>
            </a:r>
          </a:p>
        </p:txBody>
      </p:sp>
      <p:sp>
        <p:nvSpPr>
          <p:cNvPr id="6758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lnSpc>
                <a:spcPct val="90000"/>
              </a:lnSpc>
              <a:spcBef>
                <a:spcPct val="30000"/>
              </a:spcBef>
            </a:pPr>
            <a:r>
              <a:rPr lang="en-US" altLang="en-US" dirty="0" smtClean="0"/>
              <a:t>The file </a:t>
            </a:r>
            <a:r>
              <a:rPr lang="en-US" altLang="en-US" b="1" dirty="0" smtClean="0">
                <a:solidFill>
                  <a:schemeClr val="tx2"/>
                </a:solidFill>
              </a:rPr>
              <a:t>students.txt</a:t>
            </a:r>
            <a:r>
              <a:rPr lang="en-US" altLang="en-US" dirty="0" smtClean="0"/>
              <a:t> lives on the server.  It is not </a:t>
            </a:r>
            <a:r>
              <a:rPr lang="en-US" altLang="en-US" i="1" dirty="0" smtClean="0"/>
              <a:t>directly </a:t>
            </a:r>
            <a:r>
              <a:rPr lang="en-US" altLang="en-US" dirty="0" smtClean="0"/>
              <a:t>accessible to the client.</a:t>
            </a:r>
          </a:p>
          <a:p>
            <a:pPr>
              <a:lnSpc>
                <a:spcPct val="90000"/>
              </a:lnSpc>
              <a:spcBef>
                <a:spcPct val="30000"/>
              </a:spcBef>
            </a:pPr>
            <a:r>
              <a:rPr lang="en-US" altLang="en-US" dirty="0" smtClean="0"/>
              <a:t>The </a:t>
            </a:r>
            <a:r>
              <a:rPr lang="en-US" altLang="en-US" b="1" dirty="0" err="1" smtClean="0">
                <a:solidFill>
                  <a:schemeClr val="tx2"/>
                </a:solidFill>
              </a:rPr>
              <a:t>FileSource</a:t>
            </a:r>
            <a:r>
              <a:rPr lang="en-US" altLang="en-US" b="1" dirty="0" smtClean="0">
                <a:solidFill>
                  <a:schemeClr val="tx2"/>
                </a:solidFill>
              </a:rPr>
              <a:t> </a:t>
            </a:r>
            <a:r>
              <a:rPr lang="en-US" altLang="en-US" dirty="0" smtClean="0"/>
              <a:t>object reads the file, and saves its lines in a </a:t>
            </a:r>
            <a:r>
              <a:rPr lang="en-US" altLang="en-US" b="1" dirty="0" smtClean="0">
                <a:solidFill>
                  <a:schemeClr val="tx2"/>
                </a:solidFill>
              </a:rPr>
              <a:t>Vector</a:t>
            </a:r>
            <a:r>
              <a:rPr lang="en-US" altLang="en-US" dirty="0" smtClean="0"/>
              <a:t>.</a:t>
            </a:r>
          </a:p>
          <a:p>
            <a:pPr>
              <a:lnSpc>
                <a:spcPct val="90000"/>
              </a:lnSpc>
              <a:spcBef>
                <a:spcPct val="30000"/>
              </a:spcBef>
            </a:pPr>
            <a:r>
              <a:rPr lang="en-US" altLang="en-US" dirty="0" smtClean="0"/>
              <a:t>The </a:t>
            </a:r>
            <a:r>
              <a:rPr lang="en-US" altLang="en-US" b="1" dirty="0" smtClean="0">
                <a:solidFill>
                  <a:schemeClr val="tx2"/>
                </a:solidFill>
              </a:rPr>
              <a:t>Vector</a:t>
            </a:r>
            <a:r>
              <a:rPr lang="en-US" altLang="en-US" dirty="0" smtClean="0"/>
              <a:t> is returned as a result of the remote method </a:t>
            </a:r>
            <a:r>
              <a:rPr lang="en-US" altLang="en-US" b="1" dirty="0" err="1" smtClean="0">
                <a:solidFill>
                  <a:schemeClr val="tx2"/>
                </a:solidFill>
              </a:rPr>
              <a:t>readFile</a:t>
            </a:r>
            <a:r>
              <a:rPr lang="en-US" altLang="en-US" b="1" dirty="0" smtClean="0">
                <a:solidFill>
                  <a:schemeClr val="tx2"/>
                </a:solidFill>
              </a:rPr>
              <a:t>()</a:t>
            </a:r>
            <a:r>
              <a:rPr lang="en-US" altLang="en-US" dirty="0" smtClean="0"/>
              <a:t>.  </a:t>
            </a:r>
            <a:r>
              <a:rPr lang="en-US" altLang="en-US" b="1" dirty="0" smtClean="0">
                <a:solidFill>
                  <a:schemeClr val="tx2"/>
                </a:solidFill>
              </a:rPr>
              <a:t>Vector</a:t>
            </a:r>
            <a:r>
              <a:rPr lang="en-US" altLang="en-US" dirty="0" smtClean="0"/>
              <a:t>, and the </a:t>
            </a:r>
            <a:r>
              <a:rPr lang="en-US" altLang="en-US" b="1" dirty="0" smtClean="0">
                <a:solidFill>
                  <a:schemeClr val="tx2"/>
                </a:solidFill>
              </a:rPr>
              <a:t>String</a:t>
            </a:r>
            <a:r>
              <a:rPr lang="en-US" altLang="en-US" dirty="0" smtClean="0"/>
              <a:t> class of the included elements, both implement </a:t>
            </a:r>
            <a:r>
              <a:rPr lang="en-US" altLang="en-US" b="1" dirty="0" smtClean="0">
                <a:solidFill>
                  <a:schemeClr val="tx2"/>
                </a:solidFill>
              </a:rPr>
              <a:t>Serializable</a:t>
            </a:r>
            <a:r>
              <a:rPr lang="en-US" altLang="en-US" dirty="0" smtClean="0"/>
              <a:t>.  The return value is transparently serialized in the server and </a:t>
            </a:r>
            <a:r>
              <a:rPr lang="en-US" altLang="en-US" dirty="0" err="1" smtClean="0"/>
              <a:t>deserialized</a:t>
            </a:r>
            <a:r>
              <a:rPr lang="en-US" altLang="en-US" dirty="0" smtClean="0"/>
              <a:t> on the client.</a:t>
            </a:r>
          </a:p>
          <a:p>
            <a:pPr>
              <a:lnSpc>
                <a:spcPct val="90000"/>
              </a:lnSpc>
              <a:spcBef>
                <a:spcPct val="30000"/>
              </a:spcBef>
            </a:pPr>
            <a:r>
              <a:rPr lang="en-US" altLang="en-US" dirty="0" smtClean="0"/>
              <a:t>We could also have used an </a:t>
            </a:r>
            <a:r>
              <a:rPr lang="en-US" altLang="en-US" dirty="0" smtClean="0">
                <a:solidFill>
                  <a:schemeClr val="tx2"/>
                </a:solidFill>
              </a:rPr>
              <a:t>array</a:t>
            </a:r>
            <a:r>
              <a:rPr lang="en-US" altLang="en-US" dirty="0" smtClean="0"/>
              <a:t> of </a:t>
            </a:r>
            <a:r>
              <a:rPr lang="en-US" altLang="en-US" b="1" dirty="0" smtClean="0">
                <a:solidFill>
                  <a:schemeClr val="tx2"/>
                </a:solidFill>
              </a:rPr>
              <a:t>String</a:t>
            </a:r>
            <a:r>
              <a:rPr lang="en-US" altLang="en-US" dirty="0" smtClean="0"/>
              <a:t> objects—an array type is serializable if its component type is.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Example: The RMI Registry</a:t>
            </a:r>
          </a:p>
        </p:txBody>
      </p:sp>
      <p:sp>
        <p:nvSpPr>
          <p:cNvPr id="6861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  <a:spcBef>
                <a:spcPct val="30000"/>
              </a:spcBef>
            </a:pPr>
            <a:r>
              <a:rPr lang="en-US" altLang="en-US" smtClean="0"/>
              <a:t>The RMI registry is a process that normally runs on the server.</a:t>
            </a:r>
          </a:p>
          <a:p>
            <a:pPr>
              <a:lnSpc>
                <a:spcPct val="90000"/>
              </a:lnSpc>
              <a:spcBef>
                <a:spcPct val="30000"/>
              </a:spcBef>
            </a:pPr>
            <a:r>
              <a:rPr lang="en-US" altLang="en-US" smtClean="0"/>
              <a:t>At first sight the registry seems to have a privileged role in RMI.  Actually it is “just another” remote object.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6" name="Rectangle 2"/>
          <p:cNvSpPr>
            <a:spLocks noChangeArrowheads="1"/>
          </p:cNvSpPr>
          <p:nvPr/>
        </p:nvSpPr>
        <p:spPr bwMode="auto">
          <a:xfrm>
            <a:off x="5181600" y="2895600"/>
            <a:ext cx="3429000" cy="3352800"/>
          </a:xfrm>
          <a:prstGeom prst="rect">
            <a:avLst/>
          </a:prstGeom>
          <a:solidFill>
            <a:srgbClr val="0000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69637" name="Rectangle 3"/>
          <p:cNvSpPr>
            <a:spLocks noChangeArrowheads="1"/>
          </p:cNvSpPr>
          <p:nvPr/>
        </p:nvSpPr>
        <p:spPr bwMode="auto">
          <a:xfrm>
            <a:off x="381000" y="3200400"/>
            <a:ext cx="2438400" cy="2590800"/>
          </a:xfrm>
          <a:prstGeom prst="rect">
            <a:avLst/>
          </a:prstGeom>
          <a:solidFill>
            <a:srgbClr val="0000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6963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The RMI Registry</a:t>
            </a:r>
          </a:p>
        </p:txBody>
      </p:sp>
      <p:graphicFrame>
        <p:nvGraphicFramePr>
          <p:cNvPr id="69639" name="Object 5"/>
          <p:cNvGraphicFramePr>
            <a:graphicFrameLocks noChangeAspect="1"/>
          </p:cNvGraphicFramePr>
          <p:nvPr/>
        </p:nvGraphicFramePr>
        <p:xfrm>
          <a:off x="6469063" y="1066800"/>
          <a:ext cx="998537" cy="175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720" name="Clip" r:id="rId3" imgW="1927225" imgH="3382963" progId="MS_ClipArt_Gallery.5">
                  <p:embed/>
                </p:oleObj>
              </mc:Choice>
              <mc:Fallback>
                <p:oleObj name="Clip" r:id="rId3" imgW="1927225" imgH="3382963" progId="MS_ClipArt_Gallery.5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69063" y="1066800"/>
                        <a:ext cx="998537" cy="175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40" name="Object 6"/>
          <p:cNvGraphicFramePr>
            <a:graphicFrameLocks noChangeAspect="1"/>
          </p:cNvGraphicFramePr>
          <p:nvPr/>
        </p:nvGraphicFramePr>
        <p:xfrm>
          <a:off x="950913" y="1682750"/>
          <a:ext cx="1258887" cy="1136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721" name="Clip" r:id="rId5" imgW="1260043" imgH="1137514" progId="MS_ClipArt_Gallery.5">
                  <p:embed/>
                </p:oleObj>
              </mc:Choice>
              <mc:Fallback>
                <p:oleObj name="Clip" r:id="rId5" imgW="1260043" imgH="1137514" progId="MS_ClipArt_Gallery.5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0913" y="1682750"/>
                        <a:ext cx="1258887" cy="1136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641" name="Oval 7"/>
          <p:cNvSpPr>
            <a:spLocks noChangeArrowheads="1"/>
          </p:cNvSpPr>
          <p:nvPr/>
        </p:nvSpPr>
        <p:spPr bwMode="auto">
          <a:xfrm>
            <a:off x="838200" y="3733800"/>
            <a:ext cx="1524000" cy="15240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altLang="en-US">
                <a:solidFill>
                  <a:schemeClr val="bg2"/>
                </a:solidFill>
              </a:rPr>
              <a:t>Client</a:t>
            </a:r>
          </a:p>
          <a:p>
            <a:pPr algn="ctr"/>
            <a:r>
              <a:rPr lang="en-US" altLang="en-US">
                <a:solidFill>
                  <a:schemeClr val="bg2"/>
                </a:solidFill>
              </a:rPr>
              <a:t>Code</a:t>
            </a:r>
          </a:p>
        </p:txBody>
      </p:sp>
      <p:sp>
        <p:nvSpPr>
          <p:cNvPr id="69642" name="Oval 10"/>
          <p:cNvSpPr>
            <a:spLocks noChangeArrowheads="1"/>
          </p:cNvSpPr>
          <p:nvPr/>
        </p:nvSpPr>
        <p:spPr bwMode="auto">
          <a:xfrm>
            <a:off x="6477000" y="4114800"/>
            <a:ext cx="1905000" cy="1981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altLang="en-US">
                <a:solidFill>
                  <a:schemeClr val="bg2"/>
                </a:solidFill>
              </a:rPr>
              <a:t>Remote</a:t>
            </a:r>
          </a:p>
          <a:p>
            <a:pPr algn="ctr"/>
            <a:r>
              <a:rPr lang="en-US" altLang="en-US">
                <a:solidFill>
                  <a:schemeClr val="bg2"/>
                </a:solidFill>
              </a:rPr>
              <a:t>Object</a:t>
            </a:r>
          </a:p>
        </p:txBody>
      </p:sp>
      <p:sp>
        <p:nvSpPr>
          <p:cNvPr id="69643" name="Text Box 24"/>
          <p:cNvSpPr txBox="1">
            <a:spLocks noChangeArrowheads="1"/>
          </p:cNvSpPr>
          <p:nvPr/>
        </p:nvSpPr>
        <p:spPr bwMode="auto">
          <a:xfrm>
            <a:off x="263525" y="1812925"/>
            <a:ext cx="8032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altLang="en-US" sz="2000"/>
              <a:t>Client</a:t>
            </a:r>
          </a:p>
        </p:txBody>
      </p:sp>
      <p:sp>
        <p:nvSpPr>
          <p:cNvPr id="69644" name="Text Box 25"/>
          <p:cNvSpPr txBox="1">
            <a:spLocks noChangeArrowheads="1"/>
          </p:cNvSpPr>
          <p:nvPr/>
        </p:nvSpPr>
        <p:spPr bwMode="auto">
          <a:xfrm>
            <a:off x="7391400" y="1812925"/>
            <a:ext cx="8461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altLang="en-US" sz="2000"/>
              <a:t>Server</a:t>
            </a:r>
          </a:p>
        </p:txBody>
      </p:sp>
      <p:sp>
        <p:nvSpPr>
          <p:cNvPr id="69645" name="Oval 26"/>
          <p:cNvSpPr>
            <a:spLocks noChangeArrowheads="1"/>
          </p:cNvSpPr>
          <p:nvPr/>
        </p:nvSpPr>
        <p:spPr bwMode="auto">
          <a:xfrm>
            <a:off x="5410200" y="3048000"/>
            <a:ext cx="1219200" cy="1219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altLang="en-US">
                <a:solidFill>
                  <a:schemeClr val="bg2"/>
                </a:solidFill>
              </a:rPr>
              <a:t>Registry</a:t>
            </a:r>
          </a:p>
        </p:txBody>
      </p:sp>
      <p:sp>
        <p:nvSpPr>
          <p:cNvPr id="69646" name="Line 28"/>
          <p:cNvSpPr>
            <a:spLocks noChangeShapeType="1"/>
          </p:cNvSpPr>
          <p:nvPr/>
        </p:nvSpPr>
        <p:spPr bwMode="auto">
          <a:xfrm flipH="1" flipV="1">
            <a:off x="6477000" y="4038600"/>
            <a:ext cx="304800" cy="381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E"/>
          </a:p>
        </p:txBody>
      </p:sp>
      <p:sp>
        <p:nvSpPr>
          <p:cNvPr id="69647" name="Text Box 30"/>
          <p:cNvSpPr txBox="1">
            <a:spLocks noChangeArrowheads="1"/>
          </p:cNvSpPr>
          <p:nvPr/>
        </p:nvSpPr>
        <p:spPr bwMode="auto">
          <a:xfrm>
            <a:off x="6629400" y="3368675"/>
            <a:ext cx="1417638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altLang="en-US"/>
              <a:t>Store</a:t>
            </a:r>
          </a:p>
          <a:p>
            <a:r>
              <a:rPr lang="en-US" altLang="en-US"/>
              <a:t>Reference</a:t>
            </a:r>
          </a:p>
        </p:txBody>
      </p:sp>
      <p:sp>
        <p:nvSpPr>
          <p:cNvPr id="69648" name="Line 32"/>
          <p:cNvSpPr>
            <a:spLocks noChangeShapeType="1"/>
          </p:cNvSpPr>
          <p:nvPr/>
        </p:nvSpPr>
        <p:spPr bwMode="auto">
          <a:xfrm flipV="1">
            <a:off x="2362200" y="3733800"/>
            <a:ext cx="3048000" cy="609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E"/>
          </a:p>
        </p:txBody>
      </p:sp>
      <p:sp>
        <p:nvSpPr>
          <p:cNvPr id="69649" name="Text Box 33"/>
          <p:cNvSpPr txBox="1">
            <a:spLocks noChangeArrowheads="1"/>
          </p:cNvSpPr>
          <p:nvPr/>
        </p:nvSpPr>
        <p:spPr bwMode="auto">
          <a:xfrm>
            <a:off x="2819400" y="3216275"/>
            <a:ext cx="1417638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altLang="en-US"/>
              <a:t>Request</a:t>
            </a:r>
          </a:p>
          <a:p>
            <a:pPr algn="ctr"/>
            <a:r>
              <a:rPr lang="en-US" altLang="en-US"/>
              <a:t>Reference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6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The </a:t>
            </a:r>
            <a:r>
              <a:rPr lang="en-US" altLang="en-US" b="1" smtClean="0"/>
              <a:t>Registry</a:t>
            </a:r>
            <a:r>
              <a:rPr lang="en-US" altLang="en-US" smtClean="0"/>
              <a:t> Remote Interface</a:t>
            </a:r>
          </a:p>
        </p:txBody>
      </p:sp>
      <p:sp>
        <p:nvSpPr>
          <p:cNvPr id="7066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90000"/>
              </a:lnSpc>
              <a:spcBef>
                <a:spcPct val="30000"/>
              </a:spcBef>
            </a:pPr>
            <a:r>
              <a:rPr lang="en-US" altLang="en-US" smtClean="0"/>
              <a:t>Instead of interacting with the registry indirectly through the </a:t>
            </a:r>
            <a:r>
              <a:rPr lang="en-US" altLang="en-US" b="1" smtClean="0">
                <a:solidFill>
                  <a:schemeClr val="tx2"/>
                </a:solidFill>
              </a:rPr>
              <a:t>Naming</a:t>
            </a:r>
            <a:r>
              <a:rPr lang="en-US" altLang="en-US" smtClean="0"/>
              <a:t> class, it is possible to obtain a direct remote reference to the registry object.</a:t>
            </a:r>
          </a:p>
          <a:p>
            <a:pPr>
              <a:lnSpc>
                <a:spcPct val="90000"/>
              </a:lnSpc>
              <a:spcBef>
                <a:spcPct val="30000"/>
              </a:spcBef>
            </a:pPr>
            <a:r>
              <a:rPr lang="en-US" altLang="en-US" smtClean="0"/>
              <a:t>Its remote interface is defined in the package </a:t>
            </a:r>
            <a:r>
              <a:rPr lang="en-US" altLang="en-US" b="1" smtClean="0">
                <a:solidFill>
                  <a:schemeClr val="tx2"/>
                </a:solidFill>
              </a:rPr>
              <a:t>java.rmi.registry</a:t>
            </a:r>
            <a:r>
              <a:rPr lang="en-US" altLang="en-US" smtClean="0"/>
              <a:t>.  The interface includes:</a:t>
            </a:r>
          </a:p>
          <a:p>
            <a:pPr lvl="1">
              <a:lnSpc>
                <a:spcPct val="90000"/>
              </a:lnSpc>
              <a:spcBef>
                <a:spcPct val="100000"/>
              </a:spcBef>
              <a:buFontTx/>
              <a:buNone/>
            </a:pPr>
            <a:r>
              <a:rPr lang="en-US" altLang="en-US" b="1" smtClean="0">
                <a:solidFill>
                  <a:schemeClr val="tx2"/>
                </a:solidFill>
              </a:rPr>
              <a:t>      public interface Registry extends Remote {</a:t>
            </a:r>
          </a:p>
          <a:p>
            <a:pPr lvl="1"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lang="en-US" altLang="en-US" b="1" smtClean="0">
                <a:solidFill>
                  <a:schemeClr val="tx2"/>
                </a:solidFill>
              </a:rPr>
              <a:t>            public Remote lookup(String name) throws . . . ;</a:t>
            </a:r>
          </a:p>
          <a:p>
            <a:pPr lvl="1"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lang="en-US" altLang="en-US" b="1" smtClean="0">
                <a:solidFill>
                  <a:schemeClr val="tx2"/>
                </a:solidFill>
              </a:rPr>
              <a:t>            public bind(String name, Remote obj) throws . . . ;</a:t>
            </a:r>
          </a:p>
          <a:p>
            <a:pPr lvl="1"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lang="en-US" altLang="en-US" b="1" smtClean="0">
                <a:solidFill>
                  <a:schemeClr val="tx2"/>
                </a:solidFill>
              </a:rPr>
              <a:t>            public rebind(String name, Remote obj) throws . . . ;</a:t>
            </a:r>
          </a:p>
          <a:p>
            <a:pPr lvl="1"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lang="en-US" altLang="en-US" b="1" smtClean="0">
                <a:solidFill>
                  <a:schemeClr val="tx2"/>
                </a:solidFill>
              </a:rPr>
              <a:t>            . . .</a:t>
            </a:r>
          </a:p>
          <a:p>
            <a:pPr lvl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en-US" b="1" smtClean="0">
                <a:solidFill>
                  <a:schemeClr val="tx2"/>
                </a:solidFill>
              </a:rPr>
              <a:t>     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The </a:t>
            </a:r>
            <a:r>
              <a:rPr lang="en-US" altLang="en-US" b="1" smtClean="0"/>
              <a:t>LocateRegistry</a:t>
            </a:r>
            <a:r>
              <a:rPr lang="en-US" altLang="en-US" smtClean="0"/>
              <a:t> Class</a:t>
            </a:r>
          </a:p>
        </p:txBody>
      </p:sp>
      <p:sp>
        <p:nvSpPr>
          <p:cNvPr id="7168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90000"/>
              </a:lnSpc>
              <a:spcBef>
                <a:spcPct val="30000"/>
              </a:spcBef>
            </a:pPr>
            <a:r>
              <a:rPr lang="en-US" altLang="en-US" smtClean="0"/>
              <a:t>This class constructs a stub for an existing </a:t>
            </a:r>
            <a:r>
              <a:rPr lang="en-US" altLang="en-US" b="1" smtClean="0">
                <a:solidFill>
                  <a:schemeClr val="tx2"/>
                </a:solidFill>
              </a:rPr>
              <a:t>Registry</a:t>
            </a:r>
            <a:r>
              <a:rPr lang="en-US" altLang="en-US" smtClean="0"/>
              <a:t> object.  (It can also create a new registry implementation object, running in the current JVM.)</a:t>
            </a:r>
          </a:p>
          <a:p>
            <a:pPr>
              <a:lnSpc>
                <a:spcPct val="90000"/>
              </a:lnSpc>
              <a:spcBef>
                <a:spcPct val="30000"/>
              </a:spcBef>
            </a:pPr>
            <a:r>
              <a:rPr lang="en-US" altLang="en-US" smtClean="0"/>
              <a:t>The interface includes:</a:t>
            </a:r>
          </a:p>
          <a:p>
            <a:pPr lvl="1"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lang="en-US" altLang="en-US" b="1" smtClean="0">
                <a:solidFill>
                  <a:schemeClr val="tx2"/>
                </a:solidFill>
              </a:rPr>
              <a:t>public final class LocateRegistry {</a:t>
            </a:r>
          </a:p>
          <a:p>
            <a:pPr lvl="1"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lang="en-US" altLang="en-US" b="1" smtClean="0">
                <a:solidFill>
                  <a:schemeClr val="tx2"/>
                </a:solidFill>
              </a:rPr>
              <a:t>       public static Registry getRegistry(String host, int port)</a:t>
            </a:r>
          </a:p>
          <a:p>
            <a:pPr lvl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b="1" smtClean="0">
                <a:solidFill>
                  <a:schemeClr val="tx2"/>
                </a:solidFill>
              </a:rPr>
              <a:t>                                                                                    throws . . . {. . .}</a:t>
            </a:r>
          </a:p>
          <a:p>
            <a:pPr lvl="1"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lang="en-US" altLang="en-US" b="1" smtClean="0">
                <a:solidFill>
                  <a:schemeClr val="tx2"/>
                </a:solidFill>
              </a:rPr>
              <a:t>       public static Registry createRegistry(int port) </a:t>
            </a:r>
          </a:p>
          <a:p>
            <a:pPr lvl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b="1" smtClean="0">
                <a:solidFill>
                  <a:schemeClr val="tx2"/>
                </a:solidFill>
              </a:rPr>
              <a:t>                                                                                    throws . . . {. . .}</a:t>
            </a:r>
          </a:p>
          <a:p>
            <a:pPr lvl="1"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lang="en-US" altLang="en-US" b="1" smtClean="0">
                <a:solidFill>
                  <a:schemeClr val="tx2"/>
                </a:solidFill>
              </a:rPr>
              <a:t>       . . .</a:t>
            </a:r>
          </a:p>
          <a:p>
            <a:pPr lvl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en-US" b="1" smtClean="0">
                <a:solidFill>
                  <a:schemeClr val="tx2"/>
                </a:solidFill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 smtClean="0"/>
              <a:t>Using the </a:t>
            </a:r>
            <a:r>
              <a:rPr lang="en-US" altLang="en-US" b="1" dirty="0" smtClean="0"/>
              <a:t>Registry</a:t>
            </a:r>
            <a:r>
              <a:rPr lang="en-US" altLang="en-US" dirty="0" smtClean="0"/>
              <a:t> Interface Directly</a:t>
            </a:r>
          </a:p>
        </p:txBody>
      </p:sp>
      <p:sp>
        <p:nvSpPr>
          <p:cNvPr id="7270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143000"/>
            <a:ext cx="8458200" cy="5257800"/>
          </a:xfrm>
        </p:spPr>
        <p:txBody>
          <a:bodyPr>
            <a:normAutofit fontScale="85000" lnSpcReduction="20000"/>
          </a:bodyPr>
          <a:lstStyle/>
          <a:p>
            <a:r>
              <a:rPr lang="en-US" altLang="en-US" dirty="0" smtClean="0"/>
              <a:t>An alternative definition of the class </a:t>
            </a:r>
            <a:r>
              <a:rPr lang="en-US" altLang="en-US" b="1" dirty="0" err="1" smtClean="0">
                <a:solidFill>
                  <a:schemeClr val="tx2"/>
                </a:solidFill>
              </a:rPr>
              <a:t>FileServer</a:t>
            </a:r>
            <a:r>
              <a:rPr lang="en-US" altLang="en-US" dirty="0" smtClean="0"/>
              <a:t>:</a:t>
            </a:r>
          </a:p>
          <a:p>
            <a:pPr lvl="1">
              <a:spcBef>
                <a:spcPct val="60000"/>
              </a:spcBef>
              <a:buFontTx/>
              <a:buNone/>
            </a:pPr>
            <a:r>
              <a:rPr lang="en-US" altLang="en-US" b="1" dirty="0" smtClean="0">
                <a:solidFill>
                  <a:schemeClr val="tx2"/>
                </a:solidFill>
              </a:rPr>
              <a:t>public class </a:t>
            </a:r>
            <a:r>
              <a:rPr lang="en-US" altLang="en-US" b="1" dirty="0" err="1" smtClean="0">
                <a:solidFill>
                  <a:schemeClr val="tx2"/>
                </a:solidFill>
              </a:rPr>
              <a:t>FileServer</a:t>
            </a:r>
            <a:r>
              <a:rPr lang="en-US" altLang="en-US" b="1" dirty="0" smtClean="0">
                <a:solidFill>
                  <a:schemeClr val="tx2"/>
                </a:solidFill>
              </a:rPr>
              <a:t> {</a:t>
            </a:r>
          </a:p>
          <a:p>
            <a:pPr lvl="1"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lang="en-US" altLang="en-US" b="1" dirty="0" smtClean="0">
                <a:solidFill>
                  <a:schemeClr val="tx2"/>
                </a:solidFill>
              </a:rPr>
              <a:t>      public static void main(String [] </a:t>
            </a:r>
            <a:r>
              <a:rPr lang="en-US" altLang="en-US" b="1" dirty="0" err="1" smtClean="0">
                <a:solidFill>
                  <a:schemeClr val="tx2"/>
                </a:solidFill>
              </a:rPr>
              <a:t>args</a:t>
            </a:r>
            <a:r>
              <a:rPr lang="en-US" altLang="en-US" b="1" dirty="0" smtClean="0">
                <a:solidFill>
                  <a:schemeClr val="tx2"/>
                </a:solidFill>
              </a:rPr>
              <a:t>) throws Exception {</a:t>
            </a:r>
          </a:p>
          <a:p>
            <a:pPr lvl="1">
              <a:lnSpc>
                <a:spcPct val="90000"/>
              </a:lnSpc>
              <a:spcBef>
                <a:spcPct val="60000"/>
              </a:spcBef>
              <a:buFontTx/>
              <a:buNone/>
            </a:pPr>
            <a:r>
              <a:rPr lang="en-US" altLang="en-US" b="1" dirty="0" smtClean="0">
                <a:solidFill>
                  <a:schemeClr val="tx2"/>
                </a:solidFill>
              </a:rPr>
              <a:t>            </a:t>
            </a:r>
            <a:r>
              <a:rPr lang="en-US" altLang="en-US" b="1" dirty="0" err="1" smtClean="0">
                <a:solidFill>
                  <a:schemeClr val="tx2"/>
                </a:solidFill>
              </a:rPr>
              <a:t>FileSource</a:t>
            </a:r>
            <a:r>
              <a:rPr lang="en-US" altLang="en-US" b="1" dirty="0" smtClean="0">
                <a:solidFill>
                  <a:schemeClr val="tx2"/>
                </a:solidFill>
              </a:rPr>
              <a:t> server = new </a:t>
            </a:r>
            <a:r>
              <a:rPr lang="en-US" altLang="en-US" b="1" dirty="0" err="1" smtClean="0">
                <a:solidFill>
                  <a:schemeClr val="tx2"/>
                </a:solidFill>
              </a:rPr>
              <a:t>FileSourceImpl</a:t>
            </a:r>
            <a:r>
              <a:rPr lang="en-US" altLang="en-US" b="1" dirty="0" smtClean="0">
                <a:solidFill>
                  <a:schemeClr val="tx2"/>
                </a:solidFill>
              </a:rPr>
              <a:t>() ;</a:t>
            </a:r>
          </a:p>
          <a:p>
            <a:pPr lvl="1">
              <a:lnSpc>
                <a:spcPct val="90000"/>
              </a:lnSpc>
              <a:spcBef>
                <a:spcPct val="60000"/>
              </a:spcBef>
              <a:buFontTx/>
              <a:buNone/>
            </a:pPr>
            <a:r>
              <a:rPr lang="en-US" altLang="en-US" b="1" dirty="0" smtClean="0">
                <a:solidFill>
                  <a:schemeClr val="tx2"/>
                </a:solidFill>
              </a:rPr>
              <a:t>            Registry </a:t>
            </a:r>
            <a:r>
              <a:rPr lang="en-US" altLang="en-US" b="1" dirty="0" err="1" smtClean="0">
                <a:solidFill>
                  <a:schemeClr val="tx2"/>
                </a:solidFill>
              </a:rPr>
              <a:t>reg</a:t>
            </a:r>
            <a:r>
              <a:rPr lang="en-US" altLang="en-US" b="1" dirty="0" smtClean="0">
                <a:solidFill>
                  <a:schemeClr val="tx2"/>
                </a:solidFill>
              </a:rPr>
              <a:t> =</a:t>
            </a:r>
          </a:p>
          <a:p>
            <a:pPr lvl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b="1" dirty="0" smtClean="0">
                <a:solidFill>
                  <a:schemeClr val="tx2"/>
                </a:solidFill>
              </a:rPr>
              <a:t>                        </a:t>
            </a:r>
            <a:r>
              <a:rPr lang="en-US" altLang="en-US" b="1" dirty="0" err="1" smtClean="0">
                <a:solidFill>
                  <a:schemeClr val="tx2"/>
                </a:solidFill>
              </a:rPr>
              <a:t>LocateRegistry.getRegistry</a:t>
            </a:r>
            <a:r>
              <a:rPr lang="en-US" altLang="en-US" b="1" dirty="0" smtClean="0">
                <a:solidFill>
                  <a:schemeClr val="tx2"/>
                </a:solidFill>
              </a:rPr>
              <a:t>(“localhost”, 2020) ;</a:t>
            </a:r>
          </a:p>
          <a:p>
            <a:pPr lvl="1">
              <a:lnSpc>
                <a:spcPct val="90000"/>
              </a:lnSpc>
              <a:spcBef>
                <a:spcPct val="60000"/>
              </a:spcBef>
              <a:buFontTx/>
              <a:buNone/>
            </a:pPr>
            <a:r>
              <a:rPr lang="en-US" altLang="en-US" b="1" dirty="0" smtClean="0">
                <a:solidFill>
                  <a:schemeClr val="tx2"/>
                </a:solidFill>
              </a:rPr>
              <a:t>            </a:t>
            </a:r>
            <a:r>
              <a:rPr lang="en-US" altLang="en-US" b="1" dirty="0" err="1" smtClean="0"/>
              <a:t>reg.rebind</a:t>
            </a:r>
            <a:r>
              <a:rPr lang="en-US" altLang="en-US" b="1" dirty="0" smtClean="0"/>
              <a:t>(“</a:t>
            </a:r>
            <a:r>
              <a:rPr lang="en-US" altLang="en-US" b="1" dirty="0" err="1" smtClean="0"/>
              <a:t>fileservice</a:t>
            </a:r>
            <a:r>
              <a:rPr lang="en-US" altLang="en-US" b="1" dirty="0" smtClean="0"/>
              <a:t>”, server) ;</a:t>
            </a:r>
          </a:p>
          <a:p>
            <a:pPr lvl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b="1" dirty="0" smtClean="0"/>
              <a:t>                                                        </a:t>
            </a:r>
            <a:r>
              <a:rPr lang="en-US" altLang="en-US" dirty="0" smtClean="0"/>
              <a:t>//A remote method invocation</a:t>
            </a:r>
          </a:p>
          <a:p>
            <a:pPr lvl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en-US" b="1" dirty="0" smtClean="0">
                <a:solidFill>
                  <a:schemeClr val="tx2"/>
                </a:solidFill>
              </a:rPr>
              <a:t>      }</a:t>
            </a:r>
          </a:p>
          <a:p>
            <a:pPr lvl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en-US" b="1" dirty="0" smtClean="0">
                <a:solidFill>
                  <a:schemeClr val="tx2"/>
                </a:solidFill>
              </a:rPr>
              <a:t>}</a:t>
            </a:r>
          </a:p>
          <a:p>
            <a:pPr>
              <a:lnSpc>
                <a:spcPct val="90000"/>
              </a:lnSpc>
              <a:spcBef>
                <a:spcPct val="80000"/>
              </a:spcBef>
            </a:pPr>
            <a:r>
              <a:rPr lang="en-US" altLang="en-US" dirty="0" smtClean="0"/>
              <a:t>We are particularly interested in this example because it involves passing a remote object implementation,</a:t>
            </a:r>
            <a:r>
              <a:rPr lang="en-US" altLang="en-US" b="1" dirty="0" smtClean="0">
                <a:solidFill>
                  <a:schemeClr val="tx2"/>
                </a:solidFill>
              </a:rPr>
              <a:t> server</a:t>
            </a:r>
            <a:r>
              <a:rPr lang="en-US" altLang="en-US" dirty="0" smtClean="0"/>
              <a:t>, as an argument to a remote method, </a:t>
            </a:r>
            <a:r>
              <a:rPr lang="en-US" altLang="en-US" b="1" dirty="0" smtClean="0">
                <a:solidFill>
                  <a:schemeClr val="tx2"/>
                </a:solidFill>
              </a:rPr>
              <a:t>rebind()</a:t>
            </a:r>
            <a:r>
              <a:rPr lang="en-US" altLang="en-US" dirty="0" smtClean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-7620" y="914400"/>
            <a:ext cx="9144000" cy="58169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E" sz="1200" b="1" dirty="0">
                <a:solidFill>
                  <a:srgbClr val="7F0055"/>
                </a:solidFill>
                <a:latin typeface="Consolas"/>
              </a:rPr>
              <a:t>public</a:t>
            </a:r>
            <a:r>
              <a:rPr lang="en-IE" sz="12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200" b="1" dirty="0">
                <a:solidFill>
                  <a:srgbClr val="7F0055"/>
                </a:solidFill>
                <a:latin typeface="Consolas"/>
              </a:rPr>
              <a:t>class</a:t>
            </a:r>
            <a:r>
              <a:rPr lang="en-IE" sz="12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200" b="1" u="sng" dirty="0">
                <a:solidFill>
                  <a:srgbClr val="000000"/>
                </a:solidFill>
                <a:latin typeface="Consolas"/>
              </a:rPr>
              <a:t>Account </a:t>
            </a:r>
            <a:r>
              <a:rPr lang="en-IE" sz="1200" b="1" u="sng" dirty="0">
                <a:solidFill>
                  <a:srgbClr val="7F0055"/>
                </a:solidFill>
                <a:latin typeface="Consolas"/>
              </a:rPr>
              <a:t>implements</a:t>
            </a:r>
            <a:r>
              <a:rPr lang="en-IE" sz="1200" b="1" u="sng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200" b="1" u="sng" dirty="0" err="1">
                <a:solidFill>
                  <a:srgbClr val="000000"/>
                </a:solidFill>
                <a:latin typeface="Consolas"/>
              </a:rPr>
              <a:t>java.io.Serializable</a:t>
            </a:r>
            <a:r>
              <a:rPr lang="en-IE" sz="1200" b="1" u="sng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IE" sz="1200" dirty="0">
                <a:solidFill>
                  <a:srgbClr val="3F7F5F"/>
                </a:solidFill>
                <a:latin typeface="Consolas"/>
              </a:rPr>
              <a:t>//Instance variables…</a:t>
            </a:r>
          </a:p>
          <a:p>
            <a:r>
              <a:rPr lang="en-IE" sz="1200" b="1" dirty="0">
                <a:solidFill>
                  <a:srgbClr val="7F0055"/>
                </a:solidFill>
                <a:latin typeface="Consolas"/>
              </a:rPr>
              <a:t>private</a:t>
            </a:r>
            <a:r>
              <a:rPr lang="en-IE" sz="12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200" b="1" dirty="0" err="1">
                <a:solidFill>
                  <a:srgbClr val="7F0055"/>
                </a:solidFill>
                <a:latin typeface="Consolas"/>
              </a:rPr>
              <a:t>int</a:t>
            </a:r>
            <a:r>
              <a:rPr lang="en-IE" sz="12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200" b="1" dirty="0" err="1">
                <a:solidFill>
                  <a:srgbClr val="0000C0"/>
                </a:solidFill>
                <a:latin typeface="Consolas"/>
              </a:rPr>
              <a:t>acctNum</a:t>
            </a:r>
            <a:r>
              <a:rPr lang="en-IE" sz="1200" b="1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IE" sz="1200" b="1" dirty="0">
                <a:solidFill>
                  <a:srgbClr val="7F0055"/>
                </a:solidFill>
                <a:latin typeface="Consolas"/>
              </a:rPr>
              <a:t>private</a:t>
            </a:r>
            <a:r>
              <a:rPr lang="en-IE" sz="1200" b="1" dirty="0">
                <a:solidFill>
                  <a:srgbClr val="000000"/>
                </a:solidFill>
                <a:latin typeface="Consolas"/>
              </a:rPr>
              <a:t> String </a:t>
            </a:r>
            <a:r>
              <a:rPr lang="en-IE" sz="1200" b="1" dirty="0">
                <a:solidFill>
                  <a:srgbClr val="0000C0"/>
                </a:solidFill>
                <a:latin typeface="Consolas"/>
              </a:rPr>
              <a:t>surname</a:t>
            </a:r>
            <a:r>
              <a:rPr lang="en-IE" sz="1200" b="1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IE" sz="1200" b="1" dirty="0">
                <a:solidFill>
                  <a:srgbClr val="7F0055"/>
                </a:solidFill>
                <a:latin typeface="Consolas"/>
              </a:rPr>
              <a:t>private</a:t>
            </a:r>
            <a:r>
              <a:rPr lang="en-IE" sz="1200" b="1" dirty="0">
                <a:solidFill>
                  <a:srgbClr val="000000"/>
                </a:solidFill>
                <a:latin typeface="Consolas"/>
              </a:rPr>
              <a:t> String </a:t>
            </a:r>
            <a:r>
              <a:rPr lang="en-IE" sz="1200" b="1" dirty="0" err="1">
                <a:solidFill>
                  <a:srgbClr val="0000C0"/>
                </a:solidFill>
                <a:latin typeface="Consolas"/>
              </a:rPr>
              <a:t>firstNames</a:t>
            </a:r>
            <a:r>
              <a:rPr lang="en-IE" sz="1200" b="1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IE" sz="1200" b="1" dirty="0">
                <a:solidFill>
                  <a:srgbClr val="7F0055"/>
                </a:solidFill>
                <a:latin typeface="Consolas"/>
              </a:rPr>
              <a:t>private</a:t>
            </a:r>
            <a:r>
              <a:rPr lang="en-IE" sz="12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200" b="1" dirty="0">
                <a:solidFill>
                  <a:srgbClr val="7F0055"/>
                </a:solidFill>
                <a:latin typeface="Consolas"/>
              </a:rPr>
              <a:t>double</a:t>
            </a:r>
            <a:r>
              <a:rPr lang="en-IE" sz="12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200" b="1" dirty="0">
                <a:solidFill>
                  <a:srgbClr val="0000C0"/>
                </a:solidFill>
                <a:latin typeface="Consolas"/>
              </a:rPr>
              <a:t>balance</a:t>
            </a:r>
            <a:r>
              <a:rPr lang="en-IE" sz="1200" b="1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IE" sz="1200" b="1" dirty="0">
                <a:solidFill>
                  <a:srgbClr val="7F0055"/>
                </a:solidFill>
                <a:latin typeface="Consolas"/>
              </a:rPr>
              <a:t>public</a:t>
            </a:r>
            <a:r>
              <a:rPr lang="en-IE" sz="1200" b="1" dirty="0">
                <a:solidFill>
                  <a:srgbClr val="000000"/>
                </a:solidFill>
                <a:latin typeface="Consolas"/>
              </a:rPr>
              <a:t> Account(</a:t>
            </a:r>
            <a:r>
              <a:rPr lang="en-IE" sz="1200" b="1" dirty="0" err="1">
                <a:solidFill>
                  <a:srgbClr val="7F0055"/>
                </a:solidFill>
                <a:latin typeface="Consolas"/>
              </a:rPr>
              <a:t>int</a:t>
            </a:r>
            <a:r>
              <a:rPr lang="en-IE" sz="12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200" b="1" dirty="0" err="1">
                <a:solidFill>
                  <a:srgbClr val="6A3E3E"/>
                </a:solidFill>
                <a:latin typeface="Consolas"/>
              </a:rPr>
              <a:t>acctNo</a:t>
            </a:r>
            <a:r>
              <a:rPr lang="en-IE" sz="1200" b="1" dirty="0">
                <a:solidFill>
                  <a:srgbClr val="000000"/>
                </a:solidFill>
                <a:latin typeface="Consolas"/>
              </a:rPr>
              <a:t>, String </a:t>
            </a:r>
            <a:r>
              <a:rPr lang="en-IE" sz="1200" b="1" dirty="0" err="1">
                <a:solidFill>
                  <a:srgbClr val="6A3E3E"/>
                </a:solidFill>
                <a:latin typeface="Consolas"/>
              </a:rPr>
              <a:t>sname</a:t>
            </a:r>
            <a:r>
              <a:rPr lang="en-IE" sz="1200" b="1" dirty="0">
                <a:solidFill>
                  <a:srgbClr val="000000"/>
                </a:solidFill>
                <a:latin typeface="Consolas"/>
              </a:rPr>
              <a:t>, String </a:t>
            </a:r>
            <a:r>
              <a:rPr lang="en-IE" sz="1200" b="1" dirty="0" err="1">
                <a:solidFill>
                  <a:srgbClr val="6A3E3E"/>
                </a:solidFill>
                <a:latin typeface="Consolas"/>
              </a:rPr>
              <a:t>fnames</a:t>
            </a:r>
            <a:r>
              <a:rPr lang="en-IE" sz="1200" b="1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IE" sz="1200" b="1" dirty="0">
                <a:solidFill>
                  <a:srgbClr val="7F0055"/>
                </a:solidFill>
                <a:latin typeface="Consolas"/>
              </a:rPr>
              <a:t>double</a:t>
            </a:r>
            <a:r>
              <a:rPr lang="en-IE" sz="12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200" b="1" dirty="0" err="1">
                <a:solidFill>
                  <a:srgbClr val="6A3E3E"/>
                </a:solidFill>
                <a:latin typeface="Consolas"/>
              </a:rPr>
              <a:t>bal</a:t>
            </a:r>
            <a:r>
              <a:rPr lang="en-IE" sz="1200" b="1" dirty="0">
                <a:solidFill>
                  <a:srgbClr val="000000"/>
                </a:solidFill>
                <a:latin typeface="Consolas"/>
              </a:rPr>
              <a:t>){</a:t>
            </a:r>
          </a:p>
          <a:p>
            <a:r>
              <a:rPr lang="en-IE" sz="1200" dirty="0" err="1">
                <a:solidFill>
                  <a:srgbClr val="0000C0"/>
                </a:solidFill>
                <a:latin typeface="Consolas"/>
              </a:rPr>
              <a:t>acctNum</a:t>
            </a:r>
            <a:r>
              <a:rPr lang="en-IE" sz="12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IE" sz="1200" dirty="0" err="1">
                <a:solidFill>
                  <a:srgbClr val="6A3E3E"/>
                </a:solidFill>
                <a:latin typeface="Consolas"/>
              </a:rPr>
              <a:t>acctNo</a:t>
            </a:r>
            <a:r>
              <a:rPr lang="en-IE" sz="12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IE" sz="1200" dirty="0">
                <a:solidFill>
                  <a:srgbClr val="0000C0"/>
                </a:solidFill>
                <a:latin typeface="Consolas"/>
              </a:rPr>
              <a:t>surname</a:t>
            </a:r>
            <a:r>
              <a:rPr lang="en-IE" sz="12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IE" sz="1200" dirty="0" err="1">
                <a:solidFill>
                  <a:srgbClr val="6A3E3E"/>
                </a:solidFill>
                <a:latin typeface="Consolas"/>
              </a:rPr>
              <a:t>sname</a:t>
            </a:r>
            <a:r>
              <a:rPr lang="en-IE" sz="12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IE" sz="1200" dirty="0" err="1">
                <a:solidFill>
                  <a:srgbClr val="0000C0"/>
                </a:solidFill>
                <a:latin typeface="Consolas"/>
              </a:rPr>
              <a:t>firstNames</a:t>
            </a:r>
            <a:r>
              <a:rPr lang="en-IE" sz="12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IE" sz="1200" dirty="0" err="1">
                <a:solidFill>
                  <a:srgbClr val="6A3E3E"/>
                </a:solidFill>
                <a:latin typeface="Consolas"/>
              </a:rPr>
              <a:t>fnames</a:t>
            </a:r>
            <a:r>
              <a:rPr lang="en-IE" sz="12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IE" sz="1200" dirty="0">
                <a:solidFill>
                  <a:srgbClr val="0000C0"/>
                </a:solidFill>
                <a:latin typeface="Consolas"/>
              </a:rPr>
              <a:t>balance</a:t>
            </a:r>
            <a:r>
              <a:rPr lang="en-IE" sz="12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IE" sz="1200" dirty="0" err="1">
                <a:solidFill>
                  <a:srgbClr val="6A3E3E"/>
                </a:solidFill>
                <a:latin typeface="Consolas"/>
              </a:rPr>
              <a:t>bal</a:t>
            </a:r>
            <a:r>
              <a:rPr lang="en-IE" sz="12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IE" sz="1200" dirty="0">
                <a:solidFill>
                  <a:srgbClr val="000000"/>
                </a:solidFill>
                <a:latin typeface="Consolas"/>
              </a:rPr>
              <a:t>}</a:t>
            </a:r>
          </a:p>
          <a:p>
            <a:r>
              <a:rPr lang="en-IE" sz="1200" b="1" dirty="0">
                <a:solidFill>
                  <a:srgbClr val="7F0055"/>
                </a:solidFill>
                <a:latin typeface="Consolas"/>
              </a:rPr>
              <a:t>public</a:t>
            </a:r>
            <a:r>
              <a:rPr lang="en-IE" sz="12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200" b="1" dirty="0" err="1">
                <a:solidFill>
                  <a:srgbClr val="7F0055"/>
                </a:solidFill>
                <a:latin typeface="Consolas"/>
              </a:rPr>
              <a:t>int</a:t>
            </a:r>
            <a:r>
              <a:rPr lang="en-IE" sz="12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200" b="1" dirty="0" err="1">
                <a:solidFill>
                  <a:srgbClr val="000000"/>
                </a:solidFill>
                <a:latin typeface="Consolas"/>
              </a:rPr>
              <a:t>getAcctNum</a:t>
            </a:r>
            <a:r>
              <a:rPr lang="en-IE" sz="1200" b="1" dirty="0">
                <a:solidFill>
                  <a:srgbClr val="000000"/>
                </a:solidFill>
                <a:latin typeface="Consolas"/>
              </a:rPr>
              <a:t>(){</a:t>
            </a:r>
          </a:p>
          <a:p>
            <a:r>
              <a:rPr lang="en-IE" sz="1200" b="1" dirty="0">
                <a:solidFill>
                  <a:srgbClr val="7F0055"/>
                </a:solidFill>
                <a:latin typeface="Consolas"/>
              </a:rPr>
              <a:t>return</a:t>
            </a:r>
            <a:r>
              <a:rPr lang="en-IE" sz="12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200" b="1" dirty="0" err="1">
                <a:solidFill>
                  <a:srgbClr val="0000C0"/>
                </a:solidFill>
                <a:latin typeface="Consolas"/>
              </a:rPr>
              <a:t>acctNum</a:t>
            </a:r>
            <a:r>
              <a:rPr lang="en-IE" sz="1200" b="1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IE" sz="1200" dirty="0">
                <a:solidFill>
                  <a:srgbClr val="000000"/>
                </a:solidFill>
                <a:latin typeface="Consolas"/>
              </a:rPr>
              <a:t>}</a:t>
            </a:r>
          </a:p>
          <a:p>
            <a:r>
              <a:rPr lang="en-IE" sz="1200" b="1" dirty="0">
                <a:solidFill>
                  <a:srgbClr val="7F0055"/>
                </a:solidFill>
                <a:latin typeface="Consolas"/>
              </a:rPr>
              <a:t>public</a:t>
            </a:r>
            <a:r>
              <a:rPr lang="en-IE" sz="1200" b="1" dirty="0">
                <a:solidFill>
                  <a:srgbClr val="000000"/>
                </a:solidFill>
                <a:latin typeface="Consolas"/>
              </a:rPr>
              <a:t> String </a:t>
            </a:r>
            <a:r>
              <a:rPr lang="en-IE" sz="1200" b="1" dirty="0" err="1">
                <a:solidFill>
                  <a:srgbClr val="000000"/>
                </a:solidFill>
                <a:latin typeface="Consolas"/>
              </a:rPr>
              <a:t>getName</a:t>
            </a:r>
            <a:r>
              <a:rPr lang="en-IE" sz="1200" b="1" dirty="0">
                <a:solidFill>
                  <a:srgbClr val="000000"/>
                </a:solidFill>
                <a:latin typeface="Consolas"/>
              </a:rPr>
              <a:t>(){</a:t>
            </a:r>
          </a:p>
          <a:p>
            <a:r>
              <a:rPr lang="en-IE" sz="1200" b="1" dirty="0">
                <a:solidFill>
                  <a:srgbClr val="7F0055"/>
                </a:solidFill>
                <a:latin typeface="Consolas"/>
              </a:rPr>
              <a:t>return</a:t>
            </a:r>
            <a:r>
              <a:rPr lang="en-IE" sz="1200" b="1" dirty="0">
                <a:solidFill>
                  <a:srgbClr val="000000"/>
                </a:solidFill>
                <a:latin typeface="Consolas"/>
              </a:rPr>
              <a:t> (</a:t>
            </a:r>
            <a:r>
              <a:rPr lang="en-IE" sz="1200" b="1" dirty="0" err="1">
                <a:solidFill>
                  <a:srgbClr val="0000C0"/>
                </a:solidFill>
                <a:latin typeface="Consolas"/>
              </a:rPr>
              <a:t>firstNames</a:t>
            </a:r>
            <a:r>
              <a:rPr lang="en-IE" sz="1200" b="1" dirty="0">
                <a:solidFill>
                  <a:srgbClr val="000000"/>
                </a:solidFill>
                <a:latin typeface="Consolas"/>
              </a:rPr>
              <a:t> + </a:t>
            </a:r>
            <a:r>
              <a:rPr lang="en-IE" sz="1200" b="1" dirty="0">
                <a:solidFill>
                  <a:srgbClr val="2A00FF"/>
                </a:solidFill>
                <a:latin typeface="Consolas"/>
              </a:rPr>
              <a:t>" "</a:t>
            </a:r>
            <a:r>
              <a:rPr lang="en-IE" sz="1200" b="1" dirty="0">
                <a:solidFill>
                  <a:srgbClr val="000000"/>
                </a:solidFill>
                <a:latin typeface="Consolas"/>
              </a:rPr>
              <a:t> + </a:t>
            </a:r>
            <a:r>
              <a:rPr lang="en-IE" sz="1200" b="1" dirty="0">
                <a:solidFill>
                  <a:srgbClr val="0000C0"/>
                </a:solidFill>
                <a:latin typeface="Consolas"/>
              </a:rPr>
              <a:t>surname</a:t>
            </a:r>
            <a:r>
              <a:rPr lang="en-IE" sz="1200" b="1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IE" sz="1200" dirty="0">
                <a:solidFill>
                  <a:srgbClr val="000000"/>
                </a:solidFill>
                <a:latin typeface="Consolas"/>
              </a:rPr>
              <a:t>}</a:t>
            </a:r>
          </a:p>
          <a:p>
            <a:r>
              <a:rPr lang="en-IE" sz="1200" b="1" dirty="0">
                <a:solidFill>
                  <a:srgbClr val="7F0055"/>
                </a:solidFill>
                <a:latin typeface="Consolas"/>
              </a:rPr>
              <a:t>public</a:t>
            </a:r>
            <a:r>
              <a:rPr lang="en-IE" sz="12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200" b="1" dirty="0">
                <a:solidFill>
                  <a:srgbClr val="7F0055"/>
                </a:solidFill>
                <a:latin typeface="Consolas"/>
              </a:rPr>
              <a:t>double</a:t>
            </a:r>
            <a:r>
              <a:rPr lang="en-IE" sz="12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200" b="1" dirty="0" err="1">
                <a:solidFill>
                  <a:srgbClr val="000000"/>
                </a:solidFill>
                <a:latin typeface="Consolas"/>
              </a:rPr>
              <a:t>getBalance</a:t>
            </a:r>
            <a:r>
              <a:rPr lang="en-IE" sz="1200" b="1" dirty="0">
                <a:solidFill>
                  <a:srgbClr val="000000"/>
                </a:solidFill>
                <a:latin typeface="Consolas"/>
              </a:rPr>
              <a:t>(){</a:t>
            </a:r>
          </a:p>
          <a:p>
            <a:r>
              <a:rPr lang="en-IE" sz="1200" b="1" dirty="0">
                <a:solidFill>
                  <a:srgbClr val="7F0055"/>
                </a:solidFill>
                <a:latin typeface="Consolas"/>
              </a:rPr>
              <a:t>return</a:t>
            </a:r>
            <a:r>
              <a:rPr lang="en-IE" sz="12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200" b="1" dirty="0">
                <a:solidFill>
                  <a:srgbClr val="0000C0"/>
                </a:solidFill>
                <a:latin typeface="Consolas"/>
              </a:rPr>
              <a:t>balance</a:t>
            </a:r>
            <a:r>
              <a:rPr lang="en-IE" sz="1200" b="1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IE" sz="1200" dirty="0">
                <a:solidFill>
                  <a:srgbClr val="000000"/>
                </a:solidFill>
                <a:latin typeface="Consolas"/>
              </a:rPr>
              <a:t>}</a:t>
            </a:r>
          </a:p>
          <a:p>
            <a:r>
              <a:rPr lang="en-IE" sz="1200" b="1" dirty="0">
                <a:solidFill>
                  <a:srgbClr val="7F0055"/>
                </a:solidFill>
                <a:latin typeface="Consolas"/>
              </a:rPr>
              <a:t>public</a:t>
            </a:r>
            <a:r>
              <a:rPr lang="en-IE" sz="12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200" b="1" dirty="0">
                <a:solidFill>
                  <a:srgbClr val="7F0055"/>
                </a:solidFill>
                <a:latin typeface="Consolas"/>
              </a:rPr>
              <a:t>double</a:t>
            </a:r>
            <a:r>
              <a:rPr lang="en-IE" sz="1200" b="1" dirty="0">
                <a:solidFill>
                  <a:srgbClr val="000000"/>
                </a:solidFill>
                <a:latin typeface="Consolas"/>
              </a:rPr>
              <a:t> withdraw(</a:t>
            </a:r>
            <a:r>
              <a:rPr lang="en-IE" sz="1200" b="1" dirty="0">
                <a:solidFill>
                  <a:srgbClr val="7F0055"/>
                </a:solidFill>
                <a:latin typeface="Consolas"/>
              </a:rPr>
              <a:t>double</a:t>
            </a:r>
            <a:r>
              <a:rPr lang="en-IE" sz="12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200" b="1" dirty="0">
                <a:solidFill>
                  <a:srgbClr val="6A3E3E"/>
                </a:solidFill>
                <a:latin typeface="Consolas"/>
              </a:rPr>
              <a:t>amount</a:t>
            </a:r>
            <a:r>
              <a:rPr lang="en-IE" sz="1200" b="1" dirty="0">
                <a:solidFill>
                  <a:srgbClr val="000000"/>
                </a:solidFill>
                <a:latin typeface="Consolas"/>
              </a:rPr>
              <a:t>){</a:t>
            </a:r>
          </a:p>
          <a:p>
            <a:r>
              <a:rPr lang="en-IE" sz="1200" b="1" dirty="0">
                <a:solidFill>
                  <a:srgbClr val="7F0055"/>
                </a:solidFill>
                <a:latin typeface="Consolas"/>
              </a:rPr>
              <a:t>if</a:t>
            </a:r>
            <a:r>
              <a:rPr lang="en-IE" sz="1200" b="1" dirty="0">
                <a:solidFill>
                  <a:srgbClr val="000000"/>
                </a:solidFill>
                <a:latin typeface="Consolas"/>
              </a:rPr>
              <a:t> ((</a:t>
            </a:r>
            <a:r>
              <a:rPr lang="en-IE" sz="1200" b="1" dirty="0">
                <a:solidFill>
                  <a:srgbClr val="6A3E3E"/>
                </a:solidFill>
                <a:latin typeface="Consolas"/>
              </a:rPr>
              <a:t>amount</a:t>
            </a:r>
            <a:r>
              <a:rPr lang="en-IE" sz="1200" b="1" dirty="0">
                <a:solidFill>
                  <a:srgbClr val="000000"/>
                </a:solidFill>
                <a:latin typeface="Consolas"/>
              </a:rPr>
              <a:t>&gt;0) &amp;&amp; (</a:t>
            </a:r>
            <a:r>
              <a:rPr lang="en-IE" sz="1200" b="1" dirty="0">
                <a:solidFill>
                  <a:srgbClr val="6A3E3E"/>
                </a:solidFill>
                <a:latin typeface="Consolas"/>
              </a:rPr>
              <a:t>amount</a:t>
            </a:r>
            <a:r>
              <a:rPr lang="en-IE" sz="1200" b="1" dirty="0">
                <a:solidFill>
                  <a:srgbClr val="000000"/>
                </a:solidFill>
                <a:latin typeface="Consolas"/>
              </a:rPr>
              <a:t>&lt;=</a:t>
            </a:r>
            <a:r>
              <a:rPr lang="en-IE" sz="1200" b="1" dirty="0">
                <a:solidFill>
                  <a:srgbClr val="0000C0"/>
                </a:solidFill>
                <a:latin typeface="Consolas"/>
              </a:rPr>
              <a:t>balance</a:t>
            </a:r>
            <a:r>
              <a:rPr lang="en-IE" sz="1200" b="1" dirty="0">
                <a:solidFill>
                  <a:srgbClr val="000000"/>
                </a:solidFill>
                <a:latin typeface="Consolas"/>
              </a:rPr>
              <a:t>))</a:t>
            </a:r>
          </a:p>
          <a:p>
            <a:r>
              <a:rPr lang="en-IE" sz="1200" b="1" dirty="0">
                <a:solidFill>
                  <a:srgbClr val="7F0055"/>
                </a:solidFill>
                <a:latin typeface="Consolas"/>
              </a:rPr>
              <a:t>return</a:t>
            </a:r>
            <a:r>
              <a:rPr lang="en-IE" sz="12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200" b="1" dirty="0">
                <a:solidFill>
                  <a:srgbClr val="6A3E3E"/>
                </a:solidFill>
                <a:latin typeface="Consolas"/>
              </a:rPr>
              <a:t>amount</a:t>
            </a:r>
            <a:r>
              <a:rPr lang="en-IE" sz="1200" b="1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IE" sz="1200" b="1" dirty="0">
                <a:solidFill>
                  <a:srgbClr val="7F0055"/>
                </a:solidFill>
                <a:latin typeface="Consolas"/>
              </a:rPr>
              <a:t>else</a:t>
            </a:r>
          </a:p>
          <a:p>
            <a:r>
              <a:rPr lang="en-IE" sz="1200" b="1" dirty="0">
                <a:solidFill>
                  <a:srgbClr val="7F0055"/>
                </a:solidFill>
                <a:latin typeface="Consolas"/>
              </a:rPr>
              <a:t>return</a:t>
            </a:r>
            <a:r>
              <a:rPr lang="en-IE" sz="1200" b="1" dirty="0">
                <a:solidFill>
                  <a:srgbClr val="000000"/>
                </a:solidFill>
                <a:latin typeface="Consolas"/>
              </a:rPr>
              <a:t> 0;</a:t>
            </a:r>
          </a:p>
          <a:p>
            <a:r>
              <a:rPr lang="en-IE" sz="1200" dirty="0">
                <a:solidFill>
                  <a:srgbClr val="000000"/>
                </a:solidFill>
                <a:latin typeface="Consolas"/>
              </a:rPr>
              <a:t>}</a:t>
            </a:r>
          </a:p>
          <a:p>
            <a:r>
              <a:rPr lang="en-IE" sz="1200" b="1" dirty="0">
                <a:solidFill>
                  <a:srgbClr val="7F0055"/>
                </a:solidFill>
                <a:latin typeface="Consolas"/>
              </a:rPr>
              <a:t>public</a:t>
            </a:r>
            <a:r>
              <a:rPr lang="en-IE" sz="12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200" b="1" dirty="0">
                <a:solidFill>
                  <a:srgbClr val="7F0055"/>
                </a:solidFill>
                <a:latin typeface="Consolas"/>
              </a:rPr>
              <a:t>void</a:t>
            </a:r>
            <a:r>
              <a:rPr lang="en-IE" sz="1200" b="1" dirty="0">
                <a:solidFill>
                  <a:srgbClr val="000000"/>
                </a:solidFill>
                <a:latin typeface="Consolas"/>
              </a:rPr>
              <a:t> deposit(</a:t>
            </a:r>
            <a:r>
              <a:rPr lang="en-IE" sz="1200" b="1" dirty="0">
                <a:solidFill>
                  <a:srgbClr val="7F0055"/>
                </a:solidFill>
                <a:latin typeface="Consolas"/>
              </a:rPr>
              <a:t>double</a:t>
            </a:r>
            <a:r>
              <a:rPr lang="en-IE" sz="12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200" b="1" dirty="0">
                <a:solidFill>
                  <a:srgbClr val="6A3E3E"/>
                </a:solidFill>
                <a:latin typeface="Consolas"/>
              </a:rPr>
              <a:t>amount</a:t>
            </a:r>
            <a:r>
              <a:rPr lang="en-IE" sz="1200" b="1" dirty="0">
                <a:solidFill>
                  <a:srgbClr val="000000"/>
                </a:solidFill>
                <a:latin typeface="Consolas"/>
              </a:rPr>
              <a:t>){</a:t>
            </a:r>
          </a:p>
          <a:p>
            <a:r>
              <a:rPr lang="en-IE" sz="1200" b="1" dirty="0">
                <a:solidFill>
                  <a:srgbClr val="7F0055"/>
                </a:solidFill>
                <a:latin typeface="Consolas"/>
              </a:rPr>
              <a:t>if</a:t>
            </a:r>
            <a:r>
              <a:rPr lang="en-IE" sz="1200" b="1" dirty="0">
                <a:solidFill>
                  <a:srgbClr val="000000"/>
                </a:solidFill>
                <a:latin typeface="Consolas"/>
              </a:rPr>
              <a:t> (</a:t>
            </a:r>
            <a:r>
              <a:rPr lang="en-IE" sz="1200" b="1" dirty="0">
                <a:solidFill>
                  <a:srgbClr val="6A3E3E"/>
                </a:solidFill>
                <a:latin typeface="Consolas"/>
              </a:rPr>
              <a:t>amount</a:t>
            </a:r>
            <a:r>
              <a:rPr lang="en-IE" sz="1200" b="1" dirty="0">
                <a:solidFill>
                  <a:srgbClr val="000000"/>
                </a:solidFill>
                <a:latin typeface="Consolas"/>
              </a:rPr>
              <a:t> &gt; 0)</a:t>
            </a:r>
          </a:p>
          <a:p>
            <a:r>
              <a:rPr lang="en-IE" sz="1200" dirty="0">
                <a:solidFill>
                  <a:srgbClr val="0000C0"/>
                </a:solidFill>
                <a:latin typeface="Consolas"/>
              </a:rPr>
              <a:t>balance</a:t>
            </a:r>
            <a:r>
              <a:rPr lang="en-IE" sz="1200" dirty="0">
                <a:solidFill>
                  <a:srgbClr val="000000"/>
                </a:solidFill>
                <a:latin typeface="Consolas"/>
              </a:rPr>
              <a:t> += </a:t>
            </a:r>
            <a:r>
              <a:rPr lang="en-IE" sz="1200" dirty="0">
                <a:solidFill>
                  <a:srgbClr val="6A3E3E"/>
                </a:solidFill>
                <a:latin typeface="Consolas"/>
              </a:rPr>
              <a:t>amount</a:t>
            </a:r>
            <a:r>
              <a:rPr lang="en-IE" sz="12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IE" sz="1200" dirty="0" smtClean="0">
                <a:solidFill>
                  <a:srgbClr val="000000"/>
                </a:solidFill>
                <a:latin typeface="Consolas"/>
              </a:rPr>
              <a:t>}}</a:t>
            </a:r>
            <a:endParaRPr lang="en-IE" sz="1200" dirty="0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altLang="en-US" dirty="0" smtClean="0"/>
              <a:t>Example of Serializable class</a:t>
            </a:r>
          </a:p>
        </p:txBody>
      </p:sp>
    </p:spTree>
    <p:extLst>
      <p:ext uri="{BB962C8B-B14F-4D97-AF65-F5344CB8AC3E}">
        <p14:creationId xmlns:p14="http://schemas.microsoft.com/office/powerpoint/2010/main" val="1602855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altLang="en-US" dirty="0" smtClean="0"/>
              <a:t>Example of Serializable class</a:t>
            </a:r>
          </a:p>
        </p:txBody>
      </p:sp>
      <p:sp>
        <p:nvSpPr>
          <p:cNvPr id="2" name="Rectangle 1"/>
          <p:cNvSpPr/>
          <p:nvPr/>
        </p:nvSpPr>
        <p:spPr>
          <a:xfrm>
            <a:off x="0" y="1720840"/>
            <a:ext cx="9144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E" b="1" dirty="0">
                <a:solidFill>
                  <a:srgbClr val="7F0055"/>
                </a:solidFill>
                <a:latin typeface="Consolas"/>
              </a:rPr>
              <a:t>import</a:t>
            </a:r>
            <a:r>
              <a:rPr lang="en-IE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b="1" dirty="0" err="1">
                <a:solidFill>
                  <a:srgbClr val="000000"/>
                </a:solidFill>
                <a:latin typeface="Consolas"/>
              </a:rPr>
              <a:t>java.rmi</a:t>
            </a:r>
            <a:r>
              <a:rPr lang="en-IE" b="1" dirty="0">
                <a:solidFill>
                  <a:srgbClr val="000000"/>
                </a:solidFill>
                <a:latin typeface="Consolas"/>
              </a:rPr>
              <a:t>.*;</a:t>
            </a:r>
          </a:p>
          <a:p>
            <a:r>
              <a:rPr lang="en-IE" b="1" dirty="0">
                <a:solidFill>
                  <a:srgbClr val="7F0055"/>
                </a:solidFill>
                <a:latin typeface="Consolas"/>
              </a:rPr>
              <a:t>import</a:t>
            </a:r>
            <a:r>
              <a:rPr lang="en-IE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b="1" dirty="0" err="1">
                <a:solidFill>
                  <a:srgbClr val="000000"/>
                </a:solidFill>
                <a:latin typeface="Consolas"/>
              </a:rPr>
              <a:t>java.util.ArrayList</a:t>
            </a:r>
            <a:r>
              <a:rPr lang="en-IE" b="1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IE" b="1" dirty="0">
                <a:solidFill>
                  <a:srgbClr val="7F0055"/>
                </a:solidFill>
                <a:latin typeface="Consolas"/>
              </a:rPr>
              <a:t>public</a:t>
            </a:r>
            <a:r>
              <a:rPr lang="en-IE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b="1" dirty="0">
                <a:solidFill>
                  <a:srgbClr val="7F0055"/>
                </a:solidFill>
                <a:latin typeface="Consolas"/>
              </a:rPr>
              <a:t>interface</a:t>
            </a:r>
            <a:r>
              <a:rPr lang="en-IE" b="1" dirty="0">
                <a:solidFill>
                  <a:srgbClr val="000000"/>
                </a:solidFill>
                <a:latin typeface="Consolas"/>
              </a:rPr>
              <a:t> Bank1 </a:t>
            </a:r>
            <a:r>
              <a:rPr lang="en-IE" b="1" dirty="0">
                <a:solidFill>
                  <a:srgbClr val="7F0055"/>
                </a:solidFill>
                <a:latin typeface="Consolas"/>
              </a:rPr>
              <a:t>extends</a:t>
            </a:r>
            <a:r>
              <a:rPr lang="en-IE" b="1" dirty="0">
                <a:solidFill>
                  <a:srgbClr val="000000"/>
                </a:solidFill>
                <a:latin typeface="Consolas"/>
              </a:rPr>
              <a:t> Remote{</a:t>
            </a:r>
          </a:p>
          <a:p>
            <a:r>
              <a:rPr lang="en-IE" b="1" dirty="0">
                <a:solidFill>
                  <a:srgbClr val="7F0055"/>
                </a:solidFill>
                <a:latin typeface="Consolas"/>
              </a:rPr>
              <a:t>public</a:t>
            </a:r>
            <a:r>
              <a:rPr lang="en-IE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b="1" dirty="0" err="1">
                <a:solidFill>
                  <a:srgbClr val="000000"/>
                </a:solidFill>
                <a:latin typeface="Consolas"/>
              </a:rPr>
              <a:t>ArrayList</a:t>
            </a:r>
            <a:r>
              <a:rPr lang="en-IE" b="1" dirty="0">
                <a:solidFill>
                  <a:srgbClr val="000000"/>
                </a:solidFill>
                <a:latin typeface="Consolas"/>
              </a:rPr>
              <a:t>&lt;Account&gt; </a:t>
            </a:r>
            <a:r>
              <a:rPr lang="en-IE" b="1" dirty="0" err="1">
                <a:solidFill>
                  <a:srgbClr val="000000"/>
                </a:solidFill>
                <a:latin typeface="Consolas"/>
              </a:rPr>
              <a:t>getBankAccounts</a:t>
            </a:r>
            <a:r>
              <a:rPr lang="en-IE" b="1" dirty="0">
                <a:solidFill>
                  <a:srgbClr val="000000"/>
                </a:solidFill>
                <a:latin typeface="Consolas"/>
              </a:rPr>
              <a:t>() </a:t>
            </a:r>
            <a:r>
              <a:rPr lang="en-IE" b="1" dirty="0">
                <a:solidFill>
                  <a:srgbClr val="7F0055"/>
                </a:solidFill>
                <a:latin typeface="Consolas"/>
              </a:rPr>
              <a:t>throws</a:t>
            </a:r>
            <a:r>
              <a:rPr lang="en-IE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b="1" dirty="0" err="1">
                <a:solidFill>
                  <a:srgbClr val="000000"/>
                </a:solidFill>
                <a:latin typeface="Consolas"/>
              </a:rPr>
              <a:t>RemoteException</a:t>
            </a:r>
            <a:r>
              <a:rPr lang="en-IE" b="1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IE" dirty="0">
                <a:solidFill>
                  <a:srgbClr val="000000"/>
                </a:solidFill>
                <a:latin typeface="Consolas"/>
              </a:rPr>
              <a:t>}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951825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altLang="en-US" dirty="0" smtClean="0"/>
              <a:t>Example of Serializable class</a:t>
            </a:r>
          </a:p>
        </p:txBody>
      </p:sp>
      <p:sp>
        <p:nvSpPr>
          <p:cNvPr id="4" name="Rectangle 3"/>
          <p:cNvSpPr/>
          <p:nvPr/>
        </p:nvSpPr>
        <p:spPr>
          <a:xfrm>
            <a:off x="-22860" y="1219200"/>
            <a:ext cx="9144000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E" sz="1800" b="1" dirty="0">
                <a:solidFill>
                  <a:srgbClr val="7F0055"/>
                </a:solidFill>
                <a:latin typeface="Consolas"/>
              </a:rPr>
              <a:t>import</a:t>
            </a:r>
            <a:r>
              <a:rPr lang="en-IE" sz="18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800" b="1" dirty="0" err="1">
                <a:solidFill>
                  <a:srgbClr val="000000"/>
                </a:solidFill>
                <a:latin typeface="Consolas"/>
              </a:rPr>
              <a:t>java.rmi</a:t>
            </a:r>
            <a:r>
              <a:rPr lang="en-IE" sz="1800" b="1" dirty="0">
                <a:solidFill>
                  <a:srgbClr val="000000"/>
                </a:solidFill>
                <a:latin typeface="Consolas"/>
              </a:rPr>
              <a:t>.*;</a:t>
            </a:r>
          </a:p>
          <a:p>
            <a:r>
              <a:rPr lang="en-IE" sz="1800" b="1" dirty="0">
                <a:solidFill>
                  <a:srgbClr val="7F0055"/>
                </a:solidFill>
                <a:latin typeface="Consolas"/>
              </a:rPr>
              <a:t>import</a:t>
            </a:r>
            <a:r>
              <a:rPr lang="en-IE" sz="18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800" b="1" dirty="0" err="1">
                <a:solidFill>
                  <a:srgbClr val="000000"/>
                </a:solidFill>
                <a:latin typeface="Consolas"/>
              </a:rPr>
              <a:t>java.rmi.server</a:t>
            </a:r>
            <a:r>
              <a:rPr lang="en-IE" sz="1800" b="1" dirty="0">
                <a:solidFill>
                  <a:srgbClr val="000000"/>
                </a:solidFill>
                <a:latin typeface="Consolas"/>
              </a:rPr>
              <a:t>.*;</a:t>
            </a:r>
          </a:p>
          <a:p>
            <a:r>
              <a:rPr lang="en-IE" sz="1800" b="1" dirty="0">
                <a:solidFill>
                  <a:srgbClr val="7F0055"/>
                </a:solidFill>
                <a:latin typeface="Consolas"/>
              </a:rPr>
              <a:t>import</a:t>
            </a:r>
            <a:r>
              <a:rPr lang="en-IE" sz="18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800" b="1" dirty="0" err="1">
                <a:solidFill>
                  <a:srgbClr val="000000"/>
                </a:solidFill>
                <a:latin typeface="Consolas"/>
              </a:rPr>
              <a:t>java.util.ArrayList</a:t>
            </a:r>
            <a:r>
              <a:rPr lang="en-IE" sz="1800" b="1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IE" sz="1800" b="1" dirty="0">
                <a:solidFill>
                  <a:srgbClr val="7F0055"/>
                </a:solidFill>
                <a:latin typeface="Consolas"/>
              </a:rPr>
              <a:t>public</a:t>
            </a:r>
            <a:r>
              <a:rPr lang="en-IE" sz="18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800" b="1" dirty="0">
                <a:solidFill>
                  <a:srgbClr val="7F0055"/>
                </a:solidFill>
                <a:latin typeface="Consolas"/>
              </a:rPr>
              <a:t>class</a:t>
            </a:r>
            <a:r>
              <a:rPr lang="en-IE" sz="18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800" b="1" u="sng" dirty="0">
                <a:solidFill>
                  <a:srgbClr val="000000"/>
                </a:solidFill>
                <a:latin typeface="Consolas"/>
              </a:rPr>
              <a:t>Bank1Impl </a:t>
            </a:r>
            <a:r>
              <a:rPr lang="en-IE" sz="1800" b="1" u="sng" dirty="0">
                <a:solidFill>
                  <a:srgbClr val="7F0055"/>
                </a:solidFill>
                <a:latin typeface="Consolas"/>
              </a:rPr>
              <a:t>extends</a:t>
            </a:r>
            <a:r>
              <a:rPr lang="en-IE" sz="1800" b="1" u="sng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800" b="1" u="sng" dirty="0" err="1">
                <a:solidFill>
                  <a:srgbClr val="000000"/>
                </a:solidFill>
                <a:latin typeface="Consolas"/>
              </a:rPr>
              <a:t>UnicastRemoteObject</a:t>
            </a:r>
            <a:r>
              <a:rPr lang="en-IE" sz="1800" b="1" u="sng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800" b="1" u="sng" dirty="0">
                <a:solidFill>
                  <a:srgbClr val="7F0055"/>
                </a:solidFill>
                <a:latin typeface="Consolas"/>
              </a:rPr>
              <a:t>implements</a:t>
            </a:r>
            <a:r>
              <a:rPr lang="en-IE" sz="1800" b="1" u="sng" dirty="0">
                <a:solidFill>
                  <a:srgbClr val="000000"/>
                </a:solidFill>
                <a:latin typeface="Consolas"/>
              </a:rPr>
              <a:t> Bank1 {</a:t>
            </a:r>
          </a:p>
          <a:p>
            <a:r>
              <a:rPr lang="en-IE" sz="1800" dirty="0">
                <a:solidFill>
                  <a:srgbClr val="3F7F5F"/>
                </a:solidFill>
                <a:latin typeface="Consolas"/>
              </a:rPr>
              <a:t>//Declare the </a:t>
            </a:r>
            <a:r>
              <a:rPr lang="en-IE" sz="1800" dirty="0" err="1">
                <a:solidFill>
                  <a:srgbClr val="3F7F5F"/>
                </a:solidFill>
                <a:latin typeface="Consolas"/>
              </a:rPr>
              <a:t>ArrayList</a:t>
            </a:r>
            <a:r>
              <a:rPr lang="en-IE" sz="1800" dirty="0">
                <a:solidFill>
                  <a:srgbClr val="3F7F5F"/>
                </a:solidFill>
                <a:latin typeface="Consolas"/>
              </a:rPr>
              <a:t> that will hold Account objects…</a:t>
            </a:r>
          </a:p>
          <a:p>
            <a:r>
              <a:rPr lang="en-IE" sz="1800" b="1" dirty="0">
                <a:solidFill>
                  <a:srgbClr val="7F0055"/>
                </a:solidFill>
                <a:latin typeface="Consolas"/>
              </a:rPr>
              <a:t>private</a:t>
            </a:r>
            <a:r>
              <a:rPr lang="en-IE" sz="18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800" b="1" dirty="0" err="1">
                <a:solidFill>
                  <a:srgbClr val="000000"/>
                </a:solidFill>
                <a:latin typeface="Consolas"/>
              </a:rPr>
              <a:t>ArrayList</a:t>
            </a:r>
            <a:r>
              <a:rPr lang="en-IE" sz="1800" b="1" dirty="0">
                <a:solidFill>
                  <a:srgbClr val="000000"/>
                </a:solidFill>
                <a:latin typeface="Consolas"/>
              </a:rPr>
              <a:t>&lt;Account&gt; </a:t>
            </a:r>
            <a:r>
              <a:rPr lang="en-IE" sz="1800" b="1" dirty="0" err="1">
                <a:solidFill>
                  <a:srgbClr val="0000C0"/>
                </a:solidFill>
                <a:latin typeface="Consolas"/>
              </a:rPr>
              <a:t>acctInfo</a:t>
            </a:r>
            <a:r>
              <a:rPr lang="en-IE" sz="1800" b="1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IE" sz="1800" dirty="0">
                <a:solidFill>
                  <a:srgbClr val="3F7F5F"/>
                </a:solidFill>
                <a:latin typeface="Consolas"/>
              </a:rPr>
              <a:t>//The constructor must be supplied with an </a:t>
            </a:r>
            <a:r>
              <a:rPr lang="en-IE" sz="1800" dirty="0" err="1">
                <a:solidFill>
                  <a:srgbClr val="3F7F5F"/>
                </a:solidFill>
                <a:latin typeface="Consolas"/>
              </a:rPr>
              <a:t>ArrayList</a:t>
            </a:r>
            <a:r>
              <a:rPr lang="en-IE" sz="1800" dirty="0">
                <a:solidFill>
                  <a:srgbClr val="3F7F5F"/>
                </a:solidFill>
                <a:latin typeface="Consolas"/>
              </a:rPr>
              <a:t> of Account objects…</a:t>
            </a:r>
          </a:p>
          <a:p>
            <a:r>
              <a:rPr lang="en-IE" sz="1800" b="1" dirty="0">
                <a:solidFill>
                  <a:srgbClr val="7F0055"/>
                </a:solidFill>
                <a:latin typeface="Consolas"/>
              </a:rPr>
              <a:t>public</a:t>
            </a:r>
            <a:r>
              <a:rPr lang="en-IE" sz="1800" b="1" dirty="0">
                <a:solidFill>
                  <a:srgbClr val="000000"/>
                </a:solidFill>
                <a:latin typeface="Consolas"/>
              </a:rPr>
              <a:t> Bank1Impl(</a:t>
            </a:r>
            <a:r>
              <a:rPr lang="en-IE" sz="1800" b="1" dirty="0" err="1">
                <a:solidFill>
                  <a:srgbClr val="000000"/>
                </a:solidFill>
                <a:latin typeface="Consolas"/>
              </a:rPr>
              <a:t>ArrayList</a:t>
            </a:r>
            <a:r>
              <a:rPr lang="en-IE" sz="1800" b="1" dirty="0">
                <a:solidFill>
                  <a:srgbClr val="000000"/>
                </a:solidFill>
                <a:latin typeface="Consolas"/>
              </a:rPr>
              <a:t>&lt;Account&gt; </a:t>
            </a:r>
            <a:r>
              <a:rPr lang="en-IE" sz="1800" b="1" dirty="0" err="1">
                <a:solidFill>
                  <a:srgbClr val="6A3E3E"/>
                </a:solidFill>
                <a:latin typeface="Consolas"/>
              </a:rPr>
              <a:t>acctVals</a:t>
            </a:r>
            <a:r>
              <a:rPr lang="en-IE" sz="1800" b="1" dirty="0">
                <a:solidFill>
                  <a:srgbClr val="000000"/>
                </a:solidFill>
                <a:latin typeface="Consolas"/>
              </a:rPr>
              <a:t>)</a:t>
            </a:r>
            <a:r>
              <a:rPr lang="en-IE" sz="1800" b="1" dirty="0">
                <a:solidFill>
                  <a:srgbClr val="7F0055"/>
                </a:solidFill>
                <a:latin typeface="Consolas"/>
              </a:rPr>
              <a:t>throws</a:t>
            </a:r>
            <a:r>
              <a:rPr lang="en-IE" sz="18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800" b="1" dirty="0" err="1">
                <a:solidFill>
                  <a:srgbClr val="000000"/>
                </a:solidFill>
                <a:latin typeface="Consolas"/>
              </a:rPr>
              <a:t>RemoteException</a:t>
            </a:r>
            <a:r>
              <a:rPr lang="en-IE" sz="1800" b="1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IE" sz="1800" dirty="0" err="1">
                <a:solidFill>
                  <a:srgbClr val="0000C0"/>
                </a:solidFill>
                <a:latin typeface="Consolas"/>
              </a:rPr>
              <a:t>acctInfo</a:t>
            </a:r>
            <a:r>
              <a:rPr lang="en-IE" sz="18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IE" sz="1800" dirty="0" err="1">
                <a:solidFill>
                  <a:srgbClr val="6A3E3E"/>
                </a:solidFill>
                <a:latin typeface="Consolas"/>
              </a:rPr>
              <a:t>acctVals</a:t>
            </a:r>
            <a:r>
              <a:rPr lang="en-IE" sz="18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IE" sz="1800" dirty="0">
                <a:solidFill>
                  <a:srgbClr val="000000"/>
                </a:solidFill>
                <a:latin typeface="Consolas"/>
              </a:rPr>
              <a:t>}</a:t>
            </a:r>
          </a:p>
          <a:p>
            <a:r>
              <a:rPr lang="en-IE" sz="1800" b="1" dirty="0">
                <a:solidFill>
                  <a:srgbClr val="7F0055"/>
                </a:solidFill>
                <a:latin typeface="Consolas"/>
              </a:rPr>
              <a:t>public</a:t>
            </a:r>
            <a:r>
              <a:rPr lang="en-IE" sz="18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800" b="1" dirty="0" err="1">
                <a:solidFill>
                  <a:srgbClr val="000000"/>
                </a:solidFill>
                <a:latin typeface="Consolas"/>
              </a:rPr>
              <a:t>ArrayList</a:t>
            </a:r>
            <a:r>
              <a:rPr lang="en-IE" sz="1800" b="1" dirty="0">
                <a:solidFill>
                  <a:srgbClr val="000000"/>
                </a:solidFill>
                <a:latin typeface="Consolas"/>
              </a:rPr>
              <a:t>&lt;Account&gt; </a:t>
            </a:r>
            <a:r>
              <a:rPr lang="en-IE" sz="1800" b="1" dirty="0" err="1">
                <a:solidFill>
                  <a:srgbClr val="000000"/>
                </a:solidFill>
                <a:latin typeface="Consolas"/>
              </a:rPr>
              <a:t>getBankAccounts</a:t>
            </a:r>
            <a:r>
              <a:rPr lang="en-IE" sz="1800" b="1" dirty="0">
                <a:solidFill>
                  <a:srgbClr val="000000"/>
                </a:solidFill>
                <a:latin typeface="Consolas"/>
              </a:rPr>
              <a:t>() </a:t>
            </a:r>
            <a:r>
              <a:rPr lang="en-IE" sz="1800" b="1" dirty="0">
                <a:solidFill>
                  <a:srgbClr val="7F0055"/>
                </a:solidFill>
                <a:latin typeface="Consolas"/>
              </a:rPr>
              <a:t>throws</a:t>
            </a:r>
            <a:r>
              <a:rPr lang="en-IE" sz="18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800" b="1" dirty="0" err="1">
                <a:solidFill>
                  <a:srgbClr val="000000"/>
                </a:solidFill>
                <a:latin typeface="Consolas"/>
              </a:rPr>
              <a:t>RemoteException</a:t>
            </a:r>
            <a:r>
              <a:rPr lang="en-IE" sz="1800" b="1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IE" sz="1800" b="1" dirty="0">
                <a:solidFill>
                  <a:srgbClr val="7F0055"/>
                </a:solidFill>
                <a:latin typeface="Consolas"/>
              </a:rPr>
              <a:t>return</a:t>
            </a:r>
            <a:r>
              <a:rPr lang="en-IE" sz="18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800" b="1" dirty="0" err="1">
                <a:solidFill>
                  <a:srgbClr val="0000C0"/>
                </a:solidFill>
                <a:latin typeface="Consolas"/>
              </a:rPr>
              <a:t>acctInfo</a:t>
            </a:r>
            <a:r>
              <a:rPr lang="en-IE" sz="1800" b="1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IE" sz="1800" dirty="0">
                <a:solidFill>
                  <a:srgbClr val="000000"/>
                </a:solidFill>
                <a:latin typeface="Consolas"/>
              </a:rPr>
              <a:t>}</a:t>
            </a:r>
          </a:p>
          <a:p>
            <a:r>
              <a:rPr lang="en-IE" sz="1800" dirty="0">
                <a:solidFill>
                  <a:srgbClr val="000000"/>
                </a:solidFill>
                <a:latin typeface="Consolas"/>
              </a:rPr>
              <a:t>}</a:t>
            </a:r>
            <a:endParaRPr lang="en-IE" sz="1800" dirty="0"/>
          </a:p>
        </p:txBody>
      </p:sp>
    </p:spTree>
    <p:extLst>
      <p:ext uri="{BB962C8B-B14F-4D97-AF65-F5344CB8AC3E}">
        <p14:creationId xmlns:p14="http://schemas.microsoft.com/office/powerpoint/2010/main" val="1349071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altLang="en-US" dirty="0" smtClean="0"/>
              <a:t>Example of Serializable class</a:t>
            </a:r>
          </a:p>
        </p:txBody>
      </p:sp>
      <p:sp>
        <p:nvSpPr>
          <p:cNvPr id="2" name="Rectangle 1"/>
          <p:cNvSpPr/>
          <p:nvPr/>
        </p:nvSpPr>
        <p:spPr>
          <a:xfrm>
            <a:off x="0" y="1066800"/>
            <a:ext cx="9144000" cy="54784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E" sz="1400" b="1" dirty="0">
                <a:solidFill>
                  <a:srgbClr val="7F0055"/>
                </a:solidFill>
                <a:latin typeface="Consolas"/>
              </a:rPr>
              <a:t>import</a:t>
            </a:r>
            <a:r>
              <a:rPr lang="en-IE" sz="14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400" b="1" dirty="0" err="1">
                <a:solidFill>
                  <a:srgbClr val="000000"/>
                </a:solidFill>
                <a:latin typeface="Consolas"/>
              </a:rPr>
              <a:t>java.rmi</a:t>
            </a:r>
            <a:r>
              <a:rPr lang="en-IE" sz="1400" b="1" dirty="0">
                <a:solidFill>
                  <a:srgbClr val="000000"/>
                </a:solidFill>
                <a:latin typeface="Consolas"/>
              </a:rPr>
              <a:t>.*;</a:t>
            </a:r>
          </a:p>
          <a:p>
            <a:r>
              <a:rPr lang="en-IE" sz="1400" b="1" dirty="0">
                <a:solidFill>
                  <a:srgbClr val="7F0055"/>
                </a:solidFill>
                <a:latin typeface="Consolas"/>
              </a:rPr>
              <a:t>import</a:t>
            </a:r>
            <a:r>
              <a:rPr lang="en-IE" sz="14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400" b="1" dirty="0" err="1">
                <a:solidFill>
                  <a:srgbClr val="000000"/>
                </a:solidFill>
                <a:latin typeface="Consolas"/>
              </a:rPr>
              <a:t>java.rmi.registry.LocateRegistry</a:t>
            </a:r>
            <a:r>
              <a:rPr lang="en-IE" sz="1400" b="1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IE" sz="1400" b="1" dirty="0">
                <a:solidFill>
                  <a:srgbClr val="7F0055"/>
                </a:solidFill>
                <a:latin typeface="Consolas"/>
              </a:rPr>
              <a:t>import</a:t>
            </a:r>
            <a:r>
              <a:rPr lang="en-IE" sz="14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400" b="1" dirty="0" err="1">
                <a:solidFill>
                  <a:srgbClr val="000000"/>
                </a:solidFill>
                <a:latin typeface="Consolas"/>
              </a:rPr>
              <a:t>java.util.ArrayList</a:t>
            </a:r>
            <a:r>
              <a:rPr lang="en-IE" sz="1400" b="1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IE" sz="1400" b="1" dirty="0">
                <a:solidFill>
                  <a:srgbClr val="7F0055"/>
                </a:solidFill>
                <a:latin typeface="Consolas"/>
              </a:rPr>
              <a:t>public</a:t>
            </a:r>
            <a:r>
              <a:rPr lang="en-IE" sz="14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400" b="1" dirty="0">
                <a:solidFill>
                  <a:srgbClr val="7F0055"/>
                </a:solidFill>
                <a:latin typeface="Consolas"/>
              </a:rPr>
              <a:t>class</a:t>
            </a:r>
            <a:r>
              <a:rPr lang="en-IE" sz="1400" b="1" dirty="0">
                <a:solidFill>
                  <a:srgbClr val="000000"/>
                </a:solidFill>
                <a:latin typeface="Consolas"/>
              </a:rPr>
              <a:t> Bank1Server{</a:t>
            </a:r>
          </a:p>
          <a:p>
            <a:r>
              <a:rPr lang="en-IE" sz="1400" b="1" dirty="0">
                <a:solidFill>
                  <a:srgbClr val="7F0055"/>
                </a:solidFill>
                <a:latin typeface="Consolas"/>
              </a:rPr>
              <a:t>private</a:t>
            </a:r>
            <a:r>
              <a:rPr lang="en-IE" sz="14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400" b="1" dirty="0">
                <a:solidFill>
                  <a:srgbClr val="7F0055"/>
                </a:solidFill>
                <a:latin typeface="Consolas"/>
              </a:rPr>
              <a:t>static</a:t>
            </a:r>
            <a:r>
              <a:rPr lang="en-IE" sz="14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400" b="1" dirty="0">
                <a:solidFill>
                  <a:srgbClr val="7F0055"/>
                </a:solidFill>
                <a:latin typeface="Consolas"/>
              </a:rPr>
              <a:t>final</a:t>
            </a:r>
            <a:r>
              <a:rPr lang="en-IE" sz="1400" b="1" dirty="0">
                <a:solidFill>
                  <a:srgbClr val="000000"/>
                </a:solidFill>
                <a:latin typeface="Consolas"/>
              </a:rPr>
              <a:t> String </a:t>
            </a:r>
            <a:r>
              <a:rPr lang="en-IE" sz="1400" b="1" i="1" dirty="0">
                <a:solidFill>
                  <a:srgbClr val="0000C0"/>
                </a:solidFill>
                <a:latin typeface="Consolas"/>
              </a:rPr>
              <a:t>HOST</a:t>
            </a:r>
            <a:r>
              <a:rPr lang="en-IE" sz="1400" b="1" i="1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IE" sz="1400" b="1" i="1" dirty="0">
                <a:solidFill>
                  <a:srgbClr val="2A00FF"/>
                </a:solidFill>
                <a:latin typeface="Consolas"/>
              </a:rPr>
              <a:t>"localhost:2020"</a:t>
            </a:r>
            <a:r>
              <a:rPr lang="en-IE" sz="1400" b="1" i="1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IE" sz="1400" b="1" dirty="0">
                <a:solidFill>
                  <a:srgbClr val="7F0055"/>
                </a:solidFill>
                <a:latin typeface="Consolas"/>
              </a:rPr>
              <a:t>public</a:t>
            </a:r>
            <a:r>
              <a:rPr lang="en-IE" sz="14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400" b="1" dirty="0">
                <a:solidFill>
                  <a:srgbClr val="7F0055"/>
                </a:solidFill>
                <a:latin typeface="Consolas"/>
              </a:rPr>
              <a:t>static</a:t>
            </a:r>
            <a:r>
              <a:rPr lang="en-IE" sz="14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400" b="1" dirty="0">
                <a:solidFill>
                  <a:srgbClr val="7F0055"/>
                </a:solidFill>
                <a:latin typeface="Consolas"/>
              </a:rPr>
              <a:t>void</a:t>
            </a:r>
            <a:r>
              <a:rPr lang="en-IE" sz="1400" b="1" dirty="0">
                <a:solidFill>
                  <a:srgbClr val="000000"/>
                </a:solidFill>
                <a:latin typeface="Consolas"/>
              </a:rPr>
              <a:t> main(String[] </a:t>
            </a:r>
            <a:r>
              <a:rPr lang="en-IE" sz="1400" b="1" dirty="0" err="1">
                <a:solidFill>
                  <a:srgbClr val="6A3E3E"/>
                </a:solidFill>
                <a:latin typeface="Consolas"/>
              </a:rPr>
              <a:t>args</a:t>
            </a:r>
            <a:r>
              <a:rPr lang="en-IE" sz="1400" b="1" dirty="0">
                <a:solidFill>
                  <a:srgbClr val="000000"/>
                </a:solidFill>
                <a:latin typeface="Consolas"/>
              </a:rPr>
              <a:t>) </a:t>
            </a:r>
            <a:r>
              <a:rPr lang="en-IE" sz="1400" b="1" dirty="0">
                <a:solidFill>
                  <a:srgbClr val="7F0055"/>
                </a:solidFill>
                <a:latin typeface="Consolas"/>
              </a:rPr>
              <a:t>throws</a:t>
            </a:r>
            <a:r>
              <a:rPr lang="en-IE" sz="1400" b="1" dirty="0">
                <a:solidFill>
                  <a:srgbClr val="000000"/>
                </a:solidFill>
                <a:latin typeface="Consolas"/>
              </a:rPr>
              <a:t> Exception{</a:t>
            </a:r>
          </a:p>
          <a:p>
            <a:r>
              <a:rPr lang="en-IE" sz="1400" dirty="0">
                <a:solidFill>
                  <a:srgbClr val="3F7F5F"/>
                </a:solidFill>
                <a:latin typeface="Consolas"/>
              </a:rPr>
              <a:t>//Create an </a:t>
            </a:r>
            <a:r>
              <a:rPr lang="en-IE" sz="1400" u="sng" dirty="0">
                <a:solidFill>
                  <a:srgbClr val="3F7F5F"/>
                </a:solidFill>
                <a:latin typeface="Consolas"/>
              </a:rPr>
              <a:t>initialised array of four Account objects…</a:t>
            </a:r>
          </a:p>
          <a:p>
            <a:r>
              <a:rPr lang="en-IE" sz="1400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en-IE" sz="1400" dirty="0" err="1">
                <a:solidFill>
                  <a:srgbClr val="000000"/>
                </a:solidFill>
                <a:latin typeface="Consolas"/>
              </a:rPr>
              <a:t>LocateRegistry.</a:t>
            </a:r>
            <a:r>
              <a:rPr lang="en-IE" sz="1400" i="1" dirty="0" err="1">
                <a:solidFill>
                  <a:srgbClr val="000000"/>
                </a:solidFill>
                <a:latin typeface="Consolas"/>
              </a:rPr>
              <a:t>createRegistry</a:t>
            </a:r>
            <a:r>
              <a:rPr lang="en-IE" sz="1400" i="1" dirty="0">
                <a:solidFill>
                  <a:srgbClr val="000000"/>
                </a:solidFill>
                <a:latin typeface="Consolas"/>
              </a:rPr>
              <a:t>(2020);</a:t>
            </a:r>
          </a:p>
          <a:p>
            <a:endParaRPr lang="en-IE" sz="1400" dirty="0">
              <a:latin typeface="Consolas"/>
            </a:endParaRPr>
          </a:p>
          <a:p>
            <a:r>
              <a:rPr lang="en-IE" sz="1400" dirty="0">
                <a:solidFill>
                  <a:srgbClr val="000000"/>
                </a:solidFill>
                <a:latin typeface="Consolas"/>
              </a:rPr>
              <a:t>Account[] </a:t>
            </a:r>
            <a:r>
              <a:rPr lang="en-IE" sz="1400" dirty="0">
                <a:solidFill>
                  <a:srgbClr val="6A3E3E"/>
                </a:solidFill>
                <a:latin typeface="Consolas"/>
              </a:rPr>
              <a:t>account</a:t>
            </a:r>
            <a:r>
              <a:rPr lang="en-IE" sz="1400" dirty="0">
                <a:solidFill>
                  <a:srgbClr val="000000"/>
                </a:solidFill>
                <a:latin typeface="Consolas"/>
              </a:rPr>
              <a:t> = {</a:t>
            </a:r>
            <a:r>
              <a:rPr lang="en-IE" sz="1400" b="1" dirty="0">
                <a:solidFill>
                  <a:srgbClr val="7F0055"/>
                </a:solidFill>
                <a:latin typeface="Consolas"/>
              </a:rPr>
              <a:t>new</a:t>
            </a:r>
            <a:r>
              <a:rPr lang="en-IE" sz="1400" b="1" dirty="0">
                <a:solidFill>
                  <a:srgbClr val="000000"/>
                </a:solidFill>
                <a:latin typeface="Consolas"/>
              </a:rPr>
              <a:t> Account(111111,</a:t>
            </a:r>
            <a:r>
              <a:rPr lang="en-IE" sz="1400" b="1" dirty="0">
                <a:solidFill>
                  <a:srgbClr val="2A00FF"/>
                </a:solidFill>
                <a:latin typeface="Consolas"/>
              </a:rPr>
              <a:t>"Smith"</a:t>
            </a:r>
            <a:r>
              <a:rPr lang="en-IE" sz="1400" b="1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IE" sz="1400" b="1" dirty="0">
                <a:solidFill>
                  <a:srgbClr val="2A00FF"/>
                </a:solidFill>
                <a:latin typeface="Consolas"/>
              </a:rPr>
              <a:t>"Fred James"</a:t>
            </a:r>
            <a:r>
              <a:rPr lang="en-IE" sz="1400" b="1" dirty="0">
                <a:solidFill>
                  <a:srgbClr val="000000"/>
                </a:solidFill>
                <a:latin typeface="Consolas"/>
              </a:rPr>
              <a:t>,112.58), </a:t>
            </a:r>
            <a:r>
              <a:rPr lang="en-IE" sz="1400" b="1" dirty="0">
                <a:solidFill>
                  <a:srgbClr val="7F0055"/>
                </a:solidFill>
                <a:latin typeface="Consolas"/>
              </a:rPr>
              <a:t>new</a:t>
            </a:r>
            <a:r>
              <a:rPr lang="en-IE" sz="1400" b="1" dirty="0">
                <a:solidFill>
                  <a:srgbClr val="000000"/>
                </a:solidFill>
                <a:latin typeface="Consolas"/>
              </a:rPr>
              <a:t> Account(222222,</a:t>
            </a:r>
            <a:r>
              <a:rPr lang="en-IE" sz="1400" b="1" dirty="0">
                <a:solidFill>
                  <a:srgbClr val="2A00FF"/>
                </a:solidFill>
                <a:latin typeface="Consolas"/>
              </a:rPr>
              <a:t>"Jones"</a:t>
            </a:r>
            <a:r>
              <a:rPr lang="en-IE" sz="1400" b="1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IE" sz="1400" b="1" dirty="0">
                <a:solidFill>
                  <a:srgbClr val="2A00FF"/>
                </a:solidFill>
                <a:latin typeface="Consolas"/>
              </a:rPr>
              <a:t>"Sally"</a:t>
            </a:r>
            <a:r>
              <a:rPr lang="en-IE" sz="1400" b="1" dirty="0">
                <a:solidFill>
                  <a:srgbClr val="000000"/>
                </a:solidFill>
                <a:latin typeface="Consolas"/>
              </a:rPr>
              <a:t>,507.85), </a:t>
            </a:r>
            <a:r>
              <a:rPr lang="en-IE" sz="1400" b="1" dirty="0">
                <a:solidFill>
                  <a:srgbClr val="7F0055"/>
                </a:solidFill>
                <a:latin typeface="Consolas"/>
              </a:rPr>
              <a:t>new</a:t>
            </a:r>
            <a:r>
              <a:rPr lang="en-IE" sz="1400" b="1" dirty="0">
                <a:solidFill>
                  <a:srgbClr val="000000"/>
                </a:solidFill>
                <a:latin typeface="Consolas"/>
              </a:rPr>
              <a:t> Account(234567,</a:t>
            </a:r>
            <a:r>
              <a:rPr lang="en-IE" sz="1400" b="1" dirty="0">
                <a:solidFill>
                  <a:srgbClr val="2A00FF"/>
                </a:solidFill>
                <a:latin typeface="Consolas"/>
              </a:rPr>
              <a:t>"White"</a:t>
            </a:r>
            <a:r>
              <a:rPr lang="en-IE" sz="1400" b="1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IE" sz="1400" b="1" dirty="0">
                <a:solidFill>
                  <a:srgbClr val="2A00FF"/>
                </a:solidFill>
                <a:latin typeface="Consolas"/>
              </a:rPr>
              <a:t>"Mary Jane"</a:t>
            </a:r>
            <a:r>
              <a:rPr lang="en-IE" sz="1400" b="1" dirty="0">
                <a:solidFill>
                  <a:srgbClr val="000000"/>
                </a:solidFill>
                <a:latin typeface="Consolas"/>
              </a:rPr>
              <a:t>,2345.00), </a:t>
            </a:r>
            <a:r>
              <a:rPr lang="en-IE" sz="1400" b="1" dirty="0">
                <a:solidFill>
                  <a:srgbClr val="7F0055"/>
                </a:solidFill>
                <a:latin typeface="Consolas"/>
              </a:rPr>
              <a:t>new</a:t>
            </a:r>
            <a:r>
              <a:rPr lang="en-IE" sz="1400" b="1" dirty="0">
                <a:solidFill>
                  <a:srgbClr val="000000"/>
                </a:solidFill>
                <a:latin typeface="Consolas"/>
              </a:rPr>
              <a:t> Account(666666,</a:t>
            </a:r>
            <a:r>
              <a:rPr lang="en-IE" sz="1400" b="1" dirty="0">
                <a:solidFill>
                  <a:srgbClr val="2A00FF"/>
                </a:solidFill>
                <a:latin typeface="Consolas"/>
              </a:rPr>
              <a:t>"Satan"</a:t>
            </a:r>
            <a:r>
              <a:rPr lang="en-IE" sz="1400" b="1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IE" sz="1400" b="1" dirty="0">
                <a:solidFill>
                  <a:srgbClr val="2A00FF"/>
                </a:solidFill>
                <a:latin typeface="Consolas"/>
              </a:rPr>
              <a:t>"Beelzebub"</a:t>
            </a:r>
            <a:r>
              <a:rPr lang="en-IE" sz="1400" b="1" dirty="0">
                <a:solidFill>
                  <a:srgbClr val="000000"/>
                </a:solidFill>
                <a:latin typeface="Consolas"/>
              </a:rPr>
              <a:t>,666.00)};</a:t>
            </a:r>
          </a:p>
          <a:p>
            <a:r>
              <a:rPr lang="en-IE" sz="1400" dirty="0" err="1">
                <a:solidFill>
                  <a:srgbClr val="000000"/>
                </a:solidFill>
                <a:latin typeface="Consolas"/>
              </a:rPr>
              <a:t>ArrayList</a:t>
            </a:r>
            <a:r>
              <a:rPr lang="en-IE" sz="1400" dirty="0">
                <a:solidFill>
                  <a:srgbClr val="000000"/>
                </a:solidFill>
                <a:latin typeface="Consolas"/>
              </a:rPr>
              <a:t>&lt;Account&gt; </a:t>
            </a:r>
            <a:r>
              <a:rPr lang="en-IE" sz="1400" dirty="0" err="1">
                <a:solidFill>
                  <a:srgbClr val="6A3E3E"/>
                </a:solidFill>
                <a:latin typeface="Consolas"/>
              </a:rPr>
              <a:t>acctDetails</a:t>
            </a:r>
            <a:r>
              <a:rPr lang="en-IE" sz="14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IE" sz="1400" b="1" dirty="0">
                <a:solidFill>
                  <a:srgbClr val="7F0055"/>
                </a:solidFill>
                <a:latin typeface="Consolas"/>
              </a:rPr>
              <a:t>new</a:t>
            </a:r>
            <a:r>
              <a:rPr lang="en-IE" sz="14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400" b="1" dirty="0" err="1">
                <a:solidFill>
                  <a:srgbClr val="000000"/>
                </a:solidFill>
                <a:latin typeface="Consolas"/>
              </a:rPr>
              <a:t>ArrayList</a:t>
            </a:r>
            <a:r>
              <a:rPr lang="en-IE" sz="1400" b="1" dirty="0">
                <a:solidFill>
                  <a:srgbClr val="000000"/>
                </a:solidFill>
                <a:latin typeface="Consolas"/>
              </a:rPr>
              <a:t>&lt;Account&gt;();</a:t>
            </a:r>
          </a:p>
          <a:p>
            <a:r>
              <a:rPr lang="en-IE" sz="1400" dirty="0">
                <a:solidFill>
                  <a:srgbClr val="3F7F5F"/>
                </a:solidFill>
                <a:latin typeface="Consolas"/>
              </a:rPr>
              <a:t>//Insert the Account objects into the </a:t>
            </a:r>
            <a:r>
              <a:rPr lang="en-IE" sz="1400" dirty="0" err="1">
                <a:solidFill>
                  <a:srgbClr val="3F7F5F"/>
                </a:solidFill>
                <a:latin typeface="Consolas"/>
              </a:rPr>
              <a:t>ArrayList</a:t>
            </a:r>
            <a:r>
              <a:rPr lang="en-IE" sz="1400" dirty="0">
                <a:solidFill>
                  <a:srgbClr val="3F7F5F"/>
                </a:solidFill>
                <a:latin typeface="Consolas"/>
              </a:rPr>
              <a:t> …</a:t>
            </a:r>
          </a:p>
          <a:p>
            <a:r>
              <a:rPr lang="en-IE" sz="1400" b="1" dirty="0">
                <a:solidFill>
                  <a:srgbClr val="7F0055"/>
                </a:solidFill>
                <a:latin typeface="Consolas"/>
              </a:rPr>
              <a:t>for</a:t>
            </a:r>
            <a:r>
              <a:rPr lang="en-IE" sz="1400" b="1" dirty="0">
                <a:solidFill>
                  <a:srgbClr val="000000"/>
                </a:solidFill>
                <a:latin typeface="Consolas"/>
              </a:rPr>
              <a:t> (</a:t>
            </a:r>
            <a:r>
              <a:rPr lang="en-IE" sz="1400" b="1" dirty="0" err="1">
                <a:solidFill>
                  <a:srgbClr val="7F0055"/>
                </a:solidFill>
                <a:latin typeface="Consolas"/>
              </a:rPr>
              <a:t>int</a:t>
            </a:r>
            <a:r>
              <a:rPr lang="en-IE" sz="14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400" b="1" dirty="0" err="1">
                <a:solidFill>
                  <a:srgbClr val="6A3E3E"/>
                </a:solidFill>
                <a:latin typeface="Consolas"/>
              </a:rPr>
              <a:t>i</a:t>
            </a:r>
            <a:r>
              <a:rPr lang="en-IE" sz="1400" b="1" dirty="0">
                <a:solidFill>
                  <a:srgbClr val="000000"/>
                </a:solidFill>
                <a:latin typeface="Consolas"/>
              </a:rPr>
              <a:t>=0; </a:t>
            </a:r>
            <a:r>
              <a:rPr lang="en-IE" sz="1400" b="1" dirty="0" err="1">
                <a:solidFill>
                  <a:srgbClr val="6A3E3E"/>
                </a:solidFill>
                <a:latin typeface="Consolas"/>
              </a:rPr>
              <a:t>i</a:t>
            </a:r>
            <a:r>
              <a:rPr lang="en-IE" sz="1400" b="1" dirty="0">
                <a:solidFill>
                  <a:srgbClr val="000000"/>
                </a:solidFill>
                <a:latin typeface="Consolas"/>
              </a:rPr>
              <a:t>&lt;</a:t>
            </a:r>
            <a:r>
              <a:rPr lang="en-IE" sz="1400" b="1" dirty="0" err="1">
                <a:solidFill>
                  <a:srgbClr val="6A3E3E"/>
                </a:solidFill>
                <a:latin typeface="Consolas"/>
              </a:rPr>
              <a:t>account</a:t>
            </a:r>
            <a:r>
              <a:rPr lang="en-IE" sz="1400" b="1" dirty="0" err="1">
                <a:solidFill>
                  <a:srgbClr val="000000"/>
                </a:solidFill>
                <a:latin typeface="Consolas"/>
              </a:rPr>
              <a:t>.</a:t>
            </a:r>
            <a:r>
              <a:rPr lang="en-IE" sz="1400" b="1" dirty="0" err="1">
                <a:solidFill>
                  <a:srgbClr val="0000C0"/>
                </a:solidFill>
                <a:latin typeface="Consolas"/>
              </a:rPr>
              <a:t>length</a:t>
            </a:r>
            <a:r>
              <a:rPr lang="en-IE" sz="1400" b="1" dirty="0">
                <a:solidFill>
                  <a:srgbClr val="000000"/>
                </a:solidFill>
                <a:latin typeface="Consolas"/>
              </a:rPr>
              <a:t>; </a:t>
            </a:r>
            <a:r>
              <a:rPr lang="en-IE" sz="1400" b="1" dirty="0" err="1">
                <a:solidFill>
                  <a:srgbClr val="6A3E3E"/>
                </a:solidFill>
                <a:latin typeface="Consolas"/>
              </a:rPr>
              <a:t>i</a:t>
            </a:r>
            <a:r>
              <a:rPr lang="en-IE" sz="1400" b="1" dirty="0">
                <a:solidFill>
                  <a:srgbClr val="000000"/>
                </a:solidFill>
                <a:latin typeface="Consolas"/>
              </a:rPr>
              <a:t>++)</a:t>
            </a:r>
          </a:p>
          <a:p>
            <a:r>
              <a:rPr lang="en-IE" sz="1400" dirty="0" err="1">
                <a:solidFill>
                  <a:srgbClr val="6A3E3E"/>
                </a:solidFill>
                <a:latin typeface="Consolas"/>
              </a:rPr>
              <a:t>acctDetails</a:t>
            </a:r>
            <a:r>
              <a:rPr lang="en-IE" sz="1400" dirty="0" err="1">
                <a:solidFill>
                  <a:srgbClr val="000000"/>
                </a:solidFill>
                <a:latin typeface="Consolas"/>
              </a:rPr>
              <a:t>.add</a:t>
            </a:r>
            <a:r>
              <a:rPr lang="en-IE" sz="14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IE" sz="1400" dirty="0">
                <a:solidFill>
                  <a:srgbClr val="6A3E3E"/>
                </a:solidFill>
                <a:latin typeface="Consolas"/>
              </a:rPr>
              <a:t>account</a:t>
            </a:r>
            <a:r>
              <a:rPr lang="en-IE" sz="1400" dirty="0">
                <a:solidFill>
                  <a:srgbClr val="000000"/>
                </a:solidFill>
                <a:latin typeface="Consolas"/>
              </a:rPr>
              <a:t>[</a:t>
            </a:r>
            <a:r>
              <a:rPr lang="en-IE" sz="1400" dirty="0" err="1">
                <a:solidFill>
                  <a:srgbClr val="6A3E3E"/>
                </a:solidFill>
                <a:latin typeface="Consolas"/>
              </a:rPr>
              <a:t>i</a:t>
            </a:r>
            <a:r>
              <a:rPr lang="en-IE" sz="1400" dirty="0">
                <a:solidFill>
                  <a:srgbClr val="000000"/>
                </a:solidFill>
                <a:latin typeface="Consolas"/>
              </a:rPr>
              <a:t>]);</a:t>
            </a:r>
          </a:p>
          <a:p>
            <a:r>
              <a:rPr lang="en-IE" sz="1400" dirty="0">
                <a:solidFill>
                  <a:srgbClr val="3F7F5F"/>
                </a:solidFill>
                <a:latin typeface="Consolas"/>
              </a:rPr>
              <a:t>//Create an implementation object, passing the</a:t>
            </a:r>
          </a:p>
          <a:p>
            <a:r>
              <a:rPr lang="en-IE" sz="1400" dirty="0">
                <a:solidFill>
                  <a:srgbClr val="3F7F5F"/>
                </a:solidFill>
                <a:latin typeface="Consolas"/>
              </a:rPr>
              <a:t>//above </a:t>
            </a:r>
            <a:r>
              <a:rPr lang="en-IE" sz="1400" dirty="0" err="1">
                <a:solidFill>
                  <a:srgbClr val="3F7F5F"/>
                </a:solidFill>
                <a:latin typeface="Consolas"/>
              </a:rPr>
              <a:t>ArrayList</a:t>
            </a:r>
            <a:r>
              <a:rPr lang="en-IE" sz="1400" dirty="0">
                <a:solidFill>
                  <a:srgbClr val="3F7F5F"/>
                </a:solidFill>
                <a:latin typeface="Consolas"/>
              </a:rPr>
              <a:t> to the constructor…</a:t>
            </a:r>
          </a:p>
          <a:p>
            <a:r>
              <a:rPr lang="en-IE" sz="1400" dirty="0">
                <a:solidFill>
                  <a:srgbClr val="000000"/>
                </a:solidFill>
                <a:latin typeface="Consolas"/>
              </a:rPr>
              <a:t>Bank1Impl </a:t>
            </a:r>
            <a:r>
              <a:rPr lang="en-IE" sz="1400" dirty="0">
                <a:solidFill>
                  <a:srgbClr val="6A3E3E"/>
                </a:solidFill>
                <a:latin typeface="Consolas"/>
              </a:rPr>
              <a:t>temp</a:t>
            </a:r>
            <a:r>
              <a:rPr lang="en-IE" sz="14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IE" sz="1400" b="1" dirty="0">
                <a:solidFill>
                  <a:srgbClr val="7F0055"/>
                </a:solidFill>
                <a:latin typeface="Consolas"/>
              </a:rPr>
              <a:t>new</a:t>
            </a:r>
            <a:r>
              <a:rPr lang="en-IE" sz="1400" b="1" dirty="0">
                <a:solidFill>
                  <a:srgbClr val="000000"/>
                </a:solidFill>
                <a:latin typeface="Consolas"/>
              </a:rPr>
              <a:t> Bank1Impl(</a:t>
            </a:r>
            <a:r>
              <a:rPr lang="en-IE" sz="1400" b="1" dirty="0" err="1">
                <a:solidFill>
                  <a:srgbClr val="6A3E3E"/>
                </a:solidFill>
                <a:latin typeface="Consolas"/>
              </a:rPr>
              <a:t>acctDetails</a:t>
            </a:r>
            <a:r>
              <a:rPr lang="en-IE" sz="1400" b="1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IE" sz="1400" dirty="0">
                <a:solidFill>
                  <a:srgbClr val="3F7F5F"/>
                </a:solidFill>
                <a:latin typeface="Consolas"/>
              </a:rPr>
              <a:t>//Save the object's name in a String …</a:t>
            </a:r>
          </a:p>
          <a:p>
            <a:r>
              <a:rPr lang="en-IE" sz="1400" dirty="0">
                <a:solidFill>
                  <a:srgbClr val="000000"/>
                </a:solidFill>
                <a:latin typeface="Consolas"/>
              </a:rPr>
              <a:t>String </a:t>
            </a:r>
            <a:r>
              <a:rPr lang="en-IE" sz="1400" dirty="0" err="1">
                <a:solidFill>
                  <a:srgbClr val="6A3E3E"/>
                </a:solidFill>
                <a:latin typeface="Consolas"/>
              </a:rPr>
              <a:t>rmiObjectName</a:t>
            </a:r>
            <a:r>
              <a:rPr lang="en-IE" sz="14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IE" sz="1400" dirty="0">
                <a:solidFill>
                  <a:srgbClr val="2A00FF"/>
                </a:solidFill>
                <a:latin typeface="Consolas"/>
              </a:rPr>
              <a:t>"</a:t>
            </a:r>
            <a:r>
              <a:rPr lang="en-IE" sz="1400" dirty="0" err="1">
                <a:solidFill>
                  <a:srgbClr val="2A00FF"/>
                </a:solidFill>
                <a:latin typeface="Consolas"/>
              </a:rPr>
              <a:t>rmi</a:t>
            </a:r>
            <a:r>
              <a:rPr lang="en-IE" sz="1400" dirty="0">
                <a:solidFill>
                  <a:srgbClr val="2A00FF"/>
                </a:solidFill>
                <a:latin typeface="Consolas"/>
              </a:rPr>
              <a:t>://"</a:t>
            </a:r>
            <a:r>
              <a:rPr lang="en-IE" sz="1400" dirty="0">
                <a:solidFill>
                  <a:srgbClr val="000000"/>
                </a:solidFill>
                <a:latin typeface="Consolas"/>
              </a:rPr>
              <a:t> + </a:t>
            </a:r>
            <a:r>
              <a:rPr lang="en-IE" sz="1400" b="1" i="1" dirty="0">
                <a:solidFill>
                  <a:srgbClr val="0000C0"/>
                </a:solidFill>
                <a:latin typeface="Consolas"/>
              </a:rPr>
              <a:t>HOST</a:t>
            </a:r>
            <a:r>
              <a:rPr lang="en-IE" sz="1400" b="1" i="1" dirty="0">
                <a:solidFill>
                  <a:srgbClr val="000000"/>
                </a:solidFill>
                <a:latin typeface="Consolas"/>
              </a:rPr>
              <a:t> + </a:t>
            </a:r>
            <a:r>
              <a:rPr lang="en-IE" sz="1400" b="1" i="1" dirty="0">
                <a:solidFill>
                  <a:srgbClr val="2A00FF"/>
                </a:solidFill>
                <a:latin typeface="Consolas"/>
              </a:rPr>
              <a:t>"/Accounts"</a:t>
            </a:r>
            <a:r>
              <a:rPr lang="en-IE" sz="1400" b="1" i="1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IE" sz="1400" dirty="0" err="1">
                <a:solidFill>
                  <a:srgbClr val="000000"/>
                </a:solidFill>
                <a:latin typeface="Consolas"/>
              </a:rPr>
              <a:t>Naming.</a:t>
            </a:r>
            <a:r>
              <a:rPr lang="en-IE" sz="1400" i="1" dirty="0" err="1">
                <a:solidFill>
                  <a:srgbClr val="000000"/>
                </a:solidFill>
                <a:latin typeface="Consolas"/>
              </a:rPr>
              <a:t>rebind</a:t>
            </a:r>
            <a:r>
              <a:rPr lang="en-IE" sz="1400" i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IE" sz="1400" i="1" dirty="0" err="1">
                <a:solidFill>
                  <a:srgbClr val="6A3E3E"/>
                </a:solidFill>
                <a:latin typeface="Consolas"/>
              </a:rPr>
              <a:t>rmiObjectName</a:t>
            </a:r>
            <a:r>
              <a:rPr lang="en-IE" sz="1400" i="1" dirty="0" err="1">
                <a:solidFill>
                  <a:srgbClr val="000000"/>
                </a:solidFill>
                <a:latin typeface="Consolas"/>
              </a:rPr>
              <a:t>,</a:t>
            </a:r>
            <a:r>
              <a:rPr lang="en-IE" sz="1400" i="1" dirty="0" err="1">
                <a:solidFill>
                  <a:srgbClr val="6A3E3E"/>
                </a:solidFill>
                <a:latin typeface="Consolas"/>
              </a:rPr>
              <a:t>temp</a:t>
            </a:r>
            <a:r>
              <a:rPr lang="en-IE" sz="1400" i="1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IE" sz="1400" dirty="0" err="1">
                <a:solidFill>
                  <a:srgbClr val="000000"/>
                </a:solidFill>
                <a:latin typeface="Consolas"/>
              </a:rPr>
              <a:t>System.</a:t>
            </a:r>
            <a:r>
              <a:rPr lang="en-IE" sz="1400" b="1" i="1" dirty="0" err="1">
                <a:solidFill>
                  <a:srgbClr val="0000C0"/>
                </a:solidFill>
                <a:latin typeface="Consolas"/>
              </a:rPr>
              <a:t>out</a:t>
            </a:r>
            <a:r>
              <a:rPr lang="en-IE" sz="1400" b="1" i="1" dirty="0" err="1">
                <a:solidFill>
                  <a:srgbClr val="000000"/>
                </a:solidFill>
                <a:latin typeface="Consolas"/>
              </a:rPr>
              <a:t>.println</a:t>
            </a:r>
            <a:r>
              <a:rPr lang="en-IE" sz="1400" b="1" i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IE" sz="1400" b="1" i="1" dirty="0">
                <a:solidFill>
                  <a:srgbClr val="2A00FF"/>
                </a:solidFill>
                <a:latin typeface="Consolas"/>
              </a:rPr>
              <a:t>"Binding complete…\n"</a:t>
            </a:r>
            <a:r>
              <a:rPr lang="en-IE" sz="1400" b="1" i="1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IE" sz="1400" dirty="0">
                <a:solidFill>
                  <a:srgbClr val="000000"/>
                </a:solidFill>
                <a:latin typeface="Consolas"/>
              </a:rPr>
              <a:t>}</a:t>
            </a:r>
          </a:p>
          <a:p>
            <a:r>
              <a:rPr lang="en-IE" sz="1400" dirty="0">
                <a:solidFill>
                  <a:srgbClr val="000000"/>
                </a:solidFill>
                <a:latin typeface="Consolas"/>
              </a:rPr>
              <a:t>}</a:t>
            </a:r>
            <a:endParaRPr lang="en-IE" sz="1400" dirty="0"/>
          </a:p>
        </p:txBody>
      </p:sp>
    </p:spTree>
    <p:extLst>
      <p:ext uri="{BB962C8B-B14F-4D97-AF65-F5344CB8AC3E}">
        <p14:creationId xmlns:p14="http://schemas.microsoft.com/office/powerpoint/2010/main" val="2574033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altLang="en-US" dirty="0" smtClean="0"/>
              <a:t>Example of Serializable class</a:t>
            </a:r>
          </a:p>
        </p:txBody>
      </p:sp>
      <p:sp>
        <p:nvSpPr>
          <p:cNvPr id="3" name="Rectangle 2"/>
          <p:cNvSpPr/>
          <p:nvPr/>
        </p:nvSpPr>
        <p:spPr>
          <a:xfrm>
            <a:off x="11430" y="1066800"/>
            <a:ext cx="91440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E" sz="1200" b="1" dirty="0">
                <a:solidFill>
                  <a:srgbClr val="7F0055"/>
                </a:solidFill>
                <a:latin typeface="Consolas"/>
              </a:rPr>
              <a:t>import</a:t>
            </a:r>
            <a:r>
              <a:rPr lang="en-IE" sz="12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200" b="1" dirty="0" err="1">
                <a:solidFill>
                  <a:srgbClr val="000000"/>
                </a:solidFill>
                <a:latin typeface="Consolas"/>
              </a:rPr>
              <a:t>java.rmi</a:t>
            </a:r>
            <a:r>
              <a:rPr lang="en-IE" sz="1200" b="1" dirty="0">
                <a:solidFill>
                  <a:srgbClr val="000000"/>
                </a:solidFill>
                <a:latin typeface="Consolas"/>
              </a:rPr>
              <a:t>.*;</a:t>
            </a:r>
          </a:p>
          <a:p>
            <a:r>
              <a:rPr lang="en-IE" sz="1200" b="1" dirty="0">
                <a:solidFill>
                  <a:srgbClr val="7F0055"/>
                </a:solidFill>
                <a:latin typeface="Consolas"/>
              </a:rPr>
              <a:t>import</a:t>
            </a:r>
            <a:r>
              <a:rPr lang="en-IE" sz="12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200" b="1" dirty="0" err="1">
                <a:solidFill>
                  <a:srgbClr val="000000"/>
                </a:solidFill>
                <a:latin typeface="Consolas"/>
              </a:rPr>
              <a:t>java.util.ArrayList</a:t>
            </a:r>
            <a:r>
              <a:rPr lang="en-IE" sz="1200" b="1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IE" sz="1200" b="1" dirty="0">
                <a:solidFill>
                  <a:srgbClr val="7F0055"/>
                </a:solidFill>
                <a:latin typeface="Consolas"/>
              </a:rPr>
              <a:t>public</a:t>
            </a:r>
            <a:r>
              <a:rPr lang="en-IE" sz="12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200" b="1" dirty="0">
                <a:solidFill>
                  <a:srgbClr val="7F0055"/>
                </a:solidFill>
                <a:latin typeface="Consolas"/>
              </a:rPr>
              <a:t>class</a:t>
            </a:r>
            <a:r>
              <a:rPr lang="en-IE" sz="1200" b="1" dirty="0">
                <a:solidFill>
                  <a:srgbClr val="000000"/>
                </a:solidFill>
                <a:latin typeface="Consolas"/>
              </a:rPr>
              <a:t> Bank1Client{</a:t>
            </a:r>
          </a:p>
          <a:p>
            <a:r>
              <a:rPr lang="en-IE" sz="1200" b="1" dirty="0">
                <a:solidFill>
                  <a:srgbClr val="7F0055"/>
                </a:solidFill>
                <a:latin typeface="Consolas"/>
              </a:rPr>
              <a:t>private</a:t>
            </a:r>
            <a:r>
              <a:rPr lang="en-IE" sz="12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200" b="1" dirty="0">
                <a:solidFill>
                  <a:srgbClr val="7F0055"/>
                </a:solidFill>
                <a:latin typeface="Consolas"/>
              </a:rPr>
              <a:t>static</a:t>
            </a:r>
            <a:r>
              <a:rPr lang="en-IE" sz="12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200" b="1" dirty="0">
                <a:solidFill>
                  <a:srgbClr val="7F0055"/>
                </a:solidFill>
                <a:latin typeface="Consolas"/>
              </a:rPr>
              <a:t>final</a:t>
            </a:r>
            <a:r>
              <a:rPr lang="en-IE" sz="1200" b="1" dirty="0">
                <a:solidFill>
                  <a:srgbClr val="000000"/>
                </a:solidFill>
                <a:latin typeface="Consolas"/>
              </a:rPr>
              <a:t> String </a:t>
            </a:r>
            <a:r>
              <a:rPr lang="en-IE" sz="1200" b="1" i="1" dirty="0">
                <a:solidFill>
                  <a:srgbClr val="0000C0"/>
                </a:solidFill>
                <a:latin typeface="Consolas"/>
              </a:rPr>
              <a:t>HOST</a:t>
            </a:r>
            <a:r>
              <a:rPr lang="en-IE" sz="1200" b="1" i="1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IE" sz="1200" b="1" i="1" dirty="0">
                <a:solidFill>
                  <a:srgbClr val="2A00FF"/>
                </a:solidFill>
                <a:latin typeface="Consolas"/>
              </a:rPr>
              <a:t>"localhost:2020"</a:t>
            </a:r>
            <a:r>
              <a:rPr lang="en-IE" sz="1200" b="1" i="1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IE" sz="1200" b="1" dirty="0">
                <a:solidFill>
                  <a:srgbClr val="7F0055"/>
                </a:solidFill>
                <a:latin typeface="Consolas"/>
              </a:rPr>
              <a:t>public</a:t>
            </a:r>
            <a:r>
              <a:rPr lang="en-IE" sz="12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200" b="1" dirty="0">
                <a:solidFill>
                  <a:srgbClr val="7F0055"/>
                </a:solidFill>
                <a:latin typeface="Consolas"/>
              </a:rPr>
              <a:t>static</a:t>
            </a:r>
            <a:r>
              <a:rPr lang="en-IE" sz="12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200" b="1" dirty="0">
                <a:solidFill>
                  <a:srgbClr val="7F0055"/>
                </a:solidFill>
                <a:latin typeface="Consolas"/>
              </a:rPr>
              <a:t>void</a:t>
            </a:r>
            <a:r>
              <a:rPr lang="en-IE" sz="1200" b="1" dirty="0">
                <a:solidFill>
                  <a:srgbClr val="000000"/>
                </a:solidFill>
                <a:latin typeface="Consolas"/>
              </a:rPr>
              <a:t> main(String[] </a:t>
            </a:r>
            <a:r>
              <a:rPr lang="en-IE" sz="1200" b="1" dirty="0" err="1">
                <a:solidFill>
                  <a:srgbClr val="6A3E3E"/>
                </a:solidFill>
                <a:latin typeface="Consolas"/>
              </a:rPr>
              <a:t>args</a:t>
            </a:r>
            <a:r>
              <a:rPr lang="en-IE" sz="1200" b="1" dirty="0">
                <a:solidFill>
                  <a:srgbClr val="000000"/>
                </a:solidFill>
                <a:latin typeface="Consolas"/>
              </a:rPr>
              <a:t>){</a:t>
            </a:r>
          </a:p>
          <a:p>
            <a:r>
              <a:rPr lang="en-IE" sz="1200" b="1" dirty="0">
                <a:solidFill>
                  <a:srgbClr val="7F0055"/>
                </a:solidFill>
                <a:latin typeface="Consolas"/>
              </a:rPr>
              <a:t>try</a:t>
            </a:r>
            <a:r>
              <a:rPr lang="en-IE" sz="1200" b="1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IE" sz="1200" dirty="0">
                <a:solidFill>
                  <a:srgbClr val="3F7F5F"/>
                </a:solidFill>
                <a:latin typeface="Consolas"/>
              </a:rPr>
              <a:t>//Obtain a reference to the object from the</a:t>
            </a:r>
          </a:p>
          <a:p>
            <a:r>
              <a:rPr lang="en-IE" sz="1200" dirty="0">
                <a:solidFill>
                  <a:srgbClr val="3F7F5F"/>
                </a:solidFill>
                <a:latin typeface="Consolas"/>
              </a:rPr>
              <a:t>//registry and </a:t>
            </a:r>
            <a:r>
              <a:rPr lang="en-IE" sz="1200" u="sng" dirty="0">
                <a:solidFill>
                  <a:srgbClr val="3F7F5F"/>
                </a:solidFill>
                <a:latin typeface="Consolas"/>
              </a:rPr>
              <a:t>typecast it into the appropriate</a:t>
            </a:r>
          </a:p>
          <a:p>
            <a:r>
              <a:rPr lang="en-IE" sz="1200" dirty="0">
                <a:solidFill>
                  <a:srgbClr val="3F7F5F"/>
                </a:solidFill>
                <a:latin typeface="Consolas"/>
              </a:rPr>
              <a:t>//type…</a:t>
            </a:r>
          </a:p>
          <a:p>
            <a:r>
              <a:rPr lang="en-IE" sz="1200" dirty="0">
                <a:solidFill>
                  <a:srgbClr val="000000"/>
                </a:solidFill>
                <a:latin typeface="Consolas"/>
              </a:rPr>
              <a:t>Bank1 </a:t>
            </a:r>
            <a:r>
              <a:rPr lang="en-IE" sz="1200" dirty="0">
                <a:solidFill>
                  <a:srgbClr val="6A3E3E"/>
                </a:solidFill>
                <a:latin typeface="Consolas"/>
              </a:rPr>
              <a:t>temp</a:t>
            </a:r>
            <a:r>
              <a:rPr lang="en-IE" sz="1200" dirty="0">
                <a:solidFill>
                  <a:srgbClr val="000000"/>
                </a:solidFill>
                <a:latin typeface="Consolas"/>
              </a:rPr>
              <a:t> = (Bank1)</a:t>
            </a:r>
            <a:r>
              <a:rPr lang="en-IE" sz="1200" dirty="0" err="1">
                <a:solidFill>
                  <a:srgbClr val="000000"/>
                </a:solidFill>
                <a:latin typeface="Consolas"/>
              </a:rPr>
              <a:t>Naming.</a:t>
            </a:r>
            <a:r>
              <a:rPr lang="en-IE" sz="1200" i="1" dirty="0" err="1">
                <a:solidFill>
                  <a:srgbClr val="000000"/>
                </a:solidFill>
                <a:latin typeface="Consolas"/>
              </a:rPr>
              <a:t>lookup</a:t>
            </a:r>
            <a:r>
              <a:rPr lang="en-IE" sz="1200" i="1" dirty="0">
                <a:solidFill>
                  <a:srgbClr val="000000"/>
                </a:solidFill>
                <a:latin typeface="Consolas"/>
              </a:rPr>
              <a:t>( </a:t>
            </a:r>
            <a:r>
              <a:rPr lang="en-IE" sz="1200" i="1" dirty="0">
                <a:solidFill>
                  <a:srgbClr val="2A00FF"/>
                </a:solidFill>
                <a:latin typeface="Consolas"/>
              </a:rPr>
              <a:t>"</a:t>
            </a:r>
            <a:r>
              <a:rPr lang="en-IE" sz="1200" i="1" dirty="0" err="1">
                <a:solidFill>
                  <a:srgbClr val="2A00FF"/>
                </a:solidFill>
                <a:latin typeface="Consolas"/>
              </a:rPr>
              <a:t>rmi</a:t>
            </a:r>
            <a:r>
              <a:rPr lang="en-IE" sz="1200" i="1" dirty="0">
                <a:solidFill>
                  <a:srgbClr val="2A00FF"/>
                </a:solidFill>
                <a:latin typeface="Consolas"/>
              </a:rPr>
              <a:t>://"</a:t>
            </a:r>
            <a:r>
              <a:rPr lang="en-IE" sz="1200" i="1" dirty="0">
                <a:solidFill>
                  <a:srgbClr val="000000"/>
                </a:solidFill>
                <a:latin typeface="Consolas"/>
              </a:rPr>
              <a:t> + </a:t>
            </a:r>
            <a:r>
              <a:rPr lang="en-IE" sz="1200" b="1" i="1" dirty="0">
                <a:solidFill>
                  <a:srgbClr val="0000C0"/>
                </a:solidFill>
                <a:latin typeface="Consolas"/>
              </a:rPr>
              <a:t>HOST</a:t>
            </a:r>
            <a:r>
              <a:rPr lang="en-IE" sz="1200" b="1" i="1" dirty="0">
                <a:solidFill>
                  <a:srgbClr val="000000"/>
                </a:solidFill>
                <a:latin typeface="Consolas"/>
              </a:rPr>
              <a:t> + </a:t>
            </a:r>
            <a:r>
              <a:rPr lang="en-IE" sz="1200" b="1" i="1" dirty="0">
                <a:solidFill>
                  <a:srgbClr val="2A00FF"/>
                </a:solidFill>
                <a:latin typeface="Consolas"/>
              </a:rPr>
              <a:t>"/Accounts"</a:t>
            </a:r>
            <a:r>
              <a:rPr lang="en-IE" sz="1200" b="1" i="1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IE" sz="1200" dirty="0" err="1">
                <a:solidFill>
                  <a:srgbClr val="000000"/>
                </a:solidFill>
                <a:latin typeface="Consolas"/>
              </a:rPr>
              <a:t>ArrayList</a:t>
            </a:r>
            <a:r>
              <a:rPr lang="en-IE" sz="1200" dirty="0">
                <a:solidFill>
                  <a:srgbClr val="000000"/>
                </a:solidFill>
                <a:latin typeface="Consolas"/>
              </a:rPr>
              <a:t>&lt;Account&gt; </a:t>
            </a:r>
            <a:r>
              <a:rPr lang="en-IE" sz="1200" dirty="0" err="1">
                <a:solidFill>
                  <a:srgbClr val="6A3E3E"/>
                </a:solidFill>
                <a:latin typeface="Consolas"/>
              </a:rPr>
              <a:t>acctDetails</a:t>
            </a:r>
            <a:r>
              <a:rPr lang="en-IE" sz="12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IE" sz="1200" dirty="0" err="1">
                <a:solidFill>
                  <a:srgbClr val="6A3E3E"/>
                </a:solidFill>
                <a:latin typeface="Consolas"/>
              </a:rPr>
              <a:t>temp</a:t>
            </a:r>
            <a:r>
              <a:rPr lang="en-IE" sz="1200" dirty="0" err="1">
                <a:solidFill>
                  <a:srgbClr val="000000"/>
                </a:solidFill>
                <a:latin typeface="Consolas"/>
              </a:rPr>
              <a:t>.getBankAccounts</a:t>
            </a:r>
            <a:r>
              <a:rPr lang="en-IE" sz="1200" dirty="0">
                <a:solidFill>
                  <a:srgbClr val="000000"/>
                </a:solidFill>
                <a:latin typeface="Consolas"/>
              </a:rPr>
              <a:t>();</a:t>
            </a:r>
          </a:p>
          <a:p>
            <a:r>
              <a:rPr lang="en-IE" sz="1200" dirty="0">
                <a:solidFill>
                  <a:srgbClr val="3F7F5F"/>
                </a:solidFill>
                <a:latin typeface="Consolas"/>
              </a:rPr>
              <a:t>//Simply display all </a:t>
            </a:r>
            <a:r>
              <a:rPr lang="en-IE" sz="1200" u="sng" dirty="0">
                <a:solidFill>
                  <a:srgbClr val="3F7F5F"/>
                </a:solidFill>
                <a:latin typeface="Consolas"/>
              </a:rPr>
              <a:t>acct details…</a:t>
            </a:r>
          </a:p>
          <a:p>
            <a:r>
              <a:rPr lang="en-IE" sz="1200" b="1" dirty="0">
                <a:solidFill>
                  <a:srgbClr val="7F0055"/>
                </a:solidFill>
                <a:latin typeface="Consolas"/>
              </a:rPr>
              <a:t>for</a:t>
            </a:r>
            <a:r>
              <a:rPr lang="en-IE" sz="1200" b="1" dirty="0">
                <a:solidFill>
                  <a:srgbClr val="000000"/>
                </a:solidFill>
                <a:latin typeface="Consolas"/>
              </a:rPr>
              <a:t> (</a:t>
            </a:r>
            <a:r>
              <a:rPr lang="en-IE" sz="1200" b="1" dirty="0" err="1">
                <a:solidFill>
                  <a:srgbClr val="7F0055"/>
                </a:solidFill>
                <a:latin typeface="Consolas"/>
              </a:rPr>
              <a:t>int</a:t>
            </a:r>
            <a:r>
              <a:rPr lang="en-IE" sz="12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200" b="1" dirty="0" err="1">
                <a:solidFill>
                  <a:srgbClr val="6A3E3E"/>
                </a:solidFill>
                <a:latin typeface="Consolas"/>
              </a:rPr>
              <a:t>i</a:t>
            </a:r>
            <a:r>
              <a:rPr lang="en-IE" sz="1200" b="1" dirty="0">
                <a:solidFill>
                  <a:srgbClr val="000000"/>
                </a:solidFill>
                <a:latin typeface="Consolas"/>
              </a:rPr>
              <a:t>=0; </a:t>
            </a:r>
            <a:r>
              <a:rPr lang="en-IE" sz="1200" b="1" dirty="0" err="1">
                <a:solidFill>
                  <a:srgbClr val="6A3E3E"/>
                </a:solidFill>
                <a:latin typeface="Consolas"/>
              </a:rPr>
              <a:t>i</a:t>
            </a:r>
            <a:r>
              <a:rPr lang="en-IE" sz="1200" b="1" dirty="0">
                <a:solidFill>
                  <a:srgbClr val="000000"/>
                </a:solidFill>
                <a:latin typeface="Consolas"/>
              </a:rPr>
              <a:t>&lt;</a:t>
            </a:r>
            <a:r>
              <a:rPr lang="en-IE" sz="1200" b="1" dirty="0" err="1">
                <a:solidFill>
                  <a:srgbClr val="6A3E3E"/>
                </a:solidFill>
                <a:latin typeface="Consolas"/>
              </a:rPr>
              <a:t>acctDetails</a:t>
            </a:r>
            <a:r>
              <a:rPr lang="en-IE" sz="1200" b="1" dirty="0" err="1">
                <a:solidFill>
                  <a:srgbClr val="000000"/>
                </a:solidFill>
                <a:latin typeface="Consolas"/>
              </a:rPr>
              <a:t>.size</a:t>
            </a:r>
            <a:r>
              <a:rPr lang="en-IE" sz="1200" b="1" dirty="0">
                <a:solidFill>
                  <a:srgbClr val="000000"/>
                </a:solidFill>
                <a:latin typeface="Consolas"/>
              </a:rPr>
              <a:t>(); </a:t>
            </a:r>
            <a:r>
              <a:rPr lang="en-IE" sz="1200" b="1" dirty="0" err="1">
                <a:solidFill>
                  <a:srgbClr val="6A3E3E"/>
                </a:solidFill>
                <a:latin typeface="Consolas"/>
              </a:rPr>
              <a:t>i</a:t>
            </a:r>
            <a:r>
              <a:rPr lang="en-IE" sz="1200" b="1" dirty="0">
                <a:solidFill>
                  <a:srgbClr val="000000"/>
                </a:solidFill>
                <a:latin typeface="Consolas"/>
              </a:rPr>
              <a:t>++){</a:t>
            </a:r>
          </a:p>
          <a:p>
            <a:r>
              <a:rPr lang="en-IE" sz="1200" dirty="0">
                <a:solidFill>
                  <a:srgbClr val="3F7F5F"/>
                </a:solidFill>
                <a:latin typeface="Consolas"/>
              </a:rPr>
              <a:t>//Retrieve an Account object from the </a:t>
            </a:r>
            <a:r>
              <a:rPr lang="en-IE" sz="1200" dirty="0" err="1">
                <a:solidFill>
                  <a:srgbClr val="3F7F5F"/>
                </a:solidFill>
                <a:latin typeface="Consolas"/>
              </a:rPr>
              <a:t>ArrayList</a:t>
            </a:r>
            <a:r>
              <a:rPr lang="en-IE" sz="1200" dirty="0">
                <a:solidFill>
                  <a:srgbClr val="3F7F5F"/>
                </a:solidFill>
                <a:latin typeface="Consolas"/>
              </a:rPr>
              <a:t> …</a:t>
            </a:r>
          </a:p>
          <a:p>
            <a:r>
              <a:rPr lang="en-IE" sz="1200" dirty="0">
                <a:solidFill>
                  <a:srgbClr val="000000"/>
                </a:solidFill>
                <a:latin typeface="Consolas"/>
              </a:rPr>
              <a:t>Account </a:t>
            </a:r>
            <a:r>
              <a:rPr lang="en-IE" sz="1200" dirty="0">
                <a:solidFill>
                  <a:srgbClr val="6A3E3E"/>
                </a:solidFill>
                <a:latin typeface="Consolas"/>
              </a:rPr>
              <a:t>acct</a:t>
            </a:r>
            <a:r>
              <a:rPr lang="en-IE" sz="12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IE" sz="1200" dirty="0" err="1">
                <a:solidFill>
                  <a:srgbClr val="6A3E3E"/>
                </a:solidFill>
                <a:latin typeface="Consolas"/>
              </a:rPr>
              <a:t>acctDetails</a:t>
            </a:r>
            <a:r>
              <a:rPr lang="en-IE" sz="1200" dirty="0" err="1">
                <a:solidFill>
                  <a:srgbClr val="000000"/>
                </a:solidFill>
                <a:latin typeface="Consolas"/>
              </a:rPr>
              <a:t>.get</a:t>
            </a:r>
            <a:r>
              <a:rPr lang="en-IE" sz="12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IE" sz="1200" dirty="0" err="1">
                <a:solidFill>
                  <a:srgbClr val="6A3E3E"/>
                </a:solidFill>
                <a:latin typeface="Consolas"/>
              </a:rPr>
              <a:t>i</a:t>
            </a:r>
            <a:r>
              <a:rPr lang="en-IE" sz="12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IE" sz="1200" dirty="0">
                <a:solidFill>
                  <a:srgbClr val="3F7F5F"/>
                </a:solidFill>
                <a:latin typeface="Consolas"/>
              </a:rPr>
              <a:t>//Now invoke methods of Account object</a:t>
            </a:r>
          </a:p>
          <a:p>
            <a:r>
              <a:rPr lang="en-IE" sz="1200" dirty="0">
                <a:solidFill>
                  <a:srgbClr val="3F7F5F"/>
                </a:solidFill>
                <a:latin typeface="Consolas"/>
              </a:rPr>
              <a:t>//to display its details…</a:t>
            </a:r>
          </a:p>
          <a:p>
            <a:r>
              <a:rPr lang="en-IE" sz="1200" dirty="0" err="1">
                <a:solidFill>
                  <a:srgbClr val="000000"/>
                </a:solidFill>
                <a:latin typeface="Consolas"/>
              </a:rPr>
              <a:t>System.</a:t>
            </a:r>
            <a:r>
              <a:rPr lang="en-IE" sz="1200" b="1" i="1" dirty="0" err="1">
                <a:solidFill>
                  <a:srgbClr val="0000C0"/>
                </a:solidFill>
                <a:latin typeface="Consolas"/>
              </a:rPr>
              <a:t>out</a:t>
            </a:r>
            <a:r>
              <a:rPr lang="en-IE" sz="1200" b="1" i="1" dirty="0" err="1">
                <a:solidFill>
                  <a:srgbClr val="000000"/>
                </a:solidFill>
                <a:latin typeface="Consolas"/>
              </a:rPr>
              <a:t>.println</a:t>
            </a:r>
            <a:r>
              <a:rPr lang="en-IE" sz="1200" b="1" i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IE" sz="1200" b="1" i="1" dirty="0">
                <a:solidFill>
                  <a:srgbClr val="2A00FF"/>
                </a:solidFill>
                <a:latin typeface="Consolas"/>
              </a:rPr>
              <a:t>"\</a:t>
            </a:r>
            <a:r>
              <a:rPr lang="en-IE" sz="1200" b="1" i="1" dirty="0" err="1">
                <a:solidFill>
                  <a:srgbClr val="2A00FF"/>
                </a:solidFill>
                <a:latin typeface="Consolas"/>
              </a:rPr>
              <a:t>nAccount</a:t>
            </a:r>
            <a:r>
              <a:rPr lang="en-IE" sz="1200" b="1" i="1" dirty="0">
                <a:solidFill>
                  <a:srgbClr val="2A00FF"/>
                </a:solidFill>
                <a:latin typeface="Consolas"/>
              </a:rPr>
              <a:t> number: "</a:t>
            </a:r>
            <a:r>
              <a:rPr lang="en-IE" sz="1200" b="1" i="1" dirty="0">
                <a:solidFill>
                  <a:srgbClr val="000000"/>
                </a:solidFill>
                <a:latin typeface="Consolas"/>
              </a:rPr>
              <a:t> + </a:t>
            </a:r>
            <a:r>
              <a:rPr lang="en-IE" sz="1200" b="1" i="1" dirty="0" err="1">
                <a:solidFill>
                  <a:srgbClr val="6A3E3E"/>
                </a:solidFill>
                <a:latin typeface="Consolas"/>
              </a:rPr>
              <a:t>acct</a:t>
            </a:r>
            <a:r>
              <a:rPr lang="en-IE" sz="1200" b="1" i="1" dirty="0" err="1">
                <a:solidFill>
                  <a:srgbClr val="000000"/>
                </a:solidFill>
                <a:latin typeface="Consolas"/>
              </a:rPr>
              <a:t>.getAcctNum</a:t>
            </a:r>
            <a:r>
              <a:rPr lang="en-IE" sz="1200" b="1" i="1" dirty="0">
                <a:solidFill>
                  <a:srgbClr val="000000"/>
                </a:solidFill>
                <a:latin typeface="Consolas"/>
              </a:rPr>
              <a:t>());</a:t>
            </a:r>
          </a:p>
          <a:p>
            <a:r>
              <a:rPr lang="en-IE" sz="1200" dirty="0" err="1">
                <a:solidFill>
                  <a:srgbClr val="000000"/>
                </a:solidFill>
                <a:latin typeface="Consolas"/>
              </a:rPr>
              <a:t>System.</a:t>
            </a:r>
            <a:r>
              <a:rPr lang="en-IE" sz="1200" b="1" i="1" dirty="0" err="1">
                <a:solidFill>
                  <a:srgbClr val="0000C0"/>
                </a:solidFill>
                <a:latin typeface="Consolas"/>
              </a:rPr>
              <a:t>out</a:t>
            </a:r>
            <a:r>
              <a:rPr lang="en-IE" sz="1200" b="1" i="1" dirty="0" err="1">
                <a:solidFill>
                  <a:srgbClr val="000000"/>
                </a:solidFill>
                <a:latin typeface="Consolas"/>
              </a:rPr>
              <a:t>.println</a:t>
            </a:r>
            <a:r>
              <a:rPr lang="en-IE" sz="1200" b="1" i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IE" sz="1200" b="1" i="1" dirty="0">
                <a:solidFill>
                  <a:srgbClr val="2A00FF"/>
                </a:solidFill>
                <a:latin typeface="Consolas"/>
              </a:rPr>
              <a:t>"Name: "</a:t>
            </a:r>
            <a:r>
              <a:rPr lang="en-IE" sz="1200" b="1" i="1" dirty="0">
                <a:solidFill>
                  <a:srgbClr val="000000"/>
                </a:solidFill>
                <a:latin typeface="Consolas"/>
              </a:rPr>
              <a:t> + </a:t>
            </a:r>
            <a:r>
              <a:rPr lang="en-IE" sz="1200" b="1" i="1" dirty="0" err="1">
                <a:solidFill>
                  <a:srgbClr val="6A3E3E"/>
                </a:solidFill>
                <a:latin typeface="Consolas"/>
              </a:rPr>
              <a:t>acct</a:t>
            </a:r>
            <a:r>
              <a:rPr lang="en-IE" sz="1200" b="1" i="1" dirty="0" err="1">
                <a:solidFill>
                  <a:srgbClr val="000000"/>
                </a:solidFill>
                <a:latin typeface="Consolas"/>
              </a:rPr>
              <a:t>.getName</a:t>
            </a:r>
            <a:r>
              <a:rPr lang="en-IE" sz="1200" b="1" i="1" dirty="0">
                <a:solidFill>
                  <a:srgbClr val="000000"/>
                </a:solidFill>
                <a:latin typeface="Consolas"/>
              </a:rPr>
              <a:t>());</a:t>
            </a:r>
          </a:p>
          <a:p>
            <a:r>
              <a:rPr lang="en-IE" sz="1200" dirty="0" err="1">
                <a:solidFill>
                  <a:srgbClr val="000000"/>
                </a:solidFill>
                <a:latin typeface="Consolas"/>
              </a:rPr>
              <a:t>System.</a:t>
            </a:r>
            <a:r>
              <a:rPr lang="en-IE" sz="1200" b="1" i="1" dirty="0" err="1">
                <a:solidFill>
                  <a:srgbClr val="0000C0"/>
                </a:solidFill>
                <a:latin typeface="Consolas"/>
              </a:rPr>
              <a:t>out</a:t>
            </a:r>
            <a:r>
              <a:rPr lang="en-IE" sz="1200" b="1" i="1" dirty="0" err="1">
                <a:solidFill>
                  <a:srgbClr val="000000"/>
                </a:solidFill>
                <a:latin typeface="Consolas"/>
              </a:rPr>
              <a:t>.println</a:t>
            </a:r>
            <a:r>
              <a:rPr lang="en-IE" sz="1200" b="1" i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IE" sz="1200" b="1" i="1" dirty="0">
                <a:solidFill>
                  <a:srgbClr val="2A00FF"/>
                </a:solidFill>
                <a:latin typeface="Consolas"/>
              </a:rPr>
              <a:t>"Balance: "</a:t>
            </a:r>
            <a:r>
              <a:rPr lang="en-IE" sz="1200" b="1" i="1" dirty="0">
                <a:solidFill>
                  <a:srgbClr val="000000"/>
                </a:solidFill>
                <a:latin typeface="Consolas"/>
              </a:rPr>
              <a:t> + </a:t>
            </a:r>
            <a:r>
              <a:rPr lang="en-IE" sz="1200" b="1" i="1" dirty="0" err="1">
                <a:solidFill>
                  <a:srgbClr val="6A3E3E"/>
                </a:solidFill>
                <a:latin typeface="Consolas"/>
              </a:rPr>
              <a:t>acct</a:t>
            </a:r>
            <a:r>
              <a:rPr lang="en-IE" sz="1200" b="1" i="1" dirty="0" err="1">
                <a:solidFill>
                  <a:srgbClr val="000000"/>
                </a:solidFill>
                <a:latin typeface="Consolas"/>
              </a:rPr>
              <a:t>.getBalance</a:t>
            </a:r>
            <a:r>
              <a:rPr lang="en-IE" sz="1200" b="1" i="1" dirty="0">
                <a:solidFill>
                  <a:srgbClr val="000000"/>
                </a:solidFill>
                <a:latin typeface="Consolas"/>
              </a:rPr>
              <a:t>());</a:t>
            </a:r>
          </a:p>
          <a:p>
            <a:r>
              <a:rPr lang="en-IE" sz="1200" dirty="0">
                <a:solidFill>
                  <a:srgbClr val="000000"/>
                </a:solidFill>
                <a:latin typeface="Consolas"/>
              </a:rPr>
              <a:t>}</a:t>
            </a:r>
          </a:p>
          <a:p>
            <a:r>
              <a:rPr lang="en-IE" sz="1200" dirty="0">
                <a:solidFill>
                  <a:srgbClr val="000000"/>
                </a:solidFill>
                <a:latin typeface="Consolas"/>
              </a:rPr>
              <a:t>}</a:t>
            </a:r>
          </a:p>
          <a:p>
            <a:r>
              <a:rPr lang="en-IE" sz="1200" b="1" dirty="0">
                <a:solidFill>
                  <a:srgbClr val="7F0055"/>
                </a:solidFill>
                <a:latin typeface="Consolas"/>
              </a:rPr>
              <a:t>catch</a:t>
            </a:r>
            <a:r>
              <a:rPr lang="en-IE" sz="1200" b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IE" sz="1200" b="1" dirty="0" err="1">
                <a:solidFill>
                  <a:srgbClr val="000000"/>
                </a:solidFill>
                <a:latin typeface="Consolas"/>
              </a:rPr>
              <a:t>ConnectException</a:t>
            </a:r>
            <a:r>
              <a:rPr lang="en-IE" sz="12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200" b="1" dirty="0" err="1">
                <a:solidFill>
                  <a:srgbClr val="6A3E3E"/>
                </a:solidFill>
                <a:latin typeface="Consolas"/>
              </a:rPr>
              <a:t>conEx</a:t>
            </a:r>
            <a:r>
              <a:rPr lang="en-IE" sz="1200" b="1" dirty="0">
                <a:solidFill>
                  <a:srgbClr val="000000"/>
                </a:solidFill>
                <a:latin typeface="Consolas"/>
              </a:rPr>
              <a:t>){</a:t>
            </a:r>
          </a:p>
          <a:p>
            <a:r>
              <a:rPr lang="en-IE" sz="1200" dirty="0" err="1">
                <a:solidFill>
                  <a:srgbClr val="000000"/>
                </a:solidFill>
                <a:latin typeface="Consolas"/>
              </a:rPr>
              <a:t>System.</a:t>
            </a:r>
            <a:r>
              <a:rPr lang="en-IE" sz="1200" b="1" i="1" dirty="0" err="1">
                <a:solidFill>
                  <a:srgbClr val="0000C0"/>
                </a:solidFill>
                <a:latin typeface="Consolas"/>
              </a:rPr>
              <a:t>out</a:t>
            </a:r>
            <a:r>
              <a:rPr lang="en-IE" sz="1200" b="1" i="1" dirty="0" err="1">
                <a:solidFill>
                  <a:srgbClr val="000000"/>
                </a:solidFill>
                <a:latin typeface="Consolas"/>
              </a:rPr>
              <a:t>.println</a:t>
            </a:r>
            <a:r>
              <a:rPr lang="en-IE" sz="1200" b="1" i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IE" sz="1200" b="1" i="1" dirty="0">
                <a:solidFill>
                  <a:srgbClr val="2A00FF"/>
                </a:solidFill>
                <a:latin typeface="Consolas"/>
              </a:rPr>
              <a:t>"Unable to connect to server!"</a:t>
            </a:r>
            <a:r>
              <a:rPr lang="en-IE" sz="1200" b="1" i="1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IE" sz="1200" dirty="0">
                <a:solidFill>
                  <a:srgbClr val="000000"/>
                </a:solidFill>
                <a:latin typeface="Consolas"/>
              </a:rPr>
              <a:t>}</a:t>
            </a:r>
          </a:p>
          <a:p>
            <a:r>
              <a:rPr lang="en-IE" sz="1200" b="1" dirty="0">
                <a:solidFill>
                  <a:srgbClr val="7F0055"/>
                </a:solidFill>
                <a:latin typeface="Consolas"/>
              </a:rPr>
              <a:t>catch</a:t>
            </a:r>
            <a:r>
              <a:rPr lang="en-IE" sz="1200" b="1" dirty="0">
                <a:solidFill>
                  <a:srgbClr val="000000"/>
                </a:solidFill>
                <a:latin typeface="Consolas"/>
              </a:rPr>
              <a:t>(Exception </a:t>
            </a:r>
            <a:r>
              <a:rPr lang="en-IE" sz="1200" b="1" dirty="0">
                <a:solidFill>
                  <a:srgbClr val="6A3E3E"/>
                </a:solidFill>
                <a:latin typeface="Consolas"/>
              </a:rPr>
              <a:t>ex</a:t>
            </a:r>
            <a:r>
              <a:rPr lang="en-IE" sz="1200" b="1" dirty="0">
                <a:solidFill>
                  <a:srgbClr val="000000"/>
                </a:solidFill>
                <a:latin typeface="Consolas"/>
              </a:rPr>
              <a:t>){</a:t>
            </a:r>
          </a:p>
          <a:p>
            <a:r>
              <a:rPr lang="en-IE" sz="1200" dirty="0" err="1">
                <a:solidFill>
                  <a:srgbClr val="6A3E3E"/>
                </a:solidFill>
                <a:latin typeface="Consolas"/>
              </a:rPr>
              <a:t>ex</a:t>
            </a:r>
            <a:r>
              <a:rPr lang="en-IE" sz="1200" dirty="0" err="1">
                <a:solidFill>
                  <a:srgbClr val="000000"/>
                </a:solidFill>
                <a:latin typeface="Consolas"/>
              </a:rPr>
              <a:t>.printStackTrace</a:t>
            </a:r>
            <a:r>
              <a:rPr lang="en-IE" sz="1200" dirty="0">
                <a:solidFill>
                  <a:srgbClr val="000000"/>
                </a:solidFill>
                <a:latin typeface="Consolas"/>
              </a:rPr>
              <a:t>();</a:t>
            </a:r>
          </a:p>
          <a:p>
            <a:r>
              <a:rPr lang="en-IE" sz="1200" dirty="0">
                <a:solidFill>
                  <a:srgbClr val="000000"/>
                </a:solidFill>
                <a:latin typeface="Consolas"/>
              </a:rPr>
              <a:t>}</a:t>
            </a:r>
          </a:p>
          <a:p>
            <a:r>
              <a:rPr lang="en-IE" sz="1200" dirty="0">
                <a:solidFill>
                  <a:srgbClr val="000000"/>
                </a:solidFill>
                <a:latin typeface="Consolas"/>
              </a:rPr>
              <a:t>}</a:t>
            </a:r>
          </a:p>
          <a:p>
            <a:r>
              <a:rPr lang="en-IE" sz="1200" dirty="0">
                <a:solidFill>
                  <a:srgbClr val="000000"/>
                </a:solidFill>
                <a:latin typeface="Consolas"/>
              </a:rPr>
              <a:t>}</a:t>
            </a:r>
            <a:endParaRPr lang="en-IE" sz="1200" dirty="0"/>
          </a:p>
        </p:txBody>
      </p:sp>
    </p:spTree>
    <p:extLst>
      <p:ext uri="{BB962C8B-B14F-4D97-AF65-F5344CB8AC3E}">
        <p14:creationId xmlns:p14="http://schemas.microsoft.com/office/powerpoint/2010/main" val="2168342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altLang="en-US" dirty="0" smtClean="0"/>
              <a:t>Example Bank Without Serialization</a:t>
            </a:r>
          </a:p>
        </p:txBody>
      </p:sp>
      <p:sp>
        <p:nvSpPr>
          <p:cNvPr id="2" name="Rectangle 1"/>
          <p:cNvSpPr/>
          <p:nvPr/>
        </p:nvSpPr>
        <p:spPr>
          <a:xfrm>
            <a:off x="228600" y="1981200"/>
            <a:ext cx="8763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E" sz="1800" b="1" dirty="0">
                <a:solidFill>
                  <a:srgbClr val="7F0055"/>
                </a:solidFill>
                <a:latin typeface="Consolas"/>
              </a:rPr>
              <a:t>import</a:t>
            </a:r>
            <a:r>
              <a:rPr lang="en-IE" sz="18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800" b="1" dirty="0" err="1">
                <a:solidFill>
                  <a:srgbClr val="000000"/>
                </a:solidFill>
                <a:latin typeface="Consolas"/>
              </a:rPr>
              <a:t>java.rmi</a:t>
            </a:r>
            <a:r>
              <a:rPr lang="en-IE" sz="1800" b="1" dirty="0">
                <a:solidFill>
                  <a:srgbClr val="000000"/>
                </a:solidFill>
                <a:latin typeface="Consolas"/>
              </a:rPr>
              <a:t>.*;</a:t>
            </a:r>
          </a:p>
          <a:p>
            <a:r>
              <a:rPr lang="en-IE" sz="1800" b="1" dirty="0">
                <a:solidFill>
                  <a:srgbClr val="7F0055"/>
                </a:solidFill>
                <a:latin typeface="Consolas"/>
              </a:rPr>
              <a:t>public</a:t>
            </a:r>
            <a:r>
              <a:rPr lang="en-IE" sz="18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800" b="1" dirty="0">
                <a:solidFill>
                  <a:srgbClr val="7F0055"/>
                </a:solidFill>
                <a:latin typeface="Consolas"/>
              </a:rPr>
              <a:t>interface</a:t>
            </a:r>
            <a:r>
              <a:rPr lang="en-IE" sz="1800" b="1" dirty="0">
                <a:solidFill>
                  <a:srgbClr val="000000"/>
                </a:solidFill>
                <a:latin typeface="Consolas"/>
              </a:rPr>
              <a:t> Bank2 </a:t>
            </a:r>
            <a:r>
              <a:rPr lang="en-IE" sz="1800" b="1" dirty="0">
                <a:solidFill>
                  <a:srgbClr val="7F0055"/>
                </a:solidFill>
                <a:latin typeface="Consolas"/>
              </a:rPr>
              <a:t>extends</a:t>
            </a:r>
            <a:r>
              <a:rPr lang="en-IE" sz="1800" b="1" dirty="0">
                <a:solidFill>
                  <a:srgbClr val="000000"/>
                </a:solidFill>
                <a:latin typeface="Consolas"/>
              </a:rPr>
              <a:t> Remote{</a:t>
            </a:r>
          </a:p>
          <a:p>
            <a:r>
              <a:rPr lang="en-IE" sz="1800" b="1" dirty="0">
                <a:solidFill>
                  <a:srgbClr val="7F0055"/>
                </a:solidFill>
                <a:latin typeface="Consolas"/>
              </a:rPr>
              <a:t>public</a:t>
            </a:r>
            <a:r>
              <a:rPr lang="en-IE" sz="18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800" b="1" dirty="0" err="1">
                <a:solidFill>
                  <a:srgbClr val="7F0055"/>
                </a:solidFill>
                <a:latin typeface="Consolas"/>
              </a:rPr>
              <a:t>int</a:t>
            </a:r>
            <a:r>
              <a:rPr lang="en-IE" sz="18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800" b="1" dirty="0" err="1">
                <a:solidFill>
                  <a:srgbClr val="000000"/>
                </a:solidFill>
                <a:latin typeface="Consolas"/>
              </a:rPr>
              <a:t>getAcctNum</a:t>
            </a:r>
            <a:r>
              <a:rPr lang="en-IE" sz="1800" b="1" dirty="0">
                <a:solidFill>
                  <a:srgbClr val="000000"/>
                </a:solidFill>
                <a:latin typeface="Consolas"/>
              </a:rPr>
              <a:t>()</a:t>
            </a:r>
            <a:r>
              <a:rPr lang="en-IE" sz="1800" b="1" dirty="0">
                <a:solidFill>
                  <a:srgbClr val="7F0055"/>
                </a:solidFill>
                <a:latin typeface="Consolas"/>
              </a:rPr>
              <a:t>throws</a:t>
            </a:r>
            <a:r>
              <a:rPr lang="en-IE" sz="18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800" b="1" dirty="0" err="1">
                <a:solidFill>
                  <a:srgbClr val="000000"/>
                </a:solidFill>
                <a:latin typeface="Consolas"/>
              </a:rPr>
              <a:t>RemoteException</a:t>
            </a:r>
            <a:r>
              <a:rPr lang="en-IE" sz="1800" b="1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IE" sz="1800" b="1" dirty="0">
                <a:solidFill>
                  <a:srgbClr val="7F0055"/>
                </a:solidFill>
                <a:latin typeface="Consolas"/>
              </a:rPr>
              <a:t>public</a:t>
            </a:r>
            <a:r>
              <a:rPr lang="en-IE" sz="1800" b="1" dirty="0">
                <a:solidFill>
                  <a:srgbClr val="000000"/>
                </a:solidFill>
                <a:latin typeface="Consolas"/>
              </a:rPr>
              <a:t> String </a:t>
            </a:r>
            <a:r>
              <a:rPr lang="en-IE" sz="1800" b="1" dirty="0" err="1">
                <a:solidFill>
                  <a:srgbClr val="000000"/>
                </a:solidFill>
                <a:latin typeface="Consolas"/>
              </a:rPr>
              <a:t>getName</a:t>
            </a:r>
            <a:r>
              <a:rPr lang="en-IE" sz="1800" b="1" dirty="0">
                <a:solidFill>
                  <a:srgbClr val="000000"/>
                </a:solidFill>
                <a:latin typeface="Consolas"/>
              </a:rPr>
              <a:t>()</a:t>
            </a:r>
            <a:r>
              <a:rPr lang="en-IE" sz="1800" b="1" dirty="0">
                <a:solidFill>
                  <a:srgbClr val="7F0055"/>
                </a:solidFill>
                <a:latin typeface="Consolas"/>
              </a:rPr>
              <a:t>throws</a:t>
            </a:r>
            <a:r>
              <a:rPr lang="en-IE" sz="18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800" b="1" dirty="0" err="1">
                <a:solidFill>
                  <a:srgbClr val="000000"/>
                </a:solidFill>
                <a:latin typeface="Consolas"/>
              </a:rPr>
              <a:t>RemoteException</a:t>
            </a:r>
            <a:r>
              <a:rPr lang="en-IE" sz="1800" b="1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IE" sz="1800" b="1" dirty="0">
                <a:solidFill>
                  <a:srgbClr val="7F0055"/>
                </a:solidFill>
                <a:latin typeface="Consolas"/>
              </a:rPr>
              <a:t>public</a:t>
            </a:r>
            <a:r>
              <a:rPr lang="en-IE" sz="18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800" b="1" dirty="0">
                <a:solidFill>
                  <a:srgbClr val="7F0055"/>
                </a:solidFill>
                <a:latin typeface="Consolas"/>
              </a:rPr>
              <a:t>double</a:t>
            </a:r>
            <a:r>
              <a:rPr lang="en-IE" sz="18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800" b="1" dirty="0" err="1">
                <a:solidFill>
                  <a:srgbClr val="000000"/>
                </a:solidFill>
                <a:latin typeface="Consolas"/>
              </a:rPr>
              <a:t>getBalance</a:t>
            </a:r>
            <a:r>
              <a:rPr lang="en-IE" sz="1800" b="1" dirty="0">
                <a:solidFill>
                  <a:srgbClr val="000000"/>
                </a:solidFill>
                <a:latin typeface="Consolas"/>
              </a:rPr>
              <a:t>()</a:t>
            </a:r>
            <a:r>
              <a:rPr lang="en-IE" sz="1800" b="1" dirty="0">
                <a:solidFill>
                  <a:srgbClr val="7F0055"/>
                </a:solidFill>
                <a:latin typeface="Consolas"/>
              </a:rPr>
              <a:t>throws</a:t>
            </a:r>
            <a:r>
              <a:rPr lang="en-IE" sz="18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800" b="1" dirty="0" err="1">
                <a:solidFill>
                  <a:srgbClr val="000000"/>
                </a:solidFill>
                <a:latin typeface="Consolas"/>
              </a:rPr>
              <a:t>RemoteException</a:t>
            </a:r>
            <a:r>
              <a:rPr lang="en-IE" sz="1800" b="1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IE" sz="1800" b="1" dirty="0">
                <a:solidFill>
                  <a:srgbClr val="7F0055"/>
                </a:solidFill>
                <a:latin typeface="Consolas"/>
              </a:rPr>
              <a:t>public</a:t>
            </a:r>
            <a:r>
              <a:rPr lang="en-IE" sz="18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800" b="1" dirty="0">
                <a:solidFill>
                  <a:srgbClr val="7F0055"/>
                </a:solidFill>
                <a:latin typeface="Consolas"/>
              </a:rPr>
              <a:t>double</a:t>
            </a:r>
            <a:r>
              <a:rPr lang="en-IE" sz="1800" b="1" dirty="0">
                <a:solidFill>
                  <a:srgbClr val="000000"/>
                </a:solidFill>
                <a:latin typeface="Consolas"/>
              </a:rPr>
              <a:t> withdraw(</a:t>
            </a:r>
            <a:r>
              <a:rPr lang="en-IE" sz="1800" b="1" dirty="0">
                <a:solidFill>
                  <a:srgbClr val="7F0055"/>
                </a:solidFill>
                <a:latin typeface="Consolas"/>
              </a:rPr>
              <a:t>double</a:t>
            </a:r>
            <a:r>
              <a:rPr lang="en-IE" sz="18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800" b="1" dirty="0">
                <a:solidFill>
                  <a:srgbClr val="6A3E3E"/>
                </a:solidFill>
                <a:latin typeface="Consolas"/>
              </a:rPr>
              <a:t>amount</a:t>
            </a:r>
            <a:r>
              <a:rPr lang="en-IE" sz="1800" b="1" dirty="0">
                <a:solidFill>
                  <a:srgbClr val="000000"/>
                </a:solidFill>
                <a:latin typeface="Consolas"/>
              </a:rPr>
              <a:t>)</a:t>
            </a:r>
            <a:r>
              <a:rPr lang="en-IE" sz="1800" b="1" dirty="0">
                <a:solidFill>
                  <a:srgbClr val="7F0055"/>
                </a:solidFill>
                <a:latin typeface="Consolas"/>
              </a:rPr>
              <a:t>throws</a:t>
            </a:r>
            <a:r>
              <a:rPr lang="en-IE" sz="18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800" b="1" dirty="0" err="1">
                <a:solidFill>
                  <a:srgbClr val="000000"/>
                </a:solidFill>
                <a:latin typeface="Consolas"/>
              </a:rPr>
              <a:t>RemoteException</a:t>
            </a:r>
            <a:r>
              <a:rPr lang="en-IE" sz="1800" b="1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IE" sz="1800" b="1" dirty="0">
                <a:solidFill>
                  <a:srgbClr val="7F0055"/>
                </a:solidFill>
                <a:latin typeface="Consolas"/>
              </a:rPr>
              <a:t>public</a:t>
            </a:r>
            <a:r>
              <a:rPr lang="en-IE" sz="18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800" b="1" dirty="0">
                <a:solidFill>
                  <a:srgbClr val="7F0055"/>
                </a:solidFill>
                <a:latin typeface="Consolas"/>
              </a:rPr>
              <a:t>void</a:t>
            </a:r>
            <a:r>
              <a:rPr lang="en-IE" sz="1800" b="1" dirty="0">
                <a:solidFill>
                  <a:srgbClr val="000000"/>
                </a:solidFill>
                <a:latin typeface="Consolas"/>
              </a:rPr>
              <a:t> deposit(</a:t>
            </a:r>
            <a:r>
              <a:rPr lang="en-IE" sz="1800" b="1" dirty="0">
                <a:solidFill>
                  <a:srgbClr val="7F0055"/>
                </a:solidFill>
                <a:latin typeface="Consolas"/>
              </a:rPr>
              <a:t>double</a:t>
            </a:r>
            <a:r>
              <a:rPr lang="en-IE" sz="18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800" b="1" dirty="0">
                <a:solidFill>
                  <a:srgbClr val="6A3E3E"/>
                </a:solidFill>
                <a:latin typeface="Consolas"/>
              </a:rPr>
              <a:t>amount</a:t>
            </a:r>
            <a:r>
              <a:rPr lang="en-IE" sz="1800" b="1" dirty="0">
                <a:solidFill>
                  <a:srgbClr val="000000"/>
                </a:solidFill>
                <a:latin typeface="Consolas"/>
              </a:rPr>
              <a:t>) </a:t>
            </a:r>
            <a:r>
              <a:rPr lang="en-IE" sz="1800" b="1" dirty="0">
                <a:solidFill>
                  <a:srgbClr val="7F0055"/>
                </a:solidFill>
                <a:latin typeface="Consolas"/>
              </a:rPr>
              <a:t>throws</a:t>
            </a:r>
            <a:r>
              <a:rPr lang="en-IE" sz="18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800" b="1" dirty="0" err="1">
                <a:solidFill>
                  <a:srgbClr val="000000"/>
                </a:solidFill>
                <a:latin typeface="Consolas"/>
              </a:rPr>
              <a:t>RemoteException</a:t>
            </a:r>
            <a:r>
              <a:rPr lang="en-IE" sz="1800" b="1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IE" sz="1800" dirty="0">
                <a:solidFill>
                  <a:srgbClr val="000000"/>
                </a:solidFill>
                <a:latin typeface="Consolas"/>
              </a:rPr>
              <a:t>}</a:t>
            </a:r>
            <a:endParaRPr lang="en-IE" sz="1800" dirty="0"/>
          </a:p>
        </p:txBody>
      </p:sp>
    </p:spTree>
    <p:extLst>
      <p:ext uri="{BB962C8B-B14F-4D97-AF65-F5344CB8AC3E}">
        <p14:creationId xmlns:p14="http://schemas.microsoft.com/office/powerpoint/2010/main" val="4269423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altLang="en-US" dirty="0" smtClean="0"/>
              <a:t>Example Bank Without Serialization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98220"/>
            <a:ext cx="9144000" cy="5847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E" sz="1100" b="1" dirty="0">
                <a:solidFill>
                  <a:srgbClr val="7F0055"/>
                </a:solidFill>
                <a:latin typeface="Consolas"/>
              </a:rPr>
              <a:t>import</a:t>
            </a:r>
            <a:r>
              <a:rPr lang="en-IE" sz="11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100" b="1" dirty="0" err="1">
                <a:solidFill>
                  <a:srgbClr val="000000"/>
                </a:solidFill>
                <a:latin typeface="Consolas"/>
              </a:rPr>
              <a:t>java.rmi</a:t>
            </a:r>
            <a:r>
              <a:rPr lang="en-IE" sz="1100" b="1" dirty="0">
                <a:solidFill>
                  <a:srgbClr val="000000"/>
                </a:solidFill>
                <a:latin typeface="Consolas"/>
              </a:rPr>
              <a:t>.*;</a:t>
            </a:r>
          </a:p>
          <a:p>
            <a:r>
              <a:rPr lang="en-IE" sz="1100" b="1" dirty="0">
                <a:solidFill>
                  <a:srgbClr val="7F0055"/>
                </a:solidFill>
                <a:latin typeface="Consolas"/>
              </a:rPr>
              <a:t>import</a:t>
            </a:r>
            <a:r>
              <a:rPr lang="en-IE" sz="11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100" b="1" dirty="0" err="1">
                <a:solidFill>
                  <a:srgbClr val="000000"/>
                </a:solidFill>
                <a:latin typeface="Consolas"/>
              </a:rPr>
              <a:t>java.rmi.server</a:t>
            </a:r>
            <a:r>
              <a:rPr lang="en-IE" sz="1100" b="1" dirty="0">
                <a:solidFill>
                  <a:srgbClr val="000000"/>
                </a:solidFill>
                <a:latin typeface="Consolas"/>
              </a:rPr>
              <a:t>.*;</a:t>
            </a:r>
          </a:p>
          <a:p>
            <a:r>
              <a:rPr lang="en-IE" sz="1100" b="1" dirty="0">
                <a:solidFill>
                  <a:srgbClr val="7F0055"/>
                </a:solidFill>
                <a:latin typeface="Consolas"/>
              </a:rPr>
              <a:t>public</a:t>
            </a:r>
            <a:r>
              <a:rPr lang="en-IE" sz="11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100" b="1" dirty="0">
                <a:solidFill>
                  <a:srgbClr val="7F0055"/>
                </a:solidFill>
                <a:latin typeface="Consolas"/>
              </a:rPr>
              <a:t>class</a:t>
            </a:r>
            <a:r>
              <a:rPr lang="en-IE" sz="11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100" b="1" u="sng" dirty="0">
                <a:solidFill>
                  <a:srgbClr val="000000"/>
                </a:solidFill>
                <a:latin typeface="Consolas"/>
              </a:rPr>
              <a:t>Bank2Impl </a:t>
            </a:r>
            <a:r>
              <a:rPr lang="en-IE" sz="1100" b="1" u="sng" dirty="0">
                <a:solidFill>
                  <a:srgbClr val="7F0055"/>
                </a:solidFill>
                <a:latin typeface="Consolas"/>
              </a:rPr>
              <a:t>extends</a:t>
            </a:r>
            <a:r>
              <a:rPr lang="en-IE" sz="1100" b="1" u="sng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100" b="1" u="sng" dirty="0" err="1">
                <a:solidFill>
                  <a:srgbClr val="000000"/>
                </a:solidFill>
                <a:latin typeface="Consolas"/>
              </a:rPr>
              <a:t>UnicastRemoteObject</a:t>
            </a:r>
            <a:r>
              <a:rPr lang="en-IE" sz="1100" b="1" u="sng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100" b="1" u="sng" dirty="0">
                <a:solidFill>
                  <a:srgbClr val="7F0055"/>
                </a:solidFill>
                <a:latin typeface="Consolas"/>
              </a:rPr>
              <a:t>implements</a:t>
            </a:r>
            <a:r>
              <a:rPr lang="en-IE" sz="1100" b="1" u="sng" dirty="0">
                <a:solidFill>
                  <a:srgbClr val="000000"/>
                </a:solidFill>
                <a:latin typeface="Consolas"/>
              </a:rPr>
              <a:t> Bank2 {</a:t>
            </a:r>
          </a:p>
          <a:p>
            <a:r>
              <a:rPr lang="en-IE" sz="1100" b="1" dirty="0">
                <a:solidFill>
                  <a:srgbClr val="7F0055"/>
                </a:solidFill>
                <a:latin typeface="Consolas"/>
              </a:rPr>
              <a:t>private</a:t>
            </a:r>
            <a:r>
              <a:rPr lang="en-IE" sz="11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100" b="1" dirty="0" err="1">
                <a:solidFill>
                  <a:srgbClr val="7F0055"/>
                </a:solidFill>
                <a:latin typeface="Consolas"/>
              </a:rPr>
              <a:t>int</a:t>
            </a:r>
            <a:r>
              <a:rPr lang="en-IE" sz="11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100" b="1" dirty="0" err="1">
                <a:solidFill>
                  <a:srgbClr val="0000C0"/>
                </a:solidFill>
                <a:latin typeface="Consolas"/>
              </a:rPr>
              <a:t>acctNum</a:t>
            </a:r>
            <a:r>
              <a:rPr lang="en-IE" sz="1100" b="1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IE" sz="1100" b="1" dirty="0">
                <a:solidFill>
                  <a:srgbClr val="7F0055"/>
                </a:solidFill>
                <a:latin typeface="Consolas"/>
              </a:rPr>
              <a:t>private</a:t>
            </a:r>
            <a:r>
              <a:rPr lang="en-IE" sz="1100" b="1" dirty="0">
                <a:solidFill>
                  <a:srgbClr val="000000"/>
                </a:solidFill>
                <a:latin typeface="Consolas"/>
              </a:rPr>
              <a:t> String </a:t>
            </a:r>
            <a:r>
              <a:rPr lang="en-IE" sz="1100" b="1" dirty="0">
                <a:solidFill>
                  <a:srgbClr val="0000C0"/>
                </a:solidFill>
                <a:latin typeface="Consolas"/>
              </a:rPr>
              <a:t>surname</a:t>
            </a:r>
            <a:r>
              <a:rPr lang="en-IE" sz="1100" b="1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IE" sz="1100" b="1" dirty="0">
                <a:solidFill>
                  <a:srgbClr val="7F0055"/>
                </a:solidFill>
                <a:latin typeface="Consolas"/>
              </a:rPr>
              <a:t>private</a:t>
            </a:r>
            <a:r>
              <a:rPr lang="en-IE" sz="1100" b="1" dirty="0">
                <a:solidFill>
                  <a:srgbClr val="000000"/>
                </a:solidFill>
                <a:latin typeface="Consolas"/>
              </a:rPr>
              <a:t> String </a:t>
            </a:r>
            <a:r>
              <a:rPr lang="en-IE" sz="1100" b="1" dirty="0" err="1">
                <a:solidFill>
                  <a:srgbClr val="0000C0"/>
                </a:solidFill>
                <a:latin typeface="Consolas"/>
              </a:rPr>
              <a:t>firstNames</a:t>
            </a:r>
            <a:r>
              <a:rPr lang="en-IE" sz="1100" b="1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IE" sz="1100" b="1" dirty="0">
                <a:solidFill>
                  <a:srgbClr val="7F0055"/>
                </a:solidFill>
                <a:latin typeface="Consolas"/>
              </a:rPr>
              <a:t>private</a:t>
            </a:r>
            <a:r>
              <a:rPr lang="en-IE" sz="11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100" b="1" dirty="0">
                <a:solidFill>
                  <a:srgbClr val="7F0055"/>
                </a:solidFill>
                <a:latin typeface="Consolas"/>
              </a:rPr>
              <a:t>double</a:t>
            </a:r>
            <a:r>
              <a:rPr lang="en-IE" sz="11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100" b="1" dirty="0">
                <a:solidFill>
                  <a:srgbClr val="0000C0"/>
                </a:solidFill>
                <a:latin typeface="Consolas"/>
              </a:rPr>
              <a:t>balance</a:t>
            </a:r>
            <a:r>
              <a:rPr lang="en-IE" sz="1100" b="1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IE" sz="1100" dirty="0">
                <a:solidFill>
                  <a:srgbClr val="3F7F5F"/>
                </a:solidFill>
                <a:latin typeface="Consolas"/>
              </a:rPr>
              <a:t>//Constructor for implementation objects…</a:t>
            </a:r>
          </a:p>
          <a:p>
            <a:r>
              <a:rPr lang="en-IE" sz="1100" b="1" dirty="0">
                <a:solidFill>
                  <a:srgbClr val="7F0055"/>
                </a:solidFill>
                <a:latin typeface="Consolas"/>
              </a:rPr>
              <a:t>public</a:t>
            </a:r>
            <a:r>
              <a:rPr lang="en-IE" sz="1100" b="1" dirty="0">
                <a:solidFill>
                  <a:srgbClr val="000000"/>
                </a:solidFill>
                <a:latin typeface="Consolas"/>
              </a:rPr>
              <a:t> Bank2Impl(</a:t>
            </a:r>
            <a:r>
              <a:rPr lang="en-IE" sz="1100" b="1" dirty="0" err="1">
                <a:solidFill>
                  <a:srgbClr val="7F0055"/>
                </a:solidFill>
                <a:latin typeface="Consolas"/>
              </a:rPr>
              <a:t>int</a:t>
            </a:r>
            <a:r>
              <a:rPr lang="en-IE" sz="11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100" b="1" dirty="0" err="1">
                <a:solidFill>
                  <a:srgbClr val="6A3E3E"/>
                </a:solidFill>
                <a:latin typeface="Consolas"/>
              </a:rPr>
              <a:t>acctNo</a:t>
            </a:r>
            <a:r>
              <a:rPr lang="en-IE" sz="1100" b="1" dirty="0">
                <a:solidFill>
                  <a:srgbClr val="000000"/>
                </a:solidFill>
                <a:latin typeface="Consolas"/>
              </a:rPr>
              <a:t>, String </a:t>
            </a:r>
            <a:r>
              <a:rPr lang="en-IE" sz="1100" b="1" dirty="0" err="1">
                <a:solidFill>
                  <a:srgbClr val="6A3E3E"/>
                </a:solidFill>
                <a:latin typeface="Consolas"/>
              </a:rPr>
              <a:t>sname</a:t>
            </a:r>
            <a:r>
              <a:rPr lang="en-IE" sz="1100" b="1" dirty="0">
                <a:solidFill>
                  <a:srgbClr val="000000"/>
                </a:solidFill>
                <a:latin typeface="Consolas"/>
              </a:rPr>
              <a:t>, String </a:t>
            </a:r>
            <a:r>
              <a:rPr lang="en-IE" sz="1100" b="1" dirty="0" err="1">
                <a:solidFill>
                  <a:srgbClr val="6A3E3E"/>
                </a:solidFill>
                <a:latin typeface="Consolas"/>
              </a:rPr>
              <a:t>fnames</a:t>
            </a:r>
            <a:r>
              <a:rPr lang="en-IE" sz="1100" b="1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IE" sz="1100" b="1" dirty="0">
                <a:solidFill>
                  <a:srgbClr val="7F0055"/>
                </a:solidFill>
                <a:latin typeface="Consolas"/>
              </a:rPr>
              <a:t>double</a:t>
            </a:r>
            <a:r>
              <a:rPr lang="en-IE" sz="11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100" b="1" dirty="0" err="1">
                <a:solidFill>
                  <a:srgbClr val="6A3E3E"/>
                </a:solidFill>
                <a:latin typeface="Consolas"/>
              </a:rPr>
              <a:t>bal</a:t>
            </a:r>
            <a:r>
              <a:rPr lang="en-IE" sz="1100" b="1" dirty="0">
                <a:solidFill>
                  <a:srgbClr val="000000"/>
                </a:solidFill>
                <a:latin typeface="Consolas"/>
              </a:rPr>
              <a:t>) </a:t>
            </a:r>
            <a:r>
              <a:rPr lang="en-IE" sz="1100" b="1" dirty="0">
                <a:solidFill>
                  <a:srgbClr val="7F0055"/>
                </a:solidFill>
                <a:latin typeface="Consolas"/>
              </a:rPr>
              <a:t>throws</a:t>
            </a:r>
            <a:r>
              <a:rPr lang="en-IE" sz="11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100" b="1" dirty="0" err="1">
                <a:solidFill>
                  <a:srgbClr val="000000"/>
                </a:solidFill>
                <a:latin typeface="Consolas"/>
              </a:rPr>
              <a:t>RemoteException</a:t>
            </a:r>
            <a:r>
              <a:rPr lang="en-IE" sz="1100" b="1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IE" sz="1100" dirty="0" err="1">
                <a:solidFill>
                  <a:srgbClr val="0000C0"/>
                </a:solidFill>
                <a:latin typeface="Consolas"/>
              </a:rPr>
              <a:t>acctNum</a:t>
            </a:r>
            <a:r>
              <a:rPr lang="en-IE" sz="11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IE" sz="1100" dirty="0" err="1">
                <a:solidFill>
                  <a:srgbClr val="6A3E3E"/>
                </a:solidFill>
                <a:latin typeface="Consolas"/>
              </a:rPr>
              <a:t>acctNo</a:t>
            </a:r>
            <a:r>
              <a:rPr lang="en-IE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IE" sz="1100" dirty="0">
                <a:solidFill>
                  <a:srgbClr val="0000C0"/>
                </a:solidFill>
                <a:latin typeface="Consolas"/>
              </a:rPr>
              <a:t>surname</a:t>
            </a:r>
            <a:r>
              <a:rPr lang="en-IE" sz="11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IE" sz="1100" dirty="0" err="1">
                <a:solidFill>
                  <a:srgbClr val="6A3E3E"/>
                </a:solidFill>
                <a:latin typeface="Consolas"/>
              </a:rPr>
              <a:t>sname</a:t>
            </a:r>
            <a:r>
              <a:rPr lang="en-IE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IE" sz="1100" dirty="0" err="1">
                <a:solidFill>
                  <a:srgbClr val="0000C0"/>
                </a:solidFill>
                <a:latin typeface="Consolas"/>
              </a:rPr>
              <a:t>firstNames</a:t>
            </a:r>
            <a:r>
              <a:rPr lang="en-IE" sz="11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IE" sz="1100" dirty="0" err="1">
                <a:solidFill>
                  <a:srgbClr val="6A3E3E"/>
                </a:solidFill>
                <a:latin typeface="Consolas"/>
              </a:rPr>
              <a:t>fnames</a:t>
            </a:r>
            <a:r>
              <a:rPr lang="en-IE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IE" sz="1100" dirty="0">
                <a:solidFill>
                  <a:srgbClr val="0000C0"/>
                </a:solidFill>
                <a:latin typeface="Consolas"/>
              </a:rPr>
              <a:t>balance</a:t>
            </a:r>
            <a:r>
              <a:rPr lang="en-IE" sz="11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IE" sz="1100" dirty="0" err="1">
                <a:solidFill>
                  <a:srgbClr val="6A3E3E"/>
                </a:solidFill>
                <a:latin typeface="Consolas"/>
              </a:rPr>
              <a:t>bal</a:t>
            </a:r>
            <a:r>
              <a:rPr lang="en-IE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IE" sz="1100" dirty="0">
                <a:solidFill>
                  <a:srgbClr val="000000"/>
                </a:solidFill>
                <a:latin typeface="Consolas"/>
              </a:rPr>
              <a:t>}</a:t>
            </a:r>
          </a:p>
          <a:p>
            <a:r>
              <a:rPr lang="en-IE" sz="1100" b="1" dirty="0">
                <a:solidFill>
                  <a:srgbClr val="7F0055"/>
                </a:solidFill>
                <a:latin typeface="Consolas"/>
              </a:rPr>
              <a:t>public</a:t>
            </a:r>
            <a:r>
              <a:rPr lang="en-IE" sz="11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100" b="1" dirty="0" err="1">
                <a:solidFill>
                  <a:srgbClr val="7F0055"/>
                </a:solidFill>
                <a:latin typeface="Consolas"/>
              </a:rPr>
              <a:t>int</a:t>
            </a:r>
            <a:r>
              <a:rPr lang="en-IE" sz="11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100" b="1" dirty="0" err="1">
                <a:solidFill>
                  <a:srgbClr val="000000"/>
                </a:solidFill>
                <a:latin typeface="Consolas"/>
              </a:rPr>
              <a:t>getAcctNum</a:t>
            </a:r>
            <a:r>
              <a:rPr lang="en-IE" sz="1100" b="1" dirty="0">
                <a:solidFill>
                  <a:srgbClr val="000000"/>
                </a:solidFill>
                <a:latin typeface="Consolas"/>
              </a:rPr>
              <a:t>() </a:t>
            </a:r>
            <a:r>
              <a:rPr lang="en-IE" sz="1100" b="1" dirty="0">
                <a:solidFill>
                  <a:srgbClr val="7F0055"/>
                </a:solidFill>
                <a:latin typeface="Consolas"/>
              </a:rPr>
              <a:t>throws</a:t>
            </a:r>
            <a:r>
              <a:rPr lang="en-IE" sz="11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100" b="1" dirty="0" err="1">
                <a:solidFill>
                  <a:srgbClr val="000000"/>
                </a:solidFill>
                <a:latin typeface="Consolas"/>
              </a:rPr>
              <a:t>RemoteException</a:t>
            </a:r>
            <a:r>
              <a:rPr lang="en-IE" sz="1100" b="1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IE" sz="1100" b="1" dirty="0">
                <a:solidFill>
                  <a:srgbClr val="7F0055"/>
                </a:solidFill>
                <a:latin typeface="Consolas"/>
              </a:rPr>
              <a:t>return</a:t>
            </a:r>
            <a:r>
              <a:rPr lang="en-IE" sz="11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100" b="1" dirty="0" err="1">
                <a:solidFill>
                  <a:srgbClr val="0000C0"/>
                </a:solidFill>
                <a:latin typeface="Consolas"/>
              </a:rPr>
              <a:t>acctNum</a:t>
            </a:r>
            <a:r>
              <a:rPr lang="en-IE" sz="1100" b="1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IE" sz="1100" dirty="0">
                <a:solidFill>
                  <a:srgbClr val="000000"/>
                </a:solidFill>
                <a:latin typeface="Consolas"/>
              </a:rPr>
              <a:t>}</a:t>
            </a:r>
          </a:p>
          <a:p>
            <a:r>
              <a:rPr lang="en-IE" sz="1100" b="1" dirty="0">
                <a:solidFill>
                  <a:srgbClr val="7F0055"/>
                </a:solidFill>
                <a:latin typeface="Consolas"/>
              </a:rPr>
              <a:t>public</a:t>
            </a:r>
            <a:r>
              <a:rPr lang="en-IE" sz="1100" b="1" dirty="0">
                <a:solidFill>
                  <a:srgbClr val="000000"/>
                </a:solidFill>
                <a:latin typeface="Consolas"/>
              </a:rPr>
              <a:t> String </a:t>
            </a:r>
            <a:r>
              <a:rPr lang="en-IE" sz="1100" b="1" dirty="0" err="1">
                <a:solidFill>
                  <a:srgbClr val="000000"/>
                </a:solidFill>
                <a:latin typeface="Consolas"/>
              </a:rPr>
              <a:t>getName</a:t>
            </a:r>
            <a:r>
              <a:rPr lang="en-IE" sz="1100" b="1" dirty="0">
                <a:solidFill>
                  <a:srgbClr val="000000"/>
                </a:solidFill>
                <a:latin typeface="Consolas"/>
              </a:rPr>
              <a:t>() </a:t>
            </a:r>
            <a:r>
              <a:rPr lang="en-IE" sz="1100" b="1" dirty="0">
                <a:solidFill>
                  <a:srgbClr val="7F0055"/>
                </a:solidFill>
                <a:latin typeface="Consolas"/>
              </a:rPr>
              <a:t>throws</a:t>
            </a:r>
            <a:r>
              <a:rPr lang="en-IE" sz="11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100" b="1" dirty="0" err="1">
                <a:solidFill>
                  <a:srgbClr val="000000"/>
                </a:solidFill>
                <a:latin typeface="Consolas"/>
              </a:rPr>
              <a:t>RemoteException</a:t>
            </a:r>
            <a:r>
              <a:rPr lang="en-IE" sz="1100" b="1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IE" sz="1100" b="1" dirty="0">
                <a:solidFill>
                  <a:srgbClr val="7F0055"/>
                </a:solidFill>
                <a:latin typeface="Consolas"/>
              </a:rPr>
              <a:t>return</a:t>
            </a:r>
            <a:r>
              <a:rPr lang="en-IE" sz="1100" b="1" dirty="0">
                <a:solidFill>
                  <a:srgbClr val="000000"/>
                </a:solidFill>
                <a:latin typeface="Consolas"/>
              </a:rPr>
              <a:t> (</a:t>
            </a:r>
            <a:r>
              <a:rPr lang="en-IE" sz="1100" b="1" dirty="0" err="1">
                <a:solidFill>
                  <a:srgbClr val="0000C0"/>
                </a:solidFill>
                <a:latin typeface="Consolas"/>
              </a:rPr>
              <a:t>firstNames</a:t>
            </a:r>
            <a:r>
              <a:rPr lang="en-IE" sz="1100" b="1" dirty="0">
                <a:solidFill>
                  <a:srgbClr val="000000"/>
                </a:solidFill>
                <a:latin typeface="Consolas"/>
              </a:rPr>
              <a:t> + </a:t>
            </a:r>
            <a:r>
              <a:rPr lang="en-IE" sz="1100" b="1" dirty="0">
                <a:solidFill>
                  <a:srgbClr val="2A00FF"/>
                </a:solidFill>
                <a:latin typeface="Consolas"/>
              </a:rPr>
              <a:t>" "</a:t>
            </a:r>
            <a:r>
              <a:rPr lang="en-IE" sz="1100" b="1" dirty="0">
                <a:solidFill>
                  <a:srgbClr val="000000"/>
                </a:solidFill>
                <a:latin typeface="Consolas"/>
              </a:rPr>
              <a:t> + </a:t>
            </a:r>
            <a:r>
              <a:rPr lang="en-IE" sz="1100" b="1" dirty="0">
                <a:solidFill>
                  <a:srgbClr val="0000C0"/>
                </a:solidFill>
                <a:latin typeface="Consolas"/>
              </a:rPr>
              <a:t>surname</a:t>
            </a:r>
            <a:r>
              <a:rPr lang="en-IE" sz="1100" b="1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IE" sz="1100" dirty="0">
                <a:solidFill>
                  <a:srgbClr val="000000"/>
                </a:solidFill>
                <a:latin typeface="Consolas"/>
              </a:rPr>
              <a:t>}</a:t>
            </a:r>
          </a:p>
          <a:p>
            <a:r>
              <a:rPr lang="en-IE" sz="1100" b="1" dirty="0">
                <a:solidFill>
                  <a:srgbClr val="7F0055"/>
                </a:solidFill>
                <a:latin typeface="Consolas"/>
              </a:rPr>
              <a:t>public</a:t>
            </a:r>
            <a:r>
              <a:rPr lang="en-IE" sz="11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100" b="1" dirty="0">
                <a:solidFill>
                  <a:srgbClr val="7F0055"/>
                </a:solidFill>
                <a:latin typeface="Consolas"/>
              </a:rPr>
              <a:t>double</a:t>
            </a:r>
            <a:r>
              <a:rPr lang="en-IE" sz="11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100" b="1" dirty="0" err="1">
                <a:solidFill>
                  <a:srgbClr val="000000"/>
                </a:solidFill>
                <a:latin typeface="Consolas"/>
              </a:rPr>
              <a:t>getBalance</a:t>
            </a:r>
            <a:r>
              <a:rPr lang="en-IE" sz="1100" b="1" dirty="0">
                <a:solidFill>
                  <a:srgbClr val="000000"/>
                </a:solidFill>
                <a:latin typeface="Consolas"/>
              </a:rPr>
              <a:t>() </a:t>
            </a:r>
            <a:r>
              <a:rPr lang="en-IE" sz="1100" b="1" dirty="0">
                <a:solidFill>
                  <a:srgbClr val="7F0055"/>
                </a:solidFill>
                <a:latin typeface="Consolas"/>
              </a:rPr>
              <a:t>throws</a:t>
            </a:r>
            <a:r>
              <a:rPr lang="en-IE" sz="11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100" b="1" dirty="0" err="1">
                <a:solidFill>
                  <a:srgbClr val="000000"/>
                </a:solidFill>
                <a:latin typeface="Consolas"/>
              </a:rPr>
              <a:t>RemoteException</a:t>
            </a:r>
            <a:r>
              <a:rPr lang="en-IE" sz="1100" b="1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IE" sz="1100" b="1" dirty="0">
                <a:solidFill>
                  <a:srgbClr val="7F0055"/>
                </a:solidFill>
                <a:latin typeface="Consolas"/>
              </a:rPr>
              <a:t>return</a:t>
            </a:r>
            <a:r>
              <a:rPr lang="en-IE" sz="11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100" b="1" dirty="0">
                <a:solidFill>
                  <a:srgbClr val="0000C0"/>
                </a:solidFill>
                <a:latin typeface="Consolas"/>
              </a:rPr>
              <a:t>balance</a:t>
            </a:r>
            <a:r>
              <a:rPr lang="en-IE" sz="1100" b="1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IE" sz="1100" dirty="0">
                <a:solidFill>
                  <a:srgbClr val="000000"/>
                </a:solidFill>
                <a:latin typeface="Consolas"/>
              </a:rPr>
              <a:t>}</a:t>
            </a:r>
          </a:p>
          <a:p>
            <a:r>
              <a:rPr lang="en-IE" sz="1100" b="1" dirty="0">
                <a:solidFill>
                  <a:srgbClr val="7F0055"/>
                </a:solidFill>
                <a:latin typeface="Consolas"/>
              </a:rPr>
              <a:t>public</a:t>
            </a:r>
            <a:r>
              <a:rPr lang="en-IE" sz="11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100" b="1" dirty="0">
                <a:solidFill>
                  <a:srgbClr val="7F0055"/>
                </a:solidFill>
                <a:latin typeface="Consolas"/>
              </a:rPr>
              <a:t>double</a:t>
            </a:r>
            <a:r>
              <a:rPr lang="en-IE" sz="1100" b="1" dirty="0">
                <a:solidFill>
                  <a:srgbClr val="000000"/>
                </a:solidFill>
                <a:latin typeface="Consolas"/>
              </a:rPr>
              <a:t> withdraw(</a:t>
            </a:r>
            <a:r>
              <a:rPr lang="en-IE" sz="1100" b="1" dirty="0">
                <a:solidFill>
                  <a:srgbClr val="7F0055"/>
                </a:solidFill>
                <a:latin typeface="Consolas"/>
              </a:rPr>
              <a:t>double</a:t>
            </a:r>
            <a:r>
              <a:rPr lang="en-IE" sz="11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100" b="1" dirty="0">
                <a:solidFill>
                  <a:srgbClr val="6A3E3E"/>
                </a:solidFill>
                <a:latin typeface="Consolas"/>
              </a:rPr>
              <a:t>amount</a:t>
            </a:r>
            <a:r>
              <a:rPr lang="en-IE" sz="1100" b="1" dirty="0">
                <a:solidFill>
                  <a:srgbClr val="000000"/>
                </a:solidFill>
                <a:latin typeface="Consolas"/>
              </a:rPr>
              <a:t>) </a:t>
            </a:r>
            <a:r>
              <a:rPr lang="en-IE" sz="1100" b="1" dirty="0">
                <a:solidFill>
                  <a:srgbClr val="7F0055"/>
                </a:solidFill>
                <a:latin typeface="Consolas"/>
              </a:rPr>
              <a:t>throws</a:t>
            </a:r>
            <a:r>
              <a:rPr lang="en-IE" sz="11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100" b="1" dirty="0" err="1">
                <a:solidFill>
                  <a:srgbClr val="000000"/>
                </a:solidFill>
                <a:latin typeface="Consolas"/>
              </a:rPr>
              <a:t>RemoteException</a:t>
            </a:r>
            <a:r>
              <a:rPr lang="en-IE" sz="1100" b="1" dirty="0">
                <a:solidFill>
                  <a:srgbClr val="000000"/>
                </a:solidFill>
                <a:latin typeface="Consolas"/>
              </a:rPr>
              <a:t> {</a:t>
            </a:r>
          </a:p>
          <a:p>
            <a:r>
              <a:rPr lang="en-IE" sz="1100" b="1" dirty="0">
                <a:solidFill>
                  <a:srgbClr val="7F0055"/>
                </a:solidFill>
                <a:latin typeface="Consolas"/>
              </a:rPr>
              <a:t>if</a:t>
            </a:r>
            <a:r>
              <a:rPr lang="en-IE" sz="1100" b="1" dirty="0">
                <a:solidFill>
                  <a:srgbClr val="000000"/>
                </a:solidFill>
                <a:latin typeface="Consolas"/>
              </a:rPr>
              <a:t> ((</a:t>
            </a:r>
            <a:r>
              <a:rPr lang="en-IE" sz="1100" b="1" dirty="0">
                <a:solidFill>
                  <a:srgbClr val="6A3E3E"/>
                </a:solidFill>
                <a:latin typeface="Consolas"/>
              </a:rPr>
              <a:t>amount</a:t>
            </a:r>
            <a:r>
              <a:rPr lang="en-IE" sz="1100" b="1" dirty="0">
                <a:solidFill>
                  <a:srgbClr val="000000"/>
                </a:solidFill>
                <a:latin typeface="Consolas"/>
              </a:rPr>
              <a:t>&gt;0) &amp;&amp; (</a:t>
            </a:r>
            <a:r>
              <a:rPr lang="en-IE" sz="1100" b="1" dirty="0">
                <a:solidFill>
                  <a:srgbClr val="6A3E3E"/>
                </a:solidFill>
                <a:latin typeface="Consolas"/>
              </a:rPr>
              <a:t>amount</a:t>
            </a:r>
            <a:r>
              <a:rPr lang="en-IE" sz="1100" b="1" dirty="0">
                <a:solidFill>
                  <a:srgbClr val="000000"/>
                </a:solidFill>
                <a:latin typeface="Consolas"/>
              </a:rPr>
              <a:t>&lt;=</a:t>
            </a:r>
            <a:r>
              <a:rPr lang="en-IE" sz="1100" b="1" dirty="0">
                <a:solidFill>
                  <a:srgbClr val="0000C0"/>
                </a:solidFill>
                <a:latin typeface="Consolas"/>
              </a:rPr>
              <a:t>balance</a:t>
            </a:r>
            <a:r>
              <a:rPr lang="en-IE" sz="1100" b="1" dirty="0">
                <a:solidFill>
                  <a:srgbClr val="000000"/>
                </a:solidFill>
                <a:latin typeface="Consolas"/>
              </a:rPr>
              <a:t>))</a:t>
            </a:r>
          </a:p>
          <a:p>
            <a:r>
              <a:rPr lang="en-IE" sz="1100" b="1" dirty="0">
                <a:solidFill>
                  <a:srgbClr val="7F0055"/>
                </a:solidFill>
                <a:latin typeface="Consolas"/>
              </a:rPr>
              <a:t>return</a:t>
            </a:r>
            <a:r>
              <a:rPr lang="en-IE" sz="11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100" b="1" dirty="0">
                <a:solidFill>
                  <a:srgbClr val="6A3E3E"/>
                </a:solidFill>
                <a:latin typeface="Consolas"/>
              </a:rPr>
              <a:t>amount</a:t>
            </a:r>
            <a:r>
              <a:rPr lang="en-IE" sz="1100" b="1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IE" sz="1100" b="1" dirty="0">
                <a:solidFill>
                  <a:srgbClr val="7F0055"/>
                </a:solidFill>
                <a:latin typeface="Consolas"/>
              </a:rPr>
              <a:t>else</a:t>
            </a:r>
          </a:p>
          <a:p>
            <a:r>
              <a:rPr lang="en-IE" sz="1100" b="1" dirty="0">
                <a:solidFill>
                  <a:srgbClr val="7F0055"/>
                </a:solidFill>
                <a:latin typeface="Consolas"/>
              </a:rPr>
              <a:t>return</a:t>
            </a:r>
            <a:r>
              <a:rPr lang="en-IE" sz="1100" b="1" dirty="0">
                <a:solidFill>
                  <a:srgbClr val="000000"/>
                </a:solidFill>
                <a:latin typeface="Consolas"/>
              </a:rPr>
              <a:t> 0;</a:t>
            </a:r>
          </a:p>
          <a:p>
            <a:r>
              <a:rPr lang="en-IE" sz="1100" dirty="0">
                <a:solidFill>
                  <a:srgbClr val="000000"/>
                </a:solidFill>
                <a:latin typeface="Consolas"/>
              </a:rPr>
              <a:t>}</a:t>
            </a:r>
          </a:p>
          <a:p>
            <a:r>
              <a:rPr lang="en-IE" sz="1100" b="1" dirty="0">
                <a:solidFill>
                  <a:srgbClr val="7F0055"/>
                </a:solidFill>
                <a:latin typeface="Consolas"/>
              </a:rPr>
              <a:t>public</a:t>
            </a:r>
            <a:r>
              <a:rPr lang="en-IE" sz="11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100" b="1" dirty="0">
                <a:solidFill>
                  <a:srgbClr val="7F0055"/>
                </a:solidFill>
                <a:latin typeface="Consolas"/>
              </a:rPr>
              <a:t>void</a:t>
            </a:r>
            <a:r>
              <a:rPr lang="en-IE" sz="1100" b="1" dirty="0">
                <a:solidFill>
                  <a:srgbClr val="000000"/>
                </a:solidFill>
                <a:latin typeface="Consolas"/>
              </a:rPr>
              <a:t> deposit(</a:t>
            </a:r>
            <a:r>
              <a:rPr lang="en-IE" sz="1100" b="1" dirty="0">
                <a:solidFill>
                  <a:srgbClr val="7F0055"/>
                </a:solidFill>
                <a:latin typeface="Consolas"/>
              </a:rPr>
              <a:t>double</a:t>
            </a:r>
            <a:r>
              <a:rPr lang="en-IE" sz="11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100" b="1" dirty="0">
                <a:solidFill>
                  <a:srgbClr val="6A3E3E"/>
                </a:solidFill>
                <a:latin typeface="Consolas"/>
              </a:rPr>
              <a:t>amount</a:t>
            </a:r>
            <a:r>
              <a:rPr lang="en-IE" sz="1100" b="1" dirty="0">
                <a:solidFill>
                  <a:srgbClr val="000000"/>
                </a:solidFill>
                <a:latin typeface="Consolas"/>
              </a:rPr>
              <a:t>) </a:t>
            </a:r>
            <a:r>
              <a:rPr lang="en-IE" sz="1100" b="1" dirty="0">
                <a:solidFill>
                  <a:srgbClr val="7F0055"/>
                </a:solidFill>
                <a:latin typeface="Consolas"/>
              </a:rPr>
              <a:t>throws</a:t>
            </a:r>
            <a:r>
              <a:rPr lang="en-IE" sz="11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100" b="1" dirty="0" err="1">
                <a:solidFill>
                  <a:srgbClr val="000000"/>
                </a:solidFill>
                <a:latin typeface="Consolas"/>
              </a:rPr>
              <a:t>RemoteException</a:t>
            </a:r>
            <a:r>
              <a:rPr lang="en-IE" sz="1100" b="1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IE" sz="1100" b="1" dirty="0">
                <a:solidFill>
                  <a:srgbClr val="7F0055"/>
                </a:solidFill>
                <a:latin typeface="Consolas"/>
              </a:rPr>
              <a:t>if</a:t>
            </a:r>
            <a:r>
              <a:rPr lang="en-IE" sz="1100" b="1" dirty="0">
                <a:solidFill>
                  <a:srgbClr val="000000"/>
                </a:solidFill>
                <a:latin typeface="Consolas"/>
              </a:rPr>
              <a:t> (</a:t>
            </a:r>
            <a:r>
              <a:rPr lang="en-IE" sz="1100" b="1" dirty="0">
                <a:solidFill>
                  <a:srgbClr val="6A3E3E"/>
                </a:solidFill>
                <a:latin typeface="Consolas"/>
              </a:rPr>
              <a:t>amount</a:t>
            </a:r>
            <a:r>
              <a:rPr lang="en-IE" sz="1100" b="1" dirty="0">
                <a:solidFill>
                  <a:srgbClr val="000000"/>
                </a:solidFill>
                <a:latin typeface="Consolas"/>
              </a:rPr>
              <a:t> &gt; 0)</a:t>
            </a:r>
          </a:p>
          <a:p>
            <a:r>
              <a:rPr lang="en-IE" sz="1100" dirty="0">
                <a:solidFill>
                  <a:srgbClr val="0000C0"/>
                </a:solidFill>
                <a:latin typeface="Consolas"/>
              </a:rPr>
              <a:t>balance</a:t>
            </a:r>
            <a:r>
              <a:rPr lang="en-IE" sz="1100" dirty="0">
                <a:solidFill>
                  <a:srgbClr val="000000"/>
                </a:solidFill>
                <a:latin typeface="Consolas"/>
              </a:rPr>
              <a:t> += </a:t>
            </a:r>
            <a:r>
              <a:rPr lang="en-IE" sz="1100" dirty="0">
                <a:solidFill>
                  <a:srgbClr val="6A3E3E"/>
                </a:solidFill>
                <a:latin typeface="Consolas"/>
              </a:rPr>
              <a:t>amount</a:t>
            </a:r>
            <a:r>
              <a:rPr lang="en-IE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IE" sz="1100" dirty="0">
                <a:solidFill>
                  <a:srgbClr val="000000"/>
                </a:solidFill>
                <a:latin typeface="Consolas"/>
              </a:rPr>
              <a:t>}</a:t>
            </a:r>
          </a:p>
          <a:p>
            <a:r>
              <a:rPr lang="en-IE" sz="1100" dirty="0">
                <a:solidFill>
                  <a:srgbClr val="000000"/>
                </a:solidFill>
                <a:latin typeface="Consolas"/>
              </a:rPr>
              <a:t>}</a:t>
            </a:r>
            <a:endParaRPr lang="en-IE" sz="1100" dirty="0"/>
          </a:p>
        </p:txBody>
      </p:sp>
    </p:spTree>
    <p:extLst>
      <p:ext uri="{BB962C8B-B14F-4D97-AF65-F5344CB8AC3E}">
        <p14:creationId xmlns:p14="http://schemas.microsoft.com/office/powerpoint/2010/main" val="1132931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altLang="en-US" dirty="0" smtClean="0"/>
              <a:t>Example Bank Without Serialization</a:t>
            </a:r>
          </a:p>
        </p:txBody>
      </p:sp>
      <p:sp>
        <p:nvSpPr>
          <p:cNvPr id="2" name="Rectangle 1"/>
          <p:cNvSpPr/>
          <p:nvPr/>
        </p:nvSpPr>
        <p:spPr>
          <a:xfrm>
            <a:off x="152400" y="1981200"/>
            <a:ext cx="8915400" cy="42780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E" sz="1600" b="1" dirty="0">
                <a:solidFill>
                  <a:srgbClr val="7F0055"/>
                </a:solidFill>
                <a:latin typeface="Consolas"/>
              </a:rPr>
              <a:t>import</a:t>
            </a:r>
            <a:r>
              <a:rPr lang="en-IE" sz="16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600" b="1" dirty="0" err="1">
                <a:solidFill>
                  <a:srgbClr val="000000"/>
                </a:solidFill>
                <a:latin typeface="Consolas"/>
              </a:rPr>
              <a:t>java.rmi</a:t>
            </a:r>
            <a:r>
              <a:rPr lang="en-IE" sz="1600" b="1" dirty="0">
                <a:solidFill>
                  <a:srgbClr val="000000"/>
                </a:solidFill>
                <a:latin typeface="Consolas"/>
              </a:rPr>
              <a:t>.*;</a:t>
            </a:r>
          </a:p>
          <a:p>
            <a:r>
              <a:rPr lang="en-IE" sz="1600" b="1" dirty="0">
                <a:solidFill>
                  <a:srgbClr val="7F0055"/>
                </a:solidFill>
                <a:latin typeface="Consolas"/>
              </a:rPr>
              <a:t>import</a:t>
            </a:r>
            <a:r>
              <a:rPr lang="en-IE" sz="16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600" b="1" dirty="0" err="1">
                <a:solidFill>
                  <a:srgbClr val="000000"/>
                </a:solidFill>
                <a:latin typeface="Consolas"/>
              </a:rPr>
              <a:t>java.rmi.registry.LocateRegistry</a:t>
            </a:r>
            <a:r>
              <a:rPr lang="en-IE" sz="1600" b="1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IE" sz="1600" b="1" dirty="0">
                <a:solidFill>
                  <a:srgbClr val="7F0055"/>
                </a:solidFill>
                <a:latin typeface="Consolas"/>
              </a:rPr>
              <a:t>public</a:t>
            </a:r>
            <a:r>
              <a:rPr lang="en-IE" sz="16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600" b="1" dirty="0">
                <a:solidFill>
                  <a:srgbClr val="7F0055"/>
                </a:solidFill>
                <a:latin typeface="Consolas"/>
              </a:rPr>
              <a:t>class</a:t>
            </a:r>
            <a:r>
              <a:rPr lang="en-IE" sz="1600" b="1" dirty="0">
                <a:solidFill>
                  <a:srgbClr val="000000"/>
                </a:solidFill>
                <a:latin typeface="Consolas"/>
              </a:rPr>
              <a:t> Bank2Server {</a:t>
            </a:r>
          </a:p>
          <a:p>
            <a:r>
              <a:rPr lang="en-IE" sz="1600" b="1" dirty="0">
                <a:solidFill>
                  <a:srgbClr val="7F0055"/>
                </a:solidFill>
                <a:latin typeface="Consolas"/>
              </a:rPr>
              <a:t>private</a:t>
            </a:r>
            <a:r>
              <a:rPr lang="en-IE" sz="16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600" b="1" dirty="0">
                <a:solidFill>
                  <a:srgbClr val="7F0055"/>
                </a:solidFill>
                <a:latin typeface="Consolas"/>
              </a:rPr>
              <a:t>static</a:t>
            </a:r>
            <a:r>
              <a:rPr lang="en-IE" sz="16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600" b="1" dirty="0">
                <a:solidFill>
                  <a:srgbClr val="7F0055"/>
                </a:solidFill>
                <a:latin typeface="Consolas"/>
              </a:rPr>
              <a:t>final</a:t>
            </a:r>
            <a:r>
              <a:rPr lang="en-IE" sz="1600" b="1" dirty="0">
                <a:solidFill>
                  <a:srgbClr val="000000"/>
                </a:solidFill>
                <a:latin typeface="Consolas"/>
              </a:rPr>
              <a:t> String </a:t>
            </a:r>
            <a:r>
              <a:rPr lang="en-IE" sz="1600" b="1" i="1" dirty="0">
                <a:solidFill>
                  <a:srgbClr val="0000C0"/>
                </a:solidFill>
                <a:latin typeface="Consolas"/>
              </a:rPr>
              <a:t>HOST</a:t>
            </a:r>
            <a:r>
              <a:rPr lang="en-IE" sz="1600" b="1" i="1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IE" sz="1600" b="1" i="1" dirty="0">
                <a:solidFill>
                  <a:srgbClr val="2A00FF"/>
                </a:solidFill>
                <a:latin typeface="Consolas"/>
              </a:rPr>
              <a:t>"localhost"</a:t>
            </a:r>
            <a:r>
              <a:rPr lang="en-IE" sz="1600" b="1" i="1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IE" sz="1600" b="1" dirty="0">
                <a:solidFill>
                  <a:srgbClr val="7F0055"/>
                </a:solidFill>
                <a:latin typeface="Consolas"/>
              </a:rPr>
              <a:t>public</a:t>
            </a:r>
            <a:r>
              <a:rPr lang="en-IE" sz="16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600" b="1" dirty="0">
                <a:solidFill>
                  <a:srgbClr val="7F0055"/>
                </a:solidFill>
                <a:latin typeface="Consolas"/>
              </a:rPr>
              <a:t>static</a:t>
            </a:r>
            <a:r>
              <a:rPr lang="en-IE" sz="16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600" b="1" dirty="0">
                <a:solidFill>
                  <a:srgbClr val="7F0055"/>
                </a:solidFill>
                <a:latin typeface="Consolas"/>
              </a:rPr>
              <a:t>void</a:t>
            </a:r>
            <a:r>
              <a:rPr lang="en-IE" sz="1600" b="1" dirty="0">
                <a:solidFill>
                  <a:srgbClr val="000000"/>
                </a:solidFill>
                <a:latin typeface="Consolas"/>
              </a:rPr>
              <a:t> main(String[] </a:t>
            </a:r>
            <a:r>
              <a:rPr lang="en-IE" sz="1600" b="1" dirty="0" err="1">
                <a:solidFill>
                  <a:srgbClr val="6A3E3E"/>
                </a:solidFill>
                <a:latin typeface="Consolas"/>
              </a:rPr>
              <a:t>args</a:t>
            </a:r>
            <a:r>
              <a:rPr lang="en-IE" sz="1600" b="1" dirty="0">
                <a:solidFill>
                  <a:srgbClr val="000000"/>
                </a:solidFill>
                <a:latin typeface="Consolas"/>
              </a:rPr>
              <a:t>) </a:t>
            </a:r>
            <a:r>
              <a:rPr lang="en-IE" sz="1600" b="1" dirty="0">
                <a:solidFill>
                  <a:srgbClr val="7F0055"/>
                </a:solidFill>
                <a:latin typeface="Consolas"/>
              </a:rPr>
              <a:t>throws</a:t>
            </a:r>
            <a:r>
              <a:rPr lang="en-IE" sz="1600" b="1" dirty="0">
                <a:solidFill>
                  <a:srgbClr val="000000"/>
                </a:solidFill>
                <a:latin typeface="Consolas"/>
              </a:rPr>
              <a:t> Exception{</a:t>
            </a:r>
          </a:p>
          <a:p>
            <a:r>
              <a:rPr lang="en-IE" sz="1600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en-IE" sz="1600" dirty="0" err="1">
                <a:solidFill>
                  <a:srgbClr val="000000"/>
                </a:solidFill>
                <a:latin typeface="Consolas"/>
              </a:rPr>
              <a:t>LocateRegistry.</a:t>
            </a:r>
            <a:r>
              <a:rPr lang="en-IE" sz="1600" i="1" dirty="0" err="1">
                <a:solidFill>
                  <a:srgbClr val="000000"/>
                </a:solidFill>
                <a:latin typeface="Consolas"/>
              </a:rPr>
              <a:t>createRegistry</a:t>
            </a:r>
            <a:r>
              <a:rPr lang="en-IE" sz="1600" i="1" dirty="0">
                <a:solidFill>
                  <a:srgbClr val="000000"/>
                </a:solidFill>
                <a:latin typeface="Consolas"/>
              </a:rPr>
              <a:t>(1099);</a:t>
            </a:r>
          </a:p>
          <a:p>
            <a:endParaRPr lang="en-IE" sz="1600" dirty="0">
              <a:latin typeface="Consolas"/>
            </a:endParaRPr>
          </a:p>
          <a:p>
            <a:r>
              <a:rPr lang="en-IE" sz="1600" dirty="0">
                <a:solidFill>
                  <a:srgbClr val="000000"/>
                </a:solidFill>
                <a:latin typeface="Consolas"/>
              </a:rPr>
              <a:t>Bank2Impl[] </a:t>
            </a:r>
            <a:r>
              <a:rPr lang="en-IE" sz="1600" dirty="0">
                <a:solidFill>
                  <a:srgbClr val="6A3E3E"/>
                </a:solidFill>
                <a:latin typeface="Consolas"/>
              </a:rPr>
              <a:t>account</a:t>
            </a:r>
            <a:r>
              <a:rPr lang="en-IE" sz="1600" dirty="0">
                <a:solidFill>
                  <a:srgbClr val="000000"/>
                </a:solidFill>
                <a:latin typeface="Consolas"/>
              </a:rPr>
              <a:t> = { </a:t>
            </a:r>
            <a:r>
              <a:rPr lang="en-IE" sz="1600" b="1" dirty="0">
                <a:solidFill>
                  <a:srgbClr val="7F0055"/>
                </a:solidFill>
                <a:latin typeface="Consolas"/>
              </a:rPr>
              <a:t>new</a:t>
            </a:r>
            <a:r>
              <a:rPr lang="en-IE" sz="1600" b="1" dirty="0">
                <a:solidFill>
                  <a:srgbClr val="000000"/>
                </a:solidFill>
                <a:latin typeface="Consolas"/>
              </a:rPr>
              <a:t> Bank2Impl(111111,</a:t>
            </a:r>
            <a:r>
              <a:rPr lang="en-IE" sz="1600" b="1" dirty="0">
                <a:solidFill>
                  <a:srgbClr val="2A00FF"/>
                </a:solidFill>
                <a:latin typeface="Consolas"/>
              </a:rPr>
              <a:t>"Smith"</a:t>
            </a:r>
            <a:r>
              <a:rPr lang="en-IE" sz="1600" b="1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IE" sz="1600" b="1" dirty="0">
                <a:solidFill>
                  <a:srgbClr val="2A00FF"/>
                </a:solidFill>
                <a:latin typeface="Consolas"/>
              </a:rPr>
              <a:t>"Fred James"</a:t>
            </a:r>
            <a:r>
              <a:rPr lang="en-IE" sz="1600" b="1" dirty="0">
                <a:solidFill>
                  <a:srgbClr val="000000"/>
                </a:solidFill>
                <a:latin typeface="Consolas"/>
              </a:rPr>
              <a:t>,112.58),</a:t>
            </a:r>
            <a:r>
              <a:rPr lang="en-IE" sz="1600" b="1" dirty="0">
                <a:solidFill>
                  <a:srgbClr val="7F0055"/>
                </a:solidFill>
                <a:latin typeface="Consolas"/>
              </a:rPr>
              <a:t>new</a:t>
            </a:r>
            <a:r>
              <a:rPr lang="en-IE" sz="1600" b="1" dirty="0">
                <a:solidFill>
                  <a:srgbClr val="000000"/>
                </a:solidFill>
                <a:latin typeface="Consolas"/>
              </a:rPr>
              <a:t> Bank2Impl(222222,</a:t>
            </a:r>
            <a:r>
              <a:rPr lang="en-IE" sz="1600" b="1" dirty="0">
                <a:solidFill>
                  <a:srgbClr val="2A00FF"/>
                </a:solidFill>
                <a:latin typeface="Consolas"/>
              </a:rPr>
              <a:t>"Jones"</a:t>
            </a:r>
            <a:r>
              <a:rPr lang="en-IE" sz="1600" b="1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IE" sz="1600" b="1" dirty="0">
                <a:solidFill>
                  <a:srgbClr val="2A00FF"/>
                </a:solidFill>
                <a:latin typeface="Consolas"/>
              </a:rPr>
              <a:t>"Sally"</a:t>
            </a:r>
            <a:r>
              <a:rPr lang="en-IE" sz="1600" b="1" dirty="0">
                <a:solidFill>
                  <a:srgbClr val="000000"/>
                </a:solidFill>
                <a:latin typeface="Consolas"/>
              </a:rPr>
              <a:t>,507.85), </a:t>
            </a:r>
            <a:r>
              <a:rPr lang="en-IE" sz="1600" b="1" dirty="0">
                <a:solidFill>
                  <a:srgbClr val="7F0055"/>
                </a:solidFill>
                <a:latin typeface="Consolas"/>
              </a:rPr>
              <a:t>new</a:t>
            </a:r>
            <a:r>
              <a:rPr lang="en-IE" sz="1600" b="1" dirty="0">
                <a:solidFill>
                  <a:srgbClr val="000000"/>
                </a:solidFill>
                <a:latin typeface="Consolas"/>
              </a:rPr>
              <a:t> Bank2Impl(234567,</a:t>
            </a:r>
            <a:r>
              <a:rPr lang="en-IE" sz="1600" b="1" dirty="0">
                <a:solidFill>
                  <a:srgbClr val="2A00FF"/>
                </a:solidFill>
                <a:latin typeface="Consolas"/>
              </a:rPr>
              <a:t>"White"</a:t>
            </a:r>
            <a:r>
              <a:rPr lang="en-IE" sz="1600" b="1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IE" sz="1600" b="1" dirty="0">
                <a:solidFill>
                  <a:srgbClr val="2A00FF"/>
                </a:solidFill>
                <a:latin typeface="Consolas"/>
              </a:rPr>
              <a:t>"Mary Jane"</a:t>
            </a:r>
            <a:r>
              <a:rPr lang="en-IE" sz="1600" b="1" dirty="0">
                <a:solidFill>
                  <a:srgbClr val="000000"/>
                </a:solidFill>
                <a:latin typeface="Consolas"/>
              </a:rPr>
              <a:t>,2345.00), </a:t>
            </a:r>
            <a:r>
              <a:rPr lang="en-IE" sz="1600" b="1" dirty="0">
                <a:solidFill>
                  <a:srgbClr val="7F0055"/>
                </a:solidFill>
                <a:latin typeface="Consolas"/>
              </a:rPr>
              <a:t>new</a:t>
            </a:r>
            <a:r>
              <a:rPr lang="en-IE" sz="1600" b="1" dirty="0">
                <a:solidFill>
                  <a:srgbClr val="000000"/>
                </a:solidFill>
                <a:latin typeface="Consolas"/>
              </a:rPr>
              <a:t> Bank2Impl(666666,</a:t>
            </a:r>
            <a:r>
              <a:rPr lang="en-IE" sz="1600" b="1" dirty="0">
                <a:solidFill>
                  <a:srgbClr val="2A00FF"/>
                </a:solidFill>
                <a:latin typeface="Consolas"/>
              </a:rPr>
              <a:t>"Satan"</a:t>
            </a:r>
            <a:r>
              <a:rPr lang="en-IE" sz="1600" b="1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IE" sz="1600" b="1" dirty="0">
                <a:solidFill>
                  <a:srgbClr val="2A00FF"/>
                </a:solidFill>
                <a:latin typeface="Consolas"/>
              </a:rPr>
              <a:t>"Beelzebub"</a:t>
            </a:r>
            <a:r>
              <a:rPr lang="en-IE" sz="1600" b="1" dirty="0">
                <a:solidFill>
                  <a:srgbClr val="000000"/>
                </a:solidFill>
                <a:latin typeface="Consolas"/>
              </a:rPr>
              <a:t>,666.00)}; </a:t>
            </a:r>
          </a:p>
          <a:p>
            <a:r>
              <a:rPr lang="en-IE" sz="1600" b="1" dirty="0">
                <a:solidFill>
                  <a:srgbClr val="7F0055"/>
                </a:solidFill>
                <a:latin typeface="Consolas"/>
              </a:rPr>
              <a:t>for</a:t>
            </a:r>
            <a:r>
              <a:rPr lang="en-IE" sz="1600" b="1" dirty="0">
                <a:solidFill>
                  <a:srgbClr val="000000"/>
                </a:solidFill>
                <a:latin typeface="Consolas"/>
              </a:rPr>
              <a:t> (</a:t>
            </a:r>
            <a:r>
              <a:rPr lang="en-IE" sz="1600" b="1" dirty="0" err="1">
                <a:solidFill>
                  <a:srgbClr val="7F0055"/>
                </a:solidFill>
                <a:latin typeface="Consolas"/>
              </a:rPr>
              <a:t>int</a:t>
            </a:r>
            <a:r>
              <a:rPr lang="en-IE" sz="16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600" b="1" dirty="0" err="1">
                <a:solidFill>
                  <a:srgbClr val="6A3E3E"/>
                </a:solidFill>
                <a:latin typeface="Consolas"/>
              </a:rPr>
              <a:t>i</a:t>
            </a:r>
            <a:r>
              <a:rPr lang="en-IE" sz="1600" b="1" dirty="0">
                <a:solidFill>
                  <a:srgbClr val="000000"/>
                </a:solidFill>
                <a:latin typeface="Consolas"/>
              </a:rPr>
              <a:t>=0; </a:t>
            </a:r>
            <a:r>
              <a:rPr lang="en-IE" sz="1600" b="1" dirty="0" err="1">
                <a:solidFill>
                  <a:srgbClr val="6A3E3E"/>
                </a:solidFill>
                <a:latin typeface="Consolas"/>
              </a:rPr>
              <a:t>i</a:t>
            </a:r>
            <a:r>
              <a:rPr lang="en-IE" sz="1600" b="1" dirty="0">
                <a:solidFill>
                  <a:srgbClr val="000000"/>
                </a:solidFill>
                <a:latin typeface="Consolas"/>
              </a:rPr>
              <a:t>&lt;</a:t>
            </a:r>
            <a:r>
              <a:rPr lang="en-IE" sz="1600" b="1" dirty="0" err="1">
                <a:solidFill>
                  <a:srgbClr val="6A3E3E"/>
                </a:solidFill>
                <a:latin typeface="Consolas"/>
              </a:rPr>
              <a:t>account</a:t>
            </a:r>
            <a:r>
              <a:rPr lang="en-IE" sz="1600" b="1" dirty="0" err="1">
                <a:solidFill>
                  <a:srgbClr val="000000"/>
                </a:solidFill>
                <a:latin typeface="Consolas"/>
              </a:rPr>
              <a:t>.</a:t>
            </a:r>
            <a:r>
              <a:rPr lang="en-IE" sz="1600" b="1" dirty="0" err="1">
                <a:solidFill>
                  <a:srgbClr val="0000C0"/>
                </a:solidFill>
                <a:latin typeface="Consolas"/>
              </a:rPr>
              <a:t>length</a:t>
            </a:r>
            <a:r>
              <a:rPr lang="en-IE" sz="1600" b="1" dirty="0">
                <a:solidFill>
                  <a:srgbClr val="000000"/>
                </a:solidFill>
                <a:latin typeface="Consolas"/>
              </a:rPr>
              <a:t>; </a:t>
            </a:r>
            <a:r>
              <a:rPr lang="en-IE" sz="1600" b="1" dirty="0" err="1">
                <a:solidFill>
                  <a:srgbClr val="6A3E3E"/>
                </a:solidFill>
                <a:latin typeface="Consolas"/>
              </a:rPr>
              <a:t>i</a:t>
            </a:r>
            <a:r>
              <a:rPr lang="en-IE" sz="1600" b="1" dirty="0">
                <a:solidFill>
                  <a:srgbClr val="000000"/>
                </a:solidFill>
                <a:latin typeface="Consolas"/>
              </a:rPr>
              <a:t>++){</a:t>
            </a:r>
          </a:p>
          <a:p>
            <a:r>
              <a:rPr lang="en-IE" sz="1600" b="1" dirty="0" err="1">
                <a:solidFill>
                  <a:srgbClr val="7F0055"/>
                </a:solidFill>
                <a:latin typeface="Consolas"/>
              </a:rPr>
              <a:t>int</a:t>
            </a:r>
            <a:r>
              <a:rPr lang="en-IE" sz="16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600" b="1" dirty="0" err="1">
                <a:solidFill>
                  <a:srgbClr val="6A3E3E"/>
                </a:solidFill>
                <a:latin typeface="Consolas"/>
              </a:rPr>
              <a:t>acctNum</a:t>
            </a:r>
            <a:r>
              <a:rPr lang="en-IE" sz="1600" b="1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IE" sz="1600" b="1" dirty="0">
                <a:solidFill>
                  <a:srgbClr val="6A3E3E"/>
                </a:solidFill>
                <a:latin typeface="Consolas"/>
              </a:rPr>
              <a:t>account</a:t>
            </a:r>
            <a:r>
              <a:rPr lang="en-IE" sz="1600" b="1" dirty="0">
                <a:solidFill>
                  <a:srgbClr val="000000"/>
                </a:solidFill>
                <a:latin typeface="Consolas"/>
              </a:rPr>
              <a:t>[</a:t>
            </a:r>
            <a:r>
              <a:rPr lang="en-IE" sz="1600" b="1" dirty="0" err="1">
                <a:solidFill>
                  <a:srgbClr val="6A3E3E"/>
                </a:solidFill>
                <a:latin typeface="Consolas"/>
              </a:rPr>
              <a:t>i</a:t>
            </a:r>
            <a:r>
              <a:rPr lang="en-IE" sz="1600" b="1" dirty="0">
                <a:solidFill>
                  <a:srgbClr val="000000"/>
                </a:solidFill>
                <a:latin typeface="Consolas"/>
              </a:rPr>
              <a:t>].</a:t>
            </a:r>
            <a:r>
              <a:rPr lang="en-IE" sz="1600" b="1" dirty="0" err="1">
                <a:solidFill>
                  <a:srgbClr val="000000"/>
                </a:solidFill>
                <a:latin typeface="Consolas"/>
              </a:rPr>
              <a:t>getAcctNum</a:t>
            </a:r>
            <a:r>
              <a:rPr lang="en-IE" sz="1600" b="1" dirty="0">
                <a:solidFill>
                  <a:srgbClr val="000000"/>
                </a:solidFill>
                <a:latin typeface="Consolas"/>
              </a:rPr>
              <a:t>();</a:t>
            </a:r>
          </a:p>
          <a:p>
            <a:r>
              <a:rPr lang="en-IE" sz="1600" dirty="0" err="1">
                <a:solidFill>
                  <a:srgbClr val="000000"/>
                </a:solidFill>
                <a:latin typeface="Consolas"/>
              </a:rPr>
              <a:t>Naming.</a:t>
            </a:r>
            <a:r>
              <a:rPr lang="en-IE" sz="1600" i="1" dirty="0" err="1">
                <a:solidFill>
                  <a:srgbClr val="000000"/>
                </a:solidFill>
                <a:latin typeface="Consolas"/>
              </a:rPr>
              <a:t>rebind</a:t>
            </a:r>
            <a:r>
              <a:rPr lang="en-IE" sz="1600" i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IE" sz="1600" i="1" dirty="0">
                <a:solidFill>
                  <a:srgbClr val="2A00FF"/>
                </a:solidFill>
                <a:latin typeface="Consolas"/>
              </a:rPr>
              <a:t>"</a:t>
            </a:r>
            <a:r>
              <a:rPr lang="en-IE" sz="1600" i="1" dirty="0" err="1">
                <a:solidFill>
                  <a:srgbClr val="2A00FF"/>
                </a:solidFill>
                <a:latin typeface="Consolas"/>
              </a:rPr>
              <a:t>rmi</a:t>
            </a:r>
            <a:r>
              <a:rPr lang="en-IE" sz="1600" i="1" dirty="0">
                <a:solidFill>
                  <a:srgbClr val="2A00FF"/>
                </a:solidFill>
                <a:latin typeface="Consolas"/>
              </a:rPr>
              <a:t>://"</a:t>
            </a:r>
            <a:r>
              <a:rPr lang="en-IE" sz="1600" i="1" dirty="0">
                <a:solidFill>
                  <a:srgbClr val="000000"/>
                </a:solidFill>
                <a:latin typeface="Consolas"/>
              </a:rPr>
              <a:t> + </a:t>
            </a:r>
            <a:r>
              <a:rPr lang="en-IE" sz="1600" b="1" i="1" dirty="0">
                <a:solidFill>
                  <a:srgbClr val="0000C0"/>
                </a:solidFill>
                <a:latin typeface="Consolas"/>
              </a:rPr>
              <a:t>HOST</a:t>
            </a:r>
            <a:r>
              <a:rPr lang="en-IE" sz="1600" b="1" i="1" dirty="0">
                <a:solidFill>
                  <a:srgbClr val="000000"/>
                </a:solidFill>
                <a:latin typeface="Consolas"/>
              </a:rPr>
              <a:t> + </a:t>
            </a:r>
            <a:r>
              <a:rPr lang="en-IE" sz="1600" b="1" i="1" dirty="0">
                <a:solidFill>
                  <a:srgbClr val="2A00FF"/>
                </a:solidFill>
                <a:latin typeface="Consolas"/>
              </a:rPr>
              <a:t>"/Account"</a:t>
            </a:r>
            <a:r>
              <a:rPr lang="en-IE" sz="1600" b="1" i="1" dirty="0">
                <a:solidFill>
                  <a:srgbClr val="000000"/>
                </a:solidFill>
                <a:latin typeface="Consolas"/>
              </a:rPr>
              <a:t> + </a:t>
            </a:r>
            <a:r>
              <a:rPr lang="en-IE" sz="1600" b="1" i="1" dirty="0" err="1">
                <a:solidFill>
                  <a:srgbClr val="6A3E3E"/>
                </a:solidFill>
                <a:latin typeface="Consolas"/>
              </a:rPr>
              <a:t>acctNum</a:t>
            </a:r>
            <a:r>
              <a:rPr lang="en-IE" sz="1600" b="1" i="1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IE" sz="1600" b="1" i="1" dirty="0">
                <a:solidFill>
                  <a:srgbClr val="6A3E3E"/>
                </a:solidFill>
                <a:latin typeface="Consolas"/>
              </a:rPr>
              <a:t>account</a:t>
            </a:r>
            <a:r>
              <a:rPr lang="en-IE" sz="1600" b="1" i="1" dirty="0">
                <a:solidFill>
                  <a:srgbClr val="000000"/>
                </a:solidFill>
                <a:latin typeface="Consolas"/>
              </a:rPr>
              <a:t>[</a:t>
            </a:r>
            <a:r>
              <a:rPr lang="en-IE" sz="1600" b="1" i="1" dirty="0" err="1">
                <a:solidFill>
                  <a:srgbClr val="6A3E3E"/>
                </a:solidFill>
                <a:latin typeface="Consolas"/>
              </a:rPr>
              <a:t>i</a:t>
            </a:r>
            <a:r>
              <a:rPr lang="en-IE" sz="1600" b="1" i="1" dirty="0">
                <a:solidFill>
                  <a:srgbClr val="000000"/>
                </a:solidFill>
                <a:latin typeface="Consolas"/>
              </a:rPr>
              <a:t>]);</a:t>
            </a:r>
          </a:p>
          <a:p>
            <a:r>
              <a:rPr lang="en-IE" sz="1600" dirty="0">
                <a:solidFill>
                  <a:srgbClr val="000000"/>
                </a:solidFill>
                <a:latin typeface="Consolas"/>
              </a:rPr>
              <a:t>}</a:t>
            </a:r>
          </a:p>
          <a:p>
            <a:r>
              <a:rPr lang="en-IE" sz="1600" dirty="0" err="1">
                <a:solidFill>
                  <a:srgbClr val="000000"/>
                </a:solidFill>
                <a:latin typeface="Consolas"/>
              </a:rPr>
              <a:t>System.</a:t>
            </a:r>
            <a:r>
              <a:rPr lang="en-IE" sz="1600" b="1" i="1" dirty="0" err="1">
                <a:solidFill>
                  <a:srgbClr val="0000C0"/>
                </a:solidFill>
                <a:latin typeface="Consolas"/>
              </a:rPr>
              <a:t>out</a:t>
            </a:r>
            <a:r>
              <a:rPr lang="en-IE" sz="1600" b="1" i="1" dirty="0" err="1">
                <a:solidFill>
                  <a:srgbClr val="000000"/>
                </a:solidFill>
                <a:latin typeface="Consolas"/>
              </a:rPr>
              <a:t>.println</a:t>
            </a:r>
            <a:r>
              <a:rPr lang="en-IE" sz="1600" b="1" i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IE" sz="1600" b="1" i="1" dirty="0">
                <a:solidFill>
                  <a:srgbClr val="2A00FF"/>
                </a:solidFill>
                <a:latin typeface="Consolas"/>
              </a:rPr>
              <a:t>"Binding complete…\n"</a:t>
            </a:r>
            <a:r>
              <a:rPr lang="en-IE" sz="1600" b="1" i="1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IE" sz="1600" dirty="0">
                <a:solidFill>
                  <a:srgbClr val="000000"/>
                </a:solidFill>
                <a:latin typeface="Consolas"/>
              </a:rPr>
              <a:t>}</a:t>
            </a:r>
          </a:p>
          <a:p>
            <a:r>
              <a:rPr lang="en-IE" sz="1600" dirty="0">
                <a:solidFill>
                  <a:srgbClr val="000000"/>
                </a:solidFill>
                <a:latin typeface="Consolas"/>
              </a:rPr>
              <a:t>}</a:t>
            </a:r>
            <a:endParaRPr lang="en-IE" sz="1600" dirty="0"/>
          </a:p>
        </p:txBody>
      </p:sp>
    </p:spTree>
    <p:extLst>
      <p:ext uri="{BB962C8B-B14F-4D97-AF65-F5344CB8AC3E}">
        <p14:creationId xmlns:p14="http://schemas.microsoft.com/office/powerpoint/2010/main" val="650673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altLang="en-US" dirty="0" smtClean="0"/>
              <a:t>Example Bank Without Serialization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295400"/>
            <a:ext cx="9144000" cy="54784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E" sz="1400" b="1" dirty="0">
                <a:solidFill>
                  <a:srgbClr val="7F0055"/>
                </a:solidFill>
                <a:latin typeface="Consolas"/>
              </a:rPr>
              <a:t>import</a:t>
            </a:r>
            <a:r>
              <a:rPr lang="en-IE" sz="14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400" b="1" dirty="0" err="1">
                <a:solidFill>
                  <a:srgbClr val="000000"/>
                </a:solidFill>
                <a:latin typeface="Consolas"/>
              </a:rPr>
              <a:t>java.rmi</a:t>
            </a:r>
            <a:r>
              <a:rPr lang="en-IE" sz="1400" b="1" dirty="0">
                <a:solidFill>
                  <a:srgbClr val="000000"/>
                </a:solidFill>
                <a:latin typeface="Consolas"/>
              </a:rPr>
              <a:t>.*;</a:t>
            </a:r>
          </a:p>
          <a:p>
            <a:r>
              <a:rPr lang="en-IE" sz="1400" b="1" dirty="0">
                <a:solidFill>
                  <a:srgbClr val="7F0055"/>
                </a:solidFill>
                <a:latin typeface="Consolas"/>
              </a:rPr>
              <a:t>public</a:t>
            </a:r>
            <a:r>
              <a:rPr lang="en-IE" sz="14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400" b="1" dirty="0">
                <a:solidFill>
                  <a:srgbClr val="7F0055"/>
                </a:solidFill>
                <a:latin typeface="Consolas"/>
              </a:rPr>
              <a:t>class</a:t>
            </a:r>
            <a:r>
              <a:rPr lang="en-IE" sz="1400" b="1" dirty="0">
                <a:solidFill>
                  <a:srgbClr val="000000"/>
                </a:solidFill>
                <a:latin typeface="Consolas"/>
              </a:rPr>
              <a:t> Bank2Client {</a:t>
            </a:r>
          </a:p>
          <a:p>
            <a:r>
              <a:rPr lang="en-IE" sz="1400" b="1" dirty="0">
                <a:solidFill>
                  <a:srgbClr val="7F0055"/>
                </a:solidFill>
                <a:latin typeface="Consolas"/>
              </a:rPr>
              <a:t>private</a:t>
            </a:r>
            <a:r>
              <a:rPr lang="en-IE" sz="14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400" b="1" dirty="0">
                <a:solidFill>
                  <a:srgbClr val="7F0055"/>
                </a:solidFill>
                <a:latin typeface="Consolas"/>
              </a:rPr>
              <a:t>static</a:t>
            </a:r>
            <a:r>
              <a:rPr lang="en-IE" sz="14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400" b="1" dirty="0">
                <a:solidFill>
                  <a:srgbClr val="7F0055"/>
                </a:solidFill>
                <a:latin typeface="Consolas"/>
              </a:rPr>
              <a:t>final</a:t>
            </a:r>
            <a:r>
              <a:rPr lang="en-IE" sz="1400" b="1" dirty="0">
                <a:solidFill>
                  <a:srgbClr val="000000"/>
                </a:solidFill>
                <a:latin typeface="Consolas"/>
              </a:rPr>
              <a:t> String </a:t>
            </a:r>
            <a:r>
              <a:rPr lang="en-IE" sz="1400" b="1" i="1" dirty="0">
                <a:solidFill>
                  <a:srgbClr val="0000C0"/>
                </a:solidFill>
                <a:latin typeface="Consolas"/>
              </a:rPr>
              <a:t>HOST</a:t>
            </a:r>
            <a:r>
              <a:rPr lang="en-IE" sz="1400" b="1" i="1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IE" sz="1400" b="1" i="1" dirty="0">
                <a:solidFill>
                  <a:srgbClr val="2A00FF"/>
                </a:solidFill>
                <a:latin typeface="Consolas"/>
              </a:rPr>
              <a:t>"localhost"</a:t>
            </a:r>
            <a:r>
              <a:rPr lang="en-IE" sz="1400" b="1" i="1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IE" sz="1400" b="1" dirty="0">
                <a:solidFill>
                  <a:srgbClr val="7F0055"/>
                </a:solidFill>
                <a:latin typeface="Consolas"/>
              </a:rPr>
              <a:t>private</a:t>
            </a:r>
            <a:r>
              <a:rPr lang="en-IE" sz="14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400" b="1" dirty="0">
                <a:solidFill>
                  <a:srgbClr val="7F0055"/>
                </a:solidFill>
                <a:latin typeface="Consolas"/>
              </a:rPr>
              <a:t>static</a:t>
            </a:r>
            <a:r>
              <a:rPr lang="en-IE" sz="14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400" b="1" dirty="0">
                <a:solidFill>
                  <a:srgbClr val="7F0055"/>
                </a:solidFill>
                <a:latin typeface="Consolas"/>
              </a:rPr>
              <a:t>final</a:t>
            </a:r>
            <a:r>
              <a:rPr lang="en-IE" sz="14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400" b="1" dirty="0" err="1">
                <a:solidFill>
                  <a:srgbClr val="7F0055"/>
                </a:solidFill>
                <a:latin typeface="Consolas"/>
              </a:rPr>
              <a:t>int</a:t>
            </a:r>
            <a:r>
              <a:rPr lang="en-IE" sz="1400" b="1" dirty="0">
                <a:solidFill>
                  <a:srgbClr val="000000"/>
                </a:solidFill>
                <a:latin typeface="Consolas"/>
              </a:rPr>
              <a:t>[] </a:t>
            </a:r>
            <a:r>
              <a:rPr lang="en-IE" sz="1400" b="1" i="1" dirty="0" err="1">
                <a:solidFill>
                  <a:srgbClr val="0000C0"/>
                </a:solidFill>
                <a:latin typeface="Consolas"/>
              </a:rPr>
              <a:t>acctNum</a:t>
            </a:r>
            <a:r>
              <a:rPr lang="en-IE" sz="1400" b="1" i="1" dirty="0">
                <a:solidFill>
                  <a:srgbClr val="000000"/>
                </a:solidFill>
                <a:latin typeface="Consolas"/>
              </a:rPr>
              <a:t> = {111111,222222,234567,666666};</a:t>
            </a:r>
          </a:p>
          <a:p>
            <a:r>
              <a:rPr lang="en-IE" sz="1400" b="1" dirty="0">
                <a:solidFill>
                  <a:srgbClr val="7F0055"/>
                </a:solidFill>
                <a:latin typeface="Consolas"/>
              </a:rPr>
              <a:t>public</a:t>
            </a:r>
            <a:r>
              <a:rPr lang="en-IE" sz="14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400" b="1" dirty="0">
                <a:solidFill>
                  <a:srgbClr val="7F0055"/>
                </a:solidFill>
                <a:latin typeface="Consolas"/>
              </a:rPr>
              <a:t>static</a:t>
            </a:r>
            <a:r>
              <a:rPr lang="en-IE" sz="14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400" b="1" dirty="0">
                <a:solidFill>
                  <a:srgbClr val="7F0055"/>
                </a:solidFill>
                <a:latin typeface="Consolas"/>
              </a:rPr>
              <a:t>void</a:t>
            </a:r>
            <a:r>
              <a:rPr lang="en-IE" sz="1400" b="1" dirty="0">
                <a:solidFill>
                  <a:srgbClr val="000000"/>
                </a:solidFill>
                <a:latin typeface="Consolas"/>
              </a:rPr>
              <a:t> main(String[] </a:t>
            </a:r>
            <a:r>
              <a:rPr lang="en-IE" sz="1400" b="1" dirty="0" err="1">
                <a:solidFill>
                  <a:srgbClr val="6A3E3E"/>
                </a:solidFill>
                <a:latin typeface="Consolas"/>
              </a:rPr>
              <a:t>args</a:t>
            </a:r>
            <a:r>
              <a:rPr lang="en-IE" sz="1400" b="1" dirty="0">
                <a:solidFill>
                  <a:srgbClr val="000000"/>
                </a:solidFill>
                <a:latin typeface="Consolas"/>
              </a:rPr>
              <a:t>){</a:t>
            </a:r>
          </a:p>
          <a:p>
            <a:r>
              <a:rPr lang="en-IE" sz="1400" b="1" dirty="0">
                <a:solidFill>
                  <a:srgbClr val="7F0055"/>
                </a:solidFill>
                <a:latin typeface="Consolas"/>
              </a:rPr>
              <a:t>try</a:t>
            </a:r>
            <a:r>
              <a:rPr lang="en-IE" sz="1400" b="1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IE" sz="1400" dirty="0">
                <a:solidFill>
                  <a:srgbClr val="3F7F5F"/>
                </a:solidFill>
                <a:latin typeface="Consolas"/>
              </a:rPr>
              <a:t>//Simply display all account details…</a:t>
            </a:r>
          </a:p>
          <a:p>
            <a:r>
              <a:rPr lang="nn-NO" sz="1400" b="1" dirty="0">
                <a:solidFill>
                  <a:srgbClr val="7F0055"/>
                </a:solidFill>
                <a:latin typeface="Consolas"/>
              </a:rPr>
              <a:t>for</a:t>
            </a:r>
            <a:r>
              <a:rPr lang="nn-NO" sz="1400" b="1" dirty="0">
                <a:solidFill>
                  <a:srgbClr val="000000"/>
                </a:solidFill>
                <a:latin typeface="Consolas"/>
              </a:rPr>
              <a:t> (</a:t>
            </a:r>
            <a:r>
              <a:rPr lang="nn-NO" sz="1400" b="1" dirty="0">
                <a:solidFill>
                  <a:srgbClr val="7F0055"/>
                </a:solidFill>
                <a:latin typeface="Consolas"/>
              </a:rPr>
              <a:t>int</a:t>
            </a:r>
            <a:r>
              <a:rPr lang="nn-NO" sz="14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nn-NO" sz="1400" b="1" dirty="0">
                <a:solidFill>
                  <a:srgbClr val="6A3E3E"/>
                </a:solidFill>
                <a:latin typeface="Consolas"/>
              </a:rPr>
              <a:t>i</a:t>
            </a:r>
            <a:r>
              <a:rPr lang="nn-NO" sz="1400" b="1" dirty="0">
                <a:solidFill>
                  <a:srgbClr val="000000"/>
                </a:solidFill>
                <a:latin typeface="Consolas"/>
              </a:rPr>
              <a:t>=0; </a:t>
            </a:r>
            <a:r>
              <a:rPr lang="nn-NO" sz="1400" b="1" dirty="0">
                <a:solidFill>
                  <a:srgbClr val="6A3E3E"/>
                </a:solidFill>
                <a:latin typeface="Consolas"/>
              </a:rPr>
              <a:t>i</a:t>
            </a:r>
            <a:r>
              <a:rPr lang="nn-NO" sz="1400" b="1" dirty="0">
                <a:solidFill>
                  <a:srgbClr val="000000"/>
                </a:solidFill>
                <a:latin typeface="Consolas"/>
              </a:rPr>
              <a:t>&lt;</a:t>
            </a:r>
            <a:r>
              <a:rPr lang="nn-NO" sz="1400" b="1" i="1" dirty="0">
                <a:solidFill>
                  <a:srgbClr val="0000C0"/>
                </a:solidFill>
                <a:latin typeface="Consolas"/>
              </a:rPr>
              <a:t>acctNum</a:t>
            </a:r>
            <a:r>
              <a:rPr lang="nn-NO" sz="1400" b="1" i="1" dirty="0">
                <a:solidFill>
                  <a:srgbClr val="000000"/>
                </a:solidFill>
                <a:latin typeface="Consolas"/>
              </a:rPr>
              <a:t>.</a:t>
            </a:r>
            <a:r>
              <a:rPr lang="nn-NO" sz="1400" b="1" i="1" dirty="0">
                <a:solidFill>
                  <a:srgbClr val="0000C0"/>
                </a:solidFill>
                <a:latin typeface="Consolas"/>
              </a:rPr>
              <a:t>length</a:t>
            </a:r>
            <a:r>
              <a:rPr lang="nn-NO" sz="1400" b="1" i="1" dirty="0">
                <a:solidFill>
                  <a:srgbClr val="000000"/>
                </a:solidFill>
                <a:latin typeface="Consolas"/>
              </a:rPr>
              <a:t>; </a:t>
            </a:r>
            <a:r>
              <a:rPr lang="nn-NO" sz="1400" b="1" i="1" dirty="0">
                <a:solidFill>
                  <a:srgbClr val="6A3E3E"/>
                </a:solidFill>
                <a:latin typeface="Consolas"/>
              </a:rPr>
              <a:t>i</a:t>
            </a:r>
            <a:r>
              <a:rPr lang="nn-NO" sz="1400" b="1" i="1" dirty="0">
                <a:solidFill>
                  <a:srgbClr val="000000"/>
                </a:solidFill>
                <a:latin typeface="Consolas"/>
              </a:rPr>
              <a:t>++){</a:t>
            </a:r>
          </a:p>
          <a:p>
            <a:r>
              <a:rPr lang="en-IE" sz="1400" dirty="0">
                <a:solidFill>
                  <a:srgbClr val="000000"/>
                </a:solidFill>
                <a:latin typeface="Consolas"/>
              </a:rPr>
              <a:t>Bank2 </a:t>
            </a:r>
            <a:r>
              <a:rPr lang="en-IE" sz="1400" dirty="0">
                <a:solidFill>
                  <a:srgbClr val="6A3E3E"/>
                </a:solidFill>
                <a:latin typeface="Consolas"/>
              </a:rPr>
              <a:t>temp</a:t>
            </a:r>
            <a:r>
              <a:rPr lang="en-IE" sz="1400" dirty="0">
                <a:solidFill>
                  <a:srgbClr val="000000"/>
                </a:solidFill>
                <a:latin typeface="Consolas"/>
              </a:rPr>
              <a:t> = (Bank2) </a:t>
            </a:r>
            <a:r>
              <a:rPr lang="en-IE" sz="1400" dirty="0" err="1">
                <a:solidFill>
                  <a:srgbClr val="000000"/>
                </a:solidFill>
                <a:latin typeface="Consolas"/>
              </a:rPr>
              <a:t>Naming.</a:t>
            </a:r>
            <a:r>
              <a:rPr lang="en-IE" sz="1400" i="1" dirty="0" err="1">
                <a:solidFill>
                  <a:srgbClr val="000000"/>
                </a:solidFill>
                <a:latin typeface="Consolas"/>
              </a:rPr>
              <a:t>lookup</a:t>
            </a:r>
            <a:r>
              <a:rPr lang="en-IE" sz="1400" i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IE" sz="1400" i="1" dirty="0">
                <a:solidFill>
                  <a:srgbClr val="2A00FF"/>
                </a:solidFill>
                <a:latin typeface="Consolas"/>
              </a:rPr>
              <a:t>"</a:t>
            </a:r>
            <a:r>
              <a:rPr lang="en-IE" sz="1400" i="1" dirty="0" err="1">
                <a:solidFill>
                  <a:srgbClr val="2A00FF"/>
                </a:solidFill>
                <a:latin typeface="Consolas"/>
              </a:rPr>
              <a:t>rmi</a:t>
            </a:r>
            <a:r>
              <a:rPr lang="en-IE" sz="1400" i="1" dirty="0">
                <a:solidFill>
                  <a:srgbClr val="2A00FF"/>
                </a:solidFill>
                <a:latin typeface="Consolas"/>
              </a:rPr>
              <a:t>://"</a:t>
            </a:r>
            <a:r>
              <a:rPr lang="en-IE" sz="1400" i="1" dirty="0">
                <a:solidFill>
                  <a:srgbClr val="000000"/>
                </a:solidFill>
                <a:latin typeface="Consolas"/>
              </a:rPr>
              <a:t> + </a:t>
            </a:r>
            <a:r>
              <a:rPr lang="en-IE" sz="1400" b="1" i="1" dirty="0">
                <a:solidFill>
                  <a:srgbClr val="0000C0"/>
                </a:solidFill>
                <a:latin typeface="Consolas"/>
              </a:rPr>
              <a:t>HOST</a:t>
            </a:r>
            <a:r>
              <a:rPr lang="en-IE" sz="1400" b="1" i="1" dirty="0">
                <a:solidFill>
                  <a:srgbClr val="000000"/>
                </a:solidFill>
                <a:latin typeface="Consolas"/>
              </a:rPr>
              <a:t> + </a:t>
            </a:r>
            <a:r>
              <a:rPr lang="en-IE" sz="1400" b="1" i="1" dirty="0">
                <a:solidFill>
                  <a:srgbClr val="2A00FF"/>
                </a:solidFill>
                <a:latin typeface="Consolas"/>
              </a:rPr>
              <a:t>"/Account"</a:t>
            </a:r>
            <a:r>
              <a:rPr lang="en-IE" sz="1400" b="1" i="1" dirty="0">
                <a:solidFill>
                  <a:srgbClr val="000000"/>
                </a:solidFill>
                <a:latin typeface="Consolas"/>
              </a:rPr>
              <a:t> + </a:t>
            </a:r>
            <a:r>
              <a:rPr lang="en-IE" sz="1400" b="1" i="1" dirty="0" err="1">
                <a:solidFill>
                  <a:srgbClr val="0000C0"/>
                </a:solidFill>
                <a:latin typeface="Consolas"/>
              </a:rPr>
              <a:t>acctNum</a:t>
            </a:r>
            <a:r>
              <a:rPr lang="en-IE" sz="1400" b="1" i="1" dirty="0">
                <a:solidFill>
                  <a:srgbClr val="000000"/>
                </a:solidFill>
                <a:latin typeface="Consolas"/>
              </a:rPr>
              <a:t>[</a:t>
            </a:r>
            <a:r>
              <a:rPr lang="en-IE" sz="1400" b="1" i="1" dirty="0" err="1">
                <a:solidFill>
                  <a:srgbClr val="6A3E3E"/>
                </a:solidFill>
                <a:latin typeface="Consolas"/>
              </a:rPr>
              <a:t>i</a:t>
            </a:r>
            <a:r>
              <a:rPr lang="en-IE" sz="1400" b="1" i="1" dirty="0">
                <a:solidFill>
                  <a:srgbClr val="000000"/>
                </a:solidFill>
                <a:latin typeface="Consolas"/>
              </a:rPr>
              <a:t>]);</a:t>
            </a:r>
          </a:p>
          <a:p>
            <a:r>
              <a:rPr lang="en-IE" sz="1400" dirty="0">
                <a:solidFill>
                  <a:srgbClr val="3F7F5F"/>
                </a:solidFill>
                <a:latin typeface="Consolas"/>
              </a:rPr>
              <a:t>//Now invoke the methods of the interface to</a:t>
            </a:r>
          </a:p>
          <a:p>
            <a:r>
              <a:rPr lang="en-IE" sz="1400" dirty="0">
                <a:solidFill>
                  <a:srgbClr val="3F7F5F"/>
                </a:solidFill>
                <a:latin typeface="Consolas"/>
              </a:rPr>
              <a:t>//display details of associated account…</a:t>
            </a:r>
          </a:p>
          <a:p>
            <a:r>
              <a:rPr lang="en-IE" sz="1400" dirty="0" err="1">
                <a:solidFill>
                  <a:srgbClr val="000000"/>
                </a:solidFill>
                <a:latin typeface="Consolas"/>
              </a:rPr>
              <a:t>System.</a:t>
            </a:r>
            <a:r>
              <a:rPr lang="en-IE" sz="1400" b="1" i="1" dirty="0" err="1">
                <a:solidFill>
                  <a:srgbClr val="0000C0"/>
                </a:solidFill>
                <a:latin typeface="Consolas"/>
              </a:rPr>
              <a:t>out</a:t>
            </a:r>
            <a:r>
              <a:rPr lang="en-IE" sz="1400" b="1" i="1" dirty="0" err="1">
                <a:solidFill>
                  <a:srgbClr val="000000"/>
                </a:solidFill>
                <a:latin typeface="Consolas"/>
              </a:rPr>
              <a:t>.println</a:t>
            </a:r>
            <a:r>
              <a:rPr lang="en-IE" sz="1400" b="1" i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IE" sz="1400" b="1" i="1" dirty="0">
                <a:solidFill>
                  <a:srgbClr val="2A00FF"/>
                </a:solidFill>
                <a:latin typeface="Consolas"/>
              </a:rPr>
              <a:t>"\</a:t>
            </a:r>
            <a:r>
              <a:rPr lang="en-IE" sz="1400" b="1" i="1" dirty="0" err="1">
                <a:solidFill>
                  <a:srgbClr val="2A00FF"/>
                </a:solidFill>
                <a:latin typeface="Consolas"/>
              </a:rPr>
              <a:t>nAccount</a:t>
            </a:r>
            <a:r>
              <a:rPr lang="en-IE" sz="1400" b="1" i="1" dirty="0">
                <a:solidFill>
                  <a:srgbClr val="2A00FF"/>
                </a:solidFill>
                <a:latin typeface="Consolas"/>
              </a:rPr>
              <a:t> number: "</a:t>
            </a:r>
            <a:r>
              <a:rPr lang="en-IE" sz="1400" b="1" i="1" dirty="0">
                <a:solidFill>
                  <a:srgbClr val="000000"/>
                </a:solidFill>
                <a:latin typeface="Consolas"/>
              </a:rPr>
              <a:t> + </a:t>
            </a:r>
            <a:r>
              <a:rPr lang="en-IE" sz="1400" b="1" i="1" dirty="0" err="1">
                <a:solidFill>
                  <a:srgbClr val="6A3E3E"/>
                </a:solidFill>
                <a:latin typeface="Consolas"/>
              </a:rPr>
              <a:t>temp</a:t>
            </a:r>
            <a:r>
              <a:rPr lang="en-IE" sz="1400" b="1" i="1" dirty="0" err="1">
                <a:solidFill>
                  <a:srgbClr val="000000"/>
                </a:solidFill>
                <a:latin typeface="Consolas"/>
              </a:rPr>
              <a:t>.getAcctNum</a:t>
            </a:r>
            <a:r>
              <a:rPr lang="en-IE" sz="1400" b="1" i="1" dirty="0">
                <a:solidFill>
                  <a:srgbClr val="000000"/>
                </a:solidFill>
                <a:latin typeface="Consolas"/>
              </a:rPr>
              <a:t>());</a:t>
            </a:r>
          </a:p>
          <a:p>
            <a:r>
              <a:rPr lang="en-IE" sz="1400" dirty="0" err="1">
                <a:solidFill>
                  <a:srgbClr val="000000"/>
                </a:solidFill>
                <a:latin typeface="Consolas"/>
              </a:rPr>
              <a:t>System.</a:t>
            </a:r>
            <a:r>
              <a:rPr lang="en-IE" sz="1400" b="1" i="1" dirty="0" err="1">
                <a:solidFill>
                  <a:srgbClr val="0000C0"/>
                </a:solidFill>
                <a:latin typeface="Consolas"/>
              </a:rPr>
              <a:t>out</a:t>
            </a:r>
            <a:r>
              <a:rPr lang="en-IE" sz="1400" b="1" i="1" dirty="0" err="1">
                <a:solidFill>
                  <a:srgbClr val="000000"/>
                </a:solidFill>
                <a:latin typeface="Consolas"/>
              </a:rPr>
              <a:t>.println</a:t>
            </a:r>
            <a:r>
              <a:rPr lang="en-IE" sz="1400" b="1" i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IE" sz="1400" b="1" i="1" dirty="0">
                <a:solidFill>
                  <a:srgbClr val="2A00FF"/>
                </a:solidFill>
                <a:latin typeface="Consolas"/>
              </a:rPr>
              <a:t>"Name: "</a:t>
            </a:r>
            <a:r>
              <a:rPr lang="en-IE" sz="1400" b="1" i="1" dirty="0">
                <a:solidFill>
                  <a:srgbClr val="000000"/>
                </a:solidFill>
                <a:latin typeface="Consolas"/>
              </a:rPr>
              <a:t> + </a:t>
            </a:r>
            <a:r>
              <a:rPr lang="en-IE" sz="1400" b="1" i="1" dirty="0" err="1">
                <a:solidFill>
                  <a:srgbClr val="6A3E3E"/>
                </a:solidFill>
                <a:latin typeface="Consolas"/>
              </a:rPr>
              <a:t>temp</a:t>
            </a:r>
            <a:r>
              <a:rPr lang="en-IE" sz="1400" b="1" i="1" dirty="0" err="1">
                <a:solidFill>
                  <a:srgbClr val="000000"/>
                </a:solidFill>
                <a:latin typeface="Consolas"/>
              </a:rPr>
              <a:t>.getName</a:t>
            </a:r>
            <a:r>
              <a:rPr lang="en-IE" sz="1400" b="1" i="1" dirty="0">
                <a:solidFill>
                  <a:srgbClr val="000000"/>
                </a:solidFill>
                <a:latin typeface="Consolas"/>
              </a:rPr>
              <a:t>());</a:t>
            </a:r>
          </a:p>
          <a:p>
            <a:r>
              <a:rPr lang="en-IE" sz="1400" dirty="0" err="1">
                <a:solidFill>
                  <a:srgbClr val="000000"/>
                </a:solidFill>
                <a:latin typeface="Consolas"/>
              </a:rPr>
              <a:t>System.</a:t>
            </a:r>
            <a:r>
              <a:rPr lang="en-IE" sz="1400" b="1" i="1" dirty="0" err="1">
                <a:solidFill>
                  <a:srgbClr val="0000C0"/>
                </a:solidFill>
                <a:latin typeface="Consolas"/>
              </a:rPr>
              <a:t>out</a:t>
            </a:r>
            <a:r>
              <a:rPr lang="en-IE" sz="1400" b="1" i="1" dirty="0" err="1">
                <a:solidFill>
                  <a:srgbClr val="000000"/>
                </a:solidFill>
                <a:latin typeface="Consolas"/>
              </a:rPr>
              <a:t>.println</a:t>
            </a:r>
            <a:r>
              <a:rPr lang="en-IE" sz="1400" b="1" i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IE" sz="1400" b="1" i="1" dirty="0">
                <a:solidFill>
                  <a:srgbClr val="2A00FF"/>
                </a:solidFill>
                <a:latin typeface="Consolas"/>
              </a:rPr>
              <a:t>"Balance: "</a:t>
            </a:r>
            <a:r>
              <a:rPr lang="en-IE" sz="1400" b="1" i="1" dirty="0">
                <a:solidFill>
                  <a:srgbClr val="000000"/>
                </a:solidFill>
                <a:latin typeface="Consolas"/>
              </a:rPr>
              <a:t> + </a:t>
            </a:r>
            <a:r>
              <a:rPr lang="en-IE" sz="1400" b="1" i="1" dirty="0" err="1">
                <a:solidFill>
                  <a:srgbClr val="6A3E3E"/>
                </a:solidFill>
                <a:latin typeface="Consolas"/>
              </a:rPr>
              <a:t>temp</a:t>
            </a:r>
            <a:r>
              <a:rPr lang="en-IE" sz="1400" b="1" i="1" dirty="0" err="1">
                <a:solidFill>
                  <a:srgbClr val="000000"/>
                </a:solidFill>
                <a:latin typeface="Consolas"/>
              </a:rPr>
              <a:t>.getBalance</a:t>
            </a:r>
            <a:r>
              <a:rPr lang="en-IE" sz="1400" b="1" i="1" dirty="0">
                <a:solidFill>
                  <a:srgbClr val="000000"/>
                </a:solidFill>
                <a:latin typeface="Consolas"/>
              </a:rPr>
              <a:t>());</a:t>
            </a:r>
          </a:p>
          <a:p>
            <a:r>
              <a:rPr lang="en-IE" sz="1400" dirty="0">
                <a:solidFill>
                  <a:srgbClr val="000000"/>
                </a:solidFill>
                <a:latin typeface="Consolas"/>
              </a:rPr>
              <a:t>}</a:t>
            </a:r>
          </a:p>
          <a:p>
            <a:r>
              <a:rPr lang="en-IE" sz="1400" dirty="0">
                <a:solidFill>
                  <a:srgbClr val="000000"/>
                </a:solidFill>
                <a:latin typeface="Consolas"/>
              </a:rPr>
              <a:t>}</a:t>
            </a:r>
          </a:p>
          <a:p>
            <a:r>
              <a:rPr lang="en-IE" sz="1400" b="1" dirty="0">
                <a:solidFill>
                  <a:srgbClr val="7F0055"/>
                </a:solidFill>
                <a:latin typeface="Consolas"/>
              </a:rPr>
              <a:t>catch</a:t>
            </a:r>
            <a:r>
              <a:rPr lang="en-IE" sz="1400" b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IE" sz="1400" b="1" dirty="0" err="1">
                <a:solidFill>
                  <a:srgbClr val="000000"/>
                </a:solidFill>
                <a:latin typeface="Consolas"/>
              </a:rPr>
              <a:t>ConnectException</a:t>
            </a:r>
            <a:r>
              <a:rPr lang="en-IE" sz="14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400" b="1" dirty="0" err="1">
                <a:solidFill>
                  <a:srgbClr val="6A3E3E"/>
                </a:solidFill>
                <a:latin typeface="Consolas"/>
              </a:rPr>
              <a:t>conEx</a:t>
            </a:r>
            <a:r>
              <a:rPr lang="en-IE" sz="1400" b="1" dirty="0">
                <a:solidFill>
                  <a:srgbClr val="000000"/>
                </a:solidFill>
                <a:latin typeface="Consolas"/>
              </a:rPr>
              <a:t>){</a:t>
            </a:r>
          </a:p>
          <a:p>
            <a:r>
              <a:rPr lang="en-IE" sz="1400" dirty="0" err="1">
                <a:solidFill>
                  <a:srgbClr val="000000"/>
                </a:solidFill>
                <a:latin typeface="Consolas"/>
              </a:rPr>
              <a:t>System.</a:t>
            </a:r>
            <a:r>
              <a:rPr lang="en-IE" sz="1400" b="1" i="1" dirty="0" err="1">
                <a:solidFill>
                  <a:srgbClr val="0000C0"/>
                </a:solidFill>
                <a:latin typeface="Consolas"/>
              </a:rPr>
              <a:t>out</a:t>
            </a:r>
            <a:r>
              <a:rPr lang="en-IE" sz="1400" b="1" i="1" dirty="0" err="1">
                <a:solidFill>
                  <a:srgbClr val="000000"/>
                </a:solidFill>
                <a:latin typeface="Consolas"/>
              </a:rPr>
              <a:t>.println</a:t>
            </a:r>
            <a:r>
              <a:rPr lang="en-IE" sz="1400" b="1" i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IE" sz="1400" b="1" i="1" dirty="0">
                <a:solidFill>
                  <a:srgbClr val="2A00FF"/>
                </a:solidFill>
                <a:latin typeface="Consolas"/>
              </a:rPr>
              <a:t>"Unable to connect to server!"</a:t>
            </a:r>
            <a:r>
              <a:rPr lang="en-IE" sz="1400" b="1" i="1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endParaRPr lang="en-IE" sz="1400" dirty="0">
              <a:latin typeface="Consolas"/>
            </a:endParaRPr>
          </a:p>
          <a:p>
            <a:r>
              <a:rPr lang="en-IE" sz="1400" dirty="0">
                <a:solidFill>
                  <a:srgbClr val="000000"/>
                </a:solidFill>
                <a:latin typeface="Consolas"/>
              </a:rPr>
              <a:t>}</a:t>
            </a:r>
          </a:p>
          <a:p>
            <a:r>
              <a:rPr lang="en-IE" sz="1400" b="1" dirty="0">
                <a:solidFill>
                  <a:srgbClr val="7F0055"/>
                </a:solidFill>
                <a:latin typeface="Consolas"/>
              </a:rPr>
              <a:t>catch</a:t>
            </a:r>
            <a:r>
              <a:rPr lang="en-IE" sz="1400" b="1" dirty="0">
                <a:solidFill>
                  <a:srgbClr val="000000"/>
                </a:solidFill>
                <a:latin typeface="Consolas"/>
              </a:rPr>
              <a:t>(Exception </a:t>
            </a:r>
            <a:r>
              <a:rPr lang="en-IE" sz="1400" b="1" dirty="0">
                <a:solidFill>
                  <a:srgbClr val="6A3E3E"/>
                </a:solidFill>
                <a:latin typeface="Consolas"/>
              </a:rPr>
              <a:t>ex</a:t>
            </a:r>
            <a:r>
              <a:rPr lang="en-IE" sz="1400" b="1" dirty="0">
                <a:solidFill>
                  <a:srgbClr val="000000"/>
                </a:solidFill>
                <a:latin typeface="Consolas"/>
              </a:rPr>
              <a:t>){</a:t>
            </a:r>
          </a:p>
          <a:p>
            <a:r>
              <a:rPr lang="en-IE" sz="1400" dirty="0" err="1">
                <a:solidFill>
                  <a:srgbClr val="6A3E3E"/>
                </a:solidFill>
                <a:latin typeface="Consolas"/>
              </a:rPr>
              <a:t>ex</a:t>
            </a:r>
            <a:r>
              <a:rPr lang="en-IE" sz="1400" dirty="0" err="1">
                <a:solidFill>
                  <a:srgbClr val="000000"/>
                </a:solidFill>
                <a:latin typeface="Consolas"/>
              </a:rPr>
              <a:t>.printStackTrace</a:t>
            </a:r>
            <a:r>
              <a:rPr lang="en-IE" sz="1400" dirty="0">
                <a:solidFill>
                  <a:srgbClr val="000000"/>
                </a:solidFill>
                <a:latin typeface="Consolas"/>
              </a:rPr>
              <a:t>();</a:t>
            </a:r>
          </a:p>
          <a:p>
            <a:r>
              <a:rPr lang="en-IE" sz="1400" dirty="0">
                <a:solidFill>
                  <a:srgbClr val="000000"/>
                </a:solidFill>
                <a:latin typeface="Consolas"/>
              </a:rPr>
              <a:t>}</a:t>
            </a:r>
          </a:p>
          <a:p>
            <a:r>
              <a:rPr lang="en-IE" sz="1400" dirty="0">
                <a:solidFill>
                  <a:srgbClr val="000000"/>
                </a:solidFill>
                <a:latin typeface="Consolas"/>
              </a:rPr>
              <a:t>}</a:t>
            </a:r>
          </a:p>
          <a:p>
            <a:r>
              <a:rPr lang="en-IE" sz="1400" dirty="0">
                <a:solidFill>
                  <a:srgbClr val="000000"/>
                </a:solidFill>
                <a:latin typeface="Consolas"/>
              </a:rPr>
              <a:t>}</a:t>
            </a:r>
            <a:endParaRPr lang="en-IE" sz="1400" dirty="0"/>
          </a:p>
        </p:txBody>
      </p:sp>
    </p:spTree>
    <p:extLst>
      <p:ext uri="{BB962C8B-B14F-4D97-AF65-F5344CB8AC3E}">
        <p14:creationId xmlns:p14="http://schemas.microsoft.com/office/powerpoint/2010/main" val="642126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242D679B6F40C48B2519DEB851FE85E" ma:contentTypeVersion="0" ma:contentTypeDescription="Create a new document." ma:contentTypeScope="" ma:versionID="ca0eff15ccbfe079c26c4eccae0f3b99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31d5eec3c12ee2e8127422d567928fa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74D7628-EE1C-4796-BFAA-6777254BD72B}"/>
</file>

<file path=customXml/itemProps2.xml><?xml version="1.0" encoding="utf-8"?>
<ds:datastoreItem xmlns:ds="http://schemas.openxmlformats.org/officeDocument/2006/customXml" ds:itemID="{184F3C50-2E6E-4AC5-9EAC-F519B68D1EE4}"/>
</file>

<file path=customXml/itemProps3.xml><?xml version="1.0" encoding="utf-8"?>
<ds:datastoreItem xmlns:ds="http://schemas.openxmlformats.org/officeDocument/2006/customXml" ds:itemID="{363BBA81-6033-4CCE-8020-B2355F02E3E7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36421</TotalTime>
  <Words>3665</Words>
  <Application>Microsoft Office PowerPoint</Application>
  <PresentationFormat>On-screen Show (4:3)</PresentationFormat>
  <Paragraphs>505</Paragraphs>
  <Slides>47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8" baseType="lpstr">
      <vt:lpstr>Arial</vt:lpstr>
      <vt:lpstr>Calibri</vt:lpstr>
      <vt:lpstr>Consolas</vt:lpstr>
      <vt:lpstr>Palatino</vt:lpstr>
      <vt:lpstr>Times</vt:lpstr>
      <vt:lpstr>Times New Roman</vt:lpstr>
      <vt:lpstr>Trebuchet MS</vt:lpstr>
      <vt:lpstr>Verdana</vt:lpstr>
      <vt:lpstr>Wingdings</vt:lpstr>
      <vt:lpstr>Office Theme</vt:lpstr>
      <vt:lpstr>Clip</vt:lpstr>
      <vt:lpstr>Remote Method Invocation</vt:lpstr>
      <vt:lpstr>“The network is the computer”*</vt:lpstr>
      <vt:lpstr>What is needed for RMI</vt:lpstr>
      <vt:lpstr>Terminology</vt:lpstr>
      <vt:lpstr>Processes</vt:lpstr>
      <vt:lpstr>Interfaces</vt:lpstr>
      <vt:lpstr>Classes</vt:lpstr>
      <vt:lpstr>Conditions for serializability</vt:lpstr>
      <vt:lpstr>Remote interfaces and class</vt:lpstr>
      <vt:lpstr>Remote vs. Serializable</vt:lpstr>
      <vt:lpstr>Remote Method Invocation</vt:lpstr>
      <vt:lpstr>Example</vt:lpstr>
      <vt:lpstr>Related Approaches to Networking</vt:lpstr>
      <vt:lpstr>The Remote Interface</vt:lpstr>
      <vt:lpstr>A Simple Example</vt:lpstr>
      <vt:lpstr>java.rmi.Remote</vt:lpstr>
      <vt:lpstr>The Remote Object</vt:lpstr>
      <vt:lpstr>A Remote Object Implementation Class</vt:lpstr>
      <vt:lpstr>Remarks</vt:lpstr>
      <vt:lpstr>Client and Server Programs</vt:lpstr>
      <vt:lpstr>A Server Program</vt:lpstr>
      <vt:lpstr>Remarks</vt:lpstr>
      <vt:lpstr>A Client Program</vt:lpstr>
      <vt:lpstr>Remarks</vt:lpstr>
      <vt:lpstr>Compiling and Running the Example</vt:lpstr>
      <vt:lpstr>Remark on Using the RMI Registry</vt:lpstr>
      <vt:lpstr>Argument Passing in RMI</vt:lpstr>
      <vt:lpstr>Example: a File Reading Service</vt:lpstr>
      <vt:lpstr>The Remote Interface</vt:lpstr>
      <vt:lpstr>The Remote Object Implementation</vt:lpstr>
      <vt:lpstr>The Server Program</vt:lpstr>
      <vt:lpstr>The Client Program</vt:lpstr>
      <vt:lpstr>Remarks</vt:lpstr>
      <vt:lpstr>Example: The RMI Registry</vt:lpstr>
      <vt:lpstr>The RMI Registry</vt:lpstr>
      <vt:lpstr>The Registry Remote Interface</vt:lpstr>
      <vt:lpstr>The LocateRegistry Class</vt:lpstr>
      <vt:lpstr>Using the Registry Interface Directly</vt:lpstr>
      <vt:lpstr>Example of Serializable class</vt:lpstr>
      <vt:lpstr>Example of Serializable class</vt:lpstr>
      <vt:lpstr>Example of Serializable class</vt:lpstr>
      <vt:lpstr>Example of Serializable class</vt:lpstr>
      <vt:lpstr>Example of Serializable class</vt:lpstr>
      <vt:lpstr>Example Bank Without Serialization</vt:lpstr>
      <vt:lpstr>Example Bank Without Serialization</vt:lpstr>
      <vt:lpstr>Example Bank Without Serialization</vt:lpstr>
      <vt:lpstr>Example Bank Without Serialization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CIS6930: Java Remote Method Invocation</dc:title>
  <dc:creator>Neil Jasper</dc:creator>
  <cp:lastModifiedBy>Adeel-ur-Rehman</cp:lastModifiedBy>
  <cp:revision>115</cp:revision>
  <cp:lastPrinted>2001-02-23T12:52:14Z</cp:lastPrinted>
  <dcterms:created xsi:type="dcterms:W3CDTF">1995-06-02T21:42:18Z</dcterms:created>
  <dcterms:modified xsi:type="dcterms:W3CDTF">2019-12-23T11:17:33Z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1</vt:i4>
  </property>
  <property fmtid="{D5CDD505-2E9C-101B-9397-08002B2CF9AE}" pid="3" name="GraphicType">
    <vt:i4>1</vt:i4>
  </property>
  <property fmtid="{D5CDD505-2E9C-101B-9397-08002B2CF9AE}" pid="4" name="Compression">
    <vt:i4>100</vt:i4>
  </property>
  <property fmtid="{D5CDD505-2E9C-101B-9397-08002B2CF9AE}" pid="5" name="ScreenSize">
    <vt:i4>3</vt:i4>
  </property>
  <property fmtid="{D5CDD505-2E9C-101B-9397-08002B2CF9AE}" pid="6" name="ScreenUsage">
    <vt:i4>2</vt:i4>
  </property>
  <property fmtid="{D5CDD505-2E9C-101B-9397-08002B2CF9AE}" pid="7" name="MailAddress">
    <vt:lpwstr>dbc@csit.fsu.edu</vt:lpwstr>
  </property>
  <property fmtid="{D5CDD505-2E9C-101B-9397-08002B2CF9AE}" pid="8" name="HomePage">
    <vt:lpwstr>http://aspen.csit.fsu.edu/it1fall00</vt:lpwstr>
  </property>
  <property fmtid="{D5CDD505-2E9C-101B-9397-08002B2CF9AE}" pid="9" name="Other">
    <vt:lpwstr/>
  </property>
  <property fmtid="{D5CDD505-2E9C-101B-9397-08002B2CF9AE}" pid="10" name="DownloadOriginal">
    <vt:bool>false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i4>15132390</vt:i4>
  </property>
  <property fmtid="{D5CDD505-2E9C-101B-9397-08002B2CF9AE}" pid="14" name="TextColor">
    <vt:i4>0</vt:i4>
  </property>
  <property fmtid="{D5CDD505-2E9C-101B-9397-08002B2CF9AE}" pid="15" name="LinkColor">
    <vt:i4>16711782</vt:i4>
  </property>
  <property fmtid="{D5CDD505-2E9C-101B-9397-08002B2CF9AE}" pid="16" name="VisitedColor">
    <vt:i4>10040268</vt:i4>
  </property>
  <property fmtid="{D5CDD505-2E9C-101B-9397-08002B2CF9AE}" pid="17" name="TransparentButton">
    <vt:i4>0</vt:i4>
  </property>
  <property fmtid="{D5CDD505-2E9C-101B-9397-08002B2CF9AE}" pid="18" name="ButtonType">
    <vt:i4>1</vt:i4>
  </property>
  <property fmtid="{D5CDD505-2E9C-101B-9397-08002B2CF9AE}" pid="19" name="ShowNotes">
    <vt:bool>false</vt:bool>
  </property>
  <property fmtid="{D5CDD505-2E9C-101B-9397-08002B2CF9AE}" pid="20" name="NavBtnPos">
    <vt:i4>1</vt:i4>
  </property>
  <property fmtid="{D5CDD505-2E9C-101B-9397-08002B2CF9AE}" pid="21" name="OutputDir">
    <vt:lpwstr>C:\users\dbc\lectures</vt:lpwstr>
  </property>
  <property fmtid="{D5CDD505-2E9C-101B-9397-08002B2CF9AE}" pid="22" name="ContentTypeId">
    <vt:lpwstr>0x0101008242D679B6F40C48B2519DEB851FE85E</vt:lpwstr>
  </property>
</Properties>
</file>