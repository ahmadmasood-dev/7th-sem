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23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91" r:id="rId2"/>
    <p:sldId id="292" r:id="rId3"/>
    <p:sldId id="293" r:id="rId4"/>
    <p:sldId id="294" r:id="rId5"/>
    <p:sldId id="295" r:id="rId6"/>
    <p:sldId id="389" r:id="rId7"/>
    <p:sldId id="296" r:id="rId8"/>
    <p:sldId id="346" r:id="rId9"/>
    <p:sldId id="347" r:id="rId10"/>
    <p:sldId id="392" r:id="rId11"/>
    <p:sldId id="348" r:id="rId12"/>
    <p:sldId id="390" r:id="rId13"/>
    <p:sldId id="391" r:id="rId14"/>
    <p:sldId id="350" r:id="rId15"/>
    <p:sldId id="351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7" r:id="rId30"/>
    <p:sldId id="368" r:id="rId31"/>
    <p:sldId id="369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4" r:id="rId43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0FEF9"/>
    <a:srgbClr val="CDDEFF"/>
    <a:srgbClr val="000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29184"/>
    </p:cViewPr>
  </p:sorterViewPr>
  <p:notesViewPr>
    <p:cSldViewPr>
      <p:cViewPr varScale="1">
        <p:scale>
          <a:sx n="37" d="100"/>
          <a:sy n="37" d="100"/>
        </p:scale>
        <p:origin x="-139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9850" y="92075"/>
            <a:ext cx="1701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r>
              <a:rPr lang="en-US" altLang="en-US" sz="1400">
                <a:latin typeface="Times New Roman" pitchFamily="18" charset="0"/>
              </a:rPr>
              <a:t>Elliotte Rusty Harold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9850" y="8750300"/>
            <a:ext cx="7239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fld id="{36D89A67-69D3-4BBA-8DA1-DD46C770B7D2}" type="datetime1">
              <a:rPr lang="en-US" altLang="en-US" sz="1400">
                <a:latin typeface="Times New Roman" pitchFamily="18" charset="0"/>
              </a:rPr>
              <a:pPr/>
              <a:t>11/28/2019</a:t>
            </a:fld>
            <a:endParaRPr lang="en-US" altLang="en-US" sz="1400">
              <a:latin typeface="Times New Roman" pitchFamily="18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400800" y="8750300"/>
            <a:ext cx="3873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pPr algn="r"/>
            <a:fld id="{370A93E9-2E5D-4968-A210-CE4812EAB617}" type="slidenum">
              <a:rPr lang="en-US" altLang="en-US" sz="1400">
                <a:latin typeface="Times New Roman" pitchFamily="18" charset="0"/>
              </a:rPr>
              <a:pPr algn="r"/>
              <a:t>‹#›</a:t>
            </a:fld>
            <a:endParaRPr lang="en-US" altLang="en-US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543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9850" y="92075"/>
            <a:ext cx="1701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r>
              <a:rPr lang="en-US" altLang="en-US" sz="1400">
                <a:latin typeface="Times New Roman" pitchFamily="18" charset="0"/>
              </a:rPr>
              <a:t>Elliotte Rusty Harold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9850" y="8750300"/>
            <a:ext cx="7239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fld id="{EC5DCFA9-E000-4F0C-93D6-3946434C8327}" type="datetime1">
              <a:rPr lang="en-US" altLang="en-US" sz="1400">
                <a:latin typeface="Times New Roman" pitchFamily="18" charset="0"/>
              </a:rPr>
              <a:pPr/>
              <a:t>11/28/2019</a:t>
            </a:fld>
            <a:endParaRPr lang="en-US" altLang="en-US" sz="1400">
              <a:latin typeface="Times New Roman" pitchFamily="18" charset="0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400800" y="8750300"/>
            <a:ext cx="3873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pPr algn="r"/>
            <a:fld id="{0BE34EDD-26A1-4992-88F4-C8225799F543}" type="slidenum">
              <a:rPr lang="en-US" altLang="en-US" sz="1400">
                <a:latin typeface="Times New Roman" pitchFamily="18" charset="0"/>
              </a:rPr>
              <a:pPr algn="r"/>
              <a:t>‹#›</a:t>
            </a:fld>
            <a:endParaRPr lang="en-US" altLang="en-US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7747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120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C0F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8221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604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732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633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0110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952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12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811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6810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7275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F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4210050" y="6486525"/>
            <a:ext cx="7239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pPr algn="ctr"/>
            <a:fld id="{F3BCB489-5692-46C1-BAA6-EC029A6FAC4B}" type="datetime1">
              <a:rPr lang="en-US" altLang="en-US" sz="1400">
                <a:latin typeface="Times New Roman" pitchFamily="18" charset="0"/>
              </a:rPr>
              <a:pPr algn="ctr"/>
              <a:t>11/28/2019</a:t>
            </a:fld>
            <a:endParaRPr lang="en-US" altLang="en-US" sz="1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Courier" pitchFamily="49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jp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hyperlink" Target="http://www.microsof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hyperlink" Target="http://www.microsof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g"/><Relationship Id="rId13" Type="http://schemas.openxmlformats.org/officeDocument/2006/relationships/image" Target="../media/image61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12" Type="http://schemas.openxmlformats.org/officeDocument/2006/relationships/image" Target="../media/image60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jpg"/><Relationship Id="rId4" Type="http://schemas.openxmlformats.org/officeDocument/2006/relationships/hyperlink" Target="http://www.microsoft.com/" TargetMode="External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httpbin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905000"/>
            <a:ext cx="7772400" cy="1143000"/>
          </a:xfrm>
          <a:noFill/>
          <a:ln/>
        </p:spPr>
        <p:txBody>
          <a:bodyPr/>
          <a:lstStyle/>
          <a:p>
            <a:r>
              <a:rPr lang="en-US" altLang="en-US" sz="4400" dirty="0" smtClean="0"/>
              <a:t>HTTP</a:t>
            </a:r>
            <a:endParaRPr lang="en-US" altLang="en-US" sz="4400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962400"/>
            <a:ext cx="7772400" cy="2133600"/>
          </a:xfrm>
          <a:noFill/>
          <a:ln/>
        </p:spPr>
        <p:txBody>
          <a:bodyPr/>
          <a:lstStyle/>
          <a:p>
            <a:pPr marL="0" indent="0" algn="ctr">
              <a:buNone/>
            </a:pPr>
            <a:r>
              <a:rPr lang="en-US" altLang="en-US" dirty="0" smtClean="0"/>
              <a:t>Adeel-ur-Rehman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Normal web surfing uses these two steps: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/>
            <a:r>
              <a:rPr lang="en-US" altLang="en-US"/>
              <a:t>The browser requests a page</a:t>
            </a:r>
          </a:p>
          <a:p>
            <a:pPr lvl="1"/>
            <a:r>
              <a:rPr lang="en-US" altLang="en-US"/>
              <a:t>The server sends the page</a:t>
            </a:r>
          </a:p>
          <a:p>
            <a:r>
              <a:rPr lang="en-US" altLang="en-US"/>
              <a:t>Data flows primarily from the server to the client.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Forms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There are times when the server needs to get data from the client rather than the other way around. The common way to do this is with a form like this one:</a:t>
            </a:r>
          </a:p>
        </p:txBody>
      </p:sp>
      <p:graphicFrame>
        <p:nvGraphicFramePr>
          <p:cNvPr id="46084" name="Object 4"/>
          <p:cNvGraphicFramePr>
            <a:graphicFrameLocks/>
          </p:cNvGraphicFramePr>
          <p:nvPr/>
        </p:nvGraphicFramePr>
        <p:xfrm>
          <a:off x="2057400" y="4216400"/>
          <a:ext cx="48641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9" name="Document" r:id="rId3" imgW="4876800" imgH="1765300" progId="Word.Document.6">
                  <p:embed/>
                </p:oleObj>
              </mc:Choice>
              <mc:Fallback>
                <p:oleObj name="Document" r:id="rId3" imgW="4876800" imgH="1765300" progId="Word.Document.6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16400"/>
                        <a:ext cx="48641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CGI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458200" cy="4114800"/>
          </a:xfrm>
          <a:noFill/>
          <a:ln/>
        </p:spPr>
        <p:txBody>
          <a:bodyPr/>
          <a:lstStyle/>
          <a:p>
            <a:r>
              <a:rPr lang="en-US" altLang="en-US"/>
              <a:t>The user types the requested data into the form and hits the submit button. </a:t>
            </a:r>
          </a:p>
          <a:p>
            <a:r>
              <a:rPr lang="en-US" altLang="en-US"/>
              <a:t>The client browser then sends the data to the server using the Common Gateway Interface, CGI for short. </a:t>
            </a:r>
          </a:p>
          <a:p>
            <a:r>
              <a:rPr lang="en-US" altLang="en-US"/>
              <a:t>CGI uses the HTTP protocol to transmit the data, either as part of the query string or as separate data following the MIME header.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GET and POST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When the data is sent as a query string included with the file request, this is called CGI GET. </a:t>
            </a:r>
          </a:p>
          <a:p>
            <a:r>
              <a:rPr lang="en-US" altLang="en-US"/>
              <a:t>When the data is sent as data attached to the request following the MIME header, this is called CGI POST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MIME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MIME is an acronym for "Multipurpose Internet Mail Extensions".  </a:t>
            </a:r>
          </a:p>
          <a:p>
            <a:r>
              <a:rPr lang="en-US" altLang="en-US"/>
              <a:t>an Internet standard defined in RFCs 2045 through 2049</a:t>
            </a:r>
          </a:p>
          <a:p>
            <a:r>
              <a:rPr lang="en-US" altLang="en-US"/>
              <a:t>originally intended for use with email messages, but has been been adopted for use in HTTP. </a:t>
            </a:r>
          </a:p>
        </p:txBody>
      </p:sp>
    </p:spTree>
    <p:extLst>
      <p:ext uri="{BB962C8B-B14F-4D97-AF65-F5344CB8AC3E}">
        <p14:creationId xmlns:p14="http://schemas.microsoft.com/office/powerpoint/2010/main" val="13164693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HTTP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648200"/>
          </a:xfrm>
          <a:noFill/>
          <a:ln/>
        </p:spPr>
        <p:txBody>
          <a:bodyPr/>
          <a:lstStyle/>
          <a:p>
            <a:r>
              <a:rPr lang="en-US" altLang="en-US"/>
              <a:t>Web browsers communicate with web servers through a standard protocol known as HTTP, an acronym for HyperText Transfer Protocol. </a:t>
            </a:r>
          </a:p>
          <a:p>
            <a:r>
              <a:rPr lang="en-US" altLang="en-US"/>
              <a:t>This protocol defines </a:t>
            </a:r>
          </a:p>
          <a:p>
            <a:pPr lvl="1"/>
            <a:r>
              <a:rPr lang="en-US" altLang="en-US"/>
              <a:t>how a browser requests a file from a web server</a:t>
            </a:r>
          </a:p>
          <a:p>
            <a:pPr lvl="1"/>
            <a:r>
              <a:rPr lang="en-US" altLang="en-US"/>
              <a:t>how a browser sends additional data along with the request (e.g. the data formats it can accept), </a:t>
            </a:r>
          </a:p>
          <a:p>
            <a:pPr lvl="1"/>
            <a:r>
              <a:rPr lang="en-US" altLang="en-US"/>
              <a:t>how the server sends data back to the client </a:t>
            </a:r>
          </a:p>
          <a:p>
            <a:pPr lvl="1"/>
            <a:r>
              <a:rPr lang="en-US" altLang="en-US"/>
              <a:t>response codes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6202" y="2601235"/>
            <a:ext cx="6164798" cy="164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717" marR="3572" indent="-419234" algn="l">
              <a:lnSpc>
                <a:spcPts val="6398"/>
              </a:lnSpc>
              <a:tabLst>
                <a:tab pos="2373873" algn="l"/>
              </a:tabLst>
            </a:pPr>
            <a:r>
              <a:rPr sz="5600" dirty="0"/>
              <a:t>An </a:t>
            </a:r>
            <a:r>
              <a:rPr sz="5600" spc="-14" dirty="0"/>
              <a:t>introduction</a:t>
            </a:r>
            <a:r>
              <a:rPr sz="5600" spc="-56" dirty="0"/>
              <a:t> </a:t>
            </a:r>
            <a:r>
              <a:rPr sz="5600" dirty="0"/>
              <a:t>to  HTTP	messages</a:t>
            </a:r>
          </a:p>
        </p:txBody>
      </p:sp>
    </p:spTree>
    <p:extLst>
      <p:ext uri="{BB962C8B-B14F-4D97-AF65-F5344CB8AC3E}">
        <p14:creationId xmlns:p14="http://schemas.microsoft.com/office/powerpoint/2010/main" val="87667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6915" y="762000"/>
            <a:ext cx="61732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3174391" algn="l"/>
                <a:tab pos="4169123" algn="l"/>
              </a:tabLst>
            </a:pPr>
            <a:r>
              <a:rPr spc="-137" dirty="0"/>
              <a:t>Web</a:t>
            </a:r>
            <a:r>
              <a:rPr spc="4" dirty="0"/>
              <a:t> servers	</a:t>
            </a:r>
            <a:r>
              <a:rPr dirty="0"/>
              <a:t>and	</a:t>
            </a:r>
            <a:r>
              <a:rPr spc="-4" dirty="0"/>
              <a:t>clients</a:t>
            </a:r>
          </a:p>
        </p:txBody>
      </p:sp>
      <p:sp>
        <p:nvSpPr>
          <p:cNvPr id="3" name="object 3"/>
          <p:cNvSpPr/>
          <p:nvPr/>
        </p:nvSpPr>
        <p:spPr>
          <a:xfrm>
            <a:off x="917258" y="2375305"/>
            <a:ext cx="1334836" cy="16034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57900" y="2470148"/>
            <a:ext cx="1693774" cy="15180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3188" y="4213768"/>
            <a:ext cx="89297" cy="61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dirty="0"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  <a:p>
            <a:pPr marL="8929">
              <a:spcBef>
                <a:spcPts val="647"/>
              </a:spcBef>
            </a:pPr>
            <a:r>
              <a:rPr sz="1700" dirty="0"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3188" y="5231752"/>
            <a:ext cx="89297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dirty="0"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728" y="4180371"/>
            <a:ext cx="3824139" cy="13644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21" dirty="0">
                <a:latin typeface="Arial"/>
                <a:cs typeface="Arial"/>
              </a:rPr>
              <a:t>Servers </a:t>
            </a:r>
            <a:r>
              <a:rPr sz="2200" spc="-4" dirty="0">
                <a:latin typeface="Arial"/>
                <a:cs typeface="Arial"/>
              </a:rPr>
              <a:t>wait </a:t>
            </a:r>
            <a:r>
              <a:rPr sz="2200" dirty="0">
                <a:latin typeface="Arial"/>
                <a:cs typeface="Arial"/>
              </a:rPr>
              <a:t>for </a:t>
            </a:r>
            <a:r>
              <a:rPr sz="2200" spc="28" dirty="0">
                <a:latin typeface="Arial"/>
                <a:cs typeface="Arial"/>
              </a:rPr>
              <a:t>data </a:t>
            </a:r>
            <a:r>
              <a:rPr sz="2200" spc="7" dirty="0">
                <a:latin typeface="Arial"/>
                <a:cs typeface="Arial"/>
              </a:rPr>
              <a:t>requests  </a:t>
            </a:r>
            <a:r>
              <a:rPr sz="2200" spc="-4" dirty="0">
                <a:latin typeface="Arial"/>
                <a:cs typeface="Arial"/>
              </a:rPr>
              <a:t>Answer </a:t>
            </a:r>
            <a:r>
              <a:rPr sz="2200" spc="11" dirty="0">
                <a:latin typeface="Arial"/>
                <a:cs typeface="Arial"/>
              </a:rPr>
              <a:t>thousands </a:t>
            </a:r>
            <a:r>
              <a:rPr sz="2200" dirty="0">
                <a:latin typeface="Arial"/>
                <a:cs typeface="Arial"/>
              </a:rPr>
              <a:t>of </a:t>
            </a:r>
            <a:r>
              <a:rPr sz="2200" spc="18" dirty="0">
                <a:latin typeface="Arial"/>
                <a:cs typeface="Arial"/>
              </a:rPr>
              <a:t>clients  </a:t>
            </a:r>
            <a:r>
              <a:rPr sz="2200" spc="-4" dirty="0">
                <a:latin typeface="Arial"/>
                <a:cs typeface="Arial"/>
              </a:rPr>
              <a:t>simultaneously</a:t>
            </a:r>
            <a:endParaRPr sz="2200">
              <a:latin typeface="Arial"/>
              <a:cs typeface="Arial"/>
            </a:endParaRPr>
          </a:p>
          <a:p>
            <a:pPr marL="8929">
              <a:lnSpc>
                <a:spcPts val="2587"/>
              </a:lnSpc>
            </a:pPr>
            <a:r>
              <a:rPr sz="2200" spc="-4" dirty="0">
                <a:latin typeface="Arial"/>
                <a:cs typeface="Arial"/>
              </a:rPr>
              <a:t>Host </a:t>
            </a:r>
            <a:r>
              <a:rPr sz="2200" b="1" spc="-4" dirty="0">
                <a:latin typeface="Arial"/>
                <a:cs typeface="Arial"/>
              </a:rPr>
              <a:t>web</a:t>
            </a:r>
            <a:r>
              <a:rPr sz="2200" b="1" spc="-18" dirty="0">
                <a:latin typeface="Arial"/>
                <a:cs typeface="Arial"/>
              </a:rPr>
              <a:t> </a:t>
            </a:r>
            <a:r>
              <a:rPr sz="2200" b="1" spc="-7" dirty="0">
                <a:latin typeface="Arial"/>
                <a:cs typeface="Arial"/>
              </a:rPr>
              <a:t>resources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61047" y="2759273"/>
            <a:ext cx="3250406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4622797" y="0"/>
                </a:moveTo>
                <a:lnTo>
                  <a:pt x="21374" y="0"/>
                </a:ln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28887" y="2684264"/>
            <a:ext cx="150019" cy="150019"/>
          </a:xfrm>
          <a:custGeom>
            <a:avLst/>
            <a:gdLst/>
            <a:ahLst/>
            <a:cxnLst/>
            <a:rect l="l" t="t" r="r" b="b"/>
            <a:pathLst>
              <a:path w="213360" h="213360">
                <a:moveTo>
                  <a:pt x="213360" y="0"/>
                </a:moveTo>
                <a:lnTo>
                  <a:pt x="0" y="106679"/>
                </a:lnTo>
                <a:lnTo>
                  <a:pt x="213360" y="213359"/>
                </a:lnTo>
                <a:lnTo>
                  <a:pt x="21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58133" y="2403434"/>
            <a:ext cx="255153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b="1" dirty="0">
                <a:latin typeface="Arial"/>
                <a:cs typeface="Arial"/>
              </a:rPr>
              <a:t>(1) HTTP</a:t>
            </a:r>
            <a:r>
              <a:rPr sz="1800" b="1" spc="-102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request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87003" y="3287482"/>
            <a:ext cx="244408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b="1" dirty="0">
                <a:latin typeface="Arial"/>
                <a:cs typeface="Arial"/>
              </a:rPr>
              <a:t>(2) HTTP</a:t>
            </a:r>
            <a:r>
              <a:rPr sz="1800" b="1" spc="-102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response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27097" y="3232547"/>
            <a:ext cx="3250406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599183" y="0"/>
                </a:lnTo>
                <a:lnTo>
                  <a:pt x="4622805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59648" y="3157537"/>
            <a:ext cx="150019" cy="150019"/>
          </a:xfrm>
          <a:custGeom>
            <a:avLst/>
            <a:gdLst/>
            <a:ahLst/>
            <a:cxnLst/>
            <a:rect l="l" t="t" r="r" b="b"/>
            <a:pathLst>
              <a:path w="213359" h="213360">
                <a:moveTo>
                  <a:pt x="0" y="0"/>
                </a:moveTo>
                <a:lnTo>
                  <a:pt x="0" y="213359"/>
                </a:lnTo>
                <a:lnTo>
                  <a:pt x="213359" y="1066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31086" y="4143920"/>
            <a:ext cx="89297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dirty="0"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1086" y="4822577"/>
            <a:ext cx="89297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dirty="0"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43625" y="4110522"/>
            <a:ext cx="2792313" cy="10251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4" dirty="0">
                <a:latin typeface="Arial"/>
                <a:cs typeface="Arial"/>
              </a:rPr>
              <a:t>Clients </a:t>
            </a:r>
            <a:r>
              <a:rPr sz="2200" spc="-18" dirty="0">
                <a:latin typeface="Arial"/>
                <a:cs typeface="Arial"/>
              </a:rPr>
              <a:t>are </a:t>
            </a:r>
            <a:r>
              <a:rPr sz="2200" dirty="0">
                <a:latin typeface="Arial"/>
                <a:cs typeface="Arial"/>
              </a:rPr>
              <a:t>most</a:t>
            </a:r>
            <a:r>
              <a:rPr sz="2200" spc="-18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often  </a:t>
            </a:r>
            <a:r>
              <a:rPr sz="2200" spc="-18" dirty="0">
                <a:latin typeface="Arial"/>
                <a:cs typeface="Arial"/>
              </a:rPr>
              <a:t>Web</a:t>
            </a:r>
            <a:r>
              <a:rPr sz="2200" spc="-39" dirty="0">
                <a:latin typeface="Arial"/>
                <a:cs typeface="Arial"/>
              </a:rPr>
              <a:t> </a:t>
            </a:r>
            <a:r>
              <a:rPr sz="2200" spc="7" dirty="0">
                <a:latin typeface="Arial"/>
                <a:cs typeface="Arial"/>
              </a:rPr>
              <a:t>browsers</a:t>
            </a:r>
            <a:endParaRPr sz="2200">
              <a:latin typeface="Arial"/>
              <a:cs typeface="Arial"/>
            </a:endParaRPr>
          </a:p>
          <a:p>
            <a:pPr marL="8929">
              <a:lnSpc>
                <a:spcPts val="2587"/>
              </a:lnSpc>
            </a:pPr>
            <a:r>
              <a:rPr sz="2200" spc="-63" dirty="0">
                <a:latin typeface="Arial"/>
                <a:cs typeface="Arial"/>
              </a:rPr>
              <a:t>Telnet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9154" y="2716508"/>
            <a:ext cx="911721" cy="442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99116"/>
            <a:r>
              <a:rPr sz="1400" b="1" dirty="0">
                <a:solidFill>
                  <a:srgbClr val="005493"/>
                </a:solidFill>
                <a:latin typeface="Arial"/>
                <a:cs typeface="Arial"/>
              </a:rPr>
              <a:t>Process  responses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18834" y="1880154"/>
            <a:ext cx="1180388" cy="3929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49195" y="1893094"/>
            <a:ext cx="1125141" cy="3393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49195" y="1893094"/>
            <a:ext cx="1125141" cy="297676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35717" rIns="0" bIns="0" rtlCol="0">
            <a:spAutoFit/>
          </a:bodyPr>
          <a:lstStyle/>
          <a:p>
            <a:pPr marL="214305">
              <a:spcBef>
                <a:spcPts val="281"/>
              </a:spcBef>
            </a:pPr>
            <a:r>
              <a:rPr sz="1700" spc="25" dirty="0">
                <a:solidFill>
                  <a:srgbClr val="FFFFFF"/>
                </a:solidFill>
                <a:latin typeface="Arial"/>
                <a:cs typeface="Arial"/>
              </a:rPr>
              <a:t>display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18834" y="2277981"/>
            <a:ext cx="1180388" cy="3929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49195" y="2286000"/>
            <a:ext cx="1125141" cy="3393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849195" y="2286000"/>
            <a:ext cx="1125141" cy="302636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40629" rIns="0" bIns="0" rtlCol="0">
            <a:spAutoFit/>
          </a:bodyPr>
          <a:lstStyle/>
          <a:p>
            <a:pPr marL="178141">
              <a:spcBef>
                <a:spcPts val="320"/>
              </a:spcBef>
            </a:pPr>
            <a:r>
              <a:rPr sz="1700" spc="11" dirty="0">
                <a:solidFill>
                  <a:srgbClr val="FFFFFF"/>
                </a:solidFill>
                <a:latin typeface="Arial"/>
                <a:cs typeface="Arial"/>
              </a:rPr>
              <a:t>execute</a:t>
            </a:r>
            <a:endParaRPr sz="17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18834" y="2702339"/>
            <a:ext cx="1180388" cy="6335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849195" y="2714625"/>
            <a:ext cx="1125141" cy="5804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849195" y="2714625"/>
            <a:ext cx="1125141" cy="818865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25895" rIns="0" bIns="0" rtlCol="0">
            <a:spAutoFit/>
          </a:bodyPr>
          <a:lstStyle/>
          <a:p>
            <a:pPr marL="262077" marR="262077" indent="11608">
              <a:lnSpc>
                <a:spcPct val="100699"/>
              </a:lnSpc>
              <a:spcBef>
                <a:spcPts val="204"/>
              </a:spcBef>
            </a:pPr>
            <a:r>
              <a:rPr sz="1700" spc="18" dirty="0">
                <a:solidFill>
                  <a:srgbClr val="FFFFFF"/>
                </a:solidFill>
                <a:latin typeface="Arial"/>
                <a:cs typeface="Arial"/>
              </a:rPr>
              <a:t>music  </a:t>
            </a:r>
            <a:r>
              <a:rPr sz="1700" spc="14" dirty="0">
                <a:solidFill>
                  <a:srgbClr val="FFFFFF"/>
                </a:solidFill>
                <a:latin typeface="Arial"/>
                <a:cs typeface="Arial"/>
              </a:rPr>
              <a:t>player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818834" y="3367387"/>
            <a:ext cx="1180388" cy="63358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49195" y="3375422"/>
            <a:ext cx="1125141" cy="5804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849195" y="3375422"/>
            <a:ext cx="1125141" cy="580430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29913" rIns="0" bIns="0" rtlCol="0">
            <a:spAutoFit/>
          </a:bodyPr>
          <a:lstStyle/>
          <a:p>
            <a:pPr marL="208054" marR="180373" indent="-28128">
              <a:lnSpc>
                <a:spcPct val="100699"/>
              </a:lnSpc>
              <a:spcBef>
                <a:spcPts val="236"/>
              </a:spcBef>
            </a:pPr>
            <a:r>
              <a:rPr sz="1700" spc="35" dirty="0">
                <a:solidFill>
                  <a:srgbClr val="FFFFFF"/>
                </a:solidFill>
                <a:latin typeface="Arial"/>
                <a:cs typeface="Arial"/>
              </a:rPr>
              <a:t>Ac</a:t>
            </a:r>
            <a:r>
              <a:rPr sz="1700" spc="-1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700" spc="18" dirty="0">
                <a:solidFill>
                  <a:srgbClr val="FFFFFF"/>
                </a:solidFill>
                <a:latin typeface="Arial"/>
                <a:cs typeface="Arial"/>
              </a:rPr>
              <a:t>obat  </a:t>
            </a:r>
            <a:r>
              <a:rPr sz="1700" spc="-4" dirty="0">
                <a:solidFill>
                  <a:srgbClr val="FFFFFF"/>
                </a:solidFill>
                <a:latin typeface="Arial"/>
                <a:cs typeface="Arial"/>
              </a:rPr>
              <a:t>Reader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5753" y="5599159"/>
            <a:ext cx="7569615" cy="12478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1164" y="5607844"/>
            <a:ext cx="7518797" cy="119657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1164" y="5607844"/>
            <a:ext cx="7518797" cy="1196578"/>
          </a:xfrm>
          <a:custGeom>
            <a:avLst/>
            <a:gdLst/>
            <a:ahLst/>
            <a:cxnLst/>
            <a:rect l="l" t="t" r="r" b="b"/>
            <a:pathLst>
              <a:path w="10693400" h="1701800">
                <a:moveTo>
                  <a:pt x="0" y="0"/>
                </a:moveTo>
                <a:lnTo>
                  <a:pt x="10693400" y="0"/>
                </a:lnTo>
                <a:lnTo>
                  <a:pt x="10693400" y="1701800"/>
                </a:lnTo>
                <a:lnTo>
                  <a:pt x="0" y="17018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03274" y="5699538"/>
            <a:ext cx="7031682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b="1" spc="-14" dirty="0">
                <a:solidFill>
                  <a:srgbClr val="FFFFFF"/>
                </a:solidFill>
                <a:latin typeface="Arial"/>
                <a:cs typeface="Arial"/>
              </a:rPr>
              <a:t>Web </a:t>
            </a:r>
            <a:r>
              <a:rPr sz="2200" b="1" spc="-4" dirty="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sz="2200" spc="-4" dirty="0">
                <a:solidFill>
                  <a:srgbClr val="FFFFFF"/>
                </a:solidFill>
                <a:latin typeface="Arial"/>
                <a:cs typeface="Arial"/>
              </a:rPr>
              <a:t>: any </a:t>
            </a:r>
            <a:r>
              <a:rPr sz="2200" spc="28" dirty="0">
                <a:solidFill>
                  <a:srgbClr val="FFFFFF"/>
                </a:solidFill>
                <a:latin typeface="Arial"/>
                <a:cs typeface="Arial"/>
              </a:rPr>
              <a:t>kind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200" spc="18" dirty="0">
                <a:solidFill>
                  <a:srgbClr val="FFFFFF"/>
                </a:solidFill>
                <a:latin typeface="Arial"/>
                <a:cs typeface="Arial"/>
              </a:rPr>
              <a:t>content </a:t>
            </a:r>
            <a:r>
              <a:rPr sz="2200" spc="-4" dirty="0">
                <a:solidFill>
                  <a:srgbClr val="FFFFFF"/>
                </a:solidFill>
                <a:latin typeface="Arial"/>
                <a:cs typeface="Arial"/>
              </a:rPr>
              <a:t>with an </a:t>
            </a:r>
            <a:r>
              <a:rPr sz="2200" spc="-11" dirty="0">
                <a:solidFill>
                  <a:srgbClr val="FFFFFF"/>
                </a:solidFill>
                <a:latin typeface="Arial"/>
                <a:cs typeface="Arial"/>
              </a:rPr>
              <a:t>identity,  </a:t>
            </a:r>
            <a:r>
              <a:rPr sz="2200" spc="39" dirty="0">
                <a:solidFill>
                  <a:srgbClr val="FFFFFF"/>
                </a:solidFill>
                <a:latin typeface="Arial"/>
                <a:cs typeface="Arial"/>
              </a:rPr>
              <a:t>including </a:t>
            </a:r>
            <a:r>
              <a:rPr sz="2200" spc="18" dirty="0">
                <a:solidFill>
                  <a:srgbClr val="FFFFFF"/>
                </a:solidFill>
                <a:latin typeface="Arial"/>
                <a:cs typeface="Arial"/>
              </a:rPr>
              <a:t>static </a:t>
            </a:r>
            <a:r>
              <a:rPr sz="2200" spc="-4" dirty="0">
                <a:solidFill>
                  <a:srgbClr val="FFFFFF"/>
                </a:solidFill>
                <a:latin typeface="Arial"/>
                <a:cs typeface="Arial"/>
              </a:rPr>
              <a:t>files </a:t>
            </a:r>
            <a:r>
              <a:rPr sz="2200" spc="25" dirty="0">
                <a:solidFill>
                  <a:srgbClr val="FFFFFF"/>
                </a:solidFill>
                <a:latin typeface="Arial"/>
                <a:cs typeface="Arial"/>
              </a:rPr>
              <a:t>(e.g.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text, </a:t>
            </a:r>
            <a:r>
              <a:rPr sz="2200" spc="18" dirty="0">
                <a:solidFill>
                  <a:srgbClr val="FFFFFF"/>
                </a:solidFill>
                <a:latin typeface="Arial"/>
                <a:cs typeface="Arial"/>
              </a:rPr>
              <a:t>images, video),</a:t>
            </a:r>
            <a:r>
              <a:rPr sz="2200" spc="-9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7" dirty="0">
                <a:solidFill>
                  <a:srgbClr val="FFFFFF"/>
                </a:solidFill>
                <a:latin typeface="Arial"/>
                <a:cs typeface="Arial"/>
              </a:rPr>
              <a:t>software  </a:t>
            </a:r>
            <a:r>
              <a:rPr sz="2200" spc="21" dirty="0">
                <a:solidFill>
                  <a:srgbClr val="FFFFFF"/>
                </a:solidFill>
                <a:latin typeface="Arial"/>
                <a:cs typeface="Arial"/>
              </a:rPr>
              <a:t>programs, </a:t>
            </a:r>
            <a:r>
              <a:rPr sz="2200" spc="-18" dirty="0">
                <a:solidFill>
                  <a:srgbClr val="FFFFFF"/>
                </a:solidFill>
                <a:latin typeface="Arial"/>
                <a:cs typeface="Arial"/>
              </a:rPr>
              <a:t>Web </a:t>
            </a:r>
            <a:r>
              <a:rPr sz="2200" spc="39" dirty="0">
                <a:solidFill>
                  <a:srgbClr val="FFFFFF"/>
                </a:solidFill>
                <a:latin typeface="Arial"/>
                <a:cs typeface="Arial"/>
              </a:rPr>
              <a:t>cam </a:t>
            </a:r>
            <a:r>
              <a:rPr sz="2200" spc="-11" dirty="0">
                <a:solidFill>
                  <a:srgbClr val="FFFFFF"/>
                </a:solidFill>
                <a:latin typeface="Arial"/>
                <a:cs typeface="Arial"/>
              </a:rPr>
              <a:t>gateway,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32" dirty="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endParaRPr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746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A Typical HTTP Connection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648200"/>
          </a:xfrm>
          <a:noFill/>
          <a:ln/>
        </p:spPr>
        <p:txBody>
          <a:bodyPr/>
          <a:lstStyle/>
          <a:p>
            <a:pPr lvl="1"/>
            <a:r>
              <a:rPr lang="en-US" altLang="en-US"/>
              <a:t>Client opens a socket to port 80 on the server.</a:t>
            </a:r>
          </a:p>
          <a:p>
            <a:pPr lvl="1"/>
            <a:r>
              <a:rPr lang="en-US" altLang="en-US"/>
              <a:t>Client sends a GET request including the name and path of the file it wants and the version of the HTTP protocol it supports.</a:t>
            </a:r>
          </a:p>
          <a:p>
            <a:pPr lvl="1"/>
            <a:r>
              <a:rPr lang="en-US" altLang="en-US"/>
              <a:t>The client sends a MIME header.</a:t>
            </a:r>
          </a:p>
          <a:p>
            <a:pPr lvl="1"/>
            <a:r>
              <a:rPr lang="en-US" altLang="en-US"/>
              <a:t>The client sends a blank line.</a:t>
            </a:r>
          </a:p>
          <a:p>
            <a:pPr lvl="1"/>
            <a:r>
              <a:rPr lang="en-US" altLang="en-US"/>
              <a:t>The server sends a MIME header</a:t>
            </a:r>
          </a:p>
          <a:p>
            <a:pPr lvl="1"/>
            <a:r>
              <a:rPr lang="en-US" altLang="en-US"/>
              <a:t>The server sends the data in the file. </a:t>
            </a:r>
          </a:p>
          <a:p>
            <a:pPr lvl="1"/>
            <a:r>
              <a:rPr lang="en-US" altLang="en-US"/>
              <a:t>The server closes the connection.</a:t>
            </a:r>
          </a:p>
        </p:txBody>
      </p:sp>
    </p:spTree>
    <p:extLst>
      <p:ext uri="{BB962C8B-B14F-4D97-AF65-F5344CB8AC3E}">
        <p14:creationId xmlns:p14="http://schemas.microsoft.com/office/powerpoint/2010/main" val="16651569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73323"/>
            <a:ext cx="7772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/>
            <a:r>
              <a:rPr spc="-14" dirty="0"/>
              <a:t>Network</a:t>
            </a:r>
            <a:r>
              <a:rPr spc="-35" dirty="0"/>
              <a:t> </a:t>
            </a:r>
            <a:r>
              <a:rPr spc="-7" dirty="0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822219"/>
            <a:ext cx="11117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spc="229" dirty="0"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533" y="1793635"/>
            <a:ext cx="3762077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250"/>
              </a:lnSpc>
            </a:pPr>
            <a:r>
              <a:rPr sz="1900" spc="32" dirty="0">
                <a:latin typeface="Arial"/>
                <a:cs typeface="Arial"/>
              </a:rPr>
              <a:t>Conceptual model </a:t>
            </a:r>
            <a:r>
              <a:rPr sz="1900" spc="39" dirty="0">
                <a:latin typeface="Arial"/>
                <a:cs typeface="Arial"/>
              </a:rPr>
              <a:t>Open</a:t>
            </a:r>
            <a:r>
              <a:rPr sz="1900" spc="-63" dirty="0">
                <a:latin typeface="Arial"/>
                <a:cs typeface="Arial"/>
              </a:rPr>
              <a:t> </a:t>
            </a:r>
            <a:r>
              <a:rPr sz="1900" spc="-4" dirty="0">
                <a:latin typeface="Arial"/>
                <a:cs typeface="Arial"/>
              </a:rPr>
              <a:t>Systems  </a:t>
            </a:r>
            <a:r>
              <a:rPr sz="1900" spc="21" dirty="0">
                <a:latin typeface="Arial"/>
                <a:cs typeface="Arial"/>
              </a:rPr>
              <a:t>Interconnection</a:t>
            </a:r>
            <a:r>
              <a:rPr sz="1900" spc="-39" dirty="0">
                <a:latin typeface="Arial"/>
                <a:cs typeface="Arial"/>
              </a:rPr>
              <a:t> </a:t>
            </a:r>
            <a:r>
              <a:rPr sz="1900" spc="-11" dirty="0">
                <a:latin typeface="Arial"/>
                <a:cs typeface="Arial"/>
              </a:rPr>
              <a:t>(OSI)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2510252"/>
            <a:ext cx="11117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spc="229" dirty="0"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36" y="3198284"/>
            <a:ext cx="11117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spc="229" dirty="0"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533" y="2481667"/>
            <a:ext cx="3946922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169212">
              <a:lnSpc>
                <a:spcPts val="2250"/>
              </a:lnSpc>
            </a:pPr>
            <a:r>
              <a:rPr sz="1900" spc="11" dirty="0">
                <a:latin typeface="Arial"/>
                <a:cs typeface="Arial"/>
              </a:rPr>
              <a:t>Network </a:t>
            </a:r>
            <a:r>
              <a:rPr sz="1900" spc="28" dirty="0">
                <a:latin typeface="Arial"/>
                <a:cs typeface="Arial"/>
              </a:rPr>
              <a:t>protocols </a:t>
            </a:r>
            <a:r>
              <a:rPr sz="1900" spc="-4" dirty="0">
                <a:latin typeface="Arial"/>
                <a:cs typeface="Arial"/>
              </a:rPr>
              <a:t>are </a:t>
            </a:r>
            <a:r>
              <a:rPr sz="1900" spc="42" dirty="0">
                <a:latin typeface="Arial"/>
                <a:cs typeface="Arial"/>
              </a:rPr>
              <a:t>matched</a:t>
            </a:r>
            <a:r>
              <a:rPr sz="1900" spc="-21" dirty="0">
                <a:latin typeface="Arial"/>
                <a:cs typeface="Arial"/>
              </a:rPr>
              <a:t> </a:t>
            </a:r>
            <a:r>
              <a:rPr sz="1900" spc="7" dirty="0">
                <a:latin typeface="Arial"/>
                <a:cs typeface="Arial"/>
              </a:rPr>
              <a:t>to  </a:t>
            </a:r>
            <a:r>
              <a:rPr sz="1900" spc="11" dirty="0">
                <a:latin typeface="Arial"/>
                <a:cs typeface="Arial"/>
              </a:rPr>
              <a:t>different</a:t>
            </a:r>
            <a:r>
              <a:rPr sz="1900" spc="-28" dirty="0">
                <a:latin typeface="Arial"/>
                <a:cs typeface="Arial"/>
              </a:rPr>
              <a:t> </a:t>
            </a:r>
            <a:r>
              <a:rPr sz="1900" spc="35" dirty="0">
                <a:latin typeface="Arial"/>
                <a:cs typeface="Arial"/>
              </a:rPr>
              <a:t>“layers”</a:t>
            </a:r>
            <a:endParaRPr sz="1900">
              <a:latin typeface="Arial"/>
              <a:cs typeface="Arial"/>
            </a:endParaRPr>
          </a:p>
          <a:p>
            <a:pPr marL="8929" marR="3572">
              <a:lnSpc>
                <a:spcPts val="2250"/>
              </a:lnSpc>
              <a:spcBef>
                <a:spcPts val="918"/>
              </a:spcBef>
            </a:pPr>
            <a:r>
              <a:rPr sz="1900" spc="14" dirty="0">
                <a:latin typeface="Arial"/>
                <a:cs typeface="Arial"/>
              </a:rPr>
              <a:t>Many </a:t>
            </a:r>
            <a:r>
              <a:rPr sz="1900" spc="11" dirty="0">
                <a:latin typeface="Arial"/>
                <a:cs typeface="Arial"/>
              </a:rPr>
              <a:t>network </a:t>
            </a:r>
            <a:r>
              <a:rPr sz="1900" spc="28" dirty="0">
                <a:latin typeface="Arial"/>
                <a:cs typeface="Arial"/>
              </a:rPr>
              <a:t>protocols </a:t>
            </a:r>
            <a:r>
              <a:rPr sz="1900" spc="7" dirty="0">
                <a:latin typeface="Arial"/>
                <a:cs typeface="Arial"/>
              </a:rPr>
              <a:t>exist,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three  </a:t>
            </a:r>
            <a:r>
              <a:rPr sz="1900" spc="-4" dirty="0">
                <a:latin typeface="Arial"/>
                <a:cs typeface="Arial"/>
              </a:rPr>
              <a:t>are </a:t>
            </a:r>
            <a:r>
              <a:rPr sz="1900" spc="7" dirty="0">
                <a:latin typeface="Arial"/>
                <a:cs typeface="Arial"/>
              </a:rPr>
              <a:t>of </a:t>
            </a:r>
            <a:r>
              <a:rPr sz="1900" spc="4" dirty="0">
                <a:latin typeface="Arial"/>
                <a:cs typeface="Arial"/>
              </a:rPr>
              <a:t>interest </a:t>
            </a:r>
            <a:r>
              <a:rPr sz="1900" spc="7" dirty="0">
                <a:latin typeface="Arial"/>
                <a:cs typeface="Arial"/>
              </a:rPr>
              <a:t>to</a:t>
            </a:r>
            <a:r>
              <a:rPr sz="1900" spc="-21" dirty="0">
                <a:latin typeface="Arial"/>
                <a:cs typeface="Arial"/>
              </a:rPr>
              <a:t> </a:t>
            </a:r>
            <a:r>
              <a:rPr sz="1900" spc="11" dirty="0">
                <a:latin typeface="Arial"/>
                <a:cs typeface="Arial"/>
              </a:rPr>
              <a:t>us: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95242" y="1955602"/>
            <a:ext cx="3607594" cy="4170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95680" y="2562824"/>
            <a:ext cx="756337" cy="4548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22469" y="2571750"/>
            <a:ext cx="705445" cy="401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322469" y="2571750"/>
            <a:ext cx="705445" cy="401836"/>
          </a:xfrm>
          <a:custGeom>
            <a:avLst/>
            <a:gdLst/>
            <a:ahLst/>
            <a:cxnLst/>
            <a:rect l="l" t="t" r="r" b="b"/>
            <a:pathLst>
              <a:path w="1003300" h="571500">
                <a:moveTo>
                  <a:pt x="0" y="0"/>
                </a:moveTo>
                <a:lnTo>
                  <a:pt x="1003300" y="0"/>
                </a:lnTo>
                <a:lnTo>
                  <a:pt x="1003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02925" y="2638544"/>
            <a:ext cx="54203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-70" dirty="0">
                <a:solidFill>
                  <a:srgbClr val="FFFFFF"/>
                </a:solidFill>
                <a:latin typeface="Arial"/>
                <a:cs typeface="Arial"/>
              </a:rPr>
              <a:t>HTTP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95680" y="4036222"/>
            <a:ext cx="756337" cy="4548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22469" y="4045148"/>
            <a:ext cx="705445" cy="401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22469" y="4045148"/>
            <a:ext cx="705445" cy="401836"/>
          </a:xfrm>
          <a:custGeom>
            <a:avLst/>
            <a:gdLst/>
            <a:ahLst/>
            <a:cxnLst/>
            <a:rect l="l" t="t" r="r" b="b"/>
            <a:pathLst>
              <a:path w="1003300" h="571500">
                <a:moveTo>
                  <a:pt x="0" y="0"/>
                </a:moveTo>
                <a:lnTo>
                  <a:pt x="1003300" y="0"/>
                </a:lnTo>
                <a:lnTo>
                  <a:pt x="1003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295680" y="4580933"/>
            <a:ext cx="756337" cy="4548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22469" y="4589859"/>
            <a:ext cx="705445" cy="401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22469" y="4589859"/>
            <a:ext cx="705445" cy="401836"/>
          </a:xfrm>
          <a:custGeom>
            <a:avLst/>
            <a:gdLst/>
            <a:ahLst/>
            <a:cxnLst/>
            <a:rect l="l" t="t" r="r" b="b"/>
            <a:pathLst>
              <a:path w="1003300" h="571500">
                <a:moveTo>
                  <a:pt x="0" y="0"/>
                </a:moveTo>
                <a:lnTo>
                  <a:pt x="1003300" y="0"/>
                </a:lnTo>
                <a:lnTo>
                  <a:pt x="1003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462504" y="4111943"/>
            <a:ext cx="42282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spc="-63" dirty="0">
                <a:solidFill>
                  <a:srgbClr val="FFFFFF"/>
                </a:solidFill>
                <a:latin typeface="Arial"/>
                <a:cs typeface="Arial"/>
              </a:rPr>
              <a:t>TCP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700" spc="-49" dirty="0">
                <a:solidFill>
                  <a:srgbClr val="FFFFFF"/>
                </a:solidFill>
                <a:latin typeface="Arial"/>
                <a:cs typeface="Arial"/>
              </a:rPr>
              <a:t>IP</a:t>
            </a:r>
            <a:endParaRPr sz="1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1510" y="4091172"/>
            <a:ext cx="701427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180"/>
              </a:lnSpc>
            </a:pPr>
            <a:r>
              <a:rPr sz="1800" b="1" dirty="0">
                <a:solidFill>
                  <a:srgbClr val="005493"/>
                </a:solidFill>
                <a:latin typeface="Arial"/>
                <a:cs typeface="Arial"/>
              </a:rPr>
              <a:t>IP</a:t>
            </a:r>
            <a:r>
              <a:rPr sz="1800" dirty="0">
                <a:solidFill>
                  <a:srgbClr val="005493"/>
                </a:solidFill>
                <a:latin typeface="Arial"/>
                <a:cs typeface="Arial"/>
              </a:rPr>
              <a:t>:  </a:t>
            </a:r>
            <a:r>
              <a:rPr sz="1800" b="1" spc="-4" dirty="0">
                <a:solidFill>
                  <a:srgbClr val="005493"/>
                </a:solidFill>
                <a:latin typeface="Arial"/>
                <a:cs typeface="Arial"/>
              </a:rPr>
              <a:t>TCP</a:t>
            </a:r>
            <a:r>
              <a:rPr sz="1800" spc="-4" dirty="0">
                <a:solidFill>
                  <a:srgbClr val="005493"/>
                </a:solidFill>
                <a:latin typeface="Arial"/>
                <a:cs typeface="Arial"/>
              </a:rPr>
              <a:t>:  </a:t>
            </a:r>
            <a:r>
              <a:rPr sz="1800" b="1" dirty="0">
                <a:solidFill>
                  <a:srgbClr val="005493"/>
                </a:solidFill>
                <a:latin typeface="Arial"/>
                <a:cs typeface="Arial"/>
              </a:rPr>
              <a:t>H</a:t>
            </a:r>
            <a:r>
              <a:rPr sz="1800" b="1" spc="-4" dirty="0">
                <a:solidFill>
                  <a:srgbClr val="005493"/>
                </a:solidFill>
                <a:latin typeface="Arial"/>
                <a:cs typeface="Arial"/>
              </a:rPr>
              <a:t>TT</a:t>
            </a:r>
            <a:r>
              <a:rPr sz="1800" b="1" dirty="0">
                <a:solidFill>
                  <a:srgbClr val="005493"/>
                </a:solidFill>
                <a:latin typeface="Arial"/>
                <a:cs typeface="Arial"/>
              </a:rPr>
              <a:t>P: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73027" y="4091172"/>
            <a:ext cx="3084761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180"/>
              </a:lnSpc>
            </a:pPr>
            <a:r>
              <a:rPr sz="1800" spc="4" dirty="0">
                <a:solidFill>
                  <a:srgbClr val="005493"/>
                </a:solidFill>
                <a:latin typeface="Arial"/>
                <a:cs typeface="Arial"/>
              </a:rPr>
              <a:t>Internet </a:t>
            </a:r>
            <a:r>
              <a:rPr sz="1800" spc="-7" dirty="0">
                <a:solidFill>
                  <a:srgbClr val="005493"/>
                </a:solidFill>
                <a:latin typeface="Arial"/>
                <a:cs typeface="Arial"/>
              </a:rPr>
              <a:t>Protocol  </a:t>
            </a:r>
            <a:r>
              <a:rPr sz="1800" spc="-25" dirty="0">
                <a:solidFill>
                  <a:srgbClr val="005493"/>
                </a:solidFill>
                <a:latin typeface="Arial"/>
                <a:cs typeface="Arial"/>
              </a:rPr>
              <a:t>Transmission </a:t>
            </a:r>
            <a:r>
              <a:rPr sz="1800" spc="-7" dirty="0">
                <a:solidFill>
                  <a:srgbClr val="005493"/>
                </a:solidFill>
                <a:latin typeface="Arial"/>
                <a:cs typeface="Arial"/>
              </a:rPr>
              <a:t>Control Protocol  </a:t>
            </a:r>
            <a:r>
              <a:rPr sz="1800" b="1" spc="-4" dirty="0">
                <a:solidFill>
                  <a:srgbClr val="005493"/>
                </a:solidFill>
                <a:latin typeface="Arial"/>
                <a:cs typeface="Arial"/>
              </a:rPr>
              <a:t>Hypertext </a:t>
            </a:r>
            <a:r>
              <a:rPr sz="1800" b="1" spc="-14" dirty="0">
                <a:solidFill>
                  <a:srgbClr val="005493"/>
                </a:solidFill>
                <a:latin typeface="Arial"/>
                <a:cs typeface="Arial"/>
              </a:rPr>
              <a:t>Transfer</a:t>
            </a:r>
            <a:r>
              <a:rPr sz="1800" b="1" spc="-18" dirty="0">
                <a:solidFill>
                  <a:srgbClr val="005493"/>
                </a:solidFill>
                <a:latin typeface="Arial"/>
                <a:cs typeface="Arial"/>
              </a:rPr>
              <a:t> </a:t>
            </a:r>
            <a:r>
              <a:rPr sz="1800" b="1" spc="-4" dirty="0">
                <a:solidFill>
                  <a:srgbClr val="005493"/>
                </a:solidFill>
                <a:latin typeface="Arial"/>
                <a:cs typeface="Arial"/>
              </a:rPr>
              <a:t>Protocol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1510" y="5187737"/>
            <a:ext cx="431884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spc="-4" dirty="0">
                <a:latin typeface="Arial"/>
                <a:cs typeface="Arial"/>
              </a:rPr>
              <a:t>others </a:t>
            </a:r>
            <a:r>
              <a:rPr sz="1800" spc="25" dirty="0">
                <a:latin typeface="Arial"/>
                <a:cs typeface="Arial"/>
              </a:rPr>
              <a:t>include: </a:t>
            </a:r>
            <a:r>
              <a:rPr sz="1800" spc="-53" dirty="0">
                <a:latin typeface="Arial"/>
                <a:cs typeface="Arial"/>
              </a:rPr>
              <a:t>SSH, </a:t>
            </a:r>
            <a:r>
              <a:rPr sz="1800" spc="-70" dirty="0">
                <a:latin typeface="Arial"/>
                <a:cs typeface="Arial"/>
              </a:rPr>
              <a:t>IMAP, </a:t>
            </a:r>
            <a:r>
              <a:rPr sz="1800" spc="-109" dirty="0">
                <a:latin typeface="Arial"/>
                <a:cs typeface="Arial"/>
              </a:rPr>
              <a:t>STMP, </a:t>
            </a:r>
            <a:r>
              <a:rPr sz="1800" spc="-102" dirty="0">
                <a:latin typeface="Arial"/>
                <a:cs typeface="Arial"/>
              </a:rPr>
              <a:t>FTP</a:t>
            </a:r>
            <a:r>
              <a:rPr sz="1800" spc="186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9768" y="6277571"/>
            <a:ext cx="6975148" cy="5232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7555" y="6286500"/>
            <a:ext cx="6920508" cy="4732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7555" y="6286500"/>
            <a:ext cx="6920508" cy="473273"/>
          </a:xfrm>
          <a:custGeom>
            <a:avLst/>
            <a:gdLst/>
            <a:ahLst/>
            <a:cxnLst/>
            <a:rect l="l" t="t" r="r" b="b"/>
            <a:pathLst>
              <a:path w="9842500" h="673100">
                <a:moveTo>
                  <a:pt x="0" y="0"/>
                </a:moveTo>
                <a:lnTo>
                  <a:pt x="9842500" y="0"/>
                </a:lnTo>
                <a:lnTo>
                  <a:pt x="9842500" y="673100"/>
                </a:lnTo>
                <a:lnTo>
                  <a:pt x="0" y="6731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02563" y="6402585"/>
            <a:ext cx="578956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116"/>
              </a:lnSpc>
            </a:pPr>
            <a:r>
              <a:rPr sz="2100" spc="-88" dirty="0">
                <a:solidFill>
                  <a:srgbClr val="FFFFFF"/>
                </a:solidFill>
                <a:latin typeface="Arial"/>
                <a:cs typeface="Arial"/>
              </a:rPr>
              <a:t>HTTP 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uses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reliable 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data-transmission</a:t>
            </a:r>
            <a:r>
              <a:rPr sz="2100" spc="10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18" dirty="0">
                <a:solidFill>
                  <a:srgbClr val="FFFFFF"/>
                </a:solidFill>
                <a:latin typeface="Arial"/>
                <a:cs typeface="Arial"/>
              </a:rPr>
              <a:t>protocols.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96440" y="6093143"/>
            <a:ext cx="1028254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800" spc="7" dirty="0">
                <a:latin typeface="Arial"/>
                <a:cs typeface="Arial"/>
              </a:rPr>
              <a:t>Image src:</a:t>
            </a:r>
            <a:r>
              <a:rPr sz="800" spc="-53" dirty="0">
                <a:latin typeface="Arial"/>
                <a:cs typeface="Arial"/>
              </a:rPr>
              <a:t> </a:t>
            </a:r>
            <a:r>
              <a:rPr sz="800" spc="4" dirty="0">
                <a:latin typeface="Arial"/>
                <a:cs typeface="Arial"/>
              </a:rPr>
              <a:t>Wikipedia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044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Browser Request MIME Header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7772400" cy="4724400"/>
          </a:xfrm>
          <a:noFill/>
          <a:ln/>
        </p:spPr>
        <p:txBody>
          <a:bodyPr/>
          <a:lstStyle/>
          <a:p>
            <a:r>
              <a:rPr lang="en-US" altLang="en-US"/>
              <a:t>When the browser sends a request to a web server, it also sends a MIME header. </a:t>
            </a:r>
          </a:p>
          <a:p>
            <a:r>
              <a:rPr lang="en-US" altLang="en-US"/>
              <a:t>MIME headers contain name-value pairs, essentially a name followed by a colon and a space, followed by a value. </a:t>
            </a:r>
          </a:p>
          <a:p>
            <a:pPr lvl="1">
              <a:buFontTx/>
              <a:buNone/>
            </a:pPr>
            <a:endParaRPr lang="en-US" altLang="en-US" sz="2000">
              <a:latin typeface="Courier" pitchFamily="49" charset="0"/>
            </a:endParaRPr>
          </a:p>
          <a:p>
            <a:pPr lvl="1">
              <a:buFontTx/>
              <a:buNone/>
            </a:pPr>
            <a:r>
              <a:rPr lang="en-US" altLang="en-US" sz="2000">
                <a:latin typeface="Courier" pitchFamily="49" charset="0"/>
              </a:rPr>
              <a:t>Connection: Keep-Alive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" pitchFamily="49" charset="0"/>
              </a:rPr>
              <a:t>User-Agent: Mozilla/3.01 (Macintosh; I; PPC)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" pitchFamily="49" charset="0"/>
              </a:rPr>
              <a:t>Host: www.digitalthink.com:80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" pitchFamily="49" charset="0"/>
              </a:rPr>
              <a:t>Accept: image/gif, image/x-xbitmap, image/jpeg, image/pjpeg, */*</a:t>
            </a:r>
          </a:p>
        </p:txBody>
      </p:sp>
    </p:spTree>
    <p:extLst>
      <p:ext uri="{BB962C8B-B14F-4D97-AF65-F5344CB8AC3E}">
        <p14:creationId xmlns:p14="http://schemas.microsoft.com/office/powerpoint/2010/main" val="3217323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Server Response MIME Header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72400" cy="4114800"/>
          </a:xfrm>
          <a:noFill/>
          <a:ln/>
        </p:spPr>
        <p:txBody>
          <a:bodyPr/>
          <a:lstStyle/>
          <a:p>
            <a:r>
              <a:rPr lang="en-US" altLang="en-US"/>
              <a:t>When a web server responds to a web browser it sends a MIME header along with the response that looks something like this:</a:t>
            </a:r>
          </a:p>
          <a:p>
            <a:pPr lvl="2"/>
            <a:endParaRPr lang="en-US" altLang="en-US"/>
          </a:p>
          <a:p>
            <a:pPr lvl="2"/>
            <a:r>
              <a:rPr lang="en-US" altLang="en-US"/>
              <a:t>Server: Netscape-Enterprise/2.01</a:t>
            </a:r>
          </a:p>
          <a:p>
            <a:pPr lvl="2"/>
            <a:r>
              <a:rPr lang="en-US" altLang="en-US"/>
              <a:t>Date: Sat, 02 Aug 1997 07:52:46 GMT</a:t>
            </a:r>
          </a:p>
          <a:p>
            <a:pPr lvl="2"/>
            <a:r>
              <a:rPr lang="en-US" altLang="en-US"/>
              <a:t>Accept-ranges: bytes</a:t>
            </a:r>
          </a:p>
          <a:p>
            <a:pPr lvl="2"/>
            <a:r>
              <a:rPr lang="en-US" altLang="en-US"/>
              <a:t>Last-modified: Tue, 29 Jul 1997 15:06:46 GMT</a:t>
            </a:r>
          </a:p>
          <a:p>
            <a:pPr lvl="2"/>
            <a:r>
              <a:rPr lang="en-US" altLang="en-US"/>
              <a:t>Content-length: 2810</a:t>
            </a:r>
          </a:p>
          <a:p>
            <a:pPr lvl="2"/>
            <a:r>
              <a:rPr lang="en-US" altLang="en-US"/>
              <a:t>Content-type: text/html</a:t>
            </a:r>
          </a:p>
        </p:txBody>
      </p:sp>
    </p:spTree>
    <p:extLst>
      <p:ext uri="{BB962C8B-B14F-4D97-AF65-F5344CB8AC3E}">
        <p14:creationId xmlns:p14="http://schemas.microsoft.com/office/powerpoint/2010/main" val="2233563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6453" y="1705570"/>
            <a:ext cx="8858250" cy="4268391"/>
          </a:xfrm>
          <a:custGeom>
            <a:avLst/>
            <a:gdLst/>
            <a:ahLst/>
            <a:cxnLst/>
            <a:rect l="l" t="t" r="r" b="b"/>
            <a:pathLst>
              <a:path w="12598400" h="6070600">
                <a:moveTo>
                  <a:pt x="0" y="0"/>
                </a:moveTo>
                <a:lnTo>
                  <a:pt x="12598400" y="0"/>
                </a:lnTo>
                <a:lnTo>
                  <a:pt x="12598400" y="6070600"/>
                </a:lnTo>
                <a:lnTo>
                  <a:pt x="0" y="6070600"/>
                </a:lnTo>
                <a:lnTo>
                  <a:pt x="0" y="0"/>
                </a:lnTo>
                <a:close/>
              </a:path>
            </a:pathLst>
          </a:custGeom>
          <a:solidFill>
            <a:srgbClr val="0365C0">
              <a:alpha val="2396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2539" y="402535"/>
            <a:ext cx="814981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589874" algn="l"/>
              </a:tabLst>
            </a:pPr>
            <a:r>
              <a:rPr dirty="0"/>
              <a:t>HTTP	</a:t>
            </a:r>
            <a:r>
              <a:rPr spc="-14" dirty="0"/>
              <a:t>request</a:t>
            </a:r>
            <a:r>
              <a:rPr spc="-67" dirty="0"/>
              <a:t> </a:t>
            </a:r>
            <a:r>
              <a:rPr dirty="0"/>
              <a:t>message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19852" y="1744843"/>
            <a:ext cx="126131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HTTP/1.1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437" y="1744843"/>
            <a:ext cx="795189" cy="742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000" spc="-4" dirty="0">
                <a:solidFill>
                  <a:srgbClr val="0433FF"/>
                </a:solidFill>
                <a:latin typeface="Courier New"/>
                <a:cs typeface="Courier New"/>
              </a:rPr>
              <a:t>GET</a:t>
            </a:r>
            <a:r>
              <a:rPr sz="2000" spc="-67" dirty="0">
                <a:solidFill>
                  <a:srgbClr val="0433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/</a:t>
            </a:r>
            <a:endParaRPr sz="2000">
              <a:latin typeface="Courier New"/>
              <a:cs typeface="Courier New"/>
            </a:endParaRPr>
          </a:p>
          <a:p>
            <a:pPr marL="8929">
              <a:spcBef>
                <a:spcPts val="787"/>
              </a:spcBef>
            </a:pPr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Host</a:t>
            </a:r>
            <a:r>
              <a:rPr sz="2000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9849" y="2155608"/>
            <a:ext cx="2193578" cy="313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n-US" sz="2000" dirty="0" smtClean="0">
                <a:latin typeface="Courier New"/>
                <a:cs typeface="Courier New"/>
              </a:rPr>
              <a:t>www.google.com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437" y="2566374"/>
            <a:ext cx="359196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873382" algn="l"/>
              </a:tabLst>
            </a:pPr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User-Agent</a:t>
            </a:r>
            <a:r>
              <a:rPr sz="2000" dirty="0">
                <a:latin typeface="Courier New"/>
                <a:cs typeface="Courier New"/>
              </a:rPr>
              <a:t>:	</a:t>
            </a:r>
            <a:r>
              <a:rPr sz="2000" spc="-4" dirty="0">
                <a:latin typeface="Courier New"/>
                <a:cs typeface="Courier New"/>
              </a:rPr>
              <a:t>Mozilla/5.0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14331" y="2566374"/>
            <a:ext cx="219357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407269" algn="l"/>
              </a:tabLst>
            </a:pPr>
            <a:r>
              <a:rPr sz="2000" spc="-4" dirty="0">
                <a:latin typeface="Courier New"/>
                <a:cs typeface="Courier New"/>
              </a:rPr>
              <a:t>Ma</a:t>
            </a:r>
            <a:r>
              <a:rPr sz="2000" dirty="0">
                <a:latin typeface="Courier New"/>
                <a:cs typeface="Courier New"/>
              </a:rPr>
              <a:t>c </a:t>
            </a:r>
            <a:r>
              <a:rPr sz="2000" spc="-4" dirty="0">
                <a:latin typeface="Courier New"/>
                <a:cs typeface="Courier New"/>
              </a:rPr>
              <a:t>O</a:t>
            </a:r>
            <a:r>
              <a:rPr sz="2000" dirty="0">
                <a:latin typeface="Courier New"/>
                <a:cs typeface="Courier New"/>
              </a:rPr>
              <a:t>S X	</a:t>
            </a:r>
            <a:r>
              <a:rPr sz="2000" spc="-4" dirty="0">
                <a:latin typeface="Courier New"/>
                <a:cs typeface="Courier New"/>
              </a:rPr>
              <a:t>10.9;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17087" y="2564509"/>
            <a:ext cx="2659707" cy="646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-446">
              <a:lnSpc>
                <a:spcPct val="100600"/>
              </a:lnSpc>
            </a:pPr>
            <a:r>
              <a:rPr sz="2000" spc="-4" dirty="0">
                <a:latin typeface="Courier New"/>
                <a:cs typeface="Courier New"/>
              </a:rPr>
              <a:t>(Macintosh;</a:t>
            </a:r>
            <a:r>
              <a:rPr sz="2000" spc="-63" dirty="0">
                <a:latin typeface="Courier New"/>
                <a:cs typeface="Courier New"/>
              </a:rPr>
              <a:t> </a:t>
            </a:r>
            <a:r>
              <a:rPr sz="2000" spc="-4" dirty="0">
                <a:latin typeface="Courier New"/>
                <a:cs typeface="Courier New"/>
              </a:rPr>
              <a:t>Intel  </a:t>
            </a:r>
            <a:r>
              <a:rPr sz="2000" dirty="0">
                <a:latin typeface="Courier New"/>
                <a:cs typeface="Courier New"/>
              </a:rPr>
              <a:t>Firefox/31.0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437" y="2778851"/>
            <a:ext cx="3591967" cy="8425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ct val="132200"/>
              </a:lnSpc>
            </a:pPr>
            <a:r>
              <a:rPr sz="2000" spc="-4" dirty="0">
                <a:latin typeface="Courier New"/>
                <a:cs typeface="Courier New"/>
              </a:rPr>
              <a:t>rv:31.0) Gecko/20100101  </a:t>
            </a:r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Accept</a:t>
            </a:r>
            <a:r>
              <a:rPr sz="2000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0653" y="3289679"/>
            <a:ext cx="685576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000" dirty="0">
                <a:latin typeface="Courier New"/>
                <a:cs typeface="Courier New"/>
              </a:rPr>
              <a:t>text/html,application/xhtml+xml,application/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437" y="3602218"/>
            <a:ext cx="8098780" cy="2287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000" dirty="0">
                <a:latin typeface="Courier New"/>
                <a:cs typeface="Courier New"/>
              </a:rPr>
              <a:t>xml;q=0.9,*/*;q=0.8</a:t>
            </a:r>
            <a:endParaRPr sz="2000">
              <a:latin typeface="Courier New"/>
              <a:cs typeface="Courier New"/>
            </a:endParaRPr>
          </a:p>
          <a:p>
            <a:pPr marL="8929" marR="3266810">
              <a:lnSpc>
                <a:spcPct val="132200"/>
              </a:lnSpc>
              <a:tabLst>
                <a:tab pos="785785" algn="l"/>
                <a:tab pos="2650237" algn="l"/>
              </a:tabLst>
            </a:pPr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Accept-Language</a:t>
            </a:r>
            <a:r>
              <a:rPr sz="2000" dirty="0">
                <a:latin typeface="Courier New"/>
                <a:cs typeface="Courier New"/>
              </a:rPr>
              <a:t>:	en-gb,en;q=0.5  </a:t>
            </a:r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Accept-Encoding</a:t>
            </a:r>
            <a:r>
              <a:rPr sz="2000" dirty="0">
                <a:latin typeface="Courier New"/>
                <a:cs typeface="Courier New"/>
              </a:rPr>
              <a:t>:	</a:t>
            </a:r>
            <a:r>
              <a:rPr sz="2000" spc="-4" dirty="0">
                <a:latin typeface="Courier New"/>
                <a:cs typeface="Courier New"/>
              </a:rPr>
              <a:t>gzip,</a:t>
            </a:r>
            <a:r>
              <a:rPr sz="2000" spc="-67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deflate  </a:t>
            </a:r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DNT</a:t>
            </a:r>
            <a:r>
              <a:rPr sz="2000" dirty="0">
                <a:latin typeface="Courier New"/>
                <a:cs typeface="Courier New"/>
              </a:rPr>
              <a:t>:	1</a:t>
            </a:r>
            <a:endParaRPr sz="2000">
              <a:latin typeface="Courier New"/>
              <a:cs typeface="Courier New"/>
            </a:endParaRPr>
          </a:p>
          <a:p>
            <a:pPr marL="8929">
              <a:spcBef>
                <a:spcPts val="787"/>
              </a:spcBef>
            </a:pPr>
            <a:r>
              <a:rPr sz="2000" dirty="0">
                <a:solidFill>
                  <a:srgbClr val="0433FF"/>
                </a:solidFill>
                <a:latin typeface="Courier New"/>
                <a:cs typeface="Courier New"/>
              </a:rPr>
              <a:t>Cookie</a:t>
            </a:r>
            <a:r>
              <a:rPr sz="2000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8929">
              <a:spcBef>
                <a:spcPts val="14"/>
              </a:spcBef>
              <a:tabLst>
                <a:tab pos="319225" algn="l"/>
              </a:tabLst>
            </a:pPr>
            <a:r>
              <a:rPr sz="2000" u="heavy" dirty="0">
                <a:latin typeface="Courier New"/>
                <a:cs typeface="Courier New"/>
              </a:rPr>
              <a:t> 	</a:t>
            </a:r>
            <a:r>
              <a:rPr sz="2000" dirty="0">
                <a:latin typeface="Courier New"/>
                <a:cs typeface="Courier New"/>
              </a:rPr>
              <a:t>utma=1.20923577936111.16111.19805.2;utmcmd=(none);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88187" y="1564486"/>
            <a:ext cx="5855812" cy="455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12914" y="1571625"/>
            <a:ext cx="5831086" cy="401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12914" y="1571625"/>
            <a:ext cx="5831086" cy="401836"/>
          </a:xfrm>
          <a:custGeom>
            <a:avLst/>
            <a:gdLst/>
            <a:ahLst/>
            <a:cxnLst/>
            <a:rect l="l" t="t" r="r" b="b"/>
            <a:pathLst>
              <a:path w="8293100" h="571500">
                <a:moveTo>
                  <a:pt x="0" y="0"/>
                </a:moveTo>
                <a:lnTo>
                  <a:pt x="0" y="571500"/>
                </a:lnTo>
                <a:lnTo>
                  <a:pt x="8293100" y="571500"/>
                </a:lnTo>
                <a:lnTo>
                  <a:pt x="8293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575732" y="1623069"/>
            <a:ext cx="531227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000" b="1" spc="-4" dirty="0">
                <a:solidFill>
                  <a:srgbClr val="FFFFFF"/>
                </a:solidFill>
                <a:latin typeface="Arial"/>
                <a:cs typeface="Arial"/>
              </a:rPr>
              <a:t>plain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text, </a:t>
            </a:r>
            <a:r>
              <a:rPr sz="2000" b="1" spc="-4" dirty="0">
                <a:solidFill>
                  <a:srgbClr val="FFFFFF"/>
                </a:solidFill>
                <a:latin typeface="Arial"/>
                <a:cs typeface="Arial"/>
              </a:rPr>
              <a:t>line-oriented character</a:t>
            </a:r>
            <a:r>
              <a:rPr sz="2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FFFFFF"/>
                </a:solidFill>
                <a:latin typeface="Arial"/>
                <a:cs typeface="Arial"/>
              </a:rPr>
              <a:t>sequences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55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9643" y="402535"/>
            <a:ext cx="734256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589874" algn="l"/>
              </a:tabLst>
            </a:pPr>
            <a:r>
              <a:rPr dirty="0"/>
              <a:t>HTTP	</a:t>
            </a:r>
            <a:r>
              <a:rPr spc="-14" dirty="0"/>
              <a:t>response</a:t>
            </a:r>
            <a:r>
              <a:rPr spc="-53" dirty="0"/>
              <a:t> </a:t>
            </a:r>
            <a:r>
              <a:rPr dirty="0"/>
              <a:t>message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8896350" cy="44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02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538" y="402535"/>
            <a:ext cx="791706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2019377" algn="l"/>
                <a:tab pos="3516832" algn="l"/>
                <a:tab pos="5297795" algn="l"/>
              </a:tabLst>
            </a:pPr>
            <a:r>
              <a:rPr dirty="0"/>
              <a:t>Pr</a:t>
            </a:r>
            <a:r>
              <a:rPr spc="-4" dirty="0"/>
              <a:t>i</a:t>
            </a:r>
            <a:r>
              <a:rPr dirty="0"/>
              <a:t>ma</a:t>
            </a:r>
            <a:r>
              <a:rPr spc="134" dirty="0"/>
              <a:t>r</a:t>
            </a:r>
            <a:r>
              <a:rPr dirty="0"/>
              <a:t>y	ent</a:t>
            </a:r>
            <a:r>
              <a:rPr spc="-4" dirty="0"/>
              <a:t>it</a:t>
            </a:r>
            <a:r>
              <a:rPr dirty="0"/>
              <a:t>y	header	</a:t>
            </a:r>
            <a:r>
              <a:rPr spc="35" dirty="0"/>
              <a:t>fie</a:t>
            </a:r>
            <a:r>
              <a:rPr spc="21" dirty="0"/>
              <a:t>l</a:t>
            </a:r>
            <a:r>
              <a:rPr dirty="0"/>
              <a:t>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6515" y="1759149"/>
          <a:ext cx="7753620" cy="4018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4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Content-Type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Entity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35" dirty="0"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Content-Length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10" dirty="0">
                          <a:latin typeface="Arial"/>
                          <a:cs typeface="Arial"/>
                        </a:rPr>
                        <a:t>Length/size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the</a:t>
                      </a:r>
                      <a:r>
                        <a:rPr sz="18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message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15" dirty="0">
                          <a:latin typeface="Arial"/>
                          <a:cs typeface="Arial"/>
                        </a:rPr>
                        <a:t>Content-Language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35" dirty="0">
                          <a:latin typeface="Arial"/>
                          <a:cs typeface="Arial"/>
                        </a:rPr>
                        <a:t>Language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the entity sent 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(e.g.</a:t>
                      </a:r>
                      <a:r>
                        <a:rPr sz="18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English)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Content-Encoding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transformations </a:t>
                      </a:r>
                      <a:r>
                        <a:rPr sz="1800" spc="60" dirty="0">
                          <a:latin typeface="Arial"/>
                          <a:cs typeface="Arial"/>
                        </a:rPr>
                        <a:t>applied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 the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entity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5" dirty="0">
                          <a:latin typeface="Arial"/>
                          <a:cs typeface="Arial"/>
                        </a:rPr>
                        <a:t>Content-Location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Alternative </a:t>
                      </a:r>
                      <a:r>
                        <a:rPr sz="1800" spc="15" dirty="0">
                          <a:latin typeface="Arial"/>
                          <a:cs typeface="Arial"/>
                        </a:rPr>
                        <a:t>location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the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entity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Content-Range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partial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entities, 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range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defines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45" dirty="0">
                          <a:latin typeface="Arial"/>
                          <a:cs typeface="Arial"/>
                        </a:rPr>
                        <a:t>pieces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Content-MD5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15" dirty="0">
                          <a:latin typeface="Arial"/>
                          <a:cs typeface="Arial"/>
                        </a:rPr>
                        <a:t>Checksum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the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content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Last-Modified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Date on 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which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this entity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was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30" dirty="0">
                          <a:latin typeface="Arial"/>
                          <a:cs typeface="Arial"/>
                        </a:rPr>
                        <a:t>created/modified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Expires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Date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at 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which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 entity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will </a:t>
                      </a:r>
                      <a:r>
                        <a:rPr sz="1800" spc="45" dirty="0">
                          <a:latin typeface="Arial"/>
                          <a:cs typeface="Arial"/>
                        </a:rPr>
                        <a:t>become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stale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Allow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Lists the </a:t>
                      </a:r>
                      <a:r>
                        <a:rPr sz="1800" spc="25" dirty="0">
                          <a:latin typeface="Arial"/>
                          <a:cs typeface="Arial"/>
                        </a:rPr>
                        <a:t>legal 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request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methods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for the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entity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34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73323"/>
            <a:ext cx="7772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/>
            <a:r>
              <a:rPr dirty="0"/>
              <a:t>Content</a:t>
            </a:r>
            <a:r>
              <a:rPr spc="-4" dirty="0"/>
              <a:t>-</a:t>
            </a:r>
            <a:r>
              <a:rPr spc="-573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515" y="190184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327" y="1854169"/>
            <a:ext cx="6222653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b="1" spc="-4" dirty="0">
                <a:latin typeface="Arial"/>
                <a:cs typeface="Arial"/>
              </a:rPr>
              <a:t>MIME </a:t>
            </a:r>
            <a:r>
              <a:rPr sz="2200" spc="25" dirty="0">
                <a:latin typeface="Arial"/>
                <a:cs typeface="Arial"/>
              </a:rPr>
              <a:t>types </a:t>
            </a:r>
            <a:r>
              <a:rPr sz="2200" spc="-18" dirty="0">
                <a:latin typeface="Arial"/>
                <a:cs typeface="Arial"/>
              </a:rPr>
              <a:t>are </a:t>
            </a:r>
            <a:r>
              <a:rPr sz="2200" spc="28" dirty="0">
                <a:latin typeface="Arial"/>
                <a:cs typeface="Arial"/>
              </a:rPr>
              <a:t>attached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4" dirty="0">
                <a:latin typeface="Arial"/>
                <a:cs typeface="Arial"/>
              </a:rPr>
              <a:t>all </a:t>
            </a: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39" dirty="0">
                <a:latin typeface="Arial"/>
                <a:cs typeface="Arial"/>
              </a:rPr>
              <a:t>object</a:t>
            </a:r>
            <a:r>
              <a:rPr sz="2200" spc="84" dirty="0">
                <a:latin typeface="Arial"/>
                <a:cs typeface="Arial"/>
              </a:rPr>
              <a:t> </a:t>
            </a:r>
            <a:r>
              <a:rPr sz="2200" spc="28" dirty="0">
                <a:latin typeface="Arial"/>
                <a:cs typeface="Arial"/>
              </a:rPr>
              <a:t>data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515" y="332167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4327" y="3288277"/>
            <a:ext cx="6889254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32" dirty="0">
                <a:latin typeface="Arial"/>
                <a:cs typeface="Arial"/>
              </a:rPr>
              <a:t>MIME </a:t>
            </a:r>
            <a:r>
              <a:rPr sz="2200" spc="28" dirty="0">
                <a:latin typeface="Arial"/>
                <a:cs typeface="Arial"/>
              </a:rPr>
              <a:t>type </a:t>
            </a:r>
            <a:r>
              <a:rPr sz="2200" spc="14" dirty="0">
                <a:latin typeface="Arial"/>
                <a:cs typeface="Arial"/>
              </a:rPr>
              <a:t>determines </a:t>
            </a:r>
            <a:r>
              <a:rPr sz="2200" spc="18" dirty="0">
                <a:latin typeface="Arial"/>
                <a:cs typeface="Arial"/>
              </a:rPr>
              <a:t>clients </a:t>
            </a:r>
            <a:r>
              <a:rPr sz="2200" spc="7" dirty="0">
                <a:latin typeface="Arial"/>
                <a:cs typeface="Arial"/>
              </a:rPr>
              <a:t>reaction </a:t>
            </a:r>
            <a:r>
              <a:rPr sz="2200" dirty="0">
                <a:latin typeface="Arial"/>
                <a:cs typeface="Arial"/>
              </a:rPr>
              <a:t>to the</a:t>
            </a:r>
            <a:r>
              <a:rPr sz="2200" spc="-39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received  </a:t>
            </a:r>
            <a:r>
              <a:rPr sz="2200" spc="28" dirty="0">
                <a:latin typeface="Arial"/>
                <a:cs typeface="Arial"/>
              </a:rPr>
              <a:t>data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515" y="4609845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327" y="4559864"/>
            <a:ext cx="2458789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-14" dirty="0">
                <a:latin typeface="Arial"/>
                <a:cs typeface="Arial"/>
              </a:rPr>
              <a:t>Pattern:</a:t>
            </a:r>
            <a:r>
              <a:rPr sz="2200" spc="-46" dirty="0">
                <a:latin typeface="Arial"/>
                <a:cs typeface="Arial"/>
              </a:rPr>
              <a:t> </a:t>
            </a:r>
            <a:r>
              <a:rPr sz="2200" spc="-4" dirty="0">
                <a:latin typeface="Courier New"/>
                <a:cs typeface="Courier New"/>
              </a:rPr>
              <a:t>[primary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6911" y="4559864"/>
            <a:ext cx="1046559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-4" dirty="0">
                <a:latin typeface="Courier New"/>
                <a:cs typeface="Courier New"/>
              </a:rPr>
              <a:t>object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7261" y="4559864"/>
            <a:ext cx="2590056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dirty="0">
                <a:latin typeface="Courier New"/>
                <a:cs typeface="Courier New"/>
              </a:rPr>
              <a:t>type]/[subtype]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327" y="5243120"/>
            <a:ext cx="4362152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28" dirty="0">
                <a:latin typeface="Arial"/>
                <a:cs typeface="Arial"/>
              </a:rPr>
              <a:t>e.g. </a:t>
            </a:r>
            <a:r>
              <a:rPr sz="2200" spc="-4" dirty="0">
                <a:latin typeface="Courier New"/>
                <a:cs typeface="Courier New"/>
              </a:rPr>
              <a:t>text/plain,</a:t>
            </a:r>
            <a:r>
              <a:rPr sz="2200" spc="-84" dirty="0">
                <a:latin typeface="Courier New"/>
                <a:cs typeface="Courier New"/>
              </a:rPr>
              <a:t> </a:t>
            </a:r>
            <a:r>
              <a:rPr sz="2200" spc="-4" dirty="0">
                <a:latin typeface="Courier New"/>
                <a:cs typeface="Courier New"/>
              </a:rPr>
              <a:t>text/html,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0072" y="5243120"/>
            <a:ext cx="1903809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-4" dirty="0">
                <a:latin typeface="Courier New"/>
                <a:cs typeface="Courier New"/>
              </a:rPr>
              <a:t>image/jpeg,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89463" y="5582448"/>
            <a:ext cx="3276302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dirty="0">
                <a:latin typeface="Courier New"/>
                <a:cs typeface="Courier New"/>
              </a:rPr>
              <a:t>application/vnd.ms-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4327" y="5596734"/>
            <a:ext cx="2761506" cy="690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4" dirty="0">
                <a:latin typeface="Courier New"/>
                <a:cs typeface="Courier New"/>
              </a:rPr>
              <a:t>video/quicktime,  </a:t>
            </a:r>
            <a:r>
              <a:rPr sz="2200" dirty="0">
                <a:latin typeface="Courier New"/>
                <a:cs typeface="Courier New"/>
              </a:rPr>
              <a:t>powerpoint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0834" y="2336011"/>
            <a:ext cx="4737753" cy="455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91195" y="2348508"/>
            <a:ext cx="4679156" cy="401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91195" y="2348508"/>
            <a:ext cx="4679156" cy="401836"/>
          </a:xfrm>
          <a:custGeom>
            <a:avLst/>
            <a:gdLst/>
            <a:ahLst/>
            <a:cxnLst/>
            <a:rect l="l" t="t" r="r" b="b"/>
            <a:pathLst>
              <a:path w="6654800" h="571500">
                <a:moveTo>
                  <a:pt x="0" y="0"/>
                </a:moveTo>
                <a:lnTo>
                  <a:pt x="6654800" y="0"/>
                </a:lnTo>
                <a:lnTo>
                  <a:pt x="66548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75685" y="2593186"/>
            <a:ext cx="2047014" cy="4550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0688" y="2598539"/>
            <a:ext cx="1991320" cy="401836"/>
          </a:xfrm>
          <a:custGeom>
            <a:avLst/>
            <a:gdLst/>
            <a:ahLst/>
            <a:cxnLst/>
            <a:rect l="l" t="t" r="r" b="b"/>
            <a:pathLst>
              <a:path w="2832100" h="571500">
                <a:moveTo>
                  <a:pt x="0" y="0"/>
                </a:moveTo>
                <a:lnTo>
                  <a:pt x="2832100" y="0"/>
                </a:lnTo>
                <a:lnTo>
                  <a:pt x="2832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51A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13420" y="2385664"/>
            <a:ext cx="6122640" cy="5558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296"/>
              </a:lnSpc>
            </a:pPr>
            <a:r>
              <a:rPr sz="2000" spc="18" dirty="0">
                <a:solidFill>
                  <a:srgbClr val="FFFFFF"/>
                </a:solidFill>
                <a:latin typeface="Arial"/>
                <a:cs typeface="Arial"/>
              </a:rPr>
              <a:t>Multipurpose </a:t>
            </a:r>
            <a:r>
              <a:rPr sz="2000" spc="4" dirty="0">
                <a:solidFill>
                  <a:srgbClr val="FFFFFF"/>
                </a:solidFill>
                <a:latin typeface="Arial"/>
                <a:cs typeface="Arial"/>
              </a:rPr>
              <a:t>Internet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Mail</a:t>
            </a:r>
            <a:r>
              <a:rPr sz="2000" b="1" spc="-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FFFFFF"/>
                </a:solidFill>
                <a:latin typeface="Arial"/>
                <a:cs typeface="Arial"/>
              </a:rPr>
              <a:t>Extensions</a:t>
            </a:r>
            <a:endParaRPr sz="2000">
              <a:latin typeface="Arial"/>
              <a:cs typeface="Arial"/>
            </a:endParaRPr>
          </a:p>
          <a:p>
            <a:pPr marR="3572" algn="r">
              <a:lnSpc>
                <a:spcPts val="1958"/>
              </a:lnSpc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historic</a:t>
            </a:r>
            <a:r>
              <a:rPr sz="17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reasons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988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73323"/>
            <a:ext cx="7772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/>
            <a:r>
              <a:rPr dirty="0"/>
              <a:t>Content types </a:t>
            </a:r>
            <a:r>
              <a:rPr spc="-32" dirty="0"/>
              <a:t>are</a:t>
            </a:r>
            <a:r>
              <a:rPr spc="-70" dirty="0"/>
              <a:t> </a:t>
            </a:r>
            <a:r>
              <a:rPr spc="-14" dirty="0"/>
              <a:t>diverse</a:t>
            </a:r>
          </a:p>
        </p:txBody>
      </p:sp>
      <p:sp>
        <p:nvSpPr>
          <p:cNvPr id="4" name="object 4"/>
          <p:cNvSpPr/>
          <p:nvPr/>
        </p:nvSpPr>
        <p:spPr>
          <a:xfrm>
            <a:off x="437555" y="1714500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4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7555" y="2079805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4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7555" y="2445109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4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7555" y="2810413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4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7555" y="3175718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4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7555" y="3541023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4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7555" y="3906327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4">
                <a:moveTo>
                  <a:pt x="0" y="0"/>
                </a:moveTo>
                <a:lnTo>
                  <a:pt x="5334000" y="0"/>
                </a:lnTo>
                <a:lnTo>
                  <a:pt x="5334000" y="519556"/>
                </a:lnTo>
                <a:lnTo>
                  <a:pt x="0" y="519556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7555" y="4271641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5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7555" y="4636946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5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7555" y="5002250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5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7555" y="5367555"/>
            <a:ext cx="3750469" cy="365671"/>
          </a:xfrm>
          <a:custGeom>
            <a:avLst/>
            <a:gdLst/>
            <a:ahLst/>
            <a:cxnLst/>
            <a:rect l="l" t="t" r="r" b="b"/>
            <a:pathLst>
              <a:path w="5334000" h="520065">
                <a:moveTo>
                  <a:pt x="0" y="0"/>
                </a:moveTo>
                <a:lnTo>
                  <a:pt x="5334000" y="0"/>
                </a:lnTo>
                <a:lnTo>
                  <a:pt x="5334000" y="519544"/>
                </a:lnTo>
                <a:lnTo>
                  <a:pt x="0" y="519544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75143" y="1750397"/>
            <a:ext cx="14756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b="1" spc="-4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1800" b="1" spc="-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4" dirty="0">
                <a:solidFill>
                  <a:srgbClr val="FFFFFF"/>
                </a:solidFill>
                <a:latin typeface="Arial"/>
                <a:cs typeface="Arial"/>
              </a:rPr>
              <a:t>popular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6897" y="2116433"/>
            <a:ext cx="127203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text/html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76897" y="2477274"/>
            <a:ext cx="127203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image/jpg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46557" y="2842578"/>
            <a:ext cx="11327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text/xml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0266" y="3207882"/>
            <a:ext cx="266506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application/rss+xml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7227" y="3573187"/>
            <a:ext cx="141133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text/plain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58916" y="3938492"/>
            <a:ext cx="210785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application/xml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8238" y="4303796"/>
            <a:ext cx="18292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text/calendar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8916" y="4669101"/>
            <a:ext cx="210785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application/pdf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0604" y="5034406"/>
            <a:ext cx="280481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application/atom+xml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8916" y="5399710"/>
            <a:ext cx="210785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unknown/unknown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63070" y="1714500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63070" y="2116336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63070" y="2518172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63070" y="2920008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63070" y="3321844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63070" y="3723680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63070" y="4125516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63070" y="4527352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63070" y="4929187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63070" y="5331023"/>
            <a:ext cx="4233565" cy="401836"/>
          </a:xfrm>
          <a:custGeom>
            <a:avLst/>
            <a:gdLst/>
            <a:ahLst/>
            <a:cxnLst/>
            <a:rect l="l" t="t" r="r" b="b"/>
            <a:pathLst>
              <a:path w="6021070" h="571500">
                <a:moveTo>
                  <a:pt x="0" y="0"/>
                </a:moveTo>
                <a:lnTo>
                  <a:pt x="6020536" y="0"/>
                </a:lnTo>
                <a:lnTo>
                  <a:pt x="602053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909605" y="1768265"/>
            <a:ext cx="154037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b="1" spc="-4" dirty="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sz="1800" b="1" spc="-4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4" dirty="0">
                <a:solidFill>
                  <a:srgbClr val="FFFFFF"/>
                </a:solidFill>
                <a:latin typeface="Arial"/>
                <a:cs typeface="Arial"/>
              </a:rPr>
              <a:t>popular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277481" y="2170824"/>
            <a:ext cx="280481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application/pgp-keys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98830" y="2568195"/>
            <a:ext cx="336202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application/x-httpd-php4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95453" y="2970031"/>
            <a:ext cx="196855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chemical/x-pdb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74104" y="3371867"/>
            <a:ext cx="141133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model/mesh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16802" y="3773703"/>
            <a:ext cx="25257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application/x-perl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625793" y="4175539"/>
            <a:ext cx="210785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audio/x_mpegurl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625793" y="4577375"/>
            <a:ext cx="210785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application/bib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38151" y="4979202"/>
            <a:ext cx="308342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application/postscript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89839" y="5381038"/>
            <a:ext cx="377993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application/x-msdos-program</a:t>
            </a:r>
            <a:endParaRPr sz="1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2575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73323"/>
            <a:ext cx="7772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/>
            <a:r>
              <a:rPr spc="-4" dirty="0"/>
              <a:t>Content-Length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2330470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8" y="2282794"/>
            <a:ext cx="6609308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25" dirty="0">
                <a:latin typeface="Arial"/>
                <a:cs typeface="Arial"/>
              </a:rPr>
              <a:t>Indicates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b="1" spc="-4" dirty="0">
                <a:latin typeface="Arial"/>
                <a:cs typeface="Arial"/>
              </a:rPr>
              <a:t>size </a:t>
            </a:r>
            <a:r>
              <a:rPr sz="2200" dirty="0">
                <a:latin typeface="Arial"/>
                <a:cs typeface="Arial"/>
              </a:rPr>
              <a:t>of the entity </a:t>
            </a:r>
            <a:r>
              <a:rPr sz="2200" spc="60" dirty="0">
                <a:latin typeface="Arial"/>
                <a:cs typeface="Arial"/>
              </a:rPr>
              <a:t>body </a:t>
            </a:r>
            <a:r>
              <a:rPr sz="2200" spc="-4" dirty="0">
                <a:latin typeface="Arial"/>
                <a:cs typeface="Arial"/>
              </a:rPr>
              <a:t>in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74" dirty="0">
                <a:latin typeface="Arial"/>
                <a:cs typeface="Arial"/>
              </a:rPr>
              <a:t> </a:t>
            </a:r>
            <a:r>
              <a:rPr sz="2200" spc="14" dirty="0">
                <a:latin typeface="Arial"/>
                <a:cs typeface="Arial"/>
              </a:rPr>
              <a:t>message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3277025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331" y="3277058"/>
            <a:ext cx="7126784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18" dirty="0">
                <a:latin typeface="Arial"/>
                <a:cs typeface="Arial"/>
              </a:rPr>
              <a:t>Essential </a:t>
            </a:r>
            <a:r>
              <a:rPr sz="2200" dirty="0">
                <a:latin typeface="Arial"/>
                <a:cs typeface="Arial"/>
              </a:rPr>
              <a:t>for </a:t>
            </a:r>
            <a:r>
              <a:rPr sz="2200" b="1" spc="-4" dirty="0">
                <a:solidFill>
                  <a:srgbClr val="005493"/>
                </a:solidFill>
                <a:latin typeface="Arial"/>
                <a:cs typeface="Arial"/>
              </a:rPr>
              <a:t>persistent connections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28" dirty="0">
                <a:latin typeface="Arial"/>
                <a:cs typeface="Arial"/>
              </a:rPr>
              <a:t>discover </a:t>
            </a:r>
            <a:r>
              <a:rPr sz="2200" spc="-11" dirty="0">
                <a:latin typeface="Arial"/>
                <a:cs typeface="Arial"/>
              </a:rPr>
              <a:t>where  </a:t>
            </a:r>
            <a:r>
              <a:rPr sz="2200" spc="-4" dirty="0">
                <a:latin typeface="Arial"/>
                <a:cs typeface="Arial"/>
              </a:rPr>
              <a:t>one </a:t>
            </a: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14" dirty="0">
                <a:latin typeface="Arial"/>
                <a:cs typeface="Arial"/>
              </a:rPr>
              <a:t>message </a:t>
            </a:r>
            <a:r>
              <a:rPr sz="2200" spc="28" dirty="0">
                <a:latin typeface="Arial"/>
                <a:cs typeface="Arial"/>
              </a:rPr>
              <a:t>ends </a:t>
            </a:r>
            <a:r>
              <a:rPr sz="2200" spc="39" dirty="0">
                <a:latin typeface="Arial"/>
                <a:cs typeface="Arial"/>
              </a:rPr>
              <a:t>and </a:t>
            </a:r>
            <a:r>
              <a:rPr sz="2200" dirty="0">
                <a:latin typeface="Arial"/>
                <a:cs typeface="Arial"/>
              </a:rPr>
              <a:t>the next </a:t>
            </a:r>
            <a:r>
              <a:rPr sz="2200" spc="-4" dirty="0">
                <a:latin typeface="Arial"/>
                <a:cs typeface="Arial"/>
              </a:rPr>
              <a:t>one</a:t>
            </a:r>
            <a:r>
              <a:rPr sz="2200" spc="25" dirty="0">
                <a:latin typeface="Arial"/>
                <a:cs typeface="Arial"/>
              </a:rPr>
              <a:t> </a:t>
            </a:r>
            <a:r>
              <a:rPr sz="2200" spc="39" dirty="0">
                <a:latin typeface="Arial"/>
                <a:cs typeface="Arial"/>
              </a:rPr>
              <a:t>begins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3214" y="5300783"/>
            <a:ext cx="7748209" cy="9033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8625" y="5313164"/>
            <a:ext cx="7697391" cy="848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8625" y="5313164"/>
            <a:ext cx="7697391" cy="772294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79025" rIns="0" bIns="0" rtlCol="0">
            <a:spAutoFit/>
          </a:bodyPr>
          <a:lstStyle/>
          <a:p>
            <a:pPr marL="170997" marR="220555">
              <a:lnSpc>
                <a:spcPts val="2672"/>
              </a:lnSpc>
              <a:spcBef>
                <a:spcPts val="622"/>
              </a:spcBef>
            </a:pPr>
            <a:r>
              <a:rPr sz="2200" b="1" spc="-4" dirty="0">
                <a:solidFill>
                  <a:srgbClr val="FFFFFF"/>
                </a:solidFill>
                <a:latin typeface="Arial"/>
                <a:cs typeface="Arial"/>
              </a:rPr>
              <a:t>Persistent connections </a:t>
            </a:r>
            <a:r>
              <a:rPr sz="2200" spc="-11" dirty="0">
                <a:solidFill>
                  <a:srgbClr val="FFFFFF"/>
                </a:solidFill>
                <a:latin typeface="Arial"/>
                <a:cs typeface="Arial"/>
              </a:rPr>
              <a:t>reuse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200" spc="-4" dirty="0">
                <a:solidFill>
                  <a:srgbClr val="FFFFFF"/>
                </a:solidFill>
                <a:latin typeface="Arial"/>
                <a:cs typeface="Arial"/>
              </a:rPr>
              <a:t>same </a:t>
            </a:r>
            <a:r>
              <a:rPr sz="2200" spc="-84" dirty="0">
                <a:solidFill>
                  <a:srgbClr val="FFFFFF"/>
                </a:solidFill>
                <a:latin typeface="Arial"/>
                <a:cs typeface="Arial"/>
              </a:rPr>
              <a:t>TCP </a:t>
            </a:r>
            <a:r>
              <a:rPr sz="2200" spc="25" dirty="0">
                <a:solidFill>
                  <a:srgbClr val="FFFFFF"/>
                </a:solidFill>
                <a:latin typeface="Arial"/>
                <a:cs typeface="Arial"/>
              </a:rPr>
              <a:t>connection 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200" spc="14" dirty="0">
                <a:solidFill>
                  <a:srgbClr val="FFFFFF"/>
                </a:solidFill>
                <a:latin typeface="Arial"/>
                <a:cs typeface="Arial"/>
              </a:rPr>
              <a:t>multiple </a:t>
            </a:r>
            <a:r>
              <a:rPr sz="2200" spc="-95" dirty="0">
                <a:solidFill>
                  <a:srgbClr val="FFFFFF"/>
                </a:solidFill>
                <a:latin typeface="Arial"/>
                <a:cs typeface="Arial"/>
              </a:rPr>
              <a:t>HTTP </a:t>
            </a:r>
            <a:r>
              <a:rPr sz="2200" spc="7" dirty="0">
                <a:solidFill>
                  <a:srgbClr val="FFFFFF"/>
                </a:solidFill>
                <a:latin typeface="Arial"/>
                <a:cs typeface="Arial"/>
              </a:rPr>
              <a:t>request/response</a:t>
            </a:r>
            <a:r>
              <a:rPr sz="2200" spc="10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11" dirty="0">
                <a:solidFill>
                  <a:srgbClr val="FFFFFF"/>
                </a:solidFill>
                <a:latin typeface="Arial"/>
                <a:cs typeface="Arial"/>
              </a:rPr>
              <a:t>messages.</a:t>
            </a:r>
            <a:endParaRPr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006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73323"/>
            <a:ext cx="7772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/>
            <a:r>
              <a:rPr spc="-4" dirty="0"/>
              <a:t>Content-Encoding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92863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8" y="1895237"/>
            <a:ext cx="6882557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4" dirty="0">
                <a:latin typeface="Arial"/>
                <a:cs typeface="Arial"/>
              </a:rPr>
              <a:t>Commonly either </a:t>
            </a:r>
            <a:r>
              <a:rPr sz="2200" spc="49" dirty="0">
                <a:latin typeface="Arial"/>
                <a:cs typeface="Arial"/>
              </a:rPr>
              <a:t>gzip, </a:t>
            </a:r>
            <a:r>
              <a:rPr sz="2200" spc="25" dirty="0">
                <a:latin typeface="Arial"/>
                <a:cs typeface="Arial"/>
              </a:rPr>
              <a:t>compress </a:t>
            </a:r>
            <a:r>
              <a:rPr sz="2200" spc="-4" dirty="0">
                <a:latin typeface="Arial"/>
                <a:cs typeface="Arial"/>
              </a:rPr>
              <a:t>(Unix</a:t>
            </a:r>
            <a:r>
              <a:rPr sz="2200" spc="-42" dirty="0">
                <a:latin typeface="Arial"/>
                <a:cs typeface="Arial"/>
              </a:rPr>
              <a:t> </a:t>
            </a:r>
            <a:r>
              <a:rPr sz="2200" spc="14" dirty="0">
                <a:latin typeface="Arial"/>
                <a:cs typeface="Arial"/>
              </a:rPr>
              <a:t>compression),  </a:t>
            </a:r>
            <a:r>
              <a:rPr sz="2200" spc="18" dirty="0">
                <a:latin typeface="Arial"/>
                <a:cs typeface="Arial"/>
              </a:rPr>
              <a:t>deflate </a:t>
            </a:r>
            <a:r>
              <a:rPr sz="2200" spc="21" dirty="0">
                <a:latin typeface="Arial"/>
                <a:cs typeface="Arial"/>
              </a:rPr>
              <a:t>(zlib </a:t>
            </a:r>
            <a:r>
              <a:rPr sz="2200" spc="14" dirty="0">
                <a:latin typeface="Arial"/>
                <a:cs typeface="Arial"/>
              </a:rPr>
              <a:t>compression) </a:t>
            </a:r>
            <a:r>
              <a:rPr sz="2200" spc="-4" dirty="0">
                <a:latin typeface="Arial"/>
                <a:cs typeface="Arial"/>
              </a:rPr>
              <a:t>or </a:t>
            </a:r>
            <a:r>
              <a:rPr sz="2200" spc="14" dirty="0">
                <a:latin typeface="Arial"/>
                <a:cs typeface="Arial"/>
              </a:rPr>
              <a:t>identity </a:t>
            </a:r>
            <a:r>
              <a:rPr sz="2200" spc="-4" dirty="0">
                <a:latin typeface="Arial"/>
                <a:cs typeface="Arial"/>
              </a:rPr>
              <a:t>(no</a:t>
            </a:r>
            <a:r>
              <a:rPr sz="2200" spc="-32" dirty="0">
                <a:latin typeface="Arial"/>
                <a:cs typeface="Arial"/>
              </a:rPr>
              <a:t> </a:t>
            </a:r>
            <a:r>
              <a:rPr sz="2200" spc="39" dirty="0">
                <a:latin typeface="Arial"/>
                <a:cs typeface="Arial"/>
              </a:rPr>
              <a:t>encoding)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3214509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648" y="3166833"/>
            <a:ext cx="689416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-21" dirty="0">
                <a:latin typeface="Arial"/>
                <a:cs typeface="Arial"/>
              </a:rPr>
              <a:t>Servers </a:t>
            </a:r>
            <a:r>
              <a:rPr sz="2200" spc="-4" dirty="0">
                <a:latin typeface="Arial"/>
                <a:cs typeface="Arial"/>
              </a:rPr>
              <a:t>aim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4" dirty="0">
                <a:latin typeface="Arial"/>
                <a:cs typeface="Arial"/>
              </a:rPr>
              <a:t>use </a:t>
            </a:r>
            <a:r>
              <a:rPr sz="2200" b="1" dirty="0">
                <a:latin typeface="Arial"/>
                <a:cs typeface="Arial"/>
              </a:rPr>
              <a:t>encodings </a:t>
            </a:r>
            <a:r>
              <a:rPr sz="2200" dirty="0">
                <a:latin typeface="Arial"/>
                <a:cs typeface="Arial"/>
              </a:rPr>
              <a:t>that </a:t>
            </a:r>
            <a:r>
              <a:rPr sz="2200" spc="18" dirty="0">
                <a:latin typeface="Arial"/>
                <a:cs typeface="Arial"/>
              </a:rPr>
              <a:t>clients</a:t>
            </a:r>
            <a:r>
              <a:rPr sz="2200" spc="-7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understand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375" y="3687791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2186" y="3640106"/>
            <a:ext cx="6323112" cy="704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686"/>
              </a:lnSpc>
            </a:pPr>
            <a:r>
              <a:rPr sz="2200" spc="-4" dirty="0">
                <a:latin typeface="Arial"/>
                <a:cs typeface="Arial"/>
              </a:rPr>
              <a:t>Clients </a:t>
            </a:r>
            <a:r>
              <a:rPr sz="2200" spc="28" dirty="0">
                <a:latin typeface="Arial"/>
                <a:cs typeface="Arial"/>
              </a:rPr>
              <a:t>send </a:t>
            </a:r>
            <a:r>
              <a:rPr sz="2200" spc="-4" dirty="0">
                <a:latin typeface="Arial"/>
                <a:cs typeface="Arial"/>
              </a:rPr>
              <a:t>a list </a:t>
            </a:r>
            <a:r>
              <a:rPr sz="2200" dirty="0">
                <a:latin typeface="Arial"/>
                <a:cs typeface="Arial"/>
              </a:rPr>
              <a:t>of </a:t>
            </a:r>
            <a:r>
              <a:rPr sz="2200" spc="49" dirty="0">
                <a:latin typeface="Arial"/>
                <a:cs typeface="Arial"/>
              </a:rPr>
              <a:t>acceptable </a:t>
            </a:r>
            <a:r>
              <a:rPr sz="2200" spc="39" dirty="0">
                <a:latin typeface="Arial"/>
                <a:cs typeface="Arial"/>
              </a:rPr>
              <a:t>encodings </a:t>
            </a:r>
            <a:r>
              <a:rPr sz="2200" spc="-4" dirty="0">
                <a:latin typeface="Arial"/>
                <a:cs typeface="Arial"/>
              </a:rPr>
              <a:t>in</a:t>
            </a:r>
            <a:r>
              <a:rPr sz="2200" spc="-91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endParaRPr sz="2200">
              <a:latin typeface="Arial"/>
              <a:cs typeface="Arial"/>
            </a:endParaRPr>
          </a:p>
          <a:p>
            <a:pPr marL="8929">
              <a:lnSpc>
                <a:spcPts val="2686"/>
              </a:lnSpc>
            </a:pPr>
            <a:r>
              <a:rPr sz="2200" dirty="0">
                <a:latin typeface="Courier New"/>
                <a:cs typeface="Courier New"/>
              </a:rPr>
              <a:t>Accept-Encoding</a:t>
            </a:r>
            <a:r>
              <a:rPr sz="2200" spc="-787" dirty="0">
                <a:latin typeface="Courier New"/>
                <a:cs typeface="Courier New"/>
              </a:rPr>
              <a:t> </a:t>
            </a:r>
            <a:r>
              <a:rPr sz="2200" spc="11" dirty="0">
                <a:latin typeface="Arial"/>
                <a:cs typeface="Arial"/>
              </a:rPr>
              <a:t>request </a:t>
            </a:r>
            <a:r>
              <a:rPr sz="2200" spc="18" dirty="0">
                <a:latin typeface="Arial"/>
                <a:cs typeface="Arial"/>
              </a:rPr>
              <a:t>header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836" y="4978265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9648" y="4944867"/>
            <a:ext cx="7195989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b="1" dirty="0">
                <a:latin typeface="Arial"/>
                <a:cs typeface="Arial"/>
              </a:rPr>
              <a:t>Compression </a:t>
            </a:r>
            <a:r>
              <a:rPr sz="2200" spc="-4" dirty="0">
                <a:latin typeface="Arial"/>
                <a:cs typeface="Arial"/>
              </a:rPr>
              <a:t>saves network </a:t>
            </a:r>
            <a:r>
              <a:rPr sz="2200" spc="39" dirty="0">
                <a:latin typeface="Arial"/>
                <a:cs typeface="Arial"/>
              </a:rPr>
              <a:t>bandwidth </a:t>
            </a:r>
            <a:r>
              <a:rPr sz="2200" spc="-4" dirty="0">
                <a:latin typeface="Arial"/>
                <a:cs typeface="Arial"/>
              </a:rPr>
              <a:t>(fewer </a:t>
            </a:r>
            <a:r>
              <a:rPr sz="2200" spc="28" dirty="0">
                <a:latin typeface="Arial"/>
                <a:cs typeface="Arial"/>
              </a:rPr>
              <a:t>bits </a:t>
            </a:r>
            <a:r>
              <a:rPr sz="2200" dirty="0">
                <a:latin typeface="Arial"/>
                <a:cs typeface="Arial"/>
              </a:rPr>
              <a:t>to  transmit) </a:t>
            </a:r>
            <a:r>
              <a:rPr sz="2200" spc="39" dirty="0">
                <a:latin typeface="Arial"/>
                <a:cs typeface="Arial"/>
              </a:rPr>
              <a:t>but </a:t>
            </a:r>
            <a:r>
              <a:rPr sz="2200" spc="7" dirty="0">
                <a:latin typeface="Arial"/>
                <a:cs typeface="Arial"/>
              </a:rPr>
              <a:t>increases </a:t>
            </a:r>
            <a:r>
              <a:rPr sz="2200" spc="32" dirty="0">
                <a:latin typeface="Arial"/>
                <a:cs typeface="Arial"/>
              </a:rPr>
              <a:t>processing </a:t>
            </a:r>
            <a:r>
              <a:rPr sz="2200" spc="25" dirty="0">
                <a:latin typeface="Arial"/>
                <a:cs typeface="Arial"/>
              </a:rPr>
              <a:t>costs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32" dirty="0">
                <a:latin typeface="Arial"/>
                <a:cs typeface="Arial"/>
              </a:rPr>
              <a:t>decompress</a:t>
            </a:r>
            <a:endParaRPr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389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73323"/>
            <a:ext cx="7772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/>
            <a:r>
              <a:rPr spc="-4" dirty="0"/>
              <a:t>Content-MD5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991141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8" y="1957745"/>
            <a:ext cx="6915150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14" dirty="0">
                <a:latin typeface="Arial"/>
                <a:cs typeface="Arial"/>
              </a:rPr>
              <a:t>messages </a:t>
            </a:r>
            <a:r>
              <a:rPr sz="2200" spc="-18" dirty="0">
                <a:latin typeface="Arial"/>
                <a:cs typeface="Arial"/>
              </a:rPr>
              <a:t>are </a:t>
            </a:r>
            <a:r>
              <a:rPr sz="2200" dirty="0">
                <a:latin typeface="Arial"/>
                <a:cs typeface="Arial"/>
              </a:rPr>
              <a:t>sent </a:t>
            </a:r>
            <a:r>
              <a:rPr sz="2200" spc="-4" dirty="0">
                <a:latin typeface="Arial"/>
                <a:cs typeface="Arial"/>
              </a:rPr>
              <a:t>via </a:t>
            </a:r>
            <a:r>
              <a:rPr sz="2200" spc="-63" dirty="0">
                <a:latin typeface="Arial"/>
                <a:cs typeface="Arial"/>
              </a:rPr>
              <a:t>TCP/IP </a:t>
            </a:r>
            <a:r>
              <a:rPr sz="2200" spc="11" dirty="0">
                <a:latin typeface="Arial"/>
                <a:cs typeface="Arial"/>
              </a:rPr>
              <a:t>(ensuring </a:t>
            </a:r>
            <a:r>
              <a:rPr sz="2200" spc="7" dirty="0">
                <a:latin typeface="Arial"/>
                <a:cs typeface="Arial"/>
              </a:rPr>
              <a:t>reliable  </a:t>
            </a:r>
            <a:r>
              <a:rPr sz="2200" spc="14" dirty="0">
                <a:latin typeface="Arial"/>
                <a:cs typeface="Arial"/>
              </a:rPr>
              <a:t>transport)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3277017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648" y="3243628"/>
            <a:ext cx="6857107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b="1" spc="-4" dirty="0">
                <a:latin typeface="Arial"/>
                <a:cs typeface="Arial"/>
              </a:rPr>
              <a:t>But</a:t>
            </a:r>
            <a:r>
              <a:rPr sz="2200" spc="-4" dirty="0">
                <a:latin typeface="Arial"/>
                <a:cs typeface="Arial"/>
              </a:rPr>
              <a:t>: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4" dirty="0">
                <a:latin typeface="Arial"/>
                <a:cs typeface="Arial"/>
              </a:rPr>
              <a:t>Internet </a:t>
            </a:r>
            <a:r>
              <a:rPr sz="2200" spc="-4" dirty="0">
                <a:latin typeface="Arial"/>
                <a:cs typeface="Arial"/>
              </a:rPr>
              <a:t>is </a:t>
            </a:r>
            <a:r>
              <a:rPr sz="2200" spc="25" dirty="0">
                <a:latin typeface="Arial"/>
                <a:cs typeface="Arial"/>
              </a:rPr>
              <a:t>huge, </a:t>
            </a:r>
            <a:r>
              <a:rPr sz="2200" spc="-4" dirty="0">
                <a:latin typeface="Arial"/>
                <a:cs typeface="Arial"/>
              </a:rPr>
              <a:t>many </a:t>
            </a:r>
            <a:r>
              <a:rPr sz="2200" dirty="0">
                <a:latin typeface="Arial"/>
                <a:cs typeface="Arial"/>
              </a:rPr>
              <a:t>servers </a:t>
            </a:r>
            <a:r>
              <a:rPr sz="2200" spc="14" dirty="0">
                <a:latin typeface="Arial"/>
                <a:cs typeface="Arial"/>
              </a:rPr>
              <a:t>interact </a:t>
            </a:r>
            <a:r>
              <a:rPr sz="2200" dirty="0">
                <a:latin typeface="Arial"/>
                <a:cs typeface="Arial"/>
              </a:rPr>
              <a:t>to  </a:t>
            </a:r>
            <a:r>
              <a:rPr sz="2200" spc="18" dirty="0">
                <a:latin typeface="Arial"/>
                <a:cs typeface="Arial"/>
              </a:rPr>
              <a:t>transport </a:t>
            </a:r>
            <a:r>
              <a:rPr sz="2200" spc="-4" dirty="0">
                <a:latin typeface="Arial"/>
                <a:cs typeface="Arial"/>
              </a:rPr>
              <a:t>a </a:t>
            </a:r>
            <a:r>
              <a:rPr sz="2200" spc="14" dirty="0">
                <a:latin typeface="Arial"/>
                <a:cs typeface="Arial"/>
              </a:rPr>
              <a:t>message </a:t>
            </a:r>
            <a:r>
              <a:rPr sz="2200" spc="-4" dirty="0">
                <a:latin typeface="Arial"/>
                <a:cs typeface="Arial"/>
              </a:rPr>
              <a:t>with </a:t>
            </a:r>
            <a:r>
              <a:rPr sz="2200" spc="4" dirty="0">
                <a:latin typeface="Arial"/>
                <a:cs typeface="Arial"/>
              </a:rPr>
              <a:t>different </a:t>
            </a:r>
            <a:r>
              <a:rPr sz="2200" spc="7" dirty="0">
                <a:latin typeface="Arial"/>
                <a:cs typeface="Arial"/>
              </a:rPr>
              <a:t>implementations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  </a:t>
            </a:r>
            <a:r>
              <a:rPr sz="2200" spc="21" dirty="0">
                <a:latin typeface="Arial"/>
                <a:cs typeface="Arial"/>
              </a:rPr>
              <a:t>established protocols </a:t>
            </a:r>
            <a:r>
              <a:rPr sz="2200" spc="18" dirty="0">
                <a:latin typeface="Arial"/>
                <a:cs typeface="Arial"/>
              </a:rPr>
              <a:t>(which </a:t>
            </a:r>
            <a:r>
              <a:rPr sz="2200" dirty="0">
                <a:latin typeface="Arial"/>
                <a:cs typeface="Arial"/>
              </a:rPr>
              <a:t>may </a:t>
            </a:r>
            <a:r>
              <a:rPr sz="2200" spc="60" dirty="0">
                <a:latin typeface="Arial"/>
                <a:cs typeface="Arial"/>
              </a:rPr>
              <a:t>be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60" dirty="0">
                <a:latin typeface="Arial"/>
                <a:cs typeface="Arial"/>
              </a:rPr>
              <a:t>buggy)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836" y="4902229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648" y="4868832"/>
            <a:ext cx="7403157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21" dirty="0">
                <a:latin typeface="Arial"/>
                <a:cs typeface="Arial"/>
              </a:rPr>
              <a:t>Sanity </a:t>
            </a:r>
            <a:r>
              <a:rPr sz="2200" spc="39" dirty="0">
                <a:latin typeface="Arial"/>
                <a:cs typeface="Arial"/>
              </a:rPr>
              <a:t>check: </a:t>
            </a:r>
            <a:r>
              <a:rPr sz="2200" spc="-4" dirty="0">
                <a:latin typeface="Arial"/>
                <a:cs typeface="Arial"/>
              </a:rPr>
              <a:t>Sender </a:t>
            </a:r>
            <a:r>
              <a:rPr sz="2200" spc="11" dirty="0">
                <a:latin typeface="Arial"/>
                <a:cs typeface="Arial"/>
              </a:rPr>
              <a:t>generates </a:t>
            </a:r>
            <a:r>
              <a:rPr sz="2200" spc="-4" dirty="0">
                <a:latin typeface="Arial"/>
                <a:cs typeface="Arial"/>
              </a:rPr>
              <a:t>a </a:t>
            </a:r>
            <a:r>
              <a:rPr sz="2200" spc="28" dirty="0">
                <a:latin typeface="Arial"/>
                <a:cs typeface="Arial"/>
              </a:rPr>
              <a:t>checksum </a:t>
            </a:r>
            <a:r>
              <a:rPr sz="2200" spc="-4" dirty="0">
                <a:latin typeface="Arial"/>
                <a:cs typeface="Arial"/>
              </a:rPr>
              <a:t>(MD5)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7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  </a:t>
            </a:r>
            <a:r>
              <a:rPr sz="2200" spc="18" dirty="0">
                <a:latin typeface="Arial"/>
                <a:cs typeface="Arial"/>
              </a:rPr>
              <a:t>content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39" dirty="0">
                <a:latin typeface="Arial"/>
                <a:cs typeface="Arial"/>
              </a:rPr>
              <a:t>detect </a:t>
            </a:r>
            <a:r>
              <a:rPr sz="2200" spc="21" dirty="0">
                <a:latin typeface="Arial"/>
                <a:cs typeface="Arial"/>
              </a:rPr>
              <a:t>unintended </a:t>
            </a:r>
            <a:r>
              <a:rPr sz="2200" spc="18" dirty="0">
                <a:latin typeface="Arial"/>
                <a:cs typeface="Arial"/>
              </a:rPr>
              <a:t>modifications </a:t>
            </a:r>
            <a:r>
              <a:rPr sz="2200" dirty="0">
                <a:latin typeface="Arial"/>
                <a:cs typeface="Arial"/>
              </a:rPr>
              <a:t>of the</a:t>
            </a:r>
            <a:r>
              <a:rPr sz="2200" spc="-91" dirty="0">
                <a:latin typeface="Arial"/>
                <a:cs typeface="Arial"/>
              </a:rPr>
              <a:t> </a:t>
            </a:r>
            <a:r>
              <a:rPr sz="2200" spc="18" dirty="0">
                <a:latin typeface="Arial"/>
                <a:cs typeface="Arial"/>
              </a:rPr>
              <a:t>content</a:t>
            </a:r>
            <a:endParaRPr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66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73323"/>
            <a:ext cx="7772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/>
            <a:r>
              <a:rPr dirty="0"/>
              <a:t>Exp</a:t>
            </a:r>
            <a:r>
              <a:rPr spc="-4" dirty="0"/>
              <a:t>i</a:t>
            </a:r>
            <a:r>
              <a:rPr spc="-91" dirty="0"/>
              <a:t>r</a:t>
            </a:r>
            <a:r>
              <a:rPr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61609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8" y="1568419"/>
            <a:ext cx="6206579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b="1" spc="-14" dirty="0">
                <a:latin typeface="Arial"/>
                <a:cs typeface="Arial"/>
              </a:rPr>
              <a:t>Web </a:t>
            </a:r>
            <a:r>
              <a:rPr sz="2200" b="1" dirty="0">
                <a:latin typeface="Arial"/>
                <a:cs typeface="Arial"/>
              </a:rPr>
              <a:t>caches </a:t>
            </a:r>
            <a:r>
              <a:rPr sz="2200" spc="28" dirty="0">
                <a:latin typeface="Arial"/>
                <a:cs typeface="Arial"/>
              </a:rPr>
              <a:t>keep </a:t>
            </a:r>
            <a:r>
              <a:rPr sz="2200" spc="39" dirty="0">
                <a:latin typeface="Arial"/>
                <a:cs typeface="Arial"/>
              </a:rPr>
              <a:t>copies </a:t>
            </a:r>
            <a:r>
              <a:rPr sz="2200" dirty="0">
                <a:latin typeface="Arial"/>
                <a:cs typeface="Arial"/>
              </a:rPr>
              <a:t>of </a:t>
            </a:r>
            <a:r>
              <a:rPr sz="2200" i="1" spc="32" dirty="0">
                <a:latin typeface="Arial"/>
                <a:cs typeface="Arial"/>
              </a:rPr>
              <a:t>popular</a:t>
            </a:r>
            <a:r>
              <a:rPr sz="2200" i="1" spc="-53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documents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3509197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36" y="5877862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648" y="3461512"/>
            <a:ext cx="7037040" cy="3070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25" dirty="0">
                <a:latin typeface="Arial"/>
                <a:cs typeface="Arial"/>
              </a:rPr>
              <a:t>Advantages </a:t>
            </a:r>
            <a:r>
              <a:rPr sz="2200" dirty="0">
                <a:latin typeface="Arial"/>
                <a:cs typeface="Arial"/>
              </a:rPr>
              <a:t>of </a:t>
            </a:r>
            <a:r>
              <a:rPr sz="2200" spc="-18" dirty="0">
                <a:latin typeface="Arial"/>
                <a:cs typeface="Arial"/>
              </a:rPr>
              <a:t>Web</a:t>
            </a:r>
            <a:r>
              <a:rPr sz="2200" spc="-67" dirty="0">
                <a:latin typeface="Arial"/>
                <a:cs typeface="Arial"/>
              </a:rPr>
              <a:t> </a:t>
            </a:r>
            <a:r>
              <a:rPr sz="2200" spc="39" dirty="0">
                <a:latin typeface="Arial"/>
                <a:cs typeface="Arial"/>
              </a:rPr>
              <a:t>caches</a:t>
            </a:r>
            <a:endParaRPr sz="2200">
              <a:latin typeface="Arial"/>
              <a:cs typeface="Arial"/>
            </a:endParaRPr>
          </a:p>
          <a:p>
            <a:pPr marL="574158" indent="-396910">
              <a:spcBef>
                <a:spcPts val="1027"/>
              </a:spcBef>
              <a:buAutoNum type="alphaUcPeriod"/>
              <a:tabLst>
                <a:tab pos="574158" algn="l"/>
                <a:tab pos="574604" algn="l"/>
              </a:tabLst>
            </a:pPr>
            <a:r>
              <a:rPr sz="2200" spc="11" dirty="0">
                <a:latin typeface="Arial"/>
                <a:cs typeface="Arial"/>
              </a:rPr>
              <a:t>Reduction </a:t>
            </a:r>
            <a:r>
              <a:rPr sz="2200" dirty="0">
                <a:latin typeface="Arial"/>
                <a:cs typeface="Arial"/>
              </a:rPr>
              <a:t>of </a:t>
            </a:r>
            <a:r>
              <a:rPr sz="2200" spc="21" dirty="0">
                <a:latin typeface="Arial"/>
                <a:cs typeface="Arial"/>
              </a:rPr>
              <a:t>redundant </a:t>
            </a:r>
            <a:r>
              <a:rPr sz="2200" spc="28" dirty="0">
                <a:latin typeface="Arial"/>
                <a:cs typeface="Arial"/>
              </a:rPr>
              <a:t>data</a:t>
            </a:r>
            <a:r>
              <a:rPr sz="2200" spc="-49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transfer</a:t>
            </a:r>
            <a:endParaRPr sz="2200">
              <a:latin typeface="Arial"/>
              <a:cs typeface="Arial"/>
            </a:endParaRPr>
          </a:p>
          <a:p>
            <a:pPr marL="574158" indent="-396910">
              <a:spcBef>
                <a:spcPts val="1027"/>
              </a:spcBef>
              <a:buAutoNum type="alphaUcPeriod"/>
              <a:tabLst>
                <a:tab pos="574158" algn="l"/>
                <a:tab pos="574604" algn="l"/>
              </a:tabLst>
            </a:pPr>
            <a:r>
              <a:rPr sz="2200" spc="11" dirty="0">
                <a:latin typeface="Arial"/>
                <a:cs typeface="Arial"/>
              </a:rPr>
              <a:t>Reduction </a:t>
            </a:r>
            <a:r>
              <a:rPr sz="2200" dirty="0">
                <a:latin typeface="Arial"/>
                <a:cs typeface="Arial"/>
              </a:rPr>
              <a:t>of </a:t>
            </a:r>
            <a:r>
              <a:rPr sz="2200" spc="-4" dirty="0">
                <a:latin typeface="Arial"/>
                <a:cs typeface="Arial"/>
              </a:rPr>
              <a:t>network</a:t>
            </a:r>
            <a:r>
              <a:rPr sz="2200" spc="-14" dirty="0">
                <a:latin typeface="Arial"/>
                <a:cs typeface="Arial"/>
              </a:rPr>
              <a:t> </a:t>
            </a:r>
            <a:r>
              <a:rPr sz="2200" spc="21" dirty="0">
                <a:latin typeface="Arial"/>
                <a:cs typeface="Arial"/>
              </a:rPr>
              <a:t>bottlenecks</a:t>
            </a:r>
            <a:endParaRPr sz="2200">
              <a:latin typeface="Arial"/>
              <a:cs typeface="Arial"/>
            </a:endParaRPr>
          </a:p>
          <a:p>
            <a:pPr marL="574158" indent="-396910">
              <a:spcBef>
                <a:spcPts val="1027"/>
              </a:spcBef>
              <a:buAutoNum type="alphaUcPeriod"/>
              <a:tabLst>
                <a:tab pos="574604" algn="l"/>
              </a:tabLst>
            </a:pPr>
            <a:r>
              <a:rPr sz="2200" spc="35" dirty="0">
                <a:latin typeface="Arial"/>
                <a:cs typeface="Arial"/>
              </a:rPr>
              <a:t>Reduced </a:t>
            </a:r>
            <a:r>
              <a:rPr sz="2200" spc="39" dirty="0">
                <a:latin typeface="Arial"/>
                <a:cs typeface="Arial"/>
              </a:rPr>
              <a:t>demand </a:t>
            </a:r>
            <a:r>
              <a:rPr sz="2200" spc="-4" dirty="0">
                <a:latin typeface="Arial"/>
                <a:cs typeface="Arial"/>
              </a:rPr>
              <a:t>on </a:t>
            </a:r>
            <a:r>
              <a:rPr sz="2200" spc="18" dirty="0">
                <a:latin typeface="Arial"/>
                <a:cs typeface="Arial"/>
              </a:rPr>
              <a:t>origin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servers</a:t>
            </a:r>
            <a:endParaRPr sz="2200">
              <a:latin typeface="Arial"/>
              <a:cs typeface="Arial"/>
            </a:endParaRPr>
          </a:p>
          <a:p>
            <a:pPr marL="574158" indent="-396910">
              <a:spcBef>
                <a:spcPts val="1027"/>
              </a:spcBef>
              <a:buAutoNum type="alphaUcPeriod"/>
              <a:tabLst>
                <a:tab pos="574604" algn="l"/>
              </a:tabLst>
            </a:pPr>
            <a:r>
              <a:rPr sz="2200" spc="35" dirty="0">
                <a:latin typeface="Arial"/>
                <a:cs typeface="Arial"/>
              </a:rPr>
              <a:t>Reduced </a:t>
            </a:r>
            <a:r>
              <a:rPr sz="2200" spc="28" dirty="0">
                <a:latin typeface="Arial"/>
                <a:cs typeface="Arial"/>
              </a:rPr>
              <a:t>distance</a:t>
            </a:r>
            <a:r>
              <a:rPr sz="2200" spc="-67" dirty="0">
                <a:latin typeface="Arial"/>
                <a:cs typeface="Arial"/>
              </a:rPr>
              <a:t> </a:t>
            </a:r>
            <a:r>
              <a:rPr sz="2200" spc="21" dirty="0">
                <a:latin typeface="Arial"/>
                <a:cs typeface="Arial"/>
              </a:rPr>
              <a:t>delay</a:t>
            </a:r>
            <a:endParaRPr sz="2200">
              <a:latin typeface="Arial"/>
              <a:cs typeface="Arial"/>
            </a:endParaRPr>
          </a:p>
          <a:p>
            <a:pPr marL="8929" marR="3572">
              <a:lnSpc>
                <a:spcPct val="100299"/>
              </a:lnSpc>
              <a:spcBef>
                <a:spcPts val="1016"/>
              </a:spcBef>
            </a:pPr>
            <a:r>
              <a:rPr sz="2200" dirty="0">
                <a:latin typeface="Courier New"/>
                <a:cs typeface="Courier New"/>
              </a:rPr>
              <a:t>Expires</a:t>
            </a:r>
            <a:r>
              <a:rPr sz="2200" spc="-770" dirty="0">
                <a:latin typeface="Courier New"/>
                <a:cs typeface="Courier New"/>
              </a:rPr>
              <a:t> </a:t>
            </a:r>
            <a:r>
              <a:rPr sz="2200" spc="25" dirty="0">
                <a:latin typeface="Arial"/>
                <a:cs typeface="Arial"/>
              </a:rPr>
              <a:t>indicates </a:t>
            </a:r>
            <a:r>
              <a:rPr sz="2200" spc="-4" dirty="0">
                <a:latin typeface="Arial"/>
                <a:cs typeface="Arial"/>
              </a:rPr>
              <a:t>when </a:t>
            </a:r>
            <a:r>
              <a:rPr sz="2200" spc="35" dirty="0">
                <a:latin typeface="Arial"/>
                <a:cs typeface="Arial"/>
              </a:rPr>
              <a:t>fetched </a:t>
            </a:r>
            <a:r>
              <a:rPr sz="2200" spc="4" dirty="0">
                <a:latin typeface="Arial"/>
                <a:cs typeface="Arial"/>
              </a:rPr>
              <a:t>resource </a:t>
            </a:r>
            <a:r>
              <a:rPr sz="2200" spc="-4" dirty="0">
                <a:latin typeface="Arial"/>
                <a:cs typeface="Arial"/>
              </a:rPr>
              <a:t>is no </a:t>
            </a:r>
            <a:r>
              <a:rPr sz="2200" spc="18" dirty="0">
                <a:latin typeface="Arial"/>
                <a:cs typeface="Arial"/>
              </a:rPr>
              <a:t>longer  </a:t>
            </a:r>
            <a:r>
              <a:rPr sz="2200" spc="21" dirty="0">
                <a:latin typeface="Arial"/>
                <a:cs typeface="Arial"/>
              </a:rPr>
              <a:t>valid </a:t>
            </a:r>
            <a:r>
              <a:rPr sz="2200" spc="39" dirty="0">
                <a:latin typeface="Arial"/>
                <a:cs typeface="Arial"/>
              </a:rPr>
              <a:t>and </a:t>
            </a:r>
            <a:r>
              <a:rPr sz="2200" spc="21" dirty="0">
                <a:latin typeface="Arial"/>
                <a:cs typeface="Arial"/>
              </a:rPr>
              <a:t>needs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60" dirty="0">
                <a:latin typeface="Arial"/>
                <a:cs typeface="Arial"/>
              </a:rPr>
              <a:t>be </a:t>
            </a:r>
            <a:r>
              <a:rPr sz="2200" spc="7" dirty="0">
                <a:latin typeface="Arial"/>
                <a:cs typeface="Arial"/>
              </a:rPr>
              <a:t>retrieved </a:t>
            </a:r>
            <a:r>
              <a:rPr sz="2200" spc="-11" dirty="0">
                <a:latin typeface="Arial"/>
                <a:cs typeface="Arial"/>
              </a:rPr>
              <a:t>from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18" dirty="0">
                <a:latin typeface="Arial"/>
                <a:cs typeface="Arial"/>
              </a:rPr>
              <a:t>origin</a:t>
            </a:r>
            <a:r>
              <a:rPr sz="2200" spc="-112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5546" y="2534872"/>
            <a:ext cx="1803421" cy="47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9359" y="2544961"/>
            <a:ext cx="1750219" cy="419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9359" y="2544961"/>
            <a:ext cx="1750219" cy="419695"/>
          </a:xfrm>
          <a:custGeom>
            <a:avLst/>
            <a:gdLst/>
            <a:ahLst/>
            <a:cxnLst/>
            <a:rect l="l" t="t" r="r" b="b"/>
            <a:pathLst>
              <a:path w="2489200" h="596900">
                <a:moveTo>
                  <a:pt x="0" y="0"/>
                </a:moveTo>
                <a:lnTo>
                  <a:pt x="2489200" y="0"/>
                </a:lnTo>
                <a:lnTo>
                  <a:pt x="24892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5212" y="2628454"/>
            <a:ext cx="1324273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-70" dirty="0">
                <a:solidFill>
                  <a:srgbClr val="FFFFFF"/>
                </a:solidFill>
                <a:latin typeface="Arial"/>
                <a:cs typeface="Arial"/>
              </a:rPr>
              <a:t>HTTP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7" dirty="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44388" y="2534872"/>
            <a:ext cx="1803421" cy="47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68203" y="2544961"/>
            <a:ext cx="1750219" cy="419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68203" y="2544961"/>
            <a:ext cx="1750219" cy="419695"/>
          </a:xfrm>
          <a:custGeom>
            <a:avLst/>
            <a:gdLst/>
            <a:ahLst/>
            <a:cxnLst/>
            <a:rect l="l" t="t" r="r" b="b"/>
            <a:pathLst>
              <a:path w="2489200" h="596900">
                <a:moveTo>
                  <a:pt x="0" y="0"/>
                </a:moveTo>
                <a:lnTo>
                  <a:pt x="2489200" y="0"/>
                </a:lnTo>
                <a:lnTo>
                  <a:pt x="24892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091109" y="2628454"/>
            <a:ext cx="1110407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-14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1700" spc="-4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35" dirty="0">
                <a:solidFill>
                  <a:srgbClr val="FFFFFF"/>
                </a:solidFill>
                <a:latin typeface="Arial"/>
                <a:cs typeface="Arial"/>
              </a:rPr>
              <a:t>cache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49643" y="2137170"/>
            <a:ext cx="1803421" cy="4785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79406" y="2143125"/>
            <a:ext cx="1750219" cy="4286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79406" y="2143125"/>
            <a:ext cx="1750219" cy="428625"/>
          </a:xfrm>
          <a:custGeom>
            <a:avLst/>
            <a:gdLst/>
            <a:ahLst/>
            <a:cxnLst/>
            <a:rect l="l" t="t" r="r" b="b"/>
            <a:pathLst>
              <a:path w="2489200" h="609600">
                <a:moveTo>
                  <a:pt x="0" y="0"/>
                </a:moveTo>
                <a:lnTo>
                  <a:pt x="2489200" y="0"/>
                </a:lnTo>
                <a:lnTo>
                  <a:pt x="2489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12430" y="2230752"/>
            <a:ext cx="1078260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-4" dirty="0">
                <a:solidFill>
                  <a:srgbClr val="FFFFFF"/>
                </a:solidFill>
                <a:latin typeface="Arial"/>
                <a:cs typeface="Arial"/>
              </a:rPr>
              <a:t>serve</a:t>
            </a:r>
            <a:r>
              <a:rPr sz="1700" spc="-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46" dirty="0">
                <a:solidFill>
                  <a:srgbClr val="FFFFFF"/>
                </a:solidFill>
                <a:latin typeface="Arial"/>
                <a:cs typeface="Arial"/>
              </a:rPr>
              <a:t>copy</a:t>
            </a:r>
            <a:endParaRPr sz="17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649643" y="2982517"/>
            <a:ext cx="1803421" cy="4785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79406" y="2991445"/>
            <a:ext cx="1750219" cy="4286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79406" y="2991445"/>
            <a:ext cx="1750219" cy="428625"/>
          </a:xfrm>
          <a:custGeom>
            <a:avLst/>
            <a:gdLst/>
            <a:ahLst/>
            <a:cxnLst/>
            <a:rect l="l" t="t" r="r" b="b"/>
            <a:pathLst>
              <a:path w="2489200" h="609600">
                <a:moveTo>
                  <a:pt x="0" y="0"/>
                </a:moveTo>
                <a:lnTo>
                  <a:pt x="2489200" y="0"/>
                </a:lnTo>
                <a:lnTo>
                  <a:pt x="2489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81201" y="3076099"/>
            <a:ext cx="7407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-4" dirty="0">
                <a:solidFill>
                  <a:srgbClr val="FFFFFF"/>
                </a:solidFill>
                <a:latin typeface="Arial"/>
                <a:cs typeface="Arial"/>
              </a:rPr>
              <a:t>forwa</a:t>
            </a:r>
            <a:r>
              <a:rPr sz="1700" spc="-32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700" spc="9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7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23231" y="2077643"/>
            <a:ext cx="1393031" cy="13930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50020" y="2086573"/>
            <a:ext cx="1339453" cy="13394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50020" y="2086573"/>
            <a:ext cx="1339453" cy="1339453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952499"/>
                </a:lnTo>
                <a:lnTo>
                  <a:pt x="952500" y="1904999"/>
                </a:lnTo>
                <a:lnTo>
                  <a:pt x="1905000" y="952499"/>
                </a:lnTo>
                <a:lnTo>
                  <a:pt x="95250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55508" y="2379635"/>
            <a:ext cx="528638" cy="987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41522" algn="ctr">
              <a:lnSpc>
                <a:spcPct val="107100"/>
              </a:lnSpc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valid  local  </a:t>
            </a:r>
            <a:r>
              <a:rPr sz="1500" spc="14" dirty="0">
                <a:solidFill>
                  <a:srgbClr val="FFFFFF"/>
                </a:solidFill>
                <a:latin typeface="Arial"/>
                <a:cs typeface="Arial"/>
              </a:rPr>
              <a:t>copy?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30650" y="2759276"/>
            <a:ext cx="366117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08423" y="0"/>
                </a:lnTo>
                <a:lnTo>
                  <a:pt x="5206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87836" y="2716411"/>
            <a:ext cx="85725" cy="85725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0" y="0"/>
                </a:moveTo>
                <a:lnTo>
                  <a:pt x="0" y="121920"/>
                </a:lnTo>
                <a:lnTo>
                  <a:pt x="121920" y="609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09494" y="2759276"/>
            <a:ext cx="366117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08423" y="0"/>
                </a:lnTo>
                <a:lnTo>
                  <a:pt x="5206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66680" y="2716411"/>
            <a:ext cx="85725" cy="85725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0" y="0"/>
                </a:moveTo>
                <a:lnTo>
                  <a:pt x="0" y="121920"/>
                </a:lnTo>
                <a:lnTo>
                  <a:pt x="121920" y="609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58175" y="2363663"/>
            <a:ext cx="401836" cy="383977"/>
          </a:xfrm>
          <a:custGeom>
            <a:avLst/>
            <a:gdLst/>
            <a:ahLst/>
            <a:cxnLst/>
            <a:rect l="l" t="t" r="r" b="b"/>
            <a:pathLst>
              <a:path w="571500" h="546100">
                <a:moveTo>
                  <a:pt x="0" y="545715"/>
                </a:moveTo>
                <a:lnTo>
                  <a:pt x="571115" y="545715"/>
                </a:lnTo>
                <a:lnTo>
                  <a:pt x="571115" y="0"/>
                </a:lnTo>
                <a:lnTo>
                  <a:pt x="0" y="0"/>
                </a:lnTo>
                <a:lnTo>
                  <a:pt x="0" y="545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614193" y="2318290"/>
            <a:ext cx="91082" cy="91082"/>
          </a:xfrm>
          <a:custGeom>
            <a:avLst/>
            <a:gdLst/>
            <a:ahLst/>
            <a:cxnLst/>
            <a:rect l="l" t="t" r="r" b="b"/>
            <a:pathLst>
              <a:path w="129540" h="129539">
                <a:moveTo>
                  <a:pt x="129311" y="0"/>
                </a:moveTo>
                <a:lnTo>
                  <a:pt x="0" y="43103"/>
                </a:lnTo>
                <a:lnTo>
                  <a:pt x="86207" y="129311"/>
                </a:lnTo>
                <a:lnTo>
                  <a:pt x="129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59095" y="2756299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568959" h="568960">
                <a:moveTo>
                  <a:pt x="0" y="568510"/>
                </a:moveTo>
                <a:lnTo>
                  <a:pt x="568510" y="568510"/>
                </a:lnTo>
                <a:lnTo>
                  <a:pt x="568510" y="0"/>
                </a:lnTo>
                <a:lnTo>
                  <a:pt x="0" y="0"/>
                </a:lnTo>
                <a:lnTo>
                  <a:pt x="0" y="568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622203" y="3119407"/>
            <a:ext cx="91082" cy="91082"/>
          </a:xfrm>
          <a:custGeom>
            <a:avLst/>
            <a:gdLst/>
            <a:ahLst/>
            <a:cxnLst/>
            <a:rect l="l" t="t" r="r" b="b"/>
            <a:pathLst>
              <a:path w="129540" h="129539">
                <a:moveTo>
                  <a:pt x="86207" y="0"/>
                </a:moveTo>
                <a:lnTo>
                  <a:pt x="0" y="86207"/>
                </a:lnTo>
                <a:lnTo>
                  <a:pt x="129324" y="129311"/>
                </a:lnTo>
                <a:lnTo>
                  <a:pt x="862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25712" y="2111253"/>
            <a:ext cx="393353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-4" dirty="0">
                <a:solidFill>
                  <a:srgbClr val="FF0000"/>
                </a:solidFill>
                <a:latin typeface="Arial"/>
                <a:cs typeface="Arial"/>
              </a:rPr>
              <a:t>yes</a:t>
            </a:r>
            <a:endParaRPr sz="19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46375" y="3210489"/>
            <a:ext cx="286196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-4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endParaRPr sz="19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27157" y="0"/>
            <a:ext cx="4816843" cy="5570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57687" y="0"/>
            <a:ext cx="4786313" cy="50899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57687" y="0"/>
            <a:ext cx="4786313" cy="508992"/>
          </a:xfrm>
          <a:custGeom>
            <a:avLst/>
            <a:gdLst/>
            <a:ahLst/>
            <a:cxnLst/>
            <a:rect l="l" t="t" r="r" b="b"/>
            <a:pathLst>
              <a:path w="6807200" h="723900">
                <a:moveTo>
                  <a:pt x="0" y="0"/>
                </a:moveTo>
                <a:lnTo>
                  <a:pt x="0" y="723900"/>
                </a:lnTo>
                <a:lnTo>
                  <a:pt x="6807200" y="723900"/>
                </a:lnTo>
                <a:lnTo>
                  <a:pt x="680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2A06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327157" y="113255"/>
            <a:ext cx="470780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Note: </a:t>
            </a:r>
            <a:r>
              <a:rPr sz="1700" spc="-14" dirty="0">
                <a:solidFill>
                  <a:srgbClr val="FFFFFF"/>
                </a:solidFill>
                <a:latin typeface="Arial"/>
                <a:cs typeface="Arial"/>
              </a:rPr>
              <a:t>Web </a:t>
            </a:r>
            <a:r>
              <a:rPr sz="1700" spc="7" dirty="0">
                <a:solidFill>
                  <a:srgbClr val="FFFFFF"/>
                </a:solidFill>
                <a:latin typeface="Arial"/>
                <a:cs typeface="Arial"/>
              </a:rPr>
              <a:t>browsers </a:t>
            </a:r>
            <a:r>
              <a:rPr sz="1700" spc="-4" dirty="0">
                <a:solidFill>
                  <a:srgbClr val="FFFFFF"/>
                </a:solidFill>
                <a:latin typeface="Arial"/>
                <a:cs typeface="Arial"/>
              </a:rPr>
              <a:t>also </a:t>
            </a:r>
            <a:r>
              <a:rPr sz="1700" spc="35" dirty="0">
                <a:solidFill>
                  <a:srgbClr val="FFFFFF"/>
                </a:solidFill>
                <a:latin typeface="Arial"/>
                <a:cs typeface="Arial"/>
              </a:rPr>
              <a:t>cache </a:t>
            </a:r>
            <a:r>
              <a:rPr sz="1700" spc="-4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700" spc="-1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18" dirty="0">
                <a:solidFill>
                  <a:srgbClr val="FFFFFF"/>
                </a:solidFill>
                <a:latin typeface="Arial"/>
                <a:cs typeface="Arial"/>
              </a:rPr>
              <a:t>possible.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531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539" y="402535"/>
            <a:ext cx="596726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887222" algn="l"/>
              </a:tabLst>
            </a:pPr>
            <a:r>
              <a:rPr spc="-14" dirty="0"/>
              <a:t>Expires	</a:t>
            </a:r>
            <a:r>
              <a:rPr dirty="0"/>
              <a:t>&amp;</a:t>
            </a:r>
            <a:r>
              <a:rPr spc="-56" dirty="0"/>
              <a:t> </a:t>
            </a:r>
            <a:r>
              <a:rPr spc="-11" dirty="0"/>
              <a:t>Cache-Control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61609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836" y="2089369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2901979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36" y="371688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836" y="5212741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648" y="1568410"/>
            <a:ext cx="7266087" cy="4638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-4" dirty="0">
                <a:latin typeface="Arial"/>
                <a:cs typeface="Arial"/>
              </a:rPr>
              <a:t>Content on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18" dirty="0">
                <a:latin typeface="Arial"/>
                <a:cs typeface="Arial"/>
              </a:rPr>
              <a:t>origin </a:t>
            </a:r>
            <a:r>
              <a:rPr sz="2200" spc="-4" dirty="0">
                <a:latin typeface="Arial"/>
                <a:cs typeface="Arial"/>
              </a:rPr>
              <a:t>server </a:t>
            </a:r>
            <a:r>
              <a:rPr sz="2200" spc="39" dirty="0">
                <a:latin typeface="Arial"/>
                <a:cs typeface="Arial"/>
              </a:rPr>
              <a:t>can</a:t>
            </a:r>
            <a:r>
              <a:rPr sz="2200" spc="14" dirty="0">
                <a:latin typeface="Arial"/>
                <a:cs typeface="Arial"/>
              </a:rPr>
              <a:t> </a:t>
            </a:r>
            <a:r>
              <a:rPr sz="2200" spc="39" dirty="0">
                <a:latin typeface="Arial"/>
                <a:cs typeface="Arial"/>
              </a:rPr>
              <a:t>change</a:t>
            </a:r>
            <a:endParaRPr sz="2200">
              <a:latin typeface="Arial"/>
              <a:cs typeface="Arial"/>
            </a:endParaRPr>
          </a:p>
          <a:p>
            <a:pPr marL="8929" marR="3572">
              <a:lnSpc>
                <a:spcPts val="2672"/>
              </a:lnSpc>
              <a:spcBef>
                <a:spcPts val="1139"/>
              </a:spcBef>
            </a:pPr>
            <a:r>
              <a:rPr sz="2200" spc="18" dirty="0">
                <a:latin typeface="Arial"/>
                <a:cs typeface="Arial"/>
              </a:rPr>
              <a:t>Caches </a:t>
            </a:r>
            <a:r>
              <a:rPr sz="2200" spc="28" dirty="0">
                <a:latin typeface="Arial"/>
                <a:cs typeface="Arial"/>
              </a:rPr>
              <a:t>need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11" dirty="0">
                <a:latin typeface="Arial"/>
                <a:cs typeface="Arial"/>
              </a:rPr>
              <a:t>ensure </a:t>
            </a:r>
            <a:r>
              <a:rPr sz="2200" dirty="0">
                <a:latin typeface="Arial"/>
                <a:cs typeface="Arial"/>
              </a:rPr>
              <a:t>that </a:t>
            </a:r>
            <a:r>
              <a:rPr sz="2200" spc="-4" dirty="0">
                <a:latin typeface="Arial"/>
                <a:cs typeface="Arial"/>
              </a:rPr>
              <a:t>their </a:t>
            </a:r>
            <a:r>
              <a:rPr sz="2200" spc="39" dirty="0">
                <a:latin typeface="Arial"/>
                <a:cs typeface="Arial"/>
              </a:rPr>
              <a:t>copies </a:t>
            </a:r>
            <a:r>
              <a:rPr sz="2200" spc="-18" dirty="0">
                <a:latin typeface="Arial"/>
                <a:cs typeface="Arial"/>
              </a:rPr>
              <a:t>are </a:t>
            </a:r>
            <a:r>
              <a:rPr sz="2200" b="1" dirty="0">
                <a:latin typeface="Arial"/>
                <a:cs typeface="Arial"/>
              </a:rPr>
              <a:t>in </a:t>
            </a:r>
            <a:r>
              <a:rPr sz="2200" b="1" spc="-4" dirty="0">
                <a:latin typeface="Arial"/>
                <a:cs typeface="Arial"/>
              </a:rPr>
              <a:t>sync </a:t>
            </a:r>
            <a:r>
              <a:rPr sz="2200" spc="-4" dirty="0">
                <a:latin typeface="Arial"/>
                <a:cs typeface="Arial"/>
              </a:rPr>
              <a:t>with  the </a:t>
            </a:r>
            <a:r>
              <a:rPr sz="2200" spc="18" dirty="0">
                <a:latin typeface="Arial"/>
                <a:cs typeface="Arial"/>
              </a:rPr>
              <a:t>origin</a:t>
            </a:r>
            <a:r>
              <a:rPr sz="2200" spc="-21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8929" marR="204929">
              <a:lnSpc>
                <a:spcPts val="2672"/>
              </a:lnSpc>
              <a:spcBef>
                <a:spcPts val="1055"/>
              </a:spcBef>
            </a:pPr>
            <a:r>
              <a:rPr sz="2200" spc="18" dirty="0">
                <a:latin typeface="Arial"/>
                <a:cs typeface="Arial"/>
              </a:rPr>
              <a:t>Caches </a:t>
            </a:r>
            <a:r>
              <a:rPr sz="2200" spc="39" dirty="0">
                <a:latin typeface="Arial"/>
                <a:cs typeface="Arial"/>
              </a:rPr>
              <a:t>can </a:t>
            </a:r>
            <a:r>
              <a:rPr sz="2200" spc="7" dirty="0">
                <a:latin typeface="Arial"/>
                <a:cs typeface="Arial"/>
              </a:rPr>
              <a:t>revalidate </a:t>
            </a:r>
            <a:r>
              <a:rPr sz="2200" spc="-4" dirty="0">
                <a:latin typeface="Arial"/>
                <a:cs typeface="Arial"/>
              </a:rPr>
              <a:t>their </a:t>
            </a:r>
            <a:r>
              <a:rPr sz="2200" spc="39" dirty="0">
                <a:latin typeface="Arial"/>
                <a:cs typeface="Arial"/>
              </a:rPr>
              <a:t>copies </a:t>
            </a:r>
            <a:r>
              <a:rPr sz="2200" dirty="0">
                <a:latin typeface="Arial"/>
                <a:cs typeface="Arial"/>
              </a:rPr>
              <a:t>at </a:t>
            </a:r>
            <a:r>
              <a:rPr sz="2200" spc="-4" dirty="0">
                <a:latin typeface="Arial"/>
                <a:cs typeface="Arial"/>
              </a:rPr>
              <a:t>any </a:t>
            </a:r>
            <a:r>
              <a:rPr sz="2200" dirty="0">
                <a:latin typeface="Arial"/>
                <a:cs typeface="Arial"/>
              </a:rPr>
              <a:t>time </a:t>
            </a:r>
            <a:r>
              <a:rPr sz="2200" spc="-4" dirty="0">
                <a:latin typeface="Arial"/>
                <a:cs typeface="Arial"/>
              </a:rPr>
              <a:t>with</a:t>
            </a:r>
            <a:r>
              <a:rPr sz="2200" spc="-63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any  </a:t>
            </a:r>
            <a:r>
              <a:rPr sz="2200" spc="21" dirty="0">
                <a:latin typeface="Arial"/>
                <a:cs typeface="Arial"/>
              </a:rPr>
              <a:t>frequency </a:t>
            </a:r>
            <a:r>
              <a:rPr sz="2200" spc="-4" dirty="0">
                <a:latin typeface="Arial"/>
                <a:cs typeface="Arial"/>
              </a:rPr>
              <a:t>(</a:t>
            </a:r>
            <a:r>
              <a:rPr sz="2200" b="1" spc="-4" dirty="0">
                <a:latin typeface="Arial"/>
                <a:cs typeface="Arial"/>
              </a:rPr>
              <a:t>but</a:t>
            </a:r>
            <a:r>
              <a:rPr sz="2200" spc="-4" dirty="0">
                <a:latin typeface="Arial"/>
                <a:cs typeface="Arial"/>
              </a:rPr>
              <a:t>: </a:t>
            </a:r>
            <a:r>
              <a:rPr sz="2200" dirty="0">
                <a:latin typeface="Arial"/>
                <a:cs typeface="Arial"/>
              </a:rPr>
              <a:t>this </a:t>
            </a:r>
            <a:r>
              <a:rPr sz="2200" spc="21" dirty="0">
                <a:latin typeface="Arial"/>
                <a:cs typeface="Arial"/>
              </a:rPr>
              <a:t>would </a:t>
            </a:r>
            <a:r>
              <a:rPr sz="2200" dirty="0">
                <a:latin typeface="Arial"/>
                <a:cs typeface="Arial"/>
              </a:rPr>
              <a:t>not </a:t>
            </a:r>
            <a:r>
              <a:rPr sz="2200" spc="60" dirty="0">
                <a:latin typeface="Arial"/>
                <a:cs typeface="Arial"/>
              </a:rPr>
              <a:t>be</a:t>
            </a:r>
            <a:r>
              <a:rPr sz="2200" spc="-49" dirty="0">
                <a:latin typeface="Arial"/>
                <a:cs typeface="Arial"/>
              </a:rPr>
              <a:t> </a:t>
            </a:r>
            <a:r>
              <a:rPr sz="2200" spc="7" dirty="0">
                <a:latin typeface="Arial"/>
                <a:cs typeface="Arial"/>
              </a:rPr>
              <a:t>efficient)</a:t>
            </a:r>
            <a:endParaRPr sz="2200">
              <a:latin typeface="Arial"/>
              <a:cs typeface="Arial"/>
            </a:endParaRPr>
          </a:p>
          <a:p>
            <a:pPr marL="8929" marR="825967">
              <a:lnSpc>
                <a:spcPct val="99400"/>
              </a:lnSpc>
              <a:spcBef>
                <a:spcPts val="956"/>
              </a:spcBef>
            </a:pPr>
            <a:r>
              <a:rPr sz="2200" spc="-4" dirty="0">
                <a:latin typeface="Courier New"/>
                <a:cs typeface="Courier New"/>
              </a:rPr>
              <a:t>Expires </a:t>
            </a:r>
            <a:r>
              <a:rPr sz="2200" spc="-4" dirty="0">
                <a:latin typeface="Arial"/>
                <a:cs typeface="Arial"/>
              </a:rPr>
              <a:t>in </a:t>
            </a: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7" dirty="0">
                <a:latin typeface="Arial"/>
                <a:cs typeface="Arial"/>
              </a:rPr>
              <a:t>response </a:t>
            </a:r>
            <a:r>
              <a:rPr sz="2200" spc="18" dirty="0">
                <a:latin typeface="Arial"/>
                <a:cs typeface="Arial"/>
              </a:rPr>
              <a:t>header </a:t>
            </a:r>
            <a:r>
              <a:rPr sz="2200" spc="25" dirty="0">
                <a:latin typeface="Arial"/>
                <a:cs typeface="Arial"/>
              </a:rPr>
              <a:t>indicates </a:t>
            </a:r>
            <a:r>
              <a:rPr sz="2200" spc="-4" dirty="0">
                <a:latin typeface="Arial"/>
                <a:cs typeface="Arial"/>
              </a:rPr>
              <a:t>a  </a:t>
            </a:r>
            <a:r>
              <a:rPr sz="2200" b="1" spc="-11" dirty="0">
                <a:latin typeface="Arial"/>
                <a:cs typeface="Arial"/>
              </a:rPr>
              <a:t>document’s </a:t>
            </a:r>
            <a:r>
              <a:rPr sz="2200" b="1" spc="-4" dirty="0">
                <a:latin typeface="Arial"/>
                <a:cs typeface="Arial"/>
              </a:rPr>
              <a:t>expiration date </a:t>
            </a:r>
            <a:r>
              <a:rPr sz="2200" spc="-4" dirty="0">
                <a:latin typeface="Arial"/>
                <a:cs typeface="Arial"/>
              </a:rPr>
              <a:t>in </a:t>
            </a:r>
            <a:r>
              <a:rPr sz="2200" b="1" spc="-4" dirty="0">
                <a:latin typeface="Arial"/>
                <a:cs typeface="Arial"/>
              </a:rPr>
              <a:t>absolute </a:t>
            </a:r>
            <a:r>
              <a:rPr sz="2200" spc="7" dirty="0">
                <a:latin typeface="Arial"/>
                <a:cs typeface="Arial"/>
              </a:rPr>
              <a:t>terms </a:t>
            </a:r>
            <a:r>
              <a:rPr sz="2200" dirty="0">
                <a:latin typeface="Arial"/>
                <a:cs typeface="Arial"/>
              </a:rPr>
              <a:t>—  </a:t>
            </a:r>
            <a:r>
              <a:rPr sz="2200" spc="14" dirty="0">
                <a:latin typeface="Arial"/>
                <a:cs typeface="Arial"/>
              </a:rPr>
              <a:t>determines </a:t>
            </a:r>
            <a:r>
              <a:rPr sz="2200" spc="-4" dirty="0">
                <a:latin typeface="Arial"/>
                <a:cs typeface="Arial"/>
              </a:rPr>
              <a:t>how </a:t>
            </a:r>
            <a:r>
              <a:rPr sz="2200" spc="28" dirty="0">
                <a:latin typeface="Arial"/>
                <a:cs typeface="Arial"/>
              </a:rPr>
              <a:t>long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18" dirty="0">
                <a:latin typeface="Arial"/>
                <a:cs typeface="Arial"/>
              </a:rPr>
              <a:t>content </a:t>
            </a:r>
            <a:r>
              <a:rPr sz="2200" spc="-4" dirty="0">
                <a:latin typeface="Arial"/>
                <a:cs typeface="Arial"/>
              </a:rPr>
              <a:t>is </a:t>
            </a:r>
            <a:r>
              <a:rPr sz="2200" spc="-7" dirty="0">
                <a:latin typeface="Arial"/>
                <a:cs typeface="Arial"/>
              </a:rPr>
              <a:t>fresh; </a:t>
            </a:r>
            <a:r>
              <a:rPr sz="2200" spc="49" dirty="0">
                <a:latin typeface="Arial"/>
                <a:cs typeface="Arial"/>
              </a:rPr>
              <a:t>cache  </a:t>
            </a:r>
            <a:r>
              <a:rPr sz="2200" spc="7" dirty="0">
                <a:latin typeface="Arial"/>
                <a:cs typeface="Arial"/>
              </a:rPr>
              <a:t>revalidates </a:t>
            </a:r>
            <a:r>
              <a:rPr sz="2200" dirty="0">
                <a:latin typeface="Arial"/>
                <a:cs typeface="Arial"/>
              </a:rPr>
              <a:t>at that</a:t>
            </a:r>
            <a:r>
              <a:rPr sz="2200" spc="-67" dirty="0">
                <a:latin typeface="Arial"/>
                <a:cs typeface="Arial"/>
              </a:rPr>
              <a:t> </a:t>
            </a:r>
            <a:r>
              <a:rPr sz="2200" spc="28" dirty="0">
                <a:latin typeface="Arial"/>
                <a:cs typeface="Arial"/>
              </a:rPr>
              <a:t>date</a:t>
            </a:r>
            <a:endParaRPr sz="2200">
              <a:latin typeface="Arial"/>
              <a:cs typeface="Arial"/>
            </a:endParaRPr>
          </a:p>
          <a:p>
            <a:pPr marL="8929" marR="137066" algn="just">
              <a:lnSpc>
                <a:spcPct val="99600"/>
              </a:lnSpc>
              <a:spcBef>
                <a:spcPts val="1037"/>
              </a:spcBef>
            </a:pPr>
            <a:r>
              <a:rPr sz="2200" dirty="0">
                <a:latin typeface="Arial"/>
                <a:cs typeface="Arial"/>
              </a:rPr>
              <a:t>Alternative </a:t>
            </a:r>
            <a:r>
              <a:rPr sz="2200" spc="-4" dirty="0">
                <a:latin typeface="Arial"/>
                <a:cs typeface="Arial"/>
              </a:rPr>
              <a:t>to </a:t>
            </a:r>
            <a:r>
              <a:rPr sz="2200" spc="-4" dirty="0">
                <a:latin typeface="Courier New"/>
                <a:cs typeface="Courier New"/>
              </a:rPr>
              <a:t>Expires</a:t>
            </a:r>
            <a:r>
              <a:rPr sz="2200" spc="-664" dirty="0">
                <a:latin typeface="Courier New"/>
                <a:cs typeface="Courier New"/>
              </a:rPr>
              <a:t> </a:t>
            </a:r>
            <a:r>
              <a:rPr sz="2200" spc="-4" dirty="0">
                <a:latin typeface="Arial"/>
                <a:cs typeface="Arial"/>
              </a:rPr>
              <a:t>is </a:t>
            </a:r>
            <a:r>
              <a:rPr sz="2200" spc="-4" dirty="0">
                <a:latin typeface="Courier New"/>
                <a:cs typeface="Courier New"/>
              </a:rPr>
              <a:t>Cache-Control</a:t>
            </a:r>
            <a:r>
              <a:rPr sz="2200" spc="-4" dirty="0">
                <a:latin typeface="Arial"/>
                <a:cs typeface="Arial"/>
              </a:rPr>
              <a:t>: </a:t>
            </a:r>
            <a:r>
              <a:rPr sz="2200" spc="25" dirty="0">
                <a:latin typeface="Arial"/>
                <a:cs typeface="Arial"/>
              </a:rPr>
              <a:t>indicates </a:t>
            </a:r>
            <a:r>
              <a:rPr sz="2200" spc="-4" dirty="0">
                <a:latin typeface="Arial"/>
                <a:cs typeface="Arial"/>
              </a:rPr>
              <a:t>a  </a:t>
            </a:r>
            <a:r>
              <a:rPr sz="2200" spc="7" dirty="0">
                <a:latin typeface="Arial"/>
                <a:cs typeface="Arial"/>
              </a:rPr>
              <a:t>document’s </a:t>
            </a:r>
            <a:r>
              <a:rPr sz="2200" spc="11" dirty="0">
                <a:latin typeface="Arial"/>
                <a:cs typeface="Arial"/>
              </a:rPr>
              <a:t>expiration </a:t>
            </a:r>
            <a:r>
              <a:rPr sz="2200" spc="28" dirty="0">
                <a:latin typeface="Arial"/>
                <a:cs typeface="Arial"/>
              </a:rPr>
              <a:t>date </a:t>
            </a:r>
            <a:r>
              <a:rPr sz="2200" spc="-4" dirty="0">
                <a:latin typeface="Arial"/>
                <a:cs typeface="Arial"/>
              </a:rPr>
              <a:t>in </a:t>
            </a:r>
            <a:r>
              <a:rPr sz="2200" b="1" spc="-4" dirty="0">
                <a:latin typeface="Arial"/>
                <a:cs typeface="Arial"/>
              </a:rPr>
              <a:t>relative </a:t>
            </a:r>
            <a:r>
              <a:rPr sz="2200" spc="7" dirty="0">
                <a:latin typeface="Arial"/>
                <a:cs typeface="Arial"/>
              </a:rPr>
              <a:t>terms </a:t>
            </a:r>
            <a:r>
              <a:rPr sz="2200" spc="14" dirty="0">
                <a:latin typeface="Arial"/>
                <a:cs typeface="Arial"/>
              </a:rPr>
              <a:t>(number</a:t>
            </a:r>
            <a:r>
              <a:rPr sz="2200" spc="-28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  </a:t>
            </a:r>
            <a:r>
              <a:rPr sz="2200" spc="35" dirty="0">
                <a:latin typeface="Arial"/>
                <a:cs typeface="Arial"/>
              </a:rPr>
              <a:t>seconds </a:t>
            </a:r>
            <a:r>
              <a:rPr sz="2200" spc="25" dirty="0">
                <a:latin typeface="Arial"/>
                <a:cs typeface="Arial"/>
              </a:rPr>
              <a:t>since </a:t>
            </a:r>
            <a:r>
              <a:rPr sz="2200" spc="49" dirty="0">
                <a:latin typeface="Arial"/>
                <a:cs typeface="Arial"/>
              </a:rPr>
              <a:t>being</a:t>
            </a:r>
            <a:r>
              <a:rPr sz="2200" spc="-127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sent)</a:t>
            </a:r>
            <a:endParaRPr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2265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73323"/>
            <a:ext cx="7772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/>
            <a:r>
              <a:rPr spc="7" dirty="0"/>
              <a:t>Last-Modified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714321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836" y="2526932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3341828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36" y="4839989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648" y="1680933"/>
            <a:ext cx="7403157" cy="4150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4" dirty="0">
                <a:latin typeface="Arial"/>
                <a:cs typeface="Arial"/>
              </a:rPr>
              <a:t>Contains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28" dirty="0">
                <a:latin typeface="Arial"/>
                <a:cs typeface="Arial"/>
              </a:rPr>
              <a:t>date </a:t>
            </a:r>
            <a:r>
              <a:rPr sz="2200" spc="-4" dirty="0">
                <a:latin typeface="Arial"/>
                <a:cs typeface="Arial"/>
              </a:rPr>
              <a:t>when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28" dirty="0">
                <a:latin typeface="Arial"/>
                <a:cs typeface="Arial"/>
              </a:rPr>
              <a:t>document </a:t>
            </a:r>
            <a:r>
              <a:rPr sz="2200" spc="-4" dirty="0">
                <a:latin typeface="Arial"/>
                <a:cs typeface="Arial"/>
              </a:rPr>
              <a:t>was </a:t>
            </a:r>
            <a:r>
              <a:rPr sz="2200" dirty="0">
                <a:latin typeface="Arial"/>
                <a:cs typeface="Arial"/>
              </a:rPr>
              <a:t>last </a:t>
            </a:r>
            <a:r>
              <a:rPr sz="2200" b="1" spc="-4" dirty="0">
                <a:latin typeface="Arial"/>
                <a:cs typeface="Arial"/>
              </a:rPr>
              <a:t>altered </a:t>
            </a:r>
            <a:r>
              <a:rPr sz="2200" spc="-4" dirty="0">
                <a:latin typeface="Arial"/>
                <a:cs typeface="Arial"/>
              </a:rPr>
              <a:t>(in  </a:t>
            </a:r>
            <a:r>
              <a:rPr sz="2200" spc="-95" dirty="0">
                <a:latin typeface="Arial"/>
                <a:cs typeface="Arial"/>
              </a:rPr>
              <a:t>HTTP</a:t>
            </a:r>
            <a:r>
              <a:rPr sz="2200" spc="-49" dirty="0">
                <a:latin typeface="Arial"/>
                <a:cs typeface="Arial"/>
              </a:rPr>
              <a:t> </a:t>
            </a:r>
            <a:r>
              <a:rPr sz="2200" spc="7" dirty="0">
                <a:latin typeface="Arial"/>
                <a:cs typeface="Arial"/>
              </a:rPr>
              <a:t>response)</a:t>
            </a:r>
            <a:endParaRPr sz="2200">
              <a:latin typeface="Arial"/>
              <a:cs typeface="Arial"/>
            </a:endParaRPr>
          </a:p>
          <a:p>
            <a:pPr marL="8929" marR="1098759">
              <a:lnSpc>
                <a:spcPts val="2672"/>
              </a:lnSpc>
              <a:spcBef>
                <a:spcPts val="1055"/>
              </a:spcBef>
            </a:pPr>
            <a:r>
              <a:rPr sz="2200" spc="-4" dirty="0">
                <a:latin typeface="Arial"/>
                <a:cs typeface="Arial"/>
              </a:rPr>
              <a:t>No </a:t>
            </a:r>
            <a:r>
              <a:rPr sz="2200" spc="25" dirty="0">
                <a:latin typeface="Arial"/>
                <a:cs typeface="Arial"/>
              </a:rPr>
              <a:t>indication about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-4" dirty="0">
                <a:latin typeface="Arial"/>
                <a:cs typeface="Arial"/>
              </a:rPr>
              <a:t>amount </a:t>
            </a:r>
            <a:r>
              <a:rPr sz="2200" dirty="0">
                <a:latin typeface="Arial"/>
                <a:cs typeface="Arial"/>
              </a:rPr>
              <a:t>of </a:t>
            </a:r>
            <a:r>
              <a:rPr sz="2200" spc="35" dirty="0">
                <a:latin typeface="Arial"/>
                <a:cs typeface="Arial"/>
              </a:rPr>
              <a:t>changes </a:t>
            </a:r>
            <a:r>
              <a:rPr sz="2200" spc="-4" dirty="0">
                <a:latin typeface="Arial"/>
                <a:cs typeface="Arial"/>
              </a:rPr>
              <a:t>in</a:t>
            </a:r>
            <a:r>
              <a:rPr sz="2200" spc="-112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  </a:t>
            </a:r>
            <a:r>
              <a:rPr sz="2200" spc="28" dirty="0">
                <a:latin typeface="Arial"/>
                <a:cs typeface="Arial"/>
              </a:rPr>
              <a:t>document</a:t>
            </a:r>
            <a:endParaRPr sz="2200">
              <a:latin typeface="Arial"/>
              <a:cs typeface="Arial"/>
            </a:endParaRPr>
          </a:p>
          <a:p>
            <a:pPr marL="8929" marR="26788">
              <a:lnSpc>
                <a:spcPct val="99400"/>
              </a:lnSpc>
              <a:spcBef>
                <a:spcPts val="956"/>
              </a:spcBef>
            </a:pPr>
            <a:r>
              <a:rPr sz="2200" dirty="0">
                <a:latin typeface="Arial"/>
                <a:cs typeface="Arial"/>
              </a:rPr>
              <a:t>Often </a:t>
            </a:r>
            <a:r>
              <a:rPr sz="2200" spc="28" dirty="0">
                <a:latin typeface="Arial"/>
                <a:cs typeface="Arial"/>
              </a:rPr>
              <a:t>used </a:t>
            </a:r>
            <a:r>
              <a:rPr sz="2200" spc="-4" dirty="0">
                <a:latin typeface="Arial"/>
                <a:cs typeface="Arial"/>
              </a:rPr>
              <a:t>in </a:t>
            </a:r>
            <a:r>
              <a:rPr sz="2200" spc="21" dirty="0">
                <a:latin typeface="Arial"/>
                <a:cs typeface="Arial"/>
              </a:rPr>
              <a:t>combination </a:t>
            </a:r>
            <a:r>
              <a:rPr sz="2200" spc="-4" dirty="0">
                <a:latin typeface="Arial"/>
                <a:cs typeface="Arial"/>
              </a:rPr>
              <a:t>with </a:t>
            </a:r>
            <a:r>
              <a:rPr sz="2200" dirty="0">
                <a:latin typeface="Courier New"/>
                <a:cs typeface="Courier New"/>
              </a:rPr>
              <a:t>If-Modified-Since</a:t>
            </a:r>
            <a:r>
              <a:rPr sz="2200" spc="-798" dirty="0">
                <a:latin typeface="Courier New"/>
                <a:cs typeface="Courier New"/>
              </a:rPr>
              <a:t> </a:t>
            </a:r>
            <a:r>
              <a:rPr sz="2200" dirty="0">
                <a:latin typeface="Arial"/>
                <a:cs typeface="Arial"/>
              </a:rPr>
              <a:t>for  </a:t>
            </a:r>
            <a:r>
              <a:rPr sz="2200" spc="49" dirty="0">
                <a:latin typeface="Arial"/>
                <a:cs typeface="Arial"/>
              </a:rPr>
              <a:t>cache </a:t>
            </a:r>
            <a:r>
              <a:rPr sz="2200" spc="4" dirty="0">
                <a:latin typeface="Arial"/>
                <a:cs typeface="Arial"/>
              </a:rPr>
              <a:t>revalidation </a:t>
            </a:r>
            <a:r>
              <a:rPr sz="2200" spc="7" dirty="0">
                <a:latin typeface="Arial"/>
                <a:cs typeface="Arial"/>
              </a:rPr>
              <a:t>requests </a:t>
            </a:r>
            <a:r>
              <a:rPr sz="2200" dirty="0">
                <a:latin typeface="Arial"/>
                <a:cs typeface="Arial"/>
              </a:rPr>
              <a:t>— </a:t>
            </a:r>
            <a:r>
              <a:rPr sz="2200" spc="18" dirty="0">
                <a:latin typeface="Arial"/>
                <a:cs typeface="Arial"/>
              </a:rPr>
              <a:t>origin </a:t>
            </a:r>
            <a:r>
              <a:rPr sz="2200" spc="-4" dirty="0">
                <a:latin typeface="Arial"/>
                <a:cs typeface="Arial"/>
              </a:rPr>
              <a:t>server only returns  the </a:t>
            </a:r>
            <a:r>
              <a:rPr sz="2200" spc="28" dirty="0">
                <a:latin typeface="Arial"/>
                <a:cs typeface="Arial"/>
              </a:rPr>
              <a:t>document </a:t>
            </a:r>
            <a:r>
              <a:rPr sz="2200" dirty="0">
                <a:latin typeface="Arial"/>
                <a:cs typeface="Arial"/>
              </a:rPr>
              <a:t>if it </a:t>
            </a:r>
            <a:r>
              <a:rPr sz="2200" spc="53" dirty="0">
                <a:latin typeface="Arial"/>
                <a:cs typeface="Arial"/>
              </a:rPr>
              <a:t>changed </a:t>
            </a:r>
            <a:r>
              <a:rPr sz="2200" spc="25" dirty="0">
                <a:latin typeface="Arial"/>
                <a:cs typeface="Arial"/>
              </a:rPr>
              <a:t>since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21" dirty="0">
                <a:latin typeface="Arial"/>
                <a:cs typeface="Arial"/>
              </a:rPr>
              <a:t>given </a:t>
            </a:r>
            <a:r>
              <a:rPr sz="2200" spc="28" dirty="0">
                <a:latin typeface="Arial"/>
                <a:cs typeface="Arial"/>
              </a:rPr>
              <a:t>date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1" dirty="0">
                <a:latin typeface="Arial"/>
                <a:cs typeface="Arial"/>
              </a:rPr>
              <a:t>(returned  </a:t>
            </a:r>
            <a:r>
              <a:rPr sz="2200" spc="-4" dirty="0">
                <a:latin typeface="Arial"/>
                <a:cs typeface="Arial"/>
              </a:rPr>
              <a:t>is </a:t>
            </a:r>
            <a:r>
              <a:rPr sz="2200" spc="-4" dirty="0">
                <a:latin typeface="Courier New"/>
                <a:cs typeface="Courier New"/>
              </a:rPr>
              <a:t>304 Not Modified</a:t>
            </a:r>
            <a:r>
              <a:rPr sz="2200" spc="-28" dirty="0">
                <a:latin typeface="Courier New"/>
                <a:cs typeface="Courier New"/>
              </a:rPr>
              <a:t> </a:t>
            </a:r>
            <a:r>
              <a:rPr sz="2200" spc="7" dirty="0">
                <a:latin typeface="Arial"/>
                <a:cs typeface="Arial"/>
              </a:rPr>
              <a:t>response)</a:t>
            </a:r>
            <a:endParaRPr sz="2200">
              <a:latin typeface="Arial"/>
              <a:cs typeface="Arial"/>
            </a:endParaRPr>
          </a:p>
          <a:p>
            <a:pPr marL="8929" marR="819270">
              <a:lnSpc>
                <a:spcPts val="2672"/>
              </a:lnSpc>
              <a:spcBef>
                <a:spcPts val="1174"/>
              </a:spcBef>
            </a:pPr>
            <a:r>
              <a:rPr sz="2200" spc="18" dirty="0">
                <a:latin typeface="Arial"/>
                <a:cs typeface="Arial"/>
              </a:rPr>
              <a:t>Last-Modified </a:t>
            </a:r>
            <a:r>
              <a:rPr sz="2200" spc="25" dirty="0">
                <a:latin typeface="Arial"/>
                <a:cs typeface="Arial"/>
              </a:rPr>
              <a:t>dates </a:t>
            </a:r>
            <a:r>
              <a:rPr sz="2200" spc="-18" dirty="0">
                <a:latin typeface="Arial"/>
                <a:cs typeface="Arial"/>
              </a:rPr>
              <a:t>are </a:t>
            </a:r>
            <a:r>
              <a:rPr sz="2200" b="1" spc="-4" dirty="0">
                <a:latin typeface="Arial"/>
                <a:cs typeface="Arial"/>
              </a:rPr>
              <a:t>not always reliable </a:t>
            </a:r>
            <a:r>
              <a:rPr sz="2200" spc="25" dirty="0">
                <a:latin typeface="Arial"/>
                <a:cs typeface="Arial"/>
              </a:rPr>
              <a:t>(e.g.  </a:t>
            </a:r>
            <a:r>
              <a:rPr sz="2200" spc="21" dirty="0">
                <a:latin typeface="Arial"/>
                <a:cs typeface="Arial"/>
              </a:rPr>
              <a:t>manipulated </a:t>
            </a:r>
            <a:r>
              <a:rPr sz="2200" spc="60" dirty="0">
                <a:latin typeface="Arial"/>
                <a:cs typeface="Arial"/>
              </a:rPr>
              <a:t>by </a:t>
            </a:r>
            <a:r>
              <a:rPr sz="2200" spc="18" dirty="0">
                <a:latin typeface="Arial"/>
                <a:cs typeface="Arial"/>
              </a:rPr>
              <a:t>origin </a:t>
            </a:r>
            <a:r>
              <a:rPr sz="2200" dirty="0">
                <a:latin typeface="Arial"/>
                <a:cs typeface="Arial"/>
              </a:rPr>
              <a:t>servers to </a:t>
            </a:r>
            <a:r>
              <a:rPr sz="2200" spc="-11" dirty="0">
                <a:latin typeface="Arial"/>
                <a:cs typeface="Arial"/>
              </a:rPr>
              <a:t>ensure </a:t>
            </a:r>
            <a:r>
              <a:rPr sz="2200" spc="28" dirty="0">
                <a:latin typeface="Arial"/>
                <a:cs typeface="Arial"/>
              </a:rPr>
              <a:t>high</a:t>
            </a:r>
            <a:r>
              <a:rPr sz="2200" spc="-91" dirty="0">
                <a:latin typeface="Arial"/>
                <a:cs typeface="Arial"/>
              </a:rPr>
              <a:t> </a:t>
            </a:r>
            <a:r>
              <a:rPr sz="2200" spc="49" dirty="0">
                <a:latin typeface="Arial"/>
                <a:cs typeface="Arial"/>
              </a:rPr>
              <a:t>cache  </a:t>
            </a:r>
            <a:r>
              <a:rPr sz="2200" spc="4" dirty="0">
                <a:latin typeface="Arial"/>
                <a:cs typeface="Arial"/>
              </a:rPr>
              <a:t>revalidation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rates)</a:t>
            </a:r>
            <a:endParaRPr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481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934878"/>
            <a:ext cx="77724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44">
              <a:tabLst>
                <a:tab pos="4605768" algn="l"/>
              </a:tabLst>
            </a:pPr>
            <a:r>
              <a:rPr sz="3200" spc="18" dirty="0"/>
              <a:t>Remember:</a:t>
            </a:r>
            <a:r>
              <a:rPr sz="3200" spc="-453" dirty="0"/>
              <a:t> </a:t>
            </a:r>
            <a:r>
              <a:rPr sz="3200" dirty="0" smtClean="0"/>
              <a:t>HTTP</a:t>
            </a:r>
            <a:r>
              <a:rPr lang="en-US" sz="3200" dirty="0" smtClean="0"/>
              <a:t> </a:t>
            </a:r>
            <a:r>
              <a:rPr sz="3200" spc="-14" dirty="0" smtClean="0"/>
              <a:t>response</a:t>
            </a:r>
            <a:r>
              <a:rPr sz="3200" spc="-53" dirty="0" smtClean="0"/>
              <a:t> </a:t>
            </a:r>
            <a:r>
              <a:rPr sz="3200" dirty="0"/>
              <a:t>message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9239250" cy="463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316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09600"/>
            <a:ext cx="700266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3939192" algn="l"/>
              </a:tabLst>
            </a:pPr>
            <a:r>
              <a:rPr dirty="0"/>
              <a:t>Common</a:t>
            </a:r>
            <a:r>
              <a:rPr spc="-4" dirty="0"/>
              <a:t> </a:t>
            </a:r>
            <a:r>
              <a:rPr dirty="0"/>
              <a:t>status	codes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84101" y="2214563"/>
          <a:ext cx="6377689" cy="2912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521">
                <a:tc>
                  <a:txBody>
                    <a:bodyPr/>
                    <a:lstStyle/>
                    <a:p>
                      <a:pPr marR="335280" algn="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00" b="1" dirty="0">
                          <a:latin typeface="Arial"/>
                          <a:cs typeface="Arial"/>
                        </a:rPr>
                        <a:t>1xx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900" spc="5" dirty="0">
                          <a:latin typeface="Arial"/>
                          <a:cs typeface="Arial"/>
                        </a:rPr>
                        <a:t>Informational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86">
                <a:tc>
                  <a:txBody>
                    <a:bodyPr/>
                    <a:lstStyle/>
                    <a:p>
                      <a:pPr marR="335280" algn="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900" b="1" dirty="0">
                          <a:latin typeface="Arial"/>
                          <a:cs typeface="Arial"/>
                        </a:rPr>
                        <a:t>2xx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900" spc="30" dirty="0">
                          <a:latin typeface="Arial"/>
                          <a:cs typeface="Arial"/>
                        </a:rPr>
                        <a:t>Success </a:t>
                      </a:r>
                      <a:r>
                        <a:rPr sz="2900" spc="-5" dirty="0">
                          <a:solidFill>
                            <a:srgbClr val="00882B"/>
                          </a:solidFill>
                          <a:latin typeface="Arial"/>
                          <a:cs typeface="Arial"/>
                        </a:rPr>
                        <a:t>(200</a:t>
                      </a:r>
                      <a:r>
                        <a:rPr sz="2900" spc="-95" dirty="0">
                          <a:solidFill>
                            <a:srgbClr val="0088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900" dirty="0">
                          <a:solidFill>
                            <a:srgbClr val="00882B"/>
                          </a:solidFill>
                          <a:latin typeface="Arial"/>
                          <a:cs typeface="Arial"/>
                        </a:rPr>
                        <a:t>OK)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279">
                <a:tc>
                  <a:txBody>
                    <a:bodyPr/>
                    <a:lstStyle/>
                    <a:p>
                      <a:pPr marR="33528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900" b="1" dirty="0">
                          <a:latin typeface="Arial"/>
                          <a:cs typeface="Arial"/>
                        </a:rPr>
                        <a:t>3xx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900" spc="35" dirty="0">
                          <a:latin typeface="Arial"/>
                          <a:cs typeface="Arial"/>
                        </a:rPr>
                        <a:t>Redirected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84">
                <a:tc>
                  <a:txBody>
                    <a:bodyPr/>
                    <a:lstStyle/>
                    <a:p>
                      <a:pPr marR="335280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900" b="1" dirty="0">
                          <a:latin typeface="Arial"/>
                          <a:cs typeface="Arial"/>
                        </a:rPr>
                        <a:t>4xx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900" spc="-5" dirty="0">
                          <a:latin typeface="Arial"/>
                          <a:cs typeface="Arial"/>
                        </a:rPr>
                        <a:t>Client </a:t>
                      </a:r>
                      <a:r>
                        <a:rPr sz="2900" spc="-20" dirty="0">
                          <a:latin typeface="Arial"/>
                          <a:cs typeface="Arial"/>
                        </a:rPr>
                        <a:t>error </a:t>
                      </a:r>
                      <a:r>
                        <a:rPr sz="2900" spc="-5" dirty="0">
                          <a:solidFill>
                            <a:srgbClr val="FF2600"/>
                          </a:solidFill>
                          <a:latin typeface="Arial"/>
                          <a:cs typeface="Arial"/>
                        </a:rPr>
                        <a:t>(404 </a:t>
                      </a:r>
                      <a:r>
                        <a:rPr sz="2900" dirty="0">
                          <a:solidFill>
                            <a:srgbClr val="FF2600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2900" spc="25" dirty="0">
                          <a:solidFill>
                            <a:srgbClr val="FF2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900" spc="-5" dirty="0">
                          <a:solidFill>
                            <a:srgbClr val="FF2600"/>
                          </a:solidFill>
                          <a:latin typeface="Arial"/>
                          <a:cs typeface="Arial"/>
                        </a:rPr>
                        <a:t>Found)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780">
                <a:tc>
                  <a:txBody>
                    <a:bodyPr/>
                    <a:lstStyle/>
                    <a:p>
                      <a:pPr marR="335280" algn="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2900" b="1" dirty="0">
                          <a:latin typeface="Arial"/>
                          <a:cs typeface="Arial"/>
                        </a:rPr>
                        <a:t>5xx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2900" spc="-40" dirty="0">
                          <a:latin typeface="Arial"/>
                          <a:cs typeface="Arial"/>
                        </a:rPr>
                        <a:t>Server</a:t>
                      </a:r>
                      <a:r>
                        <a:rPr sz="2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00" spc="-20" dirty="0">
                          <a:latin typeface="Arial"/>
                          <a:cs typeface="Arial"/>
                        </a:rPr>
                        <a:t>error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04528" y="5281017"/>
            <a:ext cx="813494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00" dirty="0">
                <a:latin typeface="Arial"/>
                <a:cs typeface="Arial"/>
              </a:rPr>
              <a:t>In </a:t>
            </a:r>
            <a:r>
              <a:rPr sz="2500" spc="53" dirty="0">
                <a:latin typeface="Arial"/>
                <a:cs typeface="Arial"/>
              </a:rPr>
              <a:t>practice </a:t>
            </a:r>
            <a:r>
              <a:rPr sz="2500" spc="-4" dirty="0">
                <a:latin typeface="Arial"/>
                <a:cs typeface="Arial"/>
              </a:rPr>
              <a:t>only a </a:t>
            </a:r>
            <a:r>
              <a:rPr sz="2500" dirty="0">
                <a:latin typeface="Arial"/>
                <a:cs typeface="Arial"/>
              </a:rPr>
              <a:t>few </a:t>
            </a:r>
            <a:r>
              <a:rPr sz="2500" spc="53" dirty="0">
                <a:latin typeface="Arial"/>
                <a:cs typeface="Arial"/>
              </a:rPr>
              <a:t>codes </a:t>
            </a:r>
            <a:r>
              <a:rPr sz="2500" spc="46" dirty="0">
                <a:latin typeface="Arial"/>
                <a:cs typeface="Arial"/>
              </a:rPr>
              <a:t>per </a:t>
            </a:r>
            <a:r>
              <a:rPr sz="2500" spc="39" dirty="0">
                <a:latin typeface="Arial"/>
                <a:cs typeface="Arial"/>
              </a:rPr>
              <a:t>category </a:t>
            </a:r>
            <a:r>
              <a:rPr sz="2500" spc="-18" dirty="0">
                <a:latin typeface="Arial"/>
                <a:cs typeface="Arial"/>
              </a:rPr>
              <a:t>are</a:t>
            </a:r>
            <a:r>
              <a:rPr sz="2500" spc="-186" dirty="0">
                <a:latin typeface="Arial"/>
                <a:cs typeface="Arial"/>
              </a:rPr>
              <a:t> </a:t>
            </a:r>
            <a:r>
              <a:rPr sz="2500" spc="49" dirty="0">
                <a:latin typeface="Arial"/>
                <a:cs typeface="Arial"/>
              </a:rPr>
              <a:t>supported</a:t>
            </a:r>
            <a:endParaRPr sz="2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579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895600"/>
            <a:ext cx="5747945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955086" algn="l"/>
              </a:tabLst>
            </a:pPr>
            <a:r>
              <a:rPr sz="5600" dirty="0"/>
              <a:t>HTTP	methods</a:t>
            </a:r>
          </a:p>
        </p:txBody>
      </p:sp>
    </p:spTree>
    <p:extLst>
      <p:ext uri="{BB962C8B-B14F-4D97-AF65-F5344CB8AC3E}">
        <p14:creationId xmlns:p14="http://schemas.microsoft.com/office/powerpoint/2010/main" val="307897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745986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3987857" algn="l"/>
              </a:tabLst>
            </a:pPr>
            <a:r>
              <a:rPr dirty="0"/>
              <a:t>Common</a:t>
            </a:r>
            <a:r>
              <a:rPr spc="-4" dirty="0"/>
              <a:t> </a:t>
            </a:r>
            <a:r>
              <a:rPr dirty="0"/>
              <a:t>HTTP	methods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0126" y="1955602"/>
          <a:ext cx="7375199" cy="39190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7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864"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Get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35" dirty="0">
                          <a:latin typeface="Arial"/>
                          <a:cs typeface="Arial"/>
                        </a:rPr>
                        <a:t>document 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18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server.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73">
                <a:tc>
                  <a:txBody>
                    <a:bodyPr/>
                    <a:lstStyle/>
                    <a:p>
                      <a:pPr marL="6019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HEAD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Get the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header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35" dirty="0">
                          <a:latin typeface="Arial"/>
                          <a:cs typeface="Arial"/>
                        </a:rPr>
                        <a:t>document 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18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server.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64">
                <a:tc>
                  <a:txBody>
                    <a:bodyPr/>
                    <a:lstStyle/>
                    <a:p>
                      <a:pPr marL="6203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POST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Send </a:t>
                      </a:r>
                      <a:r>
                        <a:rPr sz="1800" spc="35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client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 the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server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800" spc="30" dirty="0">
                          <a:latin typeface="Arial"/>
                          <a:cs typeface="Arial"/>
                        </a:rPr>
                        <a:t>processing.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64">
                <a:tc>
                  <a:txBody>
                    <a:bodyPr/>
                    <a:lstStyle/>
                    <a:p>
                      <a:pPr marL="69342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spc="-40" dirty="0">
                          <a:latin typeface="Arial"/>
                          <a:cs typeface="Arial"/>
                        </a:rPr>
                        <a:t>Save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70" dirty="0">
                          <a:latin typeface="Arial"/>
                          <a:cs typeface="Arial"/>
                        </a:rPr>
                        <a:t>body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the 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request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server.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73">
                <a:tc>
                  <a:txBody>
                    <a:bodyPr/>
                    <a:lstStyle/>
                    <a:p>
                      <a:pPr marL="4552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TRACE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Trace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message 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through </a:t>
                      </a:r>
                      <a:r>
                        <a:rPr sz="1800" spc="15" dirty="0">
                          <a:latin typeface="Arial"/>
                          <a:cs typeface="Arial"/>
                        </a:rPr>
                        <a:t>proxy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servers to the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server.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864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OPTIONS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Determine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what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methods </a:t>
                      </a:r>
                      <a:r>
                        <a:rPr sz="1800" spc="45" dirty="0">
                          <a:latin typeface="Arial"/>
                          <a:cs typeface="Arial"/>
                        </a:rPr>
                        <a:t>can </a:t>
                      </a:r>
                      <a:r>
                        <a:rPr sz="1800" spc="20" dirty="0">
                          <a:latin typeface="Arial"/>
                          <a:cs typeface="Arial"/>
                        </a:rPr>
                        <a:t>operate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on a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server.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864">
                <a:tc>
                  <a:txBody>
                    <a:bodyPr/>
                    <a:lstStyle/>
                    <a:p>
                      <a:pPr marL="41846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DELETE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Remove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35" dirty="0">
                          <a:latin typeface="Arial"/>
                          <a:cs typeface="Arial"/>
                        </a:rPr>
                        <a:t>document 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from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server.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34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" y="86746"/>
            <a:ext cx="9144000" cy="1282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5273"/>
              </a:lnSpc>
              <a:tabLst>
                <a:tab pos="1227341" algn="l"/>
                <a:tab pos="5421467" algn="l"/>
                <a:tab pos="5770605" algn="l"/>
                <a:tab pos="6179571" algn="l"/>
              </a:tabLst>
            </a:pPr>
            <a:r>
              <a:rPr sz="3200" dirty="0" smtClean="0"/>
              <a:t>TCP</a:t>
            </a:r>
            <a:r>
              <a:rPr lang="en-US" sz="3200" dirty="0" smtClean="0"/>
              <a:t> </a:t>
            </a:r>
            <a:r>
              <a:rPr sz="3200" dirty="0" smtClean="0"/>
              <a:t>&amp;</a:t>
            </a:r>
            <a:r>
              <a:rPr sz="3200" spc="-4" dirty="0" smtClean="0"/>
              <a:t> </a:t>
            </a:r>
            <a:r>
              <a:rPr sz="3200" dirty="0"/>
              <a:t>HTTP:</a:t>
            </a:r>
            <a:r>
              <a:rPr sz="3200" spc="-461" dirty="0"/>
              <a:t> </a:t>
            </a:r>
            <a:r>
              <a:rPr sz="3200" dirty="0" smtClean="0"/>
              <a:t>d</a:t>
            </a:r>
            <a:r>
              <a:rPr sz="3200" spc="-4" dirty="0" smtClean="0"/>
              <a:t>i</a:t>
            </a:r>
            <a:r>
              <a:rPr sz="3200" dirty="0" smtClean="0"/>
              <a:t>sp</a:t>
            </a:r>
            <a:r>
              <a:rPr sz="3200" spc="-4" dirty="0" smtClean="0"/>
              <a:t>l</a:t>
            </a:r>
            <a:r>
              <a:rPr sz="3200" spc="-186" dirty="0" smtClean="0"/>
              <a:t>a</a:t>
            </a:r>
            <a:r>
              <a:rPr sz="3200" dirty="0" smtClean="0"/>
              <a:t>y</a:t>
            </a:r>
            <a:r>
              <a:rPr sz="3200" spc="-4" dirty="0" smtClean="0"/>
              <a:t>i</a:t>
            </a:r>
            <a:r>
              <a:rPr sz="3200" dirty="0" smtClean="0"/>
              <a:t>ng</a:t>
            </a:r>
            <a:r>
              <a:rPr lang="en-US" sz="3200" dirty="0" smtClean="0"/>
              <a:t> </a:t>
            </a:r>
            <a:r>
              <a:rPr sz="3200" dirty="0" smtClean="0"/>
              <a:t>a</a:t>
            </a:r>
            <a:r>
              <a:rPr lang="en-US" sz="3200" dirty="0" smtClean="0"/>
              <a:t> </a:t>
            </a:r>
            <a:r>
              <a:rPr sz="3200" dirty="0" smtClean="0"/>
              <a:t>s</a:t>
            </a:r>
            <a:r>
              <a:rPr sz="3200" spc="-4" dirty="0" smtClean="0"/>
              <a:t>i</a:t>
            </a:r>
            <a:r>
              <a:rPr sz="3200" dirty="0" smtClean="0"/>
              <a:t>mp</a:t>
            </a:r>
            <a:r>
              <a:rPr sz="3200" spc="-4" dirty="0" smtClean="0"/>
              <a:t>l</a:t>
            </a:r>
            <a:r>
              <a:rPr sz="3200" dirty="0" smtClean="0"/>
              <a:t>e  </a:t>
            </a:r>
            <a:r>
              <a:rPr sz="3200" dirty="0"/>
              <a:t>HTML </a:t>
            </a:r>
            <a:r>
              <a:rPr sz="3200" spc="-28" dirty="0"/>
              <a:t>resource</a:t>
            </a:r>
            <a:r>
              <a:rPr sz="3200" spc="4" dirty="0"/>
              <a:t> </a:t>
            </a:r>
            <a:r>
              <a:rPr sz="3200" spc="-4" dirty="0"/>
              <a:t>in</a:t>
            </a:r>
            <a:r>
              <a:rPr sz="3200" dirty="0"/>
              <a:t> </a:t>
            </a:r>
            <a:r>
              <a:rPr sz="3200" spc="-4" dirty="0" smtClean="0"/>
              <a:t>the</a:t>
            </a:r>
            <a:r>
              <a:rPr lang="en-US" sz="3200" spc="-4" dirty="0" smtClean="0"/>
              <a:t> </a:t>
            </a:r>
            <a:r>
              <a:rPr sz="3200" spc="-25" dirty="0" smtClean="0"/>
              <a:t>browser</a:t>
            </a:r>
            <a:endParaRPr sz="320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66350" y="2357437"/>
            <a:ext cx="2416373" cy="580146"/>
          </a:xfrm>
          <a:prstGeom prst="rect">
            <a:avLst/>
          </a:prstGeom>
        </p:spPr>
        <p:txBody>
          <a:bodyPr vert="horz" wrap="square" lIns="0" tIns="25895" rIns="0" bIns="0" rtlCol="0">
            <a:spAutoFit/>
          </a:bodyPr>
          <a:lstStyle/>
          <a:p>
            <a:pPr>
              <a:spcBef>
                <a:spcPts val="204"/>
              </a:spcBef>
            </a:pPr>
            <a:r>
              <a:rPr sz="1800" dirty="0">
                <a:latin typeface="Courier New"/>
                <a:cs typeface="Courier New"/>
                <a:hlinkClick r:id="rId2"/>
              </a:rPr>
              <a:t>/www.microsoft.com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8789" y="2357437"/>
            <a:ext cx="294680" cy="303147"/>
          </a:xfrm>
          <a:prstGeom prst="rect">
            <a:avLst/>
          </a:prstGeom>
        </p:spPr>
        <p:txBody>
          <a:bodyPr vert="horz" wrap="square" lIns="0" tIns="25895" rIns="0" bIns="0" rtlCol="0">
            <a:spAutoFit/>
          </a:bodyPr>
          <a:lstStyle/>
          <a:p>
            <a:pPr marL="12501">
              <a:spcBef>
                <a:spcPts val="204"/>
              </a:spcBef>
            </a:pPr>
            <a:r>
              <a:rPr sz="1800" dirty="0">
                <a:latin typeface="Courier New"/>
                <a:cs typeface="Courier New"/>
              </a:rPr>
              <a:t>80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9555" y="2357437"/>
            <a:ext cx="1401961" cy="303147"/>
          </a:xfrm>
          <a:prstGeom prst="rect">
            <a:avLst/>
          </a:prstGeom>
        </p:spPr>
        <p:txBody>
          <a:bodyPr vert="horz" wrap="square" lIns="0" tIns="25895" rIns="0" bIns="0" rtlCol="0">
            <a:spAutoFit/>
          </a:bodyPr>
          <a:lstStyle/>
          <a:p>
            <a:pPr marL="3572">
              <a:spcBef>
                <a:spcPts val="204"/>
              </a:spcBef>
            </a:pPr>
            <a:r>
              <a:rPr sz="1800" dirty="0">
                <a:latin typeface="Courier New"/>
                <a:cs typeface="Courier New"/>
              </a:rPr>
              <a:t>index.html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43232" y="2347454"/>
            <a:ext cx="2370296" cy="404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69914" y="2357437"/>
            <a:ext cx="2312789" cy="348258"/>
          </a:xfrm>
          <a:custGeom>
            <a:avLst/>
            <a:gdLst/>
            <a:ahLst/>
            <a:cxnLst/>
            <a:rect l="l" t="t" r="r" b="b"/>
            <a:pathLst>
              <a:path w="3289300" h="495300">
                <a:moveTo>
                  <a:pt x="0" y="0"/>
                </a:moveTo>
                <a:lnTo>
                  <a:pt x="3289300" y="0"/>
                </a:lnTo>
                <a:lnTo>
                  <a:pt x="3289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EC5D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3036" y="2347454"/>
            <a:ext cx="347144" cy="4046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98789" y="2357437"/>
            <a:ext cx="294680" cy="348258"/>
          </a:xfrm>
          <a:custGeom>
            <a:avLst/>
            <a:gdLst/>
            <a:ahLst/>
            <a:cxnLst/>
            <a:rect l="l" t="t" r="r" b="b"/>
            <a:pathLst>
              <a:path w="419100" h="495300">
                <a:moveTo>
                  <a:pt x="0" y="0"/>
                </a:moveTo>
                <a:lnTo>
                  <a:pt x="419100" y="0"/>
                </a:lnTo>
                <a:lnTo>
                  <a:pt x="419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79685" y="2347454"/>
            <a:ext cx="1462442" cy="4046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09555" y="2357437"/>
            <a:ext cx="1401961" cy="348258"/>
          </a:xfrm>
          <a:custGeom>
            <a:avLst/>
            <a:gdLst/>
            <a:ahLst/>
            <a:cxnLst/>
            <a:rect l="l" t="t" r="r" b="b"/>
            <a:pathLst>
              <a:path w="1993900" h="495300">
                <a:moveTo>
                  <a:pt x="0" y="0"/>
                </a:moveTo>
                <a:lnTo>
                  <a:pt x="1993900" y="0"/>
                </a:lnTo>
                <a:lnTo>
                  <a:pt x="19939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3925" y="6207026"/>
            <a:ext cx="7649982" cy="6485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8656" y="6215063"/>
            <a:ext cx="7599164" cy="598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8656" y="6215063"/>
            <a:ext cx="7599164" cy="598289"/>
          </a:xfrm>
          <a:custGeom>
            <a:avLst/>
            <a:gdLst/>
            <a:ahLst/>
            <a:cxnLst/>
            <a:rect l="l" t="t" r="r" b="b"/>
            <a:pathLst>
              <a:path w="10807700" h="850900">
                <a:moveTo>
                  <a:pt x="0" y="0"/>
                </a:moveTo>
                <a:lnTo>
                  <a:pt x="10807700" y="0"/>
                </a:lnTo>
                <a:lnTo>
                  <a:pt x="10807700" y="850900"/>
                </a:lnTo>
                <a:lnTo>
                  <a:pt x="0" y="8509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5141" y="1867402"/>
            <a:ext cx="7932241" cy="478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5045">
              <a:tabLst>
                <a:tab pos="4397268" algn="l"/>
              </a:tabLst>
            </a:pPr>
            <a:r>
              <a:rPr sz="2500" b="1" dirty="0">
                <a:solidFill>
                  <a:srgbClr val="941100"/>
                </a:solidFill>
                <a:latin typeface="Arial"/>
                <a:cs typeface="Arial"/>
              </a:rPr>
              <a:t>domain</a:t>
            </a:r>
            <a:r>
              <a:rPr sz="2500" b="1" spc="-7" dirty="0">
                <a:solidFill>
                  <a:srgbClr val="941100"/>
                </a:solidFill>
                <a:latin typeface="Arial"/>
                <a:cs typeface="Arial"/>
              </a:rPr>
              <a:t> </a:t>
            </a:r>
            <a:r>
              <a:rPr sz="2500" b="1" spc="-4" dirty="0">
                <a:solidFill>
                  <a:srgbClr val="941100"/>
                </a:solidFill>
                <a:latin typeface="Arial"/>
                <a:cs typeface="Arial"/>
              </a:rPr>
              <a:t>name	</a:t>
            </a:r>
            <a:r>
              <a:rPr sz="2500" b="1" spc="-4" dirty="0">
                <a:solidFill>
                  <a:srgbClr val="424242"/>
                </a:solidFill>
                <a:latin typeface="Arial"/>
                <a:cs typeface="Arial"/>
              </a:rPr>
              <a:t>path</a:t>
            </a:r>
            <a:endParaRPr sz="2500">
              <a:latin typeface="Arial"/>
              <a:cs typeface="Arial"/>
            </a:endParaRPr>
          </a:p>
          <a:p>
            <a:pPr marL="597375">
              <a:spcBef>
                <a:spcPts val="1027"/>
              </a:spcBef>
              <a:tabLst>
                <a:tab pos="3811948" algn="l"/>
                <a:tab pos="4213770" algn="l"/>
              </a:tabLst>
            </a:pPr>
            <a:r>
              <a:rPr sz="1800" dirty="0">
                <a:latin typeface="Courier New"/>
                <a:cs typeface="Courier New"/>
              </a:rPr>
              <a:t>http:/	:	/</a:t>
            </a:r>
            <a:endParaRPr sz="1800">
              <a:latin typeface="Courier New"/>
              <a:cs typeface="Courier New"/>
            </a:endParaRPr>
          </a:p>
          <a:p>
            <a:pPr marL="633539" algn="ctr">
              <a:spcBef>
                <a:spcPts val="394"/>
              </a:spcBef>
            </a:pPr>
            <a:r>
              <a:rPr sz="2500" b="1" spc="-4" dirty="0">
                <a:solidFill>
                  <a:srgbClr val="0B5D18"/>
                </a:solidFill>
                <a:latin typeface="Arial"/>
                <a:cs typeface="Arial"/>
              </a:rPr>
              <a:t>port</a:t>
            </a:r>
            <a:endParaRPr sz="2500">
              <a:latin typeface="Arial"/>
              <a:cs typeface="Arial"/>
            </a:endParaRPr>
          </a:p>
          <a:p>
            <a:pPr marL="405393" indent="-396464">
              <a:spcBef>
                <a:spcPts val="1571"/>
              </a:spcBef>
              <a:buAutoNum type="arabicParenBoth"/>
              <a:tabLst>
                <a:tab pos="405840" algn="l"/>
              </a:tabLst>
            </a:pPr>
            <a:r>
              <a:rPr sz="2200" spc="-7" dirty="0">
                <a:latin typeface="Arial"/>
                <a:cs typeface="Arial"/>
              </a:rPr>
              <a:t>Browser extract’s </a:t>
            </a:r>
            <a:r>
              <a:rPr sz="2200" spc="18" dirty="0">
                <a:latin typeface="Arial"/>
                <a:cs typeface="Arial"/>
              </a:rPr>
              <a:t>domain </a:t>
            </a:r>
            <a:r>
              <a:rPr sz="2200" spc="-4" dirty="0">
                <a:latin typeface="Arial"/>
                <a:cs typeface="Arial"/>
              </a:rPr>
              <a:t>name </a:t>
            </a:r>
            <a:r>
              <a:rPr sz="2200" spc="-11" dirty="0">
                <a:latin typeface="Arial"/>
                <a:cs typeface="Arial"/>
              </a:rPr>
              <a:t>from</a:t>
            </a:r>
            <a:r>
              <a:rPr sz="2200" spc="-14" dirty="0">
                <a:latin typeface="Arial"/>
                <a:cs typeface="Arial"/>
              </a:rPr>
              <a:t> </a:t>
            </a:r>
            <a:r>
              <a:rPr sz="2200" spc="-42" dirty="0">
                <a:latin typeface="Arial"/>
                <a:cs typeface="Arial"/>
              </a:rPr>
              <a:t>URL</a:t>
            </a:r>
            <a:endParaRPr sz="2200">
              <a:latin typeface="Arial"/>
              <a:cs typeface="Arial"/>
            </a:endParaRPr>
          </a:p>
          <a:p>
            <a:pPr marL="405393" indent="-396464">
              <a:spcBef>
                <a:spcPts val="464"/>
              </a:spcBef>
              <a:buAutoNum type="arabicParenBoth"/>
              <a:tabLst>
                <a:tab pos="405840" algn="l"/>
              </a:tabLst>
            </a:pPr>
            <a:r>
              <a:rPr sz="2200" spc="-7" dirty="0">
                <a:latin typeface="Arial"/>
                <a:cs typeface="Arial"/>
              </a:rPr>
              <a:t>Browser </a:t>
            </a:r>
            <a:r>
              <a:rPr sz="2200" spc="18" dirty="0">
                <a:latin typeface="Arial"/>
                <a:cs typeface="Arial"/>
              </a:rPr>
              <a:t>converts domain </a:t>
            </a:r>
            <a:r>
              <a:rPr sz="2200" spc="-4" dirty="0">
                <a:latin typeface="Arial"/>
                <a:cs typeface="Arial"/>
              </a:rPr>
              <a:t>name into </a:t>
            </a:r>
            <a:r>
              <a:rPr sz="2200" spc="-63" dirty="0">
                <a:latin typeface="Arial"/>
                <a:cs typeface="Arial"/>
              </a:rPr>
              <a:t>IP</a:t>
            </a:r>
            <a:r>
              <a:rPr sz="2200" spc="-14" dirty="0">
                <a:latin typeface="Arial"/>
                <a:cs typeface="Arial"/>
              </a:rPr>
              <a:t> </a:t>
            </a:r>
            <a:r>
              <a:rPr sz="2200" spc="28" dirty="0">
                <a:latin typeface="Arial"/>
                <a:cs typeface="Arial"/>
              </a:rPr>
              <a:t>address</a:t>
            </a:r>
            <a:endParaRPr sz="2200">
              <a:latin typeface="Arial"/>
              <a:cs typeface="Arial"/>
            </a:endParaRPr>
          </a:p>
          <a:p>
            <a:pPr marL="405393" indent="-396464">
              <a:spcBef>
                <a:spcPts val="464"/>
              </a:spcBef>
              <a:buAutoNum type="arabicParenBoth"/>
              <a:tabLst>
                <a:tab pos="405840" algn="l"/>
              </a:tabLst>
            </a:pPr>
            <a:r>
              <a:rPr sz="2200" spc="-7" dirty="0">
                <a:latin typeface="Arial"/>
                <a:cs typeface="Arial"/>
              </a:rPr>
              <a:t>Browser </a:t>
            </a:r>
            <a:r>
              <a:rPr sz="2200" spc="14" dirty="0">
                <a:latin typeface="Arial"/>
                <a:cs typeface="Arial"/>
              </a:rPr>
              <a:t>extracts </a:t>
            </a:r>
            <a:r>
              <a:rPr sz="2200" spc="39" dirty="0">
                <a:latin typeface="Arial"/>
                <a:cs typeface="Arial"/>
              </a:rPr>
              <a:t>port </a:t>
            </a:r>
            <a:r>
              <a:rPr sz="2200" spc="18" dirty="0">
                <a:latin typeface="Arial"/>
                <a:cs typeface="Arial"/>
              </a:rPr>
              <a:t>number </a:t>
            </a:r>
            <a:r>
              <a:rPr sz="2200" spc="11" dirty="0">
                <a:latin typeface="Arial"/>
                <a:cs typeface="Arial"/>
              </a:rPr>
              <a:t>(default:</a:t>
            </a:r>
            <a:r>
              <a:rPr sz="2200" spc="-53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80)</a:t>
            </a:r>
            <a:endParaRPr sz="2200">
              <a:latin typeface="Arial"/>
              <a:cs typeface="Arial"/>
            </a:endParaRPr>
          </a:p>
          <a:p>
            <a:pPr marL="405393" indent="-396464">
              <a:spcBef>
                <a:spcPts val="464"/>
              </a:spcBef>
              <a:buAutoNum type="arabicParenBoth"/>
              <a:tabLst>
                <a:tab pos="405840" algn="l"/>
              </a:tabLst>
            </a:pPr>
            <a:r>
              <a:rPr sz="2200" spc="-7" dirty="0">
                <a:latin typeface="Arial"/>
                <a:cs typeface="Arial"/>
              </a:rPr>
              <a:t>Browser </a:t>
            </a:r>
            <a:r>
              <a:rPr sz="2200" spc="11" dirty="0">
                <a:latin typeface="Arial"/>
                <a:cs typeface="Arial"/>
              </a:rPr>
              <a:t>establishes </a:t>
            </a:r>
            <a:r>
              <a:rPr sz="2200" spc="-4" dirty="0">
                <a:latin typeface="Arial"/>
                <a:cs typeface="Arial"/>
              </a:rPr>
              <a:t>a </a:t>
            </a:r>
            <a:r>
              <a:rPr sz="2200" spc="-84" dirty="0">
                <a:latin typeface="Arial"/>
                <a:cs typeface="Arial"/>
              </a:rPr>
              <a:t>TCP </a:t>
            </a:r>
            <a:r>
              <a:rPr sz="2200" spc="25" dirty="0">
                <a:latin typeface="Arial"/>
                <a:cs typeface="Arial"/>
              </a:rPr>
              <a:t>connection </a:t>
            </a:r>
            <a:r>
              <a:rPr sz="2200" spc="-4" dirty="0">
                <a:latin typeface="Arial"/>
                <a:cs typeface="Arial"/>
              </a:rPr>
              <a:t>with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-18" dirty="0">
                <a:latin typeface="Arial"/>
                <a:cs typeface="Arial"/>
              </a:rPr>
              <a:t>Web</a:t>
            </a:r>
            <a:r>
              <a:rPr sz="2200" spc="56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405393" indent="-396464">
              <a:spcBef>
                <a:spcPts val="464"/>
              </a:spcBef>
              <a:buAutoNum type="arabicParenBoth"/>
              <a:tabLst>
                <a:tab pos="405840" algn="l"/>
              </a:tabLst>
            </a:pPr>
            <a:r>
              <a:rPr sz="2200" spc="-7" dirty="0">
                <a:latin typeface="Arial"/>
                <a:cs typeface="Arial"/>
              </a:rPr>
              <a:t>Browser </a:t>
            </a:r>
            <a:r>
              <a:rPr sz="2200" spc="25" dirty="0">
                <a:latin typeface="Arial"/>
                <a:cs typeface="Arial"/>
              </a:rPr>
              <a:t>sends </a:t>
            </a:r>
            <a:r>
              <a:rPr sz="2200" spc="-4" dirty="0">
                <a:latin typeface="Arial"/>
                <a:cs typeface="Arial"/>
              </a:rPr>
              <a:t>an </a:t>
            </a:r>
            <a:r>
              <a:rPr sz="2200" spc="-95" dirty="0">
                <a:latin typeface="Arial"/>
                <a:cs typeface="Arial"/>
              </a:rPr>
              <a:t>HTTP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11" dirty="0">
                <a:latin typeface="Arial"/>
                <a:cs typeface="Arial"/>
              </a:rPr>
              <a:t>request</a:t>
            </a:r>
            <a:endParaRPr sz="2200">
              <a:latin typeface="Arial"/>
              <a:cs typeface="Arial"/>
            </a:endParaRPr>
          </a:p>
          <a:p>
            <a:pPr marL="405393" indent="-396464">
              <a:spcBef>
                <a:spcPts val="464"/>
              </a:spcBef>
              <a:buAutoNum type="arabicParenBoth"/>
              <a:tabLst>
                <a:tab pos="405840" algn="l"/>
              </a:tabLst>
            </a:pPr>
            <a:r>
              <a:rPr sz="2200" spc="-18" dirty="0">
                <a:latin typeface="Arial"/>
                <a:cs typeface="Arial"/>
              </a:rPr>
              <a:t>Web </a:t>
            </a:r>
            <a:r>
              <a:rPr sz="2200" spc="-4" dirty="0">
                <a:latin typeface="Arial"/>
                <a:cs typeface="Arial"/>
              </a:rPr>
              <a:t>server </a:t>
            </a:r>
            <a:r>
              <a:rPr sz="2200" spc="25" dirty="0">
                <a:latin typeface="Arial"/>
                <a:cs typeface="Arial"/>
              </a:rPr>
              <a:t>sends </a:t>
            </a:r>
            <a:r>
              <a:rPr sz="2200" spc="-4" dirty="0">
                <a:latin typeface="Arial"/>
                <a:cs typeface="Arial"/>
              </a:rPr>
              <a:t>an </a:t>
            </a:r>
            <a:r>
              <a:rPr sz="2200" spc="-95" dirty="0">
                <a:latin typeface="Arial"/>
                <a:cs typeface="Arial"/>
              </a:rPr>
              <a:t>HTTP</a:t>
            </a:r>
            <a:r>
              <a:rPr sz="2200" spc="-7" dirty="0">
                <a:latin typeface="Arial"/>
                <a:cs typeface="Arial"/>
              </a:rPr>
              <a:t> </a:t>
            </a:r>
            <a:r>
              <a:rPr sz="2200" spc="7" dirty="0">
                <a:latin typeface="Arial"/>
                <a:cs typeface="Arial"/>
              </a:rPr>
              <a:t>response</a:t>
            </a:r>
            <a:endParaRPr sz="2200">
              <a:latin typeface="Arial"/>
              <a:cs typeface="Arial"/>
            </a:endParaRPr>
          </a:p>
          <a:p>
            <a:pPr marL="405393" indent="-396464">
              <a:spcBef>
                <a:spcPts val="464"/>
              </a:spcBef>
              <a:buAutoNum type="arabicParenBoth"/>
              <a:tabLst>
                <a:tab pos="405840" algn="l"/>
              </a:tabLst>
            </a:pPr>
            <a:r>
              <a:rPr sz="2200" spc="-42" dirty="0">
                <a:latin typeface="Arial"/>
                <a:cs typeface="Arial"/>
              </a:rPr>
              <a:t>The </a:t>
            </a:r>
            <a:r>
              <a:rPr sz="2200" spc="25" dirty="0">
                <a:latin typeface="Arial"/>
                <a:cs typeface="Arial"/>
              </a:rPr>
              <a:t>connection </a:t>
            </a:r>
            <a:r>
              <a:rPr sz="2200" spc="-4" dirty="0">
                <a:latin typeface="Arial"/>
                <a:cs typeface="Arial"/>
              </a:rPr>
              <a:t>is </a:t>
            </a:r>
            <a:r>
              <a:rPr sz="2200" spc="35" dirty="0">
                <a:latin typeface="Arial"/>
                <a:cs typeface="Arial"/>
              </a:rPr>
              <a:t>closed, </a:t>
            </a:r>
            <a:r>
              <a:rPr sz="2200" spc="11" dirty="0">
                <a:latin typeface="Arial"/>
                <a:cs typeface="Arial"/>
              </a:rPr>
              <a:t>browser </a:t>
            </a:r>
            <a:r>
              <a:rPr sz="2200" spc="28" dirty="0">
                <a:latin typeface="Arial"/>
                <a:cs typeface="Arial"/>
              </a:rPr>
              <a:t>displays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28" dirty="0">
                <a:latin typeface="Arial"/>
                <a:cs typeface="Arial"/>
              </a:rPr>
              <a:t>document</a:t>
            </a:r>
            <a:endParaRPr sz="22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300">
              <a:latin typeface="Times New Roman"/>
              <a:cs typeface="Times New Roman"/>
            </a:endParaRPr>
          </a:p>
          <a:p>
            <a:pPr marL="683097"/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HTTP is stateless. Each request/response occurs in</a:t>
            </a:r>
            <a:r>
              <a:rPr sz="1700" b="1" spc="-11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isolation.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599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5426" y="2314547"/>
            <a:ext cx="4362152" cy="1378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686"/>
              </a:lnSpc>
            </a:pPr>
            <a:r>
              <a:rPr sz="2200" spc="-84" dirty="0">
                <a:latin typeface="Arial"/>
                <a:cs typeface="Arial"/>
              </a:rPr>
              <a:t>TCP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14" dirty="0">
                <a:latin typeface="Arial"/>
                <a:cs typeface="Arial"/>
              </a:rPr>
              <a:t>delivers</a:t>
            </a:r>
            <a:endParaRPr sz="2200">
              <a:latin typeface="Arial"/>
              <a:cs typeface="Arial"/>
            </a:endParaRPr>
          </a:p>
          <a:p>
            <a:pPr marL="594250" indent="-174569">
              <a:lnSpc>
                <a:spcPts val="2672"/>
              </a:lnSpc>
              <a:buChar char="-"/>
              <a:tabLst>
                <a:tab pos="594695" algn="l"/>
              </a:tabLst>
            </a:pPr>
            <a:r>
              <a:rPr sz="2200" spc="-25" dirty="0">
                <a:latin typeface="Arial"/>
                <a:cs typeface="Arial"/>
              </a:rPr>
              <a:t>error-free </a:t>
            </a:r>
            <a:r>
              <a:rPr sz="2200" spc="28" dirty="0">
                <a:latin typeface="Arial"/>
                <a:cs typeface="Arial"/>
              </a:rPr>
              <a:t>data</a:t>
            </a:r>
            <a:r>
              <a:rPr sz="2200" spc="11" dirty="0">
                <a:latin typeface="Arial"/>
                <a:cs typeface="Arial"/>
              </a:rPr>
              <a:t> transportation</a:t>
            </a:r>
            <a:endParaRPr sz="2200">
              <a:latin typeface="Arial"/>
              <a:cs typeface="Arial"/>
            </a:endParaRPr>
          </a:p>
          <a:p>
            <a:pPr marL="594250" indent="-174569">
              <a:lnSpc>
                <a:spcPts val="2672"/>
              </a:lnSpc>
              <a:buChar char="-"/>
              <a:tabLst>
                <a:tab pos="594695" algn="l"/>
              </a:tabLst>
            </a:pPr>
            <a:r>
              <a:rPr sz="2200" spc="7" dirty="0">
                <a:latin typeface="Arial"/>
                <a:cs typeface="Arial"/>
              </a:rPr>
              <a:t>in-order</a:t>
            </a:r>
            <a:r>
              <a:rPr sz="2200" spc="-28" dirty="0">
                <a:latin typeface="Arial"/>
                <a:cs typeface="Arial"/>
              </a:rPr>
              <a:t> </a:t>
            </a:r>
            <a:r>
              <a:rPr sz="2200" spc="18" dirty="0">
                <a:latin typeface="Arial"/>
                <a:cs typeface="Arial"/>
              </a:rPr>
              <a:t>delivery</a:t>
            </a:r>
            <a:endParaRPr sz="2200">
              <a:latin typeface="Arial"/>
              <a:cs typeface="Arial"/>
            </a:endParaRPr>
          </a:p>
          <a:p>
            <a:pPr marL="594250" indent="-174569">
              <a:lnSpc>
                <a:spcPts val="2686"/>
              </a:lnSpc>
              <a:buChar char="-"/>
              <a:tabLst>
                <a:tab pos="594695" algn="l"/>
              </a:tabLst>
            </a:pPr>
            <a:r>
              <a:rPr sz="2200" spc="-4" dirty="0">
                <a:latin typeface="Arial"/>
                <a:cs typeface="Arial"/>
              </a:rPr>
              <a:t>an </a:t>
            </a:r>
            <a:r>
              <a:rPr sz="2200" spc="21" dirty="0">
                <a:latin typeface="Arial"/>
                <a:cs typeface="Arial"/>
              </a:rPr>
              <a:t>unsegmented </a:t>
            </a:r>
            <a:r>
              <a:rPr sz="2200" spc="28" dirty="0">
                <a:latin typeface="Arial"/>
                <a:cs typeface="Arial"/>
              </a:rPr>
              <a:t>data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7" dirty="0">
                <a:latin typeface="Arial"/>
                <a:cs typeface="Arial"/>
              </a:rPr>
              <a:t>stream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7758" y="3977345"/>
            <a:ext cx="2089993" cy="1542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3023"/>
              </a:lnSpc>
            </a:pPr>
            <a:r>
              <a:rPr sz="2500" b="1" dirty="0">
                <a:solidFill>
                  <a:srgbClr val="941100"/>
                </a:solidFill>
                <a:latin typeface="Arial"/>
                <a:cs typeface="Arial"/>
              </a:rPr>
              <a:t>domain</a:t>
            </a:r>
            <a:r>
              <a:rPr sz="2500" b="1" spc="-77" dirty="0">
                <a:solidFill>
                  <a:srgbClr val="941100"/>
                </a:solidFill>
                <a:latin typeface="Arial"/>
                <a:cs typeface="Arial"/>
              </a:rPr>
              <a:t> </a:t>
            </a:r>
            <a:r>
              <a:rPr sz="2500" b="1" spc="-4" dirty="0">
                <a:solidFill>
                  <a:srgbClr val="941100"/>
                </a:solidFill>
                <a:latin typeface="Arial"/>
                <a:cs typeface="Arial"/>
              </a:rPr>
              <a:t>name  </a:t>
            </a:r>
            <a:r>
              <a:rPr sz="2500" b="1" spc="-4" dirty="0">
                <a:solidFill>
                  <a:srgbClr val="4F8F00"/>
                </a:solidFill>
                <a:latin typeface="Arial"/>
                <a:cs typeface="Arial"/>
              </a:rPr>
              <a:t>port</a:t>
            </a:r>
            <a:endParaRPr sz="2500">
              <a:latin typeface="Arial"/>
              <a:cs typeface="Arial"/>
            </a:endParaRPr>
          </a:p>
          <a:p>
            <a:pPr marL="8929">
              <a:lnSpc>
                <a:spcPts val="2918"/>
              </a:lnSpc>
            </a:pPr>
            <a:r>
              <a:rPr sz="2500" b="1" spc="-4" dirty="0">
                <a:solidFill>
                  <a:srgbClr val="5E5E5E"/>
                </a:solidFill>
                <a:latin typeface="Arial"/>
                <a:cs typeface="Arial"/>
              </a:rPr>
              <a:t>path</a:t>
            </a:r>
            <a:endParaRPr sz="2500">
              <a:latin typeface="Arial"/>
              <a:cs typeface="Arial"/>
            </a:endParaRPr>
          </a:p>
          <a:p>
            <a:pPr marL="8929">
              <a:lnSpc>
                <a:spcPts val="3030"/>
              </a:lnSpc>
            </a:pPr>
            <a:r>
              <a:rPr sz="2500" b="1" spc="-4" dirty="0">
                <a:solidFill>
                  <a:srgbClr val="005493"/>
                </a:solidFill>
                <a:latin typeface="Arial"/>
                <a:cs typeface="Arial"/>
              </a:rPr>
              <a:t>IP</a:t>
            </a:r>
            <a:r>
              <a:rPr sz="2500" b="1" spc="-112" dirty="0">
                <a:solidFill>
                  <a:srgbClr val="005493"/>
                </a:solidFill>
                <a:latin typeface="Arial"/>
                <a:cs typeface="Arial"/>
              </a:rPr>
              <a:t> </a:t>
            </a:r>
            <a:r>
              <a:rPr sz="2500" b="1" spc="-4" dirty="0">
                <a:solidFill>
                  <a:srgbClr val="005493"/>
                </a:solidFill>
                <a:latin typeface="Arial"/>
                <a:cs typeface="Arial"/>
              </a:rPr>
              <a:t>address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561" y="4297144"/>
            <a:ext cx="82197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http:/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77262" y="4297144"/>
            <a:ext cx="554087" cy="287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410305" algn="l"/>
              </a:tabLst>
            </a:pPr>
            <a:r>
              <a:rPr sz="1800" dirty="0">
                <a:latin typeface="Courier New"/>
                <a:cs typeface="Courier New"/>
              </a:rPr>
              <a:t>:	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5166" y="4268391"/>
            <a:ext cx="2418606" cy="582851"/>
          </a:xfrm>
          <a:prstGeom prst="rect">
            <a:avLst/>
          </a:prstGeom>
        </p:spPr>
        <p:txBody>
          <a:bodyPr vert="horz" wrap="square" lIns="0" tIns="28574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sz="1800" dirty="0">
                <a:latin typeface="Courier New"/>
                <a:cs typeface="Courier New"/>
                <a:hlinkClick r:id="rId2"/>
              </a:rPr>
              <a:t>/www.microsoft.com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9430" y="4268391"/>
            <a:ext cx="294680" cy="305852"/>
          </a:xfrm>
          <a:prstGeom prst="rect">
            <a:avLst/>
          </a:prstGeom>
        </p:spPr>
        <p:txBody>
          <a:bodyPr vert="horz" wrap="square" lIns="0" tIns="28574" rIns="0" bIns="0" rtlCol="0">
            <a:spAutoFit/>
          </a:bodyPr>
          <a:lstStyle/>
          <a:p>
            <a:pPr marL="10268">
              <a:spcBef>
                <a:spcPts val="225"/>
              </a:spcBef>
            </a:pPr>
            <a:r>
              <a:rPr sz="1800" dirty="0">
                <a:latin typeface="Courier New"/>
                <a:cs typeface="Courier New"/>
              </a:rPr>
              <a:t>80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1265" y="4268391"/>
            <a:ext cx="1410891" cy="305852"/>
          </a:xfrm>
          <a:prstGeom prst="rect">
            <a:avLst/>
          </a:prstGeom>
        </p:spPr>
        <p:txBody>
          <a:bodyPr vert="horz" wrap="square" lIns="0" tIns="28574" rIns="0" bIns="0" rtlCol="0">
            <a:spAutoFit/>
          </a:bodyPr>
          <a:lstStyle/>
          <a:p>
            <a:pPr marL="10268">
              <a:spcBef>
                <a:spcPts val="225"/>
              </a:spcBef>
            </a:pPr>
            <a:r>
              <a:rPr sz="1800" dirty="0">
                <a:latin typeface="Courier New"/>
                <a:cs typeface="Courier New"/>
              </a:rPr>
              <a:t>index.html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2561" y="5261550"/>
            <a:ext cx="82197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http:/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5166" y="5214937"/>
            <a:ext cx="1659582" cy="323885"/>
          </a:xfrm>
          <a:prstGeom prst="rect">
            <a:avLst/>
          </a:prstGeom>
        </p:spPr>
        <p:txBody>
          <a:bodyPr vert="horz" wrap="square" lIns="0" tIns="46433" rIns="0" bIns="0" rtlCol="0">
            <a:spAutoFit/>
          </a:bodyPr>
          <a:lstStyle/>
          <a:p>
            <a:pPr>
              <a:spcBef>
                <a:spcPts val="366"/>
              </a:spcBef>
            </a:pPr>
            <a:r>
              <a:rPr sz="1800" dirty="0">
                <a:latin typeface="Courier New"/>
                <a:cs typeface="Courier New"/>
              </a:rPr>
              <a:t>/65.55.57.27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73970" y="5261550"/>
            <a:ext cx="189354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dirty="0">
                <a:latin typeface="Courier New"/>
                <a:cs typeface="Courier New"/>
              </a:rPr>
              <a:t>:80/index.html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52042" y="4261033"/>
            <a:ext cx="2370296" cy="404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80555" y="4268391"/>
            <a:ext cx="2312789" cy="348258"/>
          </a:xfrm>
          <a:custGeom>
            <a:avLst/>
            <a:gdLst/>
            <a:ahLst/>
            <a:cxnLst/>
            <a:rect l="l" t="t" r="r" b="b"/>
            <a:pathLst>
              <a:path w="3289300" h="495300">
                <a:moveTo>
                  <a:pt x="0" y="0"/>
                </a:moveTo>
                <a:lnTo>
                  <a:pt x="3289300" y="0"/>
                </a:lnTo>
                <a:lnTo>
                  <a:pt x="3289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EC5D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52042" y="5209088"/>
            <a:ext cx="1609487" cy="4046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80555" y="5214937"/>
            <a:ext cx="1553766" cy="357188"/>
          </a:xfrm>
          <a:custGeom>
            <a:avLst/>
            <a:gdLst/>
            <a:ahLst/>
            <a:cxnLst/>
            <a:rect l="l" t="t" r="r" b="b"/>
            <a:pathLst>
              <a:path w="2209800" h="508000">
                <a:moveTo>
                  <a:pt x="0" y="0"/>
                </a:moveTo>
                <a:lnTo>
                  <a:pt x="2209800" y="0"/>
                </a:lnTo>
                <a:lnTo>
                  <a:pt x="2209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81845" y="4261033"/>
            <a:ext cx="347144" cy="4046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09430" y="4268391"/>
            <a:ext cx="294680" cy="348258"/>
          </a:xfrm>
          <a:custGeom>
            <a:avLst/>
            <a:gdLst/>
            <a:ahLst/>
            <a:cxnLst/>
            <a:rect l="l" t="t" r="r" b="b"/>
            <a:pathLst>
              <a:path w="419100" h="495300">
                <a:moveTo>
                  <a:pt x="0" y="0"/>
                </a:moveTo>
                <a:lnTo>
                  <a:pt x="419100" y="0"/>
                </a:lnTo>
                <a:lnTo>
                  <a:pt x="419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88495" y="4261033"/>
            <a:ext cx="1462442" cy="4046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11265" y="4268391"/>
            <a:ext cx="1410891" cy="348258"/>
          </a:xfrm>
          <a:custGeom>
            <a:avLst/>
            <a:gdLst/>
            <a:ahLst/>
            <a:cxnLst/>
            <a:rect l="l" t="t" r="r" b="b"/>
            <a:pathLst>
              <a:path w="2006600" h="495300">
                <a:moveTo>
                  <a:pt x="0" y="0"/>
                </a:moveTo>
                <a:lnTo>
                  <a:pt x="2006600" y="0"/>
                </a:lnTo>
                <a:lnTo>
                  <a:pt x="20066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42412" y="66743"/>
            <a:ext cx="7659439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567" marR="3572" indent="-141084">
              <a:lnSpc>
                <a:spcPts val="5203"/>
              </a:lnSpc>
            </a:pPr>
            <a:r>
              <a:rPr sz="4500" spc="11" dirty="0"/>
              <a:t>TCP &amp; HTTP: </a:t>
            </a:r>
            <a:r>
              <a:rPr sz="4500" spc="-14" dirty="0"/>
              <a:t>displaying </a:t>
            </a:r>
            <a:r>
              <a:rPr sz="4500" spc="7" dirty="0"/>
              <a:t>a</a:t>
            </a:r>
            <a:r>
              <a:rPr sz="4500" spc="-482" dirty="0"/>
              <a:t> </a:t>
            </a:r>
            <a:r>
              <a:rPr sz="4500" spc="7" dirty="0"/>
              <a:t>simple  </a:t>
            </a:r>
            <a:r>
              <a:rPr sz="4500" spc="11" dirty="0"/>
              <a:t>HTML </a:t>
            </a:r>
            <a:r>
              <a:rPr sz="4500" spc="-18" dirty="0"/>
              <a:t>resource </a:t>
            </a:r>
            <a:r>
              <a:rPr sz="4500" spc="4" dirty="0"/>
              <a:t>in the</a:t>
            </a:r>
            <a:r>
              <a:rPr sz="4500" spc="-11" dirty="0"/>
              <a:t> </a:t>
            </a:r>
            <a:r>
              <a:rPr sz="4500" spc="-14" dirty="0"/>
              <a:t>browser</a:t>
            </a:r>
            <a:endParaRPr sz="4500"/>
          </a:p>
        </p:txBody>
      </p:sp>
      <p:sp>
        <p:nvSpPr>
          <p:cNvPr id="21" name="object 21"/>
          <p:cNvSpPr/>
          <p:nvPr/>
        </p:nvSpPr>
        <p:spPr>
          <a:xfrm>
            <a:off x="2234467" y="4674870"/>
            <a:ext cx="489075" cy="5548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61256" y="4688086"/>
            <a:ext cx="435497" cy="4969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61256" y="4688086"/>
            <a:ext cx="435769" cy="497384"/>
          </a:xfrm>
          <a:custGeom>
            <a:avLst/>
            <a:gdLst/>
            <a:ahLst/>
            <a:cxnLst/>
            <a:rect l="l" t="t" r="r" b="b"/>
            <a:pathLst>
              <a:path w="619760" h="707390">
                <a:moveTo>
                  <a:pt x="619379" y="254000"/>
                </a:moveTo>
                <a:lnTo>
                  <a:pt x="0" y="254000"/>
                </a:lnTo>
                <a:lnTo>
                  <a:pt x="309689" y="706793"/>
                </a:lnTo>
                <a:lnTo>
                  <a:pt x="619379" y="254000"/>
                </a:lnTo>
                <a:close/>
              </a:path>
              <a:path w="619760" h="707390">
                <a:moveTo>
                  <a:pt x="403491" y="0"/>
                </a:moveTo>
                <a:lnTo>
                  <a:pt x="212991" y="0"/>
                </a:lnTo>
                <a:lnTo>
                  <a:pt x="212991" y="254000"/>
                </a:lnTo>
                <a:lnTo>
                  <a:pt x="403491" y="254000"/>
                </a:lnTo>
                <a:lnTo>
                  <a:pt x="403491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617050" y="5640955"/>
            <a:ext cx="4771131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dirty="0">
                <a:solidFill>
                  <a:srgbClr val="005493"/>
                </a:solidFill>
                <a:latin typeface="Arial"/>
                <a:cs typeface="Arial"/>
              </a:rPr>
              <a:t>32-bit IP address: four 8-bit numbers</a:t>
            </a:r>
            <a:r>
              <a:rPr sz="1900" spc="-120" dirty="0">
                <a:solidFill>
                  <a:srgbClr val="005493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05493"/>
                </a:solidFill>
                <a:latin typeface="Arial"/>
                <a:cs typeface="Arial"/>
              </a:rPr>
              <a:t>(0-255)</a:t>
            </a:r>
            <a:endParaRPr sz="19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780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862" y="1931241"/>
            <a:ext cx="8432276" cy="1375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3977" y="1937742"/>
            <a:ext cx="8376047" cy="13215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977" y="1937742"/>
            <a:ext cx="8376047" cy="1209432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100455" rIns="0" bIns="0" rtlCol="0">
            <a:spAutoFit/>
          </a:bodyPr>
          <a:lstStyle/>
          <a:p>
            <a:pPr marL="168319" marR="383516">
              <a:lnSpc>
                <a:spcPct val="100499"/>
              </a:lnSpc>
              <a:spcBef>
                <a:spcPts val="791"/>
              </a:spcBef>
            </a:pPr>
            <a:r>
              <a:rPr spc="-70" dirty="0">
                <a:solidFill>
                  <a:srgbClr val="FFFFFF"/>
                </a:solidFill>
                <a:latin typeface="Arial"/>
                <a:cs typeface="Arial"/>
              </a:rPr>
              <a:t>So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far: </a:t>
            </a:r>
            <a:r>
              <a:rPr spc="-102" dirty="0">
                <a:solidFill>
                  <a:srgbClr val="FFFFFF"/>
                </a:solidFill>
                <a:latin typeface="Arial"/>
                <a:cs typeface="Arial"/>
              </a:rPr>
              <a:t>HTTP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b="1" spc="-4" dirty="0">
                <a:solidFill>
                  <a:srgbClr val="FFFFFF"/>
                </a:solidFill>
                <a:latin typeface="Arial"/>
                <a:cs typeface="Arial"/>
              </a:rPr>
              <a:t>anonymous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b="1" spc="-4" dirty="0">
                <a:solidFill>
                  <a:srgbClr val="FFFFFF"/>
                </a:solidFill>
                <a:latin typeface="Arial"/>
                <a:cs typeface="Arial"/>
              </a:rPr>
              <a:t>stateless </a:t>
            </a:r>
            <a:r>
              <a:rPr spc="11" dirty="0">
                <a:solidFill>
                  <a:srgbClr val="FFFFFF"/>
                </a:solidFill>
                <a:latin typeface="Arial"/>
                <a:cs typeface="Arial"/>
              </a:rPr>
              <a:t>request/response  </a:t>
            </a:r>
            <a:r>
              <a:rPr spc="21" dirty="0">
                <a:solidFill>
                  <a:srgbClr val="FFFFFF"/>
                </a:solidFill>
                <a:latin typeface="Arial"/>
                <a:cs typeface="Arial"/>
              </a:rPr>
              <a:t>protocol. </a:t>
            </a:r>
            <a:r>
              <a:rPr spc="-46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same </a:t>
            </a:r>
            <a:r>
              <a:rPr spc="11" dirty="0">
                <a:solidFill>
                  <a:srgbClr val="FFFFFF"/>
                </a:solidFill>
                <a:latin typeface="Arial"/>
                <a:cs typeface="Arial"/>
              </a:rPr>
              <a:t>request,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sent </a:t>
            </a:r>
            <a:r>
              <a:rPr spc="63" dirty="0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spc="4" dirty="0">
                <a:solidFill>
                  <a:srgbClr val="FFFFFF"/>
                </a:solidFill>
                <a:latin typeface="Arial"/>
                <a:cs typeface="Arial"/>
              </a:rPr>
              <a:t>different </a:t>
            </a:r>
            <a:r>
              <a:rPr spc="14" dirty="0">
                <a:solidFill>
                  <a:srgbClr val="FFFFFF"/>
                </a:solidFill>
                <a:latin typeface="Arial"/>
                <a:cs typeface="Arial"/>
              </a:rPr>
              <a:t>clients,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pc="11" dirty="0">
                <a:solidFill>
                  <a:srgbClr val="FFFFFF"/>
                </a:solidFill>
                <a:latin typeface="Arial"/>
                <a:cs typeface="Arial"/>
              </a:rPr>
              <a:t>treated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pc="18" dirty="0">
                <a:solidFill>
                  <a:srgbClr val="FFFFFF"/>
                </a:solidFill>
                <a:latin typeface="Arial"/>
                <a:cs typeface="Arial"/>
              </a:rPr>
              <a:t>exactly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pc="-3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manner.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5862" y="3452708"/>
            <a:ext cx="8432276" cy="21539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3977" y="3464719"/>
            <a:ext cx="8376047" cy="20984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3977" y="3464719"/>
            <a:ext cx="8376047" cy="1871906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25002" rIns="0" bIns="0" rtlCol="0">
            <a:spAutoFit/>
          </a:bodyPr>
          <a:lstStyle/>
          <a:p>
            <a:pPr marL="168319">
              <a:spcBef>
                <a:spcPts val="197"/>
              </a:spcBef>
            </a:pP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Now: </a:t>
            </a:r>
            <a:r>
              <a:rPr spc="18" dirty="0">
                <a:solidFill>
                  <a:srgbClr val="FFFFFF"/>
                </a:solidFill>
                <a:latin typeface="Arial"/>
                <a:cs typeface="Arial"/>
              </a:rPr>
              <a:t>identification</a:t>
            </a:r>
            <a:r>
              <a:rPr spc="-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via</a:t>
            </a:r>
            <a:endParaRPr>
              <a:latin typeface="Arial"/>
              <a:cs typeface="Arial"/>
            </a:endParaRPr>
          </a:p>
          <a:p>
            <a:pPr marL="589785" indent="-421466">
              <a:spcBef>
                <a:spcPts val="14"/>
              </a:spcBef>
              <a:buAutoNum type="alphaUcPeriod"/>
              <a:tabLst>
                <a:tab pos="589785" algn="l"/>
                <a:tab pos="590231" algn="l"/>
              </a:tabLst>
            </a:pPr>
            <a:r>
              <a:rPr spc="-102" dirty="0">
                <a:solidFill>
                  <a:srgbClr val="FFFFFF"/>
                </a:solidFill>
                <a:latin typeface="Arial"/>
                <a:cs typeface="Arial"/>
              </a:rPr>
              <a:t>HTTP</a:t>
            </a:r>
            <a:r>
              <a:rPr spc="-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18" dirty="0">
                <a:solidFill>
                  <a:srgbClr val="FFFFFF"/>
                </a:solidFill>
                <a:latin typeface="Arial"/>
                <a:cs typeface="Arial"/>
              </a:rPr>
              <a:t>headers</a:t>
            </a:r>
            <a:endParaRPr>
              <a:latin typeface="Arial"/>
              <a:cs typeface="Arial"/>
            </a:endParaRPr>
          </a:p>
          <a:p>
            <a:pPr marL="589785" indent="-421466">
              <a:spcBef>
                <a:spcPts val="14"/>
              </a:spcBef>
              <a:buAutoNum type="alphaUcPeriod"/>
              <a:tabLst>
                <a:tab pos="589785" algn="l"/>
                <a:tab pos="590231" algn="l"/>
              </a:tabLst>
            </a:pP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Client </a:t>
            </a:r>
            <a:r>
              <a:rPr spc="-67" dirty="0">
                <a:solidFill>
                  <a:srgbClr val="FFFFFF"/>
                </a:solidFill>
                <a:latin typeface="Arial"/>
                <a:cs typeface="Arial"/>
              </a:rPr>
              <a:t>IP </a:t>
            </a:r>
            <a:r>
              <a:rPr spc="28" dirty="0">
                <a:solidFill>
                  <a:srgbClr val="FFFFFF"/>
                </a:solidFill>
                <a:latin typeface="Arial"/>
                <a:cs typeface="Arial"/>
              </a:rPr>
              <a:t>address</a:t>
            </a:r>
            <a:r>
              <a:rPr spc="4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32" dirty="0">
                <a:solidFill>
                  <a:srgbClr val="FFFFFF"/>
                </a:solidFill>
                <a:latin typeface="Arial"/>
                <a:cs typeface="Arial"/>
              </a:rPr>
              <a:t>tracking</a:t>
            </a:r>
            <a:endParaRPr>
              <a:latin typeface="Arial"/>
              <a:cs typeface="Arial"/>
            </a:endParaRPr>
          </a:p>
          <a:p>
            <a:pPr marL="589785" indent="-421466">
              <a:spcBef>
                <a:spcPts val="14"/>
              </a:spcBef>
              <a:buAutoNum type="alphaUcPeriod"/>
              <a:tabLst>
                <a:tab pos="590231" algn="l"/>
              </a:tabLst>
            </a:pP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User </a:t>
            </a:r>
            <a:r>
              <a:rPr spc="25" dirty="0">
                <a:solidFill>
                  <a:srgbClr val="FFFFFF"/>
                </a:solidFill>
                <a:latin typeface="Arial"/>
                <a:cs typeface="Arial"/>
              </a:rPr>
              <a:t>login </a:t>
            </a: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(HTTP </a:t>
            </a:r>
            <a:r>
              <a:rPr spc="25" dirty="0">
                <a:solidFill>
                  <a:srgbClr val="FFFFFF"/>
                </a:solidFill>
                <a:latin typeface="Arial"/>
                <a:cs typeface="Arial"/>
              </a:rPr>
              <a:t>Basic</a:t>
            </a:r>
            <a:r>
              <a:rPr spc="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7" dirty="0">
                <a:solidFill>
                  <a:srgbClr val="FFFFFF"/>
                </a:solidFill>
                <a:latin typeface="Arial"/>
                <a:cs typeface="Arial"/>
              </a:rPr>
              <a:t>Authentication)</a:t>
            </a:r>
            <a:endParaRPr>
              <a:latin typeface="Arial"/>
              <a:cs typeface="Arial"/>
            </a:endParaRPr>
          </a:p>
          <a:p>
            <a:pPr marL="589785" indent="-421466">
              <a:spcBef>
                <a:spcPts val="14"/>
              </a:spcBef>
              <a:buAutoNum type="alphaUcPeriod"/>
              <a:tabLst>
                <a:tab pos="590231" algn="l"/>
              </a:tabLst>
            </a:pPr>
            <a:r>
              <a:rPr spc="-46" dirty="0">
                <a:solidFill>
                  <a:srgbClr val="FFFFFF"/>
                </a:solidFill>
                <a:latin typeface="Arial"/>
                <a:cs typeface="Arial"/>
              </a:rPr>
              <a:t>Fat</a:t>
            </a:r>
            <a:r>
              <a:rPr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URLs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85800" y="733787"/>
            <a:ext cx="7772400" cy="894625"/>
          </a:xfrm>
          <a:prstGeom prst="rect">
            <a:avLst/>
          </a:prstGeom>
        </p:spPr>
        <p:txBody>
          <a:bodyPr vert="horz" wrap="square" lIns="0" tIns="276373" rIns="0" bIns="0" rtlCol="0">
            <a:spAutoFit/>
          </a:bodyPr>
          <a:lstStyle/>
          <a:p>
            <a:pPr marL="8929"/>
            <a:r>
              <a:rPr spc="-4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00809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117" y="0"/>
            <a:ext cx="7772400" cy="894625"/>
          </a:xfrm>
          <a:prstGeom prst="rect">
            <a:avLst/>
          </a:prstGeom>
        </p:spPr>
        <p:txBody>
          <a:bodyPr vert="horz" wrap="square" lIns="0" tIns="276373" rIns="0" bIns="0" rtlCol="0">
            <a:spAutoFit/>
          </a:bodyPr>
          <a:lstStyle/>
          <a:p>
            <a:pPr marL="8929"/>
            <a:r>
              <a:rPr spc="-4" dirty="0"/>
              <a:t>Fat</a:t>
            </a:r>
            <a:r>
              <a:rPr spc="-56" dirty="0"/>
              <a:t> </a:t>
            </a:r>
            <a:r>
              <a:rPr spc="-4" dirty="0"/>
              <a:t>URLs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651813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8" y="1618425"/>
            <a:ext cx="6782544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11" dirty="0">
                <a:latin typeface="Arial"/>
                <a:cs typeface="Arial"/>
              </a:rPr>
              <a:t>Tracking </a:t>
            </a:r>
            <a:r>
              <a:rPr sz="2200" spc="11" dirty="0">
                <a:latin typeface="Arial"/>
                <a:cs typeface="Arial"/>
              </a:rPr>
              <a:t>through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b="1" spc="-4" dirty="0">
                <a:latin typeface="Arial"/>
                <a:cs typeface="Arial"/>
              </a:rPr>
              <a:t>generation of unique URLs </a:t>
            </a:r>
            <a:r>
              <a:rPr sz="2200" dirty="0">
                <a:latin typeface="Arial"/>
                <a:cs typeface="Arial"/>
              </a:rPr>
              <a:t>for  </a:t>
            </a:r>
            <a:r>
              <a:rPr sz="2200" spc="28" dirty="0">
                <a:latin typeface="Arial"/>
                <a:cs typeface="Arial"/>
              </a:rPr>
              <a:t>each</a:t>
            </a:r>
            <a:r>
              <a:rPr sz="2200" spc="-46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user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375" y="246442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4375" y="3277025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375" y="4089636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3277660"/>
          </a:xfrm>
          <a:prstGeom prst="rect">
            <a:avLst/>
          </a:prstGeom>
        </p:spPr>
        <p:txBody>
          <a:bodyPr vert="horz" wrap="square" lIns="0" tIns="499205" rIns="0" bIns="0" rtlCol="0">
            <a:spAutoFit/>
          </a:bodyPr>
          <a:lstStyle/>
          <a:p>
            <a:pPr marL="412537">
              <a:lnSpc>
                <a:spcPts val="2686"/>
              </a:lnSpc>
            </a:pPr>
            <a:r>
              <a:rPr sz="2200" spc="-28" dirty="0"/>
              <a:t>First </a:t>
            </a:r>
            <a:r>
              <a:rPr sz="2200" dirty="0"/>
              <a:t>time </a:t>
            </a:r>
            <a:r>
              <a:rPr sz="2200" spc="-4" dirty="0"/>
              <a:t>a user </a:t>
            </a:r>
            <a:r>
              <a:rPr sz="2200" dirty="0"/>
              <a:t>visits </a:t>
            </a:r>
            <a:r>
              <a:rPr sz="2200" spc="-4" dirty="0"/>
              <a:t>a </a:t>
            </a:r>
            <a:r>
              <a:rPr sz="2200" spc="60" dirty="0"/>
              <a:t>page </a:t>
            </a:r>
            <a:r>
              <a:rPr sz="2200" spc="-4" dirty="0"/>
              <a:t>within a </a:t>
            </a:r>
            <a:r>
              <a:rPr sz="2200" spc="-18" dirty="0"/>
              <a:t>Web </a:t>
            </a:r>
            <a:r>
              <a:rPr sz="2200" dirty="0"/>
              <a:t>site,</a:t>
            </a:r>
            <a:r>
              <a:rPr sz="2200" spc="11" dirty="0"/>
              <a:t> </a:t>
            </a:r>
            <a:r>
              <a:rPr sz="2200" spc="-4" dirty="0" smtClean="0"/>
              <a:t>a</a:t>
            </a:r>
            <a:r>
              <a:rPr lang="en-US" sz="2200" spc="-4" dirty="0" smtClean="0"/>
              <a:t> </a:t>
            </a:r>
            <a:r>
              <a:rPr sz="2200" dirty="0" smtClean="0">
                <a:latin typeface="Arial"/>
                <a:cs typeface="Arial"/>
              </a:rPr>
              <a:t>unique </a:t>
            </a:r>
            <a:r>
              <a:rPr sz="2200" spc="-4" dirty="0">
                <a:latin typeface="Arial"/>
                <a:cs typeface="Arial"/>
              </a:rPr>
              <a:t>ID </a:t>
            </a:r>
            <a:r>
              <a:rPr sz="2200" spc="-4" dirty="0"/>
              <a:t>is </a:t>
            </a:r>
            <a:r>
              <a:rPr sz="2200" spc="25" dirty="0"/>
              <a:t>generated </a:t>
            </a:r>
            <a:r>
              <a:rPr sz="2200" spc="60" dirty="0"/>
              <a:t>by </a:t>
            </a:r>
            <a:r>
              <a:rPr sz="2200" dirty="0"/>
              <a:t>the</a:t>
            </a:r>
            <a:r>
              <a:rPr sz="2200" spc="-95" dirty="0"/>
              <a:t> </a:t>
            </a:r>
            <a:r>
              <a:rPr sz="2200" spc="-4" dirty="0"/>
              <a:t>server</a:t>
            </a:r>
            <a:endParaRPr sz="2200" dirty="0">
              <a:latin typeface="Arial"/>
              <a:cs typeface="Arial"/>
            </a:endParaRPr>
          </a:p>
          <a:p>
            <a:pPr marL="412537" marR="3572">
              <a:lnSpc>
                <a:spcPts val="2672"/>
              </a:lnSpc>
              <a:spcBef>
                <a:spcPts val="1139"/>
              </a:spcBef>
            </a:pPr>
            <a:r>
              <a:rPr sz="2200" spc="-21" dirty="0"/>
              <a:t>Server </a:t>
            </a:r>
            <a:r>
              <a:rPr sz="2200" spc="-4" dirty="0">
                <a:latin typeface="Arial"/>
                <a:cs typeface="Arial"/>
              </a:rPr>
              <a:t>redirects </a:t>
            </a:r>
            <a:r>
              <a:rPr sz="2200" spc="18" dirty="0"/>
              <a:t>client </a:t>
            </a:r>
            <a:r>
              <a:rPr sz="2200" dirty="0"/>
              <a:t>to the fat </a:t>
            </a:r>
            <a:r>
              <a:rPr sz="2200" spc="-42" dirty="0"/>
              <a:t>URL </a:t>
            </a:r>
            <a:r>
              <a:rPr sz="2200" spc="11" dirty="0"/>
              <a:t>(recall </a:t>
            </a:r>
            <a:r>
              <a:rPr sz="2200" dirty="0"/>
              <a:t>status </a:t>
            </a:r>
            <a:r>
              <a:rPr sz="2200" spc="60" dirty="0"/>
              <a:t>code  </a:t>
            </a:r>
            <a:r>
              <a:rPr sz="2200" spc="-4" dirty="0"/>
              <a:t>3**)</a:t>
            </a:r>
            <a:endParaRPr sz="2200" dirty="0">
              <a:latin typeface="Arial"/>
              <a:cs typeface="Arial"/>
            </a:endParaRPr>
          </a:p>
          <a:p>
            <a:pPr marL="412537" marR="586660">
              <a:lnSpc>
                <a:spcPts val="2672"/>
              </a:lnSpc>
              <a:spcBef>
                <a:spcPts val="1055"/>
              </a:spcBef>
            </a:pPr>
            <a:r>
              <a:rPr sz="2200" spc="-21" dirty="0"/>
              <a:t>Server </a:t>
            </a:r>
            <a:r>
              <a:rPr sz="2200" spc="-4" dirty="0"/>
              <a:t>on </a:t>
            </a:r>
            <a:r>
              <a:rPr sz="2200" dirty="0"/>
              <a:t>the fly </a:t>
            </a:r>
            <a:r>
              <a:rPr sz="2200" spc="-4" dirty="0">
                <a:latin typeface="Arial"/>
                <a:cs typeface="Arial"/>
              </a:rPr>
              <a:t>rewrites the HTML </a:t>
            </a:r>
            <a:r>
              <a:rPr sz="2200" spc="-4" dirty="0"/>
              <a:t>when an </a:t>
            </a:r>
            <a:r>
              <a:rPr sz="2200" spc="-95" dirty="0"/>
              <a:t>HTTP  </a:t>
            </a:r>
            <a:r>
              <a:rPr sz="2200" spc="11" dirty="0"/>
              <a:t>request </a:t>
            </a:r>
            <a:r>
              <a:rPr sz="2200" spc="-4" dirty="0"/>
              <a:t>with a </a:t>
            </a:r>
            <a:r>
              <a:rPr sz="2200" dirty="0"/>
              <a:t>fat </a:t>
            </a:r>
            <a:r>
              <a:rPr sz="2200" spc="-42" dirty="0"/>
              <a:t>URL </a:t>
            </a:r>
            <a:r>
              <a:rPr sz="2200" spc="-4" dirty="0"/>
              <a:t>is </a:t>
            </a:r>
            <a:r>
              <a:rPr sz="2200" spc="25" dirty="0"/>
              <a:t>received </a:t>
            </a:r>
            <a:r>
              <a:rPr sz="2200" spc="49" dirty="0"/>
              <a:t>(adds </a:t>
            </a:r>
            <a:r>
              <a:rPr sz="2200" dirty="0"/>
              <a:t>ID to </a:t>
            </a:r>
            <a:r>
              <a:rPr sz="2200" spc="-4" dirty="0"/>
              <a:t>all  </a:t>
            </a:r>
            <a:r>
              <a:rPr sz="2200" spc="11" dirty="0"/>
              <a:t>hyperlinks </a:t>
            </a:r>
            <a:r>
              <a:rPr sz="2200" dirty="0"/>
              <a:t>to </a:t>
            </a:r>
            <a:r>
              <a:rPr sz="2200" spc="-4" dirty="0"/>
              <a:t>maintain </a:t>
            </a:r>
            <a:r>
              <a:rPr sz="2200" dirty="0"/>
              <a:t>the</a:t>
            </a:r>
            <a:r>
              <a:rPr sz="2200" spc="-4" dirty="0"/>
              <a:t> </a:t>
            </a:r>
            <a:r>
              <a:rPr sz="2200" spc="21" dirty="0"/>
              <a:t>knowledge)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836" y="5241566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9647" y="5208169"/>
            <a:ext cx="7212509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32" dirty="0">
                <a:latin typeface="Arial"/>
                <a:cs typeface="Arial"/>
              </a:rPr>
              <a:t>Independent </a:t>
            </a: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7" dirty="0">
                <a:latin typeface="Arial"/>
                <a:cs typeface="Arial"/>
              </a:rPr>
              <a:t>transactions </a:t>
            </a:r>
            <a:r>
              <a:rPr sz="2200" spc="39" dirty="0">
                <a:latin typeface="Arial"/>
                <a:cs typeface="Arial"/>
              </a:rPr>
              <a:t>can </a:t>
            </a:r>
            <a:r>
              <a:rPr sz="2200" spc="60" dirty="0">
                <a:latin typeface="Arial"/>
                <a:cs typeface="Arial"/>
              </a:rPr>
              <a:t>be </a:t>
            </a:r>
            <a:r>
              <a:rPr sz="2200" spc="28" dirty="0">
                <a:latin typeface="Arial"/>
                <a:cs typeface="Arial"/>
              </a:rPr>
              <a:t>tied </a:t>
            </a:r>
            <a:r>
              <a:rPr sz="2200" spc="-4" dirty="0">
                <a:latin typeface="Arial"/>
                <a:cs typeface="Arial"/>
              </a:rPr>
              <a:t>into a</a:t>
            </a:r>
            <a:r>
              <a:rPr sz="2200" spc="-14" dirty="0">
                <a:latin typeface="Arial"/>
                <a:cs typeface="Arial"/>
              </a:rPr>
              <a:t> </a:t>
            </a:r>
            <a:r>
              <a:rPr sz="2200" spc="18" dirty="0">
                <a:latin typeface="Arial"/>
                <a:cs typeface="Arial"/>
              </a:rPr>
              <a:t>single  </a:t>
            </a:r>
            <a:r>
              <a:rPr sz="2200" spc="25" dirty="0">
                <a:latin typeface="Arial"/>
                <a:cs typeface="Arial"/>
              </a:rPr>
              <a:t>“session”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0" y="5991820"/>
            <a:ext cx="9144000" cy="866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</a:pPr>
            <a:endParaRPr sz="1600">
              <a:latin typeface="Times New Roman"/>
              <a:cs typeface="Times New Roman"/>
            </a:endParaRPr>
          </a:p>
          <a:p>
            <a:pPr marR="114742" algn="r"/>
            <a:r>
              <a:rPr sz="1300" spc="-4" dirty="0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5956416"/>
            <a:ext cx="9144000" cy="901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5991820"/>
            <a:ext cx="9144000" cy="866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5991820"/>
            <a:ext cx="9144000" cy="866180"/>
          </a:xfrm>
          <a:custGeom>
            <a:avLst/>
            <a:gdLst/>
            <a:ahLst/>
            <a:cxnLst/>
            <a:rect l="l" t="t" r="r" b="b"/>
            <a:pathLst>
              <a:path w="13004800" h="1231900">
                <a:moveTo>
                  <a:pt x="0" y="1231900"/>
                </a:moveTo>
                <a:lnTo>
                  <a:pt x="13004800" y="1231900"/>
                </a:lnTo>
                <a:lnTo>
                  <a:pt x="13004800" y="0"/>
                </a:lnTo>
                <a:lnTo>
                  <a:pt x="0" y="0"/>
                </a:lnTo>
                <a:lnTo>
                  <a:pt x="0" y="1231900"/>
                </a:lnTo>
                <a:close/>
              </a:path>
            </a:pathLst>
          </a:custGeom>
          <a:solidFill>
            <a:srgbClr val="00D026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31023" y="6245828"/>
            <a:ext cx="5482382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300" b="1" spc="-4" dirty="0">
                <a:solidFill>
                  <a:srgbClr val="FFFFFF"/>
                </a:solidFill>
                <a:latin typeface="Arial"/>
                <a:cs typeface="Arial"/>
              </a:rPr>
              <a:t>Question</a:t>
            </a:r>
            <a:r>
              <a:rPr sz="2300" spc="-4" dirty="0">
                <a:solidFill>
                  <a:srgbClr val="FFFFFF"/>
                </a:solidFill>
                <a:latin typeface="Arial"/>
                <a:cs typeface="Arial"/>
              </a:rPr>
              <a:t>: what is a </a:t>
            </a:r>
            <a:r>
              <a:rPr sz="2300" spc="28" dirty="0">
                <a:solidFill>
                  <a:srgbClr val="FFFFFF"/>
                </a:solidFill>
                <a:latin typeface="Arial"/>
                <a:cs typeface="Arial"/>
              </a:rPr>
              <a:t>problem </a:t>
            </a: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of fat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3" dirty="0">
                <a:solidFill>
                  <a:srgbClr val="FFFFFF"/>
                </a:solidFill>
                <a:latin typeface="Arial"/>
                <a:cs typeface="Arial"/>
              </a:rPr>
              <a:t>URLs?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6800" y="838200"/>
            <a:ext cx="7599164" cy="459290"/>
          </a:xfrm>
          <a:prstGeom prst="rect">
            <a:avLst/>
          </a:prstGeom>
          <a:ln w="25400">
            <a:solidFill>
              <a:srgbClr val="85888D"/>
            </a:solidFill>
          </a:ln>
        </p:spPr>
        <p:txBody>
          <a:bodyPr vert="horz" wrap="square" lIns="0" tIns="28128" rIns="0" bIns="0" rtlCol="0">
            <a:spAutoFit/>
          </a:bodyPr>
          <a:lstStyle/>
          <a:p>
            <a:pPr marL="37950">
              <a:spcBef>
                <a:spcPts val="221"/>
              </a:spcBef>
            </a:pPr>
            <a:r>
              <a:rPr sz="1400" spc="-4" dirty="0">
                <a:latin typeface="Courier New"/>
                <a:cs typeface="Courier New"/>
              </a:rPr>
              <a:t>&lt;a</a:t>
            </a:r>
            <a:r>
              <a:rPr sz="1400" spc="-7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href=“/browse/-/229220/ref=gr_gifts/</a:t>
            </a:r>
            <a:r>
              <a:rPr sz="1400" b="1" dirty="0">
                <a:latin typeface="Courier New"/>
                <a:cs typeface="Courier New"/>
              </a:rPr>
              <a:t>002-1145265-8016838</a:t>
            </a:r>
            <a:r>
              <a:rPr sz="1400" dirty="0">
                <a:latin typeface="Courier New"/>
                <a:cs typeface="Courier New"/>
              </a:rPr>
              <a:t>"&gt;Gifts&lt;/a&gt;</a:t>
            </a:r>
          </a:p>
          <a:p>
            <a:pPr marL="37950"/>
            <a:r>
              <a:rPr sz="1400" spc="-4" dirty="0">
                <a:latin typeface="Courier New"/>
                <a:cs typeface="Courier New"/>
              </a:rPr>
              <a:t>&lt;a href="/wishlist/ref=gr_pl1_/</a:t>
            </a:r>
            <a:r>
              <a:rPr sz="1400" b="1" spc="-4" dirty="0">
                <a:latin typeface="Courier New"/>
                <a:cs typeface="Courier New"/>
              </a:rPr>
              <a:t>002-1145265-8016838</a:t>
            </a:r>
            <a:r>
              <a:rPr sz="1400" spc="-4" dirty="0">
                <a:latin typeface="Courier New"/>
                <a:cs typeface="Courier New"/>
              </a:rPr>
              <a:t>"&gt;Wish</a:t>
            </a:r>
            <a:r>
              <a:rPr sz="1400" spc="102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List&lt;/a&gt;</a:t>
            </a:r>
          </a:p>
        </p:txBody>
      </p:sp>
    </p:spTree>
    <p:extLst>
      <p:ext uri="{BB962C8B-B14F-4D97-AF65-F5344CB8AC3E}">
        <p14:creationId xmlns:p14="http://schemas.microsoft.com/office/powerpoint/2010/main" val="351397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733787"/>
            <a:ext cx="7772400" cy="894625"/>
          </a:xfrm>
          <a:prstGeom prst="rect">
            <a:avLst/>
          </a:prstGeom>
        </p:spPr>
        <p:txBody>
          <a:bodyPr vert="horz" wrap="square" lIns="0" tIns="276373" rIns="0" bIns="0" rtlCol="0">
            <a:spAutoFit/>
          </a:bodyPr>
          <a:lstStyle/>
          <a:p>
            <a:pPr marL="8929"/>
            <a:r>
              <a:rPr spc="-4" dirty="0"/>
              <a:t>Fat</a:t>
            </a:r>
            <a:r>
              <a:rPr spc="-56" dirty="0"/>
              <a:t> </a:t>
            </a:r>
            <a:r>
              <a:rPr spc="-4" dirty="0"/>
              <a:t>URLs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618461"/>
            <a:ext cx="139303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288" dirty="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836" y="2133704"/>
            <a:ext cx="139303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288" dirty="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3416900"/>
            <a:ext cx="139303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288" dirty="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36" y="4316120"/>
            <a:ext cx="139303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288" dirty="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836" y="4831363"/>
            <a:ext cx="139303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288" dirty="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093" y="1568589"/>
            <a:ext cx="7431732" cy="4001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00" spc="-39" dirty="0">
                <a:latin typeface="Arial"/>
                <a:cs typeface="Arial"/>
              </a:rPr>
              <a:t>Fat </a:t>
            </a:r>
            <a:r>
              <a:rPr sz="2500" spc="-25" dirty="0">
                <a:latin typeface="Arial"/>
                <a:cs typeface="Arial"/>
              </a:rPr>
              <a:t>URLs </a:t>
            </a:r>
            <a:r>
              <a:rPr sz="2500" spc="-11" dirty="0">
                <a:latin typeface="Arial"/>
                <a:cs typeface="Arial"/>
              </a:rPr>
              <a:t>are</a:t>
            </a:r>
            <a:r>
              <a:rPr sz="2500" spc="18" dirty="0">
                <a:latin typeface="Arial"/>
                <a:cs typeface="Arial"/>
              </a:rPr>
              <a:t> </a:t>
            </a:r>
            <a:r>
              <a:rPr sz="2500" spc="42" dirty="0">
                <a:latin typeface="Arial"/>
                <a:cs typeface="Arial"/>
              </a:rPr>
              <a:t>ugly</a:t>
            </a:r>
            <a:endParaRPr sz="2500">
              <a:latin typeface="Arial"/>
              <a:cs typeface="Arial"/>
            </a:endParaRPr>
          </a:p>
          <a:p>
            <a:pPr marL="8929" marR="620591">
              <a:lnSpc>
                <a:spcPts val="3023"/>
              </a:lnSpc>
              <a:spcBef>
                <a:spcPts val="1132"/>
              </a:spcBef>
            </a:pPr>
            <a:r>
              <a:rPr sz="2500" spc="-39" dirty="0">
                <a:latin typeface="Arial"/>
                <a:cs typeface="Arial"/>
              </a:rPr>
              <a:t>Fat </a:t>
            </a:r>
            <a:r>
              <a:rPr sz="2500" spc="-25" dirty="0">
                <a:latin typeface="Arial"/>
                <a:cs typeface="Arial"/>
              </a:rPr>
              <a:t>URLs </a:t>
            </a:r>
            <a:r>
              <a:rPr sz="2500" spc="32" dirty="0">
                <a:latin typeface="Arial"/>
                <a:cs typeface="Arial"/>
              </a:rPr>
              <a:t>cannot </a:t>
            </a:r>
            <a:r>
              <a:rPr sz="2500" spc="77" dirty="0">
                <a:latin typeface="Arial"/>
                <a:cs typeface="Arial"/>
              </a:rPr>
              <a:t>be </a:t>
            </a:r>
            <a:r>
              <a:rPr sz="2500" spc="21" dirty="0">
                <a:latin typeface="Arial"/>
                <a:cs typeface="Arial"/>
              </a:rPr>
              <a:t>shared </a:t>
            </a:r>
            <a:r>
              <a:rPr sz="2500" spc="-28" dirty="0">
                <a:latin typeface="Arial"/>
                <a:cs typeface="Arial"/>
              </a:rPr>
              <a:t>(URL </a:t>
            </a:r>
            <a:r>
              <a:rPr sz="2500" spc="11" dirty="0">
                <a:latin typeface="Arial"/>
                <a:cs typeface="Arial"/>
              </a:rPr>
              <a:t>may </a:t>
            </a:r>
            <a:r>
              <a:rPr sz="2500" spc="7" dirty="0">
                <a:latin typeface="Arial"/>
                <a:cs typeface="Arial"/>
              </a:rPr>
              <a:t>not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7" dirty="0">
                <a:latin typeface="Arial"/>
                <a:cs typeface="Arial"/>
              </a:rPr>
              <a:t>exist  later on or user </a:t>
            </a:r>
            <a:r>
              <a:rPr sz="2500" spc="21" dirty="0">
                <a:latin typeface="Arial"/>
                <a:cs typeface="Arial"/>
              </a:rPr>
              <a:t>inadvertently </a:t>
            </a:r>
            <a:r>
              <a:rPr sz="2500" dirty="0">
                <a:latin typeface="Arial"/>
                <a:cs typeface="Arial"/>
              </a:rPr>
              <a:t>shares </a:t>
            </a:r>
            <a:r>
              <a:rPr sz="2500" spc="25" dirty="0">
                <a:latin typeface="Arial"/>
                <a:cs typeface="Arial"/>
              </a:rPr>
              <a:t>private  </a:t>
            </a:r>
            <a:r>
              <a:rPr sz="2500" spc="11" dirty="0">
                <a:latin typeface="Arial"/>
                <a:cs typeface="Arial"/>
              </a:rPr>
              <a:t>information)</a:t>
            </a:r>
            <a:endParaRPr sz="2500">
              <a:latin typeface="Arial"/>
              <a:cs typeface="Arial"/>
            </a:endParaRPr>
          </a:p>
          <a:p>
            <a:pPr marL="8929" marR="148228">
              <a:lnSpc>
                <a:spcPts val="3023"/>
              </a:lnSpc>
              <a:spcBef>
                <a:spcPts val="1034"/>
              </a:spcBef>
            </a:pPr>
            <a:r>
              <a:rPr sz="2500" spc="-39" dirty="0">
                <a:latin typeface="Arial"/>
                <a:cs typeface="Arial"/>
              </a:rPr>
              <a:t>Fat </a:t>
            </a:r>
            <a:r>
              <a:rPr sz="2500" spc="-25" dirty="0">
                <a:latin typeface="Arial"/>
                <a:cs typeface="Arial"/>
              </a:rPr>
              <a:t>URLs </a:t>
            </a:r>
            <a:r>
              <a:rPr sz="2500" spc="25" dirty="0">
                <a:latin typeface="Arial"/>
                <a:cs typeface="Arial"/>
              </a:rPr>
              <a:t>break </a:t>
            </a:r>
            <a:r>
              <a:rPr sz="2500" spc="67" dirty="0">
                <a:latin typeface="Arial"/>
                <a:cs typeface="Arial"/>
              </a:rPr>
              <a:t>caching </a:t>
            </a:r>
            <a:r>
              <a:rPr sz="2500" spc="21" dirty="0">
                <a:latin typeface="Arial"/>
                <a:cs typeface="Arial"/>
              </a:rPr>
              <a:t>mechanisms </a:t>
            </a:r>
            <a:r>
              <a:rPr sz="2500" spc="7" dirty="0">
                <a:latin typeface="Arial"/>
                <a:cs typeface="Arial"/>
              </a:rPr>
              <a:t>(one </a:t>
            </a:r>
            <a:r>
              <a:rPr sz="2500" spc="-35" dirty="0">
                <a:latin typeface="Arial"/>
                <a:cs typeface="Arial"/>
              </a:rPr>
              <a:t>URL  </a:t>
            </a:r>
            <a:r>
              <a:rPr sz="2500" spc="53" dirty="0">
                <a:latin typeface="Arial"/>
                <a:cs typeface="Arial"/>
              </a:rPr>
              <a:t>per </a:t>
            </a:r>
            <a:r>
              <a:rPr sz="2500" spc="39" dirty="0">
                <a:latin typeface="Arial"/>
                <a:cs typeface="Arial"/>
              </a:rPr>
              <a:t>user/page </a:t>
            </a:r>
            <a:r>
              <a:rPr sz="2500" spc="28" dirty="0">
                <a:latin typeface="Arial"/>
                <a:cs typeface="Arial"/>
              </a:rPr>
              <a:t>instead </a:t>
            </a:r>
            <a:r>
              <a:rPr sz="2500" spc="7" dirty="0">
                <a:latin typeface="Arial"/>
                <a:cs typeface="Arial"/>
              </a:rPr>
              <a:t>of one </a:t>
            </a:r>
            <a:r>
              <a:rPr sz="2500" spc="-35" dirty="0">
                <a:latin typeface="Arial"/>
                <a:cs typeface="Arial"/>
              </a:rPr>
              <a:t>URL </a:t>
            </a:r>
            <a:r>
              <a:rPr sz="2500" spc="53" dirty="0">
                <a:latin typeface="Arial"/>
                <a:cs typeface="Arial"/>
              </a:rPr>
              <a:t>per</a:t>
            </a:r>
            <a:r>
              <a:rPr sz="2500" spc="-98" dirty="0">
                <a:latin typeface="Arial"/>
                <a:cs typeface="Arial"/>
              </a:rPr>
              <a:t> </a:t>
            </a:r>
            <a:r>
              <a:rPr sz="2500" spc="63" dirty="0">
                <a:latin typeface="Arial"/>
                <a:cs typeface="Arial"/>
              </a:rPr>
              <a:t>page)</a:t>
            </a:r>
            <a:endParaRPr sz="2500">
              <a:latin typeface="Arial"/>
              <a:cs typeface="Arial"/>
            </a:endParaRPr>
          </a:p>
          <a:p>
            <a:pPr marL="8929">
              <a:spcBef>
                <a:spcPts val="921"/>
              </a:spcBef>
            </a:pPr>
            <a:r>
              <a:rPr sz="2500" spc="-21" dirty="0">
                <a:latin typeface="Arial"/>
                <a:cs typeface="Arial"/>
              </a:rPr>
              <a:t>Extra </a:t>
            </a:r>
            <a:r>
              <a:rPr sz="2500" spc="7" dirty="0">
                <a:latin typeface="Arial"/>
                <a:cs typeface="Arial"/>
              </a:rPr>
              <a:t>server </a:t>
            </a:r>
            <a:r>
              <a:rPr sz="2500" spc="42" dirty="0">
                <a:latin typeface="Arial"/>
                <a:cs typeface="Arial"/>
              </a:rPr>
              <a:t>load </a:t>
            </a:r>
            <a:r>
              <a:rPr sz="2500" spc="-18" dirty="0">
                <a:latin typeface="Arial"/>
                <a:cs typeface="Arial"/>
              </a:rPr>
              <a:t>(HTML </a:t>
            </a:r>
            <a:r>
              <a:rPr sz="2500" spc="77" dirty="0">
                <a:latin typeface="Arial"/>
                <a:cs typeface="Arial"/>
              </a:rPr>
              <a:t>page </a:t>
            </a:r>
            <a:r>
              <a:rPr sz="2500" dirty="0">
                <a:latin typeface="Arial"/>
                <a:cs typeface="Arial"/>
              </a:rPr>
              <a:t>rewrites</a:t>
            </a:r>
            <a:r>
              <a:rPr sz="2500" spc="-63" dirty="0">
                <a:latin typeface="Arial"/>
                <a:cs typeface="Arial"/>
              </a:rPr>
              <a:t> </a:t>
            </a:r>
            <a:r>
              <a:rPr sz="2500" spc="25" dirty="0">
                <a:latin typeface="Arial"/>
                <a:cs typeface="Arial"/>
              </a:rPr>
              <a:t>necessary)</a:t>
            </a:r>
            <a:endParaRPr sz="2500">
              <a:latin typeface="Arial"/>
              <a:cs typeface="Arial"/>
            </a:endParaRPr>
          </a:p>
          <a:p>
            <a:pPr marL="8929" marR="3572">
              <a:lnSpc>
                <a:spcPts val="3023"/>
              </a:lnSpc>
              <a:spcBef>
                <a:spcPts val="1132"/>
              </a:spcBef>
            </a:pPr>
            <a:r>
              <a:rPr sz="2500" spc="7" dirty="0">
                <a:latin typeface="Arial"/>
                <a:cs typeface="Arial"/>
              </a:rPr>
              <a:t>Users </a:t>
            </a:r>
            <a:r>
              <a:rPr sz="2500" spc="56" dirty="0">
                <a:latin typeface="Arial"/>
                <a:cs typeface="Arial"/>
              </a:rPr>
              <a:t>can </a:t>
            </a:r>
            <a:r>
              <a:rPr sz="2500" spc="77" dirty="0">
                <a:latin typeface="Arial"/>
                <a:cs typeface="Arial"/>
              </a:rPr>
              <a:t>“escape” </a:t>
            </a:r>
            <a:r>
              <a:rPr sz="2500" spc="7" dirty="0">
                <a:latin typeface="Arial"/>
                <a:cs typeface="Arial"/>
              </a:rPr>
              <a:t>(ID </a:t>
            </a:r>
            <a:r>
              <a:rPr sz="2500" spc="4" dirty="0">
                <a:latin typeface="Arial"/>
                <a:cs typeface="Arial"/>
              </a:rPr>
              <a:t>is </a:t>
            </a:r>
            <a:r>
              <a:rPr sz="2500" spc="7" dirty="0">
                <a:latin typeface="Arial"/>
                <a:cs typeface="Arial"/>
              </a:rPr>
              <a:t>lost </a:t>
            </a:r>
            <a:r>
              <a:rPr sz="2500" spc="11" dirty="0">
                <a:latin typeface="Arial"/>
                <a:cs typeface="Arial"/>
              </a:rPr>
              <a:t>when </a:t>
            </a:r>
            <a:r>
              <a:rPr sz="2500" spc="7" dirty="0">
                <a:latin typeface="Arial"/>
                <a:cs typeface="Arial"/>
              </a:rPr>
              <a:t>user</a:t>
            </a:r>
            <a:r>
              <a:rPr sz="2500" spc="-137" dirty="0">
                <a:latin typeface="Arial"/>
                <a:cs typeface="Arial"/>
              </a:rPr>
              <a:t> </a:t>
            </a:r>
            <a:r>
              <a:rPr sz="2500" spc="21" dirty="0">
                <a:latin typeface="Arial"/>
                <a:cs typeface="Arial"/>
              </a:rPr>
              <a:t>navigates  </a:t>
            </a:r>
            <a:r>
              <a:rPr sz="2500" spc="28" dirty="0">
                <a:latin typeface="Arial"/>
                <a:cs typeface="Arial"/>
              </a:rPr>
              <a:t>outside </a:t>
            </a:r>
            <a:r>
              <a:rPr sz="2500" spc="7" dirty="0">
                <a:latin typeface="Arial"/>
                <a:cs typeface="Arial"/>
              </a:rPr>
              <a:t>the </a:t>
            </a:r>
            <a:r>
              <a:rPr sz="2500" spc="-7" dirty="0">
                <a:latin typeface="Arial"/>
                <a:cs typeface="Arial"/>
              </a:rPr>
              <a:t>Web </a:t>
            </a:r>
            <a:r>
              <a:rPr sz="2500" spc="4" dirty="0">
                <a:latin typeface="Arial"/>
                <a:cs typeface="Arial"/>
              </a:rPr>
              <a:t>site, </a:t>
            </a:r>
            <a:r>
              <a:rPr sz="2500" spc="7" dirty="0">
                <a:latin typeface="Arial"/>
                <a:cs typeface="Arial"/>
              </a:rPr>
              <a:t>unless he </a:t>
            </a:r>
            <a:r>
              <a:rPr sz="2500" spc="25" dirty="0">
                <a:latin typeface="Arial"/>
                <a:cs typeface="Arial"/>
              </a:rPr>
              <a:t>bookmarks</a:t>
            </a:r>
            <a:r>
              <a:rPr sz="2500" spc="-39" dirty="0">
                <a:latin typeface="Arial"/>
                <a:cs typeface="Arial"/>
              </a:rPr>
              <a:t> </a:t>
            </a:r>
            <a:r>
              <a:rPr sz="2500" spc="4" dirty="0">
                <a:latin typeface="Arial"/>
                <a:cs typeface="Arial"/>
              </a:rPr>
              <a:t>it)</a:t>
            </a:r>
            <a:endParaRPr sz="2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077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539" y="402535"/>
            <a:ext cx="799326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589874" algn="l"/>
                <a:tab pos="2894009" algn="l"/>
              </a:tabLst>
            </a:pPr>
            <a:r>
              <a:rPr dirty="0"/>
              <a:t>HTTP	</a:t>
            </a:r>
            <a:r>
              <a:rPr spc="-4" dirty="0"/>
              <a:t>basic	authentication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991141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7" y="1957745"/>
            <a:ext cx="6100763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21" dirty="0">
                <a:latin typeface="Arial"/>
                <a:cs typeface="Arial"/>
              </a:rPr>
              <a:t>Server </a:t>
            </a:r>
            <a:r>
              <a:rPr sz="2200" spc="25" dirty="0">
                <a:latin typeface="Arial"/>
                <a:cs typeface="Arial"/>
              </a:rPr>
              <a:t>explicitly </a:t>
            </a:r>
            <a:r>
              <a:rPr sz="2200" dirty="0">
                <a:latin typeface="Arial"/>
                <a:cs typeface="Arial"/>
              </a:rPr>
              <a:t>asks the </a:t>
            </a:r>
            <a:r>
              <a:rPr sz="2200" spc="-4" dirty="0">
                <a:latin typeface="Arial"/>
                <a:cs typeface="Arial"/>
              </a:rPr>
              <a:t>user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32" dirty="0">
                <a:latin typeface="Arial"/>
                <a:cs typeface="Arial"/>
              </a:rPr>
              <a:t> </a:t>
            </a:r>
            <a:r>
              <a:rPr sz="2200" spc="7" dirty="0">
                <a:latin typeface="Arial"/>
                <a:cs typeface="Arial"/>
              </a:rPr>
              <a:t>authentication  </a:t>
            </a:r>
            <a:r>
              <a:rPr sz="2200" spc="4" dirty="0">
                <a:latin typeface="Arial"/>
                <a:cs typeface="Arial"/>
              </a:rPr>
              <a:t>(username </a:t>
            </a:r>
            <a:r>
              <a:rPr sz="2200" spc="39" dirty="0">
                <a:latin typeface="Arial"/>
                <a:cs typeface="Arial"/>
              </a:rPr>
              <a:t>and</a:t>
            </a:r>
            <a:r>
              <a:rPr sz="2200" spc="-49" dirty="0">
                <a:latin typeface="Arial"/>
                <a:cs typeface="Arial"/>
              </a:rPr>
              <a:t> </a:t>
            </a:r>
            <a:r>
              <a:rPr sz="2200" spc="21" dirty="0">
                <a:latin typeface="Arial"/>
                <a:cs typeface="Arial"/>
              </a:rPr>
              <a:t>password)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3277017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648" y="3230704"/>
            <a:ext cx="7455396" cy="104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ct val="99600"/>
              </a:lnSpc>
            </a:pP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-4" dirty="0">
                <a:latin typeface="Arial"/>
                <a:cs typeface="Arial"/>
              </a:rPr>
              <a:t>has a </a:t>
            </a:r>
            <a:r>
              <a:rPr sz="2200" spc="14" dirty="0">
                <a:latin typeface="Arial"/>
                <a:cs typeface="Arial"/>
              </a:rPr>
              <a:t>built-in </a:t>
            </a:r>
            <a:r>
              <a:rPr sz="2200" spc="11" dirty="0">
                <a:latin typeface="Arial"/>
                <a:cs typeface="Arial"/>
              </a:rPr>
              <a:t>mechanism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28" dirty="0">
                <a:latin typeface="Arial"/>
                <a:cs typeface="Arial"/>
              </a:rPr>
              <a:t>pass </a:t>
            </a:r>
            <a:r>
              <a:rPr sz="2200" spc="-4" dirty="0">
                <a:latin typeface="Arial"/>
                <a:cs typeface="Arial"/>
              </a:rPr>
              <a:t>user </a:t>
            </a:r>
            <a:r>
              <a:rPr sz="2200" dirty="0">
                <a:latin typeface="Arial"/>
                <a:cs typeface="Arial"/>
              </a:rPr>
              <a:t>information to  </a:t>
            </a:r>
            <a:r>
              <a:rPr sz="2200" spc="39" dirty="0">
                <a:latin typeface="Arial"/>
                <a:cs typeface="Arial"/>
              </a:rPr>
              <a:t>web </a:t>
            </a:r>
            <a:r>
              <a:rPr sz="2200" dirty="0">
                <a:latin typeface="Arial"/>
                <a:cs typeface="Arial"/>
              </a:rPr>
              <a:t>sites: </a:t>
            </a:r>
            <a:r>
              <a:rPr sz="2200" dirty="0">
                <a:latin typeface="Courier New"/>
                <a:cs typeface="Courier New"/>
              </a:rPr>
              <a:t>WWW-Authentication</a:t>
            </a:r>
            <a:r>
              <a:rPr sz="2200" spc="-851" dirty="0">
                <a:latin typeface="Courier New"/>
                <a:cs typeface="Courier New"/>
              </a:rPr>
              <a:t> </a:t>
            </a:r>
            <a:r>
              <a:rPr sz="2200" spc="39" dirty="0">
                <a:latin typeface="Arial"/>
                <a:cs typeface="Arial"/>
              </a:rPr>
              <a:t>and </a:t>
            </a:r>
            <a:r>
              <a:rPr sz="2200" dirty="0">
                <a:latin typeface="Courier New"/>
                <a:cs typeface="Courier New"/>
              </a:rPr>
              <a:t>Authorization  </a:t>
            </a:r>
            <a:r>
              <a:rPr sz="2200" spc="14" dirty="0">
                <a:latin typeface="Arial"/>
                <a:cs typeface="Arial"/>
              </a:rPr>
              <a:t>headers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836" y="4906819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648" y="4873421"/>
            <a:ext cx="7286625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-4" dirty="0">
                <a:latin typeface="Arial"/>
                <a:cs typeface="Arial"/>
              </a:rPr>
              <a:t>is </a:t>
            </a:r>
            <a:r>
              <a:rPr sz="2200" dirty="0">
                <a:latin typeface="Arial"/>
                <a:cs typeface="Arial"/>
              </a:rPr>
              <a:t>stateless: </a:t>
            </a:r>
            <a:r>
              <a:rPr sz="2200" spc="28" dirty="0">
                <a:latin typeface="Arial"/>
                <a:cs typeface="Arial"/>
              </a:rPr>
              <a:t>once </a:t>
            </a:r>
            <a:r>
              <a:rPr sz="2200" spc="60" dirty="0">
                <a:latin typeface="Arial"/>
                <a:cs typeface="Arial"/>
              </a:rPr>
              <a:t>logged </a:t>
            </a:r>
            <a:r>
              <a:rPr sz="2200" spc="-4" dirty="0">
                <a:latin typeface="Arial"/>
                <a:cs typeface="Arial"/>
              </a:rPr>
              <a:t>in,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11" dirty="0">
                <a:latin typeface="Arial"/>
                <a:cs typeface="Arial"/>
              </a:rPr>
              <a:t>browser </a:t>
            </a:r>
            <a:r>
              <a:rPr sz="2200" spc="25" dirty="0">
                <a:latin typeface="Arial"/>
                <a:cs typeface="Arial"/>
              </a:rPr>
              <a:t>sends</a:t>
            </a:r>
            <a:r>
              <a:rPr sz="2200" spc="-18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  </a:t>
            </a:r>
            <a:r>
              <a:rPr sz="2200" spc="21" dirty="0">
                <a:latin typeface="Arial"/>
                <a:cs typeface="Arial"/>
              </a:rPr>
              <a:t>login </a:t>
            </a:r>
            <a:r>
              <a:rPr sz="2200" dirty="0">
                <a:latin typeface="Arial"/>
                <a:cs typeface="Arial"/>
              </a:rPr>
              <a:t>information </a:t>
            </a:r>
            <a:r>
              <a:rPr sz="2200" spc="-4" dirty="0">
                <a:latin typeface="Arial"/>
                <a:cs typeface="Arial"/>
              </a:rPr>
              <a:t>with </a:t>
            </a:r>
            <a:r>
              <a:rPr sz="2200" spc="28" dirty="0">
                <a:latin typeface="Arial"/>
                <a:cs typeface="Arial"/>
              </a:rPr>
              <a:t>each</a:t>
            </a:r>
            <a:r>
              <a:rPr sz="2200" spc="-4" dirty="0">
                <a:latin typeface="Arial"/>
                <a:cs typeface="Arial"/>
              </a:rPr>
              <a:t> </a:t>
            </a:r>
            <a:r>
              <a:rPr sz="2200" spc="11" dirty="0">
                <a:latin typeface="Arial"/>
                <a:cs typeface="Arial"/>
              </a:rPr>
              <a:t>request</a:t>
            </a:r>
            <a:endParaRPr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352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539" y="402535"/>
            <a:ext cx="721032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589874" algn="l"/>
                <a:tab pos="2894009" algn="l"/>
              </a:tabLst>
            </a:pPr>
            <a:r>
              <a:rPr dirty="0"/>
              <a:t>HTTP	</a:t>
            </a:r>
            <a:r>
              <a:rPr spc="-4" dirty="0"/>
              <a:t>basic	authentication</a:t>
            </a:r>
          </a:p>
        </p:txBody>
      </p:sp>
      <p:sp>
        <p:nvSpPr>
          <p:cNvPr id="4" name="object 4"/>
          <p:cNvSpPr/>
          <p:nvPr/>
        </p:nvSpPr>
        <p:spPr>
          <a:xfrm>
            <a:off x="1182050" y="1845731"/>
            <a:ext cx="739776" cy="888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44738" y="1940573"/>
            <a:ext cx="991490" cy="8886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12789" y="2232422"/>
            <a:ext cx="4643438" cy="0"/>
          </a:xfrm>
          <a:custGeom>
            <a:avLst/>
            <a:gdLst/>
            <a:ahLst/>
            <a:cxnLst/>
            <a:rect l="l" t="t" r="r" b="b"/>
            <a:pathLst>
              <a:path w="6604000">
                <a:moveTo>
                  <a:pt x="6604003" y="0"/>
                </a:moveTo>
                <a:lnTo>
                  <a:pt x="30556" y="0"/>
                </a:ln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80629" y="2157412"/>
            <a:ext cx="150019" cy="150019"/>
          </a:xfrm>
          <a:custGeom>
            <a:avLst/>
            <a:gdLst/>
            <a:ahLst/>
            <a:cxnLst/>
            <a:rect l="l" t="t" r="r" b="b"/>
            <a:pathLst>
              <a:path w="213360" h="213360">
                <a:moveTo>
                  <a:pt x="213360" y="0"/>
                </a:moveTo>
                <a:lnTo>
                  <a:pt x="0" y="106679"/>
                </a:lnTo>
                <a:lnTo>
                  <a:pt x="213360" y="213359"/>
                </a:lnTo>
                <a:lnTo>
                  <a:pt x="21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25975" y="1712517"/>
            <a:ext cx="2590056" cy="44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/>
            <a:r>
              <a:rPr sz="1400" spc="-4" dirty="0">
                <a:latin typeface="Courier New"/>
                <a:cs typeface="Courier New"/>
              </a:rPr>
              <a:t>GET /index.html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HTTP/1.1  </a:t>
            </a:r>
            <a:r>
              <a:rPr sz="1400" spc="-4" dirty="0">
                <a:latin typeface="Courier New"/>
                <a:cs typeface="Courier New"/>
              </a:rPr>
              <a:t>host</a:t>
            </a:r>
            <a:r>
              <a:rPr sz="1400" spc="-4" dirty="0">
                <a:latin typeface="Courier New"/>
                <a:cs typeface="Courier New"/>
                <a:hlinkClick r:id="rId4"/>
              </a:rPr>
              <a:t>:</a:t>
            </a:r>
            <a:r>
              <a:rPr sz="1400" spc="-67" dirty="0">
                <a:latin typeface="Courier New"/>
                <a:cs typeface="Courier New"/>
                <a:hlinkClick r:id="rId4"/>
              </a:rPr>
              <a:t> </a:t>
            </a:r>
            <a:r>
              <a:rPr sz="1400" dirty="0">
                <a:latin typeface="Courier New"/>
                <a:cs typeface="Courier New"/>
                <a:hlinkClick r:id="rId4"/>
              </a:rPr>
              <a:t>www.microsoft.com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96705" y="2464590"/>
            <a:ext cx="4616648" cy="0"/>
          </a:xfrm>
          <a:custGeom>
            <a:avLst/>
            <a:gdLst/>
            <a:ahLst/>
            <a:cxnLst/>
            <a:rect l="l" t="t" r="r" b="b"/>
            <a:pathLst>
              <a:path w="6565900">
                <a:moveTo>
                  <a:pt x="0" y="0"/>
                </a:moveTo>
                <a:lnTo>
                  <a:pt x="6543087" y="0"/>
                </a:lnTo>
                <a:lnTo>
                  <a:pt x="6565897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95492" y="2389584"/>
            <a:ext cx="150019" cy="150019"/>
          </a:xfrm>
          <a:custGeom>
            <a:avLst/>
            <a:gdLst/>
            <a:ahLst/>
            <a:cxnLst/>
            <a:rect l="l" t="t" r="r" b="b"/>
            <a:pathLst>
              <a:path w="213359" h="213360">
                <a:moveTo>
                  <a:pt x="0" y="0"/>
                </a:moveTo>
                <a:lnTo>
                  <a:pt x="0" y="213359"/>
                </a:lnTo>
                <a:lnTo>
                  <a:pt x="213359" y="1066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14178" y="2566321"/>
            <a:ext cx="194711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spc="-4" dirty="0">
                <a:latin typeface="Courier New"/>
                <a:cs typeface="Courier New"/>
              </a:rPr>
              <a:t>HTTP/1.1 </a:t>
            </a:r>
            <a:r>
              <a:rPr sz="1400" b="1" spc="-4" dirty="0">
                <a:solidFill>
                  <a:srgbClr val="FF2600"/>
                </a:solidFill>
                <a:latin typeface="Courier New"/>
                <a:cs typeface="Courier New"/>
              </a:rPr>
              <a:t>401</a:t>
            </a:r>
            <a:r>
              <a:rPr sz="1400" b="1" spc="-60" dirty="0">
                <a:solidFill>
                  <a:srgbClr val="FF2600"/>
                </a:solidFill>
                <a:latin typeface="Courier New"/>
                <a:cs typeface="Courier New"/>
              </a:rPr>
              <a:t> </a:t>
            </a:r>
            <a:r>
              <a:rPr sz="1400" b="1" spc="-4" dirty="0">
                <a:solidFill>
                  <a:srgbClr val="FF2600"/>
                </a:solidFill>
                <a:latin typeface="Courier New"/>
                <a:cs typeface="Courier New"/>
              </a:rPr>
              <a:t>Login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50487" y="2566321"/>
            <a:ext cx="87555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b="1" dirty="0">
                <a:solidFill>
                  <a:srgbClr val="FF2600"/>
                </a:solidFill>
                <a:latin typeface="Courier New"/>
                <a:cs typeface="Courier New"/>
              </a:rPr>
              <a:t>Required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4178" y="2780634"/>
            <a:ext cx="3769221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b="1" spc="-4" dirty="0">
                <a:latin typeface="Courier New"/>
                <a:cs typeface="Courier New"/>
              </a:rPr>
              <a:t>WWW-Authenticate: Basic</a:t>
            </a:r>
            <a:r>
              <a:rPr sz="1400" b="1" spc="-6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realm=“B&amp;R”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64431" y="3858000"/>
            <a:ext cx="739776" cy="888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27119" y="3952843"/>
            <a:ext cx="991490" cy="8886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94929" y="4241600"/>
            <a:ext cx="4643438" cy="0"/>
          </a:xfrm>
          <a:custGeom>
            <a:avLst/>
            <a:gdLst/>
            <a:ahLst/>
            <a:cxnLst/>
            <a:rect l="l" t="t" r="r" b="b"/>
            <a:pathLst>
              <a:path w="6604000">
                <a:moveTo>
                  <a:pt x="6604001" y="0"/>
                </a:moveTo>
                <a:lnTo>
                  <a:pt x="30899" y="0"/>
                </a:ln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62769" y="4166592"/>
            <a:ext cx="150019" cy="150019"/>
          </a:xfrm>
          <a:custGeom>
            <a:avLst/>
            <a:gdLst/>
            <a:ahLst/>
            <a:cxnLst/>
            <a:rect l="l" t="t" r="r" b="b"/>
            <a:pathLst>
              <a:path w="213360" h="213360">
                <a:moveTo>
                  <a:pt x="213360" y="0"/>
                </a:moveTo>
                <a:lnTo>
                  <a:pt x="0" y="106679"/>
                </a:lnTo>
                <a:lnTo>
                  <a:pt x="213360" y="213359"/>
                </a:lnTo>
                <a:lnTo>
                  <a:pt x="21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339399" y="3555829"/>
            <a:ext cx="3554909" cy="6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967944"/>
            <a:r>
              <a:rPr sz="1400" spc="-4" dirty="0">
                <a:latin typeface="Courier New"/>
                <a:cs typeface="Courier New"/>
              </a:rPr>
              <a:t>GET /index.html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HTTP/1.1  </a:t>
            </a:r>
            <a:r>
              <a:rPr sz="1400" spc="-4" dirty="0">
                <a:latin typeface="Courier New"/>
                <a:cs typeface="Courier New"/>
              </a:rPr>
              <a:t>host</a:t>
            </a:r>
            <a:r>
              <a:rPr sz="1400" spc="-4" dirty="0">
                <a:latin typeface="Courier New"/>
                <a:cs typeface="Courier New"/>
                <a:hlinkClick r:id="rId4"/>
              </a:rPr>
              <a:t>:</a:t>
            </a:r>
            <a:r>
              <a:rPr sz="1400" spc="-67" dirty="0">
                <a:latin typeface="Courier New"/>
                <a:cs typeface="Courier New"/>
                <a:hlinkClick r:id="rId4"/>
              </a:rPr>
              <a:t> </a:t>
            </a:r>
            <a:r>
              <a:rPr sz="1400" dirty="0">
                <a:latin typeface="Courier New"/>
                <a:cs typeface="Courier New"/>
                <a:hlinkClick r:id="rId4"/>
              </a:rPr>
              <a:t>www.microsoft.com</a:t>
            </a:r>
            <a:endParaRPr sz="1400">
              <a:latin typeface="Courier New"/>
              <a:cs typeface="Courier New"/>
            </a:endParaRPr>
          </a:p>
          <a:p>
            <a:pPr marL="8929"/>
            <a:r>
              <a:rPr sz="1400" b="1" spc="-4" dirty="0">
                <a:latin typeface="Courier New"/>
                <a:cs typeface="Courier New"/>
              </a:rPr>
              <a:t>Authorization: Basic</a:t>
            </a:r>
            <a:r>
              <a:rPr sz="1400" b="1" spc="-6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am910jRmdW4=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78845" y="4473777"/>
            <a:ext cx="4616648" cy="0"/>
          </a:xfrm>
          <a:custGeom>
            <a:avLst/>
            <a:gdLst/>
            <a:ahLst/>
            <a:cxnLst/>
            <a:rect l="l" t="t" r="r" b="b"/>
            <a:pathLst>
              <a:path w="6565900">
                <a:moveTo>
                  <a:pt x="0" y="0"/>
                </a:moveTo>
                <a:lnTo>
                  <a:pt x="6543432" y="0"/>
                </a:lnTo>
                <a:lnTo>
                  <a:pt x="6565898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77633" y="4398764"/>
            <a:ext cx="150019" cy="150019"/>
          </a:xfrm>
          <a:custGeom>
            <a:avLst/>
            <a:gdLst/>
            <a:ahLst/>
            <a:cxnLst/>
            <a:rect l="l" t="t" r="r" b="b"/>
            <a:pathLst>
              <a:path w="213359" h="213360">
                <a:moveTo>
                  <a:pt x="0" y="0"/>
                </a:moveTo>
                <a:lnTo>
                  <a:pt x="0" y="213359"/>
                </a:lnTo>
                <a:lnTo>
                  <a:pt x="213359" y="1066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93417" y="4536388"/>
            <a:ext cx="1625650" cy="44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spc="-4" dirty="0">
                <a:latin typeface="Courier New"/>
                <a:cs typeface="Courier New"/>
              </a:rPr>
              <a:t>HTTP/1.1 200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OK</a:t>
            </a:r>
            <a:endParaRPr sz="1400">
              <a:latin typeface="Courier New"/>
              <a:cs typeface="Courier New"/>
            </a:endParaRPr>
          </a:p>
          <a:p>
            <a:pPr marL="8929"/>
            <a:r>
              <a:rPr sz="1400" spc="-4" dirty="0">
                <a:latin typeface="Courier New"/>
                <a:cs typeface="Courier New"/>
              </a:rPr>
              <a:t>Content-length: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08202" y="4750700"/>
            <a:ext cx="446931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dirty="0">
                <a:latin typeface="Courier New"/>
                <a:cs typeface="Courier New"/>
              </a:rPr>
              <a:t>1234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3855" y="4965013"/>
            <a:ext cx="98271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dirty="0">
                <a:latin typeface="Courier New"/>
                <a:cs typeface="Courier New"/>
              </a:rPr>
              <a:t>text/html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93417" y="4965013"/>
            <a:ext cx="1410891" cy="44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0" spc="-4" dirty="0">
                <a:latin typeface="Courier New"/>
                <a:cs typeface="Courier New"/>
              </a:rPr>
              <a:t>Content-type:</a:t>
            </a:r>
            <a:endParaRPr sz="1400">
              <a:latin typeface="Courier New"/>
              <a:cs typeface="Courier New"/>
            </a:endParaRPr>
          </a:p>
          <a:p>
            <a:pPr marL="8929"/>
            <a:r>
              <a:rPr sz="1400" dirty="0">
                <a:latin typeface="Courier New"/>
                <a:cs typeface="Courier New"/>
              </a:rPr>
              <a:t>…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6028" y="1863581"/>
            <a:ext cx="767953" cy="7679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3180" y="1872875"/>
            <a:ext cx="713650" cy="7136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3179" y="1872875"/>
            <a:ext cx="713929" cy="713929"/>
          </a:xfrm>
          <a:custGeom>
            <a:avLst/>
            <a:gdLst/>
            <a:ahLst/>
            <a:cxnLst/>
            <a:rect l="l" t="t" r="r" b="b"/>
            <a:pathLst>
              <a:path w="1015365" h="1015364">
                <a:moveTo>
                  <a:pt x="530421" y="0"/>
                </a:moveTo>
                <a:lnTo>
                  <a:pt x="484548" y="0"/>
                </a:lnTo>
                <a:lnTo>
                  <a:pt x="438826" y="4118"/>
                </a:lnTo>
                <a:lnTo>
                  <a:pt x="393555" y="12356"/>
                </a:lnTo>
                <a:lnTo>
                  <a:pt x="349037" y="24712"/>
                </a:lnTo>
                <a:lnTo>
                  <a:pt x="305573" y="41187"/>
                </a:lnTo>
                <a:lnTo>
                  <a:pt x="263463" y="61781"/>
                </a:lnTo>
                <a:lnTo>
                  <a:pt x="223010" y="86493"/>
                </a:lnTo>
                <a:lnTo>
                  <a:pt x="184513" y="115325"/>
                </a:lnTo>
                <a:lnTo>
                  <a:pt x="148275" y="148275"/>
                </a:lnTo>
                <a:lnTo>
                  <a:pt x="115325" y="184513"/>
                </a:lnTo>
                <a:lnTo>
                  <a:pt x="86493" y="223010"/>
                </a:lnTo>
                <a:lnTo>
                  <a:pt x="61781" y="263463"/>
                </a:lnTo>
                <a:lnTo>
                  <a:pt x="41187" y="305572"/>
                </a:lnTo>
                <a:lnTo>
                  <a:pt x="24712" y="349036"/>
                </a:lnTo>
                <a:lnTo>
                  <a:pt x="12356" y="393554"/>
                </a:lnTo>
                <a:lnTo>
                  <a:pt x="4118" y="438824"/>
                </a:lnTo>
                <a:lnTo>
                  <a:pt x="0" y="484545"/>
                </a:lnTo>
                <a:lnTo>
                  <a:pt x="0" y="530418"/>
                </a:lnTo>
                <a:lnTo>
                  <a:pt x="4118" y="576139"/>
                </a:lnTo>
                <a:lnTo>
                  <a:pt x="12356" y="621409"/>
                </a:lnTo>
                <a:lnTo>
                  <a:pt x="24712" y="665927"/>
                </a:lnTo>
                <a:lnTo>
                  <a:pt x="41187" y="709391"/>
                </a:lnTo>
                <a:lnTo>
                  <a:pt x="61781" y="751500"/>
                </a:lnTo>
                <a:lnTo>
                  <a:pt x="86493" y="791953"/>
                </a:lnTo>
                <a:lnTo>
                  <a:pt x="115325" y="830450"/>
                </a:lnTo>
                <a:lnTo>
                  <a:pt x="148275" y="866688"/>
                </a:lnTo>
                <a:lnTo>
                  <a:pt x="184513" y="899638"/>
                </a:lnTo>
                <a:lnTo>
                  <a:pt x="223010" y="928470"/>
                </a:lnTo>
                <a:lnTo>
                  <a:pt x="263463" y="953182"/>
                </a:lnTo>
                <a:lnTo>
                  <a:pt x="305573" y="973776"/>
                </a:lnTo>
                <a:lnTo>
                  <a:pt x="349037" y="990251"/>
                </a:lnTo>
                <a:lnTo>
                  <a:pt x="393555" y="1002607"/>
                </a:lnTo>
                <a:lnTo>
                  <a:pt x="438826" y="1010845"/>
                </a:lnTo>
                <a:lnTo>
                  <a:pt x="484548" y="1014963"/>
                </a:lnTo>
                <a:lnTo>
                  <a:pt x="530421" y="1014963"/>
                </a:lnTo>
                <a:lnTo>
                  <a:pt x="576143" y="1010845"/>
                </a:lnTo>
                <a:lnTo>
                  <a:pt x="621414" y="1002607"/>
                </a:lnTo>
                <a:lnTo>
                  <a:pt x="665932" y="990251"/>
                </a:lnTo>
                <a:lnTo>
                  <a:pt x="709396" y="973776"/>
                </a:lnTo>
                <a:lnTo>
                  <a:pt x="751505" y="953182"/>
                </a:lnTo>
                <a:lnTo>
                  <a:pt x="791959" y="928470"/>
                </a:lnTo>
                <a:lnTo>
                  <a:pt x="830456" y="899638"/>
                </a:lnTo>
                <a:lnTo>
                  <a:pt x="866695" y="866688"/>
                </a:lnTo>
                <a:lnTo>
                  <a:pt x="899644" y="830450"/>
                </a:lnTo>
                <a:lnTo>
                  <a:pt x="928476" y="791953"/>
                </a:lnTo>
                <a:lnTo>
                  <a:pt x="953188" y="751500"/>
                </a:lnTo>
                <a:lnTo>
                  <a:pt x="973782" y="709391"/>
                </a:lnTo>
                <a:lnTo>
                  <a:pt x="990256" y="665927"/>
                </a:lnTo>
                <a:lnTo>
                  <a:pt x="1002613" y="621409"/>
                </a:lnTo>
                <a:lnTo>
                  <a:pt x="1010850" y="576139"/>
                </a:lnTo>
                <a:lnTo>
                  <a:pt x="1014969" y="530418"/>
                </a:lnTo>
                <a:lnTo>
                  <a:pt x="1014969" y="484545"/>
                </a:lnTo>
                <a:lnTo>
                  <a:pt x="1010850" y="438824"/>
                </a:lnTo>
                <a:lnTo>
                  <a:pt x="1002613" y="393554"/>
                </a:lnTo>
                <a:lnTo>
                  <a:pt x="990256" y="349036"/>
                </a:lnTo>
                <a:lnTo>
                  <a:pt x="973782" y="305572"/>
                </a:lnTo>
                <a:lnTo>
                  <a:pt x="953188" y="263463"/>
                </a:lnTo>
                <a:lnTo>
                  <a:pt x="928476" y="223010"/>
                </a:lnTo>
                <a:lnTo>
                  <a:pt x="899644" y="184513"/>
                </a:lnTo>
                <a:lnTo>
                  <a:pt x="866695" y="148275"/>
                </a:lnTo>
                <a:lnTo>
                  <a:pt x="830456" y="115325"/>
                </a:lnTo>
                <a:lnTo>
                  <a:pt x="791959" y="86493"/>
                </a:lnTo>
                <a:lnTo>
                  <a:pt x="751505" y="61781"/>
                </a:lnTo>
                <a:lnTo>
                  <a:pt x="709396" y="41187"/>
                </a:lnTo>
                <a:lnTo>
                  <a:pt x="665932" y="24712"/>
                </a:lnTo>
                <a:lnTo>
                  <a:pt x="621414" y="12356"/>
                </a:lnTo>
                <a:lnTo>
                  <a:pt x="576143" y="4118"/>
                </a:lnTo>
                <a:lnTo>
                  <a:pt x="530421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61614" y="2050685"/>
            <a:ext cx="176808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0837" y="3936197"/>
            <a:ext cx="767953" cy="7679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7988" y="3945491"/>
            <a:ext cx="713653" cy="7136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7988" y="3945491"/>
            <a:ext cx="713929" cy="713929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530422" y="0"/>
                </a:moveTo>
                <a:lnTo>
                  <a:pt x="484549" y="0"/>
                </a:lnTo>
                <a:lnTo>
                  <a:pt x="438826" y="4118"/>
                </a:lnTo>
                <a:lnTo>
                  <a:pt x="393556" y="12356"/>
                </a:lnTo>
                <a:lnTo>
                  <a:pt x="349038" y="24712"/>
                </a:lnTo>
                <a:lnTo>
                  <a:pt x="305573" y="41187"/>
                </a:lnTo>
                <a:lnTo>
                  <a:pt x="263464" y="61781"/>
                </a:lnTo>
                <a:lnTo>
                  <a:pt x="223010" y="86493"/>
                </a:lnTo>
                <a:lnTo>
                  <a:pt x="184513" y="115325"/>
                </a:lnTo>
                <a:lnTo>
                  <a:pt x="148275" y="148275"/>
                </a:lnTo>
                <a:lnTo>
                  <a:pt x="115325" y="184513"/>
                </a:lnTo>
                <a:lnTo>
                  <a:pt x="86493" y="223010"/>
                </a:lnTo>
                <a:lnTo>
                  <a:pt x="61781" y="263463"/>
                </a:lnTo>
                <a:lnTo>
                  <a:pt x="41187" y="305572"/>
                </a:lnTo>
                <a:lnTo>
                  <a:pt x="24712" y="349036"/>
                </a:lnTo>
                <a:lnTo>
                  <a:pt x="12356" y="393554"/>
                </a:lnTo>
                <a:lnTo>
                  <a:pt x="4118" y="438824"/>
                </a:lnTo>
                <a:lnTo>
                  <a:pt x="0" y="484545"/>
                </a:lnTo>
                <a:lnTo>
                  <a:pt x="0" y="530418"/>
                </a:lnTo>
                <a:lnTo>
                  <a:pt x="4118" y="576139"/>
                </a:lnTo>
                <a:lnTo>
                  <a:pt x="12356" y="621409"/>
                </a:lnTo>
                <a:lnTo>
                  <a:pt x="24712" y="665927"/>
                </a:lnTo>
                <a:lnTo>
                  <a:pt x="41187" y="709391"/>
                </a:lnTo>
                <a:lnTo>
                  <a:pt x="61781" y="751500"/>
                </a:lnTo>
                <a:lnTo>
                  <a:pt x="86493" y="791953"/>
                </a:lnTo>
                <a:lnTo>
                  <a:pt x="115325" y="830450"/>
                </a:lnTo>
                <a:lnTo>
                  <a:pt x="148275" y="866688"/>
                </a:lnTo>
                <a:lnTo>
                  <a:pt x="184513" y="899638"/>
                </a:lnTo>
                <a:lnTo>
                  <a:pt x="223010" y="928470"/>
                </a:lnTo>
                <a:lnTo>
                  <a:pt x="263464" y="953182"/>
                </a:lnTo>
                <a:lnTo>
                  <a:pt x="305573" y="973776"/>
                </a:lnTo>
                <a:lnTo>
                  <a:pt x="349038" y="990251"/>
                </a:lnTo>
                <a:lnTo>
                  <a:pt x="393556" y="1002607"/>
                </a:lnTo>
                <a:lnTo>
                  <a:pt x="438826" y="1010845"/>
                </a:lnTo>
                <a:lnTo>
                  <a:pt x="484549" y="1014963"/>
                </a:lnTo>
                <a:lnTo>
                  <a:pt x="530422" y="1014963"/>
                </a:lnTo>
                <a:lnTo>
                  <a:pt x="576144" y="1010845"/>
                </a:lnTo>
                <a:lnTo>
                  <a:pt x="621414" y="1002607"/>
                </a:lnTo>
                <a:lnTo>
                  <a:pt x="665932" y="990251"/>
                </a:lnTo>
                <a:lnTo>
                  <a:pt x="709397" y="973776"/>
                </a:lnTo>
                <a:lnTo>
                  <a:pt x="751506" y="953182"/>
                </a:lnTo>
                <a:lnTo>
                  <a:pt x="791960" y="928470"/>
                </a:lnTo>
                <a:lnTo>
                  <a:pt x="830456" y="899638"/>
                </a:lnTo>
                <a:lnTo>
                  <a:pt x="866695" y="866688"/>
                </a:lnTo>
                <a:lnTo>
                  <a:pt x="899645" y="830450"/>
                </a:lnTo>
                <a:lnTo>
                  <a:pt x="928477" y="791953"/>
                </a:lnTo>
                <a:lnTo>
                  <a:pt x="953190" y="751500"/>
                </a:lnTo>
                <a:lnTo>
                  <a:pt x="973784" y="709391"/>
                </a:lnTo>
                <a:lnTo>
                  <a:pt x="990260" y="665927"/>
                </a:lnTo>
                <a:lnTo>
                  <a:pt x="1002616" y="621409"/>
                </a:lnTo>
                <a:lnTo>
                  <a:pt x="1010854" y="576139"/>
                </a:lnTo>
                <a:lnTo>
                  <a:pt x="1014973" y="530418"/>
                </a:lnTo>
                <a:lnTo>
                  <a:pt x="1014973" y="484545"/>
                </a:lnTo>
                <a:lnTo>
                  <a:pt x="1010854" y="438824"/>
                </a:lnTo>
                <a:lnTo>
                  <a:pt x="1002616" y="393554"/>
                </a:lnTo>
                <a:lnTo>
                  <a:pt x="990260" y="349036"/>
                </a:lnTo>
                <a:lnTo>
                  <a:pt x="973784" y="305572"/>
                </a:lnTo>
                <a:lnTo>
                  <a:pt x="953190" y="263463"/>
                </a:lnTo>
                <a:lnTo>
                  <a:pt x="928477" y="223010"/>
                </a:lnTo>
                <a:lnTo>
                  <a:pt x="899645" y="184513"/>
                </a:lnTo>
                <a:lnTo>
                  <a:pt x="866695" y="148275"/>
                </a:lnTo>
                <a:lnTo>
                  <a:pt x="830456" y="115325"/>
                </a:lnTo>
                <a:lnTo>
                  <a:pt x="791960" y="86493"/>
                </a:lnTo>
                <a:lnTo>
                  <a:pt x="751506" y="61781"/>
                </a:lnTo>
                <a:lnTo>
                  <a:pt x="709397" y="41187"/>
                </a:lnTo>
                <a:lnTo>
                  <a:pt x="665932" y="24712"/>
                </a:lnTo>
                <a:lnTo>
                  <a:pt x="621414" y="12356"/>
                </a:lnTo>
                <a:lnTo>
                  <a:pt x="576144" y="4118"/>
                </a:lnTo>
                <a:lnTo>
                  <a:pt x="530422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56423" y="4123301"/>
            <a:ext cx="176808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9918" y="5411051"/>
            <a:ext cx="7476827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  <a:tabLst>
                <a:tab pos="6784089" algn="l"/>
              </a:tabLst>
            </a:pPr>
            <a:r>
              <a:rPr sz="2200" dirty="0">
                <a:latin typeface="Arial"/>
                <a:cs typeface="Arial"/>
              </a:rPr>
              <a:t>In </a:t>
            </a:r>
            <a:r>
              <a:rPr sz="2200" spc="-7" dirty="0">
                <a:latin typeface="Arial"/>
                <a:cs typeface="Arial"/>
              </a:rPr>
              <a:t>future </a:t>
            </a: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7" dirty="0">
                <a:latin typeface="Arial"/>
                <a:cs typeface="Arial"/>
              </a:rPr>
              <a:t>requests </a:t>
            </a:r>
            <a:r>
              <a:rPr sz="2200" dirty="0">
                <a:latin typeface="Arial"/>
                <a:cs typeface="Arial"/>
              </a:rPr>
              <a:t>to the site, the </a:t>
            </a:r>
            <a:r>
              <a:rPr sz="2200" spc="11" dirty="0">
                <a:latin typeface="Arial"/>
                <a:cs typeface="Arial"/>
              </a:rPr>
              <a:t>browser  </a:t>
            </a:r>
            <a:r>
              <a:rPr sz="2200" spc="7" dirty="0">
                <a:latin typeface="Arial"/>
                <a:cs typeface="Arial"/>
              </a:rPr>
              <a:t>automatically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issues</a:t>
            </a:r>
            <a:r>
              <a:rPr sz="2200" dirty="0">
                <a:latin typeface="Arial"/>
                <a:cs typeface="Arial"/>
              </a:rPr>
              <a:t> the sto</a:t>
            </a:r>
            <a:r>
              <a:rPr sz="2200" spc="-42" dirty="0">
                <a:latin typeface="Arial"/>
                <a:cs typeface="Arial"/>
              </a:rPr>
              <a:t>r</a:t>
            </a:r>
            <a:r>
              <a:rPr sz="2200" spc="60" dirty="0">
                <a:latin typeface="Arial"/>
                <a:cs typeface="Arial"/>
              </a:rPr>
              <a:t>ed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4" dirty="0" smtClean="0">
                <a:latin typeface="Arial"/>
                <a:cs typeface="Arial"/>
              </a:rPr>
              <a:t>use</a:t>
            </a:r>
            <a:r>
              <a:rPr sz="2200" spc="35" dirty="0" smtClean="0">
                <a:latin typeface="Arial"/>
                <a:cs typeface="Arial"/>
              </a:rPr>
              <a:t>r</a:t>
            </a:r>
            <a:r>
              <a:rPr sz="2200" spc="11" dirty="0" smtClean="0">
                <a:latin typeface="Arial"/>
                <a:cs typeface="Arial"/>
              </a:rPr>
              <a:t>name/passwo</a:t>
            </a:r>
            <a:r>
              <a:rPr sz="2200" spc="-39" dirty="0" smtClean="0">
                <a:latin typeface="Arial"/>
                <a:cs typeface="Arial"/>
              </a:rPr>
              <a:t>r</a:t>
            </a:r>
            <a:r>
              <a:rPr sz="2200" spc="123" dirty="0" smtClean="0">
                <a:latin typeface="Arial"/>
                <a:cs typeface="Arial"/>
              </a:rPr>
              <a:t>d</a:t>
            </a:r>
            <a:r>
              <a:rPr lang="en-US" sz="2200" spc="123" dirty="0" smtClean="0">
                <a:latin typeface="Arial"/>
                <a:cs typeface="Arial"/>
              </a:rPr>
              <a:t> </a:t>
            </a:r>
            <a:r>
              <a:rPr sz="2200" spc="-4" dirty="0" smtClean="0">
                <a:latin typeface="Arial"/>
                <a:cs typeface="Arial"/>
              </a:rPr>
              <a:t>when  </a:t>
            </a:r>
            <a:r>
              <a:rPr sz="2200" spc="25" dirty="0">
                <a:latin typeface="Arial"/>
                <a:cs typeface="Arial"/>
              </a:rPr>
              <a:t>asked </a:t>
            </a:r>
            <a:r>
              <a:rPr sz="2200" spc="-4" dirty="0">
                <a:latin typeface="Arial"/>
                <a:cs typeface="Arial"/>
              </a:rPr>
              <a:t>(or even without</a:t>
            </a:r>
            <a:r>
              <a:rPr sz="2200" spc="-21" dirty="0">
                <a:latin typeface="Arial"/>
                <a:cs typeface="Arial"/>
              </a:rPr>
              <a:t> </a:t>
            </a:r>
            <a:r>
              <a:rPr sz="2200" spc="32" dirty="0">
                <a:latin typeface="Arial"/>
                <a:cs typeface="Arial"/>
              </a:rPr>
              <a:t>triggering)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230314" y="2007620"/>
            <a:ext cx="620321" cy="4441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00330" y="2930246"/>
            <a:ext cx="2143669" cy="7510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27664" y="2937867"/>
            <a:ext cx="2116336" cy="6965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27664" y="2937867"/>
            <a:ext cx="2116336" cy="696516"/>
          </a:xfrm>
          <a:custGeom>
            <a:avLst/>
            <a:gdLst/>
            <a:ahLst/>
            <a:cxnLst/>
            <a:rect l="l" t="t" r="r" b="b"/>
            <a:pathLst>
              <a:path w="3009900" h="990600">
                <a:moveTo>
                  <a:pt x="0" y="0"/>
                </a:moveTo>
                <a:lnTo>
                  <a:pt x="3009900" y="0"/>
                </a:lnTo>
                <a:lnTo>
                  <a:pt x="30099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053908" y="2967369"/>
            <a:ext cx="2090092" cy="62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ct val="101200"/>
              </a:lnSpc>
            </a:pPr>
            <a:r>
              <a:rPr sz="2000" spc="-7" dirty="0">
                <a:solidFill>
                  <a:srgbClr val="FFFFFF"/>
                </a:solidFill>
                <a:latin typeface="Arial"/>
                <a:cs typeface="Arial"/>
              </a:rPr>
              <a:t>Browser</a:t>
            </a:r>
            <a:r>
              <a:rPr sz="2000" spc="-4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7" dirty="0">
                <a:solidFill>
                  <a:srgbClr val="FFFFFF"/>
                </a:solidFill>
                <a:latin typeface="Arial"/>
                <a:cs typeface="Arial"/>
              </a:rPr>
              <a:t>presents  </a:t>
            </a:r>
            <a:r>
              <a:rPr sz="2000" spc="21" dirty="0">
                <a:solidFill>
                  <a:srgbClr val="FFFFFF"/>
                </a:solidFill>
                <a:latin typeface="Arial"/>
                <a:cs typeface="Arial"/>
              </a:rPr>
              <a:t>login</a:t>
            </a:r>
            <a:r>
              <a:rPr sz="2000" spc="-6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1" dirty="0">
                <a:solidFill>
                  <a:srgbClr val="FFFFFF"/>
                </a:solidFill>
                <a:latin typeface="Arial"/>
                <a:cs typeface="Arial"/>
              </a:rPr>
              <a:t>screen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219492" y="4914937"/>
            <a:ext cx="2168780" cy="4608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50656" y="4920258"/>
            <a:ext cx="2107406" cy="41076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250656" y="4920258"/>
            <a:ext cx="2107406" cy="343392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35271" rIns="0" bIns="0" rtlCol="0">
            <a:spAutoFit/>
          </a:bodyPr>
          <a:lstStyle/>
          <a:p>
            <a:pPr marL="31253">
              <a:spcBef>
                <a:spcPts val="278"/>
              </a:spcBef>
            </a:pPr>
            <a:r>
              <a:rPr sz="2000" spc="14" dirty="0">
                <a:solidFill>
                  <a:srgbClr val="FFFFFF"/>
                </a:solidFill>
                <a:latin typeface="Arial"/>
                <a:cs typeface="Arial"/>
              </a:rPr>
              <a:t>base-64</a:t>
            </a:r>
            <a:r>
              <a:rPr sz="2000" spc="-4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39" dirty="0">
                <a:solidFill>
                  <a:srgbClr val="FFFFFF"/>
                </a:solidFill>
                <a:latin typeface="Arial"/>
                <a:cs typeface="Arial"/>
              </a:rPr>
              <a:t>encoding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213160" y="2224546"/>
            <a:ext cx="767953" cy="7679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40314" y="2233833"/>
            <a:ext cx="713619" cy="71365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40314" y="2233833"/>
            <a:ext cx="713929" cy="713929"/>
          </a:xfrm>
          <a:custGeom>
            <a:avLst/>
            <a:gdLst/>
            <a:ahLst/>
            <a:cxnLst/>
            <a:rect l="l" t="t" r="r" b="b"/>
            <a:pathLst>
              <a:path w="1015365" h="1015364">
                <a:moveTo>
                  <a:pt x="530418" y="0"/>
                </a:moveTo>
                <a:lnTo>
                  <a:pt x="484545" y="0"/>
                </a:lnTo>
                <a:lnTo>
                  <a:pt x="438824" y="4119"/>
                </a:lnTo>
                <a:lnTo>
                  <a:pt x="393554" y="12357"/>
                </a:lnTo>
                <a:lnTo>
                  <a:pt x="349036" y="24714"/>
                </a:lnTo>
                <a:lnTo>
                  <a:pt x="305572" y="41190"/>
                </a:lnTo>
                <a:lnTo>
                  <a:pt x="263463" y="61785"/>
                </a:lnTo>
                <a:lnTo>
                  <a:pt x="223010" y="86499"/>
                </a:lnTo>
                <a:lnTo>
                  <a:pt x="184513" y="115332"/>
                </a:lnTo>
                <a:lnTo>
                  <a:pt x="148275" y="148284"/>
                </a:lnTo>
                <a:lnTo>
                  <a:pt x="115325" y="184523"/>
                </a:lnTo>
                <a:lnTo>
                  <a:pt x="86493" y="223019"/>
                </a:lnTo>
                <a:lnTo>
                  <a:pt x="61781" y="263473"/>
                </a:lnTo>
                <a:lnTo>
                  <a:pt x="41187" y="305582"/>
                </a:lnTo>
                <a:lnTo>
                  <a:pt x="24712" y="349046"/>
                </a:lnTo>
                <a:lnTo>
                  <a:pt x="12356" y="393563"/>
                </a:lnTo>
                <a:lnTo>
                  <a:pt x="4118" y="438833"/>
                </a:lnTo>
                <a:lnTo>
                  <a:pt x="0" y="484555"/>
                </a:lnTo>
                <a:lnTo>
                  <a:pt x="0" y="530427"/>
                </a:lnTo>
                <a:lnTo>
                  <a:pt x="4118" y="576149"/>
                </a:lnTo>
                <a:lnTo>
                  <a:pt x="12356" y="621419"/>
                </a:lnTo>
                <a:lnTo>
                  <a:pt x="24712" y="665936"/>
                </a:lnTo>
                <a:lnTo>
                  <a:pt x="41187" y="709400"/>
                </a:lnTo>
                <a:lnTo>
                  <a:pt x="61781" y="751509"/>
                </a:lnTo>
                <a:lnTo>
                  <a:pt x="86493" y="791963"/>
                </a:lnTo>
                <a:lnTo>
                  <a:pt x="115325" y="830459"/>
                </a:lnTo>
                <a:lnTo>
                  <a:pt x="148275" y="866698"/>
                </a:lnTo>
                <a:lnTo>
                  <a:pt x="184513" y="899648"/>
                </a:lnTo>
                <a:lnTo>
                  <a:pt x="223010" y="928479"/>
                </a:lnTo>
                <a:lnTo>
                  <a:pt x="263463" y="953192"/>
                </a:lnTo>
                <a:lnTo>
                  <a:pt x="305572" y="973785"/>
                </a:lnTo>
                <a:lnTo>
                  <a:pt x="349036" y="990260"/>
                </a:lnTo>
                <a:lnTo>
                  <a:pt x="393554" y="1002617"/>
                </a:lnTo>
                <a:lnTo>
                  <a:pt x="438824" y="1010854"/>
                </a:lnTo>
                <a:lnTo>
                  <a:pt x="484545" y="1014973"/>
                </a:lnTo>
                <a:lnTo>
                  <a:pt x="530418" y="1014973"/>
                </a:lnTo>
                <a:lnTo>
                  <a:pt x="576139" y="1010854"/>
                </a:lnTo>
                <a:lnTo>
                  <a:pt x="621409" y="1002617"/>
                </a:lnTo>
                <a:lnTo>
                  <a:pt x="665927" y="990260"/>
                </a:lnTo>
                <a:lnTo>
                  <a:pt x="709391" y="973785"/>
                </a:lnTo>
                <a:lnTo>
                  <a:pt x="751500" y="953192"/>
                </a:lnTo>
                <a:lnTo>
                  <a:pt x="791953" y="928479"/>
                </a:lnTo>
                <a:lnTo>
                  <a:pt x="830450" y="899648"/>
                </a:lnTo>
                <a:lnTo>
                  <a:pt x="866688" y="866698"/>
                </a:lnTo>
                <a:lnTo>
                  <a:pt x="899630" y="830459"/>
                </a:lnTo>
                <a:lnTo>
                  <a:pt x="928454" y="791963"/>
                </a:lnTo>
                <a:lnTo>
                  <a:pt x="953160" y="751509"/>
                </a:lnTo>
                <a:lnTo>
                  <a:pt x="973748" y="709400"/>
                </a:lnTo>
                <a:lnTo>
                  <a:pt x="990219" y="665936"/>
                </a:lnTo>
                <a:lnTo>
                  <a:pt x="1002572" y="621419"/>
                </a:lnTo>
                <a:lnTo>
                  <a:pt x="1010808" y="576149"/>
                </a:lnTo>
                <a:lnTo>
                  <a:pt x="1014925" y="530427"/>
                </a:lnTo>
                <a:lnTo>
                  <a:pt x="1014925" y="484555"/>
                </a:lnTo>
                <a:lnTo>
                  <a:pt x="1010808" y="438833"/>
                </a:lnTo>
                <a:lnTo>
                  <a:pt x="1002572" y="393563"/>
                </a:lnTo>
                <a:lnTo>
                  <a:pt x="990219" y="349046"/>
                </a:lnTo>
                <a:lnTo>
                  <a:pt x="973748" y="305582"/>
                </a:lnTo>
                <a:lnTo>
                  <a:pt x="953160" y="263473"/>
                </a:lnTo>
                <a:lnTo>
                  <a:pt x="928454" y="223019"/>
                </a:lnTo>
                <a:lnTo>
                  <a:pt x="899630" y="184523"/>
                </a:lnTo>
                <a:lnTo>
                  <a:pt x="866688" y="148284"/>
                </a:lnTo>
                <a:lnTo>
                  <a:pt x="830450" y="115332"/>
                </a:lnTo>
                <a:lnTo>
                  <a:pt x="791953" y="86499"/>
                </a:lnTo>
                <a:lnTo>
                  <a:pt x="751500" y="61785"/>
                </a:lnTo>
                <a:lnTo>
                  <a:pt x="709391" y="41190"/>
                </a:lnTo>
                <a:lnTo>
                  <a:pt x="665927" y="24714"/>
                </a:lnTo>
                <a:lnTo>
                  <a:pt x="621409" y="12357"/>
                </a:lnTo>
                <a:lnTo>
                  <a:pt x="576139" y="4119"/>
                </a:lnTo>
                <a:lnTo>
                  <a:pt x="530418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508750" y="2411649"/>
            <a:ext cx="176808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25923" y="3001338"/>
            <a:ext cx="5154385" cy="50470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53765" y="3009305"/>
            <a:ext cx="5098852" cy="4554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553765" y="3009305"/>
            <a:ext cx="5098852" cy="340687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32592" rIns="0" bIns="0" rtlCol="0">
            <a:spAutoFit/>
          </a:bodyPr>
          <a:lstStyle/>
          <a:p>
            <a:pPr marL="34378">
              <a:spcBef>
                <a:spcPts val="257"/>
              </a:spcBef>
            </a:pPr>
            <a:r>
              <a:rPr sz="2000" spc="11" dirty="0">
                <a:solidFill>
                  <a:srgbClr val="FFFFFF"/>
                </a:solidFill>
                <a:latin typeface="Arial"/>
                <a:cs typeface="Arial"/>
              </a:rPr>
              <a:t>security </a:t>
            </a:r>
            <a:r>
              <a:rPr sz="2000" spc="-11" dirty="0">
                <a:solidFill>
                  <a:srgbClr val="FFFFFF"/>
                </a:solidFill>
                <a:latin typeface="Arial"/>
                <a:cs typeface="Arial"/>
              </a:rPr>
              <a:t>realm </a:t>
            </a:r>
            <a:r>
              <a:rPr sz="2000" spc="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000" spc="7" dirty="0">
                <a:solidFill>
                  <a:srgbClr val="FFFFFF"/>
                </a:solidFill>
                <a:latin typeface="Arial"/>
                <a:cs typeface="Arial"/>
              </a:rPr>
              <a:t>authentication</a:t>
            </a:r>
            <a:r>
              <a:rPr sz="2000" spc="-4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1" dirty="0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32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539" y="402535"/>
            <a:ext cx="760214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589874" algn="l"/>
                <a:tab pos="2894009" algn="l"/>
              </a:tabLst>
            </a:pPr>
            <a:r>
              <a:rPr dirty="0"/>
              <a:t>HTTP	</a:t>
            </a:r>
            <a:r>
              <a:rPr spc="-4" dirty="0"/>
              <a:t>basic	authentication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61609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8" y="1582698"/>
            <a:ext cx="7261622" cy="690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  <a:tabLst>
                <a:tab pos="5442005" algn="l"/>
              </a:tabLst>
            </a:pPr>
            <a:r>
              <a:rPr sz="2200" spc="4" dirty="0">
                <a:latin typeface="Arial"/>
                <a:cs typeface="Arial"/>
              </a:rPr>
              <a:t>Username </a:t>
            </a:r>
            <a:r>
              <a:rPr sz="2200" spc="39" dirty="0">
                <a:latin typeface="Arial"/>
                <a:cs typeface="Arial"/>
              </a:rPr>
              <a:t>and </a:t>
            </a:r>
            <a:r>
              <a:rPr sz="2200" spc="25" dirty="0">
                <a:latin typeface="Arial"/>
                <a:cs typeface="Arial"/>
              </a:rPr>
              <a:t>password </a:t>
            </a:r>
            <a:r>
              <a:rPr sz="2200" spc="-18" dirty="0">
                <a:latin typeface="Arial"/>
                <a:cs typeface="Arial"/>
              </a:rPr>
              <a:t>are </a:t>
            </a:r>
            <a:r>
              <a:rPr sz="2200" spc="18" dirty="0">
                <a:latin typeface="Arial"/>
                <a:cs typeface="Arial"/>
              </a:rPr>
              <a:t>joined </a:t>
            </a:r>
            <a:r>
              <a:rPr sz="2200" spc="14" dirty="0">
                <a:latin typeface="Arial"/>
                <a:cs typeface="Arial"/>
              </a:rPr>
              <a:t>together </a:t>
            </a:r>
            <a:r>
              <a:rPr sz="2200" spc="60" dirty="0">
                <a:latin typeface="Arial"/>
                <a:cs typeface="Arial"/>
              </a:rPr>
              <a:t>by </a:t>
            </a:r>
            <a:r>
              <a:rPr sz="2200" spc="-4" dirty="0">
                <a:latin typeface="Arial"/>
                <a:cs typeface="Arial"/>
              </a:rPr>
              <a:t>a </a:t>
            </a:r>
            <a:r>
              <a:rPr sz="2200" spc="25" dirty="0">
                <a:latin typeface="Arial"/>
                <a:cs typeface="Arial"/>
              </a:rPr>
              <a:t>colon  </a:t>
            </a:r>
            <a:r>
              <a:rPr sz="2200" spc="39" dirty="0">
                <a:latin typeface="Arial"/>
                <a:cs typeface="Arial"/>
              </a:rPr>
              <a:t>and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21" dirty="0">
                <a:latin typeface="Arial"/>
                <a:cs typeface="Arial"/>
              </a:rPr>
              <a:t>conve</a:t>
            </a:r>
            <a:r>
              <a:rPr sz="2200" spc="49" dirty="0">
                <a:latin typeface="Arial"/>
                <a:cs typeface="Arial"/>
              </a:rPr>
              <a:t>r</a:t>
            </a:r>
            <a:r>
              <a:rPr sz="2200" spc="39" dirty="0">
                <a:latin typeface="Arial"/>
                <a:cs typeface="Arial"/>
              </a:rPr>
              <a:t>ted</a:t>
            </a:r>
            <a:r>
              <a:rPr sz="2200" dirty="0">
                <a:latin typeface="Arial"/>
                <a:cs typeface="Arial"/>
              </a:rPr>
              <a:t> to </a:t>
            </a:r>
            <a:r>
              <a:rPr sz="2200" spc="14" dirty="0">
                <a:latin typeface="Arial"/>
                <a:cs typeface="Arial"/>
              </a:rPr>
              <a:t>base-64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46" dirty="0">
                <a:latin typeface="Arial"/>
                <a:cs typeface="Arial"/>
              </a:rPr>
              <a:t>encoding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(e.g.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dirty="0">
                <a:latin typeface="Courier New"/>
                <a:cs typeface="Courier New"/>
              </a:rPr>
              <a:t>john:mypw</a:t>
            </a:r>
            <a:r>
              <a:rPr sz="2200" spc="-4" dirty="0">
                <a:latin typeface="Courier New"/>
                <a:cs typeface="Courier New"/>
              </a:rPr>
              <a:t>d</a:t>
            </a:r>
            <a:r>
              <a:rPr sz="2200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2906569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647" y="2873171"/>
            <a:ext cx="7154466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4" dirty="0">
                <a:latin typeface="Arial"/>
                <a:cs typeface="Arial"/>
              </a:rPr>
              <a:t>Base-64 </a:t>
            </a:r>
            <a:r>
              <a:rPr sz="2200" spc="46" dirty="0">
                <a:latin typeface="Arial"/>
                <a:cs typeface="Arial"/>
              </a:rPr>
              <a:t>encoding </a:t>
            </a:r>
            <a:r>
              <a:rPr sz="2200" spc="-7" dirty="0">
                <a:latin typeface="Arial"/>
                <a:cs typeface="Arial"/>
              </a:rPr>
              <a:t>ensures </a:t>
            </a:r>
            <a:r>
              <a:rPr sz="2200" dirty="0">
                <a:latin typeface="Arial"/>
                <a:cs typeface="Arial"/>
              </a:rPr>
              <a:t>that </a:t>
            </a:r>
            <a:r>
              <a:rPr sz="2200" spc="-4" dirty="0">
                <a:latin typeface="Arial"/>
                <a:cs typeface="Arial"/>
              </a:rPr>
              <a:t>only </a:t>
            </a: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35" dirty="0">
                <a:latin typeface="Arial"/>
                <a:cs typeface="Arial"/>
              </a:rPr>
              <a:t>compatible  </a:t>
            </a:r>
            <a:r>
              <a:rPr sz="2200" spc="25" dirty="0">
                <a:latin typeface="Arial"/>
                <a:cs typeface="Arial"/>
              </a:rPr>
              <a:t>characters </a:t>
            </a:r>
            <a:r>
              <a:rPr sz="2200" spc="-18" dirty="0">
                <a:latin typeface="Arial"/>
                <a:cs typeface="Arial"/>
              </a:rPr>
              <a:t>are </a:t>
            </a:r>
            <a:r>
              <a:rPr sz="2200" spc="11" dirty="0">
                <a:latin typeface="Arial"/>
                <a:cs typeface="Arial"/>
              </a:rPr>
              <a:t>entered </a:t>
            </a:r>
            <a:r>
              <a:rPr sz="2200" spc="-4" dirty="0">
                <a:latin typeface="Arial"/>
                <a:cs typeface="Arial"/>
              </a:rPr>
              <a:t>into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14" dirty="0">
                <a:latin typeface="Arial"/>
                <a:cs typeface="Arial"/>
              </a:rPr>
              <a:t>message </a:t>
            </a:r>
            <a:r>
              <a:rPr sz="2200" dirty="0">
                <a:latin typeface="Arial"/>
                <a:cs typeface="Arial"/>
              </a:rPr>
              <a:t>(takes </a:t>
            </a:r>
            <a:r>
              <a:rPr sz="2200" spc="-4" dirty="0">
                <a:latin typeface="Arial"/>
                <a:cs typeface="Arial"/>
              </a:rPr>
              <a:t>as</a:t>
            </a:r>
            <a:r>
              <a:rPr sz="2200" spc="-18" dirty="0">
                <a:latin typeface="Arial"/>
                <a:cs typeface="Arial"/>
              </a:rPr>
              <a:t> </a:t>
            </a:r>
            <a:r>
              <a:rPr sz="2200" spc="21" dirty="0">
                <a:latin typeface="Arial"/>
                <a:cs typeface="Arial"/>
              </a:rPr>
              <a:t>input  </a:t>
            </a:r>
            <a:r>
              <a:rPr sz="2200" spc="-7" dirty="0">
                <a:latin typeface="Arial"/>
                <a:cs typeface="Arial"/>
              </a:rPr>
              <a:t>binary, </a:t>
            </a:r>
            <a:r>
              <a:rPr sz="2200" dirty="0">
                <a:latin typeface="Arial"/>
                <a:cs typeface="Arial"/>
              </a:rPr>
              <a:t>text </a:t>
            </a:r>
            <a:r>
              <a:rPr sz="2200" spc="39" dirty="0">
                <a:latin typeface="Arial"/>
                <a:cs typeface="Arial"/>
              </a:rPr>
              <a:t>and </a:t>
            </a:r>
            <a:r>
              <a:rPr sz="2200" dirty="0">
                <a:latin typeface="Arial"/>
                <a:cs typeface="Arial"/>
              </a:rPr>
              <a:t>international </a:t>
            </a:r>
            <a:r>
              <a:rPr sz="2200" spc="25" dirty="0">
                <a:latin typeface="Arial"/>
                <a:cs typeface="Arial"/>
              </a:rPr>
              <a:t>character </a:t>
            </a:r>
            <a:r>
              <a:rPr sz="2200" spc="28" dirty="0">
                <a:latin typeface="Arial"/>
                <a:cs typeface="Arial"/>
              </a:rPr>
              <a:t>data</a:t>
            </a:r>
            <a:r>
              <a:rPr sz="2200" spc="-32" dirty="0">
                <a:latin typeface="Arial"/>
                <a:cs typeface="Arial"/>
              </a:rPr>
              <a:t> </a:t>
            </a:r>
            <a:r>
              <a:rPr sz="2200" spc="14" dirty="0">
                <a:latin typeface="Arial"/>
                <a:cs typeface="Arial"/>
              </a:rPr>
              <a:t>strings)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6836" y="4271025"/>
            <a:ext cx="1754237" cy="1163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3023"/>
              </a:lnSpc>
            </a:pPr>
            <a:r>
              <a:rPr sz="2500" dirty="0">
                <a:latin typeface="Courier New"/>
                <a:cs typeface="Courier New"/>
              </a:rPr>
              <a:t>Normandië  Delft  España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1429" y="4271025"/>
            <a:ext cx="3104852" cy="1163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3023"/>
              </a:lnSpc>
            </a:pPr>
            <a:r>
              <a:rPr sz="2500" dirty="0">
                <a:latin typeface="Courier New"/>
                <a:cs typeface="Courier New"/>
              </a:rPr>
              <a:t>Tm9ybWFuZGnDqw==  RGVsZnQ=  RXNwYcOxYQ==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30291" y="3941240"/>
            <a:ext cx="2168780" cy="854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58000" y="3946922"/>
            <a:ext cx="2116336" cy="803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8000" y="3946922"/>
            <a:ext cx="2116336" cy="964121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31253" rIns="0" bIns="0" rtlCol="0">
            <a:spAutoFit/>
          </a:bodyPr>
          <a:lstStyle/>
          <a:p>
            <a:pPr marL="34378" marR="102688">
              <a:lnSpc>
                <a:spcPct val="101200"/>
              </a:lnSpc>
              <a:spcBef>
                <a:spcPts val="246"/>
              </a:spcBef>
            </a:pPr>
            <a:r>
              <a:rPr sz="2000" spc="18" dirty="0">
                <a:solidFill>
                  <a:srgbClr val="FFFFFF"/>
                </a:solidFill>
                <a:latin typeface="Arial"/>
                <a:cs typeface="Arial"/>
              </a:rPr>
              <a:t>images </a:t>
            </a:r>
            <a:r>
              <a:rPr sz="2000" spc="35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2000" spc="53" dirty="0">
                <a:solidFill>
                  <a:srgbClr val="FFFFFF"/>
                </a:solidFill>
                <a:latin typeface="Arial"/>
                <a:cs typeface="Arial"/>
              </a:rPr>
              <a:t>be  </a:t>
            </a:r>
            <a:r>
              <a:rPr sz="2000" spc="46" dirty="0">
                <a:solidFill>
                  <a:srgbClr val="FFFFFF"/>
                </a:solidFill>
                <a:latin typeface="Arial"/>
                <a:cs typeface="Arial"/>
              </a:rPr>
              <a:t>encoded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2000" spc="-10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FFFF"/>
                </a:solidFill>
                <a:latin typeface="Arial"/>
                <a:cs typeface="Arial"/>
              </a:rPr>
              <a:t>way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051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539" y="94759"/>
            <a:ext cx="821218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589874" algn="l"/>
                <a:tab pos="2894009" algn="l"/>
              </a:tabLst>
            </a:pPr>
            <a:r>
              <a:rPr dirty="0"/>
              <a:t>HTTP	</a:t>
            </a:r>
            <a:r>
              <a:rPr spc="-4" dirty="0"/>
              <a:t>basic	authentication:</a:t>
            </a:r>
            <a:r>
              <a:rPr spc="-478" dirty="0"/>
              <a:t> </a:t>
            </a:r>
            <a:r>
              <a:rPr spc="-14" dirty="0"/>
              <a:t>secure?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515" y="2033201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327" y="1999803"/>
            <a:ext cx="7259389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4" dirty="0">
                <a:latin typeface="Arial"/>
                <a:cs typeface="Arial"/>
              </a:rPr>
              <a:t>Username </a:t>
            </a:r>
            <a:r>
              <a:rPr sz="2200" spc="39" dirty="0">
                <a:latin typeface="Arial"/>
                <a:cs typeface="Arial"/>
              </a:rPr>
              <a:t>and </a:t>
            </a:r>
            <a:r>
              <a:rPr sz="2200" spc="25" dirty="0">
                <a:latin typeface="Arial"/>
                <a:cs typeface="Arial"/>
              </a:rPr>
              <a:t>password </a:t>
            </a:r>
            <a:r>
              <a:rPr sz="2200" spc="39" dirty="0">
                <a:latin typeface="Arial"/>
                <a:cs typeface="Arial"/>
              </a:rPr>
              <a:t>can </a:t>
            </a:r>
            <a:r>
              <a:rPr sz="2200" spc="60" dirty="0">
                <a:latin typeface="Arial"/>
                <a:cs typeface="Arial"/>
              </a:rPr>
              <a:t>be </a:t>
            </a:r>
            <a:r>
              <a:rPr sz="2200" b="1" spc="-4" dirty="0">
                <a:latin typeface="Arial"/>
                <a:cs typeface="Arial"/>
              </a:rPr>
              <a:t>decoded trivially</a:t>
            </a:r>
            <a:r>
              <a:rPr sz="2200" b="1" spc="-169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(sent  </a:t>
            </a:r>
            <a:r>
              <a:rPr sz="2200" spc="-4" dirty="0">
                <a:latin typeface="Arial"/>
                <a:cs typeface="Arial"/>
              </a:rPr>
              <a:t>over </a:t>
            </a:r>
            <a:r>
              <a:rPr sz="2200" dirty="0">
                <a:latin typeface="Arial"/>
                <a:cs typeface="Arial"/>
              </a:rPr>
              <a:t>the </a:t>
            </a:r>
            <a:r>
              <a:rPr sz="2200" spc="-4" dirty="0">
                <a:latin typeface="Arial"/>
                <a:cs typeface="Arial"/>
              </a:rPr>
              <a:t>network </a:t>
            </a:r>
            <a:r>
              <a:rPr sz="2200" spc="39" dirty="0">
                <a:latin typeface="Arial"/>
                <a:cs typeface="Arial"/>
              </a:rPr>
              <a:t>“in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53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clear”)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515" y="3319076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4327" y="3285687"/>
            <a:ext cx="7387084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algn="just">
              <a:lnSpc>
                <a:spcPts val="2672"/>
              </a:lnSpc>
            </a:pPr>
            <a:r>
              <a:rPr sz="2200" spc="-4" dirty="0">
                <a:latin typeface="Arial"/>
                <a:cs typeface="Arial"/>
              </a:rPr>
              <a:t>Users </a:t>
            </a:r>
            <a:r>
              <a:rPr sz="2200" spc="28" dirty="0">
                <a:latin typeface="Arial"/>
                <a:cs typeface="Arial"/>
              </a:rPr>
              <a:t>tend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b="1" dirty="0">
                <a:latin typeface="Arial"/>
                <a:cs typeface="Arial"/>
              </a:rPr>
              <a:t>reuse </a:t>
            </a:r>
            <a:r>
              <a:rPr sz="2200" spc="21" dirty="0">
                <a:latin typeface="Arial"/>
                <a:cs typeface="Arial"/>
              </a:rPr>
              <a:t>login/password </a:t>
            </a:r>
            <a:r>
              <a:rPr sz="2200" spc="18" dirty="0">
                <a:latin typeface="Arial"/>
                <a:cs typeface="Arial"/>
              </a:rPr>
              <a:t>combinations; </a:t>
            </a:r>
            <a:r>
              <a:rPr sz="2200" spc="-4" dirty="0">
                <a:latin typeface="Arial"/>
                <a:cs typeface="Arial"/>
              </a:rPr>
              <a:t>a non-  </a:t>
            </a:r>
            <a:r>
              <a:rPr sz="2200" spc="28" dirty="0">
                <a:latin typeface="Arial"/>
                <a:cs typeface="Arial"/>
              </a:rPr>
              <a:t>critical </a:t>
            </a:r>
            <a:r>
              <a:rPr sz="2200" spc="39" dirty="0">
                <a:latin typeface="Arial"/>
                <a:cs typeface="Arial"/>
              </a:rPr>
              <a:t>web </a:t>
            </a:r>
            <a:r>
              <a:rPr sz="2200" dirty="0">
                <a:latin typeface="Arial"/>
                <a:cs typeface="Arial"/>
              </a:rPr>
              <a:t>site may </a:t>
            </a:r>
            <a:r>
              <a:rPr sz="2200" spc="-4" dirty="0">
                <a:latin typeface="Arial"/>
                <a:cs typeface="Arial"/>
              </a:rPr>
              <a:t>use </a:t>
            </a:r>
            <a:r>
              <a:rPr sz="2200" spc="49" dirty="0">
                <a:latin typeface="Arial"/>
                <a:cs typeface="Arial"/>
              </a:rPr>
              <a:t>basic </a:t>
            </a:r>
            <a:r>
              <a:rPr sz="2200" spc="7" dirty="0">
                <a:latin typeface="Arial"/>
                <a:cs typeface="Arial"/>
              </a:rPr>
              <a:t>authentication </a:t>
            </a:r>
            <a:r>
              <a:rPr sz="2200" spc="-4" dirty="0">
                <a:latin typeface="Arial"/>
                <a:cs typeface="Arial"/>
              </a:rPr>
              <a:t>without</a:t>
            </a:r>
            <a:r>
              <a:rPr sz="2200" spc="-98" dirty="0">
                <a:latin typeface="Arial"/>
                <a:cs typeface="Arial"/>
              </a:rPr>
              <a:t> </a:t>
            </a:r>
            <a:r>
              <a:rPr sz="2200" spc="-84" dirty="0">
                <a:latin typeface="Arial"/>
                <a:cs typeface="Arial"/>
              </a:rPr>
              <a:t>SSL  </a:t>
            </a:r>
            <a:r>
              <a:rPr sz="2200" dirty="0">
                <a:latin typeface="Arial"/>
                <a:cs typeface="Arial"/>
              </a:rPr>
              <a:t>that </a:t>
            </a:r>
            <a:r>
              <a:rPr sz="2200" spc="-4" dirty="0">
                <a:latin typeface="Arial"/>
                <a:cs typeface="Arial"/>
              </a:rPr>
              <a:t>an </a:t>
            </a:r>
            <a:r>
              <a:rPr sz="2200" spc="28" dirty="0">
                <a:latin typeface="Arial"/>
                <a:cs typeface="Arial"/>
              </a:rPr>
              <a:t>opponent </a:t>
            </a:r>
            <a:r>
              <a:rPr sz="2200" spc="39" dirty="0">
                <a:latin typeface="Arial"/>
                <a:cs typeface="Arial"/>
              </a:rPr>
              <a:t>can </a:t>
            </a:r>
            <a:r>
              <a:rPr sz="2200" spc="28" dirty="0">
                <a:latin typeface="Arial"/>
                <a:cs typeface="Arial"/>
              </a:rPr>
              <a:t>capture </a:t>
            </a:r>
            <a:r>
              <a:rPr sz="2200" spc="39" dirty="0">
                <a:latin typeface="Arial"/>
                <a:cs typeface="Arial"/>
              </a:rPr>
              <a:t>and </a:t>
            </a:r>
            <a:r>
              <a:rPr sz="2200" spc="11" dirty="0">
                <a:latin typeface="Arial"/>
                <a:cs typeface="Arial"/>
              </a:rPr>
              <a:t>try </a:t>
            </a:r>
            <a:r>
              <a:rPr sz="2200" spc="-4" dirty="0">
                <a:latin typeface="Arial"/>
                <a:cs typeface="Arial"/>
              </a:rPr>
              <a:t>on </a:t>
            </a:r>
            <a:r>
              <a:rPr sz="2200" spc="28" dirty="0">
                <a:latin typeface="Arial"/>
                <a:cs typeface="Arial"/>
              </a:rPr>
              <a:t>critical</a:t>
            </a:r>
            <a:r>
              <a:rPr sz="2200" spc="-116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sites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515" y="4944287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327" y="4910890"/>
            <a:ext cx="6540550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672"/>
              </a:lnSpc>
            </a:pPr>
            <a:r>
              <a:rPr sz="2200" spc="-4" dirty="0">
                <a:latin typeface="Arial"/>
                <a:cs typeface="Arial"/>
              </a:rPr>
              <a:t>No </a:t>
            </a:r>
            <a:r>
              <a:rPr sz="2200" spc="18" dirty="0">
                <a:latin typeface="Arial"/>
                <a:cs typeface="Arial"/>
              </a:rPr>
              <a:t>protection </a:t>
            </a:r>
            <a:r>
              <a:rPr sz="2200" spc="14" dirty="0">
                <a:latin typeface="Arial"/>
                <a:cs typeface="Arial"/>
              </a:rPr>
              <a:t>against </a:t>
            </a:r>
            <a:r>
              <a:rPr sz="2200" b="1" spc="-4" dirty="0">
                <a:latin typeface="Arial"/>
                <a:cs typeface="Arial"/>
              </a:rPr>
              <a:t>counterfeit </a:t>
            </a:r>
            <a:r>
              <a:rPr sz="2200" b="1" dirty="0">
                <a:latin typeface="Arial"/>
                <a:cs typeface="Arial"/>
              </a:rPr>
              <a:t>servers </a:t>
            </a:r>
            <a:r>
              <a:rPr sz="2200" dirty="0">
                <a:latin typeface="Arial"/>
                <a:cs typeface="Arial"/>
              </a:rPr>
              <a:t>(that </a:t>
            </a:r>
            <a:r>
              <a:rPr sz="2200" spc="39" dirty="0">
                <a:latin typeface="Arial"/>
                <a:cs typeface="Arial"/>
              </a:rPr>
              <a:t>act  </a:t>
            </a:r>
            <a:r>
              <a:rPr sz="2200" spc="14" dirty="0">
                <a:latin typeface="Arial"/>
                <a:cs typeface="Arial"/>
              </a:rPr>
              <a:t>instead </a:t>
            </a:r>
            <a:r>
              <a:rPr sz="2200" dirty="0">
                <a:latin typeface="Arial"/>
                <a:cs typeface="Arial"/>
              </a:rPr>
              <a:t>of the </a:t>
            </a:r>
            <a:r>
              <a:rPr sz="2200" spc="14" dirty="0">
                <a:latin typeface="Arial"/>
                <a:cs typeface="Arial"/>
              </a:rPr>
              <a:t>original</a:t>
            </a:r>
            <a:r>
              <a:rPr sz="2200" spc="-28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server)</a:t>
            </a:r>
            <a:endParaRPr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515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862" y="4985250"/>
            <a:ext cx="8432276" cy="1647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3977" y="4991695"/>
            <a:ext cx="8376047" cy="15984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977" y="4991695"/>
            <a:ext cx="8376047" cy="1506631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29020" rIns="0" bIns="0" rtlCol="0">
            <a:spAutoFit/>
          </a:bodyPr>
          <a:lstStyle/>
          <a:p>
            <a:pPr marL="168319" marR="153138">
              <a:lnSpc>
                <a:spcPct val="100499"/>
              </a:lnSpc>
              <a:spcBef>
                <a:spcPts val="229"/>
              </a:spcBef>
            </a:pPr>
            <a:r>
              <a:rPr spc="42" dirty="0">
                <a:solidFill>
                  <a:srgbClr val="FFFFFF"/>
                </a:solidFill>
                <a:latin typeface="Arial"/>
                <a:cs typeface="Arial"/>
              </a:rPr>
              <a:t>“In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pc="42" dirty="0">
                <a:solidFill>
                  <a:srgbClr val="FFFFFF"/>
                </a:solidFill>
                <a:latin typeface="Arial"/>
                <a:cs typeface="Arial"/>
              </a:rPr>
              <a:t>wild”, </a:t>
            </a:r>
            <a:r>
              <a:rPr spc="53" dirty="0">
                <a:solidFill>
                  <a:srgbClr val="FFFFFF"/>
                </a:solidFill>
                <a:latin typeface="Arial"/>
                <a:cs typeface="Arial"/>
              </a:rPr>
              <a:t>basic </a:t>
            </a:r>
            <a:r>
              <a:rPr spc="7" dirty="0">
                <a:solidFill>
                  <a:srgbClr val="FFFFFF"/>
                </a:solidFill>
                <a:latin typeface="Arial"/>
                <a:cs typeface="Arial"/>
              </a:rPr>
              <a:t>authentication </a:t>
            </a:r>
            <a:r>
              <a:rPr spc="21" dirty="0">
                <a:solidFill>
                  <a:srgbClr val="FFFFFF"/>
                </a:solidFill>
                <a:latin typeface="Arial"/>
                <a:cs typeface="Arial"/>
              </a:rPr>
              <a:t>should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always </a:t>
            </a:r>
            <a:r>
              <a:rPr spc="63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pc="32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pc="-2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in  </a:t>
            </a:r>
            <a:r>
              <a:rPr spc="21" dirty="0">
                <a:solidFill>
                  <a:srgbClr val="FFFFFF"/>
                </a:solidFill>
                <a:latin typeface="Arial"/>
                <a:cs typeface="Arial"/>
              </a:rPr>
              <a:t>combination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b="1" spc="-4" dirty="0">
                <a:solidFill>
                  <a:srgbClr val="FFFFFF"/>
                </a:solidFill>
                <a:latin typeface="Arial"/>
                <a:cs typeface="Arial"/>
              </a:rPr>
              <a:t>secure HTTP (e.g. https)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— </a:t>
            </a:r>
            <a:r>
              <a:rPr spc="21" dirty="0">
                <a:solidFill>
                  <a:srgbClr val="FFFFFF"/>
                </a:solidFill>
                <a:latin typeface="Arial"/>
                <a:cs typeface="Arial"/>
              </a:rPr>
              <a:t>avoids  </a:t>
            </a:r>
            <a:r>
              <a:rPr spc="35" dirty="0">
                <a:solidFill>
                  <a:srgbClr val="FFFFFF"/>
                </a:solidFill>
                <a:latin typeface="Arial"/>
                <a:cs typeface="Arial"/>
              </a:rPr>
              <a:t>sending </a:t>
            </a:r>
            <a:r>
              <a:rPr spc="14" dirty="0">
                <a:solidFill>
                  <a:srgbClr val="FFFFFF"/>
                </a:solidFill>
                <a:latin typeface="Arial"/>
                <a:cs typeface="Arial"/>
              </a:rPr>
              <a:t>username/password </a:t>
            </a:r>
            <a:r>
              <a:rPr b="1" spc="-4" dirty="0">
                <a:solidFill>
                  <a:srgbClr val="FFFFFF"/>
                </a:solidFill>
                <a:latin typeface="Arial"/>
                <a:cs typeface="Arial"/>
              </a:rPr>
              <a:t>in the clear </a:t>
            </a:r>
            <a:r>
              <a:rPr spc="14" dirty="0">
                <a:solidFill>
                  <a:srgbClr val="FFFFFF"/>
                </a:solidFill>
                <a:latin typeface="Arial"/>
                <a:cs typeface="Arial"/>
              </a:rPr>
              <a:t>across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the  network.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5862" y="3415579"/>
            <a:ext cx="8432276" cy="1000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3977" y="3429000"/>
            <a:ext cx="8376047" cy="9465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3977" y="3429000"/>
            <a:ext cx="8376047" cy="1130086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21877" rIns="0" bIns="0" rtlCol="0">
            <a:spAutoFit/>
          </a:bodyPr>
          <a:lstStyle/>
          <a:p>
            <a:pPr marL="168319" marR="653630">
              <a:lnSpc>
                <a:spcPct val="100499"/>
              </a:lnSpc>
              <a:spcBef>
                <a:spcPts val="172"/>
              </a:spcBef>
            </a:pPr>
            <a:r>
              <a:rPr spc="25" dirty="0">
                <a:solidFill>
                  <a:srgbClr val="FFFFFF"/>
                </a:solidFill>
                <a:latin typeface="Arial"/>
                <a:cs typeface="Arial"/>
              </a:rPr>
              <a:t>Basic </a:t>
            </a:r>
            <a:r>
              <a:rPr spc="7" dirty="0">
                <a:solidFill>
                  <a:srgbClr val="FFFFFF"/>
                </a:solidFill>
                <a:latin typeface="Arial"/>
                <a:cs typeface="Arial"/>
              </a:rPr>
              <a:t>authentication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is useful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b="1" spc="-4" dirty="0">
                <a:solidFill>
                  <a:srgbClr val="FFFFFF"/>
                </a:solidFill>
                <a:latin typeface="Arial"/>
                <a:cs typeface="Arial"/>
              </a:rPr>
              <a:t>personalisation </a:t>
            </a:r>
            <a:r>
              <a:rPr spc="42" dirty="0">
                <a:solidFill>
                  <a:srgbClr val="FFFFFF"/>
                </a:solidFill>
                <a:latin typeface="Arial"/>
                <a:cs typeface="Arial"/>
              </a:rPr>
              <a:t>and  access </a:t>
            </a:r>
            <a:r>
              <a:rPr spc="11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within a </a:t>
            </a:r>
            <a:r>
              <a:rPr spc="39" dirty="0">
                <a:solidFill>
                  <a:srgbClr val="FFFFFF"/>
                </a:solidFill>
                <a:latin typeface="Arial"/>
                <a:cs typeface="Arial"/>
              </a:rPr>
              <a:t>“friendly” </a:t>
            </a:r>
            <a:r>
              <a:rPr spc="-7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r>
              <a:rPr spc="-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(intranet).</a:t>
            </a:r>
            <a:endParaRPr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5862" y="1845909"/>
            <a:ext cx="8432276" cy="10002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3977" y="1857375"/>
            <a:ext cx="8376047" cy="9465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3977" y="1857375"/>
            <a:ext cx="8376047" cy="764812"/>
          </a:xfrm>
          <a:prstGeom prst="rect">
            <a:avLst/>
          </a:prstGeom>
          <a:solidFill>
            <a:srgbClr val="009CFD"/>
          </a:solidFill>
        </p:spPr>
        <p:txBody>
          <a:bodyPr vert="horz" wrap="square" lIns="0" tIns="25895" rIns="0" bIns="0" rtlCol="0">
            <a:spAutoFit/>
          </a:bodyPr>
          <a:lstStyle/>
          <a:p>
            <a:pPr marL="168319">
              <a:spcBef>
                <a:spcPts val="204"/>
              </a:spcBef>
            </a:pPr>
            <a:r>
              <a:rPr spc="25" dirty="0">
                <a:solidFill>
                  <a:srgbClr val="FFFFFF"/>
                </a:solidFill>
                <a:latin typeface="Arial"/>
                <a:cs typeface="Arial"/>
              </a:rPr>
              <a:t>Basic </a:t>
            </a:r>
            <a:r>
              <a:rPr spc="7" dirty="0">
                <a:solidFill>
                  <a:srgbClr val="FFFFFF"/>
                </a:solidFill>
                <a:latin typeface="Arial"/>
                <a:cs typeface="Arial"/>
              </a:rPr>
              <a:t>authentication </a:t>
            </a:r>
            <a:r>
              <a:rPr spc="11" dirty="0">
                <a:solidFill>
                  <a:srgbClr val="FFFFFF"/>
                </a:solidFill>
                <a:latin typeface="Arial"/>
                <a:cs typeface="Arial"/>
              </a:rPr>
              <a:t>prevents </a:t>
            </a:r>
            <a:r>
              <a:rPr b="1" spc="-4" dirty="0">
                <a:solidFill>
                  <a:srgbClr val="FFFFFF"/>
                </a:solidFill>
                <a:latin typeface="Arial"/>
                <a:cs typeface="Arial"/>
              </a:rPr>
              <a:t>accidental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b="1" spc="-4" dirty="0">
                <a:solidFill>
                  <a:srgbClr val="FFFFFF"/>
                </a:solidFill>
                <a:latin typeface="Arial"/>
                <a:cs typeface="Arial"/>
              </a:rPr>
              <a:t>casual</a:t>
            </a:r>
            <a:r>
              <a:rPr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endParaRPr>
              <a:latin typeface="Arial"/>
              <a:cs typeface="Arial"/>
            </a:endParaRPr>
          </a:p>
          <a:p>
            <a:pPr marL="168319">
              <a:spcBef>
                <a:spcPts val="14"/>
              </a:spcBef>
            </a:pPr>
            <a:r>
              <a:rPr spc="63" dirty="0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spc="18" dirty="0">
                <a:solidFill>
                  <a:srgbClr val="FFFFFF"/>
                </a:solidFill>
                <a:latin typeface="Arial"/>
                <a:cs typeface="Arial"/>
              </a:rPr>
              <a:t>curious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users </a:t>
            </a:r>
            <a:r>
              <a:rPr spc="32" dirty="0">
                <a:solidFill>
                  <a:srgbClr val="FFFFFF"/>
                </a:solidFill>
                <a:latin typeface="Arial"/>
                <a:cs typeface="Arial"/>
              </a:rPr>
              <a:t>(privacy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pc="28" dirty="0">
                <a:solidFill>
                  <a:srgbClr val="FFFFFF"/>
                </a:solidFill>
                <a:latin typeface="Arial"/>
                <a:cs typeface="Arial"/>
              </a:rPr>
              <a:t>desired </a:t>
            </a:r>
            <a:r>
              <a:rPr spc="42" dirty="0">
                <a:solidFill>
                  <a:srgbClr val="FFFFFF"/>
                </a:solidFill>
                <a:latin typeface="Arial"/>
                <a:cs typeface="Arial"/>
              </a:rPr>
              <a:t>but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pc="-1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essential).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12539" y="402535"/>
            <a:ext cx="860286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589874" algn="l"/>
                <a:tab pos="2894009" algn="l"/>
              </a:tabLst>
            </a:pPr>
            <a:r>
              <a:rPr dirty="0"/>
              <a:t>HTTP	</a:t>
            </a:r>
            <a:r>
              <a:rPr spc="-4" dirty="0"/>
              <a:t>basic	authentication:</a:t>
            </a:r>
            <a:r>
              <a:rPr spc="-478" dirty="0"/>
              <a:t> </a:t>
            </a:r>
            <a:r>
              <a:rPr spc="-21" dirty="0"/>
              <a:t>overall</a:t>
            </a:r>
          </a:p>
        </p:txBody>
      </p:sp>
    </p:spTree>
    <p:extLst>
      <p:ext uri="{BB962C8B-B14F-4D97-AF65-F5344CB8AC3E}">
        <p14:creationId xmlns:p14="http://schemas.microsoft.com/office/powerpoint/2010/main" val="15219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755" y="2532515"/>
            <a:ext cx="3914775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600" spc="-21" dirty="0"/>
              <a:t>Secure</a:t>
            </a:r>
            <a:r>
              <a:rPr sz="5600" spc="-60" dirty="0"/>
              <a:t> </a:t>
            </a:r>
            <a:r>
              <a:rPr sz="5600" dirty="0"/>
              <a:t>HTTP</a:t>
            </a:r>
            <a:endParaRPr sz="5600"/>
          </a:p>
        </p:txBody>
      </p:sp>
    </p:spTree>
    <p:extLst>
      <p:ext uri="{BB962C8B-B14F-4D97-AF65-F5344CB8AC3E}">
        <p14:creationId xmlns:p14="http://schemas.microsoft.com/office/powerpoint/2010/main" val="345151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375" y="381000"/>
            <a:ext cx="7772400" cy="894625"/>
          </a:xfrm>
          <a:prstGeom prst="rect">
            <a:avLst/>
          </a:prstGeom>
        </p:spPr>
        <p:txBody>
          <a:bodyPr vert="horz" wrap="square" lIns="0" tIns="276373" rIns="0" bIns="0" rtlCol="0">
            <a:spAutoFit/>
          </a:bodyPr>
          <a:lstStyle/>
          <a:p>
            <a:pPr marL="8929"/>
            <a:r>
              <a:rPr spc="-18" dirty="0"/>
              <a:t>Secure</a:t>
            </a:r>
            <a:r>
              <a:rPr spc="-60" dirty="0"/>
              <a:t> </a:t>
            </a:r>
            <a:r>
              <a:rPr dirty="0"/>
              <a:t>HTTP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616094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8" y="1568411"/>
            <a:ext cx="417909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200" spc="-63" dirty="0">
                <a:latin typeface="Arial"/>
                <a:cs typeface="Arial"/>
              </a:rPr>
              <a:t>So </a:t>
            </a:r>
            <a:r>
              <a:rPr sz="2200" dirty="0">
                <a:latin typeface="Arial"/>
                <a:cs typeface="Arial"/>
              </a:rPr>
              <a:t>far: </a:t>
            </a:r>
            <a:r>
              <a:rPr sz="2200" spc="21" dirty="0">
                <a:latin typeface="Arial"/>
                <a:cs typeface="Arial"/>
              </a:rPr>
              <a:t>lightweight</a:t>
            </a:r>
            <a:r>
              <a:rPr sz="2200" spc="32" dirty="0">
                <a:latin typeface="Arial"/>
                <a:cs typeface="Arial"/>
              </a:rPr>
              <a:t> </a:t>
            </a:r>
            <a:r>
              <a:rPr sz="2200" spc="7" dirty="0">
                <a:latin typeface="Arial"/>
                <a:cs typeface="Arial"/>
              </a:rPr>
              <a:t>authentication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375" y="2089369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36" y="2901970"/>
            <a:ext cx="12501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700" spc="250" dirty="0"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9087" y="2055971"/>
            <a:ext cx="6233368" cy="11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86" marR="3572">
              <a:lnSpc>
                <a:spcPts val="2672"/>
              </a:lnSpc>
            </a:pPr>
            <a:r>
              <a:rPr sz="2200" spc="-4" dirty="0">
                <a:latin typeface="Arial"/>
                <a:cs typeface="Arial"/>
              </a:rPr>
              <a:t>Not useful </a:t>
            </a:r>
            <a:r>
              <a:rPr sz="2200" dirty="0">
                <a:latin typeface="Arial"/>
                <a:cs typeface="Arial"/>
              </a:rPr>
              <a:t>for </a:t>
            </a:r>
            <a:r>
              <a:rPr sz="2200" spc="28" dirty="0">
                <a:latin typeface="Arial"/>
                <a:cs typeface="Arial"/>
              </a:rPr>
              <a:t>purchasing, bank </a:t>
            </a:r>
            <a:r>
              <a:rPr sz="2200" spc="7" dirty="0">
                <a:latin typeface="Arial"/>
                <a:cs typeface="Arial"/>
              </a:rPr>
              <a:t>transactions</a:t>
            </a:r>
            <a:r>
              <a:rPr sz="2200" spc="-14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or  </a:t>
            </a:r>
            <a:r>
              <a:rPr sz="2200" spc="18" dirty="0">
                <a:latin typeface="Arial"/>
                <a:cs typeface="Arial"/>
              </a:rPr>
              <a:t>confidential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28" dirty="0">
                <a:latin typeface="Arial"/>
                <a:cs typeface="Arial"/>
              </a:rPr>
              <a:t>data</a:t>
            </a:r>
            <a:endParaRPr sz="2200">
              <a:latin typeface="Arial"/>
              <a:cs typeface="Arial"/>
            </a:endParaRPr>
          </a:p>
          <a:p>
            <a:pPr marL="8929">
              <a:spcBef>
                <a:spcPts val="942"/>
              </a:spcBef>
            </a:pPr>
            <a:r>
              <a:rPr sz="2200" spc="-11" dirty="0">
                <a:latin typeface="Arial"/>
                <a:cs typeface="Arial"/>
              </a:rPr>
              <a:t>Secure </a:t>
            </a:r>
            <a:r>
              <a:rPr sz="2200" spc="-95" dirty="0">
                <a:latin typeface="Arial"/>
                <a:cs typeface="Arial"/>
              </a:rPr>
              <a:t>HTTP </a:t>
            </a:r>
            <a:r>
              <a:rPr sz="2200" spc="18" dirty="0">
                <a:latin typeface="Arial"/>
                <a:cs typeface="Arial"/>
              </a:rPr>
              <a:t>should</a:t>
            </a:r>
            <a:r>
              <a:rPr sz="2200" spc="84" dirty="0">
                <a:latin typeface="Arial"/>
                <a:cs typeface="Arial"/>
              </a:rPr>
              <a:t> </a:t>
            </a:r>
            <a:r>
              <a:rPr sz="2200" spc="28" dirty="0">
                <a:latin typeface="Arial"/>
                <a:cs typeface="Arial"/>
              </a:rPr>
              <a:t>provide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1835" y="3423405"/>
            <a:ext cx="8408730" cy="31799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5414" y="3429000"/>
            <a:ext cx="8358188" cy="3125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5414" y="3429000"/>
            <a:ext cx="8358188" cy="3125391"/>
          </a:xfrm>
          <a:custGeom>
            <a:avLst/>
            <a:gdLst/>
            <a:ahLst/>
            <a:cxnLst/>
            <a:rect l="l" t="t" r="r" b="b"/>
            <a:pathLst>
              <a:path w="11887200" h="4445000">
                <a:moveTo>
                  <a:pt x="0" y="0"/>
                </a:moveTo>
                <a:lnTo>
                  <a:pt x="11887200" y="0"/>
                </a:lnTo>
                <a:lnTo>
                  <a:pt x="11887200" y="4445000"/>
                </a:lnTo>
                <a:lnTo>
                  <a:pt x="0" y="44450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9358" y="3458906"/>
            <a:ext cx="8194244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0396" marR="402268" indent="-421466">
              <a:lnSpc>
                <a:spcPct val="100499"/>
              </a:lnSpc>
              <a:buAutoNum type="alphaUcPeriod"/>
              <a:tabLst>
                <a:tab pos="430396" algn="l"/>
                <a:tab pos="430842" algn="l"/>
              </a:tabLst>
            </a:pPr>
            <a:r>
              <a:rPr spc="-25" dirty="0">
                <a:solidFill>
                  <a:srgbClr val="FFFFFF"/>
                </a:solidFill>
                <a:latin typeface="Arial"/>
                <a:cs typeface="Arial"/>
              </a:rPr>
              <a:t>Server </a:t>
            </a:r>
            <a:r>
              <a:rPr spc="7" dirty="0">
                <a:solidFill>
                  <a:srgbClr val="FFFFFF"/>
                </a:solidFill>
                <a:latin typeface="Arial"/>
                <a:cs typeface="Arial"/>
              </a:rPr>
              <a:t>authentication </a:t>
            </a:r>
            <a:r>
              <a:rPr spc="18" dirty="0">
                <a:solidFill>
                  <a:srgbClr val="FFFFFF"/>
                </a:solidFill>
                <a:latin typeface="Arial"/>
                <a:cs typeface="Arial"/>
              </a:rPr>
              <a:t>(client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pc="-14" dirty="0">
                <a:solidFill>
                  <a:srgbClr val="FFFFFF"/>
                </a:solidFill>
                <a:latin typeface="Arial"/>
                <a:cs typeface="Arial"/>
              </a:rPr>
              <a:t>sure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to talk to the </a:t>
            </a:r>
            <a:r>
              <a:rPr spc="25" dirty="0">
                <a:solidFill>
                  <a:srgbClr val="FFFFFF"/>
                </a:solidFill>
                <a:latin typeface="Arial"/>
                <a:cs typeface="Arial"/>
              </a:rPr>
              <a:t>right 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server)</a:t>
            </a:r>
            <a:endParaRPr dirty="0">
              <a:latin typeface="Arial"/>
              <a:cs typeface="Arial"/>
            </a:endParaRPr>
          </a:p>
          <a:p>
            <a:pPr marL="430396" marR="385749" indent="-421466">
              <a:lnSpc>
                <a:spcPct val="100499"/>
              </a:lnSpc>
              <a:buAutoNum type="alphaUcPeriod"/>
              <a:tabLst>
                <a:tab pos="430396" algn="l"/>
                <a:tab pos="430842" algn="l"/>
              </a:tabLst>
            </a:pP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Client </a:t>
            </a:r>
            <a:r>
              <a:rPr spc="7" dirty="0">
                <a:solidFill>
                  <a:srgbClr val="FFFFFF"/>
                </a:solidFill>
                <a:latin typeface="Arial"/>
                <a:cs typeface="Arial"/>
              </a:rPr>
              <a:t>authentication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(server is </a:t>
            </a:r>
            <a:r>
              <a:rPr spc="-14" dirty="0">
                <a:solidFill>
                  <a:srgbClr val="FFFFFF"/>
                </a:solidFill>
                <a:latin typeface="Arial"/>
                <a:cs typeface="Arial"/>
              </a:rPr>
              <a:t>sure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to talk to the </a:t>
            </a:r>
            <a:r>
              <a:rPr spc="25" dirty="0">
                <a:solidFill>
                  <a:srgbClr val="FFFFFF"/>
                </a:solidFill>
                <a:latin typeface="Arial"/>
                <a:cs typeface="Arial"/>
              </a:rPr>
              <a:t>right  </a:t>
            </a:r>
            <a:r>
              <a:rPr spc="18" dirty="0">
                <a:solidFill>
                  <a:srgbClr val="FFFFFF"/>
                </a:solidFill>
                <a:latin typeface="Arial"/>
                <a:cs typeface="Arial"/>
              </a:rPr>
              <a:t>client)</a:t>
            </a:r>
            <a:endParaRPr dirty="0">
              <a:latin typeface="Arial"/>
              <a:cs typeface="Arial"/>
            </a:endParaRPr>
          </a:p>
          <a:p>
            <a:pPr marL="430396" indent="-421466">
              <a:spcBef>
                <a:spcPts val="14"/>
              </a:spcBef>
              <a:buAutoNum type="alphaUcPeriod"/>
              <a:tabLst>
                <a:tab pos="430842" algn="l"/>
              </a:tabLst>
            </a:pPr>
            <a:r>
              <a:rPr spc="14" dirty="0">
                <a:solidFill>
                  <a:srgbClr val="FFFFFF"/>
                </a:solidFill>
                <a:latin typeface="Arial"/>
                <a:cs typeface="Arial"/>
              </a:rPr>
              <a:t>Integrity </a:t>
            </a:r>
            <a:r>
              <a:rPr spc="18" dirty="0">
                <a:solidFill>
                  <a:srgbClr val="FFFFFF"/>
                </a:solidFill>
                <a:latin typeface="Arial"/>
                <a:cs typeface="Arial"/>
              </a:rPr>
              <a:t>(client </a:t>
            </a:r>
            <a:r>
              <a:rPr spc="42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server </a:t>
            </a:r>
            <a:r>
              <a:rPr spc="-18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pc="-14" dirty="0">
                <a:solidFill>
                  <a:srgbClr val="FFFFFF"/>
                </a:solidFill>
                <a:latin typeface="Arial"/>
                <a:cs typeface="Arial"/>
              </a:rPr>
              <a:t>sure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spc="32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pc="-4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18" dirty="0">
                <a:solidFill>
                  <a:srgbClr val="FFFFFF"/>
                </a:solidFill>
                <a:latin typeface="Arial"/>
                <a:cs typeface="Arial"/>
              </a:rPr>
              <a:t>intact)</a:t>
            </a:r>
            <a:endParaRPr dirty="0">
              <a:latin typeface="Arial"/>
              <a:cs typeface="Arial"/>
            </a:endParaRPr>
          </a:p>
          <a:p>
            <a:pPr marL="430396" indent="-421466">
              <a:spcBef>
                <a:spcPts val="14"/>
              </a:spcBef>
              <a:buAutoNum type="alphaUcPeriod"/>
              <a:tabLst>
                <a:tab pos="430842" algn="l"/>
              </a:tabLst>
            </a:pPr>
            <a:r>
              <a:rPr spc="14" dirty="0">
                <a:solidFill>
                  <a:srgbClr val="FFFFFF"/>
                </a:solidFill>
                <a:latin typeface="Arial"/>
                <a:cs typeface="Arial"/>
              </a:rPr>
              <a:t>Encryption</a:t>
            </a:r>
            <a:endParaRPr dirty="0">
              <a:latin typeface="Arial"/>
              <a:cs typeface="Arial"/>
            </a:endParaRPr>
          </a:p>
          <a:p>
            <a:pPr marL="430396" indent="-421466">
              <a:spcBef>
                <a:spcPts val="14"/>
              </a:spcBef>
              <a:buAutoNum type="alphaUcPeriod"/>
              <a:tabLst>
                <a:tab pos="430396" algn="l"/>
                <a:tab pos="430842" algn="l"/>
              </a:tabLst>
            </a:pPr>
            <a:r>
              <a:rPr spc="7" dirty="0">
                <a:solidFill>
                  <a:srgbClr val="FFFFFF"/>
                </a:solidFill>
                <a:latin typeface="Arial"/>
                <a:cs typeface="Arial"/>
              </a:rPr>
              <a:t>Efficiency</a:t>
            </a:r>
            <a:endParaRPr dirty="0">
              <a:latin typeface="Arial"/>
              <a:cs typeface="Arial"/>
            </a:endParaRPr>
          </a:p>
          <a:p>
            <a:pPr marL="430396" indent="-421466">
              <a:spcBef>
                <a:spcPts val="14"/>
              </a:spcBef>
              <a:buAutoNum type="alphaUcPeriod"/>
              <a:tabLst>
                <a:tab pos="430396" algn="l"/>
                <a:tab pos="430842" algn="l"/>
              </a:tabLst>
            </a:pPr>
            <a:r>
              <a:rPr spc="32" dirty="0">
                <a:solidFill>
                  <a:srgbClr val="FFFFFF"/>
                </a:solidFill>
                <a:latin typeface="Arial"/>
                <a:cs typeface="Arial"/>
              </a:rPr>
              <a:t>Adaptability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(to the </a:t>
            </a:r>
            <a:r>
              <a:rPr spc="11" dirty="0">
                <a:solidFill>
                  <a:srgbClr val="FFFFFF"/>
                </a:solidFill>
                <a:latin typeface="Arial"/>
                <a:cs typeface="Arial"/>
              </a:rPr>
              <a:t>current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state of the </a:t>
            </a:r>
            <a:r>
              <a:rPr spc="14" dirty="0">
                <a:solidFill>
                  <a:srgbClr val="FFFFFF"/>
                </a:solidFill>
                <a:latin typeface="Arial"/>
                <a:cs typeface="Arial"/>
              </a:rPr>
              <a:t>art </a:t>
            </a:r>
            <a:r>
              <a:rPr spc="-4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srgbClr val="FFFFFF"/>
                </a:solidFill>
                <a:latin typeface="Arial"/>
                <a:cs typeface="Arial"/>
              </a:rPr>
              <a:t>encryption)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727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164" y="228600"/>
            <a:ext cx="7772400" cy="894625"/>
          </a:xfrm>
          <a:prstGeom prst="rect">
            <a:avLst/>
          </a:prstGeom>
        </p:spPr>
        <p:txBody>
          <a:bodyPr vert="horz" wrap="square" lIns="0" tIns="276373" rIns="0" bIns="0" rtlCol="0">
            <a:spAutoFit/>
          </a:bodyPr>
          <a:lstStyle/>
          <a:p>
            <a:pPr marL="8929"/>
            <a:r>
              <a:rPr spc="-18" dirty="0"/>
              <a:t>Secure </a:t>
            </a:r>
            <a:r>
              <a:rPr dirty="0"/>
              <a:t>HTTP:</a:t>
            </a:r>
            <a:r>
              <a:rPr spc="-503" dirty="0"/>
              <a:t> </a:t>
            </a:r>
            <a:r>
              <a:rPr dirty="0"/>
              <a:t>HTTPS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621943"/>
            <a:ext cx="13171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spc="267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836" y="2124453"/>
            <a:ext cx="13171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spc="267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647" y="1437337"/>
            <a:ext cx="8204409" cy="1011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ct val="137300"/>
              </a:lnSpc>
            </a:pPr>
            <a:r>
              <a:rPr spc="-109" dirty="0">
                <a:latin typeface="Arial"/>
                <a:cs typeface="Arial"/>
              </a:rPr>
              <a:t>HTTPS </a:t>
            </a:r>
            <a:r>
              <a:rPr spc="-4" dirty="0">
                <a:latin typeface="Arial"/>
                <a:cs typeface="Arial"/>
              </a:rPr>
              <a:t>is </a:t>
            </a:r>
            <a:r>
              <a:rPr dirty="0">
                <a:latin typeface="Arial"/>
                <a:cs typeface="Arial"/>
              </a:rPr>
              <a:t>the most </a:t>
            </a:r>
            <a:r>
              <a:rPr spc="35" dirty="0">
                <a:latin typeface="Arial"/>
                <a:cs typeface="Arial"/>
              </a:rPr>
              <a:t>popular </a:t>
            </a:r>
            <a:r>
              <a:rPr spc="14" dirty="0">
                <a:latin typeface="Arial"/>
                <a:cs typeface="Arial"/>
              </a:rPr>
              <a:t>secure </a:t>
            </a:r>
            <a:r>
              <a:rPr spc="11" dirty="0">
                <a:latin typeface="Arial"/>
                <a:cs typeface="Arial"/>
              </a:rPr>
              <a:t>form </a:t>
            </a:r>
            <a:r>
              <a:rPr dirty="0">
                <a:latin typeface="Arial"/>
                <a:cs typeface="Arial"/>
              </a:rPr>
              <a:t>of 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spc="-102" dirty="0" smtClean="0">
                <a:latin typeface="Arial"/>
                <a:cs typeface="Arial"/>
              </a:rPr>
              <a:t>HTTP  </a:t>
            </a:r>
            <a:r>
              <a:rPr spc="-46" dirty="0">
                <a:latin typeface="Arial"/>
                <a:cs typeface="Arial"/>
              </a:rPr>
              <a:t>URL </a:t>
            </a:r>
            <a:r>
              <a:rPr spc="21" dirty="0">
                <a:latin typeface="Arial"/>
                <a:cs typeface="Arial"/>
              </a:rPr>
              <a:t>scheme </a:t>
            </a:r>
            <a:r>
              <a:rPr spc="-4" dirty="0">
                <a:latin typeface="Arial"/>
                <a:cs typeface="Arial"/>
              </a:rPr>
              <a:t>is </a:t>
            </a:r>
            <a:r>
              <a:rPr dirty="0">
                <a:latin typeface="Courier New"/>
                <a:cs typeface="Courier New"/>
              </a:rPr>
              <a:t>https://</a:t>
            </a:r>
            <a:r>
              <a:rPr spc="-812" dirty="0">
                <a:latin typeface="Courier New"/>
                <a:cs typeface="Courier New"/>
              </a:rPr>
              <a:t> </a:t>
            </a:r>
            <a:r>
              <a:rPr spc="18" dirty="0">
                <a:latin typeface="Arial"/>
                <a:cs typeface="Arial"/>
              </a:rPr>
              <a:t>instead </a:t>
            </a:r>
            <a:r>
              <a:rPr dirty="0">
                <a:latin typeface="Arial"/>
                <a:cs typeface="Arial"/>
              </a:rPr>
              <a:t>of </a:t>
            </a:r>
            <a:r>
              <a:rPr dirty="0">
                <a:latin typeface="Courier New"/>
                <a:cs typeface="Courier New"/>
              </a:rPr>
              <a:t>http://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1836" y="3127025"/>
            <a:ext cx="13171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00" spc="267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648" y="3076492"/>
            <a:ext cx="6959352" cy="111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ct val="100499"/>
              </a:lnSpc>
            </a:pPr>
            <a:r>
              <a:rPr spc="-4" dirty="0">
                <a:latin typeface="Arial"/>
                <a:cs typeface="Arial"/>
              </a:rPr>
              <a:t>Request </a:t>
            </a:r>
            <a:r>
              <a:rPr spc="42" dirty="0">
                <a:latin typeface="Arial"/>
                <a:cs typeface="Arial"/>
              </a:rPr>
              <a:t>and </a:t>
            </a:r>
            <a:r>
              <a:rPr spc="11" dirty="0">
                <a:latin typeface="Arial"/>
                <a:cs typeface="Arial"/>
              </a:rPr>
              <a:t>response </a:t>
            </a:r>
            <a:r>
              <a:rPr spc="32" dirty="0">
                <a:latin typeface="Arial"/>
                <a:cs typeface="Arial"/>
              </a:rPr>
              <a:t>data </a:t>
            </a:r>
            <a:r>
              <a:rPr spc="-18" dirty="0">
                <a:latin typeface="Arial"/>
                <a:cs typeface="Arial"/>
              </a:rPr>
              <a:t>are </a:t>
            </a:r>
            <a:r>
              <a:rPr b="1" spc="-4" dirty="0">
                <a:latin typeface="Arial"/>
                <a:cs typeface="Arial"/>
              </a:rPr>
              <a:t>encrypted </a:t>
            </a:r>
            <a:r>
              <a:rPr spc="14" dirty="0">
                <a:latin typeface="Arial"/>
                <a:cs typeface="Arial"/>
              </a:rPr>
              <a:t>before  </a:t>
            </a:r>
            <a:r>
              <a:rPr spc="49" dirty="0">
                <a:latin typeface="Arial"/>
                <a:cs typeface="Arial"/>
              </a:rPr>
              <a:t>being </a:t>
            </a:r>
            <a:r>
              <a:rPr dirty="0">
                <a:latin typeface="Arial"/>
                <a:cs typeface="Arial"/>
              </a:rPr>
              <a:t>sent </a:t>
            </a:r>
            <a:r>
              <a:rPr spc="14" dirty="0">
                <a:latin typeface="Arial"/>
                <a:cs typeface="Arial"/>
              </a:rPr>
              <a:t>across </a:t>
            </a:r>
            <a:r>
              <a:rPr dirty="0">
                <a:latin typeface="Arial"/>
                <a:cs typeface="Arial"/>
              </a:rPr>
              <a:t>the </a:t>
            </a:r>
            <a:r>
              <a:rPr spc="-4" dirty="0">
                <a:latin typeface="Arial"/>
                <a:cs typeface="Arial"/>
              </a:rPr>
              <a:t>network </a:t>
            </a:r>
            <a:r>
              <a:rPr spc="-56" dirty="0">
                <a:latin typeface="Arial"/>
                <a:cs typeface="Arial"/>
              </a:rPr>
              <a:t>(SSL: </a:t>
            </a:r>
            <a:r>
              <a:rPr spc="-11" dirty="0">
                <a:latin typeface="Arial"/>
                <a:cs typeface="Arial"/>
              </a:rPr>
              <a:t>Secure </a:t>
            </a:r>
            <a:r>
              <a:rPr dirty="0">
                <a:latin typeface="Arial"/>
                <a:cs typeface="Arial"/>
              </a:rPr>
              <a:t>Socket  </a:t>
            </a:r>
            <a:r>
              <a:rPr spc="-4" dirty="0">
                <a:latin typeface="Arial"/>
                <a:cs typeface="Arial"/>
              </a:rPr>
              <a:t>Layer)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66840" y="4795378"/>
            <a:ext cx="2238172" cy="1571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93719" y="4804172"/>
            <a:ext cx="2187773" cy="15180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93719" y="4804172"/>
            <a:ext cx="2187773" cy="1518047"/>
          </a:xfrm>
          <a:custGeom>
            <a:avLst/>
            <a:gdLst/>
            <a:ahLst/>
            <a:cxnLst/>
            <a:rect l="l" t="t" r="r" b="b"/>
            <a:pathLst>
              <a:path w="3111500" h="2159000">
                <a:moveTo>
                  <a:pt x="0" y="0"/>
                </a:moveTo>
                <a:lnTo>
                  <a:pt x="3111500" y="0"/>
                </a:lnTo>
                <a:lnTo>
                  <a:pt x="3111500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009CFD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09715" y="4912355"/>
            <a:ext cx="1874341" cy="1302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/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Client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server  </a:t>
            </a:r>
            <a:r>
              <a:rPr sz="2100" b="1" spc="-4" dirty="0">
                <a:solidFill>
                  <a:srgbClr val="FFFFFF"/>
                </a:solidFill>
                <a:latin typeface="Arial"/>
                <a:cs typeface="Arial"/>
              </a:rPr>
              <a:t>negotiate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2100" spc="46" dirty="0">
                <a:solidFill>
                  <a:srgbClr val="FFFFFF"/>
                </a:solidFill>
                <a:latin typeface="Arial"/>
                <a:cs typeface="Arial"/>
              </a:rPr>
              <a:t>cryptographic  </a:t>
            </a:r>
            <a:r>
              <a:rPr sz="2100" spc="21" dirty="0">
                <a:solidFill>
                  <a:srgbClr val="FFFFFF"/>
                </a:solidFill>
                <a:latin typeface="Arial"/>
                <a:cs typeface="Arial"/>
              </a:rPr>
              <a:t>protocol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100" spc="-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use.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0164" y="4079666"/>
            <a:ext cx="6085260" cy="23694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411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3818" y="304800"/>
            <a:ext cx="7772400" cy="894625"/>
          </a:xfrm>
          <a:prstGeom prst="rect">
            <a:avLst/>
          </a:prstGeom>
        </p:spPr>
        <p:txBody>
          <a:bodyPr vert="horz" wrap="square" lIns="0" tIns="276373" rIns="0" bIns="0" rtlCol="0">
            <a:spAutoFit/>
          </a:bodyPr>
          <a:lstStyle/>
          <a:p>
            <a:pPr marL="8929"/>
            <a:r>
              <a:rPr spc="7" dirty="0"/>
              <a:t>Pointer:</a:t>
            </a:r>
            <a:r>
              <a:rPr spc="-468" dirty="0"/>
              <a:t> </a:t>
            </a:r>
            <a:r>
              <a:rPr u="heavy" spc="-4" dirty="0">
                <a:hlinkClick r:id="rId2"/>
              </a:rPr>
              <a:t>http://httpbin.org/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36" y="1617327"/>
            <a:ext cx="141982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295" dirty="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48" y="1567080"/>
            <a:ext cx="5594449" cy="4156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2885079" algn="l"/>
                <a:tab pos="4445933" algn="l"/>
              </a:tabLst>
            </a:pPr>
            <a:r>
              <a:rPr sz="2600" dirty="0">
                <a:latin typeface="Arial"/>
                <a:cs typeface="Arial"/>
              </a:rPr>
              <a:t>A </a:t>
            </a:r>
            <a:r>
              <a:rPr sz="2600" b="1" spc="-4" dirty="0">
                <a:latin typeface="Arial"/>
                <a:cs typeface="Arial"/>
              </a:rPr>
              <a:t>HTTP</a:t>
            </a:r>
            <a:r>
              <a:rPr sz="2600" b="1" spc="-39" dirty="0">
                <a:latin typeface="Arial"/>
                <a:cs typeface="Arial"/>
              </a:rPr>
              <a:t> </a:t>
            </a:r>
            <a:r>
              <a:rPr sz="2600" b="1" spc="-4" dirty="0">
                <a:latin typeface="Arial"/>
                <a:cs typeface="Arial"/>
              </a:rPr>
              <a:t>request</a:t>
            </a:r>
            <a:r>
              <a:rPr sz="2600" b="1" dirty="0">
                <a:latin typeface="Arial"/>
                <a:cs typeface="Arial"/>
              </a:rPr>
              <a:t> &amp;	</a:t>
            </a:r>
            <a:r>
              <a:rPr sz="2600" b="1" spc="-4" dirty="0">
                <a:latin typeface="Arial"/>
                <a:cs typeface="Arial"/>
              </a:rPr>
              <a:t>response	service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36" y="2671030"/>
            <a:ext cx="141982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295" dirty="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648" y="2636856"/>
            <a:ext cx="7278142" cy="79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3094"/>
              </a:lnSpc>
            </a:pPr>
            <a:r>
              <a:rPr sz="2600" dirty="0">
                <a:latin typeface="Arial"/>
                <a:cs typeface="Arial"/>
              </a:rPr>
              <a:t>A </a:t>
            </a:r>
            <a:r>
              <a:rPr sz="2600" spc="11" dirty="0">
                <a:latin typeface="Arial"/>
                <a:cs typeface="Arial"/>
              </a:rPr>
              <a:t>very </a:t>
            </a:r>
            <a:r>
              <a:rPr sz="2600" spc="-4" dirty="0">
                <a:latin typeface="Arial"/>
                <a:cs typeface="Arial"/>
              </a:rPr>
              <a:t>useful </a:t>
            </a:r>
            <a:r>
              <a:rPr sz="2600" dirty="0">
                <a:latin typeface="Arial"/>
                <a:cs typeface="Arial"/>
              </a:rPr>
              <a:t>site to </a:t>
            </a:r>
            <a:r>
              <a:rPr sz="2600" spc="35" dirty="0">
                <a:latin typeface="Arial"/>
                <a:cs typeface="Arial"/>
              </a:rPr>
              <a:t>play </a:t>
            </a:r>
            <a:r>
              <a:rPr sz="2600" spc="14" dirty="0">
                <a:latin typeface="Arial"/>
                <a:cs typeface="Arial"/>
              </a:rPr>
              <a:t>around </a:t>
            </a:r>
            <a:r>
              <a:rPr sz="2600" spc="-4" dirty="0">
                <a:latin typeface="Arial"/>
                <a:cs typeface="Arial"/>
              </a:rPr>
              <a:t>with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67" dirty="0">
                <a:latin typeface="Arial"/>
                <a:cs typeface="Arial"/>
              </a:rPr>
              <a:t> </a:t>
            </a:r>
            <a:r>
              <a:rPr sz="2600" spc="4" dirty="0">
                <a:latin typeface="Arial"/>
                <a:cs typeface="Arial"/>
              </a:rPr>
              <a:t>different  </a:t>
            </a:r>
            <a:r>
              <a:rPr sz="2600" spc="-7" dirty="0">
                <a:latin typeface="Arial"/>
                <a:cs typeface="Arial"/>
              </a:rPr>
              <a:t>features </a:t>
            </a:r>
            <a:r>
              <a:rPr sz="2600" dirty="0">
                <a:latin typeface="Arial"/>
                <a:cs typeface="Arial"/>
              </a:rPr>
              <a:t>of the </a:t>
            </a:r>
            <a:r>
              <a:rPr sz="2600" spc="35" dirty="0">
                <a:latin typeface="Arial"/>
                <a:cs typeface="Arial"/>
              </a:rPr>
              <a:t>http</a:t>
            </a:r>
            <a:r>
              <a:rPr sz="2600" spc="-42" dirty="0">
                <a:latin typeface="Arial"/>
                <a:cs typeface="Arial"/>
              </a:rPr>
              <a:t> </a:t>
            </a:r>
            <a:r>
              <a:rPr sz="2600" spc="28" dirty="0">
                <a:latin typeface="Arial"/>
                <a:cs typeface="Arial"/>
              </a:rPr>
              <a:t>protocol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836" y="4117639"/>
            <a:ext cx="141982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00" spc="295" dirty="0"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617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crosoft Office 98">
  <a:themeElements>
    <a:clrScheme name="">
      <a:dk1>
        <a:srgbClr val="000000"/>
      </a:dk1>
      <a:lt1>
        <a:srgbClr val="A2C1FE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CEDDFE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Microsoft Office 98">
      <a:majorFont>
        <a:latin typeface="Helvetic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Microsoft Office 9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crosoft Office 9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0" ma:contentTypeDescription="Create a new document." ma:contentTypeScope="" ma:versionID="ca0eff15ccbfe079c26c4eccae0f3b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7AA473-31B4-449E-8964-DD6473769D31}"/>
</file>

<file path=customXml/itemProps2.xml><?xml version="1.0" encoding="utf-8"?>
<ds:datastoreItem xmlns:ds="http://schemas.openxmlformats.org/officeDocument/2006/customXml" ds:itemID="{D4ADBE87-DAA7-4A48-A7FC-9DD60EE814F6}"/>
</file>

<file path=customXml/itemProps3.xml><?xml version="1.0" encoding="utf-8"?>
<ds:datastoreItem xmlns:ds="http://schemas.openxmlformats.org/officeDocument/2006/customXml" ds:itemID="{19BC6D85-185A-4295-8F62-91916194C02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</TotalTime>
  <Pages>85</Pages>
  <Words>2151</Words>
  <Application>Microsoft Office PowerPoint</Application>
  <PresentationFormat>On-screen Show (4:3)</PresentationFormat>
  <Paragraphs>394</Paragraphs>
  <Slides>42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Courier</vt:lpstr>
      <vt:lpstr>Courier New</vt:lpstr>
      <vt:lpstr>Helvetica</vt:lpstr>
      <vt:lpstr>Times</vt:lpstr>
      <vt:lpstr>Times New Roman</vt:lpstr>
      <vt:lpstr>Microsoft Office 98</vt:lpstr>
      <vt:lpstr>Document</vt:lpstr>
      <vt:lpstr>HTTP</vt:lpstr>
      <vt:lpstr>Normal web surfing uses these two steps:</vt:lpstr>
      <vt:lpstr>Forms</vt:lpstr>
      <vt:lpstr>CGI</vt:lpstr>
      <vt:lpstr>GET and POST</vt:lpstr>
      <vt:lpstr>MIME </vt:lpstr>
      <vt:lpstr>HTTP</vt:lpstr>
      <vt:lpstr>An introduction to  HTTP messages</vt:lpstr>
      <vt:lpstr>Web servers and clients</vt:lpstr>
      <vt:lpstr>A Typical HTTP Connection</vt:lpstr>
      <vt:lpstr>Network communication</vt:lpstr>
      <vt:lpstr>Browser Request MIME Header</vt:lpstr>
      <vt:lpstr>Server Response MIME Header</vt:lpstr>
      <vt:lpstr>HTTP request message</vt:lpstr>
      <vt:lpstr>HTTP response message</vt:lpstr>
      <vt:lpstr>Primary entity header fields</vt:lpstr>
      <vt:lpstr>Content-Type</vt:lpstr>
      <vt:lpstr>Content types are diverse</vt:lpstr>
      <vt:lpstr>Content-Length</vt:lpstr>
      <vt:lpstr>Content-Encoding</vt:lpstr>
      <vt:lpstr>Content-MD5</vt:lpstr>
      <vt:lpstr>Expires</vt:lpstr>
      <vt:lpstr>Expires &amp; Cache-Control</vt:lpstr>
      <vt:lpstr>Last-Modified</vt:lpstr>
      <vt:lpstr>Remember: HTTP response message</vt:lpstr>
      <vt:lpstr>Common status codes</vt:lpstr>
      <vt:lpstr>HTTP methods</vt:lpstr>
      <vt:lpstr>Common HTTP methods</vt:lpstr>
      <vt:lpstr>TCP &amp; HTTP: displaying a simple  HTML resource in the browser</vt:lpstr>
      <vt:lpstr>TCP &amp; HTTP: displaying a simple  HTML resource in the browser</vt:lpstr>
      <vt:lpstr>Authentication</vt:lpstr>
      <vt:lpstr>Fat URLs</vt:lpstr>
      <vt:lpstr>Fat URLs</vt:lpstr>
      <vt:lpstr>HTTP basic authentication</vt:lpstr>
      <vt:lpstr>HTTP basic authentication</vt:lpstr>
      <vt:lpstr>HTTP basic authentication</vt:lpstr>
      <vt:lpstr>HTTP basic authentication: secure?</vt:lpstr>
      <vt:lpstr>HTTP basic authentication: overall</vt:lpstr>
      <vt:lpstr>Secure HTTP</vt:lpstr>
      <vt:lpstr>Secure HTTP</vt:lpstr>
      <vt:lpstr>Secure HTTP: HTTPS</vt:lpstr>
      <vt:lpstr>Pointer: http://httpbin.org/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URLs, InetAddresses, and URLConnections</dc:title>
  <dc:creator>Muhammad Imran</dc:creator>
  <cp:lastModifiedBy>Adeel-ur-Rehman</cp:lastModifiedBy>
  <cp:revision>225</cp:revision>
  <cp:lastPrinted>2009-04-22T19:24:48Z</cp:lastPrinted>
  <dcterms:created xsi:type="dcterms:W3CDTF">1997-12-26T17:41:45Z</dcterms:created>
  <dcterms:modified xsi:type="dcterms:W3CDTF">2019-11-28T11:05:56Z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0x0101008242D679B6F40C48B2519DEB851FE85E</vt:lpwstr>
  </property>
</Properties>
</file>