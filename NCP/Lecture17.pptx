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2.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1.xml" ContentType="application/vnd.openxmlformats-officedocument.presentationml.slide+xml"/>
  <Override PartName="/ppt/slides/slide6.xml" ContentType="application/vnd.openxmlformats-officedocument.presentationml.slide+xml"/>
  <Override PartName="/ppt/slides/slide4.xml" ContentType="application/vnd.openxmlformats-officedocument.presentationml.slide+xml"/>
  <Override PartName="/ppt/slides/slide1.xml" ContentType="application/vnd.openxmlformats-officedocument.presentationml.slide+xml"/>
  <Override PartName="/ppt/slides/slide5.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73" r:id="rId11"/>
    <p:sldId id="274" r:id="rId12"/>
    <p:sldId id="265" r:id="rId13"/>
    <p:sldId id="266" r:id="rId14"/>
    <p:sldId id="267" r:id="rId15"/>
    <p:sldId id="268" r:id="rId16"/>
    <p:sldId id="269" r:id="rId17"/>
    <p:sldId id="270" r:id="rId18"/>
    <p:sldId id="271" r:id="rId19"/>
    <p:sldId id="272" r:id="rId20"/>
    <p:sldId id="275" r:id="rId21"/>
    <p:sldId id="276" r:id="rId22"/>
    <p:sldId id="277" r:id="rId23"/>
    <p:sldId id="278"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023" autoAdjust="0"/>
  </p:normalViewPr>
  <p:slideViewPr>
    <p:cSldViewPr>
      <p:cViewPr varScale="1">
        <p:scale>
          <a:sx n="63" d="100"/>
          <a:sy n="63" d="100"/>
        </p:scale>
        <p:origin x="1596" y="6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17747C-F444-4B1F-8639-F4D247166F4E}" type="datetimeFigureOut">
              <a:rPr lang="en-IE" smtClean="0"/>
              <a:t>19/12/2019</a:t>
            </a:fld>
            <a:endParaRPr lang="en-IE"/>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083A16E-4AC1-4693-BCFD-5BCB6BEC57D8}" type="slidenum">
              <a:rPr lang="en-IE" smtClean="0"/>
              <a:t>‹#›</a:t>
            </a:fld>
            <a:endParaRPr lang="en-IE"/>
          </a:p>
        </p:txBody>
      </p:sp>
    </p:spTree>
    <p:extLst>
      <p:ext uri="{BB962C8B-B14F-4D97-AF65-F5344CB8AC3E}">
        <p14:creationId xmlns:p14="http://schemas.microsoft.com/office/powerpoint/2010/main" val="17764782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body" idx="1"/>
          </p:nvPr>
        </p:nvSpPr>
        <p:spPr>
          <a:noFill/>
        </p:spPr>
        <p:txBody>
          <a:bodyPr/>
          <a:lstStyle/>
          <a:p>
            <a:r>
              <a:rPr lang="en-US" altLang="en-US" dirty="0" smtClean="0"/>
              <a:t>The User Datagram Protocol, UDP for short, provides unguaranteed, connectionless transmission of data across an IP network. By contrast, TCP sockets provide reliable, connection-oriented transmission of data. </a:t>
            </a:r>
          </a:p>
          <a:p>
            <a:r>
              <a:rPr lang="en-US" altLang="en-US" dirty="0" smtClean="0"/>
              <a:t>Both TCP and UDP split data into packets called datagrams. However TCP includes extra headers in the datagram to enable retransmission of lost packets and reassembly of packets into the correct order if they arrive out of order. UDP does not provide this. If a UDP packet is lost, it's lost. It will not be retransmitted. Similarly, packets appear in the receiving program in the order they were received, not necessarily in the order they were sent. </a:t>
            </a:r>
          </a:p>
          <a:p>
            <a:r>
              <a:rPr lang="en-US" altLang="en-US" dirty="0" smtClean="0"/>
              <a:t>Given these disadvantages you may well wonder why anyone would prefer UDP to TCP. The answer is speed. UDP can be up to three times faster than TCP; and there are many applications for which reliable transmission of data is not nearly as important as speed. For example lost or out of order packets may appear as static in an audio or video feed, but the overall picture or sound could still be intelligible. </a:t>
            </a:r>
          </a:p>
          <a:p>
            <a:r>
              <a:rPr lang="en-US" altLang="en-US" dirty="0" smtClean="0"/>
              <a:t>Telephone vs. snail mail analogy.</a:t>
            </a:r>
          </a:p>
          <a:p>
            <a:r>
              <a:rPr lang="en-US" altLang="en-US" dirty="0" smtClean="0"/>
              <a:t>Protocols that use UDP include NFS, FSP, and TFTP.</a:t>
            </a:r>
          </a:p>
        </p:txBody>
      </p:sp>
      <p:sp>
        <p:nvSpPr>
          <p:cNvPr id="50179" name="Rectangle 3"/>
          <p:cNvSpPr>
            <a:spLocks noGrp="1" noRot="1" noChangeAspect="1" noChangeArrowheads="1" noTextEdit="1"/>
          </p:cNvSpPr>
          <p:nvPr>
            <p:ph type="sldImg"/>
          </p:nvPr>
        </p:nvSpPr>
        <p:spPr>
          <a:xfrm>
            <a:off x="1150938" y="692150"/>
            <a:ext cx="4556125" cy="3416300"/>
          </a:xfrm>
          <a:ln cap="flat"/>
        </p:spPr>
      </p:sp>
      <p:sp>
        <p:nvSpPr>
          <p:cNvPr id="50180" name="Rectangle 4"/>
          <p:cNvSpPr>
            <a:spLocks noChangeArrowheads="1"/>
          </p:cNvSpPr>
          <p:nvPr/>
        </p:nvSpPr>
        <p:spPr bwMode="auto">
          <a:xfrm>
            <a:off x="4479925" y="188912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E"/>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E"/>
          </a:p>
        </p:txBody>
      </p:sp>
      <p:sp>
        <p:nvSpPr>
          <p:cNvPr id="4" name="Date Placeholder 3"/>
          <p:cNvSpPr>
            <a:spLocks noGrp="1"/>
          </p:cNvSpPr>
          <p:nvPr>
            <p:ph type="dt" sz="half" idx="10"/>
          </p:nvPr>
        </p:nvSpPr>
        <p:spPr/>
        <p:txBody>
          <a:bodyPr/>
          <a:lstStyle/>
          <a:p>
            <a:fld id="{885CC8C1-BBE1-4277-9DBF-6003AB6C2D5C}" type="datetimeFigureOut">
              <a:rPr lang="en-IE" smtClean="0"/>
              <a:t>19/12/2019</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6605ABC7-CACC-4D6B-A390-5595CC6ABB7E}" type="slidenum">
              <a:rPr lang="en-IE" smtClean="0"/>
              <a:t>‹#›</a:t>
            </a:fld>
            <a:endParaRPr lang="en-IE"/>
          </a:p>
        </p:txBody>
      </p:sp>
    </p:spTree>
    <p:extLst>
      <p:ext uri="{BB962C8B-B14F-4D97-AF65-F5344CB8AC3E}">
        <p14:creationId xmlns:p14="http://schemas.microsoft.com/office/powerpoint/2010/main" val="274028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E"/>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Date Placeholder 3"/>
          <p:cNvSpPr>
            <a:spLocks noGrp="1"/>
          </p:cNvSpPr>
          <p:nvPr>
            <p:ph type="dt" sz="half" idx="10"/>
          </p:nvPr>
        </p:nvSpPr>
        <p:spPr/>
        <p:txBody>
          <a:bodyPr/>
          <a:lstStyle/>
          <a:p>
            <a:fld id="{885CC8C1-BBE1-4277-9DBF-6003AB6C2D5C}" type="datetimeFigureOut">
              <a:rPr lang="en-IE" smtClean="0"/>
              <a:t>19/12/2019</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6605ABC7-CACC-4D6B-A390-5595CC6ABB7E}" type="slidenum">
              <a:rPr lang="en-IE" smtClean="0"/>
              <a:t>‹#›</a:t>
            </a:fld>
            <a:endParaRPr lang="en-IE"/>
          </a:p>
        </p:txBody>
      </p:sp>
    </p:spTree>
    <p:extLst>
      <p:ext uri="{BB962C8B-B14F-4D97-AF65-F5344CB8AC3E}">
        <p14:creationId xmlns:p14="http://schemas.microsoft.com/office/powerpoint/2010/main" val="1380372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85CC8C1-BBE1-4277-9DBF-6003AB6C2D5C}" type="datetimeFigureOut">
              <a:rPr lang="en-IE" smtClean="0"/>
              <a:t>19/12/2019</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6605ABC7-CACC-4D6B-A390-5595CC6ABB7E}" type="slidenum">
              <a:rPr lang="en-IE" smtClean="0"/>
              <a:t>‹#›</a:t>
            </a:fld>
            <a:endParaRPr lang="en-IE"/>
          </a:p>
        </p:txBody>
      </p:sp>
    </p:spTree>
    <p:extLst>
      <p:ext uri="{BB962C8B-B14F-4D97-AF65-F5344CB8AC3E}">
        <p14:creationId xmlns:p14="http://schemas.microsoft.com/office/powerpoint/2010/main" val="4968733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E"/>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5" name="Date Placeholder 4"/>
          <p:cNvSpPr>
            <a:spLocks noGrp="1"/>
          </p:cNvSpPr>
          <p:nvPr>
            <p:ph type="dt" sz="half" idx="10"/>
          </p:nvPr>
        </p:nvSpPr>
        <p:spPr/>
        <p:txBody>
          <a:bodyPr/>
          <a:lstStyle/>
          <a:p>
            <a:fld id="{885CC8C1-BBE1-4277-9DBF-6003AB6C2D5C}" type="datetimeFigureOut">
              <a:rPr lang="en-IE" smtClean="0"/>
              <a:t>19/12/2019</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6605ABC7-CACC-4D6B-A390-5595CC6ABB7E}" type="slidenum">
              <a:rPr lang="en-IE" smtClean="0"/>
              <a:t>‹#›</a:t>
            </a:fld>
            <a:endParaRPr lang="en-IE"/>
          </a:p>
        </p:txBody>
      </p:sp>
    </p:spTree>
    <p:extLst>
      <p:ext uri="{BB962C8B-B14F-4D97-AF65-F5344CB8AC3E}">
        <p14:creationId xmlns:p14="http://schemas.microsoft.com/office/powerpoint/2010/main" val="548331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7" name="Date Placeholder 6"/>
          <p:cNvSpPr>
            <a:spLocks noGrp="1"/>
          </p:cNvSpPr>
          <p:nvPr>
            <p:ph type="dt" sz="half" idx="10"/>
          </p:nvPr>
        </p:nvSpPr>
        <p:spPr/>
        <p:txBody>
          <a:bodyPr/>
          <a:lstStyle/>
          <a:p>
            <a:fld id="{885CC8C1-BBE1-4277-9DBF-6003AB6C2D5C}" type="datetimeFigureOut">
              <a:rPr lang="en-IE" smtClean="0"/>
              <a:t>19/12/2019</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6605ABC7-CACC-4D6B-A390-5595CC6ABB7E}" type="slidenum">
              <a:rPr lang="en-IE" smtClean="0"/>
              <a:t>‹#›</a:t>
            </a:fld>
            <a:endParaRPr lang="en-IE"/>
          </a:p>
        </p:txBody>
      </p:sp>
    </p:spTree>
    <p:extLst>
      <p:ext uri="{BB962C8B-B14F-4D97-AF65-F5344CB8AC3E}">
        <p14:creationId xmlns:p14="http://schemas.microsoft.com/office/powerpoint/2010/main" val="209070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E"/>
          </a:p>
        </p:txBody>
      </p:sp>
      <p:sp>
        <p:nvSpPr>
          <p:cNvPr id="3" name="Date Placeholder 2"/>
          <p:cNvSpPr>
            <a:spLocks noGrp="1"/>
          </p:cNvSpPr>
          <p:nvPr>
            <p:ph type="dt" sz="half" idx="10"/>
          </p:nvPr>
        </p:nvSpPr>
        <p:spPr/>
        <p:txBody>
          <a:bodyPr/>
          <a:lstStyle/>
          <a:p>
            <a:fld id="{885CC8C1-BBE1-4277-9DBF-6003AB6C2D5C}" type="datetimeFigureOut">
              <a:rPr lang="en-IE" smtClean="0"/>
              <a:t>19/12/2019</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6605ABC7-CACC-4D6B-A390-5595CC6ABB7E}" type="slidenum">
              <a:rPr lang="en-IE" smtClean="0"/>
              <a:t>‹#›</a:t>
            </a:fld>
            <a:endParaRPr lang="en-IE"/>
          </a:p>
        </p:txBody>
      </p:sp>
    </p:spTree>
    <p:extLst>
      <p:ext uri="{BB962C8B-B14F-4D97-AF65-F5344CB8AC3E}">
        <p14:creationId xmlns:p14="http://schemas.microsoft.com/office/powerpoint/2010/main" val="815205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5CC8C1-BBE1-4277-9DBF-6003AB6C2D5C}" type="datetimeFigureOut">
              <a:rPr lang="en-IE" smtClean="0"/>
              <a:t>19/12/2019</a:t>
            </a:fld>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6605ABC7-CACC-4D6B-A390-5595CC6ABB7E}" type="slidenum">
              <a:rPr lang="en-IE" smtClean="0"/>
              <a:t>‹#›</a:t>
            </a:fld>
            <a:endParaRPr lang="en-IE"/>
          </a:p>
        </p:txBody>
      </p:sp>
    </p:spTree>
    <p:extLst>
      <p:ext uri="{BB962C8B-B14F-4D97-AF65-F5344CB8AC3E}">
        <p14:creationId xmlns:p14="http://schemas.microsoft.com/office/powerpoint/2010/main" val="2850459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85CC8C1-BBE1-4277-9DBF-6003AB6C2D5C}" type="datetimeFigureOut">
              <a:rPr lang="en-IE" smtClean="0"/>
              <a:t>19/12/2019</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6605ABC7-CACC-4D6B-A390-5595CC6ABB7E}" type="slidenum">
              <a:rPr lang="en-IE" smtClean="0"/>
              <a:t>‹#›</a:t>
            </a:fld>
            <a:endParaRPr lang="en-IE"/>
          </a:p>
        </p:txBody>
      </p:sp>
    </p:spTree>
    <p:extLst>
      <p:ext uri="{BB962C8B-B14F-4D97-AF65-F5344CB8AC3E}">
        <p14:creationId xmlns:p14="http://schemas.microsoft.com/office/powerpoint/2010/main" val="1214734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85CC8C1-BBE1-4277-9DBF-6003AB6C2D5C}" type="datetimeFigureOut">
              <a:rPr lang="en-IE" smtClean="0"/>
              <a:t>19/12/2019</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6605ABC7-CACC-4D6B-A390-5595CC6ABB7E}" type="slidenum">
              <a:rPr lang="en-IE" smtClean="0"/>
              <a:t>‹#›</a:t>
            </a:fld>
            <a:endParaRPr lang="en-IE"/>
          </a:p>
        </p:txBody>
      </p:sp>
    </p:spTree>
    <p:extLst>
      <p:ext uri="{BB962C8B-B14F-4D97-AF65-F5344CB8AC3E}">
        <p14:creationId xmlns:p14="http://schemas.microsoft.com/office/powerpoint/2010/main" val="593268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Date Placeholder 3"/>
          <p:cNvSpPr>
            <a:spLocks noGrp="1"/>
          </p:cNvSpPr>
          <p:nvPr>
            <p:ph type="dt" sz="half" idx="10"/>
          </p:nvPr>
        </p:nvSpPr>
        <p:spPr/>
        <p:txBody>
          <a:bodyPr/>
          <a:lstStyle/>
          <a:p>
            <a:fld id="{885CC8C1-BBE1-4277-9DBF-6003AB6C2D5C}" type="datetimeFigureOut">
              <a:rPr lang="en-IE" smtClean="0"/>
              <a:t>19/12/2019</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6605ABC7-CACC-4D6B-A390-5595CC6ABB7E}" type="slidenum">
              <a:rPr lang="en-IE" smtClean="0"/>
              <a:t>‹#›</a:t>
            </a:fld>
            <a:endParaRPr lang="en-IE"/>
          </a:p>
        </p:txBody>
      </p:sp>
    </p:spTree>
    <p:extLst>
      <p:ext uri="{BB962C8B-B14F-4D97-AF65-F5344CB8AC3E}">
        <p14:creationId xmlns:p14="http://schemas.microsoft.com/office/powerpoint/2010/main" val="19421253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E"/>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Date Placeholder 3"/>
          <p:cNvSpPr>
            <a:spLocks noGrp="1"/>
          </p:cNvSpPr>
          <p:nvPr>
            <p:ph type="dt" sz="half" idx="10"/>
          </p:nvPr>
        </p:nvSpPr>
        <p:spPr/>
        <p:txBody>
          <a:bodyPr/>
          <a:lstStyle/>
          <a:p>
            <a:fld id="{885CC8C1-BBE1-4277-9DBF-6003AB6C2D5C}" type="datetimeFigureOut">
              <a:rPr lang="en-IE" smtClean="0"/>
              <a:t>19/12/2019</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6605ABC7-CACC-4D6B-A390-5595CC6ABB7E}" type="slidenum">
              <a:rPr lang="en-IE" smtClean="0"/>
              <a:t>‹#›</a:t>
            </a:fld>
            <a:endParaRPr lang="en-IE"/>
          </a:p>
        </p:txBody>
      </p:sp>
    </p:spTree>
    <p:extLst>
      <p:ext uri="{BB962C8B-B14F-4D97-AF65-F5344CB8AC3E}">
        <p14:creationId xmlns:p14="http://schemas.microsoft.com/office/powerpoint/2010/main" val="3535132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E"/>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5CC8C1-BBE1-4277-9DBF-6003AB6C2D5C}" type="datetimeFigureOut">
              <a:rPr lang="en-IE" smtClean="0"/>
              <a:t>19/12/2019</a:t>
            </a:fld>
            <a:endParaRPr lang="en-IE"/>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05ABC7-CACC-4D6B-A390-5595CC6ABB7E}" type="slidenum">
              <a:rPr lang="en-IE" smtClean="0"/>
              <a:t>‹#›</a:t>
            </a:fld>
            <a:endParaRPr lang="en-IE"/>
          </a:p>
        </p:txBody>
      </p:sp>
    </p:spTree>
    <p:extLst>
      <p:ext uri="{BB962C8B-B14F-4D97-AF65-F5344CB8AC3E}">
        <p14:creationId xmlns:p14="http://schemas.microsoft.com/office/powerpoint/2010/main" val="28918234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UDP</a:t>
            </a:r>
            <a:endParaRPr lang="en-IE" dirty="0"/>
          </a:p>
        </p:txBody>
      </p:sp>
      <p:sp>
        <p:nvSpPr>
          <p:cNvPr id="3" name="Subtitle 2"/>
          <p:cNvSpPr>
            <a:spLocks noGrp="1"/>
          </p:cNvSpPr>
          <p:nvPr>
            <p:ph type="subTitle" idx="1"/>
          </p:nvPr>
        </p:nvSpPr>
        <p:spPr/>
        <p:txBody>
          <a:bodyPr/>
          <a:lstStyle/>
          <a:p>
            <a:r>
              <a:rPr lang="en-US" dirty="0" smtClean="0"/>
              <a:t>Adeel-ur-Rehman</a:t>
            </a:r>
            <a:endParaRPr lang="en-IE" dirty="0"/>
          </a:p>
        </p:txBody>
      </p:sp>
    </p:spTree>
    <p:extLst>
      <p:ext uri="{BB962C8B-B14F-4D97-AF65-F5344CB8AC3E}">
        <p14:creationId xmlns:p14="http://schemas.microsoft.com/office/powerpoint/2010/main" val="2632560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noFill/>
        </p:spPr>
        <p:txBody>
          <a:bodyPr/>
          <a:lstStyle/>
          <a:p>
            <a:r>
              <a:rPr lang="en-US" altLang="en-US" smtClean="0"/>
              <a:t>UDP</a:t>
            </a:r>
          </a:p>
        </p:txBody>
      </p:sp>
      <p:sp>
        <p:nvSpPr>
          <p:cNvPr id="29699" name="Rectangle 3"/>
          <p:cNvSpPr>
            <a:spLocks noGrp="1" noChangeArrowheads="1"/>
          </p:cNvSpPr>
          <p:nvPr>
            <p:ph idx="1"/>
          </p:nvPr>
        </p:nvSpPr>
        <p:spPr/>
        <p:txBody>
          <a:bodyPr lIns="0" tIns="46037" rIns="0" bIns="46037"/>
          <a:lstStyle/>
          <a:p>
            <a:r>
              <a:rPr lang="en-US" altLang="en-US" dirty="0" smtClean="0"/>
              <a:t>Unreliable Datagram Protocol</a:t>
            </a:r>
          </a:p>
          <a:p>
            <a:r>
              <a:rPr lang="en-US" altLang="en-US" dirty="0" smtClean="0"/>
              <a:t>Packet Oriented, not stream oriented like TCP/IP</a:t>
            </a:r>
          </a:p>
          <a:p>
            <a:r>
              <a:rPr lang="en-US" altLang="en-US" dirty="0" smtClean="0"/>
              <a:t>Much faster but no error correction</a:t>
            </a:r>
          </a:p>
        </p:txBody>
      </p:sp>
    </p:spTree>
    <p:extLst>
      <p:ext uri="{BB962C8B-B14F-4D97-AF65-F5344CB8AC3E}">
        <p14:creationId xmlns:p14="http://schemas.microsoft.com/office/powerpoint/2010/main" val="3305904025"/>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noFill/>
        </p:spPr>
        <p:txBody>
          <a:bodyPr/>
          <a:lstStyle/>
          <a:p>
            <a:r>
              <a:rPr lang="en-US" altLang="en-US" smtClean="0"/>
              <a:t>The UDP Classes</a:t>
            </a:r>
          </a:p>
        </p:txBody>
      </p:sp>
      <p:sp>
        <p:nvSpPr>
          <p:cNvPr id="30723" name="Rectangle 3"/>
          <p:cNvSpPr>
            <a:spLocks noGrp="1" noChangeArrowheads="1"/>
          </p:cNvSpPr>
          <p:nvPr>
            <p:ph idx="1"/>
          </p:nvPr>
        </p:nvSpPr>
        <p:spPr/>
        <p:txBody>
          <a:bodyPr lIns="0" tIns="46037" rIns="0" bIns="46037"/>
          <a:lstStyle/>
          <a:p>
            <a:r>
              <a:rPr lang="en-US" altLang="en-US" smtClean="0"/>
              <a:t>Java's support for UDP is contained in two classes:</a:t>
            </a:r>
          </a:p>
          <a:p>
            <a:pPr lvl="1">
              <a:buFontTx/>
              <a:buNone/>
            </a:pPr>
            <a:r>
              <a:rPr lang="en-US" altLang="en-US" smtClean="0">
                <a:latin typeface="Courier New" pitchFamily="49" charset="0"/>
              </a:rPr>
              <a:t>java.net.DatagramSocket</a:t>
            </a:r>
          </a:p>
          <a:p>
            <a:pPr lvl="1">
              <a:buFontTx/>
              <a:buNone/>
            </a:pPr>
            <a:r>
              <a:rPr lang="en-US" altLang="en-US" smtClean="0">
                <a:latin typeface="Courier New" pitchFamily="49" charset="0"/>
              </a:rPr>
              <a:t>java.net.DatagramPacket </a:t>
            </a:r>
          </a:p>
          <a:p>
            <a:r>
              <a:rPr lang="en-US" altLang="en-US" smtClean="0"/>
              <a:t>A datagram socket is used to send and receive datagram packets.</a:t>
            </a:r>
          </a:p>
        </p:txBody>
      </p:sp>
    </p:spTree>
    <p:extLst>
      <p:ext uri="{BB962C8B-B14F-4D97-AF65-F5344CB8AC3E}">
        <p14:creationId xmlns:p14="http://schemas.microsoft.com/office/powerpoint/2010/main" val="559084190"/>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noFill/>
        </p:spPr>
        <p:txBody>
          <a:bodyPr/>
          <a:lstStyle/>
          <a:p>
            <a:r>
              <a:rPr lang="en-US" altLang="en-US" smtClean="0"/>
              <a:t>java.net.DatagramPacket </a:t>
            </a:r>
          </a:p>
        </p:txBody>
      </p:sp>
      <p:sp>
        <p:nvSpPr>
          <p:cNvPr id="31747" name="Rectangle 3"/>
          <p:cNvSpPr>
            <a:spLocks noGrp="1" noChangeArrowheads="1"/>
          </p:cNvSpPr>
          <p:nvPr>
            <p:ph idx="1"/>
          </p:nvPr>
        </p:nvSpPr>
        <p:spPr/>
        <p:txBody>
          <a:bodyPr lIns="0" tIns="46037" rIns="0" bIns="46037"/>
          <a:lstStyle/>
          <a:p>
            <a:r>
              <a:rPr lang="en-US" altLang="en-US" smtClean="0"/>
              <a:t>a wrapper for an array of bytes from which data will be sent or into which data will be received. </a:t>
            </a:r>
          </a:p>
          <a:p>
            <a:r>
              <a:rPr lang="en-US" altLang="en-US" smtClean="0"/>
              <a:t>also contains the address and port to which the packet will be sent.</a:t>
            </a:r>
          </a:p>
        </p:txBody>
      </p:sp>
    </p:spTree>
    <p:extLst>
      <p:ext uri="{BB962C8B-B14F-4D97-AF65-F5344CB8AC3E}">
        <p14:creationId xmlns:p14="http://schemas.microsoft.com/office/powerpoint/2010/main" val="216623383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85800" y="0"/>
            <a:ext cx="7772400" cy="1143000"/>
          </a:xfrm>
          <a:noFill/>
        </p:spPr>
        <p:txBody>
          <a:bodyPr/>
          <a:lstStyle/>
          <a:p>
            <a:r>
              <a:rPr lang="en-US" altLang="en-US" smtClean="0"/>
              <a:t>java.net.DatagramSocket</a:t>
            </a:r>
          </a:p>
        </p:txBody>
      </p:sp>
      <p:sp>
        <p:nvSpPr>
          <p:cNvPr id="32771" name="Rectangle 3"/>
          <p:cNvSpPr>
            <a:spLocks noGrp="1" noChangeArrowheads="1"/>
          </p:cNvSpPr>
          <p:nvPr>
            <p:ph idx="1"/>
          </p:nvPr>
        </p:nvSpPr>
        <p:spPr>
          <a:xfrm>
            <a:off x="609600" y="1371600"/>
            <a:ext cx="8534400" cy="4800600"/>
          </a:xfrm>
        </p:spPr>
        <p:txBody>
          <a:bodyPr lIns="0" tIns="46037" rIns="0" bIns="46037"/>
          <a:lstStyle/>
          <a:p>
            <a:r>
              <a:rPr lang="en-US" altLang="en-US" smtClean="0"/>
              <a:t>A </a:t>
            </a:r>
            <a:r>
              <a:rPr lang="en-US" altLang="en-US" smtClean="0">
                <a:latin typeface="Courier New" pitchFamily="49" charset="0"/>
              </a:rPr>
              <a:t>DatagramSocket</a:t>
            </a:r>
            <a:r>
              <a:rPr lang="en-US" altLang="en-US" smtClean="0"/>
              <a:t> object is a local connection to a port that does the sending and receiving.</a:t>
            </a:r>
          </a:p>
          <a:p>
            <a:r>
              <a:rPr lang="en-US" altLang="en-US" smtClean="0"/>
              <a:t>There is no distinction between a UDP socket and a UDP server socket.</a:t>
            </a:r>
          </a:p>
          <a:p>
            <a:r>
              <a:rPr lang="en-US" altLang="en-US" smtClean="0"/>
              <a:t>Also unlike TCP sockets, a </a:t>
            </a:r>
            <a:r>
              <a:rPr lang="en-US" altLang="en-US" smtClean="0">
                <a:latin typeface="Courier New" pitchFamily="49" charset="0"/>
              </a:rPr>
              <a:t>DatagramSocket</a:t>
            </a:r>
            <a:r>
              <a:rPr lang="en-US" altLang="en-US" smtClean="0"/>
              <a:t> can send to multiple, different addresses. </a:t>
            </a:r>
          </a:p>
          <a:p>
            <a:r>
              <a:rPr lang="en-US" altLang="en-US" smtClean="0"/>
              <a:t>The address to which data goes is stored in the packet, not in the socket. </a:t>
            </a:r>
          </a:p>
        </p:txBody>
      </p:sp>
    </p:spTree>
    <p:extLst>
      <p:ext uri="{BB962C8B-B14F-4D97-AF65-F5344CB8AC3E}">
        <p14:creationId xmlns:p14="http://schemas.microsoft.com/office/powerpoint/2010/main" val="150023937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noFill/>
        </p:spPr>
        <p:txBody>
          <a:bodyPr/>
          <a:lstStyle/>
          <a:p>
            <a:r>
              <a:rPr lang="en-US" altLang="en-US" smtClean="0"/>
              <a:t>UDP ports</a:t>
            </a:r>
          </a:p>
        </p:txBody>
      </p:sp>
      <p:sp>
        <p:nvSpPr>
          <p:cNvPr id="33795" name="Rectangle 3"/>
          <p:cNvSpPr>
            <a:spLocks noGrp="1" noChangeArrowheads="1"/>
          </p:cNvSpPr>
          <p:nvPr>
            <p:ph idx="1"/>
          </p:nvPr>
        </p:nvSpPr>
        <p:spPr/>
        <p:txBody>
          <a:bodyPr lIns="0" tIns="46037" rIns="0" bIns="46037"/>
          <a:lstStyle/>
          <a:p>
            <a:r>
              <a:rPr lang="en-US" altLang="en-US" smtClean="0"/>
              <a:t>Separate from TCP ports. </a:t>
            </a:r>
          </a:p>
          <a:p>
            <a:r>
              <a:rPr lang="en-US" altLang="en-US" smtClean="0"/>
              <a:t>Each computer has 65,536 UDP ports as well as its 65,536 TCP ports. </a:t>
            </a:r>
          </a:p>
          <a:p>
            <a:r>
              <a:rPr lang="en-US" altLang="en-US" smtClean="0"/>
              <a:t>A server socket can be bound to TCP port 20 at the same time as a datagram socket is bound to UDP port 20.</a:t>
            </a:r>
          </a:p>
        </p:txBody>
      </p:sp>
    </p:spTree>
    <p:extLst>
      <p:ext uri="{BB962C8B-B14F-4D97-AF65-F5344CB8AC3E}">
        <p14:creationId xmlns:p14="http://schemas.microsoft.com/office/powerpoint/2010/main" val="4013422505"/>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noFill/>
        </p:spPr>
        <p:txBody>
          <a:bodyPr/>
          <a:lstStyle/>
          <a:p>
            <a:r>
              <a:rPr lang="en-US" altLang="en-US" smtClean="0"/>
              <a:t>Two DatagramPacket Constructors</a:t>
            </a:r>
          </a:p>
        </p:txBody>
      </p:sp>
      <p:sp>
        <p:nvSpPr>
          <p:cNvPr id="34819" name="Rectangle 3"/>
          <p:cNvSpPr>
            <a:spLocks noGrp="1" noChangeArrowheads="1"/>
          </p:cNvSpPr>
          <p:nvPr>
            <p:ph idx="1"/>
          </p:nvPr>
        </p:nvSpPr>
        <p:spPr/>
        <p:txBody>
          <a:bodyPr lIns="0" tIns="46037" rIns="0" bIns="46037"/>
          <a:lstStyle/>
          <a:p>
            <a:pPr lvl="1">
              <a:buFontTx/>
              <a:buNone/>
            </a:pPr>
            <a:r>
              <a:rPr lang="en-US" altLang="en-US" smtClean="0">
                <a:latin typeface="Courier New" pitchFamily="49" charset="0"/>
              </a:rPr>
              <a:t>public DatagramPacket(byte[] data, int length)</a:t>
            </a:r>
          </a:p>
          <a:p>
            <a:pPr lvl="1">
              <a:buFontTx/>
              <a:buNone/>
            </a:pPr>
            <a:r>
              <a:rPr lang="en-US" altLang="en-US" smtClean="0">
                <a:latin typeface="Courier New" pitchFamily="49" charset="0"/>
              </a:rPr>
              <a:t>public DatagramPacket(byte[] data, int length, InetAddress remote, int port)</a:t>
            </a:r>
          </a:p>
          <a:p>
            <a:r>
              <a:rPr lang="en-US" altLang="en-US" smtClean="0"/>
              <a:t>First is for receiving, second is for sending</a:t>
            </a:r>
          </a:p>
        </p:txBody>
      </p:sp>
    </p:spTree>
    <p:extLst>
      <p:ext uri="{BB962C8B-B14F-4D97-AF65-F5344CB8AC3E}">
        <p14:creationId xmlns:p14="http://schemas.microsoft.com/office/powerpoint/2010/main" val="3193584656"/>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p:spPr>
        <p:txBody>
          <a:bodyPr/>
          <a:lstStyle/>
          <a:p>
            <a:r>
              <a:rPr lang="en-US" altLang="en-US" smtClean="0"/>
              <a:t>For example,</a:t>
            </a:r>
          </a:p>
        </p:txBody>
      </p:sp>
      <p:sp>
        <p:nvSpPr>
          <p:cNvPr id="35843" name="Rectangle 3"/>
          <p:cNvSpPr>
            <a:spLocks noGrp="1" noChangeArrowheads="1"/>
          </p:cNvSpPr>
          <p:nvPr>
            <p:ph idx="1"/>
          </p:nvPr>
        </p:nvSpPr>
        <p:spPr>
          <a:xfrm>
            <a:off x="304800" y="1981200"/>
            <a:ext cx="8839200" cy="4114800"/>
          </a:xfrm>
        </p:spPr>
        <p:txBody>
          <a:bodyPr lIns="0" tIns="46037" rIns="0" bIns="46037"/>
          <a:lstStyle/>
          <a:p>
            <a:pPr lvl="2"/>
            <a:r>
              <a:rPr lang="en-US" altLang="en-US" smtClean="0"/>
              <a:t>String s = "My first UDP Packet";</a:t>
            </a:r>
          </a:p>
          <a:p>
            <a:pPr lvl="2"/>
            <a:r>
              <a:rPr lang="en-US" altLang="en-US" smtClean="0"/>
              <a:t>byte[] b = s.getBytes();</a:t>
            </a:r>
          </a:p>
          <a:p>
            <a:pPr lvl="2"/>
            <a:r>
              <a:rPr lang="en-US" altLang="en-US" smtClean="0"/>
              <a:t>DatagramPacket dp = new DatagramPacket(b, b.length);</a:t>
            </a:r>
          </a:p>
        </p:txBody>
      </p:sp>
    </p:spTree>
    <p:extLst>
      <p:ext uri="{BB962C8B-B14F-4D97-AF65-F5344CB8AC3E}">
        <p14:creationId xmlns:p14="http://schemas.microsoft.com/office/powerpoint/2010/main" val="1032811026"/>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p:spPr>
        <p:txBody>
          <a:bodyPr/>
          <a:lstStyle/>
          <a:p>
            <a:r>
              <a:rPr lang="en-US" altLang="en-US" smtClean="0"/>
              <a:t>With a destination:</a:t>
            </a:r>
          </a:p>
        </p:txBody>
      </p:sp>
      <p:sp>
        <p:nvSpPr>
          <p:cNvPr id="36867" name="Rectangle 3"/>
          <p:cNvSpPr>
            <a:spLocks noGrp="1" noChangeArrowheads="1"/>
          </p:cNvSpPr>
          <p:nvPr>
            <p:ph idx="1"/>
          </p:nvPr>
        </p:nvSpPr>
        <p:spPr>
          <a:xfrm>
            <a:off x="0" y="1981200"/>
            <a:ext cx="9144000" cy="4114800"/>
          </a:xfrm>
        </p:spPr>
        <p:txBody>
          <a:bodyPr lIns="0" tIns="46037" rIns="0" bIns="46037">
            <a:normAutofit fontScale="92500" lnSpcReduction="10000"/>
          </a:bodyPr>
          <a:lstStyle/>
          <a:p>
            <a:pPr lvl="2"/>
            <a:r>
              <a:rPr lang="en-US" altLang="en-US" dirty="0" smtClean="0"/>
              <a:t>try {</a:t>
            </a:r>
          </a:p>
          <a:p>
            <a:pPr lvl="2"/>
            <a:r>
              <a:rPr lang="en-US" altLang="en-US" dirty="0" smtClean="0"/>
              <a:t> </a:t>
            </a:r>
            <a:r>
              <a:rPr lang="en-US" altLang="en-US" dirty="0" err="1" smtClean="0"/>
              <a:t>InetAddress</a:t>
            </a:r>
            <a:r>
              <a:rPr lang="en-US" altLang="en-US" dirty="0" smtClean="0"/>
              <a:t> </a:t>
            </a:r>
            <a:r>
              <a:rPr lang="en-US" altLang="en-US" dirty="0" err="1" smtClean="0"/>
              <a:t>metalab</a:t>
            </a:r>
            <a:r>
              <a:rPr lang="en-US" altLang="en-US" dirty="0" smtClean="0"/>
              <a:t> = </a:t>
            </a:r>
            <a:r>
              <a:rPr lang="en-US" altLang="en-US" dirty="0" err="1" smtClean="0"/>
              <a:t>InetAddress.getByName</a:t>
            </a:r>
            <a:r>
              <a:rPr lang="en-US" altLang="en-US" smtClean="0"/>
              <a:t>(“www.google.com");</a:t>
            </a:r>
            <a:endParaRPr lang="en-US" altLang="en-US" dirty="0" smtClean="0"/>
          </a:p>
          <a:p>
            <a:pPr lvl="2"/>
            <a:r>
              <a:rPr lang="en-US" altLang="en-US" dirty="0" smtClean="0"/>
              <a:t>  </a:t>
            </a:r>
            <a:r>
              <a:rPr lang="en-US" altLang="en-US" dirty="0" err="1" smtClean="0"/>
              <a:t>int</a:t>
            </a:r>
            <a:r>
              <a:rPr lang="en-US" altLang="en-US" dirty="0" smtClean="0"/>
              <a:t> </a:t>
            </a:r>
            <a:r>
              <a:rPr lang="en-US" altLang="en-US" dirty="0" err="1" smtClean="0"/>
              <a:t>chargen</a:t>
            </a:r>
            <a:r>
              <a:rPr lang="en-US" altLang="en-US" dirty="0" smtClean="0"/>
              <a:t> = 19;</a:t>
            </a:r>
          </a:p>
          <a:p>
            <a:pPr lvl="2"/>
            <a:r>
              <a:rPr lang="en-US" altLang="en-US" dirty="0" smtClean="0"/>
              <a:t>  String s = "My second UDP Packet";</a:t>
            </a:r>
          </a:p>
          <a:p>
            <a:pPr lvl="2"/>
            <a:r>
              <a:rPr lang="en-US" altLang="en-US" dirty="0" smtClean="0"/>
              <a:t>  byte[] b = </a:t>
            </a:r>
            <a:r>
              <a:rPr lang="en-US" altLang="en-US" dirty="0" err="1" smtClean="0"/>
              <a:t>s.getBytes</a:t>
            </a:r>
            <a:r>
              <a:rPr lang="en-US" altLang="en-US" dirty="0" smtClean="0"/>
              <a:t>();</a:t>
            </a:r>
          </a:p>
          <a:p>
            <a:pPr lvl="2"/>
            <a:r>
              <a:rPr lang="en-US" altLang="en-US" dirty="0" smtClean="0"/>
              <a:t>  </a:t>
            </a:r>
            <a:r>
              <a:rPr lang="en-US" altLang="en-US" dirty="0" err="1" smtClean="0"/>
              <a:t>DatagramPacket</a:t>
            </a:r>
            <a:r>
              <a:rPr lang="en-US" altLang="en-US" dirty="0" smtClean="0"/>
              <a:t> </a:t>
            </a:r>
            <a:r>
              <a:rPr lang="en-US" altLang="en-US" dirty="0" err="1" smtClean="0"/>
              <a:t>dp</a:t>
            </a:r>
            <a:r>
              <a:rPr lang="en-US" altLang="en-US" dirty="0" smtClean="0"/>
              <a:t> = new </a:t>
            </a:r>
            <a:r>
              <a:rPr lang="en-US" altLang="en-US" dirty="0" err="1" smtClean="0"/>
              <a:t>DatagramPacket</a:t>
            </a:r>
            <a:r>
              <a:rPr lang="en-US" altLang="en-US" dirty="0" smtClean="0"/>
              <a:t>(b, </a:t>
            </a:r>
            <a:r>
              <a:rPr lang="en-US" altLang="en-US" dirty="0" err="1" smtClean="0"/>
              <a:t>b.length</a:t>
            </a:r>
            <a:r>
              <a:rPr lang="en-US" altLang="en-US" dirty="0" smtClean="0"/>
              <a:t>, </a:t>
            </a:r>
            <a:r>
              <a:rPr lang="en-US" altLang="en-US" dirty="0" err="1" smtClean="0"/>
              <a:t>metalab</a:t>
            </a:r>
            <a:r>
              <a:rPr lang="en-US" altLang="en-US" dirty="0" smtClean="0"/>
              <a:t>, </a:t>
            </a:r>
            <a:r>
              <a:rPr lang="en-US" altLang="en-US" dirty="0" err="1" smtClean="0"/>
              <a:t>chargen</a:t>
            </a:r>
            <a:r>
              <a:rPr lang="en-US" altLang="en-US" dirty="0" smtClean="0"/>
              <a:t>);</a:t>
            </a:r>
          </a:p>
          <a:p>
            <a:pPr lvl="2"/>
            <a:r>
              <a:rPr lang="en-US" altLang="en-US" dirty="0" smtClean="0"/>
              <a:t>}</a:t>
            </a:r>
          </a:p>
          <a:p>
            <a:pPr lvl="2"/>
            <a:r>
              <a:rPr lang="en-US" altLang="en-US" dirty="0" smtClean="0"/>
              <a:t>catch (</a:t>
            </a:r>
            <a:r>
              <a:rPr lang="en-US" altLang="en-US" dirty="0" err="1" smtClean="0"/>
              <a:t>UnknownHostException</a:t>
            </a:r>
            <a:r>
              <a:rPr lang="en-US" altLang="en-US" dirty="0" smtClean="0"/>
              <a:t> e) {</a:t>
            </a:r>
          </a:p>
          <a:p>
            <a:pPr lvl="2"/>
            <a:r>
              <a:rPr lang="en-US" altLang="en-US" dirty="0" smtClean="0"/>
              <a:t>  </a:t>
            </a:r>
            <a:r>
              <a:rPr lang="en-US" altLang="en-US" dirty="0" err="1" smtClean="0"/>
              <a:t>System.err.println</a:t>
            </a:r>
            <a:r>
              <a:rPr lang="en-US" altLang="en-US" dirty="0" smtClean="0"/>
              <a:t>(e);</a:t>
            </a:r>
          </a:p>
          <a:p>
            <a:pPr lvl="2"/>
            <a:r>
              <a:rPr lang="en-US" altLang="en-US" dirty="0" smtClean="0"/>
              <a:t>}</a:t>
            </a:r>
          </a:p>
        </p:txBody>
      </p:sp>
    </p:spTree>
    <p:extLst>
      <p:ext uri="{BB962C8B-B14F-4D97-AF65-F5344CB8AC3E}">
        <p14:creationId xmlns:p14="http://schemas.microsoft.com/office/powerpoint/2010/main" val="142078225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457200" y="274638"/>
            <a:ext cx="8229600" cy="639762"/>
          </a:xfrm>
          <a:noFill/>
        </p:spPr>
        <p:txBody>
          <a:bodyPr>
            <a:normAutofit fontScale="90000"/>
          </a:bodyPr>
          <a:lstStyle/>
          <a:p>
            <a:r>
              <a:rPr lang="en-US" altLang="en-US" dirty="0" smtClean="0"/>
              <a:t>Example</a:t>
            </a:r>
          </a:p>
        </p:txBody>
      </p:sp>
      <p:sp>
        <p:nvSpPr>
          <p:cNvPr id="36867" name="Rectangle 3"/>
          <p:cNvSpPr>
            <a:spLocks noGrp="1" noChangeArrowheads="1"/>
          </p:cNvSpPr>
          <p:nvPr>
            <p:ph idx="1"/>
          </p:nvPr>
        </p:nvSpPr>
        <p:spPr>
          <a:xfrm>
            <a:off x="0" y="914400"/>
            <a:ext cx="9144000" cy="5943600"/>
          </a:xfrm>
        </p:spPr>
        <p:txBody>
          <a:bodyPr lIns="0" tIns="46037" rIns="0" bIns="46037">
            <a:noAutofit/>
          </a:bodyPr>
          <a:lstStyle/>
          <a:p>
            <a:pPr marL="0" indent="0">
              <a:buNone/>
            </a:pPr>
            <a:r>
              <a:rPr lang="en-IE" sz="1600" b="1" dirty="0">
                <a:solidFill>
                  <a:srgbClr val="7F0055"/>
                </a:solidFill>
                <a:latin typeface="Consolas"/>
              </a:rPr>
              <a:t>import</a:t>
            </a:r>
            <a:r>
              <a:rPr lang="en-IE" sz="1600" b="1" dirty="0">
                <a:solidFill>
                  <a:srgbClr val="000000"/>
                </a:solidFill>
                <a:latin typeface="Consolas"/>
              </a:rPr>
              <a:t> java.io.*;</a:t>
            </a:r>
          </a:p>
          <a:p>
            <a:pPr marL="0" indent="0">
              <a:buNone/>
            </a:pPr>
            <a:r>
              <a:rPr lang="en-IE" sz="1600" b="1" dirty="0">
                <a:solidFill>
                  <a:srgbClr val="7F0055"/>
                </a:solidFill>
                <a:latin typeface="Consolas"/>
              </a:rPr>
              <a:t>import</a:t>
            </a:r>
            <a:r>
              <a:rPr lang="en-IE" sz="1600" b="1" dirty="0">
                <a:solidFill>
                  <a:srgbClr val="000000"/>
                </a:solidFill>
                <a:latin typeface="Consolas"/>
              </a:rPr>
              <a:t> java.net.*;</a:t>
            </a:r>
          </a:p>
          <a:p>
            <a:pPr marL="0" indent="0">
              <a:buNone/>
            </a:pPr>
            <a:r>
              <a:rPr lang="en-IE" sz="1600" b="1" dirty="0">
                <a:solidFill>
                  <a:srgbClr val="7F0055"/>
                </a:solidFill>
                <a:latin typeface="Consolas"/>
              </a:rPr>
              <a:t>public</a:t>
            </a:r>
            <a:r>
              <a:rPr lang="en-IE" sz="1600" b="1" dirty="0">
                <a:solidFill>
                  <a:srgbClr val="000000"/>
                </a:solidFill>
                <a:latin typeface="Consolas"/>
              </a:rPr>
              <a:t> </a:t>
            </a:r>
            <a:r>
              <a:rPr lang="en-IE" sz="1600" b="1" dirty="0">
                <a:solidFill>
                  <a:srgbClr val="7F0055"/>
                </a:solidFill>
                <a:latin typeface="Consolas"/>
              </a:rPr>
              <a:t>class</a:t>
            </a:r>
            <a:r>
              <a:rPr lang="en-IE" sz="1600" b="1" dirty="0">
                <a:solidFill>
                  <a:srgbClr val="000000"/>
                </a:solidFill>
                <a:latin typeface="Consolas"/>
              </a:rPr>
              <a:t> </a:t>
            </a:r>
            <a:r>
              <a:rPr lang="en-IE" sz="1600" b="1" dirty="0" err="1">
                <a:solidFill>
                  <a:srgbClr val="000000"/>
                </a:solidFill>
                <a:latin typeface="Consolas"/>
              </a:rPr>
              <a:t>DatagramExample</a:t>
            </a:r>
            <a:r>
              <a:rPr lang="en-IE" sz="1600" b="1" dirty="0">
                <a:solidFill>
                  <a:srgbClr val="000000"/>
                </a:solidFill>
                <a:latin typeface="Consolas"/>
              </a:rPr>
              <a:t> {</a:t>
            </a:r>
          </a:p>
          <a:p>
            <a:pPr marL="0" indent="0">
              <a:buNone/>
            </a:pPr>
            <a:r>
              <a:rPr lang="en-IE" sz="1600" b="1" dirty="0">
                <a:solidFill>
                  <a:srgbClr val="7F0055"/>
                </a:solidFill>
                <a:latin typeface="Consolas"/>
              </a:rPr>
              <a:t>public</a:t>
            </a:r>
            <a:r>
              <a:rPr lang="en-IE" sz="1600" b="1" dirty="0">
                <a:solidFill>
                  <a:srgbClr val="000000"/>
                </a:solidFill>
                <a:latin typeface="Consolas"/>
              </a:rPr>
              <a:t> </a:t>
            </a:r>
            <a:r>
              <a:rPr lang="en-IE" sz="1600" b="1" dirty="0">
                <a:solidFill>
                  <a:srgbClr val="7F0055"/>
                </a:solidFill>
                <a:latin typeface="Consolas"/>
              </a:rPr>
              <a:t>static</a:t>
            </a:r>
            <a:r>
              <a:rPr lang="en-IE" sz="1600" b="1" dirty="0">
                <a:solidFill>
                  <a:srgbClr val="000000"/>
                </a:solidFill>
                <a:latin typeface="Consolas"/>
              </a:rPr>
              <a:t> </a:t>
            </a:r>
            <a:r>
              <a:rPr lang="en-IE" sz="1600" b="1" dirty="0">
                <a:solidFill>
                  <a:srgbClr val="7F0055"/>
                </a:solidFill>
                <a:latin typeface="Consolas"/>
              </a:rPr>
              <a:t>void</a:t>
            </a:r>
            <a:r>
              <a:rPr lang="en-IE" sz="1600" b="1" dirty="0">
                <a:solidFill>
                  <a:srgbClr val="000000"/>
                </a:solidFill>
                <a:latin typeface="Consolas"/>
              </a:rPr>
              <a:t> main(String[] </a:t>
            </a:r>
            <a:r>
              <a:rPr lang="en-IE" sz="1600" b="1" dirty="0" err="1">
                <a:solidFill>
                  <a:srgbClr val="6A3E3E"/>
                </a:solidFill>
                <a:latin typeface="Consolas"/>
              </a:rPr>
              <a:t>args</a:t>
            </a:r>
            <a:r>
              <a:rPr lang="en-IE" sz="1600" b="1" dirty="0">
                <a:solidFill>
                  <a:srgbClr val="000000"/>
                </a:solidFill>
                <a:latin typeface="Consolas"/>
              </a:rPr>
              <a:t>) {</a:t>
            </a:r>
          </a:p>
          <a:p>
            <a:pPr marL="0" indent="0">
              <a:buNone/>
            </a:pPr>
            <a:r>
              <a:rPr lang="en-IE" sz="1600" dirty="0">
                <a:solidFill>
                  <a:srgbClr val="000000"/>
                </a:solidFill>
                <a:latin typeface="Consolas"/>
              </a:rPr>
              <a:t>String </a:t>
            </a:r>
            <a:r>
              <a:rPr lang="en-IE" sz="1600" dirty="0">
                <a:solidFill>
                  <a:srgbClr val="6A3E3E"/>
                </a:solidFill>
                <a:latin typeface="Consolas"/>
              </a:rPr>
              <a:t>s</a:t>
            </a:r>
            <a:r>
              <a:rPr lang="en-IE" sz="1600" dirty="0">
                <a:solidFill>
                  <a:srgbClr val="000000"/>
                </a:solidFill>
                <a:latin typeface="Consolas"/>
              </a:rPr>
              <a:t> = </a:t>
            </a:r>
            <a:r>
              <a:rPr lang="en-IE" sz="1600" dirty="0">
                <a:solidFill>
                  <a:srgbClr val="2A00FF"/>
                </a:solidFill>
                <a:latin typeface="Consolas"/>
              </a:rPr>
              <a:t>"This is a test."</a:t>
            </a:r>
            <a:r>
              <a:rPr lang="en-IE" sz="1600" dirty="0">
                <a:solidFill>
                  <a:srgbClr val="000000"/>
                </a:solidFill>
                <a:latin typeface="Consolas"/>
              </a:rPr>
              <a:t>;</a:t>
            </a:r>
          </a:p>
          <a:p>
            <a:pPr marL="0" indent="0">
              <a:buNone/>
            </a:pPr>
            <a:r>
              <a:rPr lang="en-IE" sz="1600" b="1" dirty="0">
                <a:solidFill>
                  <a:srgbClr val="7F0055"/>
                </a:solidFill>
                <a:latin typeface="Consolas"/>
              </a:rPr>
              <a:t>try</a:t>
            </a:r>
            <a:r>
              <a:rPr lang="en-IE" sz="1600" b="1" dirty="0">
                <a:solidFill>
                  <a:srgbClr val="000000"/>
                </a:solidFill>
                <a:latin typeface="Consolas"/>
              </a:rPr>
              <a:t> {</a:t>
            </a:r>
          </a:p>
          <a:p>
            <a:pPr marL="0" indent="0">
              <a:buNone/>
            </a:pPr>
            <a:r>
              <a:rPr lang="en-IE" sz="1600" b="1" dirty="0" smtClean="0">
                <a:solidFill>
                  <a:srgbClr val="7F0055"/>
                </a:solidFill>
                <a:latin typeface="Consolas"/>
              </a:rPr>
              <a:t>	byte</a:t>
            </a:r>
            <a:r>
              <a:rPr lang="en-IE" sz="1600" b="1" dirty="0">
                <a:solidFill>
                  <a:srgbClr val="000000"/>
                </a:solidFill>
                <a:latin typeface="Consolas"/>
              </a:rPr>
              <a:t>[] </a:t>
            </a:r>
            <a:r>
              <a:rPr lang="en-IE" sz="1600" b="1" dirty="0">
                <a:solidFill>
                  <a:srgbClr val="6A3E3E"/>
                </a:solidFill>
                <a:latin typeface="Consolas"/>
              </a:rPr>
              <a:t>data</a:t>
            </a:r>
            <a:r>
              <a:rPr lang="en-IE" sz="1600" b="1" dirty="0">
                <a:solidFill>
                  <a:srgbClr val="000000"/>
                </a:solidFill>
                <a:latin typeface="Consolas"/>
              </a:rPr>
              <a:t> = </a:t>
            </a:r>
            <a:r>
              <a:rPr lang="en-IE" sz="1600" b="1" dirty="0" err="1">
                <a:solidFill>
                  <a:srgbClr val="6A3E3E"/>
                </a:solidFill>
                <a:latin typeface="Consolas"/>
              </a:rPr>
              <a:t>s</a:t>
            </a:r>
            <a:r>
              <a:rPr lang="en-IE" sz="1600" b="1" dirty="0" err="1">
                <a:solidFill>
                  <a:srgbClr val="000000"/>
                </a:solidFill>
                <a:latin typeface="Consolas"/>
              </a:rPr>
              <a:t>.getBytes</a:t>
            </a:r>
            <a:r>
              <a:rPr lang="en-IE" sz="1600" b="1" dirty="0">
                <a:solidFill>
                  <a:srgbClr val="000000"/>
                </a:solidFill>
                <a:latin typeface="Consolas"/>
              </a:rPr>
              <a:t>(</a:t>
            </a:r>
            <a:r>
              <a:rPr lang="en-IE" sz="1600" b="1" dirty="0">
                <a:solidFill>
                  <a:srgbClr val="2A00FF"/>
                </a:solidFill>
                <a:latin typeface="Consolas"/>
              </a:rPr>
              <a:t>"UTF-8"</a:t>
            </a:r>
            <a:r>
              <a:rPr lang="en-IE" sz="1600" b="1" dirty="0">
                <a:solidFill>
                  <a:srgbClr val="000000"/>
                </a:solidFill>
                <a:latin typeface="Consolas"/>
              </a:rPr>
              <a:t>);</a:t>
            </a:r>
          </a:p>
          <a:p>
            <a:pPr marL="0" indent="0">
              <a:buNone/>
            </a:pPr>
            <a:r>
              <a:rPr lang="en-IE" sz="1600" dirty="0" smtClean="0">
                <a:solidFill>
                  <a:srgbClr val="000000"/>
                </a:solidFill>
                <a:latin typeface="Consolas"/>
              </a:rPr>
              <a:t>	</a:t>
            </a:r>
            <a:r>
              <a:rPr lang="en-IE" sz="1600" dirty="0" err="1" smtClean="0">
                <a:solidFill>
                  <a:srgbClr val="000000"/>
                </a:solidFill>
                <a:latin typeface="Consolas"/>
              </a:rPr>
              <a:t>InetAddress</a:t>
            </a:r>
            <a:r>
              <a:rPr lang="en-IE" sz="1600" dirty="0" smtClean="0">
                <a:solidFill>
                  <a:srgbClr val="000000"/>
                </a:solidFill>
                <a:latin typeface="Consolas"/>
              </a:rPr>
              <a:t> </a:t>
            </a:r>
            <a:r>
              <a:rPr lang="en-IE" sz="1600" dirty="0" err="1">
                <a:solidFill>
                  <a:srgbClr val="6A3E3E"/>
                </a:solidFill>
                <a:latin typeface="Consolas"/>
              </a:rPr>
              <a:t>ia</a:t>
            </a:r>
            <a:r>
              <a:rPr lang="en-IE" sz="1600" dirty="0">
                <a:solidFill>
                  <a:srgbClr val="000000"/>
                </a:solidFill>
                <a:latin typeface="Consolas"/>
              </a:rPr>
              <a:t> = </a:t>
            </a:r>
            <a:r>
              <a:rPr lang="en-IE" sz="1600" dirty="0" err="1">
                <a:solidFill>
                  <a:srgbClr val="000000"/>
                </a:solidFill>
                <a:latin typeface="Consolas"/>
              </a:rPr>
              <a:t>InetAddress.</a:t>
            </a:r>
            <a:r>
              <a:rPr lang="en-IE" sz="1600" i="1" dirty="0" err="1">
                <a:solidFill>
                  <a:srgbClr val="000000"/>
                </a:solidFill>
                <a:latin typeface="Consolas"/>
              </a:rPr>
              <a:t>getByName</a:t>
            </a:r>
            <a:r>
              <a:rPr lang="en-IE" sz="1600" i="1" dirty="0">
                <a:solidFill>
                  <a:srgbClr val="000000"/>
                </a:solidFill>
                <a:latin typeface="Consolas"/>
              </a:rPr>
              <a:t>(</a:t>
            </a:r>
            <a:r>
              <a:rPr lang="en-IE" sz="1600" i="1" dirty="0">
                <a:solidFill>
                  <a:srgbClr val="2A00FF"/>
                </a:solidFill>
                <a:latin typeface="Consolas"/>
              </a:rPr>
              <a:t>"www.google.com"</a:t>
            </a:r>
            <a:r>
              <a:rPr lang="en-IE" sz="1600" i="1" dirty="0">
                <a:solidFill>
                  <a:srgbClr val="000000"/>
                </a:solidFill>
                <a:latin typeface="Consolas"/>
              </a:rPr>
              <a:t>);</a:t>
            </a:r>
          </a:p>
          <a:p>
            <a:pPr marL="0" indent="0">
              <a:buNone/>
            </a:pPr>
            <a:r>
              <a:rPr lang="en-IE" sz="1600" b="1" dirty="0" smtClean="0">
                <a:solidFill>
                  <a:srgbClr val="7F0055"/>
                </a:solidFill>
                <a:latin typeface="Consolas"/>
              </a:rPr>
              <a:t>	</a:t>
            </a:r>
            <a:r>
              <a:rPr lang="en-IE" sz="1600" b="1" dirty="0" err="1" smtClean="0">
                <a:solidFill>
                  <a:srgbClr val="7F0055"/>
                </a:solidFill>
                <a:latin typeface="Consolas"/>
              </a:rPr>
              <a:t>int</a:t>
            </a:r>
            <a:r>
              <a:rPr lang="en-IE" sz="1600" b="1" dirty="0" smtClean="0">
                <a:solidFill>
                  <a:srgbClr val="000000"/>
                </a:solidFill>
                <a:latin typeface="Consolas"/>
              </a:rPr>
              <a:t> </a:t>
            </a:r>
            <a:r>
              <a:rPr lang="en-IE" sz="1600" b="1" dirty="0">
                <a:solidFill>
                  <a:srgbClr val="6A3E3E"/>
                </a:solidFill>
                <a:latin typeface="Consolas"/>
              </a:rPr>
              <a:t>port</a:t>
            </a:r>
            <a:r>
              <a:rPr lang="en-IE" sz="1600" b="1" dirty="0">
                <a:solidFill>
                  <a:srgbClr val="000000"/>
                </a:solidFill>
                <a:latin typeface="Consolas"/>
              </a:rPr>
              <a:t> = 7;</a:t>
            </a:r>
          </a:p>
          <a:p>
            <a:pPr marL="0" indent="0">
              <a:buNone/>
            </a:pPr>
            <a:r>
              <a:rPr lang="en-IE" sz="1600" dirty="0" smtClean="0">
                <a:solidFill>
                  <a:srgbClr val="000000"/>
                </a:solidFill>
                <a:latin typeface="Consolas"/>
              </a:rPr>
              <a:t>	</a:t>
            </a:r>
            <a:r>
              <a:rPr lang="en-IE" sz="1600" dirty="0" err="1" smtClean="0">
                <a:solidFill>
                  <a:srgbClr val="000000"/>
                </a:solidFill>
                <a:latin typeface="Consolas"/>
              </a:rPr>
              <a:t>DatagramPacket</a:t>
            </a:r>
            <a:r>
              <a:rPr lang="en-IE" sz="1600" dirty="0" smtClean="0">
                <a:solidFill>
                  <a:srgbClr val="000000"/>
                </a:solidFill>
                <a:latin typeface="Consolas"/>
              </a:rPr>
              <a:t> </a:t>
            </a:r>
            <a:r>
              <a:rPr lang="en-IE" sz="1600" dirty="0" err="1">
                <a:solidFill>
                  <a:srgbClr val="6A3E3E"/>
                </a:solidFill>
                <a:latin typeface="Consolas"/>
              </a:rPr>
              <a:t>dp</a:t>
            </a:r>
            <a:r>
              <a:rPr lang="en-IE" sz="1600" dirty="0">
                <a:solidFill>
                  <a:srgbClr val="000000"/>
                </a:solidFill>
                <a:latin typeface="Consolas"/>
              </a:rPr>
              <a:t> = </a:t>
            </a:r>
            <a:r>
              <a:rPr lang="en-IE" sz="1600" b="1" dirty="0">
                <a:solidFill>
                  <a:srgbClr val="7F0055"/>
                </a:solidFill>
                <a:latin typeface="Consolas"/>
              </a:rPr>
              <a:t>new</a:t>
            </a:r>
            <a:r>
              <a:rPr lang="en-IE" sz="1600" b="1" dirty="0">
                <a:solidFill>
                  <a:srgbClr val="000000"/>
                </a:solidFill>
                <a:latin typeface="Consolas"/>
              </a:rPr>
              <a:t> </a:t>
            </a:r>
            <a:r>
              <a:rPr lang="en-IE" sz="1600" b="1" dirty="0" err="1">
                <a:solidFill>
                  <a:srgbClr val="000000"/>
                </a:solidFill>
                <a:latin typeface="Consolas"/>
              </a:rPr>
              <a:t>DatagramPacket</a:t>
            </a:r>
            <a:r>
              <a:rPr lang="en-IE" sz="1600" b="1" dirty="0">
                <a:solidFill>
                  <a:srgbClr val="000000"/>
                </a:solidFill>
                <a:latin typeface="Consolas"/>
              </a:rPr>
              <a:t>(</a:t>
            </a:r>
            <a:r>
              <a:rPr lang="en-IE" sz="1600" b="1" dirty="0">
                <a:solidFill>
                  <a:srgbClr val="6A3E3E"/>
                </a:solidFill>
                <a:latin typeface="Consolas"/>
              </a:rPr>
              <a:t>data</a:t>
            </a:r>
            <a:r>
              <a:rPr lang="en-IE" sz="1600" b="1" dirty="0">
                <a:solidFill>
                  <a:srgbClr val="000000"/>
                </a:solidFill>
                <a:latin typeface="Consolas"/>
              </a:rPr>
              <a:t>, </a:t>
            </a:r>
            <a:r>
              <a:rPr lang="en-IE" sz="1600" b="1" dirty="0" err="1">
                <a:solidFill>
                  <a:srgbClr val="6A3E3E"/>
                </a:solidFill>
                <a:latin typeface="Consolas"/>
              </a:rPr>
              <a:t>data</a:t>
            </a:r>
            <a:r>
              <a:rPr lang="en-IE" sz="1600" b="1" dirty="0" err="1">
                <a:solidFill>
                  <a:srgbClr val="000000"/>
                </a:solidFill>
                <a:latin typeface="Consolas"/>
              </a:rPr>
              <a:t>.</a:t>
            </a:r>
            <a:r>
              <a:rPr lang="en-IE" sz="1600" b="1" dirty="0" err="1">
                <a:solidFill>
                  <a:srgbClr val="0000C0"/>
                </a:solidFill>
                <a:latin typeface="Consolas"/>
              </a:rPr>
              <a:t>length</a:t>
            </a:r>
            <a:r>
              <a:rPr lang="en-IE" sz="1600" b="1" dirty="0">
                <a:solidFill>
                  <a:srgbClr val="000000"/>
                </a:solidFill>
                <a:latin typeface="Consolas"/>
              </a:rPr>
              <a:t>, </a:t>
            </a:r>
            <a:r>
              <a:rPr lang="en-IE" sz="1600" b="1" dirty="0" err="1">
                <a:solidFill>
                  <a:srgbClr val="6A3E3E"/>
                </a:solidFill>
                <a:latin typeface="Consolas"/>
              </a:rPr>
              <a:t>ia</a:t>
            </a:r>
            <a:r>
              <a:rPr lang="en-IE" sz="1600" b="1" dirty="0">
                <a:solidFill>
                  <a:srgbClr val="000000"/>
                </a:solidFill>
                <a:latin typeface="Consolas"/>
              </a:rPr>
              <a:t>, </a:t>
            </a:r>
            <a:r>
              <a:rPr lang="en-IE" sz="1600" b="1" dirty="0">
                <a:solidFill>
                  <a:srgbClr val="6A3E3E"/>
                </a:solidFill>
                <a:latin typeface="Consolas"/>
              </a:rPr>
              <a:t>port</a:t>
            </a:r>
            <a:r>
              <a:rPr lang="en-IE" sz="1600" b="1" dirty="0">
                <a:solidFill>
                  <a:srgbClr val="000000"/>
                </a:solidFill>
                <a:latin typeface="Consolas"/>
              </a:rPr>
              <a:t>);</a:t>
            </a:r>
          </a:p>
          <a:p>
            <a:pPr marL="0" indent="0">
              <a:buNone/>
            </a:pPr>
            <a:r>
              <a:rPr lang="en-IE" sz="1600" dirty="0" smtClean="0">
                <a:solidFill>
                  <a:srgbClr val="000000"/>
                </a:solidFill>
                <a:latin typeface="Consolas"/>
              </a:rPr>
              <a:t>	</a:t>
            </a:r>
            <a:r>
              <a:rPr lang="en-IE" sz="1600" dirty="0" err="1" smtClean="0">
                <a:solidFill>
                  <a:srgbClr val="000000"/>
                </a:solidFill>
                <a:latin typeface="Consolas"/>
              </a:rPr>
              <a:t>System.</a:t>
            </a:r>
            <a:r>
              <a:rPr lang="en-IE" sz="1600" b="1" i="1" dirty="0" err="1" smtClean="0">
                <a:solidFill>
                  <a:srgbClr val="0000C0"/>
                </a:solidFill>
                <a:latin typeface="Consolas"/>
              </a:rPr>
              <a:t>out</a:t>
            </a:r>
            <a:r>
              <a:rPr lang="en-IE" sz="1600" b="1" i="1" dirty="0" err="1" smtClean="0">
                <a:solidFill>
                  <a:srgbClr val="000000"/>
                </a:solidFill>
                <a:latin typeface="Consolas"/>
              </a:rPr>
              <a:t>.println</a:t>
            </a:r>
            <a:r>
              <a:rPr lang="en-IE" sz="1600" b="1" i="1" dirty="0">
                <a:solidFill>
                  <a:srgbClr val="000000"/>
                </a:solidFill>
                <a:latin typeface="Consolas"/>
              </a:rPr>
              <a:t>(</a:t>
            </a:r>
            <a:r>
              <a:rPr lang="en-IE" sz="1600" b="1" i="1" dirty="0">
                <a:solidFill>
                  <a:srgbClr val="2A00FF"/>
                </a:solidFill>
                <a:latin typeface="Consolas"/>
              </a:rPr>
              <a:t>"This packet is addressed to "</a:t>
            </a:r>
            <a:r>
              <a:rPr lang="en-IE" sz="1600" b="1" i="1" dirty="0">
                <a:solidFill>
                  <a:srgbClr val="000000"/>
                </a:solidFill>
                <a:latin typeface="Consolas"/>
              </a:rPr>
              <a:t> + </a:t>
            </a:r>
            <a:r>
              <a:rPr lang="en-IE" sz="1600" b="1" i="1" dirty="0" err="1">
                <a:solidFill>
                  <a:srgbClr val="6A3E3E"/>
                </a:solidFill>
                <a:latin typeface="Consolas"/>
              </a:rPr>
              <a:t>dp</a:t>
            </a:r>
            <a:r>
              <a:rPr lang="en-IE" sz="1600" b="1" i="1" dirty="0" err="1">
                <a:solidFill>
                  <a:srgbClr val="000000"/>
                </a:solidFill>
                <a:latin typeface="Consolas"/>
              </a:rPr>
              <a:t>.getAddress</a:t>
            </a:r>
            <a:r>
              <a:rPr lang="en-IE" sz="1600" b="1" i="1" dirty="0">
                <a:solidFill>
                  <a:srgbClr val="000000"/>
                </a:solidFill>
                <a:latin typeface="Consolas"/>
              </a:rPr>
              <a:t>() + </a:t>
            </a:r>
            <a:r>
              <a:rPr lang="en-IE" sz="1600" b="1" i="1" dirty="0">
                <a:solidFill>
                  <a:srgbClr val="2A00FF"/>
                </a:solidFill>
                <a:latin typeface="Consolas"/>
              </a:rPr>
              <a:t>" on </a:t>
            </a:r>
            <a:r>
              <a:rPr lang="en-IE" sz="1600" b="1" i="1" dirty="0" smtClean="0">
                <a:solidFill>
                  <a:srgbClr val="2A00FF"/>
                </a:solidFill>
                <a:latin typeface="Consolas"/>
              </a:rPr>
              <a:t>	port </a:t>
            </a:r>
            <a:r>
              <a:rPr lang="en-IE" sz="1600" b="1" i="1" dirty="0">
                <a:solidFill>
                  <a:srgbClr val="2A00FF"/>
                </a:solidFill>
                <a:latin typeface="Consolas"/>
              </a:rPr>
              <a:t>"</a:t>
            </a:r>
            <a:r>
              <a:rPr lang="en-IE" sz="1600" b="1" i="1" dirty="0">
                <a:solidFill>
                  <a:srgbClr val="000000"/>
                </a:solidFill>
                <a:latin typeface="Consolas"/>
              </a:rPr>
              <a:t> + </a:t>
            </a:r>
            <a:r>
              <a:rPr lang="en-IE" sz="1600" b="1" i="1" dirty="0" smtClean="0">
                <a:solidFill>
                  <a:srgbClr val="000000"/>
                </a:solidFill>
                <a:latin typeface="Consolas"/>
              </a:rPr>
              <a:t>	</a:t>
            </a:r>
            <a:r>
              <a:rPr lang="en-IE" sz="1600" b="1" i="1" dirty="0" err="1" smtClean="0">
                <a:solidFill>
                  <a:srgbClr val="6A3E3E"/>
                </a:solidFill>
                <a:latin typeface="Consolas"/>
              </a:rPr>
              <a:t>dp</a:t>
            </a:r>
            <a:r>
              <a:rPr lang="en-IE" sz="1600" b="1" i="1" dirty="0" err="1" smtClean="0">
                <a:solidFill>
                  <a:srgbClr val="000000"/>
                </a:solidFill>
                <a:latin typeface="Consolas"/>
              </a:rPr>
              <a:t>.getPort</a:t>
            </a:r>
            <a:r>
              <a:rPr lang="en-IE" sz="1600" b="1" i="1" dirty="0">
                <a:solidFill>
                  <a:srgbClr val="000000"/>
                </a:solidFill>
                <a:latin typeface="Consolas"/>
              </a:rPr>
              <a:t>());</a:t>
            </a:r>
          </a:p>
          <a:p>
            <a:pPr marL="0" indent="0">
              <a:buNone/>
            </a:pPr>
            <a:r>
              <a:rPr lang="en-IE" sz="1600" dirty="0" smtClean="0">
                <a:solidFill>
                  <a:srgbClr val="000000"/>
                </a:solidFill>
                <a:latin typeface="Consolas"/>
              </a:rPr>
              <a:t>	</a:t>
            </a:r>
            <a:r>
              <a:rPr lang="en-IE" sz="1600" dirty="0" err="1" smtClean="0">
                <a:solidFill>
                  <a:srgbClr val="000000"/>
                </a:solidFill>
                <a:latin typeface="Consolas"/>
              </a:rPr>
              <a:t>System.</a:t>
            </a:r>
            <a:r>
              <a:rPr lang="en-IE" sz="1600" b="1" i="1" dirty="0" err="1" smtClean="0">
                <a:solidFill>
                  <a:srgbClr val="0000C0"/>
                </a:solidFill>
                <a:latin typeface="Consolas"/>
              </a:rPr>
              <a:t>out</a:t>
            </a:r>
            <a:r>
              <a:rPr lang="en-IE" sz="1600" b="1" i="1" dirty="0" err="1" smtClean="0">
                <a:solidFill>
                  <a:srgbClr val="000000"/>
                </a:solidFill>
                <a:latin typeface="Consolas"/>
              </a:rPr>
              <a:t>.println</a:t>
            </a:r>
            <a:r>
              <a:rPr lang="en-IE" sz="1600" b="1" i="1" dirty="0">
                <a:solidFill>
                  <a:srgbClr val="000000"/>
                </a:solidFill>
                <a:latin typeface="Consolas"/>
              </a:rPr>
              <a:t>(</a:t>
            </a:r>
            <a:r>
              <a:rPr lang="en-IE" sz="1600" b="1" i="1" dirty="0">
                <a:solidFill>
                  <a:srgbClr val="2A00FF"/>
                </a:solidFill>
                <a:latin typeface="Consolas"/>
              </a:rPr>
              <a:t>"There are "</a:t>
            </a:r>
            <a:r>
              <a:rPr lang="en-IE" sz="1600" b="1" i="1" dirty="0">
                <a:solidFill>
                  <a:srgbClr val="000000"/>
                </a:solidFill>
                <a:latin typeface="Consolas"/>
              </a:rPr>
              <a:t> + </a:t>
            </a:r>
            <a:r>
              <a:rPr lang="en-IE" sz="1600" b="1" i="1" dirty="0" err="1">
                <a:solidFill>
                  <a:srgbClr val="6A3E3E"/>
                </a:solidFill>
                <a:latin typeface="Consolas"/>
              </a:rPr>
              <a:t>dp</a:t>
            </a:r>
            <a:r>
              <a:rPr lang="en-IE" sz="1600" b="1" i="1" dirty="0" err="1">
                <a:solidFill>
                  <a:srgbClr val="000000"/>
                </a:solidFill>
                <a:latin typeface="Consolas"/>
              </a:rPr>
              <a:t>.getLength</a:t>
            </a:r>
            <a:r>
              <a:rPr lang="en-IE" sz="1600" b="1" i="1" dirty="0">
                <a:solidFill>
                  <a:srgbClr val="000000"/>
                </a:solidFill>
                <a:latin typeface="Consolas"/>
              </a:rPr>
              <a:t>() + </a:t>
            </a:r>
            <a:r>
              <a:rPr lang="en-IE" sz="1600" b="1" i="1" dirty="0">
                <a:solidFill>
                  <a:srgbClr val="2A00FF"/>
                </a:solidFill>
                <a:latin typeface="Consolas"/>
              </a:rPr>
              <a:t>" bytes of data in the </a:t>
            </a:r>
            <a:r>
              <a:rPr lang="en-IE" sz="1600" b="1" i="1" dirty="0" smtClean="0">
                <a:solidFill>
                  <a:srgbClr val="2A00FF"/>
                </a:solidFill>
                <a:latin typeface="Consolas"/>
              </a:rPr>
              <a:t>	packet</a:t>
            </a:r>
            <a:r>
              <a:rPr lang="en-IE" sz="1600" b="1" i="1" dirty="0">
                <a:solidFill>
                  <a:srgbClr val="2A00FF"/>
                </a:solidFill>
                <a:latin typeface="Consolas"/>
              </a:rPr>
              <a:t>"</a:t>
            </a:r>
            <a:r>
              <a:rPr lang="en-IE" sz="1600" b="1" i="1" dirty="0">
                <a:solidFill>
                  <a:srgbClr val="000000"/>
                </a:solidFill>
                <a:latin typeface="Consolas"/>
              </a:rPr>
              <a:t>);</a:t>
            </a:r>
          </a:p>
          <a:p>
            <a:pPr marL="0" indent="0">
              <a:buNone/>
            </a:pPr>
            <a:r>
              <a:rPr lang="en-IE" sz="1600" dirty="0" smtClean="0">
                <a:solidFill>
                  <a:srgbClr val="000000"/>
                </a:solidFill>
                <a:latin typeface="Consolas"/>
              </a:rPr>
              <a:t>	</a:t>
            </a:r>
            <a:r>
              <a:rPr lang="en-IE" sz="1600" dirty="0" err="1" smtClean="0">
                <a:solidFill>
                  <a:srgbClr val="000000"/>
                </a:solidFill>
                <a:latin typeface="Consolas"/>
              </a:rPr>
              <a:t>System.</a:t>
            </a:r>
            <a:r>
              <a:rPr lang="en-IE" sz="1600" b="1" i="1" dirty="0" err="1" smtClean="0">
                <a:solidFill>
                  <a:srgbClr val="0000C0"/>
                </a:solidFill>
                <a:latin typeface="Consolas"/>
              </a:rPr>
              <a:t>out</a:t>
            </a:r>
            <a:r>
              <a:rPr lang="en-IE" sz="1600" b="1" i="1" dirty="0" err="1" smtClean="0">
                <a:solidFill>
                  <a:srgbClr val="000000"/>
                </a:solidFill>
                <a:latin typeface="Consolas"/>
              </a:rPr>
              <a:t>.println</a:t>
            </a:r>
            <a:r>
              <a:rPr lang="en-IE" sz="1600" b="1" i="1" dirty="0" smtClean="0">
                <a:solidFill>
                  <a:srgbClr val="000000"/>
                </a:solidFill>
                <a:latin typeface="Consolas"/>
              </a:rPr>
              <a:t>(</a:t>
            </a:r>
            <a:r>
              <a:rPr lang="en-IE" sz="1600" b="1" i="1" dirty="0" smtClean="0">
                <a:solidFill>
                  <a:srgbClr val="7F0055"/>
                </a:solidFill>
                <a:latin typeface="Consolas"/>
              </a:rPr>
              <a:t>new</a:t>
            </a:r>
            <a:r>
              <a:rPr lang="en-IE" sz="1600" b="1" i="1" dirty="0" smtClean="0">
                <a:solidFill>
                  <a:srgbClr val="000000"/>
                </a:solidFill>
                <a:latin typeface="Consolas"/>
              </a:rPr>
              <a:t> </a:t>
            </a:r>
            <a:r>
              <a:rPr lang="en-IE" sz="1600" b="1" i="1" dirty="0">
                <a:solidFill>
                  <a:srgbClr val="000000"/>
                </a:solidFill>
                <a:latin typeface="Consolas"/>
              </a:rPr>
              <a:t>String(</a:t>
            </a:r>
            <a:r>
              <a:rPr lang="en-IE" sz="1600" b="1" i="1" dirty="0" err="1">
                <a:solidFill>
                  <a:srgbClr val="6A3E3E"/>
                </a:solidFill>
                <a:latin typeface="Consolas"/>
              </a:rPr>
              <a:t>dp</a:t>
            </a:r>
            <a:r>
              <a:rPr lang="en-IE" sz="1600" b="1" i="1" dirty="0" err="1">
                <a:solidFill>
                  <a:srgbClr val="000000"/>
                </a:solidFill>
                <a:latin typeface="Consolas"/>
              </a:rPr>
              <a:t>.getData</a:t>
            </a:r>
            <a:r>
              <a:rPr lang="en-IE" sz="1600" b="1" i="1" dirty="0">
                <a:solidFill>
                  <a:srgbClr val="000000"/>
                </a:solidFill>
                <a:latin typeface="Consolas"/>
              </a:rPr>
              <a:t>(), </a:t>
            </a:r>
            <a:r>
              <a:rPr lang="en-IE" sz="1600" b="1" i="1" dirty="0" err="1">
                <a:solidFill>
                  <a:srgbClr val="6A3E3E"/>
                </a:solidFill>
                <a:latin typeface="Consolas"/>
              </a:rPr>
              <a:t>dp</a:t>
            </a:r>
            <a:r>
              <a:rPr lang="en-IE" sz="1600" b="1" i="1" dirty="0" err="1">
                <a:solidFill>
                  <a:srgbClr val="000000"/>
                </a:solidFill>
                <a:latin typeface="Consolas"/>
              </a:rPr>
              <a:t>.getOffset</a:t>
            </a:r>
            <a:r>
              <a:rPr lang="en-IE" sz="1600" b="1" i="1" dirty="0">
                <a:solidFill>
                  <a:srgbClr val="000000"/>
                </a:solidFill>
                <a:latin typeface="Consolas"/>
              </a:rPr>
              <a:t>(), </a:t>
            </a:r>
            <a:r>
              <a:rPr lang="en-IE" sz="1600" b="1" i="1" dirty="0" err="1">
                <a:solidFill>
                  <a:srgbClr val="6A3E3E"/>
                </a:solidFill>
                <a:latin typeface="Consolas"/>
              </a:rPr>
              <a:t>dp</a:t>
            </a:r>
            <a:r>
              <a:rPr lang="en-IE" sz="1600" b="1" i="1" dirty="0" err="1">
                <a:solidFill>
                  <a:srgbClr val="000000"/>
                </a:solidFill>
                <a:latin typeface="Consolas"/>
              </a:rPr>
              <a:t>.getLength</a:t>
            </a:r>
            <a:r>
              <a:rPr lang="en-IE" sz="1600" b="1" i="1" dirty="0">
                <a:solidFill>
                  <a:srgbClr val="000000"/>
                </a:solidFill>
                <a:latin typeface="Consolas"/>
              </a:rPr>
              <a:t>(), </a:t>
            </a:r>
            <a:r>
              <a:rPr lang="en-IE" sz="1600" b="1" i="1" dirty="0">
                <a:solidFill>
                  <a:srgbClr val="2A00FF"/>
                </a:solidFill>
                <a:latin typeface="Consolas"/>
              </a:rPr>
              <a:t>"</a:t>
            </a:r>
            <a:r>
              <a:rPr lang="en-IE" sz="1600" b="1" i="1" dirty="0" smtClean="0">
                <a:solidFill>
                  <a:srgbClr val="2A00FF"/>
                </a:solidFill>
                <a:latin typeface="Consolas"/>
              </a:rPr>
              <a:t>UTF-8</a:t>
            </a:r>
            <a:r>
              <a:rPr lang="en-IE" sz="1600" b="1" i="1" dirty="0">
                <a:solidFill>
                  <a:srgbClr val="2A00FF"/>
                </a:solidFill>
                <a:latin typeface="Consolas"/>
              </a:rPr>
              <a:t>"</a:t>
            </a:r>
            <a:r>
              <a:rPr lang="en-IE" sz="1600" b="1" i="1" dirty="0">
                <a:solidFill>
                  <a:srgbClr val="000000"/>
                </a:solidFill>
                <a:latin typeface="Consolas"/>
              </a:rPr>
              <a:t>));</a:t>
            </a:r>
          </a:p>
          <a:p>
            <a:pPr marL="0" indent="0">
              <a:buNone/>
            </a:pPr>
            <a:r>
              <a:rPr lang="en-IE" sz="1600" dirty="0">
                <a:solidFill>
                  <a:srgbClr val="000000"/>
                </a:solidFill>
                <a:latin typeface="Consolas"/>
              </a:rPr>
              <a:t>} </a:t>
            </a:r>
            <a:r>
              <a:rPr lang="en-IE" sz="1600" b="1" dirty="0">
                <a:solidFill>
                  <a:srgbClr val="7F0055"/>
                </a:solidFill>
                <a:latin typeface="Consolas"/>
              </a:rPr>
              <a:t>catch</a:t>
            </a:r>
            <a:r>
              <a:rPr lang="en-IE" sz="1600" b="1" dirty="0">
                <a:solidFill>
                  <a:srgbClr val="000000"/>
                </a:solidFill>
                <a:latin typeface="Consolas"/>
              </a:rPr>
              <a:t> (</a:t>
            </a:r>
            <a:r>
              <a:rPr lang="en-IE" sz="1600" b="1" dirty="0" err="1">
                <a:solidFill>
                  <a:srgbClr val="000000"/>
                </a:solidFill>
                <a:latin typeface="Consolas"/>
              </a:rPr>
              <a:t>UnknownHostException</a:t>
            </a:r>
            <a:r>
              <a:rPr lang="en-IE" sz="1600" b="1" dirty="0">
                <a:solidFill>
                  <a:srgbClr val="000000"/>
                </a:solidFill>
                <a:latin typeface="Consolas"/>
              </a:rPr>
              <a:t> | </a:t>
            </a:r>
            <a:r>
              <a:rPr lang="en-IE" sz="1600" b="1" dirty="0" err="1">
                <a:solidFill>
                  <a:srgbClr val="000000"/>
                </a:solidFill>
                <a:latin typeface="Consolas"/>
              </a:rPr>
              <a:t>UnsupportedEncodingException</a:t>
            </a:r>
            <a:r>
              <a:rPr lang="en-IE" sz="1600" b="1" dirty="0">
                <a:solidFill>
                  <a:srgbClr val="000000"/>
                </a:solidFill>
                <a:latin typeface="Consolas"/>
              </a:rPr>
              <a:t> </a:t>
            </a:r>
            <a:r>
              <a:rPr lang="en-IE" sz="1600" b="1" dirty="0">
                <a:solidFill>
                  <a:srgbClr val="6A3E3E"/>
                </a:solidFill>
                <a:latin typeface="Consolas"/>
              </a:rPr>
              <a:t>ex</a:t>
            </a:r>
            <a:r>
              <a:rPr lang="en-IE" sz="1600" b="1" dirty="0">
                <a:solidFill>
                  <a:srgbClr val="000000"/>
                </a:solidFill>
                <a:latin typeface="Consolas"/>
              </a:rPr>
              <a:t>) {</a:t>
            </a:r>
          </a:p>
          <a:p>
            <a:pPr marL="0" indent="0">
              <a:buNone/>
            </a:pPr>
            <a:r>
              <a:rPr lang="en-IE" sz="1600" dirty="0" smtClean="0">
                <a:solidFill>
                  <a:srgbClr val="000000"/>
                </a:solidFill>
                <a:latin typeface="Consolas"/>
              </a:rPr>
              <a:t>	</a:t>
            </a:r>
            <a:r>
              <a:rPr lang="en-IE" sz="1600" dirty="0" err="1" smtClean="0">
                <a:solidFill>
                  <a:srgbClr val="000000"/>
                </a:solidFill>
                <a:latin typeface="Consolas"/>
              </a:rPr>
              <a:t>System.</a:t>
            </a:r>
            <a:r>
              <a:rPr lang="en-IE" sz="1600" b="1" i="1" dirty="0" err="1" smtClean="0">
                <a:solidFill>
                  <a:srgbClr val="0000C0"/>
                </a:solidFill>
                <a:latin typeface="Consolas"/>
              </a:rPr>
              <a:t>err</a:t>
            </a:r>
            <a:r>
              <a:rPr lang="en-IE" sz="1600" b="1" i="1" dirty="0" err="1" smtClean="0">
                <a:solidFill>
                  <a:srgbClr val="000000"/>
                </a:solidFill>
                <a:latin typeface="Consolas"/>
              </a:rPr>
              <a:t>.println</a:t>
            </a:r>
            <a:r>
              <a:rPr lang="en-IE" sz="1600" b="1" i="1" dirty="0" smtClean="0">
                <a:solidFill>
                  <a:srgbClr val="000000"/>
                </a:solidFill>
                <a:latin typeface="Consolas"/>
              </a:rPr>
              <a:t>(</a:t>
            </a:r>
            <a:r>
              <a:rPr lang="en-IE" sz="1600" b="1" i="1" dirty="0" smtClean="0">
                <a:solidFill>
                  <a:srgbClr val="6A3E3E"/>
                </a:solidFill>
                <a:latin typeface="Consolas"/>
              </a:rPr>
              <a:t>ex</a:t>
            </a:r>
            <a:r>
              <a:rPr lang="en-IE" sz="1600" b="1" i="1" dirty="0">
                <a:solidFill>
                  <a:srgbClr val="000000"/>
                </a:solidFill>
                <a:latin typeface="Consolas"/>
              </a:rPr>
              <a:t>);</a:t>
            </a:r>
          </a:p>
          <a:p>
            <a:pPr marL="0" indent="0">
              <a:buNone/>
            </a:pPr>
            <a:r>
              <a:rPr lang="en-IE" sz="1600" dirty="0">
                <a:solidFill>
                  <a:srgbClr val="000000"/>
                </a:solidFill>
                <a:latin typeface="Consolas"/>
              </a:rPr>
              <a:t>}</a:t>
            </a:r>
          </a:p>
          <a:p>
            <a:pPr marL="0" indent="0">
              <a:buNone/>
            </a:pPr>
            <a:r>
              <a:rPr lang="en-IE" sz="1600" dirty="0">
                <a:solidFill>
                  <a:srgbClr val="000000"/>
                </a:solidFill>
                <a:latin typeface="Consolas"/>
              </a:rPr>
              <a:t>}</a:t>
            </a:r>
          </a:p>
          <a:p>
            <a:pPr marL="0" indent="0">
              <a:buNone/>
            </a:pPr>
            <a:r>
              <a:rPr lang="en-IE" sz="1600" dirty="0">
                <a:solidFill>
                  <a:srgbClr val="000000"/>
                </a:solidFill>
                <a:latin typeface="Consolas"/>
              </a:rPr>
              <a:t>}</a:t>
            </a:r>
            <a:endParaRPr lang="en-US" altLang="en-US" sz="1600" dirty="0" smtClean="0"/>
          </a:p>
        </p:txBody>
      </p:sp>
    </p:spTree>
    <p:extLst>
      <p:ext uri="{BB962C8B-B14F-4D97-AF65-F5344CB8AC3E}">
        <p14:creationId xmlns:p14="http://schemas.microsoft.com/office/powerpoint/2010/main" val="98931300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457200" y="274638"/>
            <a:ext cx="8229600" cy="639762"/>
          </a:xfrm>
          <a:noFill/>
        </p:spPr>
        <p:txBody>
          <a:bodyPr>
            <a:normAutofit fontScale="90000"/>
          </a:bodyPr>
          <a:lstStyle/>
          <a:p>
            <a:r>
              <a:rPr lang="en-US" altLang="en-US" dirty="0" smtClean="0"/>
              <a:t>UPD Port Scanner</a:t>
            </a:r>
          </a:p>
        </p:txBody>
      </p:sp>
      <p:sp>
        <p:nvSpPr>
          <p:cNvPr id="36867" name="Rectangle 3"/>
          <p:cNvSpPr>
            <a:spLocks noGrp="1" noChangeArrowheads="1"/>
          </p:cNvSpPr>
          <p:nvPr>
            <p:ph idx="1"/>
          </p:nvPr>
        </p:nvSpPr>
        <p:spPr>
          <a:xfrm>
            <a:off x="0" y="914400"/>
            <a:ext cx="9144000" cy="5943600"/>
          </a:xfrm>
        </p:spPr>
        <p:txBody>
          <a:bodyPr lIns="0" tIns="46037" rIns="0" bIns="46037">
            <a:noAutofit/>
          </a:bodyPr>
          <a:lstStyle/>
          <a:p>
            <a:endParaRPr lang="en-IE" sz="1600" dirty="0">
              <a:latin typeface="Consolas"/>
            </a:endParaRPr>
          </a:p>
          <a:p>
            <a:r>
              <a:rPr lang="en-IE" sz="1600" b="1" dirty="0">
                <a:solidFill>
                  <a:srgbClr val="7F0055"/>
                </a:solidFill>
                <a:latin typeface="Consolas"/>
              </a:rPr>
              <a:t>import</a:t>
            </a:r>
            <a:r>
              <a:rPr lang="en-IE" sz="1600" b="1" dirty="0">
                <a:solidFill>
                  <a:srgbClr val="000000"/>
                </a:solidFill>
                <a:latin typeface="Consolas"/>
              </a:rPr>
              <a:t> java.net.*;</a:t>
            </a:r>
          </a:p>
          <a:p>
            <a:r>
              <a:rPr lang="en-IE" sz="1600" b="1" dirty="0">
                <a:solidFill>
                  <a:srgbClr val="7F0055"/>
                </a:solidFill>
                <a:latin typeface="Consolas"/>
              </a:rPr>
              <a:t>public</a:t>
            </a:r>
            <a:r>
              <a:rPr lang="en-IE" sz="1600" b="1" dirty="0">
                <a:solidFill>
                  <a:srgbClr val="000000"/>
                </a:solidFill>
                <a:latin typeface="Consolas"/>
              </a:rPr>
              <a:t> </a:t>
            </a:r>
            <a:r>
              <a:rPr lang="en-IE" sz="1600" b="1" dirty="0">
                <a:solidFill>
                  <a:srgbClr val="7F0055"/>
                </a:solidFill>
                <a:latin typeface="Consolas"/>
              </a:rPr>
              <a:t>class</a:t>
            </a:r>
            <a:r>
              <a:rPr lang="en-IE" sz="1600" b="1" dirty="0">
                <a:solidFill>
                  <a:srgbClr val="000000"/>
                </a:solidFill>
                <a:latin typeface="Consolas"/>
              </a:rPr>
              <a:t> </a:t>
            </a:r>
            <a:r>
              <a:rPr lang="en-IE" sz="1600" b="1" dirty="0" err="1">
                <a:solidFill>
                  <a:srgbClr val="000000"/>
                </a:solidFill>
                <a:latin typeface="Consolas"/>
              </a:rPr>
              <a:t>UDPPortScanner</a:t>
            </a:r>
            <a:r>
              <a:rPr lang="en-IE" sz="1600" b="1" dirty="0">
                <a:solidFill>
                  <a:srgbClr val="000000"/>
                </a:solidFill>
                <a:latin typeface="Consolas"/>
              </a:rPr>
              <a:t> {</a:t>
            </a:r>
          </a:p>
          <a:p>
            <a:r>
              <a:rPr lang="en-IE" sz="1600" b="1" dirty="0">
                <a:solidFill>
                  <a:srgbClr val="7F0055"/>
                </a:solidFill>
                <a:latin typeface="Consolas"/>
              </a:rPr>
              <a:t>public</a:t>
            </a:r>
            <a:r>
              <a:rPr lang="en-IE" sz="1600" b="1" dirty="0">
                <a:solidFill>
                  <a:srgbClr val="000000"/>
                </a:solidFill>
                <a:latin typeface="Consolas"/>
              </a:rPr>
              <a:t> </a:t>
            </a:r>
            <a:r>
              <a:rPr lang="en-IE" sz="1600" b="1" dirty="0">
                <a:solidFill>
                  <a:srgbClr val="7F0055"/>
                </a:solidFill>
                <a:latin typeface="Consolas"/>
              </a:rPr>
              <a:t>static</a:t>
            </a:r>
            <a:r>
              <a:rPr lang="en-IE" sz="1600" b="1" dirty="0">
                <a:solidFill>
                  <a:srgbClr val="000000"/>
                </a:solidFill>
                <a:latin typeface="Consolas"/>
              </a:rPr>
              <a:t> </a:t>
            </a:r>
            <a:r>
              <a:rPr lang="en-IE" sz="1600" b="1" dirty="0">
                <a:solidFill>
                  <a:srgbClr val="7F0055"/>
                </a:solidFill>
                <a:latin typeface="Consolas"/>
              </a:rPr>
              <a:t>void</a:t>
            </a:r>
            <a:r>
              <a:rPr lang="en-IE" sz="1600" b="1" dirty="0">
                <a:solidFill>
                  <a:srgbClr val="000000"/>
                </a:solidFill>
                <a:latin typeface="Consolas"/>
              </a:rPr>
              <a:t> main(String[] </a:t>
            </a:r>
            <a:r>
              <a:rPr lang="en-IE" sz="1600" b="1" dirty="0" err="1">
                <a:solidFill>
                  <a:srgbClr val="6A3E3E"/>
                </a:solidFill>
                <a:latin typeface="Consolas"/>
              </a:rPr>
              <a:t>args</a:t>
            </a:r>
            <a:r>
              <a:rPr lang="en-IE" sz="1600" b="1" dirty="0">
                <a:solidFill>
                  <a:srgbClr val="000000"/>
                </a:solidFill>
                <a:latin typeface="Consolas"/>
              </a:rPr>
              <a:t>) {</a:t>
            </a:r>
          </a:p>
          <a:p>
            <a:r>
              <a:rPr lang="fr-FR" sz="1600" b="1" dirty="0">
                <a:solidFill>
                  <a:srgbClr val="7F0055"/>
                </a:solidFill>
                <a:latin typeface="Consolas"/>
              </a:rPr>
              <a:t>for</a:t>
            </a:r>
            <a:r>
              <a:rPr lang="fr-FR" sz="1600" b="1" dirty="0">
                <a:solidFill>
                  <a:srgbClr val="000000"/>
                </a:solidFill>
                <a:latin typeface="Consolas"/>
              </a:rPr>
              <a:t> (</a:t>
            </a:r>
            <a:r>
              <a:rPr lang="fr-FR" sz="1600" b="1" dirty="0" err="1">
                <a:solidFill>
                  <a:srgbClr val="7F0055"/>
                </a:solidFill>
                <a:latin typeface="Consolas"/>
              </a:rPr>
              <a:t>int</a:t>
            </a:r>
            <a:r>
              <a:rPr lang="fr-FR" sz="1600" b="1" dirty="0">
                <a:solidFill>
                  <a:srgbClr val="000000"/>
                </a:solidFill>
                <a:latin typeface="Consolas"/>
              </a:rPr>
              <a:t> </a:t>
            </a:r>
            <a:r>
              <a:rPr lang="fr-FR" sz="1600" b="1" dirty="0">
                <a:solidFill>
                  <a:srgbClr val="6A3E3E"/>
                </a:solidFill>
                <a:latin typeface="Consolas"/>
              </a:rPr>
              <a:t>port</a:t>
            </a:r>
            <a:r>
              <a:rPr lang="fr-FR" sz="1600" b="1" dirty="0">
                <a:solidFill>
                  <a:srgbClr val="000000"/>
                </a:solidFill>
                <a:latin typeface="Consolas"/>
              </a:rPr>
              <a:t> = 1024; </a:t>
            </a:r>
            <a:r>
              <a:rPr lang="fr-FR" sz="1600" b="1" dirty="0">
                <a:solidFill>
                  <a:srgbClr val="6A3E3E"/>
                </a:solidFill>
                <a:latin typeface="Consolas"/>
              </a:rPr>
              <a:t>port</a:t>
            </a:r>
            <a:r>
              <a:rPr lang="fr-FR" sz="1600" b="1" dirty="0">
                <a:solidFill>
                  <a:srgbClr val="000000"/>
                </a:solidFill>
                <a:latin typeface="Consolas"/>
              </a:rPr>
              <a:t> &lt;= 65535; </a:t>
            </a:r>
            <a:r>
              <a:rPr lang="fr-FR" sz="1600" b="1" dirty="0">
                <a:solidFill>
                  <a:srgbClr val="6A3E3E"/>
                </a:solidFill>
                <a:latin typeface="Consolas"/>
              </a:rPr>
              <a:t>port</a:t>
            </a:r>
            <a:r>
              <a:rPr lang="fr-FR" sz="1600" b="1" dirty="0">
                <a:solidFill>
                  <a:srgbClr val="000000"/>
                </a:solidFill>
                <a:latin typeface="Consolas"/>
              </a:rPr>
              <a:t>++) {</a:t>
            </a:r>
          </a:p>
          <a:p>
            <a:r>
              <a:rPr lang="en-IE" sz="1600" b="1" dirty="0">
                <a:solidFill>
                  <a:srgbClr val="7F0055"/>
                </a:solidFill>
                <a:latin typeface="Consolas"/>
              </a:rPr>
              <a:t>try</a:t>
            </a:r>
            <a:r>
              <a:rPr lang="en-IE" sz="1600" b="1" dirty="0">
                <a:solidFill>
                  <a:srgbClr val="000000"/>
                </a:solidFill>
                <a:latin typeface="Consolas"/>
              </a:rPr>
              <a:t> {</a:t>
            </a:r>
          </a:p>
          <a:p>
            <a:r>
              <a:rPr lang="en-IE" sz="1600" dirty="0">
                <a:solidFill>
                  <a:srgbClr val="3F7F5F"/>
                </a:solidFill>
                <a:latin typeface="Consolas"/>
              </a:rPr>
              <a:t>// the next line will fail and drop into the catch block if</a:t>
            </a:r>
          </a:p>
          <a:p>
            <a:r>
              <a:rPr lang="en-IE" sz="1600" dirty="0">
                <a:solidFill>
                  <a:srgbClr val="3F7F5F"/>
                </a:solidFill>
                <a:latin typeface="Consolas"/>
              </a:rPr>
              <a:t>// there is already a server running on port </a:t>
            </a:r>
            <a:r>
              <a:rPr lang="en-IE" sz="1600" dirty="0" err="1">
                <a:solidFill>
                  <a:srgbClr val="3F7F5F"/>
                </a:solidFill>
                <a:latin typeface="Consolas"/>
              </a:rPr>
              <a:t>i</a:t>
            </a:r>
            <a:endParaRPr lang="en-IE" sz="1600" dirty="0">
              <a:solidFill>
                <a:srgbClr val="3F7F5F"/>
              </a:solidFill>
              <a:latin typeface="Consolas"/>
            </a:endParaRPr>
          </a:p>
          <a:p>
            <a:r>
              <a:rPr lang="en-IE" sz="1600" dirty="0" err="1">
                <a:solidFill>
                  <a:srgbClr val="000000"/>
                </a:solidFill>
                <a:latin typeface="Consolas"/>
              </a:rPr>
              <a:t>DatagramSocket</a:t>
            </a:r>
            <a:r>
              <a:rPr lang="en-IE" sz="1600" dirty="0">
                <a:solidFill>
                  <a:srgbClr val="000000"/>
                </a:solidFill>
                <a:latin typeface="Consolas"/>
              </a:rPr>
              <a:t> </a:t>
            </a:r>
            <a:r>
              <a:rPr lang="en-IE" sz="1600" dirty="0">
                <a:solidFill>
                  <a:srgbClr val="6A3E3E"/>
                </a:solidFill>
                <a:latin typeface="Consolas"/>
              </a:rPr>
              <a:t>server</a:t>
            </a:r>
            <a:r>
              <a:rPr lang="en-IE" sz="1600" dirty="0">
                <a:solidFill>
                  <a:srgbClr val="000000"/>
                </a:solidFill>
                <a:latin typeface="Consolas"/>
              </a:rPr>
              <a:t> = </a:t>
            </a:r>
            <a:r>
              <a:rPr lang="en-IE" sz="1600" b="1" dirty="0">
                <a:solidFill>
                  <a:srgbClr val="7F0055"/>
                </a:solidFill>
                <a:latin typeface="Consolas"/>
              </a:rPr>
              <a:t>new</a:t>
            </a:r>
            <a:r>
              <a:rPr lang="en-IE" sz="1600" b="1" dirty="0">
                <a:solidFill>
                  <a:srgbClr val="000000"/>
                </a:solidFill>
                <a:latin typeface="Consolas"/>
              </a:rPr>
              <a:t> </a:t>
            </a:r>
            <a:r>
              <a:rPr lang="en-IE" sz="1600" b="1" dirty="0" err="1">
                <a:solidFill>
                  <a:srgbClr val="000000"/>
                </a:solidFill>
                <a:latin typeface="Consolas"/>
              </a:rPr>
              <a:t>DatagramSocket</a:t>
            </a:r>
            <a:r>
              <a:rPr lang="en-IE" sz="1600" b="1" dirty="0">
                <a:solidFill>
                  <a:srgbClr val="000000"/>
                </a:solidFill>
                <a:latin typeface="Consolas"/>
              </a:rPr>
              <a:t>(</a:t>
            </a:r>
            <a:r>
              <a:rPr lang="en-IE" sz="1600" b="1" dirty="0">
                <a:solidFill>
                  <a:srgbClr val="6A3E3E"/>
                </a:solidFill>
                <a:latin typeface="Consolas"/>
              </a:rPr>
              <a:t>port</a:t>
            </a:r>
            <a:r>
              <a:rPr lang="en-IE" sz="1600" b="1" dirty="0">
                <a:solidFill>
                  <a:srgbClr val="000000"/>
                </a:solidFill>
                <a:latin typeface="Consolas"/>
              </a:rPr>
              <a:t>);</a:t>
            </a:r>
          </a:p>
          <a:p>
            <a:r>
              <a:rPr lang="en-IE" sz="1600" dirty="0" err="1">
                <a:solidFill>
                  <a:srgbClr val="6A3E3E"/>
                </a:solidFill>
                <a:latin typeface="Consolas"/>
              </a:rPr>
              <a:t>server</a:t>
            </a:r>
            <a:r>
              <a:rPr lang="en-IE" sz="1600" dirty="0" err="1">
                <a:solidFill>
                  <a:srgbClr val="000000"/>
                </a:solidFill>
                <a:latin typeface="Consolas"/>
              </a:rPr>
              <a:t>.close</a:t>
            </a:r>
            <a:r>
              <a:rPr lang="en-IE" sz="1600" dirty="0">
                <a:solidFill>
                  <a:srgbClr val="000000"/>
                </a:solidFill>
                <a:latin typeface="Consolas"/>
              </a:rPr>
              <a:t>();</a:t>
            </a:r>
          </a:p>
          <a:p>
            <a:r>
              <a:rPr lang="en-IE" sz="1600" dirty="0">
                <a:solidFill>
                  <a:srgbClr val="000000"/>
                </a:solidFill>
                <a:latin typeface="Consolas"/>
              </a:rPr>
              <a:t>} </a:t>
            </a:r>
            <a:r>
              <a:rPr lang="en-IE" sz="1600" b="1" dirty="0">
                <a:solidFill>
                  <a:srgbClr val="7F0055"/>
                </a:solidFill>
                <a:latin typeface="Consolas"/>
              </a:rPr>
              <a:t>catch</a:t>
            </a:r>
            <a:r>
              <a:rPr lang="en-IE" sz="1600" b="1" dirty="0">
                <a:solidFill>
                  <a:srgbClr val="000000"/>
                </a:solidFill>
                <a:latin typeface="Consolas"/>
              </a:rPr>
              <a:t> (</a:t>
            </a:r>
            <a:r>
              <a:rPr lang="en-IE" sz="1600" b="1" dirty="0" err="1">
                <a:solidFill>
                  <a:srgbClr val="000000"/>
                </a:solidFill>
                <a:latin typeface="Consolas"/>
              </a:rPr>
              <a:t>SocketException</a:t>
            </a:r>
            <a:r>
              <a:rPr lang="en-IE" sz="1600" b="1" dirty="0">
                <a:solidFill>
                  <a:srgbClr val="000000"/>
                </a:solidFill>
                <a:latin typeface="Consolas"/>
              </a:rPr>
              <a:t> </a:t>
            </a:r>
            <a:r>
              <a:rPr lang="en-IE" sz="1600" b="1" dirty="0">
                <a:solidFill>
                  <a:srgbClr val="6A3E3E"/>
                </a:solidFill>
                <a:latin typeface="Consolas"/>
              </a:rPr>
              <a:t>ex</a:t>
            </a:r>
            <a:r>
              <a:rPr lang="en-IE" sz="1600" b="1" dirty="0">
                <a:solidFill>
                  <a:srgbClr val="000000"/>
                </a:solidFill>
                <a:latin typeface="Consolas"/>
              </a:rPr>
              <a:t>) {</a:t>
            </a:r>
          </a:p>
          <a:p>
            <a:r>
              <a:rPr lang="en-IE" sz="1600" dirty="0" err="1">
                <a:solidFill>
                  <a:srgbClr val="000000"/>
                </a:solidFill>
                <a:latin typeface="Consolas"/>
              </a:rPr>
              <a:t>System.</a:t>
            </a:r>
            <a:r>
              <a:rPr lang="en-IE" sz="1600" b="1" i="1" dirty="0" err="1">
                <a:solidFill>
                  <a:srgbClr val="0000C0"/>
                </a:solidFill>
                <a:latin typeface="Consolas"/>
              </a:rPr>
              <a:t>out</a:t>
            </a:r>
            <a:r>
              <a:rPr lang="en-IE" sz="1600" b="1" i="1" dirty="0" err="1">
                <a:solidFill>
                  <a:srgbClr val="000000"/>
                </a:solidFill>
                <a:latin typeface="Consolas"/>
              </a:rPr>
              <a:t>.println</a:t>
            </a:r>
            <a:r>
              <a:rPr lang="en-IE" sz="1600" b="1" i="1" dirty="0">
                <a:solidFill>
                  <a:srgbClr val="000000"/>
                </a:solidFill>
                <a:latin typeface="Consolas"/>
              </a:rPr>
              <a:t>(</a:t>
            </a:r>
            <a:r>
              <a:rPr lang="en-IE" sz="1600" b="1" i="1" dirty="0">
                <a:solidFill>
                  <a:srgbClr val="2A00FF"/>
                </a:solidFill>
                <a:latin typeface="Consolas"/>
              </a:rPr>
              <a:t>"There is a server on port "</a:t>
            </a:r>
            <a:r>
              <a:rPr lang="en-IE" sz="1600" b="1" i="1" dirty="0">
                <a:solidFill>
                  <a:srgbClr val="000000"/>
                </a:solidFill>
                <a:latin typeface="Consolas"/>
              </a:rPr>
              <a:t> + </a:t>
            </a:r>
            <a:r>
              <a:rPr lang="en-IE" sz="1600" b="1" i="1" dirty="0">
                <a:solidFill>
                  <a:srgbClr val="6A3E3E"/>
                </a:solidFill>
                <a:latin typeface="Consolas"/>
              </a:rPr>
              <a:t>port</a:t>
            </a:r>
            <a:r>
              <a:rPr lang="en-IE" sz="1600" b="1" i="1" dirty="0">
                <a:solidFill>
                  <a:srgbClr val="000000"/>
                </a:solidFill>
                <a:latin typeface="Consolas"/>
              </a:rPr>
              <a:t> + </a:t>
            </a:r>
            <a:r>
              <a:rPr lang="en-IE" sz="1600" b="1" i="1" dirty="0">
                <a:solidFill>
                  <a:srgbClr val="2A00FF"/>
                </a:solidFill>
                <a:latin typeface="Consolas"/>
              </a:rPr>
              <a:t>"."</a:t>
            </a:r>
            <a:r>
              <a:rPr lang="en-IE" sz="1600" b="1" i="1" dirty="0">
                <a:solidFill>
                  <a:srgbClr val="000000"/>
                </a:solidFill>
                <a:latin typeface="Consolas"/>
              </a:rPr>
              <a:t>);</a:t>
            </a:r>
          </a:p>
          <a:p>
            <a:r>
              <a:rPr lang="en-IE" sz="1600" dirty="0">
                <a:solidFill>
                  <a:srgbClr val="000000"/>
                </a:solidFill>
                <a:latin typeface="Consolas"/>
              </a:rPr>
              <a:t>}</a:t>
            </a:r>
          </a:p>
          <a:p>
            <a:r>
              <a:rPr lang="en-IE" sz="1600" dirty="0">
                <a:solidFill>
                  <a:srgbClr val="000000"/>
                </a:solidFill>
                <a:latin typeface="Consolas"/>
              </a:rPr>
              <a:t>}</a:t>
            </a:r>
          </a:p>
          <a:p>
            <a:r>
              <a:rPr lang="en-IE" sz="1600" dirty="0">
                <a:solidFill>
                  <a:srgbClr val="000000"/>
                </a:solidFill>
                <a:latin typeface="Consolas"/>
              </a:rPr>
              <a:t>}</a:t>
            </a:r>
          </a:p>
          <a:p>
            <a:r>
              <a:rPr lang="en-IE" sz="1600" dirty="0">
                <a:solidFill>
                  <a:srgbClr val="000000"/>
                </a:solidFill>
                <a:latin typeface="Consolas"/>
              </a:rPr>
              <a:t>}</a:t>
            </a:r>
            <a:endParaRPr lang="en-US" altLang="en-US" sz="1600" dirty="0" smtClean="0"/>
          </a:p>
        </p:txBody>
      </p:sp>
    </p:spTree>
    <p:extLst>
      <p:ext uri="{BB962C8B-B14F-4D97-AF65-F5344CB8AC3E}">
        <p14:creationId xmlns:p14="http://schemas.microsoft.com/office/powerpoint/2010/main" val="421569835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noFill/>
        </p:spPr>
        <p:txBody>
          <a:bodyPr>
            <a:normAutofit fontScale="90000"/>
          </a:bodyPr>
          <a:lstStyle/>
          <a:p>
            <a:r>
              <a:rPr lang="en-US" altLang="en-US" smtClean="0"/>
              <a:t>DatagramPackets are not immutable. </a:t>
            </a:r>
          </a:p>
        </p:txBody>
      </p:sp>
      <p:sp>
        <p:nvSpPr>
          <p:cNvPr id="37891" name="Rectangle 3"/>
          <p:cNvSpPr>
            <a:spLocks noGrp="1" noChangeArrowheads="1"/>
          </p:cNvSpPr>
          <p:nvPr>
            <p:ph idx="1"/>
          </p:nvPr>
        </p:nvSpPr>
        <p:spPr/>
        <p:txBody>
          <a:bodyPr lIns="0" tIns="46037" rIns="0" bIns="46037">
            <a:normAutofit fontScale="92500"/>
          </a:bodyPr>
          <a:lstStyle/>
          <a:p>
            <a:pPr lvl="2"/>
            <a:r>
              <a:rPr lang="en-US" altLang="en-US" smtClean="0"/>
              <a:t>public synchronized void setAddress(InetAddress remote)</a:t>
            </a:r>
          </a:p>
          <a:p>
            <a:pPr lvl="2"/>
            <a:r>
              <a:rPr lang="en-US" altLang="en-US" smtClean="0"/>
              <a:t>public synchronized void setPort(int port) </a:t>
            </a:r>
          </a:p>
          <a:p>
            <a:pPr lvl="2"/>
            <a:r>
              <a:rPr lang="en-US" altLang="en-US" smtClean="0"/>
              <a:t>public synchronized void setData(byte[] data)</a:t>
            </a:r>
          </a:p>
          <a:p>
            <a:pPr lvl="2"/>
            <a:r>
              <a:rPr lang="en-US" altLang="en-US" smtClean="0"/>
              <a:t>public synchronized void setLength(int length)</a:t>
            </a:r>
          </a:p>
          <a:p>
            <a:pPr lvl="2"/>
            <a:r>
              <a:rPr lang="en-US" altLang="en-US" smtClean="0"/>
              <a:t>public synchronized InetAddress getAddress()</a:t>
            </a:r>
          </a:p>
          <a:p>
            <a:pPr lvl="2"/>
            <a:r>
              <a:rPr lang="en-US" altLang="en-US" smtClean="0"/>
              <a:t>public synchronized int getPort()</a:t>
            </a:r>
          </a:p>
          <a:p>
            <a:pPr lvl="2"/>
            <a:r>
              <a:rPr lang="en-US" altLang="en-US" smtClean="0"/>
              <a:t>public synchronized byte[] getData()</a:t>
            </a:r>
          </a:p>
          <a:p>
            <a:pPr lvl="2"/>
            <a:r>
              <a:rPr lang="en-US" altLang="en-US" smtClean="0"/>
              <a:t>public synchronized int getLength()</a:t>
            </a:r>
          </a:p>
          <a:p>
            <a:r>
              <a:rPr lang="en-US" altLang="en-US" smtClean="0"/>
              <a:t>These methods are primarily useful when you're receiving datagrams.</a:t>
            </a:r>
          </a:p>
        </p:txBody>
      </p:sp>
    </p:spTree>
    <p:extLst>
      <p:ext uri="{BB962C8B-B14F-4D97-AF65-F5344CB8AC3E}">
        <p14:creationId xmlns:p14="http://schemas.microsoft.com/office/powerpoint/2010/main" val="273278139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685800" y="0"/>
            <a:ext cx="7772400" cy="1143000"/>
          </a:xfrm>
          <a:noFill/>
        </p:spPr>
        <p:txBody>
          <a:bodyPr/>
          <a:lstStyle/>
          <a:p>
            <a:r>
              <a:rPr lang="en-US" altLang="en-US" smtClean="0"/>
              <a:t>java.net.DatagramSocket</a:t>
            </a:r>
          </a:p>
        </p:txBody>
      </p:sp>
      <p:sp>
        <p:nvSpPr>
          <p:cNvPr id="38915" name="Rectangle 3"/>
          <p:cNvSpPr>
            <a:spLocks noGrp="1" noChangeArrowheads="1"/>
          </p:cNvSpPr>
          <p:nvPr>
            <p:ph idx="1"/>
          </p:nvPr>
        </p:nvSpPr>
        <p:spPr>
          <a:xfrm>
            <a:off x="685800" y="1371600"/>
            <a:ext cx="7772400" cy="4114800"/>
          </a:xfrm>
        </p:spPr>
        <p:txBody>
          <a:bodyPr lIns="0" tIns="46037" rIns="0" bIns="46037">
            <a:normAutofit fontScale="92500" lnSpcReduction="10000"/>
          </a:bodyPr>
          <a:lstStyle/>
          <a:p>
            <a:pPr lvl="2"/>
            <a:r>
              <a:rPr lang="en-US" altLang="en-US" smtClean="0"/>
              <a:t>public DatagramSocket() throws SocketException</a:t>
            </a:r>
          </a:p>
          <a:p>
            <a:pPr lvl="2"/>
            <a:r>
              <a:rPr lang="en-US" altLang="en-US" smtClean="0"/>
              <a:t>public DatagramSocket(int port) throws SocketException</a:t>
            </a:r>
          </a:p>
          <a:p>
            <a:pPr lvl="2"/>
            <a:r>
              <a:rPr lang="en-US" altLang="en-US" smtClean="0"/>
              <a:t>public DatagramSocket(int port, InetAddress laddr) throws SocketException</a:t>
            </a:r>
          </a:p>
          <a:p>
            <a:r>
              <a:rPr lang="en-US" altLang="en-US" smtClean="0"/>
              <a:t>The first is for client datagram sockets; that is sockets that send datagrams before receiving any. </a:t>
            </a:r>
          </a:p>
          <a:p>
            <a:r>
              <a:rPr lang="en-US" altLang="en-US" smtClean="0"/>
              <a:t>The second two are for server datagram sockets since they specify the port and optionally the IP address of the socket</a:t>
            </a:r>
          </a:p>
        </p:txBody>
      </p:sp>
    </p:spTree>
    <p:extLst>
      <p:ext uri="{BB962C8B-B14F-4D97-AF65-F5344CB8AC3E}">
        <p14:creationId xmlns:p14="http://schemas.microsoft.com/office/powerpoint/2010/main" val="113685075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noFill/>
        </p:spPr>
        <p:txBody>
          <a:bodyPr/>
          <a:lstStyle/>
          <a:p>
            <a:r>
              <a:rPr lang="en-US" altLang="en-US" smtClean="0"/>
              <a:t>Sending UDP Datagrams</a:t>
            </a:r>
          </a:p>
        </p:txBody>
      </p:sp>
      <p:sp>
        <p:nvSpPr>
          <p:cNvPr id="39939" name="Rectangle 3"/>
          <p:cNvSpPr>
            <a:spLocks noGrp="1" noChangeArrowheads="1"/>
          </p:cNvSpPr>
          <p:nvPr>
            <p:ph idx="1"/>
          </p:nvPr>
        </p:nvSpPr>
        <p:spPr/>
        <p:txBody>
          <a:bodyPr lIns="0" tIns="46037" rIns="0" bIns="46037"/>
          <a:lstStyle/>
          <a:p>
            <a:r>
              <a:rPr lang="en-US" altLang="en-US" smtClean="0"/>
              <a:t>To send data to a particular server</a:t>
            </a:r>
          </a:p>
          <a:p>
            <a:pPr lvl="1"/>
            <a:r>
              <a:rPr lang="en-US" altLang="en-US" smtClean="0"/>
              <a:t>Convert the data into byte array. </a:t>
            </a:r>
          </a:p>
          <a:p>
            <a:pPr lvl="1"/>
            <a:r>
              <a:rPr lang="en-US" altLang="en-US" smtClean="0"/>
              <a:t>Pass this byte array, the length of the data in the array (most of the time this will be the length of the array) and the </a:t>
            </a:r>
            <a:r>
              <a:rPr lang="en-US" altLang="en-US" smtClean="0">
                <a:latin typeface="Courier New" pitchFamily="49" charset="0"/>
              </a:rPr>
              <a:t>InetAddress</a:t>
            </a:r>
            <a:r>
              <a:rPr lang="en-US" altLang="en-US" smtClean="0"/>
              <a:t> and port to which you wish to send it into the </a:t>
            </a:r>
            <a:r>
              <a:rPr lang="en-US" altLang="en-US" smtClean="0">
                <a:latin typeface="Courier New" pitchFamily="49" charset="0"/>
              </a:rPr>
              <a:t>DatagramPacket()</a:t>
            </a:r>
            <a:r>
              <a:rPr lang="en-US" altLang="en-US" smtClean="0"/>
              <a:t> constructor. </a:t>
            </a:r>
          </a:p>
          <a:p>
            <a:pPr lvl="1"/>
            <a:r>
              <a:rPr lang="en-US" altLang="en-US" smtClean="0"/>
              <a:t>Next create a </a:t>
            </a:r>
            <a:r>
              <a:rPr lang="en-US" altLang="en-US" smtClean="0">
                <a:latin typeface="Courier New" pitchFamily="49" charset="0"/>
              </a:rPr>
              <a:t>DatagramSocket</a:t>
            </a:r>
            <a:r>
              <a:rPr lang="en-US" altLang="en-US" smtClean="0"/>
              <a:t> and pass the packet to its </a:t>
            </a:r>
            <a:r>
              <a:rPr lang="en-US" altLang="en-US" smtClean="0">
                <a:latin typeface="Courier New" pitchFamily="49" charset="0"/>
              </a:rPr>
              <a:t>send()</a:t>
            </a:r>
            <a:r>
              <a:rPr lang="en-US" altLang="en-US" smtClean="0"/>
              <a:t> method</a:t>
            </a:r>
          </a:p>
        </p:txBody>
      </p:sp>
    </p:spTree>
    <p:extLst>
      <p:ext uri="{BB962C8B-B14F-4D97-AF65-F5344CB8AC3E}">
        <p14:creationId xmlns:p14="http://schemas.microsoft.com/office/powerpoint/2010/main" val="40387131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026"/>
          <p:cNvSpPr>
            <a:spLocks noGrp="1" noChangeArrowheads="1"/>
          </p:cNvSpPr>
          <p:nvPr>
            <p:ph type="title"/>
          </p:nvPr>
        </p:nvSpPr>
        <p:spPr>
          <a:noFill/>
        </p:spPr>
        <p:txBody>
          <a:bodyPr/>
          <a:lstStyle/>
          <a:p>
            <a:r>
              <a:rPr lang="en-US" altLang="en-US" smtClean="0"/>
              <a:t>For example, </a:t>
            </a:r>
          </a:p>
        </p:txBody>
      </p:sp>
      <p:sp>
        <p:nvSpPr>
          <p:cNvPr id="40963" name="Rectangle 1027"/>
          <p:cNvSpPr>
            <a:spLocks noGrp="1" noChangeArrowheads="1"/>
          </p:cNvSpPr>
          <p:nvPr>
            <p:ph idx="1"/>
          </p:nvPr>
        </p:nvSpPr>
        <p:spPr/>
        <p:txBody>
          <a:bodyPr lIns="0" tIns="46037" rIns="0" bIns="46037"/>
          <a:lstStyle/>
          <a:p>
            <a:pPr lvl="2"/>
            <a:r>
              <a:rPr lang="en-US" altLang="en-US" dirty="0" err="1" smtClean="0"/>
              <a:t>InetAddress</a:t>
            </a:r>
            <a:r>
              <a:rPr lang="en-US" altLang="en-US" dirty="0" smtClean="0"/>
              <a:t> </a:t>
            </a:r>
            <a:r>
              <a:rPr lang="en-US" altLang="en-US" smtClean="0"/>
              <a:t>ia </a:t>
            </a:r>
            <a:r>
              <a:rPr lang="en-US" altLang="en-US" dirty="0" smtClean="0"/>
              <a:t>= </a:t>
            </a:r>
            <a:r>
              <a:rPr lang="en-US" altLang="en-US" dirty="0" err="1" smtClean="0"/>
              <a:t>InetAddress.getByName</a:t>
            </a:r>
            <a:r>
              <a:rPr lang="en-US" altLang="en-US" dirty="0" smtClean="0"/>
              <a:t>("metalab.unc.edu");</a:t>
            </a:r>
          </a:p>
          <a:p>
            <a:pPr lvl="2"/>
            <a:r>
              <a:rPr lang="en-US" altLang="en-US" dirty="0" err="1" smtClean="0"/>
              <a:t>int</a:t>
            </a:r>
            <a:r>
              <a:rPr lang="en-US" altLang="en-US" dirty="0" smtClean="0"/>
              <a:t> </a:t>
            </a:r>
            <a:r>
              <a:rPr lang="en-US" altLang="en-US" dirty="0" err="1" smtClean="0"/>
              <a:t>chargen</a:t>
            </a:r>
            <a:r>
              <a:rPr lang="en-US" altLang="en-US" dirty="0" smtClean="0"/>
              <a:t> = 19;</a:t>
            </a:r>
          </a:p>
          <a:p>
            <a:pPr lvl="2"/>
            <a:r>
              <a:rPr lang="en-US" altLang="en-US" dirty="0" smtClean="0"/>
              <a:t>String s = "My second UDP Packet";</a:t>
            </a:r>
          </a:p>
          <a:p>
            <a:pPr lvl="2"/>
            <a:r>
              <a:rPr lang="en-US" altLang="en-US" dirty="0" smtClean="0"/>
              <a:t>byte[] b = </a:t>
            </a:r>
            <a:r>
              <a:rPr lang="en-US" altLang="en-US" dirty="0" err="1" smtClean="0"/>
              <a:t>s.getBytes</a:t>
            </a:r>
            <a:r>
              <a:rPr lang="en-US" altLang="en-US" dirty="0" smtClean="0"/>
              <a:t>();</a:t>
            </a:r>
          </a:p>
          <a:p>
            <a:pPr lvl="2"/>
            <a:r>
              <a:rPr lang="en-US" altLang="en-US" dirty="0" err="1" smtClean="0"/>
              <a:t>DatagramPacket</a:t>
            </a:r>
            <a:r>
              <a:rPr lang="en-US" altLang="en-US" dirty="0" smtClean="0"/>
              <a:t> </a:t>
            </a:r>
            <a:r>
              <a:rPr lang="en-US" altLang="en-US" dirty="0" err="1" smtClean="0"/>
              <a:t>dp</a:t>
            </a:r>
            <a:r>
              <a:rPr lang="en-US" altLang="en-US" dirty="0" smtClean="0"/>
              <a:t> = new </a:t>
            </a:r>
            <a:r>
              <a:rPr lang="en-US" altLang="en-US" dirty="0" err="1" smtClean="0"/>
              <a:t>DatagramPacket</a:t>
            </a:r>
            <a:r>
              <a:rPr lang="en-US" altLang="en-US" dirty="0" smtClean="0"/>
              <a:t>(b, </a:t>
            </a:r>
            <a:r>
              <a:rPr lang="en-US" altLang="en-US" dirty="0" err="1" smtClean="0"/>
              <a:t>b.length</a:t>
            </a:r>
            <a:r>
              <a:rPr lang="en-US" altLang="en-US" dirty="0" smtClean="0"/>
              <a:t>, </a:t>
            </a:r>
            <a:r>
              <a:rPr lang="en-US" altLang="en-US" dirty="0" err="1" smtClean="0"/>
              <a:t>ia</a:t>
            </a:r>
            <a:r>
              <a:rPr lang="en-US" altLang="en-US" dirty="0" smtClean="0"/>
              <a:t>, </a:t>
            </a:r>
            <a:r>
              <a:rPr lang="en-US" altLang="en-US" dirty="0" err="1" smtClean="0"/>
              <a:t>chargen</a:t>
            </a:r>
            <a:r>
              <a:rPr lang="en-US" altLang="en-US" dirty="0" smtClean="0"/>
              <a:t>);</a:t>
            </a:r>
          </a:p>
          <a:p>
            <a:pPr lvl="2"/>
            <a:r>
              <a:rPr lang="en-US" altLang="en-US" dirty="0" err="1" smtClean="0"/>
              <a:t>DatagramSocket</a:t>
            </a:r>
            <a:r>
              <a:rPr lang="en-US" altLang="en-US" dirty="0" smtClean="0"/>
              <a:t> sender = new </a:t>
            </a:r>
            <a:r>
              <a:rPr lang="en-US" altLang="en-US" dirty="0" err="1" smtClean="0"/>
              <a:t>DatagramSocket</a:t>
            </a:r>
            <a:r>
              <a:rPr lang="en-US" altLang="en-US" dirty="0" smtClean="0"/>
              <a:t>();</a:t>
            </a:r>
          </a:p>
          <a:p>
            <a:pPr lvl="2"/>
            <a:r>
              <a:rPr lang="en-US" altLang="en-US" dirty="0" err="1" smtClean="0"/>
              <a:t>sender.send</a:t>
            </a:r>
            <a:r>
              <a:rPr lang="en-US" altLang="en-US" dirty="0" smtClean="0"/>
              <a:t>(</a:t>
            </a:r>
            <a:r>
              <a:rPr lang="en-US" altLang="en-US" dirty="0" err="1" smtClean="0"/>
              <a:t>dp</a:t>
            </a:r>
            <a:r>
              <a:rPr lang="en-US" altLang="en-US" dirty="0" smtClean="0"/>
              <a:t>);</a:t>
            </a:r>
          </a:p>
        </p:txBody>
      </p:sp>
    </p:spTree>
    <p:extLst>
      <p:ext uri="{BB962C8B-B14F-4D97-AF65-F5344CB8AC3E}">
        <p14:creationId xmlns:p14="http://schemas.microsoft.com/office/powerpoint/2010/main" val="206185750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26"/>
          <p:cNvSpPr>
            <a:spLocks noGrp="1" noChangeArrowheads="1"/>
          </p:cNvSpPr>
          <p:nvPr>
            <p:ph type="title"/>
          </p:nvPr>
        </p:nvSpPr>
        <p:spPr>
          <a:noFill/>
        </p:spPr>
        <p:txBody>
          <a:bodyPr/>
          <a:lstStyle/>
          <a:p>
            <a:r>
              <a:rPr lang="en-US" altLang="en-US" smtClean="0"/>
              <a:t>Receiving UDP Datagrams</a:t>
            </a:r>
          </a:p>
        </p:txBody>
      </p:sp>
      <p:sp>
        <p:nvSpPr>
          <p:cNvPr id="41987" name="Rectangle 1027"/>
          <p:cNvSpPr>
            <a:spLocks noGrp="1" noChangeArrowheads="1"/>
          </p:cNvSpPr>
          <p:nvPr>
            <p:ph idx="1"/>
          </p:nvPr>
        </p:nvSpPr>
        <p:spPr>
          <a:xfrm>
            <a:off x="685800" y="1981200"/>
            <a:ext cx="8153400" cy="4114800"/>
          </a:xfrm>
        </p:spPr>
        <p:txBody>
          <a:bodyPr lIns="0" tIns="46037" rIns="0" bIns="46037">
            <a:normAutofit lnSpcReduction="10000"/>
          </a:bodyPr>
          <a:lstStyle/>
          <a:p>
            <a:r>
              <a:rPr lang="en-US" altLang="en-US" smtClean="0"/>
              <a:t>Construct a </a:t>
            </a:r>
            <a:r>
              <a:rPr lang="en-US" altLang="en-US" smtClean="0">
                <a:latin typeface="Courier New" pitchFamily="49" charset="0"/>
              </a:rPr>
              <a:t>DatagramSocket</a:t>
            </a:r>
            <a:r>
              <a:rPr lang="en-US" altLang="en-US" smtClean="0"/>
              <a:t> object on the port on which you want to listen. </a:t>
            </a:r>
          </a:p>
          <a:p>
            <a:r>
              <a:rPr lang="en-US" altLang="en-US" smtClean="0"/>
              <a:t>Pass an empty </a:t>
            </a:r>
            <a:r>
              <a:rPr lang="en-US" altLang="en-US" smtClean="0">
                <a:latin typeface="Courier New" pitchFamily="49" charset="0"/>
              </a:rPr>
              <a:t>DatagramPacket</a:t>
            </a:r>
            <a:r>
              <a:rPr lang="en-US" altLang="en-US" smtClean="0"/>
              <a:t> object to the </a:t>
            </a:r>
            <a:r>
              <a:rPr lang="en-US" altLang="en-US" smtClean="0">
                <a:latin typeface="Courier New" pitchFamily="49" charset="0"/>
              </a:rPr>
              <a:t>DatagramSocket</a:t>
            </a:r>
            <a:r>
              <a:rPr lang="en-US" altLang="en-US" smtClean="0"/>
              <a:t>'s </a:t>
            </a:r>
            <a:r>
              <a:rPr lang="en-US" altLang="en-US" smtClean="0">
                <a:latin typeface="Courier New" pitchFamily="49" charset="0"/>
              </a:rPr>
              <a:t>receive()</a:t>
            </a:r>
            <a:r>
              <a:rPr lang="en-US" altLang="en-US" smtClean="0"/>
              <a:t> method.</a:t>
            </a:r>
          </a:p>
          <a:p>
            <a:pPr lvl="2"/>
            <a:r>
              <a:rPr lang="en-US" altLang="en-US" smtClean="0"/>
              <a:t>public synchronized void receive(DatagramPacket dp) throws IOException</a:t>
            </a:r>
          </a:p>
          <a:p>
            <a:r>
              <a:rPr lang="en-US" altLang="en-US" smtClean="0"/>
              <a:t>The calling thread blocks until a datagram is received. </a:t>
            </a:r>
          </a:p>
        </p:txBody>
      </p:sp>
    </p:spTree>
    <p:extLst>
      <p:ext uri="{BB962C8B-B14F-4D97-AF65-F5344CB8AC3E}">
        <p14:creationId xmlns:p14="http://schemas.microsoft.com/office/powerpoint/2010/main" val="18820892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noFill/>
        </p:spPr>
        <p:txBody>
          <a:bodyPr/>
          <a:lstStyle/>
          <a:p>
            <a:r>
              <a:rPr lang="en-US" altLang="en-US" smtClean="0"/>
              <a:t> </a:t>
            </a:r>
          </a:p>
        </p:txBody>
      </p:sp>
      <p:sp>
        <p:nvSpPr>
          <p:cNvPr id="43011" name="Rectangle 3"/>
          <p:cNvSpPr>
            <a:spLocks noGrp="1" noChangeArrowheads="1"/>
          </p:cNvSpPr>
          <p:nvPr>
            <p:ph idx="1"/>
          </p:nvPr>
        </p:nvSpPr>
        <p:spPr>
          <a:xfrm>
            <a:off x="685800" y="1447800"/>
            <a:ext cx="8153400" cy="4114800"/>
          </a:xfrm>
        </p:spPr>
        <p:txBody>
          <a:bodyPr lIns="0" tIns="46037" rIns="0" bIns="46037">
            <a:normAutofit lnSpcReduction="10000"/>
          </a:bodyPr>
          <a:lstStyle/>
          <a:p>
            <a:r>
              <a:rPr lang="en-US" altLang="en-US" smtClean="0">
                <a:latin typeface="Courier New" pitchFamily="49" charset="0"/>
              </a:rPr>
              <a:t>dp</a:t>
            </a:r>
            <a:r>
              <a:rPr lang="en-US" altLang="en-US" smtClean="0"/>
              <a:t> is filled with the data from that datagram. </a:t>
            </a:r>
          </a:p>
          <a:p>
            <a:r>
              <a:rPr lang="en-US" altLang="en-US" smtClean="0"/>
              <a:t>Use </a:t>
            </a:r>
            <a:r>
              <a:rPr lang="en-US" altLang="en-US" smtClean="0">
                <a:latin typeface="Courier New" pitchFamily="49" charset="0"/>
              </a:rPr>
              <a:t>getPort()</a:t>
            </a:r>
            <a:r>
              <a:rPr lang="en-US" altLang="en-US" smtClean="0"/>
              <a:t> and and </a:t>
            </a:r>
            <a:r>
              <a:rPr lang="en-US" altLang="en-US" smtClean="0">
                <a:latin typeface="Courier New" pitchFamily="49" charset="0"/>
              </a:rPr>
              <a:t>getAddress()</a:t>
            </a:r>
            <a:r>
              <a:rPr lang="en-US" altLang="en-US" smtClean="0"/>
              <a:t> to tell where the packet came from, </a:t>
            </a:r>
            <a:r>
              <a:rPr lang="en-US" altLang="en-US" smtClean="0">
                <a:latin typeface="Courier New" pitchFamily="49" charset="0"/>
              </a:rPr>
              <a:t>getData()</a:t>
            </a:r>
            <a:r>
              <a:rPr lang="en-US" altLang="en-US" smtClean="0"/>
              <a:t> to retrieve the data, and </a:t>
            </a:r>
            <a:r>
              <a:rPr lang="en-US" altLang="en-US" smtClean="0">
                <a:latin typeface="Courier New" pitchFamily="49" charset="0"/>
              </a:rPr>
              <a:t>getLength()</a:t>
            </a:r>
            <a:r>
              <a:rPr lang="en-US" altLang="en-US" smtClean="0"/>
              <a:t> to see how many bytes were in the data. </a:t>
            </a:r>
          </a:p>
          <a:p>
            <a:r>
              <a:rPr lang="en-US" altLang="en-US" smtClean="0"/>
              <a:t>If the received packet was too long for the buffer, it's truncated to the length of the buffer. </a:t>
            </a:r>
          </a:p>
          <a:p>
            <a:r>
              <a:rPr lang="en-US" altLang="en-US" smtClean="0"/>
              <a:t>Length is reset when packet is received</a:t>
            </a:r>
          </a:p>
        </p:txBody>
      </p:sp>
    </p:spTree>
    <p:extLst>
      <p:ext uri="{BB962C8B-B14F-4D97-AF65-F5344CB8AC3E}">
        <p14:creationId xmlns:p14="http://schemas.microsoft.com/office/powerpoint/2010/main" val="141663530"/>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685800" y="0"/>
            <a:ext cx="7772400" cy="1143000"/>
          </a:xfrm>
          <a:noFill/>
        </p:spPr>
        <p:txBody>
          <a:bodyPr/>
          <a:lstStyle/>
          <a:p>
            <a:r>
              <a:rPr lang="en-US" altLang="en-US" smtClean="0"/>
              <a:t>For example, </a:t>
            </a:r>
          </a:p>
        </p:txBody>
      </p:sp>
      <p:sp>
        <p:nvSpPr>
          <p:cNvPr id="44035" name="Rectangle 3"/>
          <p:cNvSpPr>
            <a:spLocks noGrp="1" noChangeArrowheads="1"/>
          </p:cNvSpPr>
          <p:nvPr>
            <p:ph idx="1"/>
          </p:nvPr>
        </p:nvSpPr>
        <p:spPr>
          <a:xfrm>
            <a:off x="0" y="1066800"/>
            <a:ext cx="9144000" cy="4114800"/>
          </a:xfrm>
        </p:spPr>
        <p:txBody>
          <a:bodyPr lIns="0" tIns="46037" rIns="0" bIns="46037">
            <a:noAutofit/>
          </a:bodyPr>
          <a:lstStyle/>
          <a:p>
            <a:pPr lvl="2"/>
            <a:r>
              <a:rPr lang="en-US" altLang="en-US" sz="2000" dirty="0" smtClean="0"/>
              <a:t>try {</a:t>
            </a:r>
          </a:p>
          <a:p>
            <a:pPr lvl="2"/>
            <a:r>
              <a:rPr lang="en-US" altLang="en-US" sz="2000" dirty="0" smtClean="0"/>
              <a:t>  byte buffer = new byte[65536]; </a:t>
            </a:r>
          </a:p>
          <a:p>
            <a:pPr lvl="2"/>
            <a:r>
              <a:rPr lang="en-US" altLang="en-US" sz="2000" dirty="0" smtClean="0"/>
              <a:t>  </a:t>
            </a:r>
            <a:r>
              <a:rPr lang="en-US" altLang="en-US" sz="2000" dirty="0" err="1" smtClean="0"/>
              <a:t>DatagramPacket</a:t>
            </a:r>
            <a:r>
              <a:rPr lang="en-US" altLang="en-US" sz="2000" dirty="0" smtClean="0"/>
              <a:t> incoming = new </a:t>
            </a:r>
            <a:r>
              <a:rPr lang="en-US" altLang="en-US" sz="2000" dirty="0" err="1" smtClean="0"/>
              <a:t>DatagramPacket</a:t>
            </a:r>
            <a:r>
              <a:rPr lang="en-US" altLang="en-US" sz="2000" dirty="0" smtClean="0"/>
              <a:t>(buffer, </a:t>
            </a:r>
            <a:r>
              <a:rPr lang="en-US" altLang="en-US" sz="2000" dirty="0" err="1" smtClean="0"/>
              <a:t>buffer.length</a:t>
            </a:r>
            <a:r>
              <a:rPr lang="en-US" altLang="en-US" sz="2000" dirty="0" smtClean="0"/>
              <a:t>);</a:t>
            </a:r>
          </a:p>
          <a:p>
            <a:pPr lvl="2"/>
            <a:r>
              <a:rPr lang="en-US" altLang="en-US" sz="2000" dirty="0" smtClean="0"/>
              <a:t>  </a:t>
            </a:r>
            <a:r>
              <a:rPr lang="en-US" altLang="en-US" sz="2000" dirty="0" err="1" smtClean="0"/>
              <a:t>DatagramSocket</a:t>
            </a:r>
            <a:r>
              <a:rPr lang="en-US" altLang="en-US" sz="2000" dirty="0" smtClean="0"/>
              <a:t> ds = new </a:t>
            </a:r>
            <a:r>
              <a:rPr lang="en-US" altLang="en-US" sz="2000" dirty="0" err="1" smtClean="0"/>
              <a:t>DatagramSocket</a:t>
            </a:r>
            <a:r>
              <a:rPr lang="en-US" altLang="en-US" sz="2000" dirty="0" smtClean="0"/>
              <a:t>(2134);</a:t>
            </a:r>
          </a:p>
          <a:p>
            <a:pPr lvl="2"/>
            <a:r>
              <a:rPr lang="en-US" altLang="en-US" sz="2000" dirty="0" smtClean="0"/>
              <a:t>  </a:t>
            </a:r>
            <a:r>
              <a:rPr lang="en-US" altLang="en-US" sz="2000" dirty="0" err="1" smtClean="0"/>
              <a:t>ds.receive</a:t>
            </a:r>
            <a:r>
              <a:rPr lang="en-US" altLang="en-US" sz="2000" dirty="0" smtClean="0"/>
              <a:t>(incoming);</a:t>
            </a:r>
          </a:p>
          <a:p>
            <a:pPr lvl="2"/>
            <a:r>
              <a:rPr lang="en-US" altLang="en-US" sz="2000" dirty="0" smtClean="0"/>
              <a:t>  byte[] data = </a:t>
            </a:r>
            <a:r>
              <a:rPr lang="en-US" altLang="en-US" sz="2000" dirty="0" err="1" smtClean="0"/>
              <a:t>incoming.getData</a:t>
            </a:r>
            <a:r>
              <a:rPr lang="en-US" altLang="en-US" sz="2000" dirty="0" smtClean="0"/>
              <a:t>();</a:t>
            </a:r>
          </a:p>
          <a:p>
            <a:pPr lvl="2"/>
            <a:r>
              <a:rPr lang="en-US" altLang="en-US" sz="2000" dirty="0" smtClean="0"/>
              <a:t>  String s = new String(data, 0, </a:t>
            </a:r>
            <a:r>
              <a:rPr lang="en-US" altLang="en-US" sz="2000" dirty="0" err="1" smtClean="0"/>
              <a:t>data.getLength</a:t>
            </a:r>
            <a:r>
              <a:rPr lang="en-US" altLang="en-US" sz="2000" dirty="0" smtClean="0"/>
              <a:t>());</a:t>
            </a:r>
          </a:p>
          <a:p>
            <a:pPr lvl="2"/>
            <a:r>
              <a:rPr lang="en-US" altLang="en-US" sz="2000" dirty="0" smtClean="0"/>
              <a:t>  </a:t>
            </a:r>
            <a:r>
              <a:rPr lang="en-US" altLang="en-US" sz="2000" dirty="0" err="1" smtClean="0"/>
              <a:t>System.out.println</a:t>
            </a:r>
            <a:r>
              <a:rPr lang="en-US" altLang="en-US" sz="2000" dirty="0" smtClean="0"/>
              <a:t>("Port " + </a:t>
            </a:r>
            <a:r>
              <a:rPr lang="en-US" altLang="en-US" sz="2000" dirty="0" err="1" smtClean="0"/>
              <a:t>incoming.getPort</a:t>
            </a:r>
            <a:r>
              <a:rPr lang="en-US" altLang="en-US" sz="2000" dirty="0" smtClean="0"/>
              <a:t>() + " on " + </a:t>
            </a:r>
            <a:r>
              <a:rPr lang="en-US" altLang="en-US" sz="2000" dirty="0" err="1" smtClean="0"/>
              <a:t>incoming.getAddress</a:t>
            </a:r>
            <a:r>
              <a:rPr lang="en-US" altLang="en-US" sz="2000" dirty="0" smtClean="0"/>
              <a:t>() + " sent this message:");</a:t>
            </a:r>
          </a:p>
          <a:p>
            <a:pPr lvl="2"/>
            <a:r>
              <a:rPr lang="en-US" altLang="en-US" sz="2000" dirty="0" smtClean="0"/>
              <a:t>  </a:t>
            </a:r>
            <a:r>
              <a:rPr lang="en-US" altLang="en-US" sz="2000" dirty="0" err="1" smtClean="0"/>
              <a:t>System.out.println</a:t>
            </a:r>
            <a:r>
              <a:rPr lang="en-US" altLang="en-US" sz="2000" dirty="0" smtClean="0"/>
              <a:t>(s);</a:t>
            </a:r>
          </a:p>
          <a:p>
            <a:pPr lvl="2"/>
            <a:r>
              <a:rPr lang="en-US" altLang="en-US" sz="2000" dirty="0" smtClean="0"/>
              <a:t>}</a:t>
            </a:r>
          </a:p>
          <a:p>
            <a:pPr lvl="2"/>
            <a:r>
              <a:rPr lang="en-US" altLang="en-US" sz="2000" dirty="0" smtClean="0"/>
              <a:t>catch (</a:t>
            </a:r>
            <a:r>
              <a:rPr lang="en-US" altLang="en-US" sz="2000" dirty="0" err="1" smtClean="0"/>
              <a:t>IOException</a:t>
            </a:r>
            <a:r>
              <a:rPr lang="en-US" altLang="en-US" sz="2000" dirty="0" smtClean="0"/>
              <a:t> e) {</a:t>
            </a:r>
          </a:p>
          <a:p>
            <a:pPr lvl="2"/>
            <a:r>
              <a:rPr lang="en-US" altLang="en-US" sz="2000" dirty="0" smtClean="0"/>
              <a:t>  </a:t>
            </a:r>
            <a:r>
              <a:rPr lang="en-US" altLang="en-US" sz="2000" dirty="0" err="1" smtClean="0"/>
              <a:t>System.err.println</a:t>
            </a:r>
            <a:r>
              <a:rPr lang="en-US" altLang="en-US" sz="2000" dirty="0" smtClean="0"/>
              <a:t>(e);</a:t>
            </a:r>
          </a:p>
          <a:p>
            <a:pPr lvl="2"/>
            <a:r>
              <a:rPr lang="en-US" altLang="en-US" sz="2000" dirty="0" smtClean="0"/>
              <a:t>}</a:t>
            </a:r>
          </a:p>
        </p:txBody>
      </p:sp>
    </p:spTree>
    <p:extLst>
      <p:ext uri="{BB962C8B-B14F-4D97-AF65-F5344CB8AC3E}">
        <p14:creationId xmlns:p14="http://schemas.microsoft.com/office/powerpoint/2010/main" val="157140631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en-US" smtClean="0"/>
              <a:t>Receiving Multiple Packets</a:t>
            </a:r>
          </a:p>
        </p:txBody>
      </p:sp>
      <p:sp>
        <p:nvSpPr>
          <p:cNvPr id="45059" name="Rectangle 3"/>
          <p:cNvSpPr>
            <a:spLocks noGrp="1" noChangeArrowheads="1"/>
          </p:cNvSpPr>
          <p:nvPr>
            <p:ph idx="1"/>
          </p:nvPr>
        </p:nvSpPr>
        <p:spPr>
          <a:xfrm>
            <a:off x="0" y="1295400"/>
            <a:ext cx="9144000" cy="4525963"/>
          </a:xfrm>
        </p:spPr>
        <p:txBody>
          <a:bodyPr>
            <a:noAutofit/>
          </a:bodyPr>
          <a:lstStyle/>
          <a:p>
            <a:r>
              <a:rPr lang="en-US" altLang="en-US" sz="2400" dirty="0" smtClean="0"/>
              <a:t>Watch out for strictly decreasing packet sizes</a:t>
            </a:r>
          </a:p>
          <a:p>
            <a:pPr lvl="2"/>
            <a:r>
              <a:rPr lang="en-US" altLang="en-US" sz="1600" dirty="0" err="1" smtClean="0"/>
              <a:t>DatagramPacket</a:t>
            </a:r>
            <a:r>
              <a:rPr lang="en-US" altLang="en-US" sz="1600" dirty="0" smtClean="0"/>
              <a:t> incoming = new </a:t>
            </a:r>
            <a:r>
              <a:rPr lang="en-US" altLang="en-US" sz="1600" dirty="0" err="1" smtClean="0"/>
              <a:t>DatagramPacket</a:t>
            </a:r>
            <a:r>
              <a:rPr lang="en-US" altLang="en-US" sz="1600" dirty="0" smtClean="0"/>
              <a:t>(new byte[8192], 8192);</a:t>
            </a:r>
          </a:p>
          <a:p>
            <a:pPr lvl="2"/>
            <a:r>
              <a:rPr lang="en-US" altLang="en-US" sz="1600" dirty="0" err="1" smtClean="0"/>
              <a:t>DatagramSocket</a:t>
            </a:r>
            <a:r>
              <a:rPr lang="en-US" altLang="en-US" sz="1600" dirty="0" smtClean="0"/>
              <a:t> ds = new </a:t>
            </a:r>
            <a:r>
              <a:rPr lang="en-US" altLang="en-US" sz="1600" dirty="0" err="1" smtClean="0"/>
              <a:t>DatagramSocket</a:t>
            </a:r>
            <a:r>
              <a:rPr lang="en-US" altLang="en-US" sz="1600" dirty="0" smtClean="0"/>
              <a:t>(2134);</a:t>
            </a:r>
          </a:p>
          <a:p>
            <a:pPr lvl="2"/>
            <a:r>
              <a:rPr lang="en-US" altLang="en-US" sz="1600" dirty="0" smtClean="0"/>
              <a:t>while (true) {</a:t>
            </a:r>
          </a:p>
          <a:p>
            <a:pPr lvl="2"/>
            <a:r>
              <a:rPr lang="en-US" altLang="en-US" sz="1600" dirty="0" smtClean="0"/>
              <a:t>  try {</a:t>
            </a:r>
          </a:p>
          <a:p>
            <a:pPr lvl="2"/>
            <a:r>
              <a:rPr lang="en-US" altLang="en-US" sz="1600" dirty="0" smtClean="0"/>
              <a:t>    </a:t>
            </a:r>
            <a:r>
              <a:rPr lang="en-US" altLang="en-US" sz="1600" dirty="0" err="1" smtClean="0"/>
              <a:t>incoming.setLength</a:t>
            </a:r>
            <a:r>
              <a:rPr lang="en-US" altLang="en-US" sz="1600" dirty="0" smtClean="0"/>
              <a:t>(8192);</a:t>
            </a:r>
          </a:p>
          <a:p>
            <a:pPr lvl="2"/>
            <a:r>
              <a:rPr lang="en-US" altLang="en-US" sz="1600" dirty="0" smtClean="0"/>
              <a:t>    </a:t>
            </a:r>
            <a:r>
              <a:rPr lang="en-US" altLang="en-US" sz="1600" dirty="0" err="1" smtClean="0"/>
              <a:t>ds.receive</a:t>
            </a:r>
            <a:r>
              <a:rPr lang="en-US" altLang="en-US" sz="1600" dirty="0" smtClean="0"/>
              <a:t>(incoming);</a:t>
            </a:r>
          </a:p>
          <a:p>
            <a:pPr lvl="2"/>
            <a:r>
              <a:rPr lang="en-US" altLang="en-US" sz="1600" dirty="0" smtClean="0"/>
              <a:t>    byte[] data = </a:t>
            </a:r>
            <a:r>
              <a:rPr lang="en-US" altLang="en-US" sz="1600" dirty="0" err="1" smtClean="0"/>
              <a:t>incoming.getData</a:t>
            </a:r>
            <a:r>
              <a:rPr lang="en-US" altLang="en-US" sz="1600" dirty="0" smtClean="0"/>
              <a:t>();</a:t>
            </a:r>
          </a:p>
          <a:p>
            <a:pPr lvl="2"/>
            <a:r>
              <a:rPr lang="en-US" altLang="en-US" sz="1600" dirty="0" smtClean="0"/>
              <a:t>    String s = new String(data, 0, </a:t>
            </a:r>
            <a:r>
              <a:rPr lang="en-US" altLang="en-US" sz="1600" dirty="0" err="1" smtClean="0"/>
              <a:t>data.getLength</a:t>
            </a:r>
            <a:r>
              <a:rPr lang="en-US" altLang="en-US" sz="1600" dirty="0" smtClean="0"/>
              <a:t>());</a:t>
            </a:r>
          </a:p>
          <a:p>
            <a:pPr lvl="2"/>
            <a:r>
              <a:rPr lang="en-US" altLang="en-US" sz="1600" dirty="0" smtClean="0"/>
              <a:t>    </a:t>
            </a:r>
            <a:r>
              <a:rPr lang="en-US" altLang="en-US" sz="1600" dirty="0" err="1" smtClean="0"/>
              <a:t>System.out.println</a:t>
            </a:r>
            <a:r>
              <a:rPr lang="en-US" altLang="en-US" sz="1600" dirty="0" smtClean="0"/>
              <a:t>("Port " + </a:t>
            </a:r>
            <a:r>
              <a:rPr lang="en-US" altLang="en-US" sz="1600" dirty="0" err="1" smtClean="0"/>
              <a:t>incoming.getPort</a:t>
            </a:r>
            <a:r>
              <a:rPr lang="en-US" altLang="en-US" sz="1600" dirty="0" smtClean="0"/>
              <a:t>()      + " on " + </a:t>
            </a:r>
            <a:r>
              <a:rPr lang="en-US" altLang="en-US" sz="1600" dirty="0" err="1" smtClean="0"/>
              <a:t>incoming.getAddress</a:t>
            </a:r>
            <a:r>
              <a:rPr lang="en-US" altLang="en-US" sz="1600" dirty="0" smtClean="0"/>
              <a:t>()      + " sent this message:");</a:t>
            </a:r>
          </a:p>
          <a:p>
            <a:pPr lvl="2"/>
            <a:r>
              <a:rPr lang="en-US" altLang="en-US" sz="1600" dirty="0" smtClean="0"/>
              <a:t>    </a:t>
            </a:r>
            <a:r>
              <a:rPr lang="en-US" altLang="en-US" sz="1600" dirty="0" err="1" smtClean="0"/>
              <a:t>System.out.println</a:t>
            </a:r>
            <a:r>
              <a:rPr lang="en-US" altLang="en-US" sz="1600" dirty="0" smtClean="0"/>
              <a:t>(s);</a:t>
            </a:r>
          </a:p>
          <a:p>
            <a:pPr lvl="2"/>
            <a:r>
              <a:rPr lang="en-US" altLang="en-US" sz="1600" dirty="0" smtClean="0"/>
              <a:t>  }</a:t>
            </a:r>
          </a:p>
          <a:p>
            <a:pPr lvl="2"/>
            <a:r>
              <a:rPr lang="en-US" altLang="en-US" sz="1600" dirty="0" smtClean="0"/>
              <a:t>  catch (</a:t>
            </a:r>
            <a:r>
              <a:rPr lang="en-US" altLang="en-US" sz="1600" dirty="0" err="1" smtClean="0"/>
              <a:t>IOException</a:t>
            </a:r>
            <a:r>
              <a:rPr lang="en-US" altLang="en-US" sz="1600" dirty="0" smtClean="0"/>
              <a:t> e) {</a:t>
            </a:r>
          </a:p>
          <a:p>
            <a:pPr lvl="2"/>
            <a:r>
              <a:rPr lang="en-US" altLang="en-US" sz="1600" dirty="0" smtClean="0"/>
              <a:t>    </a:t>
            </a:r>
            <a:r>
              <a:rPr lang="en-US" altLang="en-US" sz="1600" dirty="0" err="1" smtClean="0"/>
              <a:t>System.err.println</a:t>
            </a:r>
            <a:r>
              <a:rPr lang="en-US" altLang="en-US" sz="1600" dirty="0" smtClean="0"/>
              <a:t>(e);</a:t>
            </a:r>
          </a:p>
          <a:p>
            <a:pPr lvl="2"/>
            <a:r>
              <a:rPr lang="en-US" altLang="en-US" sz="1600" dirty="0" smtClean="0"/>
              <a:t>  }</a:t>
            </a:r>
          </a:p>
          <a:p>
            <a:pPr lvl="2"/>
            <a:r>
              <a:rPr lang="en-US" altLang="en-US" sz="1600" dirty="0" smtClean="0"/>
              <a:t>}</a:t>
            </a:r>
          </a:p>
        </p:txBody>
      </p:sp>
    </p:spTree>
    <p:extLst>
      <p:ext uri="{BB962C8B-B14F-4D97-AF65-F5344CB8AC3E}">
        <p14:creationId xmlns:p14="http://schemas.microsoft.com/office/powerpoint/2010/main" val="24867424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457200" y="274638"/>
            <a:ext cx="8229600" cy="715962"/>
          </a:xfrm>
        </p:spPr>
        <p:txBody>
          <a:bodyPr>
            <a:normAutofit fontScale="90000"/>
          </a:bodyPr>
          <a:lstStyle/>
          <a:p>
            <a:r>
              <a:rPr lang="en-US" altLang="en-US" smtClean="0"/>
              <a:t>UDP </a:t>
            </a:r>
            <a:r>
              <a:rPr lang="en-US" altLang="en-US" dirty="0" smtClean="0"/>
              <a:t>Discard Client</a:t>
            </a:r>
          </a:p>
        </p:txBody>
      </p:sp>
      <p:sp>
        <p:nvSpPr>
          <p:cNvPr id="45059" name="Rectangle 3"/>
          <p:cNvSpPr>
            <a:spLocks noGrp="1" noChangeArrowheads="1"/>
          </p:cNvSpPr>
          <p:nvPr>
            <p:ph idx="1"/>
          </p:nvPr>
        </p:nvSpPr>
        <p:spPr>
          <a:xfrm>
            <a:off x="0" y="914400"/>
            <a:ext cx="9144000" cy="4830763"/>
          </a:xfrm>
        </p:spPr>
        <p:txBody>
          <a:bodyPr>
            <a:noAutofit/>
          </a:bodyPr>
          <a:lstStyle/>
          <a:p>
            <a:pPr marL="0" indent="0">
              <a:buNone/>
            </a:pPr>
            <a:r>
              <a:rPr lang="en-IE" sz="1600" b="1" dirty="0">
                <a:solidFill>
                  <a:srgbClr val="7F0055"/>
                </a:solidFill>
                <a:latin typeface="Consolas"/>
              </a:rPr>
              <a:t>import</a:t>
            </a:r>
            <a:r>
              <a:rPr lang="en-IE" sz="1600" b="1" dirty="0">
                <a:solidFill>
                  <a:srgbClr val="000000"/>
                </a:solidFill>
                <a:latin typeface="Consolas"/>
              </a:rPr>
              <a:t> java.net.*;</a:t>
            </a:r>
          </a:p>
          <a:p>
            <a:pPr marL="0" indent="0">
              <a:buNone/>
            </a:pPr>
            <a:r>
              <a:rPr lang="en-IE" sz="1600" b="1" dirty="0">
                <a:solidFill>
                  <a:srgbClr val="7F0055"/>
                </a:solidFill>
                <a:latin typeface="Consolas"/>
              </a:rPr>
              <a:t>import</a:t>
            </a:r>
            <a:r>
              <a:rPr lang="en-IE" sz="1600" b="1" dirty="0">
                <a:solidFill>
                  <a:srgbClr val="000000"/>
                </a:solidFill>
                <a:latin typeface="Consolas"/>
              </a:rPr>
              <a:t> java.io.*;</a:t>
            </a:r>
          </a:p>
          <a:p>
            <a:pPr marL="0" indent="0">
              <a:buNone/>
            </a:pPr>
            <a:r>
              <a:rPr lang="en-IE" sz="1600" b="1" dirty="0">
                <a:solidFill>
                  <a:srgbClr val="7F0055"/>
                </a:solidFill>
                <a:latin typeface="Consolas"/>
              </a:rPr>
              <a:t>public</a:t>
            </a:r>
            <a:r>
              <a:rPr lang="en-IE" sz="1600" b="1" dirty="0">
                <a:solidFill>
                  <a:srgbClr val="000000"/>
                </a:solidFill>
                <a:latin typeface="Consolas"/>
              </a:rPr>
              <a:t> </a:t>
            </a:r>
            <a:r>
              <a:rPr lang="en-IE" sz="1600" b="1" dirty="0">
                <a:solidFill>
                  <a:srgbClr val="7F0055"/>
                </a:solidFill>
                <a:latin typeface="Consolas"/>
              </a:rPr>
              <a:t>class</a:t>
            </a:r>
            <a:r>
              <a:rPr lang="en-IE" sz="1600" b="1" dirty="0">
                <a:solidFill>
                  <a:srgbClr val="000000"/>
                </a:solidFill>
                <a:latin typeface="Consolas"/>
              </a:rPr>
              <a:t> </a:t>
            </a:r>
            <a:r>
              <a:rPr lang="en-IE" sz="1600" b="1" dirty="0" err="1">
                <a:solidFill>
                  <a:srgbClr val="000000"/>
                </a:solidFill>
                <a:latin typeface="Consolas"/>
              </a:rPr>
              <a:t>UDPDiscardClient</a:t>
            </a:r>
            <a:r>
              <a:rPr lang="en-IE" sz="1600" b="1" dirty="0">
                <a:solidFill>
                  <a:srgbClr val="000000"/>
                </a:solidFill>
                <a:latin typeface="Consolas"/>
              </a:rPr>
              <a:t> {</a:t>
            </a:r>
          </a:p>
          <a:p>
            <a:pPr marL="0" indent="0">
              <a:buNone/>
            </a:pPr>
            <a:r>
              <a:rPr lang="en-IE" sz="1600" b="1" dirty="0">
                <a:solidFill>
                  <a:srgbClr val="7F0055"/>
                </a:solidFill>
                <a:latin typeface="Consolas"/>
              </a:rPr>
              <a:t>public</a:t>
            </a:r>
            <a:r>
              <a:rPr lang="en-IE" sz="1600" b="1" dirty="0">
                <a:solidFill>
                  <a:srgbClr val="000000"/>
                </a:solidFill>
                <a:latin typeface="Consolas"/>
              </a:rPr>
              <a:t> </a:t>
            </a:r>
            <a:r>
              <a:rPr lang="en-IE" sz="1600" b="1" dirty="0">
                <a:solidFill>
                  <a:srgbClr val="7F0055"/>
                </a:solidFill>
                <a:latin typeface="Consolas"/>
              </a:rPr>
              <a:t>final</a:t>
            </a:r>
            <a:r>
              <a:rPr lang="en-IE" sz="1600" b="1" dirty="0">
                <a:solidFill>
                  <a:srgbClr val="000000"/>
                </a:solidFill>
                <a:latin typeface="Consolas"/>
              </a:rPr>
              <a:t> </a:t>
            </a:r>
            <a:r>
              <a:rPr lang="en-IE" sz="1600" b="1" dirty="0">
                <a:solidFill>
                  <a:srgbClr val="7F0055"/>
                </a:solidFill>
                <a:latin typeface="Consolas"/>
              </a:rPr>
              <a:t>static</a:t>
            </a:r>
            <a:r>
              <a:rPr lang="en-IE" sz="1600" b="1" dirty="0">
                <a:solidFill>
                  <a:srgbClr val="000000"/>
                </a:solidFill>
                <a:latin typeface="Consolas"/>
              </a:rPr>
              <a:t> </a:t>
            </a:r>
            <a:r>
              <a:rPr lang="en-IE" sz="1600" b="1" dirty="0" err="1">
                <a:solidFill>
                  <a:srgbClr val="7F0055"/>
                </a:solidFill>
                <a:latin typeface="Consolas"/>
              </a:rPr>
              <a:t>int</a:t>
            </a:r>
            <a:r>
              <a:rPr lang="en-IE" sz="1600" b="1" dirty="0">
                <a:solidFill>
                  <a:srgbClr val="000000"/>
                </a:solidFill>
                <a:latin typeface="Consolas"/>
              </a:rPr>
              <a:t> </a:t>
            </a:r>
            <a:r>
              <a:rPr lang="en-IE" sz="1600" b="1" i="1" dirty="0">
                <a:solidFill>
                  <a:srgbClr val="0000C0"/>
                </a:solidFill>
                <a:latin typeface="Consolas"/>
              </a:rPr>
              <a:t>PORT</a:t>
            </a:r>
            <a:r>
              <a:rPr lang="en-IE" sz="1600" b="1" i="1" dirty="0">
                <a:solidFill>
                  <a:srgbClr val="000000"/>
                </a:solidFill>
                <a:latin typeface="Consolas"/>
              </a:rPr>
              <a:t> = 9;</a:t>
            </a:r>
          </a:p>
          <a:p>
            <a:pPr marL="0" indent="0">
              <a:buNone/>
            </a:pPr>
            <a:r>
              <a:rPr lang="en-IE" sz="1600" b="1" dirty="0">
                <a:solidFill>
                  <a:srgbClr val="7F0055"/>
                </a:solidFill>
                <a:latin typeface="Consolas"/>
              </a:rPr>
              <a:t>public</a:t>
            </a:r>
            <a:r>
              <a:rPr lang="en-IE" sz="1600" b="1" dirty="0">
                <a:solidFill>
                  <a:srgbClr val="000000"/>
                </a:solidFill>
                <a:latin typeface="Consolas"/>
              </a:rPr>
              <a:t> </a:t>
            </a:r>
            <a:r>
              <a:rPr lang="en-IE" sz="1600" b="1" dirty="0">
                <a:solidFill>
                  <a:srgbClr val="7F0055"/>
                </a:solidFill>
                <a:latin typeface="Consolas"/>
              </a:rPr>
              <a:t>static</a:t>
            </a:r>
            <a:r>
              <a:rPr lang="en-IE" sz="1600" b="1" dirty="0">
                <a:solidFill>
                  <a:srgbClr val="000000"/>
                </a:solidFill>
                <a:latin typeface="Consolas"/>
              </a:rPr>
              <a:t> </a:t>
            </a:r>
            <a:r>
              <a:rPr lang="en-IE" sz="1600" b="1" dirty="0">
                <a:solidFill>
                  <a:srgbClr val="7F0055"/>
                </a:solidFill>
                <a:latin typeface="Consolas"/>
              </a:rPr>
              <a:t>void</a:t>
            </a:r>
            <a:r>
              <a:rPr lang="en-IE" sz="1600" b="1" dirty="0">
                <a:solidFill>
                  <a:srgbClr val="000000"/>
                </a:solidFill>
                <a:latin typeface="Consolas"/>
              </a:rPr>
              <a:t> main(String[] </a:t>
            </a:r>
            <a:r>
              <a:rPr lang="en-IE" sz="1600" b="1" dirty="0" err="1">
                <a:solidFill>
                  <a:srgbClr val="6A3E3E"/>
                </a:solidFill>
                <a:latin typeface="Consolas"/>
              </a:rPr>
              <a:t>args</a:t>
            </a:r>
            <a:r>
              <a:rPr lang="en-IE" sz="1600" b="1" dirty="0">
                <a:solidFill>
                  <a:srgbClr val="000000"/>
                </a:solidFill>
                <a:latin typeface="Consolas"/>
              </a:rPr>
              <a:t>) {</a:t>
            </a:r>
          </a:p>
          <a:p>
            <a:pPr marL="0" indent="0">
              <a:buNone/>
            </a:pPr>
            <a:r>
              <a:rPr lang="en-IE" sz="1600" dirty="0">
                <a:solidFill>
                  <a:srgbClr val="000000"/>
                </a:solidFill>
                <a:latin typeface="Consolas"/>
              </a:rPr>
              <a:t>String </a:t>
            </a:r>
            <a:r>
              <a:rPr lang="en-IE" sz="1600" dirty="0">
                <a:solidFill>
                  <a:srgbClr val="6A3E3E"/>
                </a:solidFill>
                <a:latin typeface="Consolas"/>
              </a:rPr>
              <a:t>hostname</a:t>
            </a:r>
            <a:r>
              <a:rPr lang="en-IE" sz="1600" dirty="0">
                <a:solidFill>
                  <a:srgbClr val="000000"/>
                </a:solidFill>
                <a:latin typeface="Consolas"/>
              </a:rPr>
              <a:t> = </a:t>
            </a:r>
            <a:r>
              <a:rPr lang="en-IE" sz="1600" dirty="0" err="1">
                <a:solidFill>
                  <a:srgbClr val="6A3E3E"/>
                </a:solidFill>
                <a:latin typeface="Consolas"/>
              </a:rPr>
              <a:t>args</a:t>
            </a:r>
            <a:r>
              <a:rPr lang="en-IE" sz="1600" dirty="0" err="1">
                <a:solidFill>
                  <a:srgbClr val="000000"/>
                </a:solidFill>
                <a:latin typeface="Consolas"/>
              </a:rPr>
              <a:t>.</a:t>
            </a:r>
            <a:r>
              <a:rPr lang="en-IE" sz="1600" dirty="0" err="1">
                <a:solidFill>
                  <a:srgbClr val="0000C0"/>
                </a:solidFill>
                <a:latin typeface="Consolas"/>
              </a:rPr>
              <a:t>length</a:t>
            </a:r>
            <a:r>
              <a:rPr lang="en-IE" sz="1600" dirty="0">
                <a:solidFill>
                  <a:srgbClr val="000000"/>
                </a:solidFill>
                <a:latin typeface="Consolas"/>
              </a:rPr>
              <a:t> &gt; 0 ? </a:t>
            </a:r>
            <a:r>
              <a:rPr lang="en-IE" sz="1600" dirty="0" err="1">
                <a:solidFill>
                  <a:srgbClr val="6A3E3E"/>
                </a:solidFill>
                <a:latin typeface="Consolas"/>
              </a:rPr>
              <a:t>args</a:t>
            </a:r>
            <a:r>
              <a:rPr lang="en-IE" sz="1600" dirty="0">
                <a:solidFill>
                  <a:srgbClr val="000000"/>
                </a:solidFill>
                <a:latin typeface="Consolas"/>
              </a:rPr>
              <a:t>[0] : </a:t>
            </a:r>
            <a:r>
              <a:rPr lang="en-IE" sz="1600" dirty="0">
                <a:solidFill>
                  <a:srgbClr val="2A00FF"/>
                </a:solidFill>
                <a:latin typeface="Consolas"/>
              </a:rPr>
              <a:t>"localhost"</a:t>
            </a:r>
            <a:r>
              <a:rPr lang="en-IE" sz="1600" dirty="0">
                <a:solidFill>
                  <a:srgbClr val="000000"/>
                </a:solidFill>
                <a:latin typeface="Consolas"/>
              </a:rPr>
              <a:t>;</a:t>
            </a:r>
          </a:p>
          <a:p>
            <a:pPr marL="0" indent="0">
              <a:buNone/>
            </a:pPr>
            <a:r>
              <a:rPr lang="en-IE" sz="1600" b="1" dirty="0">
                <a:solidFill>
                  <a:srgbClr val="7F0055"/>
                </a:solidFill>
                <a:latin typeface="Consolas"/>
              </a:rPr>
              <a:t>try</a:t>
            </a:r>
            <a:r>
              <a:rPr lang="en-IE" sz="1600" b="1" dirty="0">
                <a:solidFill>
                  <a:srgbClr val="000000"/>
                </a:solidFill>
                <a:latin typeface="Consolas"/>
              </a:rPr>
              <a:t> (</a:t>
            </a:r>
            <a:r>
              <a:rPr lang="en-IE" sz="1600" b="1" dirty="0" err="1">
                <a:solidFill>
                  <a:srgbClr val="000000"/>
                </a:solidFill>
                <a:latin typeface="Consolas"/>
              </a:rPr>
              <a:t>DatagramSocket</a:t>
            </a:r>
            <a:r>
              <a:rPr lang="en-IE" sz="1600" b="1" dirty="0">
                <a:solidFill>
                  <a:srgbClr val="000000"/>
                </a:solidFill>
                <a:latin typeface="Consolas"/>
              </a:rPr>
              <a:t> </a:t>
            </a:r>
            <a:r>
              <a:rPr lang="en-IE" sz="1600" b="1" dirty="0" err="1">
                <a:solidFill>
                  <a:srgbClr val="6A3E3E"/>
                </a:solidFill>
                <a:latin typeface="Consolas"/>
              </a:rPr>
              <a:t>theSocket</a:t>
            </a:r>
            <a:r>
              <a:rPr lang="en-IE" sz="1600" b="1" dirty="0">
                <a:solidFill>
                  <a:srgbClr val="000000"/>
                </a:solidFill>
                <a:latin typeface="Consolas"/>
              </a:rPr>
              <a:t> = </a:t>
            </a:r>
            <a:r>
              <a:rPr lang="en-IE" sz="1600" b="1" dirty="0">
                <a:solidFill>
                  <a:srgbClr val="7F0055"/>
                </a:solidFill>
                <a:latin typeface="Consolas"/>
              </a:rPr>
              <a:t>new</a:t>
            </a:r>
            <a:r>
              <a:rPr lang="en-IE" sz="1600" b="1" dirty="0">
                <a:solidFill>
                  <a:srgbClr val="000000"/>
                </a:solidFill>
                <a:latin typeface="Consolas"/>
              </a:rPr>
              <a:t> </a:t>
            </a:r>
            <a:r>
              <a:rPr lang="en-IE" sz="1600" b="1" dirty="0" err="1">
                <a:solidFill>
                  <a:srgbClr val="000000"/>
                </a:solidFill>
                <a:latin typeface="Consolas"/>
              </a:rPr>
              <a:t>DatagramSocket</a:t>
            </a:r>
            <a:r>
              <a:rPr lang="en-IE" sz="1600" b="1" dirty="0">
                <a:solidFill>
                  <a:srgbClr val="000000"/>
                </a:solidFill>
                <a:latin typeface="Consolas"/>
              </a:rPr>
              <a:t>()) {</a:t>
            </a:r>
          </a:p>
          <a:p>
            <a:pPr marL="0" indent="0">
              <a:buNone/>
            </a:pPr>
            <a:r>
              <a:rPr lang="en-IE" sz="1600" dirty="0" err="1">
                <a:solidFill>
                  <a:srgbClr val="000000"/>
                </a:solidFill>
                <a:latin typeface="Consolas"/>
              </a:rPr>
              <a:t>InetAddress</a:t>
            </a:r>
            <a:r>
              <a:rPr lang="en-IE" sz="1600" dirty="0">
                <a:solidFill>
                  <a:srgbClr val="000000"/>
                </a:solidFill>
                <a:latin typeface="Consolas"/>
              </a:rPr>
              <a:t> </a:t>
            </a:r>
            <a:r>
              <a:rPr lang="en-IE" sz="1600" dirty="0">
                <a:solidFill>
                  <a:srgbClr val="6A3E3E"/>
                </a:solidFill>
                <a:latin typeface="Consolas"/>
              </a:rPr>
              <a:t>server</a:t>
            </a:r>
            <a:r>
              <a:rPr lang="en-IE" sz="1600" dirty="0">
                <a:solidFill>
                  <a:srgbClr val="000000"/>
                </a:solidFill>
                <a:latin typeface="Consolas"/>
              </a:rPr>
              <a:t> = </a:t>
            </a:r>
            <a:r>
              <a:rPr lang="en-IE" sz="1600" dirty="0" err="1">
                <a:solidFill>
                  <a:srgbClr val="000000"/>
                </a:solidFill>
                <a:latin typeface="Consolas"/>
              </a:rPr>
              <a:t>InetAddress.</a:t>
            </a:r>
            <a:r>
              <a:rPr lang="en-IE" sz="1600" i="1" dirty="0" err="1">
                <a:solidFill>
                  <a:srgbClr val="000000"/>
                </a:solidFill>
                <a:latin typeface="Consolas"/>
              </a:rPr>
              <a:t>getByName</a:t>
            </a:r>
            <a:r>
              <a:rPr lang="en-IE" sz="1600" i="1" dirty="0">
                <a:solidFill>
                  <a:srgbClr val="000000"/>
                </a:solidFill>
                <a:latin typeface="Consolas"/>
              </a:rPr>
              <a:t>(</a:t>
            </a:r>
            <a:r>
              <a:rPr lang="en-IE" sz="1600" i="1" dirty="0">
                <a:solidFill>
                  <a:srgbClr val="6A3E3E"/>
                </a:solidFill>
                <a:latin typeface="Consolas"/>
              </a:rPr>
              <a:t>hostname</a:t>
            </a:r>
            <a:r>
              <a:rPr lang="en-IE" sz="1600" i="1" dirty="0">
                <a:solidFill>
                  <a:srgbClr val="000000"/>
                </a:solidFill>
                <a:latin typeface="Consolas"/>
              </a:rPr>
              <a:t>);</a:t>
            </a:r>
          </a:p>
          <a:p>
            <a:pPr marL="0" indent="0">
              <a:buNone/>
            </a:pPr>
            <a:r>
              <a:rPr lang="en-IE" sz="1600" dirty="0" err="1">
                <a:solidFill>
                  <a:srgbClr val="000000"/>
                </a:solidFill>
                <a:latin typeface="Consolas"/>
              </a:rPr>
              <a:t>BufferedReader</a:t>
            </a:r>
            <a:r>
              <a:rPr lang="en-IE" sz="1600" dirty="0">
                <a:solidFill>
                  <a:srgbClr val="000000"/>
                </a:solidFill>
                <a:latin typeface="Consolas"/>
              </a:rPr>
              <a:t> </a:t>
            </a:r>
            <a:r>
              <a:rPr lang="en-IE" sz="1600" dirty="0" err="1">
                <a:solidFill>
                  <a:srgbClr val="6A3E3E"/>
                </a:solidFill>
                <a:latin typeface="Consolas"/>
              </a:rPr>
              <a:t>userInput</a:t>
            </a:r>
            <a:r>
              <a:rPr lang="en-IE" sz="1600" dirty="0">
                <a:solidFill>
                  <a:srgbClr val="000000"/>
                </a:solidFill>
                <a:latin typeface="Consolas"/>
              </a:rPr>
              <a:t> = </a:t>
            </a:r>
            <a:r>
              <a:rPr lang="en-IE" sz="1600" b="1" dirty="0">
                <a:solidFill>
                  <a:srgbClr val="7F0055"/>
                </a:solidFill>
                <a:latin typeface="Consolas"/>
              </a:rPr>
              <a:t>new</a:t>
            </a:r>
            <a:r>
              <a:rPr lang="en-IE" sz="1600" b="1" dirty="0">
                <a:solidFill>
                  <a:srgbClr val="000000"/>
                </a:solidFill>
                <a:latin typeface="Consolas"/>
              </a:rPr>
              <a:t> </a:t>
            </a:r>
            <a:r>
              <a:rPr lang="en-IE" sz="1600" b="1" dirty="0" err="1">
                <a:solidFill>
                  <a:srgbClr val="000000"/>
                </a:solidFill>
                <a:latin typeface="Consolas"/>
              </a:rPr>
              <a:t>BufferedReader</a:t>
            </a:r>
            <a:r>
              <a:rPr lang="en-IE" sz="1600" b="1" dirty="0">
                <a:solidFill>
                  <a:srgbClr val="000000"/>
                </a:solidFill>
                <a:latin typeface="Consolas"/>
              </a:rPr>
              <a:t>(</a:t>
            </a:r>
            <a:r>
              <a:rPr lang="en-IE" sz="1600" b="1" dirty="0">
                <a:solidFill>
                  <a:srgbClr val="7F0055"/>
                </a:solidFill>
                <a:latin typeface="Consolas"/>
              </a:rPr>
              <a:t>new</a:t>
            </a:r>
            <a:r>
              <a:rPr lang="en-IE" sz="1600" b="1" dirty="0">
                <a:solidFill>
                  <a:srgbClr val="000000"/>
                </a:solidFill>
                <a:latin typeface="Consolas"/>
              </a:rPr>
              <a:t> </a:t>
            </a:r>
            <a:r>
              <a:rPr lang="en-IE" sz="1600" b="1" dirty="0" err="1">
                <a:solidFill>
                  <a:srgbClr val="000000"/>
                </a:solidFill>
                <a:latin typeface="Consolas"/>
              </a:rPr>
              <a:t>InputStreamReader</a:t>
            </a:r>
            <a:r>
              <a:rPr lang="en-IE" sz="1600" b="1" dirty="0">
                <a:solidFill>
                  <a:srgbClr val="000000"/>
                </a:solidFill>
                <a:latin typeface="Consolas"/>
              </a:rPr>
              <a:t>(</a:t>
            </a:r>
            <a:r>
              <a:rPr lang="en-IE" sz="1600" b="1" dirty="0">
                <a:solidFill>
                  <a:srgbClr val="000000"/>
                </a:solidFill>
                <a:highlight>
                  <a:srgbClr val="D4D4D4"/>
                </a:highlight>
                <a:latin typeface="Consolas"/>
              </a:rPr>
              <a:t>System.</a:t>
            </a:r>
            <a:r>
              <a:rPr lang="en-IE" sz="1600" b="1" i="1" dirty="0">
                <a:solidFill>
                  <a:srgbClr val="0000C0"/>
                </a:solidFill>
                <a:highlight>
                  <a:srgbClr val="D4D4D4"/>
                </a:highlight>
                <a:latin typeface="Consolas"/>
              </a:rPr>
              <a:t>in</a:t>
            </a:r>
            <a:r>
              <a:rPr lang="en-IE" sz="1600" b="1" i="1" dirty="0">
                <a:solidFill>
                  <a:srgbClr val="000000"/>
                </a:solidFill>
                <a:highlight>
                  <a:srgbClr val="D4D4D4"/>
                </a:highlight>
                <a:latin typeface="Consolas"/>
              </a:rPr>
              <a:t>));</a:t>
            </a:r>
          </a:p>
          <a:p>
            <a:pPr marL="0" indent="0">
              <a:buNone/>
            </a:pPr>
            <a:r>
              <a:rPr lang="en-IE" sz="1600" b="1" dirty="0">
                <a:solidFill>
                  <a:srgbClr val="7F0055"/>
                </a:solidFill>
                <a:latin typeface="Consolas"/>
              </a:rPr>
              <a:t>while</a:t>
            </a:r>
            <a:r>
              <a:rPr lang="en-IE" sz="1600" b="1" dirty="0">
                <a:solidFill>
                  <a:srgbClr val="000000"/>
                </a:solidFill>
                <a:latin typeface="Consolas"/>
              </a:rPr>
              <a:t> (</a:t>
            </a:r>
            <a:r>
              <a:rPr lang="en-IE" sz="1600" b="1" dirty="0">
                <a:solidFill>
                  <a:srgbClr val="7F0055"/>
                </a:solidFill>
                <a:latin typeface="Consolas"/>
              </a:rPr>
              <a:t>true</a:t>
            </a:r>
            <a:r>
              <a:rPr lang="en-IE" sz="1600" b="1" dirty="0">
                <a:solidFill>
                  <a:srgbClr val="000000"/>
                </a:solidFill>
                <a:latin typeface="Consolas"/>
              </a:rPr>
              <a:t>) {</a:t>
            </a:r>
          </a:p>
          <a:p>
            <a:pPr marL="0" indent="0">
              <a:buNone/>
            </a:pPr>
            <a:r>
              <a:rPr lang="en-IE" sz="1600" dirty="0">
                <a:solidFill>
                  <a:srgbClr val="000000"/>
                </a:solidFill>
                <a:latin typeface="Consolas"/>
              </a:rPr>
              <a:t>String </a:t>
            </a:r>
            <a:r>
              <a:rPr lang="en-IE" sz="1600" dirty="0" err="1">
                <a:solidFill>
                  <a:srgbClr val="6A3E3E"/>
                </a:solidFill>
                <a:latin typeface="Consolas"/>
              </a:rPr>
              <a:t>theLine</a:t>
            </a:r>
            <a:r>
              <a:rPr lang="en-IE" sz="1600" dirty="0">
                <a:solidFill>
                  <a:srgbClr val="000000"/>
                </a:solidFill>
                <a:latin typeface="Consolas"/>
              </a:rPr>
              <a:t> = </a:t>
            </a:r>
            <a:r>
              <a:rPr lang="en-IE" sz="1600" dirty="0" err="1">
                <a:solidFill>
                  <a:srgbClr val="6A3E3E"/>
                </a:solidFill>
                <a:latin typeface="Consolas"/>
              </a:rPr>
              <a:t>userInput</a:t>
            </a:r>
            <a:r>
              <a:rPr lang="en-IE" sz="1600" dirty="0" err="1">
                <a:solidFill>
                  <a:srgbClr val="000000"/>
                </a:solidFill>
                <a:latin typeface="Consolas"/>
              </a:rPr>
              <a:t>.readLine</a:t>
            </a:r>
            <a:r>
              <a:rPr lang="en-IE" sz="1600" dirty="0">
                <a:solidFill>
                  <a:srgbClr val="000000"/>
                </a:solidFill>
                <a:latin typeface="Consolas"/>
              </a:rPr>
              <a:t>();</a:t>
            </a:r>
          </a:p>
          <a:p>
            <a:pPr marL="0" indent="0">
              <a:buNone/>
            </a:pPr>
            <a:r>
              <a:rPr lang="en-IE" sz="1600" b="1" dirty="0">
                <a:solidFill>
                  <a:srgbClr val="7F0055"/>
                </a:solidFill>
                <a:latin typeface="Consolas"/>
              </a:rPr>
              <a:t>if</a:t>
            </a:r>
            <a:r>
              <a:rPr lang="en-IE" sz="1600" b="1" dirty="0">
                <a:solidFill>
                  <a:srgbClr val="000000"/>
                </a:solidFill>
                <a:latin typeface="Consolas"/>
              </a:rPr>
              <a:t> (</a:t>
            </a:r>
            <a:r>
              <a:rPr lang="en-IE" sz="1600" b="1" dirty="0" err="1">
                <a:solidFill>
                  <a:srgbClr val="6A3E3E"/>
                </a:solidFill>
                <a:latin typeface="Consolas"/>
              </a:rPr>
              <a:t>theLine</a:t>
            </a:r>
            <a:r>
              <a:rPr lang="en-IE" sz="1600" b="1" dirty="0" err="1">
                <a:solidFill>
                  <a:srgbClr val="000000"/>
                </a:solidFill>
                <a:latin typeface="Consolas"/>
              </a:rPr>
              <a:t>.equals</a:t>
            </a:r>
            <a:r>
              <a:rPr lang="en-IE" sz="1600" b="1" dirty="0">
                <a:solidFill>
                  <a:srgbClr val="000000"/>
                </a:solidFill>
                <a:latin typeface="Consolas"/>
              </a:rPr>
              <a:t>(</a:t>
            </a:r>
            <a:r>
              <a:rPr lang="en-IE" sz="1600" b="1" dirty="0">
                <a:solidFill>
                  <a:srgbClr val="2A00FF"/>
                </a:solidFill>
                <a:latin typeface="Consolas"/>
              </a:rPr>
              <a:t>"."</a:t>
            </a:r>
            <a:r>
              <a:rPr lang="en-IE" sz="1600" b="1" dirty="0">
                <a:solidFill>
                  <a:srgbClr val="000000"/>
                </a:solidFill>
                <a:latin typeface="Consolas"/>
              </a:rPr>
              <a:t>)) </a:t>
            </a:r>
            <a:r>
              <a:rPr lang="en-IE" sz="1600" b="1" dirty="0">
                <a:solidFill>
                  <a:srgbClr val="7F0055"/>
                </a:solidFill>
                <a:latin typeface="Consolas"/>
              </a:rPr>
              <a:t>break</a:t>
            </a:r>
            <a:r>
              <a:rPr lang="en-IE" sz="1600" b="1" dirty="0">
                <a:solidFill>
                  <a:srgbClr val="000000"/>
                </a:solidFill>
                <a:latin typeface="Consolas"/>
              </a:rPr>
              <a:t>;</a:t>
            </a:r>
          </a:p>
          <a:p>
            <a:pPr marL="0" indent="0">
              <a:buNone/>
            </a:pPr>
            <a:r>
              <a:rPr lang="en-IE" sz="1600" b="1" dirty="0">
                <a:solidFill>
                  <a:srgbClr val="7F0055"/>
                </a:solidFill>
                <a:latin typeface="Consolas"/>
              </a:rPr>
              <a:t>byte</a:t>
            </a:r>
            <a:r>
              <a:rPr lang="en-IE" sz="1600" b="1" dirty="0">
                <a:solidFill>
                  <a:srgbClr val="000000"/>
                </a:solidFill>
                <a:latin typeface="Consolas"/>
              </a:rPr>
              <a:t>[] </a:t>
            </a:r>
            <a:r>
              <a:rPr lang="en-IE" sz="1600" b="1" dirty="0">
                <a:solidFill>
                  <a:srgbClr val="6A3E3E"/>
                </a:solidFill>
                <a:latin typeface="Consolas"/>
              </a:rPr>
              <a:t>data</a:t>
            </a:r>
            <a:r>
              <a:rPr lang="en-IE" sz="1600" b="1" dirty="0">
                <a:solidFill>
                  <a:srgbClr val="000000"/>
                </a:solidFill>
                <a:latin typeface="Consolas"/>
              </a:rPr>
              <a:t> = </a:t>
            </a:r>
            <a:r>
              <a:rPr lang="en-IE" sz="1600" b="1" dirty="0" err="1">
                <a:solidFill>
                  <a:srgbClr val="6A3E3E"/>
                </a:solidFill>
                <a:latin typeface="Consolas"/>
              </a:rPr>
              <a:t>theLine</a:t>
            </a:r>
            <a:r>
              <a:rPr lang="en-IE" sz="1600" b="1" dirty="0" err="1">
                <a:solidFill>
                  <a:srgbClr val="000000"/>
                </a:solidFill>
                <a:latin typeface="Consolas"/>
              </a:rPr>
              <a:t>.getBytes</a:t>
            </a:r>
            <a:r>
              <a:rPr lang="en-IE" sz="1600" b="1" dirty="0">
                <a:solidFill>
                  <a:srgbClr val="000000"/>
                </a:solidFill>
                <a:latin typeface="Consolas"/>
              </a:rPr>
              <a:t>();</a:t>
            </a:r>
          </a:p>
          <a:p>
            <a:pPr marL="0" indent="0">
              <a:buNone/>
            </a:pPr>
            <a:r>
              <a:rPr lang="en-IE" sz="1600" dirty="0" err="1">
                <a:solidFill>
                  <a:srgbClr val="000000"/>
                </a:solidFill>
                <a:latin typeface="Consolas"/>
              </a:rPr>
              <a:t>DatagramPacket</a:t>
            </a:r>
            <a:r>
              <a:rPr lang="en-IE" sz="1600" dirty="0">
                <a:solidFill>
                  <a:srgbClr val="000000"/>
                </a:solidFill>
                <a:latin typeface="Consolas"/>
              </a:rPr>
              <a:t> </a:t>
            </a:r>
            <a:r>
              <a:rPr lang="en-IE" sz="1600" dirty="0" err="1">
                <a:solidFill>
                  <a:srgbClr val="6A3E3E"/>
                </a:solidFill>
                <a:latin typeface="Consolas"/>
              </a:rPr>
              <a:t>theOutput</a:t>
            </a:r>
            <a:r>
              <a:rPr lang="en-IE" sz="1600" dirty="0">
                <a:solidFill>
                  <a:srgbClr val="000000"/>
                </a:solidFill>
                <a:latin typeface="Consolas"/>
              </a:rPr>
              <a:t> = </a:t>
            </a:r>
            <a:r>
              <a:rPr lang="en-IE" sz="1600" b="1" dirty="0">
                <a:solidFill>
                  <a:srgbClr val="7F0055"/>
                </a:solidFill>
                <a:latin typeface="Consolas"/>
              </a:rPr>
              <a:t>new</a:t>
            </a:r>
            <a:r>
              <a:rPr lang="en-IE" sz="1600" b="1" dirty="0">
                <a:solidFill>
                  <a:srgbClr val="000000"/>
                </a:solidFill>
                <a:latin typeface="Consolas"/>
              </a:rPr>
              <a:t> </a:t>
            </a:r>
            <a:r>
              <a:rPr lang="en-IE" sz="1600" b="1" dirty="0" err="1">
                <a:solidFill>
                  <a:srgbClr val="000000"/>
                </a:solidFill>
                <a:latin typeface="Consolas"/>
              </a:rPr>
              <a:t>DatagramPacket</a:t>
            </a:r>
            <a:r>
              <a:rPr lang="en-IE" sz="1600" b="1" dirty="0">
                <a:solidFill>
                  <a:srgbClr val="000000"/>
                </a:solidFill>
                <a:latin typeface="Consolas"/>
              </a:rPr>
              <a:t>(</a:t>
            </a:r>
            <a:r>
              <a:rPr lang="en-IE" sz="1600" b="1" dirty="0">
                <a:solidFill>
                  <a:srgbClr val="6A3E3E"/>
                </a:solidFill>
                <a:latin typeface="Consolas"/>
              </a:rPr>
              <a:t>data</a:t>
            </a:r>
            <a:r>
              <a:rPr lang="en-IE" sz="1600" b="1" dirty="0">
                <a:solidFill>
                  <a:srgbClr val="000000"/>
                </a:solidFill>
                <a:latin typeface="Consolas"/>
              </a:rPr>
              <a:t>, </a:t>
            </a:r>
            <a:r>
              <a:rPr lang="en-IE" sz="1600" b="1" dirty="0" err="1">
                <a:solidFill>
                  <a:srgbClr val="6A3E3E"/>
                </a:solidFill>
                <a:latin typeface="Consolas"/>
              </a:rPr>
              <a:t>data</a:t>
            </a:r>
            <a:r>
              <a:rPr lang="en-IE" sz="1600" b="1" dirty="0" err="1">
                <a:solidFill>
                  <a:srgbClr val="000000"/>
                </a:solidFill>
                <a:latin typeface="Consolas"/>
              </a:rPr>
              <a:t>.</a:t>
            </a:r>
            <a:r>
              <a:rPr lang="en-IE" sz="1600" b="1" dirty="0" err="1">
                <a:solidFill>
                  <a:srgbClr val="0000C0"/>
                </a:solidFill>
                <a:latin typeface="Consolas"/>
              </a:rPr>
              <a:t>length</a:t>
            </a:r>
            <a:r>
              <a:rPr lang="en-IE" sz="1600" b="1" dirty="0">
                <a:solidFill>
                  <a:srgbClr val="000000"/>
                </a:solidFill>
                <a:latin typeface="Consolas"/>
              </a:rPr>
              <a:t>, </a:t>
            </a:r>
            <a:r>
              <a:rPr lang="en-IE" sz="1600" b="1" dirty="0">
                <a:solidFill>
                  <a:srgbClr val="6A3E3E"/>
                </a:solidFill>
                <a:latin typeface="Consolas"/>
              </a:rPr>
              <a:t>server</a:t>
            </a:r>
            <a:r>
              <a:rPr lang="en-IE" sz="1600" b="1" dirty="0">
                <a:solidFill>
                  <a:srgbClr val="000000"/>
                </a:solidFill>
                <a:latin typeface="Consolas"/>
              </a:rPr>
              <a:t>, </a:t>
            </a:r>
            <a:r>
              <a:rPr lang="en-IE" sz="1600" b="1" i="1" dirty="0">
                <a:solidFill>
                  <a:srgbClr val="0000C0"/>
                </a:solidFill>
                <a:latin typeface="Consolas"/>
              </a:rPr>
              <a:t>PORT</a:t>
            </a:r>
            <a:r>
              <a:rPr lang="en-IE" sz="1600" b="1" i="1" dirty="0">
                <a:solidFill>
                  <a:srgbClr val="000000"/>
                </a:solidFill>
                <a:latin typeface="Consolas"/>
              </a:rPr>
              <a:t>);</a:t>
            </a:r>
          </a:p>
          <a:p>
            <a:pPr marL="0" indent="0">
              <a:buNone/>
            </a:pPr>
            <a:r>
              <a:rPr lang="en-IE" sz="1600" dirty="0" err="1">
                <a:solidFill>
                  <a:srgbClr val="6A3E3E"/>
                </a:solidFill>
                <a:latin typeface="Consolas"/>
              </a:rPr>
              <a:t>theSocket</a:t>
            </a:r>
            <a:r>
              <a:rPr lang="en-IE" sz="1600" dirty="0" err="1">
                <a:solidFill>
                  <a:srgbClr val="000000"/>
                </a:solidFill>
                <a:latin typeface="Consolas"/>
              </a:rPr>
              <a:t>.send</a:t>
            </a:r>
            <a:r>
              <a:rPr lang="en-IE" sz="1600" dirty="0">
                <a:solidFill>
                  <a:srgbClr val="000000"/>
                </a:solidFill>
                <a:latin typeface="Consolas"/>
              </a:rPr>
              <a:t>(</a:t>
            </a:r>
            <a:r>
              <a:rPr lang="en-IE" sz="1600" dirty="0" err="1">
                <a:solidFill>
                  <a:srgbClr val="6A3E3E"/>
                </a:solidFill>
                <a:latin typeface="Consolas"/>
              </a:rPr>
              <a:t>theOutput</a:t>
            </a:r>
            <a:r>
              <a:rPr lang="en-IE" sz="1600" dirty="0">
                <a:solidFill>
                  <a:srgbClr val="000000"/>
                </a:solidFill>
                <a:latin typeface="Consolas"/>
              </a:rPr>
              <a:t>);</a:t>
            </a:r>
          </a:p>
          <a:p>
            <a:pPr marL="0" indent="0">
              <a:buNone/>
            </a:pPr>
            <a:r>
              <a:rPr lang="en-IE" sz="1600" dirty="0">
                <a:solidFill>
                  <a:srgbClr val="000000"/>
                </a:solidFill>
                <a:latin typeface="Consolas"/>
              </a:rPr>
              <a:t>} </a:t>
            </a:r>
            <a:r>
              <a:rPr lang="en-IE" sz="1600" dirty="0">
                <a:solidFill>
                  <a:srgbClr val="3F7F5F"/>
                </a:solidFill>
                <a:latin typeface="Consolas"/>
              </a:rPr>
              <a:t>// end while</a:t>
            </a:r>
          </a:p>
          <a:p>
            <a:pPr marL="0" indent="0">
              <a:buNone/>
            </a:pPr>
            <a:r>
              <a:rPr lang="en-IE" sz="1600" dirty="0">
                <a:solidFill>
                  <a:srgbClr val="000000"/>
                </a:solidFill>
                <a:latin typeface="Consolas"/>
              </a:rPr>
              <a:t>} </a:t>
            </a:r>
            <a:r>
              <a:rPr lang="en-IE" sz="1600" b="1" dirty="0">
                <a:solidFill>
                  <a:srgbClr val="7F0055"/>
                </a:solidFill>
                <a:latin typeface="Consolas"/>
              </a:rPr>
              <a:t>catch</a:t>
            </a:r>
            <a:r>
              <a:rPr lang="en-IE" sz="1600" b="1" dirty="0">
                <a:solidFill>
                  <a:srgbClr val="000000"/>
                </a:solidFill>
                <a:latin typeface="Consolas"/>
              </a:rPr>
              <a:t> (</a:t>
            </a:r>
            <a:r>
              <a:rPr lang="en-IE" sz="1600" b="1" dirty="0" err="1">
                <a:solidFill>
                  <a:srgbClr val="000000"/>
                </a:solidFill>
                <a:latin typeface="Consolas"/>
              </a:rPr>
              <a:t>IOException</a:t>
            </a:r>
            <a:r>
              <a:rPr lang="en-IE" sz="1600" b="1" dirty="0">
                <a:solidFill>
                  <a:srgbClr val="000000"/>
                </a:solidFill>
                <a:latin typeface="Consolas"/>
              </a:rPr>
              <a:t> </a:t>
            </a:r>
            <a:r>
              <a:rPr lang="en-IE" sz="1600" b="1" dirty="0">
                <a:solidFill>
                  <a:srgbClr val="6A3E3E"/>
                </a:solidFill>
                <a:latin typeface="Consolas"/>
              </a:rPr>
              <a:t>ex</a:t>
            </a:r>
            <a:r>
              <a:rPr lang="en-IE" sz="1600" b="1" dirty="0">
                <a:solidFill>
                  <a:srgbClr val="000000"/>
                </a:solidFill>
                <a:latin typeface="Consolas"/>
              </a:rPr>
              <a:t>) {</a:t>
            </a:r>
          </a:p>
          <a:p>
            <a:pPr marL="0" indent="0">
              <a:buNone/>
            </a:pPr>
            <a:r>
              <a:rPr lang="en-IE" sz="1600" dirty="0" err="1">
                <a:solidFill>
                  <a:srgbClr val="000000"/>
                </a:solidFill>
                <a:highlight>
                  <a:srgbClr val="D4D4D4"/>
                </a:highlight>
                <a:latin typeface="Consolas"/>
              </a:rPr>
              <a:t>System.</a:t>
            </a:r>
            <a:r>
              <a:rPr lang="en-IE" sz="1600" b="1" i="1" dirty="0" err="1">
                <a:solidFill>
                  <a:srgbClr val="0000C0"/>
                </a:solidFill>
                <a:highlight>
                  <a:srgbClr val="D4D4D4"/>
                </a:highlight>
                <a:latin typeface="Consolas"/>
              </a:rPr>
              <a:t>err</a:t>
            </a:r>
            <a:r>
              <a:rPr lang="en-IE" sz="1600" b="1" i="1" dirty="0" err="1">
                <a:solidFill>
                  <a:srgbClr val="000000"/>
                </a:solidFill>
                <a:highlight>
                  <a:srgbClr val="D4D4D4"/>
                </a:highlight>
                <a:latin typeface="Consolas"/>
              </a:rPr>
              <a:t>.println</a:t>
            </a:r>
            <a:r>
              <a:rPr lang="en-IE" sz="1600" b="1" i="1" dirty="0">
                <a:solidFill>
                  <a:srgbClr val="000000"/>
                </a:solidFill>
                <a:highlight>
                  <a:srgbClr val="D4D4D4"/>
                </a:highlight>
                <a:latin typeface="Consolas"/>
              </a:rPr>
              <a:t>(</a:t>
            </a:r>
            <a:r>
              <a:rPr lang="en-IE" sz="1600" b="1" i="1" dirty="0">
                <a:solidFill>
                  <a:srgbClr val="6A3E3E"/>
                </a:solidFill>
                <a:highlight>
                  <a:srgbClr val="D4D4D4"/>
                </a:highlight>
                <a:latin typeface="Consolas"/>
              </a:rPr>
              <a:t>ex</a:t>
            </a:r>
            <a:r>
              <a:rPr lang="en-IE" sz="1600" b="1" i="1" dirty="0">
                <a:solidFill>
                  <a:srgbClr val="000000"/>
                </a:solidFill>
                <a:highlight>
                  <a:srgbClr val="D4D4D4"/>
                </a:highlight>
                <a:latin typeface="Consolas"/>
              </a:rPr>
              <a:t>);</a:t>
            </a:r>
          </a:p>
          <a:p>
            <a:pPr marL="0" indent="0">
              <a:buNone/>
            </a:pPr>
            <a:r>
              <a:rPr lang="en-IE" sz="1600" dirty="0">
                <a:solidFill>
                  <a:srgbClr val="000000"/>
                </a:solidFill>
                <a:latin typeface="Consolas"/>
              </a:rPr>
              <a:t>}</a:t>
            </a:r>
          </a:p>
          <a:p>
            <a:pPr marL="0" indent="0">
              <a:buNone/>
            </a:pPr>
            <a:r>
              <a:rPr lang="en-IE" sz="1600" dirty="0">
                <a:solidFill>
                  <a:srgbClr val="000000"/>
                </a:solidFill>
                <a:latin typeface="Consolas"/>
              </a:rPr>
              <a:t>}</a:t>
            </a:r>
          </a:p>
          <a:p>
            <a:pPr marL="0" indent="0">
              <a:buNone/>
            </a:pPr>
            <a:r>
              <a:rPr lang="en-IE" sz="1600" dirty="0">
                <a:solidFill>
                  <a:srgbClr val="000000"/>
                </a:solidFill>
                <a:latin typeface="Consolas"/>
              </a:rPr>
              <a:t>}</a:t>
            </a:r>
            <a:endParaRPr lang="en-US" altLang="en-US" sz="1600" dirty="0" smtClean="0"/>
          </a:p>
        </p:txBody>
      </p:sp>
    </p:spTree>
    <p:extLst>
      <p:ext uri="{BB962C8B-B14F-4D97-AF65-F5344CB8AC3E}">
        <p14:creationId xmlns:p14="http://schemas.microsoft.com/office/powerpoint/2010/main" val="2712122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457200" y="274638"/>
            <a:ext cx="8229600" cy="715962"/>
          </a:xfrm>
        </p:spPr>
        <p:txBody>
          <a:bodyPr>
            <a:normAutofit fontScale="90000"/>
          </a:bodyPr>
          <a:lstStyle/>
          <a:p>
            <a:r>
              <a:rPr lang="en-US" altLang="en-US" dirty="0" smtClean="0"/>
              <a:t>UDP Discard Server</a:t>
            </a:r>
          </a:p>
        </p:txBody>
      </p:sp>
      <p:sp>
        <p:nvSpPr>
          <p:cNvPr id="45059" name="Rectangle 3"/>
          <p:cNvSpPr>
            <a:spLocks noGrp="1" noChangeArrowheads="1"/>
          </p:cNvSpPr>
          <p:nvPr>
            <p:ph idx="1"/>
          </p:nvPr>
        </p:nvSpPr>
        <p:spPr>
          <a:xfrm>
            <a:off x="0" y="914400"/>
            <a:ext cx="9144000" cy="4830763"/>
          </a:xfrm>
        </p:spPr>
        <p:txBody>
          <a:bodyPr>
            <a:noAutofit/>
          </a:bodyPr>
          <a:lstStyle/>
          <a:p>
            <a:pPr marL="0" indent="0">
              <a:buNone/>
            </a:pPr>
            <a:r>
              <a:rPr lang="en-IE" sz="1400" b="1" dirty="0">
                <a:solidFill>
                  <a:srgbClr val="7F0055"/>
                </a:solidFill>
                <a:latin typeface="Consolas"/>
              </a:rPr>
              <a:t>import</a:t>
            </a:r>
            <a:r>
              <a:rPr lang="en-IE" sz="1400" b="1" dirty="0">
                <a:solidFill>
                  <a:srgbClr val="000000"/>
                </a:solidFill>
                <a:latin typeface="Consolas"/>
              </a:rPr>
              <a:t> java.net.*;</a:t>
            </a:r>
          </a:p>
          <a:p>
            <a:pPr marL="0" indent="0">
              <a:buNone/>
            </a:pPr>
            <a:r>
              <a:rPr lang="en-IE" sz="1400" b="1" dirty="0">
                <a:solidFill>
                  <a:srgbClr val="7F0055"/>
                </a:solidFill>
                <a:latin typeface="Consolas"/>
              </a:rPr>
              <a:t>import</a:t>
            </a:r>
            <a:r>
              <a:rPr lang="en-IE" sz="1400" b="1" dirty="0">
                <a:solidFill>
                  <a:srgbClr val="000000"/>
                </a:solidFill>
                <a:latin typeface="Consolas"/>
              </a:rPr>
              <a:t> java.io.*;</a:t>
            </a:r>
          </a:p>
          <a:p>
            <a:pPr marL="0" indent="0">
              <a:buNone/>
            </a:pPr>
            <a:r>
              <a:rPr lang="en-IE" sz="1400" b="1" dirty="0">
                <a:solidFill>
                  <a:srgbClr val="7F0055"/>
                </a:solidFill>
                <a:latin typeface="Consolas"/>
              </a:rPr>
              <a:t>public</a:t>
            </a:r>
            <a:r>
              <a:rPr lang="en-IE" sz="1400" b="1" dirty="0">
                <a:solidFill>
                  <a:srgbClr val="000000"/>
                </a:solidFill>
                <a:latin typeface="Consolas"/>
              </a:rPr>
              <a:t> </a:t>
            </a:r>
            <a:r>
              <a:rPr lang="en-IE" sz="1400" b="1" dirty="0">
                <a:solidFill>
                  <a:srgbClr val="7F0055"/>
                </a:solidFill>
                <a:latin typeface="Consolas"/>
              </a:rPr>
              <a:t>class</a:t>
            </a:r>
            <a:r>
              <a:rPr lang="en-IE" sz="1400" b="1" dirty="0">
                <a:solidFill>
                  <a:srgbClr val="000000"/>
                </a:solidFill>
                <a:latin typeface="Consolas"/>
              </a:rPr>
              <a:t> </a:t>
            </a:r>
            <a:r>
              <a:rPr lang="en-IE" sz="1400" b="1" dirty="0" err="1">
                <a:solidFill>
                  <a:srgbClr val="000000"/>
                </a:solidFill>
                <a:latin typeface="Consolas"/>
              </a:rPr>
              <a:t>UDPDiscardServer</a:t>
            </a:r>
            <a:r>
              <a:rPr lang="en-IE" sz="1400" b="1" dirty="0">
                <a:solidFill>
                  <a:srgbClr val="000000"/>
                </a:solidFill>
                <a:latin typeface="Consolas"/>
              </a:rPr>
              <a:t> {</a:t>
            </a:r>
          </a:p>
          <a:p>
            <a:pPr marL="0" indent="0">
              <a:buNone/>
            </a:pPr>
            <a:r>
              <a:rPr lang="en-IE" sz="1400" b="1" dirty="0">
                <a:solidFill>
                  <a:srgbClr val="7F0055"/>
                </a:solidFill>
                <a:latin typeface="Consolas"/>
              </a:rPr>
              <a:t>public</a:t>
            </a:r>
            <a:r>
              <a:rPr lang="en-IE" sz="1400" b="1" dirty="0">
                <a:solidFill>
                  <a:srgbClr val="000000"/>
                </a:solidFill>
                <a:latin typeface="Consolas"/>
              </a:rPr>
              <a:t> </a:t>
            </a:r>
            <a:r>
              <a:rPr lang="en-IE" sz="1400" b="1" dirty="0">
                <a:solidFill>
                  <a:srgbClr val="7F0055"/>
                </a:solidFill>
                <a:latin typeface="Consolas"/>
              </a:rPr>
              <a:t>final</a:t>
            </a:r>
            <a:r>
              <a:rPr lang="en-IE" sz="1400" b="1" dirty="0">
                <a:solidFill>
                  <a:srgbClr val="000000"/>
                </a:solidFill>
                <a:latin typeface="Consolas"/>
              </a:rPr>
              <a:t> </a:t>
            </a:r>
            <a:r>
              <a:rPr lang="en-IE" sz="1400" b="1" dirty="0">
                <a:solidFill>
                  <a:srgbClr val="7F0055"/>
                </a:solidFill>
                <a:latin typeface="Consolas"/>
              </a:rPr>
              <a:t>static</a:t>
            </a:r>
            <a:r>
              <a:rPr lang="en-IE" sz="1400" b="1" dirty="0">
                <a:solidFill>
                  <a:srgbClr val="000000"/>
                </a:solidFill>
                <a:latin typeface="Consolas"/>
              </a:rPr>
              <a:t> </a:t>
            </a:r>
            <a:r>
              <a:rPr lang="en-IE" sz="1400" b="1" dirty="0" err="1">
                <a:solidFill>
                  <a:srgbClr val="7F0055"/>
                </a:solidFill>
                <a:latin typeface="Consolas"/>
              </a:rPr>
              <a:t>int</a:t>
            </a:r>
            <a:r>
              <a:rPr lang="en-IE" sz="1400" b="1" dirty="0">
                <a:solidFill>
                  <a:srgbClr val="000000"/>
                </a:solidFill>
                <a:latin typeface="Consolas"/>
              </a:rPr>
              <a:t> </a:t>
            </a:r>
            <a:r>
              <a:rPr lang="en-IE" sz="1400" b="1" i="1" dirty="0">
                <a:solidFill>
                  <a:srgbClr val="0000C0"/>
                </a:solidFill>
                <a:latin typeface="Consolas"/>
              </a:rPr>
              <a:t>PORT</a:t>
            </a:r>
            <a:r>
              <a:rPr lang="en-IE" sz="1400" b="1" i="1" dirty="0">
                <a:solidFill>
                  <a:srgbClr val="000000"/>
                </a:solidFill>
                <a:latin typeface="Consolas"/>
              </a:rPr>
              <a:t> = 9;</a:t>
            </a:r>
          </a:p>
          <a:p>
            <a:pPr marL="0" indent="0">
              <a:buNone/>
            </a:pPr>
            <a:r>
              <a:rPr lang="en-IE" sz="1400" b="1" dirty="0">
                <a:solidFill>
                  <a:srgbClr val="7F0055"/>
                </a:solidFill>
                <a:latin typeface="Consolas"/>
              </a:rPr>
              <a:t>public</a:t>
            </a:r>
            <a:r>
              <a:rPr lang="en-IE" sz="1400" b="1" dirty="0">
                <a:solidFill>
                  <a:srgbClr val="000000"/>
                </a:solidFill>
                <a:latin typeface="Consolas"/>
              </a:rPr>
              <a:t> </a:t>
            </a:r>
            <a:r>
              <a:rPr lang="en-IE" sz="1400" b="1" dirty="0">
                <a:solidFill>
                  <a:srgbClr val="7F0055"/>
                </a:solidFill>
                <a:latin typeface="Consolas"/>
              </a:rPr>
              <a:t>final</a:t>
            </a:r>
            <a:r>
              <a:rPr lang="en-IE" sz="1400" b="1" dirty="0">
                <a:solidFill>
                  <a:srgbClr val="000000"/>
                </a:solidFill>
                <a:latin typeface="Consolas"/>
              </a:rPr>
              <a:t> </a:t>
            </a:r>
            <a:r>
              <a:rPr lang="en-IE" sz="1400" b="1" dirty="0">
                <a:solidFill>
                  <a:srgbClr val="7F0055"/>
                </a:solidFill>
                <a:latin typeface="Consolas"/>
              </a:rPr>
              <a:t>static</a:t>
            </a:r>
            <a:r>
              <a:rPr lang="en-IE" sz="1400" b="1" dirty="0">
                <a:solidFill>
                  <a:srgbClr val="000000"/>
                </a:solidFill>
                <a:latin typeface="Consolas"/>
              </a:rPr>
              <a:t> </a:t>
            </a:r>
            <a:r>
              <a:rPr lang="en-IE" sz="1400" b="1" dirty="0" err="1">
                <a:solidFill>
                  <a:srgbClr val="7F0055"/>
                </a:solidFill>
                <a:latin typeface="Consolas"/>
              </a:rPr>
              <a:t>int</a:t>
            </a:r>
            <a:r>
              <a:rPr lang="en-IE" sz="1400" b="1" dirty="0">
                <a:solidFill>
                  <a:srgbClr val="000000"/>
                </a:solidFill>
                <a:latin typeface="Consolas"/>
              </a:rPr>
              <a:t> </a:t>
            </a:r>
            <a:r>
              <a:rPr lang="en-IE" sz="1400" b="1" i="1" dirty="0">
                <a:solidFill>
                  <a:srgbClr val="0000C0"/>
                </a:solidFill>
                <a:latin typeface="Consolas"/>
              </a:rPr>
              <a:t>MAX_PACKET_SIZE</a:t>
            </a:r>
            <a:r>
              <a:rPr lang="en-IE" sz="1400" b="1" i="1" dirty="0">
                <a:solidFill>
                  <a:srgbClr val="000000"/>
                </a:solidFill>
                <a:latin typeface="Consolas"/>
              </a:rPr>
              <a:t> = 65507;</a:t>
            </a:r>
          </a:p>
          <a:p>
            <a:pPr marL="0" indent="0">
              <a:buNone/>
            </a:pPr>
            <a:r>
              <a:rPr lang="en-IE" sz="1400" b="1" dirty="0">
                <a:solidFill>
                  <a:srgbClr val="7F0055"/>
                </a:solidFill>
                <a:latin typeface="Consolas"/>
              </a:rPr>
              <a:t>public</a:t>
            </a:r>
            <a:r>
              <a:rPr lang="en-IE" sz="1400" b="1" dirty="0">
                <a:solidFill>
                  <a:srgbClr val="000000"/>
                </a:solidFill>
                <a:latin typeface="Consolas"/>
              </a:rPr>
              <a:t> </a:t>
            </a:r>
            <a:r>
              <a:rPr lang="en-IE" sz="1400" b="1" dirty="0">
                <a:solidFill>
                  <a:srgbClr val="7F0055"/>
                </a:solidFill>
                <a:latin typeface="Consolas"/>
              </a:rPr>
              <a:t>static</a:t>
            </a:r>
            <a:r>
              <a:rPr lang="en-IE" sz="1400" b="1" dirty="0">
                <a:solidFill>
                  <a:srgbClr val="000000"/>
                </a:solidFill>
                <a:latin typeface="Consolas"/>
              </a:rPr>
              <a:t> </a:t>
            </a:r>
            <a:r>
              <a:rPr lang="en-IE" sz="1400" b="1" dirty="0">
                <a:solidFill>
                  <a:srgbClr val="7F0055"/>
                </a:solidFill>
                <a:latin typeface="Consolas"/>
              </a:rPr>
              <a:t>void</a:t>
            </a:r>
            <a:r>
              <a:rPr lang="en-IE" sz="1400" b="1" dirty="0">
                <a:solidFill>
                  <a:srgbClr val="000000"/>
                </a:solidFill>
                <a:latin typeface="Consolas"/>
              </a:rPr>
              <a:t> main(String[] </a:t>
            </a:r>
            <a:r>
              <a:rPr lang="en-IE" sz="1400" b="1" dirty="0" err="1">
                <a:solidFill>
                  <a:srgbClr val="6A3E3E"/>
                </a:solidFill>
                <a:latin typeface="Consolas"/>
              </a:rPr>
              <a:t>args</a:t>
            </a:r>
            <a:r>
              <a:rPr lang="en-IE" sz="1400" b="1" dirty="0">
                <a:solidFill>
                  <a:srgbClr val="000000"/>
                </a:solidFill>
                <a:latin typeface="Consolas"/>
              </a:rPr>
              <a:t>) {</a:t>
            </a:r>
          </a:p>
          <a:p>
            <a:pPr marL="0" indent="0">
              <a:buNone/>
            </a:pPr>
            <a:r>
              <a:rPr lang="en-IE" sz="1400" b="1" dirty="0">
                <a:solidFill>
                  <a:srgbClr val="7F0055"/>
                </a:solidFill>
                <a:latin typeface="Consolas"/>
              </a:rPr>
              <a:t>byte</a:t>
            </a:r>
            <a:r>
              <a:rPr lang="en-IE" sz="1400" b="1" dirty="0">
                <a:solidFill>
                  <a:srgbClr val="000000"/>
                </a:solidFill>
                <a:latin typeface="Consolas"/>
              </a:rPr>
              <a:t>[] </a:t>
            </a:r>
            <a:r>
              <a:rPr lang="en-IE" sz="1400" b="1" dirty="0">
                <a:solidFill>
                  <a:srgbClr val="6A3E3E"/>
                </a:solidFill>
                <a:latin typeface="Consolas"/>
              </a:rPr>
              <a:t>buffer</a:t>
            </a:r>
            <a:r>
              <a:rPr lang="en-IE" sz="1400" b="1" dirty="0">
                <a:solidFill>
                  <a:srgbClr val="000000"/>
                </a:solidFill>
                <a:latin typeface="Consolas"/>
              </a:rPr>
              <a:t> = </a:t>
            </a:r>
            <a:r>
              <a:rPr lang="en-IE" sz="1400" b="1" dirty="0">
                <a:solidFill>
                  <a:srgbClr val="7F0055"/>
                </a:solidFill>
                <a:latin typeface="Consolas"/>
              </a:rPr>
              <a:t>new</a:t>
            </a:r>
            <a:r>
              <a:rPr lang="en-IE" sz="1400" b="1" dirty="0">
                <a:solidFill>
                  <a:srgbClr val="000000"/>
                </a:solidFill>
                <a:latin typeface="Consolas"/>
              </a:rPr>
              <a:t> </a:t>
            </a:r>
            <a:r>
              <a:rPr lang="en-IE" sz="1400" b="1" dirty="0">
                <a:solidFill>
                  <a:srgbClr val="7F0055"/>
                </a:solidFill>
                <a:latin typeface="Consolas"/>
              </a:rPr>
              <a:t>byte</a:t>
            </a:r>
            <a:r>
              <a:rPr lang="en-IE" sz="1400" b="1" dirty="0">
                <a:solidFill>
                  <a:srgbClr val="000000"/>
                </a:solidFill>
                <a:latin typeface="Consolas"/>
              </a:rPr>
              <a:t>[</a:t>
            </a:r>
            <a:r>
              <a:rPr lang="en-IE" sz="1400" b="1" i="1" dirty="0">
                <a:solidFill>
                  <a:srgbClr val="0000C0"/>
                </a:solidFill>
                <a:latin typeface="Consolas"/>
              </a:rPr>
              <a:t>MAX_PACKET_SIZE</a:t>
            </a:r>
            <a:r>
              <a:rPr lang="en-IE" sz="1400" b="1" i="1" dirty="0">
                <a:solidFill>
                  <a:srgbClr val="000000"/>
                </a:solidFill>
                <a:latin typeface="Consolas"/>
              </a:rPr>
              <a:t>];</a:t>
            </a:r>
          </a:p>
          <a:p>
            <a:pPr marL="0" indent="0">
              <a:buNone/>
            </a:pPr>
            <a:r>
              <a:rPr lang="en-IE" sz="1400" b="1" dirty="0">
                <a:solidFill>
                  <a:srgbClr val="7F0055"/>
                </a:solidFill>
                <a:latin typeface="Consolas"/>
              </a:rPr>
              <a:t>try</a:t>
            </a:r>
            <a:r>
              <a:rPr lang="en-IE" sz="1400" b="1" dirty="0">
                <a:solidFill>
                  <a:srgbClr val="000000"/>
                </a:solidFill>
                <a:latin typeface="Consolas"/>
              </a:rPr>
              <a:t> (</a:t>
            </a:r>
            <a:r>
              <a:rPr lang="en-IE" sz="1400" b="1" dirty="0" err="1">
                <a:solidFill>
                  <a:srgbClr val="000000"/>
                </a:solidFill>
                <a:latin typeface="Consolas"/>
              </a:rPr>
              <a:t>DatagramSocket</a:t>
            </a:r>
            <a:r>
              <a:rPr lang="en-IE" sz="1400" b="1" dirty="0">
                <a:solidFill>
                  <a:srgbClr val="000000"/>
                </a:solidFill>
                <a:latin typeface="Consolas"/>
              </a:rPr>
              <a:t> </a:t>
            </a:r>
            <a:r>
              <a:rPr lang="en-IE" sz="1400" b="1" dirty="0">
                <a:solidFill>
                  <a:srgbClr val="6A3E3E"/>
                </a:solidFill>
                <a:latin typeface="Consolas"/>
              </a:rPr>
              <a:t>server</a:t>
            </a:r>
            <a:r>
              <a:rPr lang="en-IE" sz="1400" b="1" dirty="0">
                <a:solidFill>
                  <a:srgbClr val="000000"/>
                </a:solidFill>
                <a:latin typeface="Consolas"/>
              </a:rPr>
              <a:t> = </a:t>
            </a:r>
            <a:r>
              <a:rPr lang="en-IE" sz="1400" b="1" dirty="0">
                <a:solidFill>
                  <a:srgbClr val="7F0055"/>
                </a:solidFill>
                <a:latin typeface="Consolas"/>
              </a:rPr>
              <a:t>new</a:t>
            </a:r>
            <a:r>
              <a:rPr lang="en-IE" sz="1400" b="1" dirty="0">
                <a:solidFill>
                  <a:srgbClr val="000000"/>
                </a:solidFill>
                <a:latin typeface="Consolas"/>
              </a:rPr>
              <a:t> </a:t>
            </a:r>
            <a:r>
              <a:rPr lang="en-IE" sz="1400" b="1" dirty="0" err="1">
                <a:solidFill>
                  <a:srgbClr val="000000"/>
                </a:solidFill>
                <a:latin typeface="Consolas"/>
              </a:rPr>
              <a:t>DatagramSocket</a:t>
            </a:r>
            <a:r>
              <a:rPr lang="en-IE" sz="1400" b="1" dirty="0">
                <a:solidFill>
                  <a:srgbClr val="000000"/>
                </a:solidFill>
                <a:latin typeface="Consolas"/>
              </a:rPr>
              <a:t>(</a:t>
            </a:r>
            <a:r>
              <a:rPr lang="en-IE" sz="1400" b="1" i="1" dirty="0">
                <a:solidFill>
                  <a:srgbClr val="0000C0"/>
                </a:solidFill>
                <a:latin typeface="Consolas"/>
              </a:rPr>
              <a:t>PORT</a:t>
            </a:r>
            <a:r>
              <a:rPr lang="en-IE" sz="1400" b="1" i="1" dirty="0">
                <a:solidFill>
                  <a:srgbClr val="000000"/>
                </a:solidFill>
                <a:latin typeface="Consolas"/>
              </a:rPr>
              <a:t>)) {</a:t>
            </a:r>
          </a:p>
          <a:p>
            <a:pPr marL="0" indent="0">
              <a:buNone/>
            </a:pPr>
            <a:r>
              <a:rPr lang="en-IE" sz="1400" dirty="0" err="1">
                <a:solidFill>
                  <a:srgbClr val="000000"/>
                </a:solidFill>
                <a:latin typeface="Consolas"/>
              </a:rPr>
              <a:t>DatagramPacket</a:t>
            </a:r>
            <a:r>
              <a:rPr lang="en-IE" sz="1400" dirty="0">
                <a:solidFill>
                  <a:srgbClr val="000000"/>
                </a:solidFill>
                <a:latin typeface="Consolas"/>
              </a:rPr>
              <a:t> </a:t>
            </a:r>
            <a:r>
              <a:rPr lang="en-IE" sz="1400" dirty="0">
                <a:solidFill>
                  <a:srgbClr val="6A3E3E"/>
                </a:solidFill>
                <a:latin typeface="Consolas"/>
              </a:rPr>
              <a:t>packet</a:t>
            </a:r>
            <a:r>
              <a:rPr lang="en-IE" sz="1400" dirty="0">
                <a:solidFill>
                  <a:srgbClr val="000000"/>
                </a:solidFill>
                <a:latin typeface="Consolas"/>
              </a:rPr>
              <a:t> = </a:t>
            </a:r>
            <a:r>
              <a:rPr lang="en-IE" sz="1400" b="1" dirty="0">
                <a:solidFill>
                  <a:srgbClr val="7F0055"/>
                </a:solidFill>
                <a:latin typeface="Consolas"/>
              </a:rPr>
              <a:t>new</a:t>
            </a:r>
            <a:r>
              <a:rPr lang="en-IE" sz="1400" b="1" dirty="0">
                <a:solidFill>
                  <a:srgbClr val="000000"/>
                </a:solidFill>
                <a:latin typeface="Consolas"/>
              </a:rPr>
              <a:t> </a:t>
            </a:r>
            <a:r>
              <a:rPr lang="en-IE" sz="1400" b="1" dirty="0" err="1">
                <a:solidFill>
                  <a:srgbClr val="000000"/>
                </a:solidFill>
                <a:latin typeface="Consolas"/>
              </a:rPr>
              <a:t>DatagramPacket</a:t>
            </a:r>
            <a:r>
              <a:rPr lang="en-IE" sz="1400" b="1" dirty="0">
                <a:solidFill>
                  <a:srgbClr val="000000"/>
                </a:solidFill>
                <a:latin typeface="Consolas"/>
              </a:rPr>
              <a:t>(</a:t>
            </a:r>
            <a:r>
              <a:rPr lang="en-IE" sz="1400" b="1" dirty="0">
                <a:solidFill>
                  <a:srgbClr val="6A3E3E"/>
                </a:solidFill>
                <a:latin typeface="Consolas"/>
              </a:rPr>
              <a:t>buffer</a:t>
            </a:r>
            <a:r>
              <a:rPr lang="en-IE" sz="1400" b="1" dirty="0">
                <a:solidFill>
                  <a:srgbClr val="000000"/>
                </a:solidFill>
                <a:latin typeface="Consolas"/>
              </a:rPr>
              <a:t>, </a:t>
            </a:r>
            <a:r>
              <a:rPr lang="en-IE" sz="1400" b="1" dirty="0" err="1">
                <a:solidFill>
                  <a:srgbClr val="6A3E3E"/>
                </a:solidFill>
                <a:latin typeface="Consolas"/>
              </a:rPr>
              <a:t>buffer</a:t>
            </a:r>
            <a:r>
              <a:rPr lang="en-IE" sz="1400" b="1" dirty="0" err="1">
                <a:solidFill>
                  <a:srgbClr val="000000"/>
                </a:solidFill>
                <a:latin typeface="Consolas"/>
              </a:rPr>
              <a:t>.</a:t>
            </a:r>
            <a:r>
              <a:rPr lang="en-IE" sz="1400" b="1" dirty="0" err="1">
                <a:solidFill>
                  <a:srgbClr val="0000C0"/>
                </a:solidFill>
                <a:latin typeface="Consolas"/>
              </a:rPr>
              <a:t>length</a:t>
            </a:r>
            <a:r>
              <a:rPr lang="en-IE" sz="1400" b="1" dirty="0">
                <a:solidFill>
                  <a:srgbClr val="000000"/>
                </a:solidFill>
                <a:latin typeface="Consolas"/>
              </a:rPr>
              <a:t>);</a:t>
            </a:r>
          </a:p>
          <a:p>
            <a:pPr marL="0" indent="0">
              <a:buNone/>
            </a:pPr>
            <a:r>
              <a:rPr lang="en-IE" sz="1400" b="1" dirty="0">
                <a:solidFill>
                  <a:srgbClr val="7F0055"/>
                </a:solidFill>
                <a:latin typeface="Consolas"/>
              </a:rPr>
              <a:t>while</a:t>
            </a:r>
            <a:r>
              <a:rPr lang="en-IE" sz="1400" b="1" dirty="0">
                <a:solidFill>
                  <a:srgbClr val="000000"/>
                </a:solidFill>
                <a:latin typeface="Consolas"/>
              </a:rPr>
              <a:t> (</a:t>
            </a:r>
            <a:r>
              <a:rPr lang="en-IE" sz="1400" b="1" dirty="0">
                <a:solidFill>
                  <a:srgbClr val="7F0055"/>
                </a:solidFill>
                <a:latin typeface="Consolas"/>
              </a:rPr>
              <a:t>true</a:t>
            </a:r>
            <a:r>
              <a:rPr lang="en-IE" sz="1400" b="1" dirty="0">
                <a:solidFill>
                  <a:srgbClr val="000000"/>
                </a:solidFill>
                <a:latin typeface="Consolas"/>
              </a:rPr>
              <a:t>) {</a:t>
            </a:r>
          </a:p>
          <a:p>
            <a:pPr marL="0" indent="0">
              <a:buNone/>
            </a:pPr>
            <a:r>
              <a:rPr lang="en-IE" sz="1400" b="1" dirty="0">
                <a:solidFill>
                  <a:srgbClr val="7F0055"/>
                </a:solidFill>
                <a:latin typeface="Consolas"/>
              </a:rPr>
              <a:t>try</a:t>
            </a:r>
            <a:r>
              <a:rPr lang="en-IE" sz="1400" b="1" dirty="0">
                <a:solidFill>
                  <a:srgbClr val="000000"/>
                </a:solidFill>
                <a:latin typeface="Consolas"/>
              </a:rPr>
              <a:t> {</a:t>
            </a:r>
          </a:p>
          <a:p>
            <a:pPr marL="0" indent="0">
              <a:buNone/>
            </a:pPr>
            <a:r>
              <a:rPr lang="en-IE" sz="1400" dirty="0" err="1">
                <a:solidFill>
                  <a:srgbClr val="6A3E3E"/>
                </a:solidFill>
                <a:latin typeface="Consolas"/>
              </a:rPr>
              <a:t>server</a:t>
            </a:r>
            <a:r>
              <a:rPr lang="en-IE" sz="1400" dirty="0" err="1">
                <a:solidFill>
                  <a:srgbClr val="000000"/>
                </a:solidFill>
                <a:latin typeface="Consolas"/>
              </a:rPr>
              <a:t>.receive</a:t>
            </a:r>
            <a:r>
              <a:rPr lang="en-IE" sz="1400" dirty="0">
                <a:solidFill>
                  <a:srgbClr val="000000"/>
                </a:solidFill>
                <a:latin typeface="Consolas"/>
              </a:rPr>
              <a:t>(</a:t>
            </a:r>
            <a:r>
              <a:rPr lang="en-IE" sz="1400" dirty="0">
                <a:solidFill>
                  <a:srgbClr val="6A3E3E"/>
                </a:solidFill>
                <a:latin typeface="Consolas"/>
              </a:rPr>
              <a:t>packet</a:t>
            </a:r>
            <a:r>
              <a:rPr lang="en-IE" sz="1400" dirty="0">
                <a:solidFill>
                  <a:srgbClr val="000000"/>
                </a:solidFill>
                <a:latin typeface="Consolas"/>
              </a:rPr>
              <a:t>);</a:t>
            </a:r>
          </a:p>
          <a:p>
            <a:pPr marL="0" indent="0">
              <a:buNone/>
            </a:pPr>
            <a:r>
              <a:rPr lang="en-IE" sz="1400" dirty="0">
                <a:solidFill>
                  <a:srgbClr val="000000"/>
                </a:solidFill>
                <a:latin typeface="Consolas"/>
              </a:rPr>
              <a:t>String </a:t>
            </a:r>
            <a:r>
              <a:rPr lang="en-IE" sz="1400" dirty="0">
                <a:solidFill>
                  <a:srgbClr val="6A3E3E"/>
                </a:solidFill>
                <a:latin typeface="Consolas"/>
              </a:rPr>
              <a:t>s</a:t>
            </a:r>
            <a:r>
              <a:rPr lang="en-IE" sz="1400" dirty="0">
                <a:solidFill>
                  <a:srgbClr val="000000"/>
                </a:solidFill>
                <a:latin typeface="Consolas"/>
              </a:rPr>
              <a:t> = </a:t>
            </a:r>
            <a:r>
              <a:rPr lang="en-IE" sz="1400" b="1" dirty="0">
                <a:solidFill>
                  <a:srgbClr val="7F0055"/>
                </a:solidFill>
                <a:latin typeface="Consolas"/>
              </a:rPr>
              <a:t>new</a:t>
            </a:r>
            <a:r>
              <a:rPr lang="en-IE" sz="1400" b="1" dirty="0">
                <a:solidFill>
                  <a:srgbClr val="000000"/>
                </a:solidFill>
                <a:latin typeface="Consolas"/>
              </a:rPr>
              <a:t> String(</a:t>
            </a:r>
            <a:r>
              <a:rPr lang="en-IE" sz="1400" b="1" dirty="0" err="1">
                <a:solidFill>
                  <a:srgbClr val="6A3E3E"/>
                </a:solidFill>
                <a:latin typeface="Consolas"/>
              </a:rPr>
              <a:t>packet</a:t>
            </a:r>
            <a:r>
              <a:rPr lang="en-IE" sz="1400" b="1" dirty="0" err="1">
                <a:solidFill>
                  <a:srgbClr val="000000"/>
                </a:solidFill>
                <a:latin typeface="Consolas"/>
              </a:rPr>
              <a:t>.getData</a:t>
            </a:r>
            <a:r>
              <a:rPr lang="en-IE" sz="1400" b="1" dirty="0">
                <a:solidFill>
                  <a:srgbClr val="000000"/>
                </a:solidFill>
                <a:latin typeface="Consolas"/>
              </a:rPr>
              <a:t>(), 0, </a:t>
            </a:r>
            <a:r>
              <a:rPr lang="en-IE" sz="1400" b="1" dirty="0" err="1">
                <a:solidFill>
                  <a:srgbClr val="6A3E3E"/>
                </a:solidFill>
                <a:latin typeface="Consolas"/>
              </a:rPr>
              <a:t>packet</a:t>
            </a:r>
            <a:r>
              <a:rPr lang="en-IE" sz="1400" b="1" dirty="0" err="1">
                <a:solidFill>
                  <a:srgbClr val="000000"/>
                </a:solidFill>
                <a:latin typeface="Consolas"/>
              </a:rPr>
              <a:t>.getLength</a:t>
            </a:r>
            <a:r>
              <a:rPr lang="en-IE" sz="1400" b="1" dirty="0">
                <a:solidFill>
                  <a:srgbClr val="000000"/>
                </a:solidFill>
                <a:latin typeface="Consolas"/>
              </a:rPr>
              <a:t>(), </a:t>
            </a:r>
            <a:r>
              <a:rPr lang="en-IE" sz="1400" b="1" dirty="0">
                <a:solidFill>
                  <a:srgbClr val="2A00FF"/>
                </a:solidFill>
                <a:latin typeface="Consolas"/>
              </a:rPr>
              <a:t>"8859_1"</a:t>
            </a:r>
            <a:r>
              <a:rPr lang="en-IE" sz="1400" b="1" dirty="0">
                <a:solidFill>
                  <a:srgbClr val="000000"/>
                </a:solidFill>
                <a:latin typeface="Consolas"/>
              </a:rPr>
              <a:t>);</a:t>
            </a:r>
          </a:p>
          <a:p>
            <a:pPr marL="0" indent="0">
              <a:buNone/>
            </a:pPr>
            <a:r>
              <a:rPr lang="en-IE" sz="1400" dirty="0" err="1">
                <a:solidFill>
                  <a:srgbClr val="000000"/>
                </a:solidFill>
                <a:latin typeface="Consolas"/>
              </a:rPr>
              <a:t>System.</a:t>
            </a:r>
            <a:r>
              <a:rPr lang="en-IE" sz="1400" b="1" i="1" dirty="0" err="1">
                <a:solidFill>
                  <a:srgbClr val="0000C0"/>
                </a:solidFill>
                <a:latin typeface="Consolas"/>
              </a:rPr>
              <a:t>out</a:t>
            </a:r>
            <a:r>
              <a:rPr lang="en-IE" sz="1400" b="1" i="1" dirty="0" err="1">
                <a:solidFill>
                  <a:srgbClr val="000000"/>
                </a:solidFill>
                <a:latin typeface="Consolas"/>
              </a:rPr>
              <a:t>.println</a:t>
            </a:r>
            <a:r>
              <a:rPr lang="en-IE" sz="1400" b="1" i="1" dirty="0">
                <a:solidFill>
                  <a:srgbClr val="000000"/>
                </a:solidFill>
                <a:latin typeface="Consolas"/>
              </a:rPr>
              <a:t>(</a:t>
            </a:r>
            <a:r>
              <a:rPr lang="en-IE" sz="1400" b="1" i="1" dirty="0" err="1">
                <a:solidFill>
                  <a:srgbClr val="6A3E3E"/>
                </a:solidFill>
                <a:latin typeface="Consolas"/>
              </a:rPr>
              <a:t>packet</a:t>
            </a:r>
            <a:r>
              <a:rPr lang="en-IE" sz="1400" b="1" i="1" dirty="0" err="1">
                <a:solidFill>
                  <a:srgbClr val="000000"/>
                </a:solidFill>
                <a:latin typeface="Consolas"/>
              </a:rPr>
              <a:t>.getAddress</a:t>
            </a:r>
            <a:r>
              <a:rPr lang="en-IE" sz="1400" b="1" i="1" dirty="0">
                <a:solidFill>
                  <a:srgbClr val="000000"/>
                </a:solidFill>
                <a:latin typeface="Consolas"/>
              </a:rPr>
              <a:t>() + </a:t>
            </a:r>
            <a:r>
              <a:rPr lang="en-IE" sz="1400" b="1" i="1" dirty="0">
                <a:solidFill>
                  <a:srgbClr val="2A00FF"/>
                </a:solidFill>
                <a:latin typeface="Consolas"/>
              </a:rPr>
              <a:t>" at port "</a:t>
            </a:r>
            <a:r>
              <a:rPr lang="en-IE" sz="1400" b="1" i="1" dirty="0">
                <a:solidFill>
                  <a:srgbClr val="000000"/>
                </a:solidFill>
                <a:latin typeface="Consolas"/>
              </a:rPr>
              <a:t>+ </a:t>
            </a:r>
            <a:r>
              <a:rPr lang="en-IE" sz="1400" b="1" i="1" dirty="0" err="1">
                <a:solidFill>
                  <a:srgbClr val="6A3E3E"/>
                </a:solidFill>
                <a:latin typeface="Consolas"/>
              </a:rPr>
              <a:t>packet</a:t>
            </a:r>
            <a:r>
              <a:rPr lang="en-IE" sz="1400" b="1" i="1" dirty="0" err="1">
                <a:solidFill>
                  <a:srgbClr val="000000"/>
                </a:solidFill>
                <a:latin typeface="Consolas"/>
              </a:rPr>
              <a:t>.getPort</a:t>
            </a:r>
            <a:r>
              <a:rPr lang="en-IE" sz="1400" b="1" i="1" dirty="0">
                <a:solidFill>
                  <a:srgbClr val="000000"/>
                </a:solidFill>
                <a:latin typeface="Consolas"/>
              </a:rPr>
              <a:t>() + </a:t>
            </a:r>
            <a:r>
              <a:rPr lang="en-IE" sz="1400" b="1" i="1" dirty="0">
                <a:solidFill>
                  <a:srgbClr val="2A00FF"/>
                </a:solidFill>
                <a:latin typeface="Consolas"/>
              </a:rPr>
              <a:t>" says "</a:t>
            </a:r>
            <a:r>
              <a:rPr lang="en-IE" sz="1400" b="1" i="1" dirty="0">
                <a:solidFill>
                  <a:srgbClr val="000000"/>
                </a:solidFill>
                <a:latin typeface="Consolas"/>
              </a:rPr>
              <a:t> + </a:t>
            </a:r>
            <a:r>
              <a:rPr lang="en-IE" sz="1400" b="1" i="1" dirty="0">
                <a:solidFill>
                  <a:srgbClr val="6A3E3E"/>
                </a:solidFill>
                <a:latin typeface="Consolas"/>
              </a:rPr>
              <a:t>s</a:t>
            </a:r>
            <a:r>
              <a:rPr lang="en-IE" sz="1400" b="1" i="1" dirty="0">
                <a:solidFill>
                  <a:srgbClr val="000000"/>
                </a:solidFill>
                <a:latin typeface="Consolas"/>
              </a:rPr>
              <a:t>);</a:t>
            </a:r>
          </a:p>
          <a:p>
            <a:pPr marL="0" indent="0">
              <a:buNone/>
            </a:pPr>
            <a:r>
              <a:rPr lang="en-IE" sz="1400" dirty="0">
                <a:solidFill>
                  <a:srgbClr val="3F7F5F"/>
                </a:solidFill>
                <a:latin typeface="Consolas"/>
              </a:rPr>
              <a:t>// reset the length for the next packet</a:t>
            </a:r>
          </a:p>
          <a:p>
            <a:pPr marL="0" indent="0">
              <a:buNone/>
            </a:pPr>
            <a:r>
              <a:rPr lang="en-IE" sz="1400" dirty="0" err="1">
                <a:solidFill>
                  <a:srgbClr val="6A3E3E"/>
                </a:solidFill>
                <a:latin typeface="Consolas"/>
              </a:rPr>
              <a:t>packet</a:t>
            </a:r>
            <a:r>
              <a:rPr lang="en-IE" sz="1400" dirty="0" err="1">
                <a:solidFill>
                  <a:srgbClr val="000000"/>
                </a:solidFill>
                <a:latin typeface="Consolas"/>
              </a:rPr>
              <a:t>.setLength</a:t>
            </a:r>
            <a:r>
              <a:rPr lang="en-IE" sz="1400" dirty="0">
                <a:solidFill>
                  <a:srgbClr val="000000"/>
                </a:solidFill>
                <a:latin typeface="Consolas"/>
              </a:rPr>
              <a:t>(</a:t>
            </a:r>
            <a:r>
              <a:rPr lang="en-IE" sz="1400" dirty="0" err="1">
                <a:solidFill>
                  <a:srgbClr val="6A3E3E"/>
                </a:solidFill>
                <a:latin typeface="Consolas"/>
              </a:rPr>
              <a:t>buffer</a:t>
            </a:r>
            <a:r>
              <a:rPr lang="en-IE" sz="1400" dirty="0" err="1">
                <a:solidFill>
                  <a:srgbClr val="000000"/>
                </a:solidFill>
                <a:latin typeface="Consolas"/>
              </a:rPr>
              <a:t>.</a:t>
            </a:r>
            <a:r>
              <a:rPr lang="en-IE" sz="1400" dirty="0" err="1">
                <a:solidFill>
                  <a:srgbClr val="0000C0"/>
                </a:solidFill>
                <a:latin typeface="Consolas"/>
              </a:rPr>
              <a:t>length</a:t>
            </a:r>
            <a:r>
              <a:rPr lang="en-IE" sz="1400" dirty="0">
                <a:solidFill>
                  <a:srgbClr val="000000"/>
                </a:solidFill>
                <a:latin typeface="Consolas"/>
              </a:rPr>
              <a:t>);</a:t>
            </a:r>
          </a:p>
          <a:p>
            <a:pPr marL="0" indent="0">
              <a:buNone/>
            </a:pPr>
            <a:r>
              <a:rPr lang="en-IE" sz="1400" dirty="0">
                <a:solidFill>
                  <a:srgbClr val="000000"/>
                </a:solidFill>
                <a:latin typeface="Consolas"/>
              </a:rPr>
              <a:t>} </a:t>
            </a:r>
            <a:r>
              <a:rPr lang="en-IE" sz="1400" b="1" dirty="0">
                <a:solidFill>
                  <a:srgbClr val="7F0055"/>
                </a:solidFill>
                <a:latin typeface="Consolas"/>
              </a:rPr>
              <a:t>catch</a:t>
            </a:r>
            <a:r>
              <a:rPr lang="en-IE" sz="1400" b="1" dirty="0">
                <a:solidFill>
                  <a:srgbClr val="000000"/>
                </a:solidFill>
                <a:latin typeface="Consolas"/>
              </a:rPr>
              <a:t> (</a:t>
            </a:r>
            <a:r>
              <a:rPr lang="en-IE" sz="1400" b="1" dirty="0" err="1">
                <a:solidFill>
                  <a:srgbClr val="000000"/>
                </a:solidFill>
                <a:latin typeface="Consolas"/>
              </a:rPr>
              <a:t>IOException</a:t>
            </a:r>
            <a:r>
              <a:rPr lang="en-IE" sz="1400" b="1" dirty="0">
                <a:solidFill>
                  <a:srgbClr val="000000"/>
                </a:solidFill>
                <a:latin typeface="Consolas"/>
              </a:rPr>
              <a:t> </a:t>
            </a:r>
            <a:r>
              <a:rPr lang="en-IE" sz="1400" b="1" dirty="0">
                <a:solidFill>
                  <a:srgbClr val="6A3E3E"/>
                </a:solidFill>
                <a:latin typeface="Consolas"/>
              </a:rPr>
              <a:t>ex</a:t>
            </a:r>
            <a:r>
              <a:rPr lang="en-IE" sz="1400" b="1" dirty="0">
                <a:solidFill>
                  <a:srgbClr val="000000"/>
                </a:solidFill>
                <a:latin typeface="Consolas"/>
              </a:rPr>
              <a:t>) {</a:t>
            </a:r>
          </a:p>
          <a:p>
            <a:pPr marL="0" indent="0">
              <a:buNone/>
            </a:pPr>
            <a:r>
              <a:rPr lang="en-IE" sz="1400" dirty="0" err="1">
                <a:solidFill>
                  <a:srgbClr val="000000"/>
                </a:solidFill>
                <a:latin typeface="Consolas"/>
              </a:rPr>
              <a:t>System.</a:t>
            </a:r>
            <a:r>
              <a:rPr lang="en-IE" sz="1400" b="1" i="1" dirty="0" err="1">
                <a:solidFill>
                  <a:srgbClr val="0000C0"/>
                </a:solidFill>
                <a:latin typeface="Consolas"/>
              </a:rPr>
              <a:t>err</a:t>
            </a:r>
            <a:r>
              <a:rPr lang="en-IE" sz="1400" b="1" i="1" dirty="0" err="1">
                <a:solidFill>
                  <a:srgbClr val="000000"/>
                </a:solidFill>
                <a:latin typeface="Consolas"/>
              </a:rPr>
              <a:t>.println</a:t>
            </a:r>
            <a:r>
              <a:rPr lang="en-IE" sz="1400" b="1" i="1" dirty="0">
                <a:solidFill>
                  <a:srgbClr val="000000"/>
                </a:solidFill>
                <a:latin typeface="Consolas"/>
              </a:rPr>
              <a:t>(</a:t>
            </a:r>
            <a:r>
              <a:rPr lang="en-IE" sz="1400" b="1" i="1" dirty="0">
                <a:solidFill>
                  <a:srgbClr val="6A3E3E"/>
                </a:solidFill>
                <a:latin typeface="Consolas"/>
              </a:rPr>
              <a:t>ex</a:t>
            </a:r>
            <a:r>
              <a:rPr lang="en-IE" sz="1400" b="1" i="1" dirty="0">
                <a:solidFill>
                  <a:srgbClr val="000000"/>
                </a:solidFill>
                <a:latin typeface="Consolas"/>
              </a:rPr>
              <a:t>);</a:t>
            </a:r>
          </a:p>
          <a:p>
            <a:pPr marL="0" indent="0">
              <a:buNone/>
            </a:pPr>
            <a:r>
              <a:rPr lang="en-IE" sz="1400" dirty="0">
                <a:solidFill>
                  <a:srgbClr val="000000"/>
                </a:solidFill>
                <a:latin typeface="Consolas"/>
              </a:rPr>
              <a:t>}</a:t>
            </a:r>
          </a:p>
          <a:p>
            <a:pPr marL="0" indent="0">
              <a:buNone/>
            </a:pPr>
            <a:r>
              <a:rPr lang="en-IE" sz="1400" dirty="0">
                <a:solidFill>
                  <a:srgbClr val="000000"/>
                </a:solidFill>
                <a:latin typeface="Consolas"/>
              </a:rPr>
              <a:t>} </a:t>
            </a:r>
            <a:r>
              <a:rPr lang="en-IE" sz="1400" dirty="0">
                <a:solidFill>
                  <a:srgbClr val="3F7F5F"/>
                </a:solidFill>
                <a:latin typeface="Consolas"/>
              </a:rPr>
              <a:t>// end while</a:t>
            </a:r>
          </a:p>
          <a:p>
            <a:pPr marL="0" indent="0">
              <a:buNone/>
            </a:pPr>
            <a:r>
              <a:rPr lang="en-IE" sz="1400" dirty="0">
                <a:solidFill>
                  <a:srgbClr val="000000"/>
                </a:solidFill>
                <a:latin typeface="Consolas"/>
              </a:rPr>
              <a:t>} </a:t>
            </a:r>
            <a:r>
              <a:rPr lang="en-IE" sz="1400" b="1" dirty="0">
                <a:solidFill>
                  <a:srgbClr val="7F0055"/>
                </a:solidFill>
                <a:latin typeface="Consolas"/>
              </a:rPr>
              <a:t>catch</a:t>
            </a:r>
            <a:r>
              <a:rPr lang="en-IE" sz="1400" b="1" dirty="0">
                <a:solidFill>
                  <a:srgbClr val="000000"/>
                </a:solidFill>
                <a:latin typeface="Consolas"/>
              </a:rPr>
              <a:t> (</a:t>
            </a:r>
            <a:r>
              <a:rPr lang="en-IE" sz="1400" b="1" dirty="0" err="1">
                <a:solidFill>
                  <a:srgbClr val="000000"/>
                </a:solidFill>
                <a:latin typeface="Consolas"/>
              </a:rPr>
              <a:t>SocketException</a:t>
            </a:r>
            <a:r>
              <a:rPr lang="en-IE" sz="1400" b="1" dirty="0">
                <a:solidFill>
                  <a:srgbClr val="000000"/>
                </a:solidFill>
                <a:latin typeface="Consolas"/>
              </a:rPr>
              <a:t> </a:t>
            </a:r>
            <a:r>
              <a:rPr lang="en-IE" sz="1400" b="1" dirty="0">
                <a:solidFill>
                  <a:srgbClr val="6A3E3E"/>
                </a:solidFill>
                <a:latin typeface="Consolas"/>
              </a:rPr>
              <a:t>ex</a:t>
            </a:r>
            <a:r>
              <a:rPr lang="en-IE" sz="1400" b="1" dirty="0">
                <a:solidFill>
                  <a:srgbClr val="000000"/>
                </a:solidFill>
                <a:latin typeface="Consolas"/>
              </a:rPr>
              <a:t>) {</a:t>
            </a:r>
          </a:p>
          <a:p>
            <a:pPr marL="0" indent="0">
              <a:buNone/>
            </a:pPr>
            <a:r>
              <a:rPr lang="en-IE" sz="1400" dirty="0" err="1">
                <a:solidFill>
                  <a:srgbClr val="000000"/>
                </a:solidFill>
                <a:latin typeface="Consolas"/>
              </a:rPr>
              <a:t>System.</a:t>
            </a:r>
            <a:r>
              <a:rPr lang="en-IE" sz="1400" b="1" i="1" dirty="0" err="1">
                <a:solidFill>
                  <a:srgbClr val="0000C0"/>
                </a:solidFill>
                <a:latin typeface="Consolas"/>
              </a:rPr>
              <a:t>err</a:t>
            </a:r>
            <a:r>
              <a:rPr lang="en-IE" sz="1400" b="1" i="1" dirty="0" err="1">
                <a:solidFill>
                  <a:srgbClr val="000000"/>
                </a:solidFill>
                <a:latin typeface="Consolas"/>
              </a:rPr>
              <a:t>.println</a:t>
            </a:r>
            <a:r>
              <a:rPr lang="en-IE" sz="1400" b="1" i="1" dirty="0">
                <a:solidFill>
                  <a:srgbClr val="000000"/>
                </a:solidFill>
                <a:latin typeface="Consolas"/>
              </a:rPr>
              <a:t>(</a:t>
            </a:r>
            <a:r>
              <a:rPr lang="en-IE" sz="1400" b="1" i="1" dirty="0">
                <a:solidFill>
                  <a:srgbClr val="6A3E3E"/>
                </a:solidFill>
                <a:latin typeface="Consolas"/>
              </a:rPr>
              <a:t>ex</a:t>
            </a:r>
            <a:r>
              <a:rPr lang="en-IE" sz="1400" b="1" i="1" dirty="0">
                <a:solidFill>
                  <a:srgbClr val="000000"/>
                </a:solidFill>
                <a:latin typeface="Consolas"/>
              </a:rPr>
              <a:t>);</a:t>
            </a:r>
          </a:p>
          <a:p>
            <a:pPr marL="0" indent="0">
              <a:buNone/>
            </a:pPr>
            <a:r>
              <a:rPr lang="en-IE" sz="1400" smtClean="0">
                <a:solidFill>
                  <a:srgbClr val="000000"/>
                </a:solidFill>
                <a:latin typeface="Consolas"/>
              </a:rPr>
              <a:t>}}}</a:t>
            </a:r>
            <a:endParaRPr lang="en-IE" sz="1400" dirty="0">
              <a:solidFill>
                <a:srgbClr val="000000"/>
              </a:solidFill>
              <a:latin typeface="Consolas"/>
            </a:endParaRPr>
          </a:p>
          <a:p>
            <a:pPr marL="0" indent="0">
              <a:buNone/>
            </a:pPr>
            <a:endParaRPr lang="en-US" altLang="en-US" sz="1400" dirty="0" smtClean="0"/>
          </a:p>
        </p:txBody>
      </p:sp>
    </p:spTree>
    <p:extLst>
      <p:ext uri="{BB962C8B-B14F-4D97-AF65-F5344CB8AC3E}">
        <p14:creationId xmlns:p14="http://schemas.microsoft.com/office/powerpoint/2010/main" val="19364694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457200" y="274638"/>
            <a:ext cx="8229600" cy="715962"/>
          </a:xfrm>
        </p:spPr>
        <p:txBody>
          <a:bodyPr>
            <a:normAutofit fontScale="90000"/>
          </a:bodyPr>
          <a:lstStyle/>
          <a:p>
            <a:r>
              <a:rPr lang="en-US" altLang="en-US" dirty="0" err="1" smtClean="0"/>
              <a:t>UDPDaytimeClient</a:t>
            </a:r>
            <a:endParaRPr lang="en-US" altLang="en-US" dirty="0" smtClean="0"/>
          </a:p>
        </p:txBody>
      </p:sp>
      <p:sp>
        <p:nvSpPr>
          <p:cNvPr id="45059" name="Rectangle 3"/>
          <p:cNvSpPr>
            <a:spLocks noGrp="1" noChangeArrowheads="1"/>
          </p:cNvSpPr>
          <p:nvPr>
            <p:ph idx="1"/>
          </p:nvPr>
        </p:nvSpPr>
        <p:spPr>
          <a:xfrm>
            <a:off x="0" y="914400"/>
            <a:ext cx="9144000" cy="4830763"/>
          </a:xfrm>
        </p:spPr>
        <p:txBody>
          <a:bodyPr>
            <a:noAutofit/>
          </a:bodyPr>
          <a:lstStyle/>
          <a:p>
            <a:pPr marL="0" indent="0">
              <a:buNone/>
            </a:pPr>
            <a:r>
              <a:rPr lang="en-IE" sz="1600" b="1" dirty="0">
                <a:solidFill>
                  <a:srgbClr val="7F0055"/>
                </a:solidFill>
                <a:latin typeface="Consolas"/>
              </a:rPr>
              <a:t>import</a:t>
            </a:r>
            <a:r>
              <a:rPr lang="en-IE" sz="1600" b="1" dirty="0">
                <a:solidFill>
                  <a:srgbClr val="000000"/>
                </a:solidFill>
                <a:latin typeface="Consolas"/>
              </a:rPr>
              <a:t> java.io.*;</a:t>
            </a:r>
          </a:p>
          <a:p>
            <a:pPr marL="0" indent="0">
              <a:buNone/>
            </a:pPr>
            <a:r>
              <a:rPr lang="en-IE" sz="1600" b="1" dirty="0">
                <a:solidFill>
                  <a:srgbClr val="7F0055"/>
                </a:solidFill>
                <a:latin typeface="Consolas"/>
              </a:rPr>
              <a:t>import</a:t>
            </a:r>
            <a:r>
              <a:rPr lang="en-IE" sz="1600" b="1" dirty="0">
                <a:solidFill>
                  <a:srgbClr val="000000"/>
                </a:solidFill>
                <a:latin typeface="Consolas"/>
              </a:rPr>
              <a:t> java.net.*;</a:t>
            </a:r>
          </a:p>
          <a:p>
            <a:pPr marL="0" indent="0">
              <a:buNone/>
            </a:pPr>
            <a:r>
              <a:rPr lang="en-IE" sz="1600" b="1" dirty="0">
                <a:solidFill>
                  <a:srgbClr val="7F0055"/>
                </a:solidFill>
                <a:latin typeface="Consolas"/>
              </a:rPr>
              <a:t>public</a:t>
            </a:r>
            <a:r>
              <a:rPr lang="en-IE" sz="1600" b="1" dirty="0">
                <a:solidFill>
                  <a:srgbClr val="000000"/>
                </a:solidFill>
                <a:latin typeface="Consolas"/>
              </a:rPr>
              <a:t> </a:t>
            </a:r>
            <a:r>
              <a:rPr lang="en-IE" sz="1600" b="1" dirty="0">
                <a:solidFill>
                  <a:srgbClr val="7F0055"/>
                </a:solidFill>
                <a:latin typeface="Consolas"/>
              </a:rPr>
              <a:t>class</a:t>
            </a:r>
            <a:r>
              <a:rPr lang="en-IE" sz="1600" b="1" dirty="0">
                <a:solidFill>
                  <a:srgbClr val="000000"/>
                </a:solidFill>
                <a:latin typeface="Consolas"/>
              </a:rPr>
              <a:t> </a:t>
            </a:r>
            <a:r>
              <a:rPr lang="en-IE" sz="1600" b="1" dirty="0" err="1">
                <a:solidFill>
                  <a:srgbClr val="000000"/>
                </a:solidFill>
                <a:latin typeface="Consolas"/>
              </a:rPr>
              <a:t>DaytimeUDPClient</a:t>
            </a:r>
            <a:r>
              <a:rPr lang="en-IE" sz="1600" b="1" dirty="0">
                <a:solidFill>
                  <a:srgbClr val="000000"/>
                </a:solidFill>
                <a:latin typeface="Consolas"/>
              </a:rPr>
              <a:t> {</a:t>
            </a:r>
          </a:p>
          <a:p>
            <a:pPr marL="0" indent="0">
              <a:buNone/>
            </a:pPr>
            <a:r>
              <a:rPr lang="en-IE" sz="1600" b="1" dirty="0">
                <a:solidFill>
                  <a:srgbClr val="7F0055"/>
                </a:solidFill>
                <a:latin typeface="Consolas"/>
              </a:rPr>
              <a:t>private</a:t>
            </a:r>
            <a:r>
              <a:rPr lang="en-IE" sz="1600" b="1" dirty="0">
                <a:solidFill>
                  <a:srgbClr val="000000"/>
                </a:solidFill>
                <a:latin typeface="Consolas"/>
              </a:rPr>
              <a:t> </a:t>
            </a:r>
            <a:r>
              <a:rPr lang="en-IE" sz="1600" b="1" dirty="0">
                <a:solidFill>
                  <a:srgbClr val="7F0055"/>
                </a:solidFill>
                <a:latin typeface="Consolas"/>
              </a:rPr>
              <a:t>final</a:t>
            </a:r>
            <a:r>
              <a:rPr lang="en-IE" sz="1600" b="1" dirty="0">
                <a:solidFill>
                  <a:srgbClr val="000000"/>
                </a:solidFill>
                <a:latin typeface="Consolas"/>
              </a:rPr>
              <a:t> </a:t>
            </a:r>
            <a:r>
              <a:rPr lang="en-IE" sz="1600" b="1" dirty="0">
                <a:solidFill>
                  <a:srgbClr val="7F0055"/>
                </a:solidFill>
                <a:latin typeface="Consolas"/>
              </a:rPr>
              <a:t>static</a:t>
            </a:r>
            <a:r>
              <a:rPr lang="en-IE" sz="1600" b="1" dirty="0">
                <a:solidFill>
                  <a:srgbClr val="000000"/>
                </a:solidFill>
                <a:latin typeface="Consolas"/>
              </a:rPr>
              <a:t> </a:t>
            </a:r>
            <a:r>
              <a:rPr lang="en-IE" sz="1600" b="1" dirty="0" err="1">
                <a:solidFill>
                  <a:srgbClr val="7F0055"/>
                </a:solidFill>
                <a:latin typeface="Consolas"/>
              </a:rPr>
              <a:t>int</a:t>
            </a:r>
            <a:r>
              <a:rPr lang="en-IE" sz="1600" b="1" dirty="0">
                <a:solidFill>
                  <a:srgbClr val="000000"/>
                </a:solidFill>
                <a:latin typeface="Consolas"/>
              </a:rPr>
              <a:t> </a:t>
            </a:r>
            <a:r>
              <a:rPr lang="en-IE" sz="1600" b="1" i="1" dirty="0">
                <a:solidFill>
                  <a:srgbClr val="0000C0"/>
                </a:solidFill>
                <a:latin typeface="Consolas"/>
              </a:rPr>
              <a:t>PORT</a:t>
            </a:r>
            <a:r>
              <a:rPr lang="en-IE" sz="1600" b="1" i="1" dirty="0">
                <a:solidFill>
                  <a:srgbClr val="000000"/>
                </a:solidFill>
                <a:latin typeface="Consolas"/>
              </a:rPr>
              <a:t> = 13;</a:t>
            </a:r>
          </a:p>
          <a:p>
            <a:pPr marL="0" indent="0">
              <a:buNone/>
            </a:pPr>
            <a:r>
              <a:rPr lang="en-IE" sz="1600" b="1" dirty="0">
                <a:solidFill>
                  <a:srgbClr val="7F0055"/>
                </a:solidFill>
                <a:latin typeface="Consolas"/>
              </a:rPr>
              <a:t>private</a:t>
            </a:r>
            <a:r>
              <a:rPr lang="en-IE" sz="1600" b="1" dirty="0">
                <a:solidFill>
                  <a:srgbClr val="000000"/>
                </a:solidFill>
                <a:latin typeface="Consolas"/>
              </a:rPr>
              <a:t> </a:t>
            </a:r>
            <a:r>
              <a:rPr lang="en-IE" sz="1600" b="1" dirty="0">
                <a:solidFill>
                  <a:srgbClr val="7F0055"/>
                </a:solidFill>
                <a:latin typeface="Consolas"/>
              </a:rPr>
              <a:t>static</a:t>
            </a:r>
            <a:r>
              <a:rPr lang="en-IE" sz="1600" b="1" dirty="0">
                <a:solidFill>
                  <a:srgbClr val="000000"/>
                </a:solidFill>
                <a:latin typeface="Consolas"/>
              </a:rPr>
              <a:t> </a:t>
            </a:r>
            <a:r>
              <a:rPr lang="en-IE" sz="1600" b="1" dirty="0">
                <a:solidFill>
                  <a:srgbClr val="7F0055"/>
                </a:solidFill>
                <a:latin typeface="Consolas"/>
              </a:rPr>
              <a:t>final</a:t>
            </a:r>
            <a:r>
              <a:rPr lang="en-IE" sz="1600" b="1" dirty="0">
                <a:solidFill>
                  <a:srgbClr val="000000"/>
                </a:solidFill>
                <a:latin typeface="Consolas"/>
              </a:rPr>
              <a:t> String </a:t>
            </a:r>
            <a:r>
              <a:rPr lang="en-IE" sz="1600" b="1" i="1" dirty="0">
                <a:solidFill>
                  <a:srgbClr val="0000C0"/>
                </a:solidFill>
                <a:latin typeface="Consolas"/>
              </a:rPr>
              <a:t>HOSTNAME</a:t>
            </a:r>
            <a:r>
              <a:rPr lang="en-IE" sz="1600" b="1" i="1" dirty="0">
                <a:solidFill>
                  <a:srgbClr val="000000"/>
                </a:solidFill>
                <a:latin typeface="Consolas"/>
              </a:rPr>
              <a:t> = </a:t>
            </a:r>
            <a:r>
              <a:rPr lang="en-IE" sz="1600" b="1" i="1" dirty="0">
                <a:solidFill>
                  <a:srgbClr val="2A00FF"/>
                </a:solidFill>
                <a:latin typeface="Consolas"/>
              </a:rPr>
              <a:t>"localhost"</a:t>
            </a:r>
            <a:r>
              <a:rPr lang="en-IE" sz="1600" b="1" i="1" dirty="0">
                <a:solidFill>
                  <a:srgbClr val="000000"/>
                </a:solidFill>
                <a:latin typeface="Consolas"/>
              </a:rPr>
              <a:t>;</a:t>
            </a:r>
          </a:p>
          <a:p>
            <a:pPr marL="0" indent="0">
              <a:buNone/>
            </a:pPr>
            <a:r>
              <a:rPr lang="en-IE" sz="1600" b="1" dirty="0">
                <a:solidFill>
                  <a:srgbClr val="7F0055"/>
                </a:solidFill>
                <a:latin typeface="Consolas"/>
              </a:rPr>
              <a:t>public</a:t>
            </a:r>
            <a:r>
              <a:rPr lang="en-IE" sz="1600" b="1" dirty="0">
                <a:solidFill>
                  <a:srgbClr val="000000"/>
                </a:solidFill>
                <a:latin typeface="Consolas"/>
              </a:rPr>
              <a:t> </a:t>
            </a:r>
            <a:r>
              <a:rPr lang="en-IE" sz="1600" b="1" dirty="0">
                <a:solidFill>
                  <a:srgbClr val="7F0055"/>
                </a:solidFill>
                <a:latin typeface="Consolas"/>
              </a:rPr>
              <a:t>static</a:t>
            </a:r>
            <a:r>
              <a:rPr lang="en-IE" sz="1600" b="1" dirty="0">
                <a:solidFill>
                  <a:srgbClr val="000000"/>
                </a:solidFill>
                <a:latin typeface="Consolas"/>
              </a:rPr>
              <a:t> </a:t>
            </a:r>
            <a:r>
              <a:rPr lang="en-IE" sz="1600" b="1" dirty="0">
                <a:solidFill>
                  <a:srgbClr val="7F0055"/>
                </a:solidFill>
                <a:latin typeface="Consolas"/>
              </a:rPr>
              <a:t>void</a:t>
            </a:r>
            <a:r>
              <a:rPr lang="en-IE" sz="1600" b="1" dirty="0">
                <a:solidFill>
                  <a:srgbClr val="000000"/>
                </a:solidFill>
                <a:latin typeface="Consolas"/>
              </a:rPr>
              <a:t> main(String[] </a:t>
            </a:r>
            <a:r>
              <a:rPr lang="en-IE" sz="1600" b="1" dirty="0" err="1">
                <a:solidFill>
                  <a:srgbClr val="6A3E3E"/>
                </a:solidFill>
                <a:latin typeface="Consolas"/>
              </a:rPr>
              <a:t>args</a:t>
            </a:r>
            <a:r>
              <a:rPr lang="en-IE" sz="1600" b="1" dirty="0">
                <a:solidFill>
                  <a:srgbClr val="000000"/>
                </a:solidFill>
                <a:latin typeface="Consolas"/>
              </a:rPr>
              <a:t>) {</a:t>
            </a:r>
          </a:p>
          <a:p>
            <a:pPr marL="0" indent="0">
              <a:buNone/>
            </a:pPr>
            <a:r>
              <a:rPr lang="en-IE" sz="1600" b="1" dirty="0">
                <a:solidFill>
                  <a:srgbClr val="7F0055"/>
                </a:solidFill>
                <a:latin typeface="Consolas"/>
              </a:rPr>
              <a:t>try</a:t>
            </a:r>
            <a:r>
              <a:rPr lang="en-IE" sz="1600" b="1" dirty="0">
                <a:solidFill>
                  <a:srgbClr val="000000"/>
                </a:solidFill>
                <a:latin typeface="Consolas"/>
              </a:rPr>
              <a:t> (</a:t>
            </a:r>
            <a:r>
              <a:rPr lang="en-IE" sz="1600" b="1" dirty="0" err="1">
                <a:solidFill>
                  <a:srgbClr val="000000"/>
                </a:solidFill>
                <a:latin typeface="Consolas"/>
              </a:rPr>
              <a:t>DatagramSocket</a:t>
            </a:r>
            <a:r>
              <a:rPr lang="en-IE" sz="1600" b="1" dirty="0">
                <a:solidFill>
                  <a:srgbClr val="000000"/>
                </a:solidFill>
                <a:latin typeface="Consolas"/>
              </a:rPr>
              <a:t> </a:t>
            </a:r>
            <a:r>
              <a:rPr lang="en-IE" sz="1600" b="1" dirty="0">
                <a:solidFill>
                  <a:srgbClr val="6A3E3E"/>
                </a:solidFill>
                <a:latin typeface="Consolas"/>
              </a:rPr>
              <a:t>socket</a:t>
            </a:r>
            <a:r>
              <a:rPr lang="en-IE" sz="1600" b="1" dirty="0">
                <a:solidFill>
                  <a:srgbClr val="000000"/>
                </a:solidFill>
                <a:latin typeface="Consolas"/>
              </a:rPr>
              <a:t> = </a:t>
            </a:r>
            <a:r>
              <a:rPr lang="en-IE" sz="1600" b="1" dirty="0">
                <a:solidFill>
                  <a:srgbClr val="7F0055"/>
                </a:solidFill>
                <a:latin typeface="Consolas"/>
              </a:rPr>
              <a:t>new</a:t>
            </a:r>
            <a:r>
              <a:rPr lang="en-IE" sz="1600" b="1" dirty="0">
                <a:solidFill>
                  <a:srgbClr val="000000"/>
                </a:solidFill>
                <a:latin typeface="Consolas"/>
              </a:rPr>
              <a:t> </a:t>
            </a:r>
            <a:r>
              <a:rPr lang="en-IE" sz="1600" b="1" dirty="0" err="1">
                <a:solidFill>
                  <a:srgbClr val="000000"/>
                </a:solidFill>
                <a:latin typeface="Consolas"/>
              </a:rPr>
              <a:t>DatagramSocket</a:t>
            </a:r>
            <a:r>
              <a:rPr lang="en-IE" sz="1600" b="1" dirty="0">
                <a:solidFill>
                  <a:srgbClr val="000000"/>
                </a:solidFill>
                <a:latin typeface="Consolas"/>
              </a:rPr>
              <a:t>(0)) {</a:t>
            </a:r>
          </a:p>
          <a:p>
            <a:pPr marL="0" indent="0">
              <a:buNone/>
            </a:pPr>
            <a:r>
              <a:rPr lang="en-IE" sz="1600" dirty="0" err="1" smtClean="0">
                <a:solidFill>
                  <a:srgbClr val="6A3E3E"/>
                </a:solidFill>
                <a:latin typeface="Consolas"/>
              </a:rPr>
              <a:t>socket</a:t>
            </a:r>
            <a:r>
              <a:rPr lang="en-IE" sz="1600" dirty="0" err="1" smtClean="0">
                <a:solidFill>
                  <a:srgbClr val="000000"/>
                </a:solidFill>
                <a:latin typeface="Consolas"/>
              </a:rPr>
              <a:t>.setSoTimeout</a:t>
            </a:r>
            <a:r>
              <a:rPr lang="en-IE" sz="1600" dirty="0" smtClean="0">
                <a:solidFill>
                  <a:srgbClr val="000000"/>
                </a:solidFill>
                <a:latin typeface="Consolas"/>
              </a:rPr>
              <a:t>(10000</a:t>
            </a:r>
            <a:r>
              <a:rPr lang="en-IE" sz="1600" dirty="0">
                <a:solidFill>
                  <a:srgbClr val="000000"/>
                </a:solidFill>
                <a:latin typeface="Consolas"/>
              </a:rPr>
              <a:t>);</a:t>
            </a:r>
          </a:p>
          <a:p>
            <a:pPr marL="0" indent="0">
              <a:buNone/>
            </a:pPr>
            <a:r>
              <a:rPr lang="en-IE" sz="1600" dirty="0" err="1" smtClean="0">
                <a:solidFill>
                  <a:srgbClr val="000000"/>
                </a:solidFill>
                <a:latin typeface="Consolas"/>
              </a:rPr>
              <a:t>InetAddress</a:t>
            </a:r>
            <a:r>
              <a:rPr lang="en-IE" sz="1600" dirty="0" smtClean="0">
                <a:solidFill>
                  <a:srgbClr val="000000"/>
                </a:solidFill>
                <a:latin typeface="Consolas"/>
              </a:rPr>
              <a:t> </a:t>
            </a:r>
            <a:r>
              <a:rPr lang="en-IE" sz="1600" dirty="0">
                <a:solidFill>
                  <a:srgbClr val="6A3E3E"/>
                </a:solidFill>
                <a:latin typeface="Consolas"/>
              </a:rPr>
              <a:t>host</a:t>
            </a:r>
            <a:r>
              <a:rPr lang="en-IE" sz="1600" dirty="0">
                <a:solidFill>
                  <a:srgbClr val="000000"/>
                </a:solidFill>
                <a:latin typeface="Consolas"/>
              </a:rPr>
              <a:t> = </a:t>
            </a:r>
            <a:r>
              <a:rPr lang="en-IE" sz="1600" dirty="0" err="1">
                <a:solidFill>
                  <a:srgbClr val="000000"/>
                </a:solidFill>
                <a:latin typeface="Consolas"/>
              </a:rPr>
              <a:t>InetAddress.</a:t>
            </a:r>
            <a:r>
              <a:rPr lang="en-IE" sz="1600" i="1" dirty="0" err="1">
                <a:solidFill>
                  <a:srgbClr val="000000"/>
                </a:solidFill>
                <a:latin typeface="Consolas"/>
              </a:rPr>
              <a:t>getByName</a:t>
            </a:r>
            <a:r>
              <a:rPr lang="en-IE" sz="1600" i="1" dirty="0">
                <a:solidFill>
                  <a:srgbClr val="000000"/>
                </a:solidFill>
                <a:latin typeface="Consolas"/>
              </a:rPr>
              <a:t>(</a:t>
            </a:r>
            <a:r>
              <a:rPr lang="en-IE" sz="1600" b="1" i="1" dirty="0">
                <a:solidFill>
                  <a:srgbClr val="0000C0"/>
                </a:solidFill>
                <a:latin typeface="Consolas"/>
              </a:rPr>
              <a:t>HOSTNAME</a:t>
            </a:r>
            <a:r>
              <a:rPr lang="en-IE" sz="1600" b="1" i="1" dirty="0">
                <a:solidFill>
                  <a:srgbClr val="000000"/>
                </a:solidFill>
                <a:latin typeface="Consolas"/>
              </a:rPr>
              <a:t>);</a:t>
            </a:r>
          </a:p>
          <a:p>
            <a:pPr marL="0" indent="0">
              <a:buNone/>
            </a:pPr>
            <a:r>
              <a:rPr lang="en-IE" sz="1600" dirty="0" err="1" smtClean="0">
                <a:solidFill>
                  <a:srgbClr val="000000"/>
                </a:solidFill>
                <a:latin typeface="Consolas"/>
              </a:rPr>
              <a:t>DatagramPacket</a:t>
            </a:r>
            <a:r>
              <a:rPr lang="en-IE" sz="1600" dirty="0" smtClean="0">
                <a:solidFill>
                  <a:srgbClr val="000000"/>
                </a:solidFill>
                <a:latin typeface="Consolas"/>
              </a:rPr>
              <a:t> </a:t>
            </a:r>
            <a:r>
              <a:rPr lang="en-IE" sz="1600" dirty="0">
                <a:solidFill>
                  <a:srgbClr val="6A3E3E"/>
                </a:solidFill>
                <a:highlight>
                  <a:srgbClr val="F0D8A8"/>
                </a:highlight>
                <a:latin typeface="Consolas"/>
              </a:rPr>
              <a:t>request</a:t>
            </a:r>
            <a:r>
              <a:rPr lang="en-IE" sz="1600" dirty="0">
                <a:solidFill>
                  <a:srgbClr val="000000"/>
                </a:solidFill>
                <a:highlight>
                  <a:srgbClr val="F0D8A8"/>
                </a:highlight>
                <a:latin typeface="Consolas"/>
              </a:rPr>
              <a:t> = </a:t>
            </a:r>
            <a:r>
              <a:rPr lang="en-IE" sz="1600" b="1" dirty="0">
                <a:solidFill>
                  <a:srgbClr val="7F0055"/>
                </a:solidFill>
                <a:highlight>
                  <a:srgbClr val="F0D8A8"/>
                </a:highlight>
                <a:latin typeface="Consolas"/>
              </a:rPr>
              <a:t>new</a:t>
            </a:r>
            <a:r>
              <a:rPr lang="en-IE" sz="1600" b="1" dirty="0">
                <a:solidFill>
                  <a:srgbClr val="000000"/>
                </a:solidFill>
                <a:highlight>
                  <a:srgbClr val="F0D8A8"/>
                </a:highlight>
                <a:latin typeface="Consolas"/>
              </a:rPr>
              <a:t> </a:t>
            </a:r>
            <a:r>
              <a:rPr lang="en-IE" sz="1600" b="1" dirty="0" err="1">
                <a:solidFill>
                  <a:srgbClr val="000000"/>
                </a:solidFill>
                <a:highlight>
                  <a:srgbClr val="F0D8A8"/>
                </a:highlight>
                <a:latin typeface="Consolas"/>
              </a:rPr>
              <a:t>DatagramPacket</a:t>
            </a:r>
            <a:r>
              <a:rPr lang="en-IE" sz="1600" b="1" dirty="0">
                <a:solidFill>
                  <a:srgbClr val="000000"/>
                </a:solidFill>
                <a:highlight>
                  <a:srgbClr val="F0D8A8"/>
                </a:highlight>
                <a:latin typeface="Consolas"/>
              </a:rPr>
              <a:t>(</a:t>
            </a:r>
            <a:r>
              <a:rPr lang="en-IE" sz="1600" b="1" dirty="0">
                <a:solidFill>
                  <a:srgbClr val="7F0055"/>
                </a:solidFill>
                <a:highlight>
                  <a:srgbClr val="F0D8A8"/>
                </a:highlight>
                <a:latin typeface="Consolas"/>
              </a:rPr>
              <a:t>new</a:t>
            </a:r>
            <a:r>
              <a:rPr lang="en-IE" sz="1600" b="1" dirty="0">
                <a:solidFill>
                  <a:srgbClr val="000000"/>
                </a:solidFill>
                <a:highlight>
                  <a:srgbClr val="F0D8A8"/>
                </a:highlight>
                <a:latin typeface="Consolas"/>
              </a:rPr>
              <a:t> </a:t>
            </a:r>
            <a:r>
              <a:rPr lang="en-IE" sz="1600" b="1" dirty="0">
                <a:solidFill>
                  <a:srgbClr val="7F0055"/>
                </a:solidFill>
                <a:highlight>
                  <a:srgbClr val="F0D8A8"/>
                </a:highlight>
                <a:latin typeface="Consolas"/>
              </a:rPr>
              <a:t>byte</a:t>
            </a:r>
            <a:r>
              <a:rPr lang="en-IE" sz="1600" b="1" dirty="0">
                <a:solidFill>
                  <a:srgbClr val="000000"/>
                </a:solidFill>
                <a:highlight>
                  <a:srgbClr val="F0D8A8"/>
                </a:highlight>
                <a:latin typeface="Consolas"/>
              </a:rPr>
              <a:t>[1], 1, </a:t>
            </a:r>
            <a:r>
              <a:rPr lang="en-IE" sz="1600" b="1" dirty="0">
                <a:solidFill>
                  <a:srgbClr val="6A3E3E"/>
                </a:solidFill>
                <a:highlight>
                  <a:srgbClr val="F0D8A8"/>
                </a:highlight>
                <a:latin typeface="Consolas"/>
              </a:rPr>
              <a:t>host</a:t>
            </a:r>
            <a:r>
              <a:rPr lang="en-IE" sz="1600" b="1" dirty="0">
                <a:solidFill>
                  <a:srgbClr val="000000"/>
                </a:solidFill>
                <a:highlight>
                  <a:srgbClr val="F0D8A8"/>
                </a:highlight>
                <a:latin typeface="Consolas"/>
              </a:rPr>
              <a:t> , </a:t>
            </a:r>
            <a:r>
              <a:rPr lang="en-IE" sz="1600" b="1" i="1" dirty="0">
                <a:solidFill>
                  <a:srgbClr val="0000C0"/>
                </a:solidFill>
                <a:highlight>
                  <a:srgbClr val="F0D8A8"/>
                </a:highlight>
                <a:latin typeface="Consolas"/>
              </a:rPr>
              <a:t>PORT</a:t>
            </a:r>
            <a:r>
              <a:rPr lang="en-IE" sz="1600" b="1" i="1" dirty="0">
                <a:solidFill>
                  <a:srgbClr val="000000"/>
                </a:solidFill>
                <a:highlight>
                  <a:srgbClr val="F0D8A8"/>
                </a:highlight>
                <a:latin typeface="Consolas"/>
              </a:rPr>
              <a:t>);</a:t>
            </a:r>
          </a:p>
          <a:p>
            <a:pPr marL="0" indent="0">
              <a:buNone/>
            </a:pPr>
            <a:r>
              <a:rPr lang="en-IE" sz="1600" dirty="0" err="1" smtClean="0">
                <a:solidFill>
                  <a:srgbClr val="000000"/>
                </a:solidFill>
                <a:latin typeface="Consolas"/>
              </a:rPr>
              <a:t>DatagramPacket</a:t>
            </a:r>
            <a:r>
              <a:rPr lang="en-IE" sz="1600" dirty="0" smtClean="0">
                <a:solidFill>
                  <a:srgbClr val="000000"/>
                </a:solidFill>
                <a:latin typeface="Consolas"/>
              </a:rPr>
              <a:t> </a:t>
            </a:r>
            <a:r>
              <a:rPr lang="en-IE" sz="1600" dirty="0">
                <a:solidFill>
                  <a:srgbClr val="6A3E3E"/>
                </a:solidFill>
                <a:latin typeface="Consolas"/>
              </a:rPr>
              <a:t>response</a:t>
            </a:r>
            <a:r>
              <a:rPr lang="en-IE" sz="1600" dirty="0">
                <a:solidFill>
                  <a:srgbClr val="000000"/>
                </a:solidFill>
                <a:latin typeface="Consolas"/>
              </a:rPr>
              <a:t> = </a:t>
            </a:r>
            <a:r>
              <a:rPr lang="en-IE" sz="1600" b="1" dirty="0">
                <a:solidFill>
                  <a:srgbClr val="7F0055"/>
                </a:solidFill>
                <a:latin typeface="Consolas"/>
              </a:rPr>
              <a:t>new</a:t>
            </a:r>
            <a:r>
              <a:rPr lang="en-IE" sz="1600" b="1" dirty="0">
                <a:solidFill>
                  <a:srgbClr val="000000"/>
                </a:solidFill>
                <a:latin typeface="Consolas"/>
              </a:rPr>
              <a:t> </a:t>
            </a:r>
            <a:r>
              <a:rPr lang="en-IE" sz="1600" b="1" dirty="0" err="1">
                <a:solidFill>
                  <a:srgbClr val="000000"/>
                </a:solidFill>
                <a:latin typeface="Consolas"/>
              </a:rPr>
              <a:t>DatagramPacket</a:t>
            </a:r>
            <a:r>
              <a:rPr lang="en-IE" sz="1600" b="1" dirty="0">
                <a:solidFill>
                  <a:srgbClr val="000000"/>
                </a:solidFill>
                <a:latin typeface="Consolas"/>
              </a:rPr>
              <a:t>(</a:t>
            </a:r>
            <a:r>
              <a:rPr lang="en-IE" sz="1600" b="1" dirty="0">
                <a:solidFill>
                  <a:srgbClr val="7F0055"/>
                </a:solidFill>
                <a:latin typeface="Consolas"/>
              </a:rPr>
              <a:t>new</a:t>
            </a:r>
            <a:r>
              <a:rPr lang="en-IE" sz="1600" b="1" dirty="0">
                <a:solidFill>
                  <a:srgbClr val="000000"/>
                </a:solidFill>
                <a:latin typeface="Consolas"/>
              </a:rPr>
              <a:t> </a:t>
            </a:r>
            <a:r>
              <a:rPr lang="en-IE" sz="1600" b="1" dirty="0">
                <a:solidFill>
                  <a:srgbClr val="7F0055"/>
                </a:solidFill>
                <a:latin typeface="Consolas"/>
              </a:rPr>
              <a:t>byte</a:t>
            </a:r>
            <a:r>
              <a:rPr lang="en-IE" sz="1600" b="1" dirty="0">
                <a:solidFill>
                  <a:srgbClr val="000000"/>
                </a:solidFill>
                <a:latin typeface="Consolas"/>
              </a:rPr>
              <a:t>[1024], 1024);</a:t>
            </a:r>
          </a:p>
          <a:p>
            <a:pPr marL="0" indent="0">
              <a:buNone/>
            </a:pPr>
            <a:r>
              <a:rPr lang="en-IE" sz="1600" dirty="0" err="1" smtClean="0">
                <a:solidFill>
                  <a:srgbClr val="6A3E3E"/>
                </a:solidFill>
                <a:latin typeface="Consolas"/>
              </a:rPr>
              <a:t>socket</a:t>
            </a:r>
            <a:r>
              <a:rPr lang="en-IE" sz="1600" dirty="0" err="1" smtClean="0">
                <a:solidFill>
                  <a:srgbClr val="000000"/>
                </a:solidFill>
                <a:latin typeface="Consolas"/>
              </a:rPr>
              <a:t>.send</a:t>
            </a:r>
            <a:r>
              <a:rPr lang="en-IE" sz="1600" dirty="0" smtClean="0">
                <a:solidFill>
                  <a:srgbClr val="000000"/>
                </a:solidFill>
                <a:latin typeface="Consolas"/>
              </a:rPr>
              <a:t>(</a:t>
            </a:r>
            <a:r>
              <a:rPr lang="en-IE" sz="1600" dirty="0" smtClean="0">
                <a:solidFill>
                  <a:srgbClr val="6A3E3E"/>
                </a:solidFill>
                <a:highlight>
                  <a:srgbClr val="D4D4D4"/>
                </a:highlight>
                <a:latin typeface="Consolas"/>
              </a:rPr>
              <a:t>request</a:t>
            </a:r>
            <a:r>
              <a:rPr lang="en-IE" sz="1600" dirty="0">
                <a:solidFill>
                  <a:srgbClr val="000000"/>
                </a:solidFill>
                <a:highlight>
                  <a:srgbClr val="D4D4D4"/>
                </a:highlight>
                <a:latin typeface="Consolas"/>
              </a:rPr>
              <a:t>);</a:t>
            </a:r>
          </a:p>
          <a:p>
            <a:pPr marL="0" indent="0">
              <a:buNone/>
            </a:pPr>
            <a:r>
              <a:rPr lang="en-IE" sz="1600" dirty="0" err="1" smtClean="0">
                <a:solidFill>
                  <a:srgbClr val="6A3E3E"/>
                </a:solidFill>
                <a:latin typeface="Consolas"/>
              </a:rPr>
              <a:t>socket</a:t>
            </a:r>
            <a:r>
              <a:rPr lang="en-IE" sz="1600" dirty="0" err="1" smtClean="0">
                <a:solidFill>
                  <a:srgbClr val="000000"/>
                </a:solidFill>
                <a:latin typeface="Consolas"/>
              </a:rPr>
              <a:t>.receive</a:t>
            </a:r>
            <a:r>
              <a:rPr lang="en-IE" sz="1600" dirty="0" smtClean="0">
                <a:solidFill>
                  <a:srgbClr val="000000"/>
                </a:solidFill>
                <a:latin typeface="Consolas"/>
              </a:rPr>
              <a:t>(</a:t>
            </a:r>
            <a:r>
              <a:rPr lang="en-IE" sz="1600" dirty="0" smtClean="0">
                <a:solidFill>
                  <a:srgbClr val="6A3E3E"/>
                </a:solidFill>
                <a:latin typeface="Consolas"/>
              </a:rPr>
              <a:t>response</a:t>
            </a:r>
            <a:r>
              <a:rPr lang="en-IE" sz="1600" dirty="0">
                <a:solidFill>
                  <a:srgbClr val="000000"/>
                </a:solidFill>
                <a:latin typeface="Consolas"/>
              </a:rPr>
              <a:t>);</a:t>
            </a:r>
          </a:p>
          <a:p>
            <a:pPr marL="0" indent="0">
              <a:buNone/>
            </a:pPr>
            <a:r>
              <a:rPr lang="en-IE" sz="1600" dirty="0" smtClean="0">
                <a:solidFill>
                  <a:srgbClr val="000000"/>
                </a:solidFill>
                <a:latin typeface="Consolas"/>
              </a:rPr>
              <a:t>String </a:t>
            </a:r>
            <a:r>
              <a:rPr lang="en-IE" sz="1600" dirty="0">
                <a:solidFill>
                  <a:srgbClr val="6A3E3E"/>
                </a:solidFill>
                <a:latin typeface="Consolas"/>
              </a:rPr>
              <a:t>result</a:t>
            </a:r>
            <a:r>
              <a:rPr lang="en-IE" sz="1600" dirty="0">
                <a:solidFill>
                  <a:srgbClr val="000000"/>
                </a:solidFill>
                <a:latin typeface="Consolas"/>
              </a:rPr>
              <a:t> = </a:t>
            </a:r>
            <a:r>
              <a:rPr lang="en-IE" sz="1600" b="1" dirty="0">
                <a:solidFill>
                  <a:srgbClr val="7F0055"/>
                </a:solidFill>
                <a:latin typeface="Consolas"/>
              </a:rPr>
              <a:t>new</a:t>
            </a:r>
            <a:r>
              <a:rPr lang="en-IE" sz="1600" b="1" dirty="0">
                <a:solidFill>
                  <a:srgbClr val="000000"/>
                </a:solidFill>
                <a:latin typeface="Consolas"/>
              </a:rPr>
              <a:t> String(</a:t>
            </a:r>
            <a:r>
              <a:rPr lang="en-IE" sz="1600" b="1" dirty="0" err="1">
                <a:solidFill>
                  <a:srgbClr val="6A3E3E"/>
                </a:solidFill>
                <a:latin typeface="Consolas"/>
              </a:rPr>
              <a:t>response</a:t>
            </a:r>
            <a:r>
              <a:rPr lang="en-IE" sz="1600" b="1" dirty="0" err="1">
                <a:solidFill>
                  <a:srgbClr val="000000"/>
                </a:solidFill>
                <a:latin typeface="Consolas"/>
              </a:rPr>
              <a:t>.getData</a:t>
            </a:r>
            <a:r>
              <a:rPr lang="en-IE" sz="1600" b="1" dirty="0">
                <a:solidFill>
                  <a:srgbClr val="000000"/>
                </a:solidFill>
                <a:latin typeface="Consolas"/>
              </a:rPr>
              <a:t>(), 0, </a:t>
            </a:r>
            <a:r>
              <a:rPr lang="en-IE" sz="1600" b="1" dirty="0" err="1">
                <a:solidFill>
                  <a:srgbClr val="6A3E3E"/>
                </a:solidFill>
                <a:latin typeface="Consolas"/>
              </a:rPr>
              <a:t>response</a:t>
            </a:r>
            <a:r>
              <a:rPr lang="en-IE" sz="1600" b="1" dirty="0" err="1">
                <a:solidFill>
                  <a:srgbClr val="000000"/>
                </a:solidFill>
                <a:latin typeface="Consolas"/>
              </a:rPr>
              <a:t>.getLength</a:t>
            </a:r>
            <a:r>
              <a:rPr lang="en-IE" sz="1600" b="1" dirty="0">
                <a:solidFill>
                  <a:srgbClr val="000000"/>
                </a:solidFill>
                <a:latin typeface="Consolas"/>
              </a:rPr>
              <a:t>(), </a:t>
            </a:r>
            <a:r>
              <a:rPr lang="en-IE" sz="1600" b="1" dirty="0">
                <a:solidFill>
                  <a:srgbClr val="2A00FF"/>
                </a:solidFill>
                <a:latin typeface="Consolas"/>
              </a:rPr>
              <a:t>"US-ASCII"</a:t>
            </a:r>
            <a:r>
              <a:rPr lang="en-IE" sz="1600" b="1" dirty="0">
                <a:solidFill>
                  <a:srgbClr val="000000"/>
                </a:solidFill>
                <a:latin typeface="Consolas"/>
              </a:rPr>
              <a:t>);</a:t>
            </a:r>
          </a:p>
          <a:p>
            <a:pPr marL="0" indent="0">
              <a:buNone/>
            </a:pPr>
            <a:r>
              <a:rPr lang="en-IE" sz="1600" dirty="0" err="1">
                <a:solidFill>
                  <a:srgbClr val="000000"/>
                </a:solidFill>
                <a:latin typeface="Consolas"/>
              </a:rPr>
              <a:t>System.</a:t>
            </a:r>
            <a:r>
              <a:rPr lang="en-IE" sz="1600" b="1" i="1" dirty="0" err="1">
                <a:solidFill>
                  <a:srgbClr val="0000C0"/>
                </a:solidFill>
                <a:latin typeface="Consolas"/>
              </a:rPr>
              <a:t>out</a:t>
            </a:r>
            <a:r>
              <a:rPr lang="en-IE" sz="1600" b="1" i="1" dirty="0" err="1">
                <a:solidFill>
                  <a:srgbClr val="000000"/>
                </a:solidFill>
                <a:latin typeface="Consolas"/>
              </a:rPr>
              <a:t>.println</a:t>
            </a:r>
            <a:r>
              <a:rPr lang="en-IE" sz="1600" b="1" i="1" dirty="0">
                <a:solidFill>
                  <a:srgbClr val="000000"/>
                </a:solidFill>
                <a:latin typeface="Consolas"/>
              </a:rPr>
              <a:t>(</a:t>
            </a:r>
            <a:r>
              <a:rPr lang="en-IE" sz="1600" b="1" i="1" dirty="0">
                <a:solidFill>
                  <a:srgbClr val="6A3E3E"/>
                </a:solidFill>
                <a:latin typeface="Consolas"/>
              </a:rPr>
              <a:t>result</a:t>
            </a:r>
            <a:r>
              <a:rPr lang="en-IE" sz="1600" b="1" i="1" dirty="0">
                <a:solidFill>
                  <a:srgbClr val="000000"/>
                </a:solidFill>
                <a:latin typeface="Consolas"/>
              </a:rPr>
              <a:t>);</a:t>
            </a:r>
          </a:p>
          <a:p>
            <a:pPr marL="0" indent="0">
              <a:buNone/>
            </a:pPr>
            <a:r>
              <a:rPr lang="en-IE" sz="1600" dirty="0">
                <a:solidFill>
                  <a:srgbClr val="000000"/>
                </a:solidFill>
                <a:latin typeface="Consolas"/>
              </a:rPr>
              <a:t>} </a:t>
            </a:r>
            <a:r>
              <a:rPr lang="en-IE" sz="1600" b="1" dirty="0">
                <a:solidFill>
                  <a:srgbClr val="7F0055"/>
                </a:solidFill>
                <a:latin typeface="Consolas"/>
              </a:rPr>
              <a:t>catch</a:t>
            </a:r>
            <a:r>
              <a:rPr lang="en-IE" sz="1600" b="1" dirty="0">
                <a:solidFill>
                  <a:srgbClr val="000000"/>
                </a:solidFill>
                <a:latin typeface="Consolas"/>
              </a:rPr>
              <a:t> (</a:t>
            </a:r>
            <a:r>
              <a:rPr lang="en-IE" sz="1600" b="1" dirty="0" err="1">
                <a:solidFill>
                  <a:srgbClr val="000000"/>
                </a:solidFill>
                <a:latin typeface="Consolas"/>
              </a:rPr>
              <a:t>IOException</a:t>
            </a:r>
            <a:r>
              <a:rPr lang="en-IE" sz="1600" b="1" dirty="0">
                <a:solidFill>
                  <a:srgbClr val="000000"/>
                </a:solidFill>
                <a:latin typeface="Consolas"/>
              </a:rPr>
              <a:t> </a:t>
            </a:r>
            <a:r>
              <a:rPr lang="en-IE" sz="1600" b="1" dirty="0">
                <a:solidFill>
                  <a:srgbClr val="6A3E3E"/>
                </a:solidFill>
                <a:latin typeface="Consolas"/>
              </a:rPr>
              <a:t>ex</a:t>
            </a:r>
            <a:r>
              <a:rPr lang="en-IE" sz="1600" b="1" dirty="0">
                <a:solidFill>
                  <a:srgbClr val="000000"/>
                </a:solidFill>
                <a:latin typeface="Consolas"/>
              </a:rPr>
              <a:t>) {</a:t>
            </a:r>
          </a:p>
          <a:p>
            <a:pPr marL="0" indent="0">
              <a:buNone/>
            </a:pPr>
            <a:r>
              <a:rPr lang="en-IE" sz="1600" dirty="0" err="1" smtClean="0">
                <a:solidFill>
                  <a:srgbClr val="6A3E3E"/>
                </a:solidFill>
                <a:latin typeface="Consolas"/>
              </a:rPr>
              <a:t>ex</a:t>
            </a:r>
            <a:r>
              <a:rPr lang="en-IE" sz="1600" dirty="0" err="1" smtClean="0">
                <a:solidFill>
                  <a:srgbClr val="000000"/>
                </a:solidFill>
                <a:latin typeface="Consolas"/>
              </a:rPr>
              <a:t>.printStackTrace</a:t>
            </a:r>
            <a:r>
              <a:rPr lang="en-IE" sz="1600" dirty="0">
                <a:solidFill>
                  <a:srgbClr val="000000"/>
                </a:solidFill>
                <a:latin typeface="Consolas"/>
              </a:rPr>
              <a:t>();</a:t>
            </a:r>
          </a:p>
          <a:p>
            <a:pPr marL="0" indent="0">
              <a:buNone/>
            </a:pPr>
            <a:r>
              <a:rPr lang="en-IE" sz="1600" dirty="0" smtClean="0">
                <a:solidFill>
                  <a:srgbClr val="000000"/>
                </a:solidFill>
                <a:latin typeface="Consolas"/>
              </a:rPr>
              <a:t>}}}</a:t>
            </a:r>
            <a:endParaRPr lang="en-US" altLang="en-US" sz="1600" dirty="0" smtClean="0"/>
          </a:p>
        </p:txBody>
      </p:sp>
    </p:spTree>
    <p:extLst>
      <p:ext uri="{BB962C8B-B14F-4D97-AF65-F5344CB8AC3E}">
        <p14:creationId xmlns:p14="http://schemas.microsoft.com/office/powerpoint/2010/main" val="15033224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457200" y="274638"/>
            <a:ext cx="8229600" cy="715962"/>
          </a:xfrm>
        </p:spPr>
        <p:txBody>
          <a:bodyPr>
            <a:normAutofit fontScale="90000"/>
          </a:bodyPr>
          <a:lstStyle/>
          <a:p>
            <a:r>
              <a:rPr lang="en-US" altLang="en-US" dirty="0" err="1" smtClean="0"/>
              <a:t>UDPDaytimeServer</a:t>
            </a:r>
            <a:endParaRPr lang="en-US" altLang="en-US" dirty="0" smtClean="0"/>
          </a:p>
        </p:txBody>
      </p:sp>
      <p:sp>
        <p:nvSpPr>
          <p:cNvPr id="45059" name="Rectangle 3"/>
          <p:cNvSpPr>
            <a:spLocks noGrp="1" noChangeArrowheads="1"/>
          </p:cNvSpPr>
          <p:nvPr>
            <p:ph idx="1"/>
          </p:nvPr>
        </p:nvSpPr>
        <p:spPr>
          <a:xfrm>
            <a:off x="0" y="914400"/>
            <a:ext cx="9144000" cy="4830763"/>
          </a:xfrm>
        </p:spPr>
        <p:txBody>
          <a:bodyPr>
            <a:noAutofit/>
          </a:bodyPr>
          <a:lstStyle/>
          <a:p>
            <a:pPr marL="0" indent="0">
              <a:buNone/>
            </a:pPr>
            <a:r>
              <a:rPr lang="en-IE" sz="1200" b="1" dirty="0">
                <a:solidFill>
                  <a:srgbClr val="7F0055"/>
                </a:solidFill>
                <a:latin typeface="Consolas"/>
              </a:rPr>
              <a:t>import</a:t>
            </a:r>
            <a:r>
              <a:rPr lang="en-IE" sz="1200" b="1" dirty="0">
                <a:solidFill>
                  <a:srgbClr val="000000"/>
                </a:solidFill>
                <a:latin typeface="Consolas"/>
              </a:rPr>
              <a:t> java.net.*;</a:t>
            </a:r>
          </a:p>
          <a:p>
            <a:pPr marL="0" indent="0">
              <a:buNone/>
            </a:pPr>
            <a:r>
              <a:rPr lang="en-IE" sz="1200" b="1" dirty="0">
                <a:solidFill>
                  <a:srgbClr val="7F0055"/>
                </a:solidFill>
                <a:latin typeface="Consolas"/>
              </a:rPr>
              <a:t>import</a:t>
            </a:r>
            <a:r>
              <a:rPr lang="en-IE" sz="1200" b="1" dirty="0">
                <a:solidFill>
                  <a:srgbClr val="000000"/>
                </a:solidFill>
                <a:latin typeface="Consolas"/>
              </a:rPr>
              <a:t> </a:t>
            </a:r>
            <a:r>
              <a:rPr lang="en-IE" sz="1200" b="1" dirty="0" err="1">
                <a:solidFill>
                  <a:srgbClr val="000000"/>
                </a:solidFill>
                <a:latin typeface="Consolas"/>
              </a:rPr>
              <a:t>java.util.Date</a:t>
            </a:r>
            <a:r>
              <a:rPr lang="en-IE" sz="1200" b="1" dirty="0">
                <a:solidFill>
                  <a:srgbClr val="000000"/>
                </a:solidFill>
                <a:latin typeface="Consolas"/>
              </a:rPr>
              <a:t>;</a:t>
            </a:r>
          </a:p>
          <a:p>
            <a:pPr marL="0" indent="0">
              <a:buNone/>
            </a:pPr>
            <a:r>
              <a:rPr lang="en-IE" sz="1200" b="1" dirty="0">
                <a:solidFill>
                  <a:srgbClr val="7F0055"/>
                </a:solidFill>
                <a:latin typeface="Consolas"/>
              </a:rPr>
              <a:t>import</a:t>
            </a:r>
            <a:r>
              <a:rPr lang="en-IE" sz="1200" b="1" dirty="0">
                <a:solidFill>
                  <a:srgbClr val="000000"/>
                </a:solidFill>
                <a:latin typeface="Consolas"/>
              </a:rPr>
              <a:t> </a:t>
            </a:r>
            <a:r>
              <a:rPr lang="en-IE" sz="1200" b="1" dirty="0" err="1">
                <a:solidFill>
                  <a:srgbClr val="000000"/>
                </a:solidFill>
                <a:latin typeface="Consolas"/>
              </a:rPr>
              <a:t>java.util.logging</a:t>
            </a:r>
            <a:r>
              <a:rPr lang="en-IE" sz="1200" b="1" dirty="0">
                <a:solidFill>
                  <a:srgbClr val="000000"/>
                </a:solidFill>
                <a:latin typeface="Consolas"/>
              </a:rPr>
              <a:t>.*;</a:t>
            </a:r>
          </a:p>
          <a:p>
            <a:pPr marL="0" indent="0">
              <a:buNone/>
            </a:pPr>
            <a:r>
              <a:rPr lang="en-IE" sz="1200" b="1" dirty="0">
                <a:solidFill>
                  <a:srgbClr val="7F0055"/>
                </a:solidFill>
                <a:latin typeface="Consolas"/>
              </a:rPr>
              <a:t>import</a:t>
            </a:r>
            <a:r>
              <a:rPr lang="en-IE" sz="1200" b="1" dirty="0">
                <a:solidFill>
                  <a:srgbClr val="000000"/>
                </a:solidFill>
                <a:latin typeface="Consolas"/>
              </a:rPr>
              <a:t> java.io.*;</a:t>
            </a:r>
          </a:p>
          <a:p>
            <a:pPr marL="0" indent="0">
              <a:buNone/>
            </a:pPr>
            <a:r>
              <a:rPr lang="en-IE" sz="1200" b="1" dirty="0">
                <a:solidFill>
                  <a:srgbClr val="7F0055"/>
                </a:solidFill>
                <a:latin typeface="Consolas"/>
              </a:rPr>
              <a:t>public</a:t>
            </a:r>
            <a:r>
              <a:rPr lang="en-IE" sz="1200" b="1" dirty="0">
                <a:solidFill>
                  <a:srgbClr val="000000"/>
                </a:solidFill>
                <a:latin typeface="Consolas"/>
              </a:rPr>
              <a:t> </a:t>
            </a:r>
            <a:r>
              <a:rPr lang="en-IE" sz="1200" b="1" dirty="0">
                <a:solidFill>
                  <a:srgbClr val="7F0055"/>
                </a:solidFill>
                <a:latin typeface="Consolas"/>
              </a:rPr>
              <a:t>class</a:t>
            </a:r>
            <a:r>
              <a:rPr lang="en-IE" sz="1200" b="1" dirty="0">
                <a:solidFill>
                  <a:srgbClr val="000000"/>
                </a:solidFill>
                <a:latin typeface="Consolas"/>
              </a:rPr>
              <a:t> </a:t>
            </a:r>
            <a:r>
              <a:rPr lang="en-IE" sz="1200" b="1" dirty="0" err="1">
                <a:solidFill>
                  <a:srgbClr val="000000"/>
                </a:solidFill>
                <a:latin typeface="Consolas"/>
              </a:rPr>
              <a:t>DaytimeUDPServer</a:t>
            </a:r>
            <a:r>
              <a:rPr lang="en-IE" sz="1200" b="1" dirty="0">
                <a:solidFill>
                  <a:srgbClr val="000000"/>
                </a:solidFill>
                <a:latin typeface="Consolas"/>
              </a:rPr>
              <a:t> {</a:t>
            </a:r>
          </a:p>
          <a:p>
            <a:pPr marL="0" indent="0">
              <a:buNone/>
            </a:pPr>
            <a:r>
              <a:rPr lang="en-IE" sz="1200" b="1" dirty="0">
                <a:solidFill>
                  <a:srgbClr val="7F0055"/>
                </a:solidFill>
                <a:latin typeface="Consolas"/>
              </a:rPr>
              <a:t>private</a:t>
            </a:r>
            <a:r>
              <a:rPr lang="en-IE" sz="1200" b="1" dirty="0">
                <a:solidFill>
                  <a:srgbClr val="000000"/>
                </a:solidFill>
                <a:latin typeface="Consolas"/>
              </a:rPr>
              <a:t> </a:t>
            </a:r>
            <a:r>
              <a:rPr lang="en-IE" sz="1200" b="1" dirty="0">
                <a:solidFill>
                  <a:srgbClr val="7F0055"/>
                </a:solidFill>
                <a:latin typeface="Consolas"/>
              </a:rPr>
              <a:t>final</a:t>
            </a:r>
            <a:r>
              <a:rPr lang="en-IE" sz="1200" b="1" dirty="0">
                <a:solidFill>
                  <a:srgbClr val="000000"/>
                </a:solidFill>
                <a:latin typeface="Consolas"/>
              </a:rPr>
              <a:t> </a:t>
            </a:r>
            <a:r>
              <a:rPr lang="en-IE" sz="1200" b="1" dirty="0">
                <a:solidFill>
                  <a:srgbClr val="7F0055"/>
                </a:solidFill>
                <a:latin typeface="Consolas"/>
              </a:rPr>
              <a:t>static</a:t>
            </a:r>
            <a:r>
              <a:rPr lang="en-IE" sz="1200" b="1" dirty="0">
                <a:solidFill>
                  <a:srgbClr val="000000"/>
                </a:solidFill>
                <a:latin typeface="Consolas"/>
              </a:rPr>
              <a:t> </a:t>
            </a:r>
            <a:r>
              <a:rPr lang="en-IE" sz="1200" b="1" dirty="0" err="1">
                <a:solidFill>
                  <a:srgbClr val="7F0055"/>
                </a:solidFill>
                <a:latin typeface="Consolas"/>
              </a:rPr>
              <a:t>int</a:t>
            </a:r>
            <a:r>
              <a:rPr lang="en-IE" sz="1200" b="1" dirty="0">
                <a:solidFill>
                  <a:srgbClr val="000000"/>
                </a:solidFill>
                <a:latin typeface="Consolas"/>
              </a:rPr>
              <a:t> </a:t>
            </a:r>
            <a:r>
              <a:rPr lang="en-IE" sz="1200" b="1" i="1" dirty="0">
                <a:solidFill>
                  <a:srgbClr val="0000C0"/>
                </a:solidFill>
                <a:latin typeface="Consolas"/>
              </a:rPr>
              <a:t>PORT</a:t>
            </a:r>
            <a:r>
              <a:rPr lang="en-IE" sz="1200" b="1" i="1" dirty="0">
                <a:solidFill>
                  <a:srgbClr val="000000"/>
                </a:solidFill>
                <a:latin typeface="Consolas"/>
              </a:rPr>
              <a:t> = 13;</a:t>
            </a:r>
          </a:p>
          <a:p>
            <a:pPr marL="0" indent="0">
              <a:buNone/>
            </a:pPr>
            <a:r>
              <a:rPr lang="en-IE" sz="1200" b="1" dirty="0">
                <a:solidFill>
                  <a:srgbClr val="7F0055"/>
                </a:solidFill>
                <a:latin typeface="Consolas"/>
              </a:rPr>
              <a:t>private</a:t>
            </a:r>
            <a:r>
              <a:rPr lang="en-IE" sz="1200" b="1" dirty="0">
                <a:solidFill>
                  <a:srgbClr val="000000"/>
                </a:solidFill>
                <a:latin typeface="Consolas"/>
              </a:rPr>
              <a:t> </a:t>
            </a:r>
            <a:r>
              <a:rPr lang="en-IE" sz="1200" b="1" dirty="0">
                <a:solidFill>
                  <a:srgbClr val="7F0055"/>
                </a:solidFill>
                <a:latin typeface="Consolas"/>
              </a:rPr>
              <a:t>final</a:t>
            </a:r>
            <a:r>
              <a:rPr lang="en-IE" sz="1200" b="1" dirty="0">
                <a:solidFill>
                  <a:srgbClr val="000000"/>
                </a:solidFill>
                <a:latin typeface="Consolas"/>
              </a:rPr>
              <a:t> </a:t>
            </a:r>
            <a:r>
              <a:rPr lang="en-IE" sz="1200" b="1" dirty="0">
                <a:solidFill>
                  <a:srgbClr val="7F0055"/>
                </a:solidFill>
                <a:latin typeface="Consolas"/>
              </a:rPr>
              <a:t>static</a:t>
            </a:r>
            <a:r>
              <a:rPr lang="en-IE" sz="1200" b="1" dirty="0">
                <a:solidFill>
                  <a:srgbClr val="000000"/>
                </a:solidFill>
                <a:latin typeface="Consolas"/>
              </a:rPr>
              <a:t> Logger </a:t>
            </a:r>
            <a:r>
              <a:rPr lang="en-IE" sz="1200" b="1" i="1" dirty="0">
                <a:solidFill>
                  <a:srgbClr val="0000C0"/>
                </a:solidFill>
                <a:latin typeface="Consolas"/>
              </a:rPr>
              <a:t>audit</a:t>
            </a:r>
            <a:r>
              <a:rPr lang="en-IE" sz="1200" b="1" i="1" dirty="0">
                <a:solidFill>
                  <a:srgbClr val="000000"/>
                </a:solidFill>
                <a:latin typeface="Consolas"/>
              </a:rPr>
              <a:t> = </a:t>
            </a:r>
            <a:r>
              <a:rPr lang="en-IE" sz="1200" b="1" i="1" dirty="0" err="1">
                <a:solidFill>
                  <a:srgbClr val="000000"/>
                </a:solidFill>
                <a:latin typeface="Consolas"/>
              </a:rPr>
              <a:t>Logger.getLogger</a:t>
            </a:r>
            <a:r>
              <a:rPr lang="en-IE" sz="1200" b="1" i="1" dirty="0">
                <a:solidFill>
                  <a:srgbClr val="000000"/>
                </a:solidFill>
                <a:latin typeface="Consolas"/>
              </a:rPr>
              <a:t>(</a:t>
            </a:r>
            <a:r>
              <a:rPr lang="en-IE" sz="1200" b="1" i="1" dirty="0">
                <a:solidFill>
                  <a:srgbClr val="2A00FF"/>
                </a:solidFill>
                <a:latin typeface="Consolas"/>
              </a:rPr>
              <a:t>"requests"</a:t>
            </a:r>
            <a:r>
              <a:rPr lang="en-IE" sz="1200" b="1" i="1" dirty="0">
                <a:solidFill>
                  <a:srgbClr val="000000"/>
                </a:solidFill>
                <a:latin typeface="Consolas"/>
              </a:rPr>
              <a:t>);</a:t>
            </a:r>
          </a:p>
          <a:p>
            <a:pPr marL="0" indent="0">
              <a:buNone/>
            </a:pPr>
            <a:r>
              <a:rPr lang="en-IE" sz="1200" b="1" dirty="0">
                <a:solidFill>
                  <a:srgbClr val="7F0055"/>
                </a:solidFill>
                <a:latin typeface="Consolas"/>
              </a:rPr>
              <a:t>private</a:t>
            </a:r>
            <a:r>
              <a:rPr lang="en-IE" sz="1200" b="1" dirty="0">
                <a:solidFill>
                  <a:srgbClr val="000000"/>
                </a:solidFill>
                <a:latin typeface="Consolas"/>
              </a:rPr>
              <a:t> </a:t>
            </a:r>
            <a:r>
              <a:rPr lang="en-IE" sz="1200" b="1" dirty="0">
                <a:solidFill>
                  <a:srgbClr val="7F0055"/>
                </a:solidFill>
                <a:latin typeface="Consolas"/>
              </a:rPr>
              <a:t>final</a:t>
            </a:r>
            <a:r>
              <a:rPr lang="en-IE" sz="1200" b="1" dirty="0">
                <a:solidFill>
                  <a:srgbClr val="000000"/>
                </a:solidFill>
                <a:latin typeface="Consolas"/>
              </a:rPr>
              <a:t> </a:t>
            </a:r>
            <a:r>
              <a:rPr lang="en-IE" sz="1200" b="1" dirty="0">
                <a:solidFill>
                  <a:srgbClr val="7F0055"/>
                </a:solidFill>
                <a:latin typeface="Consolas"/>
              </a:rPr>
              <a:t>static</a:t>
            </a:r>
            <a:r>
              <a:rPr lang="en-IE" sz="1200" b="1" dirty="0">
                <a:solidFill>
                  <a:srgbClr val="000000"/>
                </a:solidFill>
                <a:latin typeface="Consolas"/>
              </a:rPr>
              <a:t> Logger </a:t>
            </a:r>
            <a:r>
              <a:rPr lang="en-IE" sz="1200" b="1" i="1" dirty="0">
                <a:solidFill>
                  <a:srgbClr val="0000C0"/>
                </a:solidFill>
                <a:latin typeface="Consolas"/>
              </a:rPr>
              <a:t>errors</a:t>
            </a:r>
            <a:r>
              <a:rPr lang="en-IE" sz="1200" b="1" i="1" dirty="0">
                <a:solidFill>
                  <a:srgbClr val="000000"/>
                </a:solidFill>
                <a:latin typeface="Consolas"/>
              </a:rPr>
              <a:t> = </a:t>
            </a:r>
            <a:r>
              <a:rPr lang="en-IE" sz="1200" b="1" i="1" dirty="0" err="1">
                <a:solidFill>
                  <a:srgbClr val="000000"/>
                </a:solidFill>
                <a:latin typeface="Consolas"/>
              </a:rPr>
              <a:t>Logger.getLogger</a:t>
            </a:r>
            <a:r>
              <a:rPr lang="en-IE" sz="1200" b="1" i="1" dirty="0">
                <a:solidFill>
                  <a:srgbClr val="000000"/>
                </a:solidFill>
                <a:latin typeface="Consolas"/>
              </a:rPr>
              <a:t>(</a:t>
            </a:r>
            <a:r>
              <a:rPr lang="en-IE" sz="1200" b="1" i="1" dirty="0">
                <a:solidFill>
                  <a:srgbClr val="2A00FF"/>
                </a:solidFill>
                <a:latin typeface="Consolas"/>
              </a:rPr>
              <a:t>"errors"</a:t>
            </a:r>
            <a:r>
              <a:rPr lang="en-IE" sz="1200" b="1" i="1" dirty="0">
                <a:solidFill>
                  <a:srgbClr val="000000"/>
                </a:solidFill>
                <a:latin typeface="Consolas"/>
              </a:rPr>
              <a:t>);</a:t>
            </a:r>
          </a:p>
          <a:p>
            <a:pPr marL="0" indent="0">
              <a:buNone/>
            </a:pPr>
            <a:r>
              <a:rPr lang="en-IE" sz="1200" b="1" dirty="0">
                <a:solidFill>
                  <a:srgbClr val="7F0055"/>
                </a:solidFill>
                <a:latin typeface="Consolas"/>
              </a:rPr>
              <a:t>public</a:t>
            </a:r>
            <a:r>
              <a:rPr lang="en-IE" sz="1200" b="1" dirty="0">
                <a:solidFill>
                  <a:srgbClr val="000000"/>
                </a:solidFill>
                <a:latin typeface="Consolas"/>
              </a:rPr>
              <a:t> </a:t>
            </a:r>
            <a:r>
              <a:rPr lang="en-IE" sz="1200" b="1" dirty="0">
                <a:solidFill>
                  <a:srgbClr val="7F0055"/>
                </a:solidFill>
                <a:latin typeface="Consolas"/>
              </a:rPr>
              <a:t>static</a:t>
            </a:r>
            <a:r>
              <a:rPr lang="en-IE" sz="1200" b="1" dirty="0">
                <a:solidFill>
                  <a:srgbClr val="000000"/>
                </a:solidFill>
                <a:latin typeface="Consolas"/>
              </a:rPr>
              <a:t> </a:t>
            </a:r>
            <a:r>
              <a:rPr lang="en-IE" sz="1200" b="1" dirty="0">
                <a:solidFill>
                  <a:srgbClr val="7F0055"/>
                </a:solidFill>
                <a:latin typeface="Consolas"/>
              </a:rPr>
              <a:t>void</a:t>
            </a:r>
            <a:r>
              <a:rPr lang="en-IE" sz="1200" b="1" dirty="0">
                <a:solidFill>
                  <a:srgbClr val="000000"/>
                </a:solidFill>
                <a:latin typeface="Consolas"/>
              </a:rPr>
              <a:t> main(String[] </a:t>
            </a:r>
            <a:r>
              <a:rPr lang="en-IE" sz="1200" b="1" dirty="0" err="1">
                <a:solidFill>
                  <a:srgbClr val="6A3E3E"/>
                </a:solidFill>
                <a:latin typeface="Consolas"/>
              </a:rPr>
              <a:t>args</a:t>
            </a:r>
            <a:r>
              <a:rPr lang="en-IE" sz="1200" b="1" dirty="0">
                <a:solidFill>
                  <a:srgbClr val="000000"/>
                </a:solidFill>
                <a:latin typeface="Consolas"/>
              </a:rPr>
              <a:t>) {</a:t>
            </a:r>
          </a:p>
          <a:p>
            <a:pPr marL="0" indent="0">
              <a:buNone/>
            </a:pPr>
            <a:r>
              <a:rPr lang="en-IE" sz="1200" b="1" dirty="0">
                <a:solidFill>
                  <a:srgbClr val="7F0055"/>
                </a:solidFill>
                <a:latin typeface="Consolas"/>
              </a:rPr>
              <a:t>try</a:t>
            </a:r>
            <a:r>
              <a:rPr lang="en-IE" sz="1200" b="1" dirty="0">
                <a:solidFill>
                  <a:srgbClr val="000000"/>
                </a:solidFill>
                <a:latin typeface="Consolas"/>
              </a:rPr>
              <a:t> (</a:t>
            </a:r>
            <a:r>
              <a:rPr lang="en-IE" sz="1200" b="1" dirty="0" err="1">
                <a:solidFill>
                  <a:srgbClr val="000000"/>
                </a:solidFill>
                <a:latin typeface="Consolas"/>
              </a:rPr>
              <a:t>DatagramSocket</a:t>
            </a:r>
            <a:r>
              <a:rPr lang="en-IE" sz="1200" b="1" dirty="0">
                <a:solidFill>
                  <a:srgbClr val="000000"/>
                </a:solidFill>
                <a:latin typeface="Consolas"/>
              </a:rPr>
              <a:t> </a:t>
            </a:r>
            <a:r>
              <a:rPr lang="en-IE" sz="1200" b="1" dirty="0">
                <a:solidFill>
                  <a:srgbClr val="6A3E3E"/>
                </a:solidFill>
                <a:highlight>
                  <a:srgbClr val="F0D8A8"/>
                </a:highlight>
                <a:latin typeface="Consolas"/>
              </a:rPr>
              <a:t>socket</a:t>
            </a:r>
            <a:r>
              <a:rPr lang="en-IE" sz="1200" b="1" dirty="0">
                <a:solidFill>
                  <a:srgbClr val="000000"/>
                </a:solidFill>
                <a:highlight>
                  <a:srgbClr val="F0D8A8"/>
                </a:highlight>
                <a:latin typeface="Consolas"/>
              </a:rPr>
              <a:t> = </a:t>
            </a:r>
            <a:r>
              <a:rPr lang="en-IE" sz="1200" b="1" dirty="0">
                <a:solidFill>
                  <a:srgbClr val="7F0055"/>
                </a:solidFill>
                <a:highlight>
                  <a:srgbClr val="F0D8A8"/>
                </a:highlight>
                <a:latin typeface="Consolas"/>
              </a:rPr>
              <a:t>new</a:t>
            </a:r>
            <a:r>
              <a:rPr lang="en-IE" sz="1200" b="1" dirty="0">
                <a:solidFill>
                  <a:srgbClr val="000000"/>
                </a:solidFill>
                <a:highlight>
                  <a:srgbClr val="F0D8A8"/>
                </a:highlight>
                <a:latin typeface="Consolas"/>
              </a:rPr>
              <a:t> </a:t>
            </a:r>
            <a:r>
              <a:rPr lang="en-IE" sz="1200" b="1" dirty="0" err="1">
                <a:solidFill>
                  <a:srgbClr val="000000"/>
                </a:solidFill>
                <a:highlight>
                  <a:srgbClr val="F0D8A8"/>
                </a:highlight>
                <a:latin typeface="Consolas"/>
              </a:rPr>
              <a:t>DatagramSocket</a:t>
            </a:r>
            <a:r>
              <a:rPr lang="en-IE" sz="1200" b="1" dirty="0">
                <a:solidFill>
                  <a:srgbClr val="000000"/>
                </a:solidFill>
                <a:highlight>
                  <a:srgbClr val="F0D8A8"/>
                </a:highlight>
                <a:latin typeface="Consolas"/>
              </a:rPr>
              <a:t>(</a:t>
            </a:r>
            <a:r>
              <a:rPr lang="en-IE" sz="1200" b="1" i="1" dirty="0">
                <a:solidFill>
                  <a:srgbClr val="0000C0"/>
                </a:solidFill>
                <a:highlight>
                  <a:srgbClr val="F0D8A8"/>
                </a:highlight>
                <a:latin typeface="Consolas"/>
              </a:rPr>
              <a:t>PORT</a:t>
            </a:r>
            <a:r>
              <a:rPr lang="en-IE" sz="1200" b="1" i="1" dirty="0">
                <a:solidFill>
                  <a:srgbClr val="000000"/>
                </a:solidFill>
                <a:highlight>
                  <a:srgbClr val="F0D8A8"/>
                </a:highlight>
                <a:latin typeface="Consolas"/>
              </a:rPr>
              <a:t>)) {</a:t>
            </a:r>
          </a:p>
          <a:p>
            <a:pPr marL="0" indent="0">
              <a:buNone/>
            </a:pPr>
            <a:r>
              <a:rPr lang="en-IE" sz="1200" b="1" dirty="0">
                <a:solidFill>
                  <a:srgbClr val="7F0055"/>
                </a:solidFill>
                <a:latin typeface="Consolas"/>
              </a:rPr>
              <a:t>while</a:t>
            </a:r>
            <a:r>
              <a:rPr lang="en-IE" sz="1200" b="1" dirty="0">
                <a:solidFill>
                  <a:srgbClr val="000000"/>
                </a:solidFill>
                <a:latin typeface="Consolas"/>
              </a:rPr>
              <a:t> (</a:t>
            </a:r>
            <a:r>
              <a:rPr lang="en-IE" sz="1200" b="1" dirty="0">
                <a:solidFill>
                  <a:srgbClr val="7F0055"/>
                </a:solidFill>
                <a:latin typeface="Consolas"/>
              </a:rPr>
              <a:t>true</a:t>
            </a:r>
            <a:r>
              <a:rPr lang="en-IE" sz="1200" b="1" dirty="0">
                <a:solidFill>
                  <a:srgbClr val="000000"/>
                </a:solidFill>
                <a:latin typeface="Consolas"/>
              </a:rPr>
              <a:t>) {</a:t>
            </a:r>
          </a:p>
          <a:p>
            <a:pPr marL="0" indent="0">
              <a:buNone/>
            </a:pPr>
            <a:r>
              <a:rPr lang="en-IE" sz="1200" b="1" dirty="0">
                <a:solidFill>
                  <a:srgbClr val="7F0055"/>
                </a:solidFill>
                <a:latin typeface="Consolas"/>
              </a:rPr>
              <a:t>try</a:t>
            </a:r>
            <a:r>
              <a:rPr lang="en-IE" sz="1200" b="1" dirty="0">
                <a:solidFill>
                  <a:srgbClr val="000000"/>
                </a:solidFill>
                <a:latin typeface="Consolas"/>
              </a:rPr>
              <a:t> {</a:t>
            </a:r>
          </a:p>
          <a:p>
            <a:pPr marL="0" indent="0">
              <a:buNone/>
            </a:pPr>
            <a:r>
              <a:rPr lang="en-IE" sz="1200" dirty="0" err="1">
                <a:solidFill>
                  <a:srgbClr val="000000"/>
                </a:solidFill>
                <a:latin typeface="Consolas"/>
              </a:rPr>
              <a:t>DatagramPacket</a:t>
            </a:r>
            <a:r>
              <a:rPr lang="en-IE" sz="1200" dirty="0">
                <a:solidFill>
                  <a:srgbClr val="000000"/>
                </a:solidFill>
                <a:latin typeface="Consolas"/>
              </a:rPr>
              <a:t> </a:t>
            </a:r>
            <a:r>
              <a:rPr lang="en-IE" sz="1200" dirty="0">
                <a:solidFill>
                  <a:srgbClr val="6A3E3E"/>
                </a:solidFill>
                <a:latin typeface="Consolas"/>
              </a:rPr>
              <a:t>request</a:t>
            </a:r>
            <a:r>
              <a:rPr lang="en-IE" sz="1200" dirty="0">
                <a:solidFill>
                  <a:srgbClr val="000000"/>
                </a:solidFill>
                <a:latin typeface="Consolas"/>
              </a:rPr>
              <a:t> = </a:t>
            </a:r>
            <a:r>
              <a:rPr lang="en-IE" sz="1200" b="1" dirty="0">
                <a:solidFill>
                  <a:srgbClr val="7F0055"/>
                </a:solidFill>
                <a:latin typeface="Consolas"/>
              </a:rPr>
              <a:t>new</a:t>
            </a:r>
            <a:r>
              <a:rPr lang="en-IE" sz="1200" b="1" dirty="0">
                <a:solidFill>
                  <a:srgbClr val="000000"/>
                </a:solidFill>
                <a:latin typeface="Consolas"/>
              </a:rPr>
              <a:t> </a:t>
            </a:r>
            <a:r>
              <a:rPr lang="en-IE" sz="1200" b="1" dirty="0" err="1">
                <a:solidFill>
                  <a:srgbClr val="000000"/>
                </a:solidFill>
                <a:latin typeface="Consolas"/>
              </a:rPr>
              <a:t>DatagramPacket</a:t>
            </a:r>
            <a:r>
              <a:rPr lang="en-IE" sz="1200" b="1" dirty="0">
                <a:solidFill>
                  <a:srgbClr val="000000"/>
                </a:solidFill>
                <a:latin typeface="Consolas"/>
              </a:rPr>
              <a:t>(</a:t>
            </a:r>
            <a:r>
              <a:rPr lang="en-IE" sz="1200" b="1" dirty="0">
                <a:solidFill>
                  <a:srgbClr val="7F0055"/>
                </a:solidFill>
                <a:latin typeface="Consolas"/>
              </a:rPr>
              <a:t>new</a:t>
            </a:r>
            <a:r>
              <a:rPr lang="en-IE" sz="1200" b="1" dirty="0">
                <a:solidFill>
                  <a:srgbClr val="000000"/>
                </a:solidFill>
                <a:latin typeface="Consolas"/>
              </a:rPr>
              <a:t> </a:t>
            </a:r>
            <a:r>
              <a:rPr lang="en-IE" sz="1200" b="1" dirty="0">
                <a:solidFill>
                  <a:srgbClr val="7F0055"/>
                </a:solidFill>
                <a:latin typeface="Consolas"/>
              </a:rPr>
              <a:t>byte</a:t>
            </a:r>
            <a:r>
              <a:rPr lang="en-IE" sz="1200" b="1" dirty="0">
                <a:solidFill>
                  <a:srgbClr val="000000"/>
                </a:solidFill>
                <a:latin typeface="Consolas"/>
              </a:rPr>
              <a:t>[1024], 1024);</a:t>
            </a:r>
          </a:p>
          <a:p>
            <a:pPr marL="0" indent="0">
              <a:buNone/>
            </a:pPr>
            <a:r>
              <a:rPr lang="en-IE" sz="1200" dirty="0" err="1">
                <a:solidFill>
                  <a:srgbClr val="6A3E3E"/>
                </a:solidFill>
                <a:highlight>
                  <a:srgbClr val="D4D4D4"/>
                </a:highlight>
                <a:latin typeface="Consolas"/>
              </a:rPr>
              <a:t>socket</a:t>
            </a:r>
            <a:r>
              <a:rPr lang="en-IE" sz="1200" dirty="0" err="1">
                <a:solidFill>
                  <a:srgbClr val="000000"/>
                </a:solidFill>
                <a:highlight>
                  <a:srgbClr val="D4D4D4"/>
                </a:highlight>
                <a:latin typeface="Consolas"/>
              </a:rPr>
              <a:t>.receive</a:t>
            </a:r>
            <a:r>
              <a:rPr lang="en-IE" sz="1200" dirty="0">
                <a:solidFill>
                  <a:srgbClr val="000000"/>
                </a:solidFill>
                <a:highlight>
                  <a:srgbClr val="D4D4D4"/>
                </a:highlight>
                <a:latin typeface="Consolas"/>
              </a:rPr>
              <a:t>(</a:t>
            </a:r>
            <a:r>
              <a:rPr lang="en-IE" sz="1200" dirty="0">
                <a:solidFill>
                  <a:srgbClr val="6A3E3E"/>
                </a:solidFill>
                <a:highlight>
                  <a:srgbClr val="D4D4D4"/>
                </a:highlight>
                <a:latin typeface="Consolas"/>
              </a:rPr>
              <a:t>request</a:t>
            </a:r>
            <a:r>
              <a:rPr lang="en-IE" sz="1200" dirty="0">
                <a:solidFill>
                  <a:srgbClr val="000000"/>
                </a:solidFill>
                <a:highlight>
                  <a:srgbClr val="D4D4D4"/>
                </a:highlight>
                <a:latin typeface="Consolas"/>
              </a:rPr>
              <a:t>);</a:t>
            </a:r>
          </a:p>
          <a:p>
            <a:pPr marL="0" indent="0">
              <a:buNone/>
            </a:pPr>
            <a:r>
              <a:rPr lang="en-IE" sz="1200" dirty="0">
                <a:solidFill>
                  <a:srgbClr val="000000"/>
                </a:solidFill>
                <a:latin typeface="Consolas"/>
              </a:rPr>
              <a:t>String </a:t>
            </a:r>
            <a:r>
              <a:rPr lang="en-IE" sz="1200" dirty="0">
                <a:solidFill>
                  <a:srgbClr val="6A3E3E"/>
                </a:solidFill>
                <a:latin typeface="Consolas"/>
              </a:rPr>
              <a:t>daytime</a:t>
            </a:r>
            <a:r>
              <a:rPr lang="en-IE" sz="1200" dirty="0">
                <a:solidFill>
                  <a:srgbClr val="000000"/>
                </a:solidFill>
                <a:latin typeface="Consolas"/>
              </a:rPr>
              <a:t> = </a:t>
            </a:r>
            <a:r>
              <a:rPr lang="en-IE" sz="1200" b="1" dirty="0">
                <a:solidFill>
                  <a:srgbClr val="7F0055"/>
                </a:solidFill>
                <a:latin typeface="Consolas"/>
              </a:rPr>
              <a:t>new</a:t>
            </a:r>
            <a:r>
              <a:rPr lang="en-IE" sz="1200" b="1" dirty="0">
                <a:solidFill>
                  <a:srgbClr val="000000"/>
                </a:solidFill>
                <a:latin typeface="Consolas"/>
              </a:rPr>
              <a:t> Date().</a:t>
            </a:r>
            <a:r>
              <a:rPr lang="en-IE" sz="1200" b="1" dirty="0" err="1">
                <a:solidFill>
                  <a:srgbClr val="000000"/>
                </a:solidFill>
                <a:latin typeface="Consolas"/>
              </a:rPr>
              <a:t>toString</a:t>
            </a:r>
            <a:r>
              <a:rPr lang="en-IE" sz="1200" b="1" dirty="0">
                <a:solidFill>
                  <a:srgbClr val="000000"/>
                </a:solidFill>
                <a:latin typeface="Consolas"/>
              </a:rPr>
              <a:t>();</a:t>
            </a:r>
          </a:p>
          <a:p>
            <a:pPr marL="0" indent="0">
              <a:buNone/>
            </a:pPr>
            <a:r>
              <a:rPr lang="en-IE" sz="1200" b="1" dirty="0">
                <a:solidFill>
                  <a:srgbClr val="7F0055"/>
                </a:solidFill>
                <a:latin typeface="Consolas"/>
              </a:rPr>
              <a:t>byte</a:t>
            </a:r>
            <a:r>
              <a:rPr lang="en-IE" sz="1200" b="1" dirty="0">
                <a:solidFill>
                  <a:srgbClr val="000000"/>
                </a:solidFill>
                <a:latin typeface="Consolas"/>
              </a:rPr>
              <a:t>[] </a:t>
            </a:r>
            <a:r>
              <a:rPr lang="en-IE" sz="1200" b="1" dirty="0">
                <a:solidFill>
                  <a:srgbClr val="6A3E3E"/>
                </a:solidFill>
                <a:latin typeface="Consolas"/>
              </a:rPr>
              <a:t>data</a:t>
            </a:r>
            <a:r>
              <a:rPr lang="en-IE" sz="1200" b="1" dirty="0">
                <a:solidFill>
                  <a:srgbClr val="000000"/>
                </a:solidFill>
                <a:latin typeface="Consolas"/>
              </a:rPr>
              <a:t> = </a:t>
            </a:r>
            <a:r>
              <a:rPr lang="en-IE" sz="1200" b="1" dirty="0" err="1">
                <a:solidFill>
                  <a:srgbClr val="6A3E3E"/>
                </a:solidFill>
                <a:latin typeface="Consolas"/>
              </a:rPr>
              <a:t>daytime</a:t>
            </a:r>
            <a:r>
              <a:rPr lang="en-IE" sz="1200" b="1" dirty="0" err="1">
                <a:solidFill>
                  <a:srgbClr val="000000"/>
                </a:solidFill>
                <a:latin typeface="Consolas"/>
              </a:rPr>
              <a:t>.getBytes</a:t>
            </a:r>
            <a:r>
              <a:rPr lang="en-IE" sz="1200" b="1" dirty="0">
                <a:solidFill>
                  <a:srgbClr val="000000"/>
                </a:solidFill>
                <a:latin typeface="Consolas"/>
              </a:rPr>
              <a:t>(</a:t>
            </a:r>
            <a:r>
              <a:rPr lang="en-IE" sz="1200" b="1" dirty="0">
                <a:solidFill>
                  <a:srgbClr val="2A00FF"/>
                </a:solidFill>
                <a:latin typeface="Consolas"/>
              </a:rPr>
              <a:t>"US-ASCII"</a:t>
            </a:r>
            <a:r>
              <a:rPr lang="en-IE" sz="1200" b="1" dirty="0">
                <a:solidFill>
                  <a:srgbClr val="000000"/>
                </a:solidFill>
                <a:latin typeface="Consolas"/>
              </a:rPr>
              <a:t>);</a:t>
            </a:r>
          </a:p>
          <a:p>
            <a:pPr marL="0" indent="0">
              <a:buNone/>
            </a:pPr>
            <a:r>
              <a:rPr lang="en-IE" sz="1200" dirty="0" err="1">
                <a:solidFill>
                  <a:srgbClr val="000000"/>
                </a:solidFill>
                <a:latin typeface="Consolas"/>
              </a:rPr>
              <a:t>DatagramPacket</a:t>
            </a:r>
            <a:r>
              <a:rPr lang="en-IE" sz="1200" dirty="0">
                <a:solidFill>
                  <a:srgbClr val="000000"/>
                </a:solidFill>
                <a:latin typeface="Consolas"/>
              </a:rPr>
              <a:t> </a:t>
            </a:r>
            <a:r>
              <a:rPr lang="en-IE" sz="1200" dirty="0">
                <a:solidFill>
                  <a:srgbClr val="6A3E3E"/>
                </a:solidFill>
                <a:latin typeface="Consolas"/>
              </a:rPr>
              <a:t>response</a:t>
            </a:r>
            <a:r>
              <a:rPr lang="en-IE" sz="1200" dirty="0">
                <a:solidFill>
                  <a:srgbClr val="000000"/>
                </a:solidFill>
                <a:latin typeface="Consolas"/>
              </a:rPr>
              <a:t> = </a:t>
            </a:r>
            <a:r>
              <a:rPr lang="en-IE" sz="1200" b="1" dirty="0">
                <a:solidFill>
                  <a:srgbClr val="7F0055"/>
                </a:solidFill>
                <a:latin typeface="Consolas"/>
              </a:rPr>
              <a:t>new</a:t>
            </a:r>
            <a:r>
              <a:rPr lang="en-IE" sz="1200" b="1" dirty="0">
                <a:solidFill>
                  <a:srgbClr val="000000"/>
                </a:solidFill>
                <a:latin typeface="Consolas"/>
              </a:rPr>
              <a:t> </a:t>
            </a:r>
            <a:r>
              <a:rPr lang="en-IE" sz="1200" b="1" dirty="0" err="1">
                <a:solidFill>
                  <a:srgbClr val="000000"/>
                </a:solidFill>
                <a:latin typeface="Consolas"/>
              </a:rPr>
              <a:t>DatagramPacket</a:t>
            </a:r>
            <a:r>
              <a:rPr lang="en-IE" sz="1200" b="1" dirty="0">
                <a:solidFill>
                  <a:srgbClr val="000000"/>
                </a:solidFill>
                <a:latin typeface="Consolas"/>
              </a:rPr>
              <a:t>(</a:t>
            </a:r>
            <a:r>
              <a:rPr lang="en-IE" sz="1200" b="1" dirty="0">
                <a:solidFill>
                  <a:srgbClr val="6A3E3E"/>
                </a:solidFill>
                <a:latin typeface="Consolas"/>
              </a:rPr>
              <a:t>data</a:t>
            </a:r>
            <a:r>
              <a:rPr lang="en-IE" sz="1200" b="1" dirty="0">
                <a:solidFill>
                  <a:srgbClr val="000000"/>
                </a:solidFill>
                <a:latin typeface="Consolas"/>
              </a:rPr>
              <a:t>, </a:t>
            </a:r>
            <a:r>
              <a:rPr lang="en-IE" sz="1200" b="1" dirty="0" err="1">
                <a:solidFill>
                  <a:srgbClr val="6A3E3E"/>
                </a:solidFill>
                <a:latin typeface="Consolas"/>
              </a:rPr>
              <a:t>data</a:t>
            </a:r>
            <a:r>
              <a:rPr lang="en-IE" sz="1200" b="1" dirty="0" err="1">
                <a:solidFill>
                  <a:srgbClr val="000000"/>
                </a:solidFill>
                <a:latin typeface="Consolas"/>
              </a:rPr>
              <a:t>.</a:t>
            </a:r>
            <a:r>
              <a:rPr lang="en-IE" sz="1200" b="1" dirty="0" err="1">
                <a:solidFill>
                  <a:srgbClr val="0000C0"/>
                </a:solidFill>
                <a:latin typeface="Consolas"/>
              </a:rPr>
              <a:t>length</a:t>
            </a:r>
            <a:r>
              <a:rPr lang="en-IE" sz="1200" b="1" dirty="0">
                <a:solidFill>
                  <a:srgbClr val="000000"/>
                </a:solidFill>
                <a:latin typeface="Consolas"/>
              </a:rPr>
              <a:t>,</a:t>
            </a:r>
          </a:p>
          <a:p>
            <a:pPr marL="0" indent="0">
              <a:buNone/>
            </a:pPr>
            <a:r>
              <a:rPr lang="en-IE" sz="1200" dirty="0" err="1">
                <a:solidFill>
                  <a:srgbClr val="6A3E3E"/>
                </a:solidFill>
                <a:latin typeface="Consolas"/>
              </a:rPr>
              <a:t>request</a:t>
            </a:r>
            <a:r>
              <a:rPr lang="en-IE" sz="1200" dirty="0" err="1">
                <a:solidFill>
                  <a:srgbClr val="000000"/>
                </a:solidFill>
                <a:latin typeface="Consolas"/>
              </a:rPr>
              <a:t>.getAddress</a:t>
            </a:r>
            <a:r>
              <a:rPr lang="en-IE" sz="1200" dirty="0">
                <a:solidFill>
                  <a:srgbClr val="000000"/>
                </a:solidFill>
                <a:latin typeface="Consolas"/>
              </a:rPr>
              <a:t>(), </a:t>
            </a:r>
            <a:r>
              <a:rPr lang="en-IE" sz="1200" dirty="0" err="1">
                <a:solidFill>
                  <a:srgbClr val="6A3E3E"/>
                </a:solidFill>
                <a:latin typeface="Consolas"/>
              </a:rPr>
              <a:t>request</a:t>
            </a:r>
            <a:r>
              <a:rPr lang="en-IE" sz="1200" dirty="0" err="1">
                <a:solidFill>
                  <a:srgbClr val="000000"/>
                </a:solidFill>
                <a:latin typeface="Consolas"/>
              </a:rPr>
              <a:t>.getPort</a:t>
            </a:r>
            <a:r>
              <a:rPr lang="en-IE" sz="1200" dirty="0">
                <a:solidFill>
                  <a:srgbClr val="000000"/>
                </a:solidFill>
                <a:latin typeface="Consolas"/>
              </a:rPr>
              <a:t>());</a:t>
            </a:r>
          </a:p>
          <a:p>
            <a:pPr marL="0" indent="0">
              <a:buNone/>
            </a:pPr>
            <a:r>
              <a:rPr lang="en-IE" sz="1200" dirty="0" err="1">
                <a:solidFill>
                  <a:srgbClr val="6A3E3E"/>
                </a:solidFill>
                <a:highlight>
                  <a:srgbClr val="D4D4D4"/>
                </a:highlight>
                <a:latin typeface="Consolas"/>
              </a:rPr>
              <a:t>socket</a:t>
            </a:r>
            <a:r>
              <a:rPr lang="en-IE" sz="1200" dirty="0" err="1">
                <a:solidFill>
                  <a:srgbClr val="000000"/>
                </a:solidFill>
                <a:highlight>
                  <a:srgbClr val="D4D4D4"/>
                </a:highlight>
                <a:latin typeface="Consolas"/>
              </a:rPr>
              <a:t>.send</a:t>
            </a:r>
            <a:r>
              <a:rPr lang="en-IE" sz="1200" dirty="0">
                <a:solidFill>
                  <a:srgbClr val="000000"/>
                </a:solidFill>
                <a:highlight>
                  <a:srgbClr val="D4D4D4"/>
                </a:highlight>
                <a:latin typeface="Consolas"/>
              </a:rPr>
              <a:t>(</a:t>
            </a:r>
            <a:r>
              <a:rPr lang="en-IE" sz="1200" dirty="0">
                <a:solidFill>
                  <a:srgbClr val="6A3E3E"/>
                </a:solidFill>
                <a:highlight>
                  <a:srgbClr val="D4D4D4"/>
                </a:highlight>
                <a:latin typeface="Consolas"/>
              </a:rPr>
              <a:t>response</a:t>
            </a:r>
            <a:r>
              <a:rPr lang="en-IE" sz="1200" dirty="0">
                <a:solidFill>
                  <a:srgbClr val="000000"/>
                </a:solidFill>
                <a:highlight>
                  <a:srgbClr val="D4D4D4"/>
                </a:highlight>
                <a:latin typeface="Consolas"/>
              </a:rPr>
              <a:t>);</a:t>
            </a:r>
          </a:p>
          <a:p>
            <a:pPr marL="0" indent="0">
              <a:buNone/>
            </a:pPr>
            <a:r>
              <a:rPr lang="en-IE" sz="1200" b="1" i="1" dirty="0">
                <a:solidFill>
                  <a:srgbClr val="0000C0"/>
                </a:solidFill>
                <a:latin typeface="Consolas"/>
              </a:rPr>
              <a:t>audit</a:t>
            </a:r>
            <a:r>
              <a:rPr lang="en-IE" sz="1200" b="1" i="1" dirty="0">
                <a:solidFill>
                  <a:srgbClr val="000000"/>
                </a:solidFill>
                <a:latin typeface="Consolas"/>
              </a:rPr>
              <a:t>.info(</a:t>
            </a:r>
            <a:r>
              <a:rPr lang="en-IE" sz="1200" b="1" i="1" dirty="0">
                <a:solidFill>
                  <a:srgbClr val="6A3E3E"/>
                </a:solidFill>
                <a:latin typeface="Consolas"/>
              </a:rPr>
              <a:t>daytime</a:t>
            </a:r>
            <a:r>
              <a:rPr lang="en-IE" sz="1200" b="1" i="1" dirty="0">
                <a:solidFill>
                  <a:srgbClr val="000000"/>
                </a:solidFill>
                <a:latin typeface="Consolas"/>
              </a:rPr>
              <a:t> + </a:t>
            </a:r>
            <a:r>
              <a:rPr lang="en-IE" sz="1200" b="1" i="1" dirty="0">
                <a:solidFill>
                  <a:srgbClr val="2A00FF"/>
                </a:solidFill>
                <a:latin typeface="Consolas"/>
              </a:rPr>
              <a:t>" "</a:t>
            </a:r>
            <a:r>
              <a:rPr lang="en-IE" sz="1200" b="1" i="1" dirty="0">
                <a:solidFill>
                  <a:srgbClr val="000000"/>
                </a:solidFill>
                <a:latin typeface="Consolas"/>
              </a:rPr>
              <a:t> + </a:t>
            </a:r>
            <a:r>
              <a:rPr lang="en-IE" sz="1200" b="1" i="1" dirty="0" err="1">
                <a:solidFill>
                  <a:srgbClr val="6A3E3E"/>
                </a:solidFill>
                <a:latin typeface="Consolas"/>
              </a:rPr>
              <a:t>request</a:t>
            </a:r>
            <a:r>
              <a:rPr lang="en-IE" sz="1200" b="1" i="1" dirty="0" err="1">
                <a:solidFill>
                  <a:srgbClr val="000000"/>
                </a:solidFill>
                <a:latin typeface="Consolas"/>
              </a:rPr>
              <a:t>.getAddress</a:t>
            </a:r>
            <a:r>
              <a:rPr lang="en-IE" sz="1200" b="1" i="1" dirty="0">
                <a:solidFill>
                  <a:srgbClr val="000000"/>
                </a:solidFill>
                <a:latin typeface="Consolas"/>
              </a:rPr>
              <a:t>());</a:t>
            </a:r>
          </a:p>
          <a:p>
            <a:pPr marL="0" indent="0">
              <a:buNone/>
            </a:pPr>
            <a:r>
              <a:rPr lang="en-IE" sz="1200" dirty="0">
                <a:solidFill>
                  <a:srgbClr val="000000"/>
                </a:solidFill>
                <a:latin typeface="Consolas"/>
              </a:rPr>
              <a:t>} </a:t>
            </a:r>
            <a:r>
              <a:rPr lang="en-IE" sz="1200" b="1" dirty="0">
                <a:solidFill>
                  <a:srgbClr val="7F0055"/>
                </a:solidFill>
                <a:latin typeface="Consolas"/>
              </a:rPr>
              <a:t>catch</a:t>
            </a:r>
            <a:r>
              <a:rPr lang="en-IE" sz="1200" b="1" dirty="0">
                <a:solidFill>
                  <a:srgbClr val="000000"/>
                </a:solidFill>
                <a:latin typeface="Consolas"/>
              </a:rPr>
              <a:t> (</a:t>
            </a:r>
            <a:r>
              <a:rPr lang="en-IE" sz="1200" b="1" dirty="0" err="1">
                <a:solidFill>
                  <a:srgbClr val="000000"/>
                </a:solidFill>
                <a:latin typeface="Consolas"/>
              </a:rPr>
              <a:t>IOException</a:t>
            </a:r>
            <a:r>
              <a:rPr lang="en-IE" sz="1200" b="1" dirty="0">
                <a:solidFill>
                  <a:srgbClr val="000000"/>
                </a:solidFill>
                <a:latin typeface="Consolas"/>
              </a:rPr>
              <a:t> | </a:t>
            </a:r>
            <a:r>
              <a:rPr lang="en-IE" sz="1200" b="1" dirty="0" err="1">
                <a:solidFill>
                  <a:srgbClr val="000000"/>
                </a:solidFill>
                <a:latin typeface="Consolas"/>
              </a:rPr>
              <a:t>RuntimeException</a:t>
            </a:r>
            <a:r>
              <a:rPr lang="en-IE" sz="1200" b="1" dirty="0">
                <a:solidFill>
                  <a:srgbClr val="000000"/>
                </a:solidFill>
                <a:latin typeface="Consolas"/>
              </a:rPr>
              <a:t> </a:t>
            </a:r>
            <a:r>
              <a:rPr lang="en-IE" sz="1200" b="1" dirty="0">
                <a:solidFill>
                  <a:srgbClr val="6A3E3E"/>
                </a:solidFill>
                <a:latin typeface="Consolas"/>
              </a:rPr>
              <a:t>ex</a:t>
            </a:r>
            <a:r>
              <a:rPr lang="en-IE" sz="1200" b="1" dirty="0">
                <a:solidFill>
                  <a:srgbClr val="000000"/>
                </a:solidFill>
                <a:latin typeface="Consolas"/>
              </a:rPr>
              <a:t>) {</a:t>
            </a:r>
          </a:p>
          <a:p>
            <a:pPr marL="0" indent="0">
              <a:buNone/>
            </a:pPr>
            <a:r>
              <a:rPr lang="en-IE" sz="1200" b="1" i="1" dirty="0">
                <a:solidFill>
                  <a:srgbClr val="0000C0"/>
                </a:solidFill>
                <a:latin typeface="Consolas"/>
              </a:rPr>
              <a:t>errors</a:t>
            </a:r>
            <a:r>
              <a:rPr lang="en-IE" sz="1200" b="1" i="1" dirty="0">
                <a:solidFill>
                  <a:srgbClr val="000000"/>
                </a:solidFill>
                <a:latin typeface="Consolas"/>
              </a:rPr>
              <a:t>.log(</a:t>
            </a:r>
            <a:r>
              <a:rPr lang="en-IE" sz="1200" b="1" i="1" dirty="0" err="1">
                <a:solidFill>
                  <a:srgbClr val="000000"/>
                </a:solidFill>
                <a:latin typeface="Consolas"/>
              </a:rPr>
              <a:t>Level.</a:t>
            </a:r>
            <a:r>
              <a:rPr lang="en-IE" sz="1200" b="1" i="1" dirty="0" err="1">
                <a:solidFill>
                  <a:srgbClr val="0000C0"/>
                </a:solidFill>
                <a:latin typeface="Consolas"/>
              </a:rPr>
              <a:t>SEVERE</a:t>
            </a:r>
            <a:r>
              <a:rPr lang="en-IE" sz="1200" b="1" i="1" dirty="0">
                <a:solidFill>
                  <a:srgbClr val="000000"/>
                </a:solidFill>
                <a:latin typeface="Consolas"/>
              </a:rPr>
              <a:t>, </a:t>
            </a:r>
            <a:r>
              <a:rPr lang="en-IE" sz="1200" b="1" i="1" dirty="0" err="1">
                <a:solidFill>
                  <a:srgbClr val="6A3E3E"/>
                </a:solidFill>
                <a:latin typeface="Consolas"/>
              </a:rPr>
              <a:t>ex</a:t>
            </a:r>
            <a:r>
              <a:rPr lang="en-IE" sz="1200" b="1" i="1" dirty="0" err="1">
                <a:solidFill>
                  <a:srgbClr val="000000"/>
                </a:solidFill>
                <a:latin typeface="Consolas"/>
              </a:rPr>
              <a:t>.getMessage</a:t>
            </a:r>
            <a:r>
              <a:rPr lang="en-IE" sz="1200" b="1" i="1" dirty="0">
                <a:solidFill>
                  <a:srgbClr val="000000"/>
                </a:solidFill>
                <a:latin typeface="Consolas"/>
              </a:rPr>
              <a:t>(), </a:t>
            </a:r>
            <a:r>
              <a:rPr lang="en-IE" sz="1200" b="1" i="1" dirty="0">
                <a:solidFill>
                  <a:srgbClr val="6A3E3E"/>
                </a:solidFill>
                <a:latin typeface="Consolas"/>
              </a:rPr>
              <a:t>ex</a:t>
            </a:r>
            <a:r>
              <a:rPr lang="en-IE" sz="1200" b="1" i="1" dirty="0">
                <a:solidFill>
                  <a:srgbClr val="000000"/>
                </a:solidFill>
                <a:latin typeface="Consolas"/>
              </a:rPr>
              <a:t>);</a:t>
            </a:r>
          </a:p>
          <a:p>
            <a:pPr marL="0" indent="0">
              <a:buNone/>
            </a:pPr>
            <a:r>
              <a:rPr lang="en-IE" sz="1200" dirty="0" smtClean="0">
                <a:solidFill>
                  <a:srgbClr val="000000"/>
                </a:solidFill>
                <a:latin typeface="Consolas"/>
              </a:rPr>
              <a:t>}}} </a:t>
            </a:r>
            <a:r>
              <a:rPr lang="en-IE" sz="1200" b="1" dirty="0">
                <a:solidFill>
                  <a:srgbClr val="7F0055"/>
                </a:solidFill>
                <a:latin typeface="Consolas"/>
              </a:rPr>
              <a:t>catch</a:t>
            </a:r>
            <a:r>
              <a:rPr lang="en-IE" sz="1200" b="1" dirty="0">
                <a:solidFill>
                  <a:srgbClr val="000000"/>
                </a:solidFill>
                <a:latin typeface="Consolas"/>
              </a:rPr>
              <a:t> (</a:t>
            </a:r>
            <a:r>
              <a:rPr lang="en-IE" sz="1200" b="1" dirty="0" err="1">
                <a:solidFill>
                  <a:srgbClr val="000000"/>
                </a:solidFill>
                <a:latin typeface="Consolas"/>
              </a:rPr>
              <a:t>IOException</a:t>
            </a:r>
            <a:r>
              <a:rPr lang="en-IE" sz="1200" b="1" dirty="0">
                <a:solidFill>
                  <a:srgbClr val="000000"/>
                </a:solidFill>
                <a:latin typeface="Consolas"/>
              </a:rPr>
              <a:t> </a:t>
            </a:r>
            <a:r>
              <a:rPr lang="en-IE" sz="1200" b="1" dirty="0">
                <a:solidFill>
                  <a:srgbClr val="6A3E3E"/>
                </a:solidFill>
                <a:latin typeface="Consolas"/>
              </a:rPr>
              <a:t>ex</a:t>
            </a:r>
            <a:r>
              <a:rPr lang="en-IE" sz="1200" b="1" dirty="0">
                <a:solidFill>
                  <a:srgbClr val="000000"/>
                </a:solidFill>
                <a:latin typeface="Consolas"/>
              </a:rPr>
              <a:t>) {</a:t>
            </a:r>
          </a:p>
          <a:p>
            <a:pPr marL="0" indent="0">
              <a:buNone/>
            </a:pPr>
            <a:r>
              <a:rPr lang="en-IE" sz="1200" b="1" i="1" dirty="0" smtClean="0">
                <a:solidFill>
                  <a:srgbClr val="0000C0"/>
                </a:solidFill>
                <a:latin typeface="Consolas"/>
              </a:rPr>
              <a:t>errors</a:t>
            </a:r>
            <a:r>
              <a:rPr lang="en-IE" sz="1200" b="1" i="1" dirty="0" smtClean="0">
                <a:solidFill>
                  <a:srgbClr val="000000"/>
                </a:solidFill>
                <a:latin typeface="Consolas"/>
              </a:rPr>
              <a:t>.log(</a:t>
            </a:r>
            <a:r>
              <a:rPr lang="en-IE" sz="1200" b="1" i="1" dirty="0" err="1" smtClean="0">
                <a:solidFill>
                  <a:srgbClr val="000000"/>
                </a:solidFill>
                <a:latin typeface="Consolas"/>
              </a:rPr>
              <a:t>Level.</a:t>
            </a:r>
            <a:r>
              <a:rPr lang="en-IE" sz="1200" b="1" i="1" dirty="0" err="1" smtClean="0">
                <a:solidFill>
                  <a:srgbClr val="0000C0"/>
                </a:solidFill>
                <a:latin typeface="Consolas"/>
              </a:rPr>
              <a:t>SEVERE</a:t>
            </a:r>
            <a:r>
              <a:rPr lang="en-IE" sz="1200" b="1" i="1" dirty="0">
                <a:solidFill>
                  <a:srgbClr val="000000"/>
                </a:solidFill>
                <a:latin typeface="Consolas"/>
              </a:rPr>
              <a:t>, </a:t>
            </a:r>
            <a:r>
              <a:rPr lang="en-IE" sz="1200" b="1" i="1" dirty="0" err="1">
                <a:solidFill>
                  <a:srgbClr val="6A3E3E"/>
                </a:solidFill>
                <a:latin typeface="Consolas"/>
              </a:rPr>
              <a:t>ex</a:t>
            </a:r>
            <a:r>
              <a:rPr lang="en-IE" sz="1200" b="1" i="1" dirty="0" err="1">
                <a:solidFill>
                  <a:srgbClr val="000000"/>
                </a:solidFill>
                <a:latin typeface="Consolas"/>
              </a:rPr>
              <a:t>.getMessage</a:t>
            </a:r>
            <a:r>
              <a:rPr lang="en-IE" sz="1200" b="1" i="1" dirty="0">
                <a:solidFill>
                  <a:srgbClr val="000000"/>
                </a:solidFill>
                <a:latin typeface="Consolas"/>
              </a:rPr>
              <a:t>(), </a:t>
            </a:r>
            <a:r>
              <a:rPr lang="en-IE" sz="1200" b="1" i="1" dirty="0">
                <a:solidFill>
                  <a:srgbClr val="6A3E3E"/>
                </a:solidFill>
                <a:latin typeface="Consolas"/>
              </a:rPr>
              <a:t>ex</a:t>
            </a:r>
            <a:r>
              <a:rPr lang="en-IE" sz="1200" b="1" i="1" dirty="0">
                <a:solidFill>
                  <a:srgbClr val="000000"/>
                </a:solidFill>
                <a:latin typeface="Consolas"/>
              </a:rPr>
              <a:t>);</a:t>
            </a:r>
          </a:p>
          <a:p>
            <a:pPr marL="0" indent="0">
              <a:buNone/>
            </a:pPr>
            <a:r>
              <a:rPr lang="en-IE" sz="1200" dirty="0" smtClean="0">
                <a:solidFill>
                  <a:srgbClr val="000000"/>
                </a:solidFill>
                <a:latin typeface="Consolas"/>
              </a:rPr>
              <a:t>}}}</a:t>
            </a:r>
            <a:endParaRPr lang="en-IE" sz="1200" dirty="0">
              <a:solidFill>
                <a:srgbClr val="000000"/>
              </a:solidFill>
              <a:latin typeface="Consolas"/>
            </a:endParaRPr>
          </a:p>
          <a:p>
            <a:pPr marL="0" indent="0">
              <a:buNone/>
            </a:pPr>
            <a:endParaRPr lang="en-US" altLang="en-US" sz="1200" dirty="0" smtClean="0"/>
          </a:p>
        </p:txBody>
      </p:sp>
    </p:spTree>
    <p:extLst>
      <p:ext uri="{BB962C8B-B14F-4D97-AF65-F5344CB8AC3E}">
        <p14:creationId xmlns:p14="http://schemas.microsoft.com/office/powerpoint/2010/main" val="32842161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242D679B6F40C48B2519DEB851FE85E" ma:contentTypeVersion="0" ma:contentTypeDescription="Create a new document." ma:contentTypeScope="" ma:versionID="ca0eff15ccbfe079c26c4eccae0f3b99">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40E4FD6-5664-4461-9D73-B21E7BDEE21B}"/>
</file>

<file path=customXml/itemProps2.xml><?xml version="1.0" encoding="utf-8"?>
<ds:datastoreItem xmlns:ds="http://schemas.openxmlformats.org/officeDocument/2006/customXml" ds:itemID="{1133704D-6C47-4563-9023-09E51538D79D}"/>
</file>

<file path=customXml/itemProps3.xml><?xml version="1.0" encoding="utf-8"?>
<ds:datastoreItem xmlns:ds="http://schemas.openxmlformats.org/officeDocument/2006/customXml" ds:itemID="{7902F0E9-1425-41AD-A5E7-8C4260AD7E75}"/>
</file>

<file path=docProps/app.xml><?xml version="1.0" encoding="utf-8"?>
<Properties xmlns="http://schemas.openxmlformats.org/officeDocument/2006/extended-properties" xmlns:vt="http://schemas.openxmlformats.org/officeDocument/2006/docPropsVTypes">
  <TotalTime>150</TotalTime>
  <Words>1695</Words>
  <Application>Microsoft Office PowerPoint</Application>
  <PresentationFormat>On-screen Show (4:3)</PresentationFormat>
  <Paragraphs>244</Paragraphs>
  <Slides>23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Consolas</vt:lpstr>
      <vt:lpstr>Courier New</vt:lpstr>
      <vt:lpstr>Times</vt:lpstr>
      <vt:lpstr>Office Theme</vt:lpstr>
      <vt:lpstr>UDP</vt:lpstr>
      <vt:lpstr>UDP</vt:lpstr>
      <vt:lpstr>The UDP Classes</vt:lpstr>
      <vt:lpstr>java.net.DatagramPacket </vt:lpstr>
      <vt:lpstr>java.net.DatagramSocket</vt:lpstr>
      <vt:lpstr>UDP ports</vt:lpstr>
      <vt:lpstr>Two DatagramPacket Constructors</vt:lpstr>
      <vt:lpstr>For example,</vt:lpstr>
      <vt:lpstr>With a destination:</vt:lpstr>
      <vt:lpstr>Example</vt:lpstr>
      <vt:lpstr>UPD Port Scanner</vt:lpstr>
      <vt:lpstr>DatagramPackets are not immutable. </vt:lpstr>
      <vt:lpstr>java.net.DatagramSocket</vt:lpstr>
      <vt:lpstr>Sending UDP Datagrams</vt:lpstr>
      <vt:lpstr>For example, </vt:lpstr>
      <vt:lpstr>Receiving UDP Datagrams</vt:lpstr>
      <vt:lpstr> </vt:lpstr>
      <vt:lpstr>For example, </vt:lpstr>
      <vt:lpstr>Receiving Multiple Packets</vt:lpstr>
      <vt:lpstr>UDP Discard Client</vt:lpstr>
      <vt:lpstr>UDP Discard Server</vt:lpstr>
      <vt:lpstr>UDPDaytimeClient</vt:lpstr>
      <vt:lpstr>UDPDaytimeServer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UDP</dc:title>
  <dc:creator>Muhammad Imran</dc:creator>
  <cp:lastModifiedBy>Adeel-ur-Rehman</cp:lastModifiedBy>
  <cp:revision>21</cp:revision>
  <dcterms:created xsi:type="dcterms:W3CDTF">2017-05-03T04:29:07Z</dcterms:created>
  <dcterms:modified xsi:type="dcterms:W3CDTF">2019-12-19T10:24:09Z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0x0101008242D679B6F40C48B2519DEB851FE85E</vt:lpwstr>
  </property>
</Properties>
</file>