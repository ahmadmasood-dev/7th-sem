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9.xml" ContentType="application/vnd.openxmlformats-officedocument.presentationml.slide+xml"/>
  <Override PartName="/ppt/slides/slide8.xml" ContentType="application/vnd.openxmlformats-officedocument.presentationml.slide+xml"/>
  <Override PartName="/ppt/slides/slide7.xml" ContentType="application/vnd.openxmlformats-officedocument.presentationml.slide+xml"/>
  <Override PartName="/ppt/slides/slide6.xml" ContentType="application/vnd.openxmlformats-officedocument.presentationml.slide+xml"/>
  <Override PartName="/ppt/slides/slide5.xml" ContentType="application/vnd.openxmlformats-officedocument.presentationml.slide+xml"/>
  <Override PartName="/ppt/slides/slide4.xml" ContentType="application/vnd.openxmlformats-officedocument.presentationml.slide+xml"/>
  <Override PartName="/ppt/slides/slide3.xml" ContentType="application/vnd.openxmlformats-officedocument.presentationml.slide+xml"/>
  <Override PartName="/ppt/slides/slide2.xml" ContentType="application/vnd.openxmlformats-officedocument.presentationml.slide+xml"/>
  <Override PartName="/ppt/slides/slide17.xml" ContentType="application/vnd.openxmlformats-officedocument.presentationml.slide+xml"/>
  <Override PartName="/ppt/slides/slide10.xml" ContentType="application/vnd.openxmlformats-officedocument.presentationml.slide+xml"/>
  <Override PartName="/ppt/slides/slide12.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11.xml" ContentType="application/vnd.openxmlformats-officedocument.presentationml.slide+xml"/>
  <Override PartName="/ppt/slides/slide21.xml" ContentType="application/vnd.openxmlformats-officedocument.presentationml.slide+xml"/>
  <Override PartName="/ppt/slides/slide20.xml" ContentType="application/vnd.openxmlformats-officedocument.presentationml.slide+xml"/>
  <Override PartName="/ppt/slides/slide15.xml" ContentType="application/vnd.openxmlformats-officedocument.presentationml.slide+xml"/>
  <Override PartName="/ppt/slides/slide13.xml" ContentType="application/vnd.openxmlformats-officedocument.presentationml.slide+xml"/>
  <Override PartName="/ppt/slides/slide16.xml" ContentType="application/vnd.openxmlformats-officedocument.presentationml.slide+xml"/>
  <Override PartName="/ppt/slides/slide14.xml" ContentType="application/vnd.openxmlformats-officedocument.presentationml.slide+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4.xml" ContentType="application/vnd.openxmlformats-officedocument.presentationml.notesSlide+xml"/>
  <Override PartName="/ppt/notesSlides/notesSlide3.xml" ContentType="application/vnd.openxmlformats-officedocument.presentationml.notesSlide+xml"/>
  <Override PartName="/ppt/notesSlides/notesSlide2.xml" ContentType="application/vnd.openxmlformats-officedocument.presentationml.notesSlide+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11.xml" ContentType="application/vnd.openxmlformats-officedocument.presentationml.notesSlide+xml"/>
  <Override PartName="/ppt/notesSlides/notesSlide7.xml" ContentType="application/vnd.openxmlformats-officedocument.presentationml.notesSlide+xml"/>
  <Override PartName="/ppt/notesSlides/notesSlide21.xml" ContentType="application/vnd.openxmlformats-officedocument.presentationml.notesSlide+xml"/>
  <Override PartName="/ppt/notesSlides/notesSlide19.xml" ContentType="application/vnd.openxmlformats-officedocument.presentationml.notesSlide+xml"/>
  <Override PartName="/ppt/notesSlides/notesSlide18.xml" ContentType="application/vnd.openxmlformats-officedocument.presentationml.notesSlide+xml"/>
  <Override PartName="/ppt/notesSlides/notesSlide17.xml" ContentType="application/vnd.openxmlformats-officedocument.presentationml.notesSlide+xml"/>
  <Override PartName="/ppt/notesSlides/notesSlide20.xml" ContentType="application/vnd.openxmlformats-officedocument.presentationml.notesSlide+xml"/>
  <Override PartName="/ppt/notesSlides/notesSlide16.xml" ContentType="application/vnd.openxmlformats-officedocument.presentationml.notesSlide+xml"/>
  <Override PartName="/ppt/notesSlides/notesSlide14.xml" ContentType="application/vnd.openxmlformats-officedocument.presentationml.notesSlide+xml"/>
  <Override PartName="/ppt/notesSlides/notesSlide13.xml" ContentType="application/vnd.openxmlformats-officedocument.presentationml.notesSlide+xml"/>
  <Override PartName="/ppt/notesSlides/notesSlide12.xml" ContentType="application/vnd.openxmlformats-officedocument.presentationml.notesSlide+xml"/>
  <Override PartName="/ppt/notesSlides/notesSlide15.xml" ContentType="application/vnd.openxmlformats-officedocument.presentationml.notesSlide+xml"/>
  <Override PartName="/ppt/handoutMasters/handoutMaster1.xml" ContentType="application/vnd.openxmlformats-officedocument.presentationml.handoutMaster+xml"/>
  <Override PartName="/ppt/theme/theme1.xml" ContentType="application/vnd.openxmlformats-officedocument.theme+xml"/>
  <Override PartName="/ppt/notesMasters/notesMaster1.xml" ContentType="application/vnd.openxmlformats-officedocument.presentationml.notesMaster+xml"/>
  <Override PartName="/ppt/theme/theme3.xml" ContentType="application/vnd.openxmlformats-officedocument.theme+xml"/>
  <Override PartName="/ppt/theme/theme2.xml" ContentType="application/vnd.openxmlformats-officedocument.theme+xml"/>
  <Override PartName="/ppt/tableStyles.xml" ContentType="application/vnd.openxmlformats-officedocument.presentationml.tableStyles+xml"/>
  <Override PartName="/ppt/presProps.xml" ContentType="application/vnd.openxmlformats-officedocument.presentationml.presProps+xml"/>
  <Override PartName="/ppt/viewProps.xml" ContentType="application/vnd.openxmlformats-officedocument.presentationml.viewProp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3"/>
  </p:notesMasterIdLst>
  <p:handoutMasterIdLst>
    <p:handoutMasterId r:id="rId24"/>
  </p:handoutMasterIdLst>
  <p:sldIdLst>
    <p:sldId id="286" r:id="rId2"/>
    <p:sldId id="259" r:id="rId3"/>
    <p:sldId id="260" r:id="rId4"/>
    <p:sldId id="261" r:id="rId5"/>
    <p:sldId id="262" r:id="rId6"/>
    <p:sldId id="263" r:id="rId7"/>
    <p:sldId id="264" r:id="rId8"/>
    <p:sldId id="265" r:id="rId9"/>
    <p:sldId id="266" r:id="rId10"/>
    <p:sldId id="267" r:id="rId11"/>
    <p:sldId id="268" r:id="rId12"/>
    <p:sldId id="269" r:id="rId13"/>
    <p:sldId id="270" r:id="rId14"/>
    <p:sldId id="271" r:id="rId15"/>
    <p:sldId id="272" r:id="rId16"/>
    <p:sldId id="273" r:id="rId17"/>
    <p:sldId id="275" r:id="rId18"/>
    <p:sldId id="282" r:id="rId19"/>
    <p:sldId id="283" r:id="rId20"/>
    <p:sldId id="284" r:id="rId21"/>
    <p:sldId id="285" r:id="rId22"/>
  </p:sldIdLst>
  <p:sldSz cx="7772400" cy="10058400"/>
  <p:notesSz cx="7772400" cy="10058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47" d="100"/>
          <a:sy n="47" d="100"/>
        </p:scale>
        <p:origin x="2244" y="66"/>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customXml" Target="../customXml/item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customXml" Target="../customXml/item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 Id="rId30" Type="http://schemas.openxmlformats.org/officeDocument/2006/relationships/customXml" Target="../customXml/item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368675" cy="503238"/>
          </a:xfrm>
          <a:prstGeom prst="rect">
            <a:avLst/>
          </a:prstGeom>
        </p:spPr>
        <p:txBody>
          <a:bodyPr vert="horz" lIns="91440" tIns="45720" rIns="91440" bIns="45720" rtlCol="0"/>
          <a:lstStyle>
            <a:lvl1pPr algn="l">
              <a:defRPr sz="1200"/>
            </a:lvl1pPr>
          </a:lstStyle>
          <a:p>
            <a:endParaRPr lang="en-IE"/>
          </a:p>
        </p:txBody>
      </p:sp>
      <p:sp>
        <p:nvSpPr>
          <p:cNvPr id="3" name="Date Placeholder 2"/>
          <p:cNvSpPr>
            <a:spLocks noGrp="1"/>
          </p:cNvSpPr>
          <p:nvPr>
            <p:ph type="dt" sz="quarter" idx="1"/>
          </p:nvPr>
        </p:nvSpPr>
        <p:spPr>
          <a:xfrm>
            <a:off x="4402138" y="0"/>
            <a:ext cx="3368675" cy="503238"/>
          </a:xfrm>
          <a:prstGeom prst="rect">
            <a:avLst/>
          </a:prstGeom>
        </p:spPr>
        <p:txBody>
          <a:bodyPr vert="horz" lIns="91440" tIns="45720" rIns="91440" bIns="45720" rtlCol="0"/>
          <a:lstStyle>
            <a:lvl1pPr algn="r">
              <a:defRPr sz="1200"/>
            </a:lvl1pPr>
          </a:lstStyle>
          <a:p>
            <a:fld id="{DBA63002-BD01-4535-893E-0A85E591057D}" type="datetimeFigureOut">
              <a:rPr lang="en-IE" smtClean="0"/>
              <a:t>28/08/2019</a:t>
            </a:fld>
            <a:endParaRPr lang="en-IE"/>
          </a:p>
        </p:txBody>
      </p:sp>
      <p:sp>
        <p:nvSpPr>
          <p:cNvPr id="4" name="Footer Placeholder 3"/>
          <p:cNvSpPr>
            <a:spLocks noGrp="1"/>
          </p:cNvSpPr>
          <p:nvPr>
            <p:ph type="ftr" sz="quarter" idx="2"/>
          </p:nvPr>
        </p:nvSpPr>
        <p:spPr>
          <a:xfrm>
            <a:off x="0" y="9553575"/>
            <a:ext cx="3368675" cy="503238"/>
          </a:xfrm>
          <a:prstGeom prst="rect">
            <a:avLst/>
          </a:prstGeom>
        </p:spPr>
        <p:txBody>
          <a:bodyPr vert="horz" lIns="91440" tIns="45720" rIns="91440" bIns="45720" rtlCol="0" anchor="b"/>
          <a:lstStyle>
            <a:lvl1pPr algn="l">
              <a:defRPr sz="1200"/>
            </a:lvl1pPr>
          </a:lstStyle>
          <a:p>
            <a:endParaRPr lang="en-IE"/>
          </a:p>
        </p:txBody>
      </p:sp>
      <p:sp>
        <p:nvSpPr>
          <p:cNvPr id="5" name="Slide Number Placeholder 4"/>
          <p:cNvSpPr>
            <a:spLocks noGrp="1"/>
          </p:cNvSpPr>
          <p:nvPr>
            <p:ph type="sldNum" sz="quarter" idx="3"/>
          </p:nvPr>
        </p:nvSpPr>
        <p:spPr>
          <a:xfrm>
            <a:off x="4402138" y="9553575"/>
            <a:ext cx="3368675" cy="503238"/>
          </a:xfrm>
          <a:prstGeom prst="rect">
            <a:avLst/>
          </a:prstGeom>
        </p:spPr>
        <p:txBody>
          <a:bodyPr vert="horz" lIns="91440" tIns="45720" rIns="91440" bIns="45720" rtlCol="0" anchor="b"/>
          <a:lstStyle>
            <a:lvl1pPr algn="r">
              <a:defRPr sz="1200"/>
            </a:lvl1pPr>
          </a:lstStyle>
          <a:p>
            <a:fld id="{F727A1B0-E8CD-4487-ADE7-FF3ED5590CC0}" type="slidenum">
              <a:rPr lang="en-IE" smtClean="0"/>
              <a:t>‹#›</a:t>
            </a:fld>
            <a:endParaRPr lang="en-IE"/>
          </a:p>
        </p:txBody>
      </p:sp>
    </p:spTree>
    <p:extLst>
      <p:ext uri="{BB962C8B-B14F-4D97-AF65-F5344CB8AC3E}">
        <p14:creationId xmlns:p14="http://schemas.microsoft.com/office/powerpoint/2010/main" val="388135634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368675" cy="503238"/>
          </a:xfrm>
          <a:prstGeom prst="rect">
            <a:avLst/>
          </a:prstGeom>
        </p:spPr>
        <p:txBody>
          <a:bodyPr vert="horz" lIns="91440" tIns="45720" rIns="91440" bIns="45720" rtlCol="0"/>
          <a:lstStyle>
            <a:lvl1pPr algn="l">
              <a:defRPr sz="1200"/>
            </a:lvl1pPr>
          </a:lstStyle>
          <a:p>
            <a:endParaRPr lang="en-IE"/>
          </a:p>
        </p:txBody>
      </p:sp>
      <p:sp>
        <p:nvSpPr>
          <p:cNvPr id="3" name="Date Placeholder 2"/>
          <p:cNvSpPr>
            <a:spLocks noGrp="1"/>
          </p:cNvSpPr>
          <p:nvPr>
            <p:ph type="dt" idx="1"/>
          </p:nvPr>
        </p:nvSpPr>
        <p:spPr>
          <a:xfrm>
            <a:off x="4402138" y="0"/>
            <a:ext cx="3368675" cy="503238"/>
          </a:xfrm>
          <a:prstGeom prst="rect">
            <a:avLst/>
          </a:prstGeom>
        </p:spPr>
        <p:txBody>
          <a:bodyPr vert="horz" lIns="91440" tIns="45720" rIns="91440" bIns="45720" rtlCol="0"/>
          <a:lstStyle>
            <a:lvl1pPr algn="r">
              <a:defRPr sz="1200"/>
            </a:lvl1pPr>
          </a:lstStyle>
          <a:p>
            <a:fld id="{5F791843-AA7A-4949-AEE3-13C681D23436}" type="datetimeFigureOut">
              <a:rPr lang="en-IE" smtClean="0"/>
              <a:t>28/08/2019</a:t>
            </a:fld>
            <a:endParaRPr lang="en-IE"/>
          </a:p>
        </p:txBody>
      </p:sp>
      <p:sp>
        <p:nvSpPr>
          <p:cNvPr id="4" name="Slide Image Placeholder 3"/>
          <p:cNvSpPr>
            <a:spLocks noGrp="1" noRot="1" noChangeAspect="1"/>
          </p:cNvSpPr>
          <p:nvPr>
            <p:ph type="sldImg" idx="2"/>
          </p:nvPr>
        </p:nvSpPr>
        <p:spPr>
          <a:xfrm>
            <a:off x="2428875" y="754063"/>
            <a:ext cx="2914650" cy="3771900"/>
          </a:xfrm>
          <a:prstGeom prst="rect">
            <a:avLst/>
          </a:prstGeom>
          <a:noFill/>
          <a:ln w="12700">
            <a:solidFill>
              <a:prstClr val="black"/>
            </a:solidFill>
          </a:ln>
        </p:spPr>
        <p:txBody>
          <a:bodyPr vert="horz" lIns="91440" tIns="45720" rIns="91440" bIns="45720" rtlCol="0" anchor="ctr"/>
          <a:lstStyle/>
          <a:p>
            <a:endParaRPr lang="en-IE"/>
          </a:p>
        </p:txBody>
      </p:sp>
      <p:sp>
        <p:nvSpPr>
          <p:cNvPr id="5" name="Notes Placeholder 4"/>
          <p:cNvSpPr>
            <a:spLocks noGrp="1"/>
          </p:cNvSpPr>
          <p:nvPr>
            <p:ph type="body" sz="quarter" idx="3"/>
          </p:nvPr>
        </p:nvSpPr>
        <p:spPr>
          <a:xfrm>
            <a:off x="777875" y="4778375"/>
            <a:ext cx="6216650" cy="4525963"/>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E"/>
          </a:p>
        </p:txBody>
      </p:sp>
      <p:sp>
        <p:nvSpPr>
          <p:cNvPr id="6" name="Footer Placeholder 5"/>
          <p:cNvSpPr>
            <a:spLocks noGrp="1"/>
          </p:cNvSpPr>
          <p:nvPr>
            <p:ph type="ftr" sz="quarter" idx="4"/>
          </p:nvPr>
        </p:nvSpPr>
        <p:spPr>
          <a:xfrm>
            <a:off x="0" y="9553575"/>
            <a:ext cx="3368675" cy="503238"/>
          </a:xfrm>
          <a:prstGeom prst="rect">
            <a:avLst/>
          </a:prstGeom>
        </p:spPr>
        <p:txBody>
          <a:bodyPr vert="horz" lIns="91440" tIns="45720" rIns="91440" bIns="45720" rtlCol="0" anchor="b"/>
          <a:lstStyle>
            <a:lvl1pPr algn="l">
              <a:defRPr sz="1200"/>
            </a:lvl1pPr>
          </a:lstStyle>
          <a:p>
            <a:endParaRPr lang="en-IE"/>
          </a:p>
        </p:txBody>
      </p:sp>
      <p:sp>
        <p:nvSpPr>
          <p:cNvPr id="7" name="Slide Number Placeholder 6"/>
          <p:cNvSpPr>
            <a:spLocks noGrp="1"/>
          </p:cNvSpPr>
          <p:nvPr>
            <p:ph type="sldNum" sz="quarter" idx="5"/>
          </p:nvPr>
        </p:nvSpPr>
        <p:spPr>
          <a:xfrm>
            <a:off x="4402138" y="9553575"/>
            <a:ext cx="3368675" cy="503238"/>
          </a:xfrm>
          <a:prstGeom prst="rect">
            <a:avLst/>
          </a:prstGeom>
        </p:spPr>
        <p:txBody>
          <a:bodyPr vert="horz" lIns="91440" tIns="45720" rIns="91440" bIns="45720" rtlCol="0" anchor="b"/>
          <a:lstStyle>
            <a:lvl1pPr algn="r">
              <a:defRPr sz="1200"/>
            </a:lvl1pPr>
          </a:lstStyle>
          <a:p>
            <a:fld id="{6EC2A001-7C60-4054-9223-519E11C36BF7}" type="slidenum">
              <a:rPr lang="en-IE" smtClean="0"/>
              <a:t>‹#›</a:t>
            </a:fld>
            <a:endParaRPr lang="en-IE"/>
          </a:p>
        </p:txBody>
      </p:sp>
    </p:spTree>
    <p:extLst>
      <p:ext uri="{BB962C8B-B14F-4D97-AF65-F5344CB8AC3E}">
        <p14:creationId xmlns:p14="http://schemas.microsoft.com/office/powerpoint/2010/main" val="348527239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E"/>
          </a:p>
        </p:txBody>
      </p:sp>
      <p:sp>
        <p:nvSpPr>
          <p:cNvPr id="4" name="Slide Number Placeholder 3"/>
          <p:cNvSpPr>
            <a:spLocks noGrp="1"/>
          </p:cNvSpPr>
          <p:nvPr>
            <p:ph type="sldNum" sz="quarter" idx="10"/>
          </p:nvPr>
        </p:nvSpPr>
        <p:spPr/>
        <p:txBody>
          <a:bodyPr/>
          <a:lstStyle/>
          <a:p>
            <a:fld id="{6EC2A001-7C60-4054-9223-519E11C36BF7}" type="slidenum">
              <a:rPr lang="en-IE" smtClean="0"/>
              <a:t>1</a:t>
            </a:fld>
            <a:endParaRPr lang="en-IE"/>
          </a:p>
        </p:txBody>
      </p:sp>
    </p:spTree>
    <p:extLst>
      <p:ext uri="{BB962C8B-B14F-4D97-AF65-F5344CB8AC3E}">
        <p14:creationId xmlns:p14="http://schemas.microsoft.com/office/powerpoint/2010/main" val="68165270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E"/>
          </a:p>
        </p:txBody>
      </p:sp>
      <p:sp>
        <p:nvSpPr>
          <p:cNvPr id="4" name="Slide Number Placeholder 3"/>
          <p:cNvSpPr>
            <a:spLocks noGrp="1"/>
          </p:cNvSpPr>
          <p:nvPr>
            <p:ph type="sldNum" sz="quarter" idx="10"/>
          </p:nvPr>
        </p:nvSpPr>
        <p:spPr/>
        <p:txBody>
          <a:bodyPr/>
          <a:lstStyle/>
          <a:p>
            <a:fld id="{6EC2A001-7C60-4054-9223-519E11C36BF7}" type="slidenum">
              <a:rPr lang="en-IE" smtClean="0"/>
              <a:t>2</a:t>
            </a:fld>
            <a:endParaRPr lang="en-IE"/>
          </a:p>
        </p:txBody>
      </p:sp>
    </p:spTree>
    <p:extLst>
      <p:ext uri="{BB962C8B-B14F-4D97-AF65-F5344CB8AC3E}">
        <p14:creationId xmlns:p14="http://schemas.microsoft.com/office/powerpoint/2010/main" val="343533967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E"/>
          </a:p>
        </p:txBody>
      </p:sp>
      <p:sp>
        <p:nvSpPr>
          <p:cNvPr id="4" name="Slide Number Placeholder 3"/>
          <p:cNvSpPr>
            <a:spLocks noGrp="1"/>
          </p:cNvSpPr>
          <p:nvPr>
            <p:ph type="sldNum" sz="quarter" idx="10"/>
          </p:nvPr>
        </p:nvSpPr>
        <p:spPr/>
        <p:txBody>
          <a:bodyPr/>
          <a:lstStyle/>
          <a:p>
            <a:fld id="{6EC2A001-7C60-4054-9223-519E11C36BF7}" type="slidenum">
              <a:rPr lang="en-IE" smtClean="0"/>
              <a:t>3</a:t>
            </a:fld>
            <a:endParaRPr lang="en-IE"/>
          </a:p>
        </p:txBody>
      </p:sp>
    </p:spTree>
    <p:extLst>
      <p:ext uri="{BB962C8B-B14F-4D97-AF65-F5344CB8AC3E}">
        <p14:creationId xmlns:p14="http://schemas.microsoft.com/office/powerpoint/2010/main" val="986899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E"/>
          </a:p>
        </p:txBody>
      </p:sp>
      <p:sp>
        <p:nvSpPr>
          <p:cNvPr id="4" name="Slide Number Placeholder 3"/>
          <p:cNvSpPr>
            <a:spLocks noGrp="1"/>
          </p:cNvSpPr>
          <p:nvPr>
            <p:ph type="sldNum" sz="quarter" idx="10"/>
          </p:nvPr>
        </p:nvSpPr>
        <p:spPr/>
        <p:txBody>
          <a:bodyPr/>
          <a:lstStyle/>
          <a:p>
            <a:fld id="{6EC2A001-7C60-4054-9223-519E11C36BF7}" type="slidenum">
              <a:rPr lang="en-IE" smtClean="0"/>
              <a:t>4</a:t>
            </a:fld>
            <a:endParaRPr lang="en-IE"/>
          </a:p>
        </p:txBody>
      </p:sp>
    </p:spTree>
    <p:extLst>
      <p:ext uri="{BB962C8B-B14F-4D97-AF65-F5344CB8AC3E}">
        <p14:creationId xmlns:p14="http://schemas.microsoft.com/office/powerpoint/2010/main" val="340540763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E"/>
          </a:p>
        </p:txBody>
      </p:sp>
      <p:sp>
        <p:nvSpPr>
          <p:cNvPr id="4" name="Slide Number Placeholder 3"/>
          <p:cNvSpPr>
            <a:spLocks noGrp="1"/>
          </p:cNvSpPr>
          <p:nvPr>
            <p:ph type="sldNum" sz="quarter" idx="10"/>
          </p:nvPr>
        </p:nvSpPr>
        <p:spPr/>
        <p:txBody>
          <a:bodyPr/>
          <a:lstStyle/>
          <a:p>
            <a:fld id="{6EC2A001-7C60-4054-9223-519E11C36BF7}" type="slidenum">
              <a:rPr lang="en-IE" smtClean="0"/>
              <a:t>5</a:t>
            </a:fld>
            <a:endParaRPr lang="en-IE"/>
          </a:p>
        </p:txBody>
      </p:sp>
    </p:spTree>
    <p:extLst>
      <p:ext uri="{BB962C8B-B14F-4D97-AF65-F5344CB8AC3E}">
        <p14:creationId xmlns:p14="http://schemas.microsoft.com/office/powerpoint/2010/main" val="58203948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E"/>
          </a:p>
        </p:txBody>
      </p:sp>
      <p:sp>
        <p:nvSpPr>
          <p:cNvPr id="4" name="Slide Number Placeholder 3"/>
          <p:cNvSpPr>
            <a:spLocks noGrp="1"/>
          </p:cNvSpPr>
          <p:nvPr>
            <p:ph type="sldNum" sz="quarter" idx="10"/>
          </p:nvPr>
        </p:nvSpPr>
        <p:spPr/>
        <p:txBody>
          <a:bodyPr/>
          <a:lstStyle/>
          <a:p>
            <a:fld id="{6EC2A001-7C60-4054-9223-519E11C36BF7}" type="slidenum">
              <a:rPr lang="en-IE" smtClean="0"/>
              <a:t>6</a:t>
            </a:fld>
            <a:endParaRPr lang="en-IE"/>
          </a:p>
        </p:txBody>
      </p:sp>
    </p:spTree>
    <p:extLst>
      <p:ext uri="{BB962C8B-B14F-4D97-AF65-F5344CB8AC3E}">
        <p14:creationId xmlns:p14="http://schemas.microsoft.com/office/powerpoint/2010/main" val="81617837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E"/>
          </a:p>
        </p:txBody>
      </p:sp>
      <p:sp>
        <p:nvSpPr>
          <p:cNvPr id="4" name="Slide Number Placeholder 3"/>
          <p:cNvSpPr>
            <a:spLocks noGrp="1"/>
          </p:cNvSpPr>
          <p:nvPr>
            <p:ph type="sldNum" sz="quarter" idx="10"/>
          </p:nvPr>
        </p:nvSpPr>
        <p:spPr/>
        <p:txBody>
          <a:bodyPr/>
          <a:lstStyle/>
          <a:p>
            <a:fld id="{6EC2A001-7C60-4054-9223-519E11C36BF7}" type="slidenum">
              <a:rPr lang="en-IE" smtClean="0"/>
              <a:t>7</a:t>
            </a:fld>
            <a:endParaRPr lang="en-IE"/>
          </a:p>
        </p:txBody>
      </p:sp>
    </p:spTree>
    <p:extLst>
      <p:ext uri="{BB962C8B-B14F-4D97-AF65-F5344CB8AC3E}">
        <p14:creationId xmlns:p14="http://schemas.microsoft.com/office/powerpoint/2010/main" val="177604371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E"/>
          </a:p>
        </p:txBody>
      </p:sp>
      <p:sp>
        <p:nvSpPr>
          <p:cNvPr id="4" name="Slide Number Placeholder 3"/>
          <p:cNvSpPr>
            <a:spLocks noGrp="1"/>
          </p:cNvSpPr>
          <p:nvPr>
            <p:ph type="sldNum" sz="quarter" idx="10"/>
          </p:nvPr>
        </p:nvSpPr>
        <p:spPr/>
        <p:txBody>
          <a:bodyPr/>
          <a:lstStyle/>
          <a:p>
            <a:fld id="{6EC2A001-7C60-4054-9223-519E11C36BF7}" type="slidenum">
              <a:rPr lang="en-IE" smtClean="0"/>
              <a:t>8</a:t>
            </a:fld>
            <a:endParaRPr lang="en-IE"/>
          </a:p>
        </p:txBody>
      </p:sp>
    </p:spTree>
    <p:extLst>
      <p:ext uri="{BB962C8B-B14F-4D97-AF65-F5344CB8AC3E}">
        <p14:creationId xmlns:p14="http://schemas.microsoft.com/office/powerpoint/2010/main" val="92003458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E"/>
          </a:p>
        </p:txBody>
      </p:sp>
      <p:sp>
        <p:nvSpPr>
          <p:cNvPr id="4" name="Slide Number Placeholder 3"/>
          <p:cNvSpPr>
            <a:spLocks noGrp="1"/>
          </p:cNvSpPr>
          <p:nvPr>
            <p:ph type="sldNum" sz="quarter" idx="10"/>
          </p:nvPr>
        </p:nvSpPr>
        <p:spPr/>
        <p:txBody>
          <a:bodyPr/>
          <a:lstStyle/>
          <a:p>
            <a:fld id="{6EC2A001-7C60-4054-9223-519E11C36BF7}" type="slidenum">
              <a:rPr lang="en-IE" smtClean="0"/>
              <a:t>9</a:t>
            </a:fld>
            <a:endParaRPr lang="en-IE"/>
          </a:p>
        </p:txBody>
      </p:sp>
    </p:spTree>
    <p:extLst>
      <p:ext uri="{BB962C8B-B14F-4D97-AF65-F5344CB8AC3E}">
        <p14:creationId xmlns:p14="http://schemas.microsoft.com/office/powerpoint/2010/main" val="203044003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E"/>
          </a:p>
        </p:txBody>
      </p:sp>
      <p:sp>
        <p:nvSpPr>
          <p:cNvPr id="4" name="Slide Number Placeholder 3"/>
          <p:cNvSpPr>
            <a:spLocks noGrp="1"/>
          </p:cNvSpPr>
          <p:nvPr>
            <p:ph type="sldNum" sz="quarter" idx="10"/>
          </p:nvPr>
        </p:nvSpPr>
        <p:spPr/>
        <p:txBody>
          <a:bodyPr/>
          <a:lstStyle/>
          <a:p>
            <a:fld id="{6EC2A001-7C60-4054-9223-519E11C36BF7}" type="slidenum">
              <a:rPr lang="en-IE" smtClean="0"/>
              <a:t>10</a:t>
            </a:fld>
            <a:endParaRPr lang="en-IE"/>
          </a:p>
        </p:txBody>
      </p:sp>
    </p:spTree>
    <p:extLst>
      <p:ext uri="{BB962C8B-B14F-4D97-AF65-F5344CB8AC3E}">
        <p14:creationId xmlns:p14="http://schemas.microsoft.com/office/powerpoint/2010/main" val="226182933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E"/>
          </a:p>
        </p:txBody>
      </p:sp>
      <p:sp>
        <p:nvSpPr>
          <p:cNvPr id="4" name="Slide Number Placeholder 3"/>
          <p:cNvSpPr>
            <a:spLocks noGrp="1"/>
          </p:cNvSpPr>
          <p:nvPr>
            <p:ph type="sldNum" sz="quarter" idx="10"/>
          </p:nvPr>
        </p:nvSpPr>
        <p:spPr/>
        <p:txBody>
          <a:bodyPr/>
          <a:lstStyle/>
          <a:p>
            <a:fld id="{6EC2A001-7C60-4054-9223-519E11C36BF7}" type="slidenum">
              <a:rPr lang="en-IE" smtClean="0"/>
              <a:t>11</a:t>
            </a:fld>
            <a:endParaRPr lang="en-IE"/>
          </a:p>
        </p:txBody>
      </p:sp>
    </p:spTree>
    <p:extLst>
      <p:ext uri="{BB962C8B-B14F-4D97-AF65-F5344CB8AC3E}">
        <p14:creationId xmlns:p14="http://schemas.microsoft.com/office/powerpoint/2010/main" val="246592103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E"/>
          </a:p>
        </p:txBody>
      </p:sp>
      <p:sp>
        <p:nvSpPr>
          <p:cNvPr id="4" name="Slide Number Placeholder 3"/>
          <p:cNvSpPr>
            <a:spLocks noGrp="1"/>
          </p:cNvSpPr>
          <p:nvPr>
            <p:ph type="sldNum" sz="quarter" idx="10"/>
          </p:nvPr>
        </p:nvSpPr>
        <p:spPr/>
        <p:txBody>
          <a:bodyPr/>
          <a:lstStyle/>
          <a:p>
            <a:fld id="{6EC2A001-7C60-4054-9223-519E11C36BF7}" type="slidenum">
              <a:rPr lang="en-IE" smtClean="0"/>
              <a:t>12</a:t>
            </a:fld>
            <a:endParaRPr lang="en-IE"/>
          </a:p>
        </p:txBody>
      </p:sp>
    </p:spTree>
    <p:extLst>
      <p:ext uri="{BB962C8B-B14F-4D97-AF65-F5344CB8AC3E}">
        <p14:creationId xmlns:p14="http://schemas.microsoft.com/office/powerpoint/2010/main" val="183754431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E"/>
          </a:p>
        </p:txBody>
      </p:sp>
      <p:sp>
        <p:nvSpPr>
          <p:cNvPr id="4" name="Slide Number Placeholder 3"/>
          <p:cNvSpPr>
            <a:spLocks noGrp="1"/>
          </p:cNvSpPr>
          <p:nvPr>
            <p:ph type="sldNum" sz="quarter" idx="10"/>
          </p:nvPr>
        </p:nvSpPr>
        <p:spPr/>
        <p:txBody>
          <a:bodyPr/>
          <a:lstStyle/>
          <a:p>
            <a:fld id="{6EC2A001-7C60-4054-9223-519E11C36BF7}" type="slidenum">
              <a:rPr lang="en-IE" smtClean="0"/>
              <a:t>13</a:t>
            </a:fld>
            <a:endParaRPr lang="en-IE"/>
          </a:p>
        </p:txBody>
      </p:sp>
    </p:spTree>
    <p:extLst>
      <p:ext uri="{BB962C8B-B14F-4D97-AF65-F5344CB8AC3E}">
        <p14:creationId xmlns:p14="http://schemas.microsoft.com/office/powerpoint/2010/main" val="89512200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E"/>
          </a:p>
        </p:txBody>
      </p:sp>
      <p:sp>
        <p:nvSpPr>
          <p:cNvPr id="4" name="Slide Number Placeholder 3"/>
          <p:cNvSpPr>
            <a:spLocks noGrp="1"/>
          </p:cNvSpPr>
          <p:nvPr>
            <p:ph type="sldNum" sz="quarter" idx="10"/>
          </p:nvPr>
        </p:nvSpPr>
        <p:spPr/>
        <p:txBody>
          <a:bodyPr/>
          <a:lstStyle/>
          <a:p>
            <a:fld id="{6EC2A001-7C60-4054-9223-519E11C36BF7}" type="slidenum">
              <a:rPr lang="en-IE" smtClean="0"/>
              <a:t>14</a:t>
            </a:fld>
            <a:endParaRPr lang="en-IE"/>
          </a:p>
        </p:txBody>
      </p:sp>
    </p:spTree>
    <p:extLst>
      <p:ext uri="{BB962C8B-B14F-4D97-AF65-F5344CB8AC3E}">
        <p14:creationId xmlns:p14="http://schemas.microsoft.com/office/powerpoint/2010/main" val="15977902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E"/>
          </a:p>
        </p:txBody>
      </p:sp>
      <p:sp>
        <p:nvSpPr>
          <p:cNvPr id="4" name="Slide Number Placeholder 3"/>
          <p:cNvSpPr>
            <a:spLocks noGrp="1"/>
          </p:cNvSpPr>
          <p:nvPr>
            <p:ph type="sldNum" sz="quarter" idx="10"/>
          </p:nvPr>
        </p:nvSpPr>
        <p:spPr/>
        <p:txBody>
          <a:bodyPr/>
          <a:lstStyle/>
          <a:p>
            <a:fld id="{6EC2A001-7C60-4054-9223-519E11C36BF7}" type="slidenum">
              <a:rPr lang="en-IE" smtClean="0"/>
              <a:t>15</a:t>
            </a:fld>
            <a:endParaRPr lang="en-IE"/>
          </a:p>
        </p:txBody>
      </p:sp>
    </p:spTree>
    <p:extLst>
      <p:ext uri="{BB962C8B-B14F-4D97-AF65-F5344CB8AC3E}">
        <p14:creationId xmlns:p14="http://schemas.microsoft.com/office/powerpoint/2010/main" val="249099820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E"/>
          </a:p>
        </p:txBody>
      </p:sp>
      <p:sp>
        <p:nvSpPr>
          <p:cNvPr id="4" name="Slide Number Placeholder 3"/>
          <p:cNvSpPr>
            <a:spLocks noGrp="1"/>
          </p:cNvSpPr>
          <p:nvPr>
            <p:ph type="sldNum" sz="quarter" idx="10"/>
          </p:nvPr>
        </p:nvSpPr>
        <p:spPr/>
        <p:txBody>
          <a:bodyPr/>
          <a:lstStyle/>
          <a:p>
            <a:fld id="{6EC2A001-7C60-4054-9223-519E11C36BF7}" type="slidenum">
              <a:rPr lang="en-IE" smtClean="0"/>
              <a:t>16</a:t>
            </a:fld>
            <a:endParaRPr lang="en-IE"/>
          </a:p>
        </p:txBody>
      </p:sp>
    </p:spTree>
    <p:extLst>
      <p:ext uri="{BB962C8B-B14F-4D97-AF65-F5344CB8AC3E}">
        <p14:creationId xmlns:p14="http://schemas.microsoft.com/office/powerpoint/2010/main" val="101704710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E"/>
          </a:p>
        </p:txBody>
      </p:sp>
      <p:sp>
        <p:nvSpPr>
          <p:cNvPr id="4" name="Slide Number Placeholder 3"/>
          <p:cNvSpPr>
            <a:spLocks noGrp="1"/>
          </p:cNvSpPr>
          <p:nvPr>
            <p:ph type="sldNum" sz="quarter" idx="10"/>
          </p:nvPr>
        </p:nvSpPr>
        <p:spPr/>
        <p:txBody>
          <a:bodyPr/>
          <a:lstStyle/>
          <a:p>
            <a:fld id="{6EC2A001-7C60-4054-9223-519E11C36BF7}" type="slidenum">
              <a:rPr lang="en-IE" smtClean="0"/>
              <a:t>17</a:t>
            </a:fld>
            <a:endParaRPr lang="en-IE"/>
          </a:p>
        </p:txBody>
      </p:sp>
    </p:spTree>
    <p:extLst>
      <p:ext uri="{BB962C8B-B14F-4D97-AF65-F5344CB8AC3E}">
        <p14:creationId xmlns:p14="http://schemas.microsoft.com/office/powerpoint/2010/main" val="129576455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E"/>
          </a:p>
        </p:txBody>
      </p:sp>
      <p:sp>
        <p:nvSpPr>
          <p:cNvPr id="4" name="Slide Number Placeholder 3"/>
          <p:cNvSpPr>
            <a:spLocks noGrp="1"/>
          </p:cNvSpPr>
          <p:nvPr>
            <p:ph type="sldNum" sz="quarter" idx="10"/>
          </p:nvPr>
        </p:nvSpPr>
        <p:spPr/>
        <p:txBody>
          <a:bodyPr/>
          <a:lstStyle/>
          <a:p>
            <a:fld id="{6EC2A001-7C60-4054-9223-519E11C36BF7}" type="slidenum">
              <a:rPr lang="en-IE" smtClean="0"/>
              <a:t>18</a:t>
            </a:fld>
            <a:endParaRPr lang="en-IE"/>
          </a:p>
        </p:txBody>
      </p:sp>
    </p:spTree>
    <p:extLst>
      <p:ext uri="{BB962C8B-B14F-4D97-AF65-F5344CB8AC3E}">
        <p14:creationId xmlns:p14="http://schemas.microsoft.com/office/powerpoint/2010/main" val="196999952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E"/>
          </a:p>
        </p:txBody>
      </p:sp>
      <p:sp>
        <p:nvSpPr>
          <p:cNvPr id="4" name="Slide Number Placeholder 3"/>
          <p:cNvSpPr>
            <a:spLocks noGrp="1"/>
          </p:cNvSpPr>
          <p:nvPr>
            <p:ph type="sldNum" sz="quarter" idx="10"/>
          </p:nvPr>
        </p:nvSpPr>
        <p:spPr/>
        <p:txBody>
          <a:bodyPr/>
          <a:lstStyle/>
          <a:p>
            <a:fld id="{6EC2A001-7C60-4054-9223-519E11C36BF7}" type="slidenum">
              <a:rPr lang="en-IE" smtClean="0"/>
              <a:t>19</a:t>
            </a:fld>
            <a:endParaRPr lang="en-IE"/>
          </a:p>
        </p:txBody>
      </p:sp>
    </p:spTree>
    <p:extLst>
      <p:ext uri="{BB962C8B-B14F-4D97-AF65-F5344CB8AC3E}">
        <p14:creationId xmlns:p14="http://schemas.microsoft.com/office/powerpoint/2010/main" val="2223176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E"/>
          </a:p>
        </p:txBody>
      </p:sp>
      <p:sp>
        <p:nvSpPr>
          <p:cNvPr id="4" name="Slide Number Placeholder 3"/>
          <p:cNvSpPr>
            <a:spLocks noGrp="1"/>
          </p:cNvSpPr>
          <p:nvPr>
            <p:ph type="sldNum" sz="quarter" idx="10"/>
          </p:nvPr>
        </p:nvSpPr>
        <p:spPr/>
        <p:txBody>
          <a:bodyPr/>
          <a:lstStyle/>
          <a:p>
            <a:fld id="{6EC2A001-7C60-4054-9223-519E11C36BF7}" type="slidenum">
              <a:rPr lang="en-IE" smtClean="0"/>
              <a:t>20</a:t>
            </a:fld>
            <a:endParaRPr lang="en-IE"/>
          </a:p>
        </p:txBody>
      </p:sp>
    </p:spTree>
    <p:extLst>
      <p:ext uri="{BB962C8B-B14F-4D97-AF65-F5344CB8AC3E}">
        <p14:creationId xmlns:p14="http://schemas.microsoft.com/office/powerpoint/2010/main" val="377761366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E"/>
          </a:p>
        </p:txBody>
      </p:sp>
      <p:sp>
        <p:nvSpPr>
          <p:cNvPr id="4" name="Slide Number Placeholder 3"/>
          <p:cNvSpPr>
            <a:spLocks noGrp="1"/>
          </p:cNvSpPr>
          <p:nvPr>
            <p:ph type="sldNum" sz="quarter" idx="10"/>
          </p:nvPr>
        </p:nvSpPr>
        <p:spPr/>
        <p:txBody>
          <a:bodyPr/>
          <a:lstStyle/>
          <a:p>
            <a:fld id="{6EC2A001-7C60-4054-9223-519E11C36BF7}" type="slidenum">
              <a:rPr lang="en-IE" smtClean="0"/>
              <a:t>21</a:t>
            </a:fld>
            <a:endParaRPr lang="en-IE"/>
          </a:p>
        </p:txBody>
      </p:sp>
    </p:spTree>
    <p:extLst>
      <p:ext uri="{BB962C8B-B14F-4D97-AF65-F5344CB8AC3E}">
        <p14:creationId xmlns:p14="http://schemas.microsoft.com/office/powerpoint/2010/main" val="377761366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582930" y="3118104"/>
            <a:ext cx="6606540" cy="2112264"/>
          </a:xfrm>
          <a:prstGeom prst="rect">
            <a:avLst/>
          </a:prstGeom>
        </p:spPr>
        <p:txBody>
          <a:bodyPr wrap="square" lIns="0" tIns="0" rIns="0" bIns="0">
            <a:spAutoFit/>
          </a:bodyPr>
          <a:lstStyle>
            <a:lvl1pPr>
              <a:defRPr/>
            </a:lvl1pPr>
          </a:lstStyle>
          <a:p>
            <a:endParaRPr/>
          </a:p>
        </p:txBody>
      </p:sp>
      <p:sp>
        <p:nvSpPr>
          <p:cNvPr id="3" name="Holder 3"/>
          <p:cNvSpPr>
            <a:spLocks noGrp="1"/>
          </p:cNvSpPr>
          <p:nvPr>
            <p:ph type="subTitle" idx="4"/>
          </p:nvPr>
        </p:nvSpPr>
        <p:spPr>
          <a:xfrm>
            <a:off x="1165860" y="5632704"/>
            <a:ext cx="5440680" cy="251460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8/28/2019</a:t>
            </a:fld>
            <a:endParaRPr lang="en-US"/>
          </a:p>
        </p:txBody>
      </p:sp>
      <p:sp>
        <p:nvSpPr>
          <p:cNvPr id="6" name="Holder 6"/>
          <p:cNvSpPr>
            <a:spLocks noGrp="1"/>
          </p:cNvSpPr>
          <p:nvPr>
            <p:ph type="sldNum" sz="quarter" idx="7"/>
          </p:nvPr>
        </p:nvSpPr>
        <p:spPr/>
        <p:txBody>
          <a:bodyPr lIns="0" tIns="0" rIns="0" bIns="0"/>
          <a:lstStyle>
            <a:lvl1pPr>
              <a:defRPr sz="700" b="1" i="0">
                <a:solidFill>
                  <a:srgbClr val="7E7E7E"/>
                </a:solidFill>
                <a:latin typeface="Arial Narrow"/>
                <a:cs typeface="Arial Narrow"/>
              </a:defRPr>
            </a:lvl1pPr>
          </a:lstStyle>
          <a:p>
            <a:pPr marL="25400">
              <a:lnSpc>
                <a:spcPts val="835"/>
              </a:lnSpc>
            </a:pPr>
            <a:fld id="{81D60167-4931-47E6-BA6A-407CBD079E47}" type="slidenum">
              <a:rPr spc="10" dirty="0"/>
              <a:t>‹#›</a:t>
            </a:fld>
            <a:r>
              <a:rPr spc="10" dirty="0"/>
              <a:t>8</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a:lvl1pPr>
          </a:lstStyle>
          <a:p>
            <a:endParaRPr/>
          </a:p>
        </p:txBody>
      </p:sp>
      <p:sp>
        <p:nvSpPr>
          <p:cNvPr id="3" name="Holder 3"/>
          <p:cNvSpPr>
            <a:spLocks noGrp="1"/>
          </p:cNvSpPr>
          <p:nvPr>
            <p:ph type="body" idx="1"/>
          </p:nvPr>
        </p:nvSpPr>
        <p:spPr/>
        <p:txBody>
          <a:bodyPr lIns="0" tIns="0" rIns="0" bIns="0"/>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8/28/2019</a:t>
            </a:fld>
            <a:endParaRPr lang="en-US"/>
          </a:p>
        </p:txBody>
      </p:sp>
      <p:sp>
        <p:nvSpPr>
          <p:cNvPr id="6" name="Holder 6"/>
          <p:cNvSpPr>
            <a:spLocks noGrp="1"/>
          </p:cNvSpPr>
          <p:nvPr>
            <p:ph type="sldNum" sz="quarter" idx="7"/>
          </p:nvPr>
        </p:nvSpPr>
        <p:spPr/>
        <p:txBody>
          <a:bodyPr lIns="0" tIns="0" rIns="0" bIns="0"/>
          <a:lstStyle>
            <a:lvl1pPr>
              <a:defRPr sz="700" b="1" i="0">
                <a:solidFill>
                  <a:srgbClr val="7E7E7E"/>
                </a:solidFill>
                <a:latin typeface="Arial Narrow"/>
                <a:cs typeface="Arial Narrow"/>
              </a:defRPr>
            </a:lvl1pPr>
          </a:lstStyle>
          <a:p>
            <a:pPr marL="25400">
              <a:lnSpc>
                <a:spcPts val="835"/>
              </a:lnSpc>
            </a:pPr>
            <a:fld id="{81D60167-4931-47E6-BA6A-407CBD079E47}" type="slidenum">
              <a:rPr spc="10" dirty="0"/>
              <a:t>‹#›</a:t>
            </a:fld>
            <a:r>
              <a:rPr spc="10" dirty="0"/>
              <a:t>8</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a:lvl1pPr>
          </a:lstStyle>
          <a:p>
            <a:endParaRPr/>
          </a:p>
        </p:txBody>
      </p:sp>
      <p:sp>
        <p:nvSpPr>
          <p:cNvPr id="3" name="Holder 3"/>
          <p:cNvSpPr>
            <a:spLocks noGrp="1"/>
          </p:cNvSpPr>
          <p:nvPr>
            <p:ph sz="half" idx="2"/>
          </p:nvPr>
        </p:nvSpPr>
        <p:spPr>
          <a:xfrm>
            <a:off x="388620" y="2313432"/>
            <a:ext cx="3380994" cy="6638544"/>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4002786" y="2313432"/>
            <a:ext cx="3380994" cy="6638544"/>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8/28/2019</a:t>
            </a:fld>
            <a:endParaRPr lang="en-US"/>
          </a:p>
        </p:txBody>
      </p:sp>
      <p:sp>
        <p:nvSpPr>
          <p:cNvPr id="7" name="Holder 7"/>
          <p:cNvSpPr>
            <a:spLocks noGrp="1"/>
          </p:cNvSpPr>
          <p:nvPr>
            <p:ph type="sldNum" sz="quarter" idx="7"/>
          </p:nvPr>
        </p:nvSpPr>
        <p:spPr/>
        <p:txBody>
          <a:bodyPr lIns="0" tIns="0" rIns="0" bIns="0"/>
          <a:lstStyle>
            <a:lvl1pPr>
              <a:defRPr sz="700" b="1" i="0">
                <a:solidFill>
                  <a:srgbClr val="7E7E7E"/>
                </a:solidFill>
                <a:latin typeface="Arial Narrow"/>
                <a:cs typeface="Arial Narrow"/>
              </a:defRPr>
            </a:lvl1pPr>
          </a:lstStyle>
          <a:p>
            <a:pPr marL="25400">
              <a:lnSpc>
                <a:spcPts val="835"/>
              </a:lnSpc>
            </a:pPr>
            <a:fld id="{81D60167-4931-47E6-BA6A-407CBD079E47}" type="slidenum">
              <a:rPr spc="10" dirty="0"/>
              <a:t>‹#›</a:t>
            </a:fld>
            <a:r>
              <a:rPr spc="10" dirty="0"/>
              <a:t>8</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a:lvl1pPr>
          </a:lstStyle>
          <a:p>
            <a:endParaRPr dirty="0"/>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8/28/2019</a:t>
            </a:fld>
            <a:endParaRPr lang="en-US"/>
          </a:p>
        </p:txBody>
      </p:sp>
      <p:sp>
        <p:nvSpPr>
          <p:cNvPr id="5" name="Holder 5"/>
          <p:cNvSpPr>
            <a:spLocks noGrp="1"/>
          </p:cNvSpPr>
          <p:nvPr>
            <p:ph type="sldNum" sz="quarter" idx="7"/>
          </p:nvPr>
        </p:nvSpPr>
        <p:spPr/>
        <p:txBody>
          <a:bodyPr lIns="0" tIns="0" rIns="0" bIns="0"/>
          <a:lstStyle>
            <a:lvl1pPr>
              <a:defRPr sz="700" b="1" i="0">
                <a:solidFill>
                  <a:srgbClr val="7E7E7E"/>
                </a:solidFill>
                <a:latin typeface="Arial Narrow"/>
                <a:cs typeface="Arial Narrow"/>
              </a:defRPr>
            </a:lvl1pPr>
          </a:lstStyle>
          <a:p>
            <a:pPr marL="25400">
              <a:lnSpc>
                <a:spcPts val="835"/>
              </a:lnSpc>
            </a:pPr>
            <a:fld id="{81D60167-4931-47E6-BA6A-407CBD079E47}" type="slidenum">
              <a:rPr spc="10" dirty="0"/>
              <a:t>‹#›</a:t>
            </a:fld>
            <a:r>
              <a:rPr spc="10" dirty="0"/>
              <a:t>8</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8/28/2019</a:t>
            </a:fld>
            <a:endParaRPr lang="en-US"/>
          </a:p>
        </p:txBody>
      </p:sp>
      <p:sp>
        <p:nvSpPr>
          <p:cNvPr id="4" name="Holder 4"/>
          <p:cNvSpPr>
            <a:spLocks noGrp="1"/>
          </p:cNvSpPr>
          <p:nvPr>
            <p:ph type="sldNum" sz="quarter" idx="7"/>
          </p:nvPr>
        </p:nvSpPr>
        <p:spPr/>
        <p:txBody>
          <a:bodyPr lIns="0" tIns="0" rIns="0" bIns="0"/>
          <a:lstStyle>
            <a:lvl1pPr>
              <a:defRPr sz="700" b="1" i="0">
                <a:solidFill>
                  <a:srgbClr val="7E7E7E"/>
                </a:solidFill>
                <a:latin typeface="Arial Narrow"/>
                <a:cs typeface="Arial Narrow"/>
              </a:defRPr>
            </a:lvl1pPr>
          </a:lstStyle>
          <a:p>
            <a:pPr marL="25400">
              <a:lnSpc>
                <a:spcPts val="835"/>
              </a:lnSpc>
            </a:pPr>
            <a:fld id="{81D60167-4931-47E6-BA6A-407CBD079E47}" type="slidenum">
              <a:rPr spc="10" dirty="0"/>
              <a:t>‹#›</a:t>
            </a:fld>
            <a:r>
              <a:rPr spc="10" dirty="0"/>
              <a:t>8</a:t>
            </a: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jp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718299" y="735685"/>
            <a:ext cx="6335801" cy="3563886"/>
          </a:xfrm>
          <a:prstGeom prst="rect">
            <a:avLst/>
          </a:prstGeom>
          <a:blipFill>
            <a:blip r:embed="rId7" cstate="print"/>
            <a:stretch>
              <a:fillRect/>
            </a:stretch>
          </a:blipFill>
        </p:spPr>
        <p:txBody>
          <a:bodyPr wrap="square" lIns="0" tIns="0" rIns="0" bIns="0" rtlCol="0"/>
          <a:lstStyle/>
          <a:p>
            <a:endParaRPr/>
          </a:p>
        </p:txBody>
      </p:sp>
      <p:sp>
        <p:nvSpPr>
          <p:cNvPr id="17" name="bk object 17"/>
          <p:cNvSpPr/>
          <p:nvPr/>
        </p:nvSpPr>
        <p:spPr>
          <a:xfrm>
            <a:off x="790778" y="3971747"/>
            <a:ext cx="6144895" cy="328295"/>
          </a:xfrm>
          <a:custGeom>
            <a:avLst/>
            <a:gdLst/>
            <a:ahLst/>
            <a:cxnLst/>
            <a:rect l="l" t="t" r="r" b="b"/>
            <a:pathLst>
              <a:path w="6144895" h="328295">
                <a:moveTo>
                  <a:pt x="0" y="327825"/>
                </a:moveTo>
                <a:lnTo>
                  <a:pt x="6144768" y="327825"/>
                </a:lnTo>
                <a:lnTo>
                  <a:pt x="6144768" y="0"/>
                </a:lnTo>
                <a:lnTo>
                  <a:pt x="0" y="0"/>
                </a:lnTo>
                <a:lnTo>
                  <a:pt x="0" y="327825"/>
                </a:lnTo>
                <a:close/>
              </a:path>
            </a:pathLst>
          </a:custGeom>
          <a:solidFill>
            <a:srgbClr val="FFFFFF"/>
          </a:solidFill>
        </p:spPr>
        <p:txBody>
          <a:bodyPr wrap="square" lIns="0" tIns="0" rIns="0" bIns="0" rtlCol="0"/>
          <a:lstStyle/>
          <a:p>
            <a:endParaRPr/>
          </a:p>
        </p:txBody>
      </p:sp>
      <p:sp>
        <p:nvSpPr>
          <p:cNvPr id="2" name="Holder 2"/>
          <p:cNvSpPr>
            <a:spLocks noGrp="1"/>
          </p:cNvSpPr>
          <p:nvPr>
            <p:ph type="title"/>
          </p:nvPr>
        </p:nvSpPr>
        <p:spPr>
          <a:xfrm>
            <a:off x="388620" y="402336"/>
            <a:ext cx="6995160" cy="1609344"/>
          </a:xfrm>
          <a:prstGeom prst="rect">
            <a:avLst/>
          </a:prstGeom>
        </p:spPr>
        <p:txBody>
          <a:bodyPr wrap="square" lIns="0" tIns="0" rIns="0" bIns="0">
            <a:spAutoFit/>
          </a:bodyPr>
          <a:lstStyle>
            <a:lvl1pPr>
              <a:defRPr/>
            </a:lvl1pPr>
          </a:lstStyle>
          <a:p>
            <a:endParaRPr/>
          </a:p>
        </p:txBody>
      </p:sp>
      <p:sp>
        <p:nvSpPr>
          <p:cNvPr id="3" name="Holder 3"/>
          <p:cNvSpPr>
            <a:spLocks noGrp="1"/>
          </p:cNvSpPr>
          <p:nvPr>
            <p:ph type="body" idx="1"/>
          </p:nvPr>
        </p:nvSpPr>
        <p:spPr>
          <a:xfrm>
            <a:off x="388620" y="2313432"/>
            <a:ext cx="6995160" cy="6638544"/>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a:xfrm>
            <a:off x="2642616" y="9354312"/>
            <a:ext cx="2487168" cy="50292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388620" y="9354312"/>
            <a:ext cx="1787652" cy="50292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8/28/2019</a:t>
            </a:fld>
            <a:endParaRPr lang="en-US"/>
          </a:p>
        </p:txBody>
      </p:sp>
      <p:sp>
        <p:nvSpPr>
          <p:cNvPr id="6" name="Holder 6"/>
          <p:cNvSpPr>
            <a:spLocks noGrp="1"/>
          </p:cNvSpPr>
          <p:nvPr>
            <p:ph type="sldNum" sz="quarter" idx="7"/>
          </p:nvPr>
        </p:nvSpPr>
        <p:spPr>
          <a:xfrm>
            <a:off x="752415" y="9179425"/>
            <a:ext cx="122555" cy="118109"/>
          </a:xfrm>
          <a:prstGeom prst="rect">
            <a:avLst/>
          </a:prstGeom>
        </p:spPr>
        <p:txBody>
          <a:bodyPr wrap="square" lIns="0" tIns="0" rIns="0" bIns="0">
            <a:spAutoFit/>
          </a:bodyPr>
          <a:lstStyle>
            <a:lvl1pPr>
              <a:defRPr sz="700" b="1" i="0">
                <a:solidFill>
                  <a:srgbClr val="7E7E7E"/>
                </a:solidFill>
                <a:latin typeface="Arial Narrow"/>
                <a:cs typeface="Arial Narrow"/>
              </a:defRPr>
            </a:lvl1pPr>
          </a:lstStyle>
          <a:p>
            <a:pPr marL="25400">
              <a:lnSpc>
                <a:spcPts val="835"/>
              </a:lnSpc>
            </a:pPr>
            <a:fld id="{81D60167-4931-47E6-BA6A-407CBD079E47}" type="slidenum">
              <a:rPr spc="10" dirty="0"/>
              <a:t>‹#›</a:t>
            </a:fld>
            <a:r>
              <a:rPr spc="10" dirty="0"/>
              <a:t>8</a:t>
            </a: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5.xml"/><Relationship Id="rId5" Type="http://schemas.openxmlformats.org/officeDocument/2006/relationships/image" Target="../media/image3.jp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4.xml"/><Relationship Id="rId1" Type="http://schemas.openxmlformats.org/officeDocument/2006/relationships/slideLayout" Target="../slideLayouts/slideLayout5.xml"/><Relationship Id="rId4" Type="http://schemas.openxmlformats.org/officeDocument/2006/relationships/image" Target="../media/image1.jpg"/></Relationships>
</file>

<file path=ppt/slides/_rels/slide5.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8.xml"/><Relationship Id="rId1" Type="http://schemas.openxmlformats.org/officeDocument/2006/relationships/slideLayout" Target="../slideLayouts/slideLayout5.xml"/><Relationship Id="rId4" Type="http://schemas.openxmlformats.org/officeDocument/2006/relationships/image" Target="../media/image1.jpg"/></Relationships>
</file>

<file path=ppt/slides/_rels/slide9.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6.xml"/><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17.xml"/><Relationship Id="rId1" Type="http://schemas.openxmlformats.org/officeDocument/2006/relationships/slideLayout" Target="../slideLayouts/slideLayout5.xml"/><Relationship Id="rId4" Type="http://schemas.openxmlformats.org/officeDocument/2006/relationships/image" Target="../media/image1.jpg"/></Relationships>
</file>

<file path=ppt/slides/_rels/slide18.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8.xml"/><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722134" y="739533"/>
            <a:ext cx="6327775" cy="3556000"/>
          </a:xfrm>
          <a:prstGeom prst="rect">
            <a:avLst/>
          </a:prstGeom>
          <a:ln w="8153">
            <a:solidFill>
              <a:srgbClr val="000000"/>
            </a:solidFill>
          </a:ln>
        </p:spPr>
        <p:txBody>
          <a:bodyPr vert="horz" wrap="square" lIns="0" tIns="0" rIns="0" bIns="0" rtlCol="0">
            <a:spAutoFit/>
          </a:bodyPr>
          <a:lstStyle/>
          <a:p>
            <a:pPr marL="803275">
              <a:lnSpc>
                <a:spcPts val="2550"/>
              </a:lnSpc>
            </a:pPr>
            <a:r>
              <a:rPr sz="2150" b="1" spc="10" dirty="0">
                <a:solidFill>
                  <a:srgbClr val="FFFFFF"/>
                </a:solidFill>
                <a:latin typeface="Arial"/>
                <a:cs typeface="Arial"/>
              </a:rPr>
              <a:t>Motivation for Concurrent</a:t>
            </a:r>
            <a:r>
              <a:rPr sz="2150" b="1" spc="-40" dirty="0">
                <a:solidFill>
                  <a:srgbClr val="FFFFFF"/>
                </a:solidFill>
                <a:latin typeface="Arial"/>
                <a:cs typeface="Arial"/>
              </a:rPr>
              <a:t> </a:t>
            </a:r>
            <a:r>
              <a:rPr sz="2150" b="1" spc="15" dirty="0">
                <a:solidFill>
                  <a:srgbClr val="FFFFFF"/>
                </a:solidFill>
                <a:latin typeface="Arial"/>
                <a:cs typeface="Arial"/>
              </a:rPr>
              <a:t>Programming</a:t>
            </a:r>
            <a:endParaRPr sz="2150" dirty="0">
              <a:latin typeface="Arial"/>
              <a:cs typeface="Arial"/>
            </a:endParaRPr>
          </a:p>
          <a:p>
            <a:pPr marL="257175" indent="-177800">
              <a:lnSpc>
                <a:spcPct val="100000"/>
              </a:lnSpc>
              <a:spcBef>
                <a:spcPts val="969"/>
              </a:spcBef>
              <a:buClr>
                <a:srgbClr val="CC0000"/>
              </a:buClr>
              <a:buFont typeface="Arial"/>
              <a:buChar char="•"/>
              <a:tabLst>
                <a:tab pos="257810" algn="l"/>
              </a:tabLst>
            </a:pPr>
            <a:r>
              <a:rPr sz="1550" b="1" dirty="0">
                <a:latin typeface="Arial"/>
                <a:cs typeface="Arial"/>
              </a:rPr>
              <a:t>Pros</a:t>
            </a:r>
            <a:endParaRPr sz="1550" dirty="0">
              <a:latin typeface="Arial"/>
              <a:cs typeface="Arial"/>
            </a:endParaRPr>
          </a:p>
          <a:p>
            <a:pPr marL="464820" lvl="1" indent="-147955">
              <a:lnSpc>
                <a:spcPct val="100000"/>
              </a:lnSpc>
              <a:spcBef>
                <a:spcPts val="360"/>
              </a:spcBef>
              <a:buClr>
                <a:srgbClr val="CC0000"/>
              </a:buClr>
              <a:buChar char="–"/>
              <a:tabLst>
                <a:tab pos="465455" algn="l"/>
              </a:tabLst>
            </a:pPr>
            <a:r>
              <a:rPr sz="1350" spc="-5" dirty="0">
                <a:latin typeface="Times New Roman"/>
                <a:cs typeface="Times New Roman"/>
              </a:rPr>
              <a:t>Advantages even on single-processor</a:t>
            </a:r>
            <a:r>
              <a:rPr sz="1350" spc="-60" dirty="0">
                <a:latin typeface="Times New Roman"/>
                <a:cs typeface="Times New Roman"/>
              </a:rPr>
              <a:t> </a:t>
            </a:r>
            <a:r>
              <a:rPr sz="1350" spc="-5" dirty="0">
                <a:latin typeface="Times New Roman"/>
                <a:cs typeface="Times New Roman"/>
              </a:rPr>
              <a:t>systems</a:t>
            </a:r>
            <a:endParaRPr sz="1350" dirty="0">
              <a:latin typeface="Times New Roman"/>
              <a:cs typeface="Times New Roman"/>
            </a:endParaRPr>
          </a:p>
          <a:p>
            <a:pPr marL="673100" lvl="2" indent="-118745">
              <a:lnSpc>
                <a:spcPct val="100000"/>
              </a:lnSpc>
              <a:spcBef>
                <a:spcPts val="215"/>
              </a:spcBef>
              <a:buClr>
                <a:srgbClr val="CC0000"/>
              </a:buClr>
              <a:buChar char="•"/>
              <a:tabLst>
                <a:tab pos="673735" algn="l"/>
              </a:tabLst>
            </a:pPr>
            <a:r>
              <a:rPr sz="1150" spc="-5" dirty="0">
                <a:latin typeface="Arial"/>
                <a:cs typeface="Arial"/>
              </a:rPr>
              <a:t>Efficiency</a:t>
            </a:r>
            <a:endParaRPr sz="1150" dirty="0">
              <a:latin typeface="Arial"/>
              <a:cs typeface="Arial"/>
            </a:endParaRPr>
          </a:p>
          <a:p>
            <a:pPr marL="911225" lvl="3" indent="-119380">
              <a:lnSpc>
                <a:spcPct val="100000"/>
              </a:lnSpc>
              <a:spcBef>
                <a:spcPts val="375"/>
              </a:spcBef>
              <a:buClr>
                <a:srgbClr val="CC0000"/>
              </a:buClr>
              <a:buChar char="–"/>
              <a:tabLst>
                <a:tab pos="911860" algn="l"/>
              </a:tabLst>
            </a:pPr>
            <a:r>
              <a:rPr sz="900" spc="15" dirty="0">
                <a:latin typeface="Arial"/>
                <a:cs typeface="Arial"/>
              </a:rPr>
              <a:t>Downloading network data</a:t>
            </a:r>
            <a:r>
              <a:rPr sz="900" spc="-30" dirty="0">
                <a:latin typeface="Arial"/>
                <a:cs typeface="Arial"/>
              </a:rPr>
              <a:t> </a:t>
            </a:r>
            <a:r>
              <a:rPr sz="900" spc="10" dirty="0">
                <a:latin typeface="Arial"/>
                <a:cs typeface="Arial"/>
              </a:rPr>
              <a:t>files</a:t>
            </a:r>
            <a:endParaRPr sz="900" dirty="0">
              <a:latin typeface="Arial"/>
              <a:cs typeface="Arial"/>
            </a:endParaRPr>
          </a:p>
          <a:p>
            <a:pPr marL="673100" lvl="2" indent="-118745">
              <a:lnSpc>
                <a:spcPct val="100000"/>
              </a:lnSpc>
              <a:spcBef>
                <a:spcPts val="200"/>
              </a:spcBef>
              <a:buClr>
                <a:srgbClr val="CC0000"/>
              </a:buClr>
              <a:buChar char="•"/>
              <a:tabLst>
                <a:tab pos="673735" algn="l"/>
              </a:tabLst>
            </a:pPr>
            <a:r>
              <a:rPr sz="1150" spc="-5" dirty="0">
                <a:latin typeface="Arial"/>
                <a:cs typeface="Arial"/>
              </a:rPr>
              <a:t>Convenience</a:t>
            </a:r>
            <a:endParaRPr sz="1150" dirty="0">
              <a:latin typeface="Arial"/>
              <a:cs typeface="Arial"/>
            </a:endParaRPr>
          </a:p>
          <a:p>
            <a:pPr marL="911225" lvl="3" indent="-119380">
              <a:lnSpc>
                <a:spcPct val="100000"/>
              </a:lnSpc>
              <a:spcBef>
                <a:spcPts val="375"/>
              </a:spcBef>
              <a:buClr>
                <a:srgbClr val="CC0000"/>
              </a:buClr>
              <a:buChar char="–"/>
              <a:tabLst>
                <a:tab pos="911860" algn="l"/>
              </a:tabLst>
            </a:pPr>
            <a:r>
              <a:rPr sz="900" spc="20" dirty="0">
                <a:latin typeface="Arial"/>
                <a:cs typeface="Arial"/>
              </a:rPr>
              <a:t>A </a:t>
            </a:r>
            <a:r>
              <a:rPr sz="900" spc="10" dirty="0">
                <a:latin typeface="Arial"/>
                <a:cs typeface="Arial"/>
              </a:rPr>
              <a:t>clock</a:t>
            </a:r>
            <a:r>
              <a:rPr sz="900" spc="-85" dirty="0">
                <a:latin typeface="Arial"/>
                <a:cs typeface="Arial"/>
              </a:rPr>
              <a:t> </a:t>
            </a:r>
            <a:r>
              <a:rPr sz="900" spc="10" dirty="0">
                <a:latin typeface="Arial"/>
                <a:cs typeface="Arial"/>
              </a:rPr>
              <a:t>icon</a:t>
            </a:r>
            <a:endParaRPr sz="900" dirty="0">
              <a:latin typeface="Arial"/>
              <a:cs typeface="Arial"/>
            </a:endParaRPr>
          </a:p>
          <a:p>
            <a:pPr marL="673100" lvl="2" indent="-118745">
              <a:lnSpc>
                <a:spcPct val="100000"/>
              </a:lnSpc>
              <a:spcBef>
                <a:spcPts val="200"/>
              </a:spcBef>
              <a:buClr>
                <a:srgbClr val="CC0000"/>
              </a:buClr>
              <a:buChar char="•"/>
              <a:tabLst>
                <a:tab pos="673735" algn="l"/>
              </a:tabLst>
            </a:pPr>
            <a:r>
              <a:rPr sz="1150" spc="-5" dirty="0">
                <a:latin typeface="Arial"/>
                <a:cs typeface="Arial"/>
              </a:rPr>
              <a:t>Multi-client</a:t>
            </a:r>
            <a:r>
              <a:rPr sz="1150" spc="-45" dirty="0">
                <a:latin typeface="Arial"/>
                <a:cs typeface="Arial"/>
              </a:rPr>
              <a:t> </a:t>
            </a:r>
            <a:r>
              <a:rPr sz="1150" spc="-5" dirty="0">
                <a:latin typeface="Arial"/>
                <a:cs typeface="Arial"/>
              </a:rPr>
              <a:t>applications</a:t>
            </a:r>
            <a:endParaRPr sz="1150" dirty="0">
              <a:latin typeface="Arial"/>
              <a:cs typeface="Arial"/>
            </a:endParaRPr>
          </a:p>
          <a:p>
            <a:pPr marL="911225" lvl="3" indent="-119380">
              <a:lnSpc>
                <a:spcPct val="100000"/>
              </a:lnSpc>
              <a:spcBef>
                <a:spcPts val="375"/>
              </a:spcBef>
              <a:buClr>
                <a:srgbClr val="CC0000"/>
              </a:buClr>
              <a:buChar char="–"/>
              <a:tabLst>
                <a:tab pos="911860" algn="l"/>
              </a:tabLst>
            </a:pPr>
            <a:r>
              <a:rPr sz="900" spc="20" dirty="0">
                <a:latin typeface="Arial"/>
                <a:cs typeface="Arial"/>
              </a:rPr>
              <a:t>HTTP </a:t>
            </a:r>
            <a:r>
              <a:rPr sz="900" spc="10" dirty="0">
                <a:latin typeface="Arial"/>
                <a:cs typeface="Arial"/>
              </a:rPr>
              <a:t>Server, </a:t>
            </a:r>
            <a:r>
              <a:rPr sz="900" spc="20" dirty="0">
                <a:latin typeface="Arial"/>
                <a:cs typeface="Arial"/>
              </a:rPr>
              <a:t>SMTP</a:t>
            </a:r>
            <a:r>
              <a:rPr sz="900" spc="-65" dirty="0">
                <a:latin typeface="Arial"/>
                <a:cs typeface="Arial"/>
              </a:rPr>
              <a:t> </a:t>
            </a:r>
            <a:r>
              <a:rPr sz="900" spc="10" dirty="0">
                <a:latin typeface="Arial"/>
                <a:cs typeface="Arial"/>
              </a:rPr>
              <a:t>Server</a:t>
            </a:r>
            <a:endParaRPr sz="900" dirty="0">
              <a:latin typeface="Arial"/>
              <a:cs typeface="Arial"/>
            </a:endParaRPr>
          </a:p>
          <a:p>
            <a:pPr marL="464820" lvl="1" indent="-147955">
              <a:lnSpc>
                <a:spcPct val="100000"/>
              </a:lnSpc>
              <a:spcBef>
                <a:spcPts val="345"/>
              </a:spcBef>
              <a:buClr>
                <a:srgbClr val="CC0000"/>
              </a:buClr>
              <a:buChar char="–"/>
              <a:tabLst>
                <a:tab pos="465455" algn="l"/>
              </a:tabLst>
            </a:pPr>
            <a:r>
              <a:rPr sz="1350" spc="-5" dirty="0">
                <a:latin typeface="Times New Roman"/>
                <a:cs typeface="Times New Roman"/>
              </a:rPr>
              <a:t>Many computers have multiple</a:t>
            </a:r>
            <a:r>
              <a:rPr sz="1350" spc="-45" dirty="0">
                <a:latin typeface="Times New Roman"/>
                <a:cs typeface="Times New Roman"/>
              </a:rPr>
              <a:t> </a:t>
            </a:r>
            <a:r>
              <a:rPr sz="1350" spc="-5" dirty="0">
                <a:latin typeface="Times New Roman"/>
                <a:cs typeface="Times New Roman"/>
              </a:rPr>
              <a:t>processors</a:t>
            </a:r>
            <a:endParaRPr sz="1350" dirty="0">
              <a:latin typeface="Times New Roman"/>
              <a:cs typeface="Times New Roman"/>
            </a:endParaRPr>
          </a:p>
          <a:p>
            <a:pPr marL="673100" lvl="2" indent="-118745">
              <a:lnSpc>
                <a:spcPct val="100000"/>
              </a:lnSpc>
              <a:spcBef>
                <a:spcPts val="215"/>
              </a:spcBef>
              <a:buClr>
                <a:srgbClr val="CC0000"/>
              </a:buClr>
              <a:buChar char="•"/>
              <a:tabLst>
                <a:tab pos="673735" algn="l"/>
              </a:tabLst>
            </a:pPr>
            <a:r>
              <a:rPr sz="1150" spc="-5" dirty="0">
                <a:latin typeface="Arial"/>
                <a:cs typeface="Arial"/>
              </a:rPr>
              <a:t>Find out via</a:t>
            </a:r>
            <a:r>
              <a:rPr sz="1150" spc="30" dirty="0">
                <a:latin typeface="Arial"/>
                <a:cs typeface="Arial"/>
              </a:rPr>
              <a:t> </a:t>
            </a:r>
            <a:r>
              <a:rPr sz="1150" spc="-5" dirty="0">
                <a:latin typeface="Arial"/>
                <a:cs typeface="Arial"/>
              </a:rPr>
              <a:t>Runtime.getRuntime().availableProcessors()</a:t>
            </a:r>
            <a:endParaRPr sz="1150" dirty="0">
              <a:latin typeface="Arial"/>
              <a:cs typeface="Arial"/>
            </a:endParaRPr>
          </a:p>
          <a:p>
            <a:pPr marL="257175" indent="-177800">
              <a:lnSpc>
                <a:spcPct val="100000"/>
              </a:lnSpc>
              <a:spcBef>
                <a:spcPts val="359"/>
              </a:spcBef>
              <a:buClr>
                <a:srgbClr val="CC0000"/>
              </a:buClr>
              <a:buFont typeface="Arial"/>
              <a:buChar char="•"/>
              <a:tabLst>
                <a:tab pos="257810" algn="l"/>
              </a:tabLst>
            </a:pPr>
            <a:r>
              <a:rPr sz="1550" b="1" dirty="0">
                <a:latin typeface="Arial"/>
                <a:cs typeface="Arial"/>
              </a:rPr>
              <a:t>Cons</a:t>
            </a:r>
            <a:endParaRPr sz="1550" dirty="0">
              <a:latin typeface="Arial"/>
              <a:cs typeface="Arial"/>
            </a:endParaRPr>
          </a:p>
          <a:p>
            <a:pPr marL="464820" lvl="1" indent="-147955">
              <a:lnSpc>
                <a:spcPct val="100000"/>
              </a:lnSpc>
              <a:spcBef>
                <a:spcPts val="360"/>
              </a:spcBef>
              <a:buClr>
                <a:srgbClr val="CC0000"/>
              </a:buClr>
              <a:buChar char="–"/>
              <a:tabLst>
                <a:tab pos="465455" algn="l"/>
              </a:tabLst>
            </a:pPr>
            <a:r>
              <a:rPr sz="1350" spc="-5" dirty="0">
                <a:latin typeface="Times New Roman"/>
                <a:cs typeface="Times New Roman"/>
              </a:rPr>
              <a:t>Significantly harder to debug and maintain than single-threaded</a:t>
            </a:r>
            <a:r>
              <a:rPr sz="1350" dirty="0">
                <a:latin typeface="Times New Roman"/>
                <a:cs typeface="Times New Roman"/>
              </a:rPr>
              <a:t> </a:t>
            </a:r>
            <a:r>
              <a:rPr sz="1350" spc="-5" dirty="0">
                <a:latin typeface="Times New Roman"/>
                <a:cs typeface="Times New Roman"/>
              </a:rPr>
              <a:t>apps</a:t>
            </a:r>
            <a:endParaRPr sz="1350" dirty="0">
              <a:latin typeface="Times New Roman"/>
              <a:cs typeface="Times New Roman"/>
            </a:endParaRPr>
          </a:p>
          <a:p>
            <a:pPr>
              <a:lnSpc>
                <a:spcPct val="100000"/>
              </a:lnSpc>
            </a:pPr>
            <a:endParaRPr sz="1300" dirty="0">
              <a:latin typeface="Times New Roman"/>
              <a:cs typeface="Times New Roman"/>
            </a:endParaRPr>
          </a:p>
          <a:p>
            <a:pPr marL="51435">
              <a:lnSpc>
                <a:spcPct val="100000"/>
              </a:lnSpc>
              <a:spcBef>
                <a:spcPts val="1115"/>
              </a:spcBef>
            </a:pPr>
            <a:endParaRPr sz="700" dirty="0">
              <a:latin typeface="Arial Narrow"/>
              <a:cs typeface="Arial Narrow"/>
            </a:endParaRPr>
          </a:p>
        </p:txBody>
      </p:sp>
      <p:sp>
        <p:nvSpPr>
          <p:cNvPr id="3" name="object 3"/>
          <p:cNvSpPr/>
          <p:nvPr/>
        </p:nvSpPr>
        <p:spPr>
          <a:xfrm>
            <a:off x="654799" y="5968"/>
            <a:ext cx="6463030" cy="5022850"/>
          </a:xfrm>
          <a:custGeom>
            <a:avLst/>
            <a:gdLst/>
            <a:ahLst/>
            <a:cxnLst/>
            <a:rect l="l" t="t" r="r" b="b"/>
            <a:pathLst>
              <a:path w="6463030" h="5022850">
                <a:moveTo>
                  <a:pt x="0" y="0"/>
                </a:moveTo>
                <a:lnTo>
                  <a:pt x="6462801" y="0"/>
                </a:lnTo>
                <a:lnTo>
                  <a:pt x="6462801" y="5022850"/>
                </a:lnTo>
                <a:lnTo>
                  <a:pt x="0" y="5022850"/>
                </a:lnTo>
                <a:lnTo>
                  <a:pt x="0" y="0"/>
                </a:lnTo>
                <a:close/>
              </a:path>
            </a:pathLst>
          </a:custGeom>
          <a:ln w="3175">
            <a:solidFill>
              <a:srgbClr val="000000"/>
            </a:solidFill>
          </a:ln>
        </p:spPr>
        <p:txBody>
          <a:bodyPr wrap="square" lIns="0" tIns="0" rIns="0" bIns="0" rtlCol="0"/>
          <a:lstStyle/>
          <a:p>
            <a:endParaRPr/>
          </a:p>
        </p:txBody>
      </p:sp>
      <p:sp>
        <p:nvSpPr>
          <p:cNvPr id="4" name="object 4"/>
          <p:cNvSpPr/>
          <p:nvPr/>
        </p:nvSpPr>
        <p:spPr>
          <a:xfrm>
            <a:off x="718299" y="5758535"/>
            <a:ext cx="6335801" cy="3563886"/>
          </a:xfrm>
          <a:prstGeom prst="rect">
            <a:avLst/>
          </a:prstGeom>
          <a:blipFill>
            <a:blip r:embed="rId3" cstate="print"/>
            <a:stretch>
              <a:fillRect/>
            </a:stretch>
          </a:blipFill>
        </p:spPr>
        <p:txBody>
          <a:bodyPr wrap="square" lIns="0" tIns="0" rIns="0" bIns="0" rtlCol="0"/>
          <a:lstStyle/>
          <a:p>
            <a:endParaRPr/>
          </a:p>
        </p:txBody>
      </p:sp>
      <p:sp>
        <p:nvSpPr>
          <p:cNvPr id="5" name="object 5"/>
          <p:cNvSpPr/>
          <p:nvPr/>
        </p:nvSpPr>
        <p:spPr>
          <a:xfrm>
            <a:off x="790778" y="8994597"/>
            <a:ext cx="6144895" cy="328295"/>
          </a:xfrm>
          <a:custGeom>
            <a:avLst/>
            <a:gdLst/>
            <a:ahLst/>
            <a:cxnLst/>
            <a:rect l="l" t="t" r="r" b="b"/>
            <a:pathLst>
              <a:path w="6144895" h="328295">
                <a:moveTo>
                  <a:pt x="0" y="327825"/>
                </a:moveTo>
                <a:lnTo>
                  <a:pt x="6144768" y="327825"/>
                </a:lnTo>
                <a:lnTo>
                  <a:pt x="6144768" y="0"/>
                </a:lnTo>
                <a:lnTo>
                  <a:pt x="0" y="0"/>
                </a:lnTo>
                <a:lnTo>
                  <a:pt x="0" y="327825"/>
                </a:lnTo>
                <a:close/>
              </a:path>
            </a:pathLst>
          </a:custGeom>
          <a:solidFill>
            <a:srgbClr val="FFFFFF"/>
          </a:solidFill>
        </p:spPr>
        <p:txBody>
          <a:bodyPr wrap="square" lIns="0" tIns="0" rIns="0" bIns="0" rtlCol="0"/>
          <a:lstStyle/>
          <a:p>
            <a:endParaRPr/>
          </a:p>
        </p:txBody>
      </p:sp>
      <p:sp>
        <p:nvSpPr>
          <p:cNvPr id="6" name="object 6"/>
          <p:cNvSpPr txBox="1"/>
          <p:nvPr/>
        </p:nvSpPr>
        <p:spPr>
          <a:xfrm>
            <a:off x="777815" y="9178807"/>
            <a:ext cx="42545" cy="106045"/>
          </a:xfrm>
          <a:prstGeom prst="rect">
            <a:avLst/>
          </a:prstGeom>
        </p:spPr>
        <p:txBody>
          <a:bodyPr vert="horz" wrap="square" lIns="0" tIns="0" rIns="0" bIns="0" rtlCol="0">
            <a:spAutoFit/>
          </a:bodyPr>
          <a:lstStyle/>
          <a:p>
            <a:pPr>
              <a:lnSpc>
                <a:spcPts val="835"/>
              </a:lnSpc>
            </a:pPr>
            <a:r>
              <a:rPr sz="700" b="1" spc="10" dirty="0">
                <a:solidFill>
                  <a:srgbClr val="7E7E7E"/>
                </a:solidFill>
                <a:latin typeface="Arial Narrow"/>
                <a:cs typeface="Arial Narrow"/>
              </a:rPr>
              <a:t>8</a:t>
            </a:r>
            <a:endParaRPr sz="700">
              <a:latin typeface="Arial Narrow"/>
              <a:cs typeface="Arial Narrow"/>
            </a:endParaRPr>
          </a:p>
        </p:txBody>
      </p:sp>
      <p:sp>
        <p:nvSpPr>
          <p:cNvPr id="7" name="object 7"/>
          <p:cNvSpPr txBox="1"/>
          <p:nvPr/>
        </p:nvSpPr>
        <p:spPr>
          <a:xfrm>
            <a:off x="1000528" y="5762434"/>
            <a:ext cx="5427345" cy="1691639"/>
          </a:xfrm>
          <a:prstGeom prst="rect">
            <a:avLst/>
          </a:prstGeom>
        </p:spPr>
        <p:txBody>
          <a:bodyPr vert="horz" wrap="square" lIns="0" tIns="0" rIns="0" bIns="0" rtlCol="0">
            <a:spAutoFit/>
          </a:bodyPr>
          <a:lstStyle/>
          <a:p>
            <a:pPr marL="528955">
              <a:lnSpc>
                <a:spcPct val="100000"/>
              </a:lnSpc>
            </a:pPr>
            <a:r>
              <a:rPr sz="2150" b="1" spc="10" dirty="0">
                <a:solidFill>
                  <a:srgbClr val="FFFFFF"/>
                </a:solidFill>
                <a:latin typeface="Arial"/>
                <a:cs typeface="Arial"/>
              </a:rPr>
              <a:t>Concurrent vs. Parallel</a:t>
            </a:r>
            <a:r>
              <a:rPr sz="2150" b="1" spc="-55" dirty="0">
                <a:solidFill>
                  <a:srgbClr val="FFFFFF"/>
                </a:solidFill>
                <a:latin typeface="Arial"/>
                <a:cs typeface="Arial"/>
              </a:rPr>
              <a:t> </a:t>
            </a:r>
            <a:r>
              <a:rPr sz="2150" b="1" spc="15" dirty="0">
                <a:solidFill>
                  <a:srgbClr val="FFFFFF"/>
                </a:solidFill>
                <a:latin typeface="Arial"/>
                <a:cs typeface="Arial"/>
              </a:rPr>
              <a:t>Programming</a:t>
            </a:r>
            <a:endParaRPr sz="2150">
              <a:latin typeface="Arial"/>
              <a:cs typeface="Arial"/>
            </a:endParaRPr>
          </a:p>
          <a:p>
            <a:pPr marL="177800" indent="-177800">
              <a:lnSpc>
                <a:spcPct val="100000"/>
              </a:lnSpc>
              <a:spcBef>
                <a:spcPts val="675"/>
              </a:spcBef>
              <a:buClr>
                <a:srgbClr val="CC0000"/>
              </a:buClr>
              <a:buFont typeface="Arial"/>
              <a:buChar char="•"/>
              <a:tabLst>
                <a:tab pos="178435" algn="l"/>
              </a:tabLst>
            </a:pPr>
            <a:r>
              <a:rPr sz="1550" b="1" dirty="0">
                <a:latin typeface="Arial"/>
                <a:cs typeface="Arial"/>
              </a:rPr>
              <a:t>Concurrent</a:t>
            </a:r>
            <a:endParaRPr sz="1550">
              <a:latin typeface="Arial"/>
              <a:cs typeface="Arial"/>
            </a:endParaRPr>
          </a:p>
          <a:p>
            <a:pPr marL="385445" lvl="1" indent="-147955">
              <a:lnSpc>
                <a:spcPct val="100000"/>
              </a:lnSpc>
              <a:spcBef>
                <a:spcPts val="200"/>
              </a:spcBef>
              <a:buClr>
                <a:srgbClr val="CC0000"/>
              </a:buClr>
              <a:buChar char="–"/>
              <a:tabLst>
                <a:tab pos="386080" algn="l"/>
              </a:tabLst>
            </a:pPr>
            <a:r>
              <a:rPr sz="1350" spc="-5" dirty="0">
                <a:latin typeface="Times New Roman"/>
                <a:cs typeface="Times New Roman"/>
              </a:rPr>
              <a:t>Tasks that overlap in</a:t>
            </a:r>
            <a:r>
              <a:rPr sz="1350" spc="-60" dirty="0">
                <a:latin typeface="Times New Roman"/>
                <a:cs typeface="Times New Roman"/>
              </a:rPr>
              <a:t> </a:t>
            </a:r>
            <a:r>
              <a:rPr sz="1350" spc="-5" dirty="0">
                <a:latin typeface="Times New Roman"/>
                <a:cs typeface="Times New Roman"/>
              </a:rPr>
              <a:t>time</a:t>
            </a:r>
            <a:endParaRPr sz="1350">
              <a:latin typeface="Times New Roman"/>
              <a:cs typeface="Times New Roman"/>
            </a:endParaRPr>
          </a:p>
          <a:p>
            <a:pPr marL="593725" marR="2820035" lvl="2" indent="-118745">
              <a:lnSpc>
                <a:spcPct val="89500"/>
              </a:lnSpc>
              <a:spcBef>
                <a:spcPts val="220"/>
              </a:spcBef>
              <a:buClr>
                <a:srgbClr val="CC0000"/>
              </a:buClr>
              <a:buChar char="•"/>
              <a:tabLst>
                <a:tab pos="594360" algn="l"/>
              </a:tabLst>
            </a:pPr>
            <a:r>
              <a:rPr sz="1150" spc="-5" dirty="0">
                <a:latin typeface="Arial"/>
                <a:cs typeface="Arial"/>
              </a:rPr>
              <a:t>The system might run them in  parallel on multiple processors,  or might switch back and forth  among them on the same  processor</a:t>
            </a:r>
            <a:endParaRPr sz="1150">
              <a:latin typeface="Arial"/>
              <a:cs typeface="Arial"/>
            </a:endParaRPr>
          </a:p>
        </p:txBody>
      </p:sp>
      <p:sp>
        <p:nvSpPr>
          <p:cNvPr id="8" name="object 8"/>
          <p:cNvSpPr txBox="1"/>
          <p:nvPr/>
        </p:nvSpPr>
        <p:spPr>
          <a:xfrm>
            <a:off x="1000528" y="7477785"/>
            <a:ext cx="2519680" cy="652145"/>
          </a:xfrm>
          <a:prstGeom prst="rect">
            <a:avLst/>
          </a:prstGeom>
        </p:spPr>
        <p:txBody>
          <a:bodyPr vert="horz" wrap="square" lIns="0" tIns="0" rIns="0" bIns="0" rtlCol="0">
            <a:spAutoFit/>
          </a:bodyPr>
          <a:lstStyle/>
          <a:p>
            <a:pPr marL="177800" indent="-177800">
              <a:lnSpc>
                <a:spcPct val="100000"/>
              </a:lnSpc>
              <a:buClr>
                <a:srgbClr val="CC0000"/>
              </a:buClr>
              <a:buFont typeface="Arial"/>
              <a:buChar char="•"/>
              <a:tabLst>
                <a:tab pos="178435" algn="l"/>
              </a:tabLst>
            </a:pPr>
            <a:r>
              <a:rPr sz="1550" b="1" spc="-5" dirty="0">
                <a:latin typeface="Arial"/>
                <a:cs typeface="Arial"/>
              </a:rPr>
              <a:t>Parallel</a:t>
            </a:r>
            <a:endParaRPr sz="1550">
              <a:latin typeface="Arial"/>
              <a:cs typeface="Arial"/>
            </a:endParaRPr>
          </a:p>
          <a:p>
            <a:pPr marL="385445" indent="-148590">
              <a:lnSpc>
                <a:spcPts val="1460"/>
              </a:lnSpc>
              <a:spcBef>
                <a:spcPts val="380"/>
              </a:spcBef>
            </a:pPr>
            <a:r>
              <a:rPr sz="1350" dirty="0">
                <a:solidFill>
                  <a:srgbClr val="CC0000"/>
                </a:solidFill>
                <a:latin typeface="Times New Roman"/>
                <a:cs typeface="Times New Roman"/>
              </a:rPr>
              <a:t>– </a:t>
            </a:r>
            <a:r>
              <a:rPr sz="1350" spc="-5" dirty="0">
                <a:latin typeface="Times New Roman"/>
                <a:cs typeface="Times New Roman"/>
              </a:rPr>
              <a:t>Tasks that run at the same time  on different</a:t>
            </a:r>
            <a:r>
              <a:rPr sz="1350" spc="-75" dirty="0">
                <a:latin typeface="Times New Roman"/>
                <a:cs typeface="Times New Roman"/>
              </a:rPr>
              <a:t> </a:t>
            </a:r>
            <a:r>
              <a:rPr sz="1350" spc="-5" dirty="0">
                <a:latin typeface="Times New Roman"/>
                <a:cs typeface="Times New Roman"/>
              </a:rPr>
              <a:t>processors</a:t>
            </a:r>
            <a:endParaRPr sz="1350">
              <a:latin typeface="Times New Roman"/>
              <a:cs typeface="Times New Roman"/>
            </a:endParaRPr>
          </a:p>
        </p:txBody>
      </p:sp>
      <p:sp>
        <p:nvSpPr>
          <p:cNvPr id="9" name="object 9"/>
          <p:cNvSpPr/>
          <p:nvPr/>
        </p:nvSpPr>
        <p:spPr>
          <a:xfrm>
            <a:off x="3875633" y="6216929"/>
            <a:ext cx="1731302" cy="1473073"/>
          </a:xfrm>
          <a:prstGeom prst="rect">
            <a:avLst/>
          </a:prstGeom>
          <a:blipFill>
            <a:blip r:embed="rId4" cstate="print"/>
            <a:stretch>
              <a:fillRect/>
            </a:stretch>
          </a:blipFill>
        </p:spPr>
        <p:txBody>
          <a:bodyPr wrap="square" lIns="0" tIns="0" rIns="0" bIns="0" rtlCol="0"/>
          <a:lstStyle/>
          <a:p>
            <a:endParaRPr/>
          </a:p>
        </p:txBody>
      </p:sp>
      <p:sp>
        <p:nvSpPr>
          <p:cNvPr id="10" name="object 10"/>
          <p:cNvSpPr/>
          <p:nvPr/>
        </p:nvSpPr>
        <p:spPr>
          <a:xfrm>
            <a:off x="3887165" y="7793190"/>
            <a:ext cx="1921382" cy="1442834"/>
          </a:xfrm>
          <a:prstGeom prst="rect">
            <a:avLst/>
          </a:prstGeom>
          <a:blipFill>
            <a:blip r:embed="rId5" cstate="print"/>
            <a:stretch>
              <a:fillRect/>
            </a:stretch>
          </a:blipFill>
        </p:spPr>
        <p:txBody>
          <a:bodyPr wrap="square" lIns="0" tIns="0" rIns="0" bIns="0" rtlCol="0"/>
          <a:lstStyle/>
          <a:p>
            <a:endParaRPr/>
          </a:p>
        </p:txBody>
      </p:sp>
      <p:sp>
        <p:nvSpPr>
          <p:cNvPr id="13" name="object 13"/>
          <p:cNvSpPr/>
          <p:nvPr/>
        </p:nvSpPr>
        <p:spPr>
          <a:xfrm>
            <a:off x="722134" y="5762371"/>
            <a:ext cx="6327775" cy="3556000"/>
          </a:xfrm>
          <a:custGeom>
            <a:avLst/>
            <a:gdLst/>
            <a:ahLst/>
            <a:cxnLst/>
            <a:rect l="l" t="t" r="r" b="b"/>
            <a:pathLst>
              <a:path w="6327775" h="3556000">
                <a:moveTo>
                  <a:pt x="6327648" y="0"/>
                </a:moveTo>
                <a:lnTo>
                  <a:pt x="0" y="0"/>
                </a:lnTo>
                <a:lnTo>
                  <a:pt x="0" y="3555733"/>
                </a:lnTo>
                <a:lnTo>
                  <a:pt x="6327648" y="3555733"/>
                </a:lnTo>
                <a:lnTo>
                  <a:pt x="6327648" y="0"/>
                </a:lnTo>
                <a:close/>
              </a:path>
            </a:pathLst>
          </a:custGeom>
          <a:ln w="8153">
            <a:solidFill>
              <a:srgbClr val="000000"/>
            </a:solidFill>
          </a:ln>
        </p:spPr>
        <p:txBody>
          <a:bodyPr wrap="square" lIns="0" tIns="0" rIns="0" bIns="0" rtlCol="0"/>
          <a:lstStyle/>
          <a:p>
            <a:endParaRPr/>
          </a:p>
        </p:txBody>
      </p:sp>
      <p:sp>
        <p:nvSpPr>
          <p:cNvPr id="14" name="object 14"/>
          <p:cNvSpPr/>
          <p:nvPr/>
        </p:nvSpPr>
        <p:spPr>
          <a:xfrm>
            <a:off x="654799" y="5028819"/>
            <a:ext cx="6463030" cy="5022850"/>
          </a:xfrm>
          <a:custGeom>
            <a:avLst/>
            <a:gdLst/>
            <a:ahLst/>
            <a:cxnLst/>
            <a:rect l="l" t="t" r="r" b="b"/>
            <a:pathLst>
              <a:path w="6463030" h="5022850">
                <a:moveTo>
                  <a:pt x="0" y="0"/>
                </a:moveTo>
                <a:lnTo>
                  <a:pt x="6462801" y="0"/>
                </a:lnTo>
                <a:lnTo>
                  <a:pt x="6462801" y="5022850"/>
                </a:lnTo>
                <a:lnTo>
                  <a:pt x="0" y="5022850"/>
                </a:lnTo>
                <a:lnTo>
                  <a:pt x="0" y="0"/>
                </a:lnTo>
                <a:close/>
              </a:path>
            </a:pathLst>
          </a:custGeom>
          <a:ln w="3175">
            <a:solidFill>
              <a:srgbClr val="000000"/>
            </a:solidFill>
          </a:ln>
        </p:spPr>
        <p:txBody>
          <a:bodyPr wrap="square" lIns="0" tIns="0" rIns="0" bIns="0" rtlCol="0"/>
          <a:lstStyle/>
          <a:p>
            <a:endParaRPr/>
          </a:p>
        </p:txBody>
      </p:sp>
    </p:spTree>
    <p:extLst>
      <p:ext uri="{BB962C8B-B14F-4D97-AF65-F5344CB8AC3E}">
        <p14:creationId xmlns:p14="http://schemas.microsoft.com/office/powerpoint/2010/main" val="3818145815"/>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792954" y="685800"/>
            <a:ext cx="6212840" cy="2593018"/>
          </a:xfrm>
          <a:prstGeom prst="rect">
            <a:avLst/>
          </a:prstGeom>
        </p:spPr>
        <p:txBody>
          <a:bodyPr vert="horz" wrap="square" lIns="0" tIns="0" rIns="0" bIns="0" rtlCol="0">
            <a:spAutoFit/>
          </a:bodyPr>
          <a:lstStyle/>
          <a:p>
            <a:pPr marL="736600">
              <a:lnSpc>
                <a:spcPts val="1835"/>
              </a:lnSpc>
            </a:pPr>
            <a:endParaRPr lang="en-US" sz="1200" b="1" dirty="0" smtClean="0">
              <a:solidFill>
                <a:srgbClr val="FFFFFF"/>
              </a:solidFill>
              <a:latin typeface="Arial"/>
              <a:cs typeface="Arial"/>
            </a:endParaRPr>
          </a:p>
          <a:p>
            <a:pPr marL="736600">
              <a:lnSpc>
                <a:spcPts val="1835"/>
              </a:lnSpc>
            </a:pPr>
            <a:r>
              <a:rPr sz="1400" b="1" dirty="0" smtClean="0">
                <a:solidFill>
                  <a:srgbClr val="FFFFFF"/>
                </a:solidFill>
                <a:latin typeface="Arial"/>
                <a:cs typeface="Arial"/>
              </a:rPr>
              <a:t>Java </a:t>
            </a:r>
            <a:r>
              <a:rPr sz="1400" b="1" spc="5" dirty="0">
                <a:solidFill>
                  <a:srgbClr val="FFFFFF"/>
                </a:solidFill>
                <a:latin typeface="Arial"/>
                <a:cs typeface="Arial"/>
              </a:rPr>
              <a:t>Threads</a:t>
            </a:r>
            <a:r>
              <a:rPr sz="1400" b="1" spc="-60" dirty="0">
                <a:solidFill>
                  <a:srgbClr val="FFFFFF"/>
                </a:solidFill>
                <a:latin typeface="Arial"/>
                <a:cs typeface="Arial"/>
              </a:rPr>
              <a:t> </a:t>
            </a:r>
            <a:r>
              <a:rPr sz="1400" b="1" dirty="0">
                <a:solidFill>
                  <a:srgbClr val="FFFFFF"/>
                </a:solidFill>
                <a:latin typeface="Arial"/>
                <a:cs typeface="Arial"/>
              </a:rPr>
              <a:t>(Concurrent</a:t>
            </a:r>
            <a:r>
              <a:rPr sz="1400" b="1" dirty="0" smtClean="0">
                <a:solidFill>
                  <a:srgbClr val="FFFFFF"/>
                </a:solidFill>
                <a:latin typeface="Arial"/>
                <a:cs typeface="Arial"/>
              </a:rPr>
              <a:t>)</a:t>
            </a:r>
            <a:r>
              <a:rPr lang="en-US" sz="1400" b="1" dirty="0" smtClean="0">
                <a:solidFill>
                  <a:srgbClr val="FFFFFF"/>
                </a:solidFill>
                <a:latin typeface="Arial"/>
                <a:cs typeface="Arial"/>
              </a:rPr>
              <a:t> </a:t>
            </a:r>
            <a:r>
              <a:rPr sz="1400" b="1" spc="5" dirty="0" smtClean="0">
                <a:solidFill>
                  <a:srgbClr val="FFFFFF"/>
                </a:solidFill>
                <a:latin typeface="Arial"/>
                <a:cs typeface="Arial"/>
              </a:rPr>
              <a:t>vs</a:t>
            </a:r>
            <a:r>
              <a:rPr sz="1400" b="1" spc="5" dirty="0">
                <a:solidFill>
                  <a:srgbClr val="FFFFFF"/>
                </a:solidFill>
                <a:latin typeface="Arial"/>
                <a:cs typeface="Arial"/>
              </a:rPr>
              <a:t>. Fork/Join Framework</a:t>
            </a:r>
            <a:r>
              <a:rPr sz="1400" b="1" spc="-100" dirty="0">
                <a:solidFill>
                  <a:srgbClr val="FFFFFF"/>
                </a:solidFill>
                <a:latin typeface="Arial"/>
                <a:cs typeface="Arial"/>
              </a:rPr>
              <a:t> </a:t>
            </a:r>
            <a:r>
              <a:rPr sz="1400" b="1" spc="5" dirty="0">
                <a:solidFill>
                  <a:srgbClr val="FFFFFF"/>
                </a:solidFill>
                <a:latin typeface="Arial"/>
                <a:cs typeface="Arial"/>
              </a:rPr>
              <a:t>(Parallel)</a:t>
            </a:r>
            <a:endParaRPr sz="1600" dirty="0">
              <a:latin typeface="Arial"/>
              <a:cs typeface="Arial"/>
            </a:endParaRPr>
          </a:p>
          <a:p>
            <a:pPr marL="190500" indent="-177800">
              <a:lnSpc>
                <a:spcPct val="100000"/>
              </a:lnSpc>
              <a:spcBef>
                <a:spcPts val="185"/>
              </a:spcBef>
              <a:buClr>
                <a:srgbClr val="CC0000"/>
              </a:buClr>
              <a:buFont typeface="Arial"/>
              <a:buChar char="•"/>
              <a:tabLst>
                <a:tab pos="191135" algn="l"/>
              </a:tabLst>
            </a:pPr>
            <a:endParaRPr lang="en-US" sz="1550" b="1" dirty="0" smtClean="0">
              <a:latin typeface="Arial"/>
              <a:cs typeface="Arial"/>
            </a:endParaRPr>
          </a:p>
          <a:p>
            <a:pPr marL="190500" indent="-177800">
              <a:lnSpc>
                <a:spcPct val="100000"/>
              </a:lnSpc>
              <a:spcBef>
                <a:spcPts val="185"/>
              </a:spcBef>
              <a:buClr>
                <a:srgbClr val="CC0000"/>
              </a:buClr>
              <a:buFont typeface="Arial"/>
              <a:buChar char="•"/>
              <a:tabLst>
                <a:tab pos="191135" algn="l"/>
              </a:tabLst>
            </a:pPr>
            <a:r>
              <a:rPr sz="1550" b="1" dirty="0" smtClean="0">
                <a:latin typeface="Arial"/>
                <a:cs typeface="Arial"/>
              </a:rPr>
              <a:t>Using</a:t>
            </a:r>
            <a:r>
              <a:rPr sz="1550" b="1" spc="-90" dirty="0" smtClean="0">
                <a:latin typeface="Arial"/>
                <a:cs typeface="Arial"/>
              </a:rPr>
              <a:t> </a:t>
            </a:r>
            <a:r>
              <a:rPr sz="1550" b="1" dirty="0">
                <a:latin typeface="Arial"/>
                <a:cs typeface="Arial"/>
              </a:rPr>
              <a:t>threads</a:t>
            </a:r>
            <a:endParaRPr sz="1550" dirty="0">
              <a:latin typeface="Arial"/>
              <a:cs typeface="Arial"/>
            </a:endParaRPr>
          </a:p>
          <a:p>
            <a:pPr marL="398145" lvl="1" indent="-147955">
              <a:lnSpc>
                <a:spcPct val="100000"/>
              </a:lnSpc>
              <a:spcBef>
                <a:spcPts val="200"/>
              </a:spcBef>
              <a:buClr>
                <a:srgbClr val="CC0000"/>
              </a:buClr>
              <a:buChar char="–"/>
              <a:tabLst>
                <a:tab pos="398780" algn="l"/>
              </a:tabLst>
            </a:pPr>
            <a:r>
              <a:rPr sz="1350" spc="-5" dirty="0">
                <a:latin typeface="Times New Roman"/>
                <a:cs typeface="Times New Roman"/>
              </a:rPr>
              <a:t>When task is relatively large and</a:t>
            </a:r>
            <a:r>
              <a:rPr sz="1350" spc="-30" dirty="0">
                <a:latin typeface="Times New Roman"/>
                <a:cs typeface="Times New Roman"/>
              </a:rPr>
              <a:t> </a:t>
            </a:r>
            <a:r>
              <a:rPr sz="1350" spc="-5" dirty="0">
                <a:latin typeface="Times New Roman"/>
                <a:cs typeface="Times New Roman"/>
              </a:rPr>
              <a:t>self-contained</a:t>
            </a:r>
            <a:endParaRPr sz="1350" dirty="0">
              <a:latin typeface="Times New Roman"/>
              <a:cs typeface="Times New Roman"/>
            </a:endParaRPr>
          </a:p>
          <a:p>
            <a:pPr marL="398145" marR="113030" lvl="1" indent="-147955">
              <a:lnSpc>
                <a:spcPts val="1460"/>
              </a:lnSpc>
              <a:spcBef>
                <a:spcPts val="380"/>
              </a:spcBef>
              <a:buClr>
                <a:srgbClr val="CC0000"/>
              </a:buClr>
              <a:buChar char="–"/>
              <a:tabLst>
                <a:tab pos="398780" algn="l"/>
              </a:tabLst>
            </a:pPr>
            <a:r>
              <a:rPr sz="1350" spc="-5" dirty="0">
                <a:latin typeface="Times New Roman"/>
                <a:cs typeface="Times New Roman"/>
              </a:rPr>
              <a:t>Usually when you </a:t>
            </a:r>
            <a:r>
              <a:rPr sz="1350" dirty="0">
                <a:latin typeface="Times New Roman"/>
                <a:cs typeface="Times New Roman"/>
              </a:rPr>
              <a:t>are </a:t>
            </a:r>
            <a:r>
              <a:rPr sz="1350" spc="-5" dirty="0">
                <a:latin typeface="Times New Roman"/>
                <a:cs typeface="Times New Roman"/>
              </a:rPr>
              <a:t>waiting for something, so would benefit </a:t>
            </a:r>
            <a:r>
              <a:rPr sz="1350" dirty="0">
                <a:latin typeface="Times New Roman"/>
                <a:cs typeface="Times New Roman"/>
              </a:rPr>
              <a:t>even if there is </a:t>
            </a:r>
            <a:r>
              <a:rPr sz="1350" spc="-5" dirty="0">
                <a:latin typeface="Times New Roman"/>
                <a:cs typeface="Times New Roman"/>
              </a:rPr>
              <a:t>only  one</a:t>
            </a:r>
            <a:r>
              <a:rPr sz="1350" spc="-90" dirty="0">
                <a:latin typeface="Times New Roman"/>
                <a:cs typeface="Times New Roman"/>
              </a:rPr>
              <a:t> </a:t>
            </a:r>
            <a:r>
              <a:rPr sz="1350" spc="-5" dirty="0">
                <a:latin typeface="Times New Roman"/>
                <a:cs typeface="Times New Roman"/>
              </a:rPr>
              <a:t>processor</a:t>
            </a:r>
            <a:endParaRPr sz="1350" dirty="0">
              <a:latin typeface="Times New Roman"/>
              <a:cs typeface="Times New Roman"/>
            </a:endParaRPr>
          </a:p>
          <a:p>
            <a:pPr marL="190500" indent="-177800">
              <a:lnSpc>
                <a:spcPct val="100000"/>
              </a:lnSpc>
              <a:spcBef>
                <a:spcPts val="170"/>
              </a:spcBef>
              <a:buClr>
                <a:srgbClr val="CC0000"/>
              </a:buClr>
              <a:buFont typeface="Arial"/>
              <a:buChar char="•"/>
              <a:tabLst>
                <a:tab pos="191135" algn="l"/>
              </a:tabLst>
            </a:pPr>
            <a:r>
              <a:rPr sz="1550" b="1" dirty="0" smtClean="0">
                <a:latin typeface="Arial"/>
                <a:cs typeface="Arial"/>
              </a:rPr>
              <a:t>Using </a:t>
            </a:r>
            <a:r>
              <a:rPr sz="1550" b="1" dirty="0">
                <a:latin typeface="Arial"/>
                <a:cs typeface="Arial"/>
              </a:rPr>
              <a:t>fork/join or parallel</a:t>
            </a:r>
            <a:r>
              <a:rPr sz="1550" b="1" spc="-75" dirty="0">
                <a:latin typeface="Arial"/>
                <a:cs typeface="Arial"/>
              </a:rPr>
              <a:t> </a:t>
            </a:r>
            <a:r>
              <a:rPr sz="1550" b="1" dirty="0">
                <a:latin typeface="Arial"/>
                <a:cs typeface="Arial"/>
              </a:rPr>
              <a:t>streams</a:t>
            </a:r>
            <a:endParaRPr sz="1550" dirty="0">
              <a:latin typeface="Arial"/>
              <a:cs typeface="Arial"/>
            </a:endParaRPr>
          </a:p>
          <a:p>
            <a:pPr marL="398145" marR="339725" lvl="1" indent="-147955">
              <a:lnSpc>
                <a:spcPts val="1460"/>
              </a:lnSpc>
              <a:spcBef>
                <a:spcPts val="380"/>
              </a:spcBef>
              <a:buClr>
                <a:srgbClr val="CC0000"/>
              </a:buClr>
              <a:buChar char="–"/>
              <a:tabLst>
                <a:tab pos="398780" algn="l"/>
              </a:tabLst>
            </a:pPr>
            <a:r>
              <a:rPr sz="1350" spc="-5" dirty="0">
                <a:latin typeface="Times New Roman"/>
                <a:cs typeface="Times New Roman"/>
              </a:rPr>
              <a:t>When task starts large but can be broken up repeatedly into smaller pieces, then  combined for final</a:t>
            </a:r>
            <a:r>
              <a:rPr sz="1350" spc="-65" dirty="0">
                <a:latin typeface="Times New Roman"/>
                <a:cs typeface="Times New Roman"/>
              </a:rPr>
              <a:t> </a:t>
            </a:r>
            <a:r>
              <a:rPr sz="1350" spc="-5" dirty="0">
                <a:latin typeface="Times New Roman"/>
                <a:cs typeface="Times New Roman"/>
              </a:rPr>
              <a:t>result.</a:t>
            </a:r>
            <a:endParaRPr sz="1350" dirty="0">
              <a:latin typeface="Times New Roman"/>
              <a:cs typeface="Times New Roman"/>
            </a:endParaRPr>
          </a:p>
          <a:p>
            <a:pPr marL="398145" lvl="1" indent="-147955">
              <a:lnSpc>
                <a:spcPct val="100000"/>
              </a:lnSpc>
              <a:spcBef>
                <a:spcPts val="180"/>
              </a:spcBef>
              <a:buClr>
                <a:srgbClr val="CC0000"/>
              </a:buClr>
              <a:buChar char="–"/>
              <a:tabLst>
                <a:tab pos="398780" algn="l"/>
              </a:tabLst>
            </a:pPr>
            <a:r>
              <a:rPr sz="1350" spc="-5" dirty="0">
                <a:latin typeface="Times New Roman"/>
                <a:cs typeface="Times New Roman"/>
              </a:rPr>
              <a:t>No benefit if there is only one</a:t>
            </a:r>
            <a:r>
              <a:rPr sz="1350" spc="-35" dirty="0">
                <a:latin typeface="Times New Roman"/>
                <a:cs typeface="Times New Roman"/>
              </a:rPr>
              <a:t> </a:t>
            </a:r>
            <a:r>
              <a:rPr sz="1350" spc="-5" dirty="0" smtClean="0">
                <a:latin typeface="Times New Roman"/>
                <a:cs typeface="Times New Roman"/>
              </a:rPr>
              <a:t>processor</a:t>
            </a:r>
            <a:endParaRPr sz="1350" dirty="0">
              <a:latin typeface="Times New Roman"/>
              <a:cs typeface="Times New Roman"/>
            </a:endParaRPr>
          </a:p>
        </p:txBody>
      </p:sp>
      <p:sp>
        <p:nvSpPr>
          <p:cNvPr id="5" name="object 5"/>
          <p:cNvSpPr/>
          <p:nvPr/>
        </p:nvSpPr>
        <p:spPr>
          <a:xfrm>
            <a:off x="722134" y="739533"/>
            <a:ext cx="6327775" cy="3556000"/>
          </a:xfrm>
          <a:custGeom>
            <a:avLst/>
            <a:gdLst/>
            <a:ahLst/>
            <a:cxnLst/>
            <a:rect l="l" t="t" r="r" b="b"/>
            <a:pathLst>
              <a:path w="6327775" h="3556000">
                <a:moveTo>
                  <a:pt x="6327648" y="0"/>
                </a:moveTo>
                <a:lnTo>
                  <a:pt x="0" y="0"/>
                </a:lnTo>
                <a:lnTo>
                  <a:pt x="0" y="3555733"/>
                </a:lnTo>
                <a:lnTo>
                  <a:pt x="6327648" y="3555733"/>
                </a:lnTo>
                <a:lnTo>
                  <a:pt x="6327648" y="0"/>
                </a:lnTo>
                <a:close/>
              </a:path>
            </a:pathLst>
          </a:custGeom>
          <a:ln w="8153">
            <a:solidFill>
              <a:srgbClr val="000000"/>
            </a:solidFill>
          </a:ln>
        </p:spPr>
        <p:txBody>
          <a:bodyPr wrap="square" lIns="0" tIns="0" rIns="0" bIns="0" rtlCol="0"/>
          <a:lstStyle/>
          <a:p>
            <a:endParaRPr/>
          </a:p>
        </p:txBody>
      </p:sp>
      <p:sp>
        <p:nvSpPr>
          <p:cNvPr id="6" name="object 6"/>
          <p:cNvSpPr/>
          <p:nvPr/>
        </p:nvSpPr>
        <p:spPr>
          <a:xfrm>
            <a:off x="654799" y="5968"/>
            <a:ext cx="6463030" cy="5022850"/>
          </a:xfrm>
          <a:custGeom>
            <a:avLst/>
            <a:gdLst/>
            <a:ahLst/>
            <a:cxnLst/>
            <a:rect l="l" t="t" r="r" b="b"/>
            <a:pathLst>
              <a:path w="6463030" h="5022850">
                <a:moveTo>
                  <a:pt x="0" y="0"/>
                </a:moveTo>
                <a:lnTo>
                  <a:pt x="6462801" y="0"/>
                </a:lnTo>
                <a:lnTo>
                  <a:pt x="6462801" y="5022850"/>
                </a:lnTo>
                <a:lnTo>
                  <a:pt x="0" y="5022850"/>
                </a:lnTo>
                <a:lnTo>
                  <a:pt x="0" y="0"/>
                </a:lnTo>
                <a:close/>
              </a:path>
            </a:pathLst>
          </a:custGeom>
          <a:ln w="3175">
            <a:solidFill>
              <a:srgbClr val="000000"/>
            </a:solidFill>
          </a:ln>
        </p:spPr>
        <p:txBody>
          <a:bodyPr wrap="square" lIns="0" tIns="0" rIns="0" bIns="0" rtlCol="0"/>
          <a:lstStyle/>
          <a:p>
            <a:endParaRPr/>
          </a:p>
        </p:txBody>
      </p:sp>
      <p:sp>
        <p:nvSpPr>
          <p:cNvPr id="7" name="object 7"/>
          <p:cNvSpPr/>
          <p:nvPr/>
        </p:nvSpPr>
        <p:spPr>
          <a:xfrm>
            <a:off x="718299" y="5758535"/>
            <a:ext cx="6336030" cy="3564254"/>
          </a:xfrm>
          <a:custGeom>
            <a:avLst/>
            <a:gdLst/>
            <a:ahLst/>
            <a:cxnLst/>
            <a:rect l="l" t="t" r="r" b="b"/>
            <a:pathLst>
              <a:path w="6336030" h="3564254">
                <a:moveTo>
                  <a:pt x="0" y="3563886"/>
                </a:moveTo>
                <a:lnTo>
                  <a:pt x="6335801" y="3563886"/>
                </a:lnTo>
                <a:lnTo>
                  <a:pt x="6335801" y="0"/>
                </a:lnTo>
                <a:lnTo>
                  <a:pt x="0" y="0"/>
                </a:lnTo>
                <a:lnTo>
                  <a:pt x="0" y="3563886"/>
                </a:lnTo>
                <a:close/>
              </a:path>
            </a:pathLst>
          </a:custGeom>
          <a:solidFill>
            <a:srgbClr val="B2B2B2"/>
          </a:solidFill>
        </p:spPr>
        <p:txBody>
          <a:bodyPr wrap="square" lIns="0" tIns="0" rIns="0" bIns="0" rtlCol="0"/>
          <a:lstStyle/>
          <a:p>
            <a:endParaRPr/>
          </a:p>
        </p:txBody>
      </p:sp>
      <p:sp>
        <p:nvSpPr>
          <p:cNvPr id="15" name="object 15"/>
          <p:cNvSpPr/>
          <p:nvPr/>
        </p:nvSpPr>
        <p:spPr>
          <a:xfrm>
            <a:off x="795096" y="8722931"/>
            <a:ext cx="322910" cy="587502"/>
          </a:xfrm>
          <a:prstGeom prst="rect">
            <a:avLst/>
          </a:prstGeom>
          <a:blipFill>
            <a:blip r:embed="rId3" cstate="print"/>
            <a:stretch>
              <a:fillRect/>
            </a:stretch>
          </a:blipFill>
        </p:spPr>
        <p:txBody>
          <a:bodyPr wrap="square" lIns="0" tIns="0" rIns="0" bIns="0" rtlCol="0"/>
          <a:lstStyle/>
          <a:p>
            <a:endParaRPr/>
          </a:p>
        </p:txBody>
      </p:sp>
      <p:sp>
        <p:nvSpPr>
          <p:cNvPr id="16" name="object 16"/>
          <p:cNvSpPr txBox="1"/>
          <p:nvPr/>
        </p:nvSpPr>
        <p:spPr>
          <a:xfrm>
            <a:off x="722134" y="5762371"/>
            <a:ext cx="6327775" cy="2195473"/>
          </a:xfrm>
          <a:prstGeom prst="rect">
            <a:avLst/>
          </a:prstGeom>
          <a:ln w="8153">
            <a:solidFill>
              <a:srgbClr val="000000"/>
            </a:solidFill>
          </a:ln>
        </p:spPr>
        <p:txBody>
          <a:bodyPr vert="horz" wrap="square" lIns="0" tIns="10160" rIns="0" bIns="0" rtlCol="0">
            <a:spAutoFit/>
          </a:bodyPr>
          <a:lstStyle/>
          <a:p>
            <a:pPr>
              <a:lnSpc>
                <a:spcPct val="100000"/>
              </a:lnSpc>
            </a:pPr>
            <a:endParaRPr sz="1200" dirty="0">
              <a:latin typeface="Times New Roman"/>
              <a:cs typeface="Times New Roman"/>
            </a:endParaRPr>
          </a:p>
          <a:p>
            <a:pPr>
              <a:lnSpc>
                <a:spcPct val="100000"/>
              </a:lnSpc>
            </a:pPr>
            <a:endParaRPr sz="1200" dirty="0">
              <a:latin typeface="Times New Roman"/>
              <a:cs typeface="Times New Roman"/>
            </a:endParaRPr>
          </a:p>
          <a:p>
            <a:pPr>
              <a:lnSpc>
                <a:spcPct val="100000"/>
              </a:lnSpc>
              <a:spcBef>
                <a:spcPts val="15"/>
              </a:spcBef>
            </a:pPr>
            <a:endParaRPr sz="1300" dirty="0">
              <a:latin typeface="Times New Roman"/>
              <a:cs typeface="Times New Roman"/>
            </a:endParaRPr>
          </a:p>
          <a:p>
            <a:pPr marL="1372235" marR="1094740" algn="ctr">
              <a:lnSpc>
                <a:spcPts val="4240"/>
              </a:lnSpc>
            </a:pPr>
            <a:r>
              <a:rPr sz="4150" b="1" dirty="0">
                <a:solidFill>
                  <a:srgbClr val="FF0000"/>
                </a:solidFill>
                <a:latin typeface="Arial"/>
                <a:cs typeface="Arial"/>
              </a:rPr>
              <a:t>Basic Steps</a:t>
            </a:r>
            <a:r>
              <a:rPr sz="4150" b="1" spc="-55" dirty="0">
                <a:solidFill>
                  <a:srgbClr val="FF0000"/>
                </a:solidFill>
                <a:latin typeface="Arial"/>
                <a:cs typeface="Arial"/>
              </a:rPr>
              <a:t> </a:t>
            </a:r>
            <a:r>
              <a:rPr sz="4150" b="1" dirty="0">
                <a:solidFill>
                  <a:srgbClr val="FF0000"/>
                </a:solidFill>
                <a:latin typeface="Arial"/>
                <a:cs typeface="Arial"/>
              </a:rPr>
              <a:t>for  Concurrent  </a:t>
            </a:r>
            <a:r>
              <a:rPr sz="4150" b="1" dirty="0" smtClean="0">
                <a:solidFill>
                  <a:srgbClr val="FF0000"/>
                </a:solidFill>
                <a:latin typeface="Arial"/>
                <a:cs typeface="Arial"/>
              </a:rPr>
              <a:t>Programming</a:t>
            </a:r>
            <a:endParaRPr sz="4150" dirty="0">
              <a:latin typeface="Arial"/>
              <a:cs typeface="Arial"/>
            </a:endParaRPr>
          </a:p>
        </p:txBody>
      </p:sp>
      <p:sp>
        <p:nvSpPr>
          <p:cNvPr id="17" name="object 17"/>
          <p:cNvSpPr/>
          <p:nvPr/>
        </p:nvSpPr>
        <p:spPr>
          <a:xfrm>
            <a:off x="654799" y="5028819"/>
            <a:ext cx="6463030" cy="5022850"/>
          </a:xfrm>
          <a:custGeom>
            <a:avLst/>
            <a:gdLst/>
            <a:ahLst/>
            <a:cxnLst/>
            <a:rect l="l" t="t" r="r" b="b"/>
            <a:pathLst>
              <a:path w="6463030" h="5022850">
                <a:moveTo>
                  <a:pt x="0" y="0"/>
                </a:moveTo>
                <a:lnTo>
                  <a:pt x="6462801" y="0"/>
                </a:lnTo>
                <a:lnTo>
                  <a:pt x="6462801" y="5022850"/>
                </a:lnTo>
                <a:lnTo>
                  <a:pt x="0" y="5022850"/>
                </a:lnTo>
                <a:lnTo>
                  <a:pt x="0" y="0"/>
                </a:lnTo>
                <a:close/>
              </a:path>
            </a:pathLst>
          </a:custGeom>
          <a:ln w="3175">
            <a:solidFill>
              <a:srgbClr val="000000"/>
            </a:solidFill>
          </a:ln>
        </p:spPr>
        <p:txBody>
          <a:bodyPr wrap="square" lIns="0" tIns="0" rIns="0" bIns="0" rtlCol="0"/>
          <a:lstStyle/>
          <a:p>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722134" y="739533"/>
            <a:ext cx="6327775" cy="3556000"/>
          </a:xfrm>
          <a:prstGeom prst="rect">
            <a:avLst/>
          </a:prstGeom>
          <a:ln w="8153">
            <a:solidFill>
              <a:srgbClr val="000000"/>
            </a:solidFill>
          </a:ln>
        </p:spPr>
        <p:txBody>
          <a:bodyPr vert="horz" wrap="square" lIns="0" tIns="0" rIns="0" bIns="0" rtlCol="0">
            <a:spAutoFit/>
          </a:bodyPr>
          <a:lstStyle/>
          <a:p>
            <a:pPr marL="803275">
              <a:lnSpc>
                <a:spcPts val="2550"/>
              </a:lnSpc>
            </a:pPr>
            <a:r>
              <a:rPr sz="2150" b="1" spc="10" dirty="0">
                <a:solidFill>
                  <a:srgbClr val="FFFFFF"/>
                </a:solidFill>
                <a:latin typeface="Arial"/>
                <a:cs typeface="Arial"/>
              </a:rPr>
              <a:t>Steps for Concurrent</a:t>
            </a:r>
            <a:r>
              <a:rPr sz="2150" b="1" spc="-35" dirty="0">
                <a:solidFill>
                  <a:srgbClr val="FFFFFF"/>
                </a:solidFill>
                <a:latin typeface="Arial"/>
                <a:cs typeface="Arial"/>
              </a:rPr>
              <a:t> </a:t>
            </a:r>
            <a:r>
              <a:rPr sz="2150" b="1" spc="15" dirty="0">
                <a:solidFill>
                  <a:srgbClr val="FFFFFF"/>
                </a:solidFill>
                <a:latin typeface="Arial"/>
                <a:cs typeface="Arial"/>
              </a:rPr>
              <a:t>Programming</a:t>
            </a:r>
            <a:endParaRPr sz="2150" dirty="0">
              <a:latin typeface="Arial"/>
              <a:cs typeface="Arial"/>
            </a:endParaRPr>
          </a:p>
          <a:p>
            <a:pPr marL="257175" indent="-177800">
              <a:lnSpc>
                <a:spcPct val="100000"/>
              </a:lnSpc>
              <a:spcBef>
                <a:spcPts val="994"/>
              </a:spcBef>
              <a:buClr>
                <a:srgbClr val="CC0000"/>
              </a:buClr>
              <a:buFont typeface="Arial"/>
              <a:buChar char="•"/>
              <a:tabLst>
                <a:tab pos="257810" algn="l"/>
              </a:tabLst>
            </a:pPr>
            <a:r>
              <a:rPr sz="1550" b="1" spc="5" dirty="0">
                <a:latin typeface="Arial"/>
                <a:cs typeface="Arial"/>
              </a:rPr>
              <a:t>Make a task</a:t>
            </a:r>
            <a:r>
              <a:rPr sz="1550" b="1" spc="-120" dirty="0">
                <a:latin typeface="Arial"/>
                <a:cs typeface="Arial"/>
              </a:rPr>
              <a:t> </a:t>
            </a:r>
            <a:r>
              <a:rPr sz="1550" b="1" dirty="0">
                <a:latin typeface="Arial"/>
                <a:cs typeface="Arial"/>
              </a:rPr>
              <a:t>list</a:t>
            </a:r>
            <a:endParaRPr sz="1550" dirty="0">
              <a:latin typeface="Arial"/>
              <a:cs typeface="Arial"/>
            </a:endParaRPr>
          </a:p>
          <a:p>
            <a:pPr marL="506730" marR="2106930" indent="-190500">
              <a:lnSpc>
                <a:spcPct val="134000"/>
              </a:lnSpc>
              <a:spcBef>
                <a:spcPts val="20"/>
              </a:spcBef>
            </a:pPr>
            <a:r>
              <a:rPr sz="1250" b="1" spc="-10" dirty="0">
                <a:latin typeface="Courier New"/>
                <a:cs typeface="Courier New"/>
              </a:rPr>
              <a:t>ExecutorService taskList </a:t>
            </a:r>
            <a:r>
              <a:rPr sz="1250" b="1" spc="-5" dirty="0">
                <a:latin typeface="Courier New"/>
                <a:cs typeface="Courier New"/>
              </a:rPr>
              <a:t>=  </a:t>
            </a:r>
            <a:r>
              <a:rPr sz="1250" b="1" spc="-10" dirty="0">
                <a:latin typeface="Courier New"/>
                <a:cs typeface="Courier New"/>
              </a:rPr>
              <a:t>Executors.newFixedThreadPool(poolSize);</a:t>
            </a:r>
            <a:endParaRPr sz="1250" dirty="0">
              <a:latin typeface="Courier New"/>
              <a:cs typeface="Courier New"/>
            </a:endParaRPr>
          </a:p>
          <a:p>
            <a:pPr marL="673100" marR="263525" lvl="1" indent="-118745">
              <a:lnSpc>
                <a:spcPct val="109300"/>
              </a:lnSpc>
              <a:spcBef>
                <a:spcPts val="244"/>
              </a:spcBef>
              <a:buClr>
                <a:srgbClr val="CC0000"/>
              </a:buClr>
              <a:buChar char="•"/>
              <a:tabLst>
                <a:tab pos="673735" algn="l"/>
              </a:tabLst>
            </a:pPr>
            <a:r>
              <a:rPr sz="1150" spc="-5" dirty="0">
                <a:latin typeface="Arial"/>
                <a:cs typeface="Arial"/>
              </a:rPr>
              <a:t>The poolSize is the maximum number of </a:t>
            </a:r>
            <a:r>
              <a:rPr sz="1150" i="1" spc="-5" dirty="0">
                <a:latin typeface="Arial"/>
                <a:cs typeface="Arial"/>
              </a:rPr>
              <a:t>simultaneous </a:t>
            </a:r>
            <a:r>
              <a:rPr sz="1150" spc="-5" dirty="0">
                <a:latin typeface="Arial"/>
                <a:cs typeface="Arial"/>
              </a:rPr>
              <a:t>threads. For many apps, it is  higher than the number of tasks, so each task has a separate</a:t>
            </a:r>
            <a:r>
              <a:rPr sz="1150" dirty="0">
                <a:latin typeface="Arial"/>
                <a:cs typeface="Arial"/>
              </a:rPr>
              <a:t> </a:t>
            </a:r>
            <a:r>
              <a:rPr sz="1150" spc="-5" dirty="0">
                <a:latin typeface="Arial"/>
                <a:cs typeface="Arial"/>
              </a:rPr>
              <a:t>thread.</a:t>
            </a:r>
            <a:endParaRPr sz="1150" dirty="0">
              <a:latin typeface="Arial"/>
              <a:cs typeface="Arial"/>
            </a:endParaRPr>
          </a:p>
          <a:p>
            <a:pPr marL="673100" marR="367665" lvl="1" indent="-118745">
              <a:lnSpc>
                <a:spcPct val="109300"/>
              </a:lnSpc>
              <a:spcBef>
                <a:spcPts val="204"/>
              </a:spcBef>
              <a:buClr>
                <a:srgbClr val="CC0000"/>
              </a:buClr>
              <a:buChar char="•"/>
              <a:tabLst>
                <a:tab pos="673735" algn="l"/>
              </a:tabLst>
            </a:pPr>
            <a:r>
              <a:rPr sz="1150" spc="-5" dirty="0">
                <a:latin typeface="Arial"/>
                <a:cs typeface="Arial"/>
              </a:rPr>
              <a:t>There are other types of thread pools, but a fixed thread pool is simplest and most  common</a:t>
            </a:r>
            <a:endParaRPr sz="1150" dirty="0">
              <a:latin typeface="Arial"/>
              <a:cs typeface="Arial"/>
            </a:endParaRPr>
          </a:p>
          <a:p>
            <a:pPr marL="257175" indent="-177800">
              <a:lnSpc>
                <a:spcPct val="100000"/>
              </a:lnSpc>
              <a:spcBef>
                <a:spcPts val="505"/>
              </a:spcBef>
              <a:buClr>
                <a:srgbClr val="CC0000"/>
              </a:buClr>
              <a:buFont typeface="Arial"/>
              <a:buChar char="•"/>
              <a:tabLst>
                <a:tab pos="257810" algn="l"/>
              </a:tabLst>
            </a:pPr>
            <a:r>
              <a:rPr sz="1550" b="1" dirty="0">
                <a:latin typeface="Arial"/>
                <a:cs typeface="Arial"/>
              </a:rPr>
              <a:t>Add Runnable tasks to the</a:t>
            </a:r>
            <a:r>
              <a:rPr sz="1550" b="1" spc="-50" dirty="0">
                <a:latin typeface="Arial"/>
                <a:cs typeface="Arial"/>
              </a:rPr>
              <a:t> </a:t>
            </a:r>
            <a:r>
              <a:rPr sz="1550" b="1" spc="-5" dirty="0">
                <a:latin typeface="Arial"/>
                <a:cs typeface="Arial"/>
              </a:rPr>
              <a:t>list</a:t>
            </a:r>
            <a:endParaRPr sz="1550" dirty="0">
              <a:latin typeface="Arial"/>
              <a:cs typeface="Arial"/>
            </a:endParaRPr>
          </a:p>
          <a:p>
            <a:pPr marL="316865">
              <a:lnSpc>
                <a:spcPct val="100000"/>
              </a:lnSpc>
              <a:spcBef>
                <a:spcPts val="530"/>
              </a:spcBef>
            </a:pPr>
            <a:r>
              <a:rPr sz="1250" b="1" spc="-10" dirty="0">
                <a:latin typeface="Courier New"/>
                <a:cs typeface="Courier New"/>
              </a:rPr>
              <a:t>taskList.execute(someRunnable);</a:t>
            </a:r>
            <a:endParaRPr sz="1250" dirty="0">
              <a:latin typeface="Courier New"/>
              <a:cs typeface="Courier New"/>
            </a:endParaRPr>
          </a:p>
          <a:p>
            <a:pPr>
              <a:lnSpc>
                <a:spcPct val="100000"/>
              </a:lnSpc>
            </a:pPr>
            <a:endParaRPr sz="1200" dirty="0">
              <a:latin typeface="Times New Roman"/>
              <a:cs typeface="Times New Roman"/>
            </a:endParaRPr>
          </a:p>
          <a:p>
            <a:pPr>
              <a:lnSpc>
                <a:spcPct val="100000"/>
              </a:lnSpc>
            </a:pPr>
            <a:endParaRPr sz="1200" dirty="0">
              <a:latin typeface="Times New Roman"/>
              <a:cs typeface="Times New Roman"/>
            </a:endParaRPr>
          </a:p>
          <a:p>
            <a:pPr>
              <a:lnSpc>
                <a:spcPct val="100000"/>
              </a:lnSpc>
            </a:pPr>
            <a:endParaRPr sz="1200" dirty="0">
              <a:latin typeface="Times New Roman"/>
              <a:cs typeface="Times New Roman"/>
            </a:endParaRPr>
          </a:p>
          <a:p>
            <a:pPr>
              <a:lnSpc>
                <a:spcPct val="100000"/>
              </a:lnSpc>
            </a:pPr>
            <a:endParaRPr sz="1200" dirty="0">
              <a:latin typeface="Times New Roman"/>
              <a:cs typeface="Times New Roman"/>
            </a:endParaRPr>
          </a:p>
          <a:p>
            <a:pPr marL="51435">
              <a:lnSpc>
                <a:spcPct val="100000"/>
              </a:lnSpc>
              <a:spcBef>
                <a:spcPts val="1019"/>
              </a:spcBef>
            </a:pPr>
            <a:endParaRPr sz="700" dirty="0">
              <a:latin typeface="Arial Narrow"/>
              <a:cs typeface="Arial Narrow"/>
            </a:endParaRPr>
          </a:p>
        </p:txBody>
      </p:sp>
      <p:sp>
        <p:nvSpPr>
          <p:cNvPr id="3" name="object 3"/>
          <p:cNvSpPr/>
          <p:nvPr/>
        </p:nvSpPr>
        <p:spPr>
          <a:xfrm>
            <a:off x="654799" y="5968"/>
            <a:ext cx="6463030" cy="5022850"/>
          </a:xfrm>
          <a:custGeom>
            <a:avLst/>
            <a:gdLst/>
            <a:ahLst/>
            <a:cxnLst/>
            <a:rect l="l" t="t" r="r" b="b"/>
            <a:pathLst>
              <a:path w="6463030" h="5022850">
                <a:moveTo>
                  <a:pt x="0" y="0"/>
                </a:moveTo>
                <a:lnTo>
                  <a:pt x="6462801" y="0"/>
                </a:lnTo>
                <a:lnTo>
                  <a:pt x="6462801" y="5022850"/>
                </a:lnTo>
                <a:lnTo>
                  <a:pt x="0" y="5022850"/>
                </a:lnTo>
                <a:lnTo>
                  <a:pt x="0" y="0"/>
                </a:lnTo>
                <a:close/>
              </a:path>
            </a:pathLst>
          </a:custGeom>
          <a:ln w="3175">
            <a:solidFill>
              <a:srgbClr val="000000"/>
            </a:solidFill>
          </a:ln>
        </p:spPr>
        <p:txBody>
          <a:bodyPr wrap="square" lIns="0" tIns="0" rIns="0" bIns="0" rtlCol="0"/>
          <a:lstStyle/>
          <a:p>
            <a:endParaRPr/>
          </a:p>
        </p:txBody>
      </p:sp>
      <p:sp>
        <p:nvSpPr>
          <p:cNvPr id="4" name="object 4"/>
          <p:cNvSpPr/>
          <p:nvPr/>
        </p:nvSpPr>
        <p:spPr>
          <a:xfrm>
            <a:off x="718299" y="5758535"/>
            <a:ext cx="6335801" cy="3563886"/>
          </a:xfrm>
          <a:prstGeom prst="rect">
            <a:avLst/>
          </a:prstGeom>
          <a:blipFill>
            <a:blip r:embed="rId3" cstate="print"/>
            <a:stretch>
              <a:fillRect/>
            </a:stretch>
          </a:blipFill>
        </p:spPr>
        <p:txBody>
          <a:bodyPr wrap="square" lIns="0" tIns="0" rIns="0" bIns="0" rtlCol="0"/>
          <a:lstStyle/>
          <a:p>
            <a:endParaRPr/>
          </a:p>
        </p:txBody>
      </p:sp>
      <p:sp>
        <p:nvSpPr>
          <p:cNvPr id="5" name="object 5"/>
          <p:cNvSpPr/>
          <p:nvPr/>
        </p:nvSpPr>
        <p:spPr>
          <a:xfrm>
            <a:off x="790778" y="8994597"/>
            <a:ext cx="6144895" cy="328295"/>
          </a:xfrm>
          <a:custGeom>
            <a:avLst/>
            <a:gdLst/>
            <a:ahLst/>
            <a:cxnLst/>
            <a:rect l="l" t="t" r="r" b="b"/>
            <a:pathLst>
              <a:path w="6144895" h="328295">
                <a:moveTo>
                  <a:pt x="0" y="327825"/>
                </a:moveTo>
                <a:lnTo>
                  <a:pt x="6144768" y="327825"/>
                </a:lnTo>
                <a:lnTo>
                  <a:pt x="6144768" y="0"/>
                </a:lnTo>
                <a:lnTo>
                  <a:pt x="0" y="0"/>
                </a:lnTo>
                <a:lnTo>
                  <a:pt x="0" y="327825"/>
                </a:lnTo>
                <a:close/>
              </a:path>
            </a:pathLst>
          </a:custGeom>
          <a:solidFill>
            <a:srgbClr val="FFFFFF"/>
          </a:solidFill>
        </p:spPr>
        <p:txBody>
          <a:bodyPr wrap="square" lIns="0" tIns="0" rIns="0" bIns="0" rtlCol="0"/>
          <a:lstStyle/>
          <a:p>
            <a:endParaRPr/>
          </a:p>
        </p:txBody>
      </p:sp>
      <p:sp>
        <p:nvSpPr>
          <p:cNvPr id="6" name="object 6"/>
          <p:cNvSpPr txBox="1"/>
          <p:nvPr/>
        </p:nvSpPr>
        <p:spPr>
          <a:xfrm>
            <a:off x="722134" y="5762371"/>
            <a:ext cx="6327775" cy="2303195"/>
          </a:xfrm>
          <a:prstGeom prst="rect">
            <a:avLst/>
          </a:prstGeom>
          <a:ln w="8153">
            <a:solidFill>
              <a:srgbClr val="000000"/>
            </a:solidFill>
          </a:ln>
        </p:spPr>
        <p:txBody>
          <a:bodyPr vert="horz" wrap="square" lIns="0" tIns="0" rIns="0" bIns="0" rtlCol="0">
            <a:spAutoFit/>
          </a:bodyPr>
          <a:lstStyle/>
          <a:p>
            <a:pPr marL="803275">
              <a:lnSpc>
                <a:spcPts val="2560"/>
              </a:lnSpc>
            </a:pPr>
            <a:r>
              <a:rPr sz="2150" b="1" spc="5" dirty="0">
                <a:solidFill>
                  <a:srgbClr val="FFFFFF"/>
                </a:solidFill>
                <a:latin typeface="Arial Narrow"/>
                <a:cs typeface="Arial Narrow"/>
              </a:rPr>
              <a:t>Variations for </a:t>
            </a:r>
            <a:r>
              <a:rPr sz="2150" b="1" spc="15" dirty="0">
                <a:solidFill>
                  <a:srgbClr val="FFFFFF"/>
                </a:solidFill>
                <a:latin typeface="Arial Narrow"/>
                <a:cs typeface="Arial Narrow"/>
              </a:rPr>
              <a:t>Adding Runnable </a:t>
            </a:r>
            <a:r>
              <a:rPr sz="2150" b="1" spc="10" dirty="0">
                <a:solidFill>
                  <a:srgbClr val="FFFFFF"/>
                </a:solidFill>
                <a:latin typeface="Arial Narrow"/>
                <a:cs typeface="Arial Narrow"/>
              </a:rPr>
              <a:t>to Task</a:t>
            </a:r>
            <a:r>
              <a:rPr sz="2150" b="1" spc="-70" dirty="0">
                <a:solidFill>
                  <a:srgbClr val="FFFFFF"/>
                </a:solidFill>
                <a:latin typeface="Arial Narrow"/>
                <a:cs typeface="Arial Narrow"/>
              </a:rPr>
              <a:t> </a:t>
            </a:r>
            <a:r>
              <a:rPr sz="2150" b="1" spc="5" dirty="0">
                <a:solidFill>
                  <a:srgbClr val="FFFFFF"/>
                </a:solidFill>
                <a:latin typeface="Arial Narrow"/>
                <a:cs typeface="Arial Narrow"/>
              </a:rPr>
              <a:t>List</a:t>
            </a:r>
            <a:endParaRPr sz="2150" dirty="0">
              <a:latin typeface="Arial Narrow"/>
              <a:cs typeface="Arial Narrow"/>
            </a:endParaRPr>
          </a:p>
          <a:p>
            <a:pPr marL="257175" indent="-177800">
              <a:lnSpc>
                <a:spcPct val="100000"/>
              </a:lnSpc>
              <a:spcBef>
                <a:spcPts val="985"/>
              </a:spcBef>
              <a:buClr>
                <a:srgbClr val="CC0000"/>
              </a:buClr>
              <a:buFont typeface="Arial"/>
              <a:buChar char="•"/>
              <a:tabLst>
                <a:tab pos="257810" algn="l"/>
              </a:tabLst>
            </a:pPr>
            <a:r>
              <a:rPr sz="1550" b="1" dirty="0">
                <a:latin typeface="Arial"/>
                <a:cs typeface="Arial"/>
              </a:rPr>
              <a:t>Make separate class that implements</a:t>
            </a:r>
            <a:r>
              <a:rPr sz="1550" b="1" spc="-85" dirty="0">
                <a:latin typeface="Arial"/>
                <a:cs typeface="Arial"/>
              </a:rPr>
              <a:t> </a:t>
            </a:r>
            <a:r>
              <a:rPr sz="1550" b="1" dirty="0">
                <a:latin typeface="Arial"/>
                <a:cs typeface="Arial"/>
              </a:rPr>
              <a:t>Runnable</a:t>
            </a:r>
            <a:endParaRPr sz="1550" dirty="0">
              <a:latin typeface="Arial"/>
              <a:cs typeface="Arial"/>
            </a:endParaRPr>
          </a:p>
          <a:p>
            <a:pPr marL="464820" lvl="1" indent="-147955">
              <a:lnSpc>
                <a:spcPct val="100000"/>
              </a:lnSpc>
              <a:spcBef>
                <a:spcPts val="530"/>
              </a:spcBef>
              <a:buClr>
                <a:srgbClr val="CC0000"/>
              </a:buClr>
              <a:buFont typeface="Courier New"/>
              <a:buChar char="–"/>
              <a:tabLst>
                <a:tab pos="465455" algn="l"/>
              </a:tabLst>
            </a:pPr>
            <a:r>
              <a:rPr sz="1250" b="1" spc="-10" dirty="0">
                <a:latin typeface="Courier New"/>
                <a:cs typeface="Courier New"/>
              </a:rPr>
              <a:t>taskList.execute(new</a:t>
            </a:r>
            <a:r>
              <a:rPr sz="1250" b="1" spc="50" dirty="0">
                <a:latin typeface="Courier New"/>
                <a:cs typeface="Courier New"/>
              </a:rPr>
              <a:t> </a:t>
            </a:r>
            <a:r>
              <a:rPr sz="1250" b="1" spc="-10" dirty="0">
                <a:latin typeface="Courier New"/>
                <a:cs typeface="Courier New"/>
              </a:rPr>
              <a:t>MySeparateRunnableClass(…));</a:t>
            </a:r>
            <a:endParaRPr sz="1250" dirty="0">
              <a:latin typeface="Courier New"/>
              <a:cs typeface="Courier New"/>
            </a:endParaRPr>
          </a:p>
          <a:p>
            <a:pPr marL="257175" indent="-177800">
              <a:lnSpc>
                <a:spcPct val="100000"/>
              </a:lnSpc>
              <a:spcBef>
                <a:spcPts val="540"/>
              </a:spcBef>
              <a:buClr>
                <a:srgbClr val="CC0000"/>
              </a:buClr>
              <a:buFont typeface="Arial"/>
              <a:buChar char="•"/>
              <a:tabLst>
                <a:tab pos="257810" algn="l"/>
              </a:tabLst>
            </a:pPr>
            <a:r>
              <a:rPr sz="1550" b="1" dirty="0">
                <a:latin typeface="Arial"/>
                <a:cs typeface="Arial"/>
              </a:rPr>
              <a:t>Have your existing class implement</a:t>
            </a:r>
            <a:r>
              <a:rPr sz="1550" b="1" spc="-70" dirty="0">
                <a:latin typeface="Arial"/>
                <a:cs typeface="Arial"/>
              </a:rPr>
              <a:t> </a:t>
            </a:r>
            <a:r>
              <a:rPr sz="1550" b="1" dirty="0">
                <a:latin typeface="Arial"/>
                <a:cs typeface="Arial"/>
              </a:rPr>
              <a:t>Runnable</a:t>
            </a:r>
            <a:endParaRPr sz="1550" dirty="0">
              <a:latin typeface="Arial"/>
              <a:cs typeface="Arial"/>
            </a:endParaRPr>
          </a:p>
          <a:p>
            <a:pPr marL="464820" lvl="1" indent="-147955">
              <a:lnSpc>
                <a:spcPct val="100000"/>
              </a:lnSpc>
              <a:spcBef>
                <a:spcPts val="530"/>
              </a:spcBef>
              <a:buClr>
                <a:srgbClr val="CC0000"/>
              </a:buClr>
              <a:buFont typeface="Courier New"/>
              <a:buChar char="–"/>
              <a:tabLst>
                <a:tab pos="465455" algn="l"/>
              </a:tabLst>
            </a:pPr>
            <a:r>
              <a:rPr sz="1250" b="1" spc="-10" dirty="0">
                <a:latin typeface="Courier New"/>
                <a:cs typeface="Courier New"/>
              </a:rPr>
              <a:t>taskList.execute(this);</a:t>
            </a:r>
            <a:endParaRPr sz="1250" dirty="0">
              <a:latin typeface="Courier New"/>
              <a:cs typeface="Courier New"/>
            </a:endParaRPr>
          </a:p>
          <a:p>
            <a:pPr marL="257175" indent="-177800">
              <a:lnSpc>
                <a:spcPct val="100000"/>
              </a:lnSpc>
              <a:spcBef>
                <a:spcPts val="540"/>
              </a:spcBef>
              <a:buClr>
                <a:srgbClr val="CC0000"/>
              </a:buClr>
              <a:buFont typeface="Arial"/>
              <a:buChar char="•"/>
              <a:tabLst>
                <a:tab pos="257810" algn="l"/>
              </a:tabLst>
            </a:pPr>
            <a:r>
              <a:rPr sz="1550" b="1" spc="5" dirty="0">
                <a:latin typeface="Arial"/>
                <a:cs typeface="Arial"/>
              </a:rPr>
              <a:t>Use an inner</a:t>
            </a:r>
            <a:r>
              <a:rPr sz="1550" b="1" spc="-114" dirty="0">
                <a:latin typeface="Arial"/>
                <a:cs typeface="Arial"/>
              </a:rPr>
              <a:t> </a:t>
            </a:r>
            <a:r>
              <a:rPr sz="1550" b="1" spc="5" dirty="0">
                <a:latin typeface="Arial"/>
                <a:cs typeface="Arial"/>
              </a:rPr>
              <a:t>class</a:t>
            </a:r>
            <a:endParaRPr sz="1550" dirty="0">
              <a:latin typeface="Arial"/>
              <a:cs typeface="Arial"/>
            </a:endParaRPr>
          </a:p>
          <a:p>
            <a:pPr marL="464820" lvl="1" indent="-147955">
              <a:lnSpc>
                <a:spcPct val="100000"/>
              </a:lnSpc>
              <a:spcBef>
                <a:spcPts val="530"/>
              </a:spcBef>
              <a:buClr>
                <a:srgbClr val="CC0000"/>
              </a:buClr>
              <a:buFont typeface="Courier New"/>
              <a:buChar char="–"/>
              <a:tabLst>
                <a:tab pos="465455" algn="l"/>
              </a:tabLst>
            </a:pPr>
            <a:r>
              <a:rPr sz="1250" b="1" spc="-10" dirty="0">
                <a:latin typeface="Courier New"/>
                <a:cs typeface="Courier New"/>
              </a:rPr>
              <a:t>taskList.execute(new</a:t>
            </a:r>
            <a:r>
              <a:rPr sz="1250" b="1" spc="40" dirty="0">
                <a:latin typeface="Courier New"/>
                <a:cs typeface="Courier New"/>
              </a:rPr>
              <a:t> </a:t>
            </a:r>
            <a:r>
              <a:rPr sz="1250" b="1" spc="-10" dirty="0">
                <a:latin typeface="Courier New"/>
                <a:cs typeface="Courier New"/>
              </a:rPr>
              <a:t>MyInnerRunnableClass(…));</a:t>
            </a:r>
            <a:endParaRPr sz="1250" dirty="0">
              <a:latin typeface="Courier New"/>
              <a:cs typeface="Courier New"/>
            </a:endParaRPr>
          </a:p>
          <a:p>
            <a:pPr marL="673100" lvl="2" indent="-118745">
              <a:lnSpc>
                <a:spcPct val="100000"/>
              </a:lnSpc>
              <a:spcBef>
                <a:spcPts val="365"/>
              </a:spcBef>
              <a:buClr>
                <a:srgbClr val="CC0000"/>
              </a:buClr>
              <a:buChar char="•"/>
              <a:tabLst>
                <a:tab pos="673735" algn="l"/>
              </a:tabLst>
            </a:pPr>
            <a:r>
              <a:rPr sz="1150" spc="-5" dirty="0">
                <a:latin typeface="Arial"/>
                <a:cs typeface="Arial"/>
              </a:rPr>
              <a:t>This could be a named inner class or an anonymous inner</a:t>
            </a:r>
            <a:r>
              <a:rPr sz="1150" spc="-15" dirty="0">
                <a:latin typeface="Arial"/>
                <a:cs typeface="Arial"/>
              </a:rPr>
              <a:t> </a:t>
            </a:r>
            <a:r>
              <a:rPr sz="1150" spc="-5" dirty="0" smtClean="0">
                <a:latin typeface="Arial"/>
                <a:cs typeface="Arial"/>
              </a:rPr>
              <a:t>class</a:t>
            </a:r>
            <a:endParaRPr sz="1150" dirty="0">
              <a:latin typeface="Arial"/>
              <a:cs typeface="Arial"/>
            </a:endParaRPr>
          </a:p>
        </p:txBody>
      </p:sp>
      <p:sp>
        <p:nvSpPr>
          <p:cNvPr id="7" name="object 7"/>
          <p:cNvSpPr/>
          <p:nvPr/>
        </p:nvSpPr>
        <p:spPr>
          <a:xfrm>
            <a:off x="654799" y="5028819"/>
            <a:ext cx="6463030" cy="5022850"/>
          </a:xfrm>
          <a:custGeom>
            <a:avLst/>
            <a:gdLst/>
            <a:ahLst/>
            <a:cxnLst/>
            <a:rect l="l" t="t" r="r" b="b"/>
            <a:pathLst>
              <a:path w="6463030" h="5022850">
                <a:moveTo>
                  <a:pt x="0" y="0"/>
                </a:moveTo>
                <a:lnTo>
                  <a:pt x="6462801" y="0"/>
                </a:lnTo>
                <a:lnTo>
                  <a:pt x="6462801" y="5022850"/>
                </a:lnTo>
                <a:lnTo>
                  <a:pt x="0" y="5022850"/>
                </a:lnTo>
                <a:lnTo>
                  <a:pt x="0" y="0"/>
                </a:lnTo>
                <a:close/>
              </a:path>
            </a:pathLst>
          </a:custGeom>
          <a:ln w="3175">
            <a:solidFill>
              <a:srgbClr val="000000"/>
            </a:solidFill>
          </a:ln>
        </p:spPr>
        <p:txBody>
          <a:bodyPr wrap="square" lIns="0" tIns="0" rIns="0" bIns="0" rtlCol="0"/>
          <a:lstStyle/>
          <a:p>
            <a:endParaRP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718299" y="735685"/>
            <a:ext cx="6336030" cy="3564254"/>
          </a:xfrm>
          <a:custGeom>
            <a:avLst/>
            <a:gdLst/>
            <a:ahLst/>
            <a:cxnLst/>
            <a:rect l="l" t="t" r="r" b="b"/>
            <a:pathLst>
              <a:path w="6336030" h="3564254">
                <a:moveTo>
                  <a:pt x="0" y="3563886"/>
                </a:moveTo>
                <a:lnTo>
                  <a:pt x="6335801" y="3563886"/>
                </a:lnTo>
                <a:lnTo>
                  <a:pt x="6335801" y="0"/>
                </a:lnTo>
                <a:lnTo>
                  <a:pt x="0" y="0"/>
                </a:lnTo>
                <a:lnTo>
                  <a:pt x="0" y="3563886"/>
                </a:lnTo>
                <a:close/>
              </a:path>
            </a:pathLst>
          </a:custGeom>
          <a:solidFill>
            <a:srgbClr val="B2B2B2"/>
          </a:solidFill>
        </p:spPr>
        <p:txBody>
          <a:bodyPr wrap="square" lIns="0" tIns="0" rIns="0" bIns="0" rtlCol="0"/>
          <a:lstStyle/>
          <a:p>
            <a:endParaRPr/>
          </a:p>
        </p:txBody>
      </p:sp>
      <p:sp>
        <p:nvSpPr>
          <p:cNvPr id="10" name="object 10"/>
          <p:cNvSpPr/>
          <p:nvPr/>
        </p:nvSpPr>
        <p:spPr>
          <a:xfrm>
            <a:off x="795096" y="3700081"/>
            <a:ext cx="322910" cy="587501"/>
          </a:xfrm>
          <a:prstGeom prst="rect">
            <a:avLst/>
          </a:prstGeom>
          <a:blipFill>
            <a:blip r:embed="rId3" cstate="print"/>
            <a:stretch>
              <a:fillRect/>
            </a:stretch>
          </a:blipFill>
        </p:spPr>
        <p:txBody>
          <a:bodyPr wrap="square" lIns="0" tIns="0" rIns="0" bIns="0" rtlCol="0"/>
          <a:lstStyle/>
          <a:p>
            <a:endParaRPr/>
          </a:p>
        </p:txBody>
      </p:sp>
      <p:sp>
        <p:nvSpPr>
          <p:cNvPr id="11" name="object 11"/>
          <p:cNvSpPr txBox="1"/>
          <p:nvPr/>
        </p:nvSpPr>
        <p:spPr>
          <a:xfrm>
            <a:off x="722134" y="739533"/>
            <a:ext cx="6327775" cy="2710999"/>
          </a:xfrm>
          <a:prstGeom prst="rect">
            <a:avLst/>
          </a:prstGeom>
          <a:ln w="8153">
            <a:solidFill>
              <a:srgbClr val="000000"/>
            </a:solidFill>
          </a:ln>
        </p:spPr>
        <p:txBody>
          <a:bodyPr vert="horz" wrap="square" lIns="0" tIns="10160" rIns="0" bIns="0" rtlCol="0">
            <a:spAutoFit/>
          </a:bodyPr>
          <a:lstStyle/>
          <a:p>
            <a:pPr>
              <a:lnSpc>
                <a:spcPct val="100000"/>
              </a:lnSpc>
            </a:pPr>
            <a:endParaRPr lang="en-US" sz="1200" dirty="0" smtClean="0">
              <a:latin typeface="Times New Roman"/>
              <a:cs typeface="Times New Roman"/>
            </a:endParaRPr>
          </a:p>
          <a:p>
            <a:pPr>
              <a:lnSpc>
                <a:spcPct val="100000"/>
              </a:lnSpc>
            </a:pPr>
            <a:endParaRPr sz="1200" dirty="0">
              <a:latin typeface="Times New Roman"/>
              <a:cs typeface="Times New Roman"/>
            </a:endParaRPr>
          </a:p>
          <a:p>
            <a:pPr>
              <a:lnSpc>
                <a:spcPct val="100000"/>
              </a:lnSpc>
              <a:spcBef>
                <a:spcPts val="35"/>
              </a:spcBef>
            </a:pPr>
            <a:endParaRPr sz="1150" dirty="0">
              <a:latin typeface="Times New Roman"/>
              <a:cs typeface="Times New Roman"/>
            </a:endParaRPr>
          </a:p>
          <a:p>
            <a:pPr marL="992505" marR="945515" indent="1270" algn="ctr">
              <a:lnSpc>
                <a:spcPts val="4240"/>
              </a:lnSpc>
              <a:spcBef>
                <a:spcPts val="5"/>
              </a:spcBef>
            </a:pPr>
            <a:r>
              <a:rPr sz="4150" b="1" dirty="0">
                <a:solidFill>
                  <a:srgbClr val="FF0000"/>
                </a:solidFill>
                <a:latin typeface="Arial"/>
                <a:cs typeface="Arial"/>
              </a:rPr>
              <a:t>Approach One:  Separate</a:t>
            </a:r>
            <a:r>
              <a:rPr sz="4150" b="1" spc="-50" dirty="0">
                <a:solidFill>
                  <a:srgbClr val="FF0000"/>
                </a:solidFill>
                <a:latin typeface="Arial"/>
                <a:cs typeface="Arial"/>
              </a:rPr>
              <a:t> </a:t>
            </a:r>
            <a:r>
              <a:rPr sz="4150" b="1" dirty="0">
                <a:solidFill>
                  <a:srgbClr val="FF0000"/>
                </a:solidFill>
                <a:latin typeface="Arial"/>
                <a:cs typeface="Arial"/>
              </a:rPr>
              <a:t>Classes  that Implement  </a:t>
            </a:r>
            <a:r>
              <a:rPr sz="4150" b="1" dirty="0" smtClean="0">
                <a:solidFill>
                  <a:srgbClr val="FF0000"/>
                </a:solidFill>
                <a:latin typeface="Arial"/>
                <a:cs typeface="Arial"/>
              </a:rPr>
              <a:t>Runnable</a:t>
            </a:r>
            <a:endParaRPr sz="4150" dirty="0">
              <a:latin typeface="Arial"/>
              <a:cs typeface="Arial"/>
            </a:endParaRPr>
          </a:p>
        </p:txBody>
      </p:sp>
      <p:sp>
        <p:nvSpPr>
          <p:cNvPr id="12" name="object 12"/>
          <p:cNvSpPr/>
          <p:nvPr/>
        </p:nvSpPr>
        <p:spPr>
          <a:xfrm>
            <a:off x="654799" y="5968"/>
            <a:ext cx="6463030" cy="5022850"/>
          </a:xfrm>
          <a:custGeom>
            <a:avLst/>
            <a:gdLst/>
            <a:ahLst/>
            <a:cxnLst/>
            <a:rect l="l" t="t" r="r" b="b"/>
            <a:pathLst>
              <a:path w="6463030" h="5022850">
                <a:moveTo>
                  <a:pt x="0" y="0"/>
                </a:moveTo>
                <a:lnTo>
                  <a:pt x="6462801" y="0"/>
                </a:lnTo>
                <a:lnTo>
                  <a:pt x="6462801" y="5022850"/>
                </a:lnTo>
                <a:lnTo>
                  <a:pt x="0" y="5022850"/>
                </a:lnTo>
                <a:lnTo>
                  <a:pt x="0" y="0"/>
                </a:lnTo>
                <a:close/>
              </a:path>
            </a:pathLst>
          </a:custGeom>
          <a:ln w="3175">
            <a:solidFill>
              <a:srgbClr val="000000"/>
            </a:solidFill>
          </a:ln>
        </p:spPr>
        <p:txBody>
          <a:bodyPr wrap="square" lIns="0" tIns="0" rIns="0" bIns="0" rtlCol="0"/>
          <a:lstStyle/>
          <a:p>
            <a:endParaRPr/>
          </a:p>
        </p:txBody>
      </p:sp>
      <p:sp>
        <p:nvSpPr>
          <p:cNvPr id="13" name="object 13"/>
          <p:cNvSpPr/>
          <p:nvPr/>
        </p:nvSpPr>
        <p:spPr>
          <a:xfrm>
            <a:off x="718299" y="5758535"/>
            <a:ext cx="6335801" cy="3563886"/>
          </a:xfrm>
          <a:prstGeom prst="rect">
            <a:avLst/>
          </a:prstGeom>
          <a:blipFill>
            <a:blip r:embed="rId4" cstate="print"/>
            <a:stretch>
              <a:fillRect/>
            </a:stretch>
          </a:blipFill>
        </p:spPr>
        <p:txBody>
          <a:bodyPr wrap="square" lIns="0" tIns="0" rIns="0" bIns="0" rtlCol="0"/>
          <a:lstStyle/>
          <a:p>
            <a:endParaRPr/>
          </a:p>
        </p:txBody>
      </p:sp>
      <p:sp>
        <p:nvSpPr>
          <p:cNvPr id="14" name="object 14"/>
          <p:cNvSpPr/>
          <p:nvPr/>
        </p:nvSpPr>
        <p:spPr>
          <a:xfrm>
            <a:off x="790778" y="8994597"/>
            <a:ext cx="6144895" cy="328295"/>
          </a:xfrm>
          <a:custGeom>
            <a:avLst/>
            <a:gdLst/>
            <a:ahLst/>
            <a:cxnLst/>
            <a:rect l="l" t="t" r="r" b="b"/>
            <a:pathLst>
              <a:path w="6144895" h="328295">
                <a:moveTo>
                  <a:pt x="0" y="327825"/>
                </a:moveTo>
                <a:lnTo>
                  <a:pt x="6144768" y="327825"/>
                </a:lnTo>
                <a:lnTo>
                  <a:pt x="6144768" y="0"/>
                </a:lnTo>
                <a:lnTo>
                  <a:pt x="0" y="0"/>
                </a:lnTo>
                <a:lnTo>
                  <a:pt x="0" y="327825"/>
                </a:lnTo>
                <a:close/>
              </a:path>
            </a:pathLst>
          </a:custGeom>
          <a:solidFill>
            <a:srgbClr val="FFFFFF"/>
          </a:solidFill>
        </p:spPr>
        <p:txBody>
          <a:bodyPr wrap="square" lIns="0" tIns="0" rIns="0" bIns="0" rtlCol="0"/>
          <a:lstStyle/>
          <a:p>
            <a:endParaRPr/>
          </a:p>
        </p:txBody>
      </p:sp>
      <p:sp>
        <p:nvSpPr>
          <p:cNvPr id="15" name="object 15"/>
          <p:cNvSpPr txBox="1"/>
          <p:nvPr/>
        </p:nvSpPr>
        <p:spPr>
          <a:xfrm>
            <a:off x="792954" y="5699709"/>
            <a:ext cx="5808980" cy="3148965"/>
          </a:xfrm>
          <a:prstGeom prst="rect">
            <a:avLst/>
          </a:prstGeom>
        </p:spPr>
        <p:txBody>
          <a:bodyPr vert="horz" wrap="square" lIns="0" tIns="37465" rIns="0" bIns="0" rtlCol="0">
            <a:spAutoFit/>
          </a:bodyPr>
          <a:lstStyle/>
          <a:p>
            <a:pPr marL="736600" marR="2531745" indent="-82550" algn="ctr">
              <a:lnSpc>
                <a:spcPts val="1689"/>
              </a:lnSpc>
              <a:spcBef>
                <a:spcPts val="295"/>
              </a:spcBef>
            </a:pPr>
            <a:r>
              <a:rPr sz="1600" b="1" spc="5" dirty="0">
                <a:solidFill>
                  <a:srgbClr val="FFFFFF"/>
                </a:solidFill>
                <a:latin typeface="Arial"/>
                <a:cs typeface="Arial"/>
              </a:rPr>
              <a:t>Thread Mechanism One:  Separate Runnable</a:t>
            </a:r>
            <a:r>
              <a:rPr sz="1600" b="1" spc="-85" dirty="0">
                <a:solidFill>
                  <a:srgbClr val="FFFFFF"/>
                </a:solidFill>
                <a:latin typeface="Arial"/>
                <a:cs typeface="Arial"/>
              </a:rPr>
              <a:t> </a:t>
            </a:r>
            <a:r>
              <a:rPr sz="1600" b="1" spc="5" dirty="0">
                <a:solidFill>
                  <a:srgbClr val="FFFFFF"/>
                </a:solidFill>
                <a:latin typeface="Arial"/>
                <a:cs typeface="Arial"/>
              </a:rPr>
              <a:t>Class</a:t>
            </a:r>
            <a:endParaRPr sz="1600" dirty="0">
              <a:latin typeface="Arial"/>
              <a:cs typeface="Arial"/>
            </a:endParaRPr>
          </a:p>
          <a:p>
            <a:pPr marL="190500" indent="-177800">
              <a:lnSpc>
                <a:spcPct val="100000"/>
              </a:lnSpc>
              <a:spcBef>
                <a:spcPts val="345"/>
              </a:spcBef>
              <a:buClr>
                <a:srgbClr val="CC0000"/>
              </a:buClr>
              <a:buFont typeface="Arial"/>
              <a:buChar char="•"/>
              <a:tabLst>
                <a:tab pos="191135" algn="l"/>
              </a:tabLst>
            </a:pPr>
            <a:r>
              <a:rPr sz="1550" b="1" dirty="0">
                <a:latin typeface="Arial"/>
                <a:cs typeface="Arial"/>
              </a:rPr>
              <a:t>Make class that implements</a:t>
            </a:r>
            <a:r>
              <a:rPr sz="1550" b="1" spc="-95" dirty="0">
                <a:latin typeface="Arial"/>
                <a:cs typeface="Arial"/>
              </a:rPr>
              <a:t> </a:t>
            </a:r>
            <a:r>
              <a:rPr sz="1550" b="1" dirty="0">
                <a:latin typeface="Arial"/>
                <a:cs typeface="Arial"/>
              </a:rPr>
              <a:t>Runnable</a:t>
            </a:r>
            <a:endParaRPr sz="1550" dirty="0">
              <a:latin typeface="Arial"/>
              <a:cs typeface="Arial"/>
            </a:endParaRPr>
          </a:p>
          <a:p>
            <a:pPr marL="398145" lvl="1" indent="-147955">
              <a:lnSpc>
                <a:spcPct val="100000"/>
              </a:lnSpc>
              <a:spcBef>
                <a:spcPts val="345"/>
              </a:spcBef>
              <a:buClr>
                <a:srgbClr val="CC0000"/>
              </a:buClr>
              <a:buChar char="–"/>
              <a:tabLst>
                <a:tab pos="398780" algn="l"/>
              </a:tabLst>
            </a:pPr>
            <a:r>
              <a:rPr sz="1350" spc="-5" dirty="0">
                <a:latin typeface="Times New Roman"/>
                <a:cs typeface="Times New Roman"/>
              </a:rPr>
              <a:t>No import statements needed: Runnable is in</a:t>
            </a:r>
            <a:r>
              <a:rPr sz="1350" dirty="0">
                <a:latin typeface="Times New Roman"/>
                <a:cs typeface="Times New Roman"/>
              </a:rPr>
              <a:t> </a:t>
            </a:r>
            <a:r>
              <a:rPr sz="1350" spc="-5" dirty="0">
                <a:latin typeface="Times New Roman"/>
                <a:cs typeface="Times New Roman"/>
              </a:rPr>
              <a:t>java.lang</a:t>
            </a:r>
            <a:endParaRPr sz="1350" dirty="0">
              <a:latin typeface="Times New Roman"/>
              <a:cs typeface="Times New Roman"/>
            </a:endParaRPr>
          </a:p>
          <a:p>
            <a:pPr marL="190500" indent="-177800">
              <a:lnSpc>
                <a:spcPct val="100000"/>
              </a:lnSpc>
              <a:spcBef>
                <a:spcPts val="355"/>
              </a:spcBef>
              <a:buClr>
                <a:srgbClr val="CC0000"/>
              </a:buClr>
              <a:buFont typeface="Arial"/>
              <a:buChar char="•"/>
              <a:tabLst>
                <a:tab pos="191135" algn="l"/>
              </a:tabLst>
            </a:pPr>
            <a:r>
              <a:rPr sz="1550" b="1" spc="5" dirty="0">
                <a:latin typeface="Arial"/>
                <a:cs typeface="Arial"/>
              </a:rPr>
              <a:t>Put actions to be performed in run</a:t>
            </a:r>
            <a:r>
              <a:rPr sz="1550" b="1" spc="-110" dirty="0">
                <a:latin typeface="Arial"/>
                <a:cs typeface="Arial"/>
              </a:rPr>
              <a:t> </a:t>
            </a:r>
            <a:r>
              <a:rPr sz="1550" b="1" spc="5" dirty="0">
                <a:latin typeface="Arial"/>
                <a:cs typeface="Arial"/>
              </a:rPr>
              <a:t>method</a:t>
            </a:r>
            <a:endParaRPr sz="1550" dirty="0">
              <a:latin typeface="Arial"/>
              <a:cs typeface="Arial"/>
            </a:endParaRPr>
          </a:p>
          <a:p>
            <a:pPr marL="469900" marR="1252220" indent="-190500">
              <a:lnSpc>
                <a:spcPts val="1480"/>
              </a:lnSpc>
              <a:spcBef>
                <a:spcPts val="315"/>
              </a:spcBef>
            </a:pPr>
            <a:r>
              <a:rPr sz="1250" b="1" spc="-10" dirty="0">
                <a:solidFill>
                  <a:srgbClr val="FF0000"/>
                </a:solidFill>
                <a:latin typeface="Courier New"/>
                <a:cs typeface="Courier New"/>
              </a:rPr>
              <a:t>public class MyRunnable implements Runnable </a:t>
            </a:r>
            <a:r>
              <a:rPr sz="1250" b="1" spc="-5" dirty="0">
                <a:solidFill>
                  <a:srgbClr val="FF0000"/>
                </a:solidFill>
                <a:latin typeface="Courier New"/>
                <a:cs typeface="Courier New"/>
              </a:rPr>
              <a:t>{  </a:t>
            </a:r>
            <a:r>
              <a:rPr sz="1250" b="1" spc="-10" dirty="0">
                <a:solidFill>
                  <a:srgbClr val="FF0000"/>
                </a:solidFill>
                <a:latin typeface="Courier New"/>
                <a:cs typeface="Courier New"/>
              </a:rPr>
              <a:t>public void run() </a:t>
            </a:r>
            <a:r>
              <a:rPr sz="1250" b="1" spc="-5" dirty="0">
                <a:solidFill>
                  <a:srgbClr val="FF0000"/>
                </a:solidFill>
                <a:latin typeface="Courier New"/>
                <a:cs typeface="Courier New"/>
              </a:rPr>
              <a:t>{ </a:t>
            </a:r>
            <a:r>
              <a:rPr sz="1250" b="1" spc="-10" dirty="0">
                <a:solidFill>
                  <a:srgbClr val="FF0000"/>
                </a:solidFill>
                <a:latin typeface="Courier New"/>
                <a:cs typeface="Courier New"/>
              </a:rPr>
              <a:t>someBackgroundTask();</a:t>
            </a:r>
            <a:r>
              <a:rPr sz="1250" b="1" spc="25" dirty="0">
                <a:solidFill>
                  <a:srgbClr val="FF0000"/>
                </a:solidFill>
                <a:latin typeface="Courier New"/>
                <a:cs typeface="Courier New"/>
              </a:rPr>
              <a:t> </a:t>
            </a:r>
            <a:r>
              <a:rPr sz="1250" b="1" spc="-5" dirty="0">
                <a:solidFill>
                  <a:srgbClr val="FF0000"/>
                </a:solidFill>
                <a:latin typeface="Courier New"/>
                <a:cs typeface="Courier New"/>
              </a:rPr>
              <a:t>}</a:t>
            </a:r>
            <a:endParaRPr sz="1250" dirty="0">
              <a:latin typeface="Courier New"/>
              <a:cs typeface="Courier New"/>
            </a:endParaRPr>
          </a:p>
          <a:p>
            <a:pPr marL="280035">
              <a:lnSpc>
                <a:spcPts val="1435"/>
              </a:lnSpc>
            </a:pPr>
            <a:r>
              <a:rPr sz="1250" b="1" spc="-5" dirty="0">
                <a:solidFill>
                  <a:srgbClr val="FF0000"/>
                </a:solidFill>
                <a:latin typeface="Courier New"/>
                <a:cs typeface="Courier New"/>
              </a:rPr>
              <a:t>}</a:t>
            </a:r>
            <a:endParaRPr sz="1250" dirty="0">
              <a:latin typeface="Courier New"/>
              <a:cs typeface="Courier New"/>
            </a:endParaRPr>
          </a:p>
          <a:p>
            <a:pPr marL="190500" indent="-177800">
              <a:lnSpc>
                <a:spcPct val="100000"/>
              </a:lnSpc>
              <a:spcBef>
                <a:spcPts val="450"/>
              </a:spcBef>
              <a:buClr>
                <a:srgbClr val="CC0000"/>
              </a:buClr>
              <a:buFont typeface="Arial"/>
              <a:buChar char="•"/>
              <a:tabLst>
                <a:tab pos="191135" algn="l"/>
              </a:tabLst>
            </a:pPr>
            <a:r>
              <a:rPr sz="1550" b="1" dirty="0">
                <a:latin typeface="Arial"/>
                <a:cs typeface="Arial"/>
              </a:rPr>
              <a:t>Create instance of your</a:t>
            </a:r>
            <a:r>
              <a:rPr sz="1550" b="1" spc="-80" dirty="0">
                <a:latin typeface="Arial"/>
                <a:cs typeface="Arial"/>
              </a:rPr>
              <a:t> </a:t>
            </a:r>
            <a:r>
              <a:rPr sz="1550" b="1" dirty="0">
                <a:latin typeface="Arial"/>
                <a:cs typeface="Arial"/>
              </a:rPr>
              <a:t>class</a:t>
            </a:r>
            <a:endParaRPr sz="1550" dirty="0">
              <a:latin typeface="Arial"/>
              <a:cs typeface="Arial"/>
            </a:endParaRPr>
          </a:p>
          <a:p>
            <a:pPr marL="398145" lvl="1" indent="-147955">
              <a:lnSpc>
                <a:spcPct val="100000"/>
              </a:lnSpc>
              <a:spcBef>
                <a:spcPts val="345"/>
              </a:spcBef>
              <a:buClr>
                <a:srgbClr val="CC0000"/>
              </a:buClr>
              <a:buChar char="–"/>
              <a:tabLst>
                <a:tab pos="398780" algn="l"/>
              </a:tabLst>
            </a:pPr>
            <a:r>
              <a:rPr sz="1350" spc="-5" dirty="0">
                <a:latin typeface="Times New Roman"/>
                <a:cs typeface="Times New Roman"/>
              </a:rPr>
              <a:t>Or lots of instances, if you want lots of</a:t>
            </a:r>
            <a:r>
              <a:rPr sz="1350" dirty="0">
                <a:latin typeface="Times New Roman"/>
                <a:cs typeface="Times New Roman"/>
              </a:rPr>
              <a:t> </a:t>
            </a:r>
            <a:r>
              <a:rPr sz="1350" spc="-5" dirty="0">
                <a:latin typeface="Times New Roman"/>
                <a:cs typeface="Times New Roman"/>
              </a:rPr>
              <a:t>threads</a:t>
            </a:r>
            <a:endParaRPr sz="1350" dirty="0">
              <a:latin typeface="Times New Roman"/>
              <a:cs typeface="Times New Roman"/>
            </a:endParaRPr>
          </a:p>
          <a:p>
            <a:pPr marL="190500" indent="-177800">
              <a:lnSpc>
                <a:spcPct val="100000"/>
              </a:lnSpc>
              <a:spcBef>
                <a:spcPts val="355"/>
              </a:spcBef>
              <a:buClr>
                <a:srgbClr val="CC0000"/>
              </a:buClr>
              <a:buFont typeface="Arial"/>
              <a:buChar char="•"/>
              <a:tabLst>
                <a:tab pos="191135" algn="l"/>
              </a:tabLst>
            </a:pPr>
            <a:r>
              <a:rPr sz="1550" b="1" dirty="0">
                <a:latin typeface="Arial"/>
                <a:cs typeface="Arial"/>
              </a:rPr>
              <a:t>Pass instance to</a:t>
            </a:r>
            <a:r>
              <a:rPr sz="1550" b="1" spc="-80" dirty="0">
                <a:latin typeface="Arial"/>
                <a:cs typeface="Arial"/>
              </a:rPr>
              <a:t> </a:t>
            </a:r>
            <a:r>
              <a:rPr sz="1550" b="1" dirty="0">
                <a:latin typeface="Arial"/>
                <a:cs typeface="Arial"/>
              </a:rPr>
              <a:t>ExecutorService.execute</a:t>
            </a:r>
            <a:endParaRPr sz="1550" dirty="0">
              <a:latin typeface="Arial"/>
              <a:cs typeface="Arial"/>
            </a:endParaRPr>
          </a:p>
          <a:p>
            <a:pPr marL="280035">
              <a:lnSpc>
                <a:spcPct val="100000"/>
              </a:lnSpc>
              <a:spcBef>
                <a:spcPts val="245"/>
              </a:spcBef>
            </a:pPr>
            <a:r>
              <a:rPr sz="1250" b="1" spc="-10" dirty="0">
                <a:solidFill>
                  <a:srgbClr val="FF0000"/>
                </a:solidFill>
                <a:latin typeface="Courier New"/>
                <a:cs typeface="Courier New"/>
              </a:rPr>
              <a:t>taskList.execute(new</a:t>
            </a:r>
            <a:r>
              <a:rPr sz="1250" b="1" spc="10" dirty="0">
                <a:solidFill>
                  <a:srgbClr val="FF0000"/>
                </a:solidFill>
                <a:latin typeface="Courier New"/>
                <a:cs typeface="Courier New"/>
              </a:rPr>
              <a:t> </a:t>
            </a:r>
            <a:r>
              <a:rPr sz="1250" b="1" spc="-10" dirty="0">
                <a:solidFill>
                  <a:srgbClr val="FF0000"/>
                </a:solidFill>
                <a:latin typeface="Courier New"/>
                <a:cs typeface="Courier New"/>
              </a:rPr>
              <a:t>MyRunnable(…));</a:t>
            </a:r>
            <a:endParaRPr sz="1250" dirty="0">
              <a:latin typeface="Courier New"/>
              <a:cs typeface="Courier New"/>
            </a:endParaRPr>
          </a:p>
          <a:p>
            <a:pPr marL="606425" indent="-118745">
              <a:lnSpc>
                <a:spcPct val="100000"/>
              </a:lnSpc>
              <a:spcBef>
                <a:spcPts val="295"/>
              </a:spcBef>
              <a:buClr>
                <a:srgbClr val="CC0000"/>
              </a:buClr>
              <a:buChar char="•"/>
              <a:tabLst>
                <a:tab pos="607060" algn="l"/>
              </a:tabLst>
            </a:pPr>
            <a:r>
              <a:rPr sz="1150" spc="-5" dirty="0">
                <a:latin typeface="Arial"/>
                <a:cs typeface="Arial"/>
              </a:rPr>
              <a:t>The number of simultaneous threads won’t exceed the maximum size of the</a:t>
            </a:r>
            <a:r>
              <a:rPr sz="1150" spc="15" dirty="0">
                <a:latin typeface="Arial"/>
                <a:cs typeface="Arial"/>
              </a:rPr>
              <a:t> </a:t>
            </a:r>
            <a:r>
              <a:rPr sz="1150" spc="-5" dirty="0">
                <a:latin typeface="Arial"/>
                <a:cs typeface="Arial"/>
              </a:rPr>
              <a:t>pool</a:t>
            </a:r>
            <a:endParaRPr sz="1150" dirty="0">
              <a:latin typeface="Arial"/>
              <a:cs typeface="Arial"/>
            </a:endParaRPr>
          </a:p>
        </p:txBody>
      </p:sp>
      <p:sp>
        <p:nvSpPr>
          <p:cNvPr id="16" name="object 16"/>
          <p:cNvSpPr/>
          <p:nvPr/>
        </p:nvSpPr>
        <p:spPr>
          <a:xfrm>
            <a:off x="722134" y="5762371"/>
            <a:ext cx="6327775" cy="3556000"/>
          </a:xfrm>
          <a:custGeom>
            <a:avLst/>
            <a:gdLst/>
            <a:ahLst/>
            <a:cxnLst/>
            <a:rect l="l" t="t" r="r" b="b"/>
            <a:pathLst>
              <a:path w="6327775" h="3556000">
                <a:moveTo>
                  <a:pt x="6327648" y="0"/>
                </a:moveTo>
                <a:lnTo>
                  <a:pt x="0" y="0"/>
                </a:lnTo>
                <a:lnTo>
                  <a:pt x="0" y="3555733"/>
                </a:lnTo>
                <a:lnTo>
                  <a:pt x="6327648" y="3555733"/>
                </a:lnTo>
                <a:lnTo>
                  <a:pt x="6327648" y="0"/>
                </a:lnTo>
                <a:close/>
              </a:path>
            </a:pathLst>
          </a:custGeom>
          <a:ln w="8153">
            <a:solidFill>
              <a:srgbClr val="000000"/>
            </a:solidFill>
          </a:ln>
        </p:spPr>
        <p:txBody>
          <a:bodyPr wrap="square" lIns="0" tIns="0" rIns="0" bIns="0" rtlCol="0"/>
          <a:lstStyle/>
          <a:p>
            <a:endParaRPr/>
          </a:p>
        </p:txBody>
      </p:sp>
      <p:sp>
        <p:nvSpPr>
          <p:cNvPr id="17" name="object 17"/>
          <p:cNvSpPr/>
          <p:nvPr/>
        </p:nvSpPr>
        <p:spPr>
          <a:xfrm>
            <a:off x="654799" y="5028819"/>
            <a:ext cx="6463030" cy="5022850"/>
          </a:xfrm>
          <a:custGeom>
            <a:avLst/>
            <a:gdLst/>
            <a:ahLst/>
            <a:cxnLst/>
            <a:rect l="l" t="t" r="r" b="b"/>
            <a:pathLst>
              <a:path w="6463030" h="5022850">
                <a:moveTo>
                  <a:pt x="0" y="0"/>
                </a:moveTo>
                <a:lnTo>
                  <a:pt x="6462801" y="0"/>
                </a:lnTo>
                <a:lnTo>
                  <a:pt x="6462801" y="5022850"/>
                </a:lnTo>
                <a:lnTo>
                  <a:pt x="0" y="5022850"/>
                </a:lnTo>
                <a:lnTo>
                  <a:pt x="0" y="0"/>
                </a:lnTo>
                <a:close/>
              </a:path>
            </a:pathLst>
          </a:custGeom>
          <a:ln w="3175">
            <a:solidFill>
              <a:srgbClr val="000000"/>
            </a:solidFill>
          </a:ln>
        </p:spPr>
        <p:txBody>
          <a:bodyPr wrap="square" lIns="0" tIns="0" rIns="0" bIns="0" rtlCol="0"/>
          <a:lstStyle/>
          <a:p>
            <a:endParaRP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722134" y="739533"/>
            <a:ext cx="6327775" cy="3556000"/>
          </a:xfrm>
          <a:prstGeom prst="rect">
            <a:avLst/>
          </a:prstGeom>
          <a:ln w="8153">
            <a:solidFill>
              <a:srgbClr val="000000"/>
            </a:solidFill>
          </a:ln>
        </p:spPr>
        <p:txBody>
          <a:bodyPr vert="horz" wrap="square" lIns="0" tIns="0" rIns="0" bIns="0" rtlCol="0">
            <a:spAutoFit/>
          </a:bodyPr>
          <a:lstStyle/>
          <a:p>
            <a:pPr marL="803275">
              <a:lnSpc>
                <a:spcPts val="2560"/>
              </a:lnSpc>
            </a:pPr>
            <a:r>
              <a:rPr sz="2150" b="1" spc="10" dirty="0">
                <a:solidFill>
                  <a:srgbClr val="FFFFFF"/>
                </a:solidFill>
                <a:latin typeface="Arial Narrow"/>
                <a:cs typeface="Arial Narrow"/>
              </a:rPr>
              <a:t>Separate </a:t>
            </a:r>
            <a:r>
              <a:rPr sz="2150" b="1" spc="15" dirty="0">
                <a:solidFill>
                  <a:srgbClr val="FFFFFF"/>
                </a:solidFill>
                <a:latin typeface="Arial Narrow"/>
                <a:cs typeface="Arial Narrow"/>
              </a:rPr>
              <a:t>Runnable </a:t>
            </a:r>
            <a:r>
              <a:rPr sz="2150" b="1" spc="10" dirty="0">
                <a:solidFill>
                  <a:srgbClr val="FFFFFF"/>
                </a:solidFill>
                <a:latin typeface="Arial Narrow"/>
                <a:cs typeface="Arial Narrow"/>
              </a:rPr>
              <a:t>Class: </a:t>
            </a:r>
            <a:r>
              <a:rPr sz="2150" b="1" spc="15" dirty="0">
                <a:solidFill>
                  <a:srgbClr val="FFFFFF"/>
                </a:solidFill>
                <a:latin typeface="Arial Narrow"/>
                <a:cs typeface="Arial Narrow"/>
              </a:rPr>
              <a:t>Template</a:t>
            </a:r>
            <a:r>
              <a:rPr sz="2150" b="1" spc="-70" dirty="0">
                <a:solidFill>
                  <a:srgbClr val="FFFFFF"/>
                </a:solidFill>
                <a:latin typeface="Arial Narrow"/>
                <a:cs typeface="Arial Narrow"/>
              </a:rPr>
              <a:t> </a:t>
            </a:r>
            <a:r>
              <a:rPr sz="2150" b="1" spc="15" dirty="0">
                <a:solidFill>
                  <a:srgbClr val="FFFFFF"/>
                </a:solidFill>
                <a:latin typeface="Arial Narrow"/>
                <a:cs typeface="Arial Narrow"/>
              </a:rPr>
              <a:t>Code</a:t>
            </a:r>
            <a:endParaRPr sz="2150" dirty="0">
              <a:latin typeface="Arial Narrow"/>
              <a:cs typeface="Arial Narrow"/>
            </a:endParaRPr>
          </a:p>
          <a:p>
            <a:pPr marL="245745">
              <a:lnSpc>
                <a:spcPct val="100000"/>
              </a:lnSpc>
              <a:spcBef>
                <a:spcPts val="760"/>
              </a:spcBef>
            </a:pPr>
            <a:r>
              <a:rPr sz="1100" b="1" spc="-5" dirty="0">
                <a:latin typeface="Courier New"/>
                <a:cs typeface="Courier New"/>
              </a:rPr>
              <a:t>public class </a:t>
            </a:r>
            <a:r>
              <a:rPr sz="1100" b="1" spc="-10" dirty="0">
                <a:latin typeface="Courier New"/>
                <a:cs typeface="Courier New"/>
              </a:rPr>
              <a:t>MainClass extends </a:t>
            </a:r>
            <a:r>
              <a:rPr sz="1100" b="1" spc="-5" dirty="0">
                <a:latin typeface="Courier New"/>
                <a:cs typeface="Courier New"/>
              </a:rPr>
              <a:t>SomeClass</a:t>
            </a:r>
            <a:r>
              <a:rPr sz="1100" b="1" spc="-25" dirty="0">
                <a:latin typeface="Courier New"/>
                <a:cs typeface="Courier New"/>
              </a:rPr>
              <a:t> </a:t>
            </a:r>
            <a:r>
              <a:rPr sz="1100" b="1" spc="-5" dirty="0">
                <a:latin typeface="Courier New"/>
                <a:cs typeface="Courier New"/>
              </a:rPr>
              <a:t>{</a:t>
            </a:r>
            <a:endParaRPr sz="1100" dirty="0">
              <a:latin typeface="Courier New"/>
              <a:cs typeface="Courier New"/>
            </a:endParaRPr>
          </a:p>
          <a:p>
            <a:pPr marL="412115">
              <a:lnSpc>
                <a:spcPct val="100000"/>
              </a:lnSpc>
              <a:spcBef>
                <a:spcPts val="220"/>
              </a:spcBef>
            </a:pPr>
            <a:r>
              <a:rPr sz="1100" b="1" spc="-5" dirty="0">
                <a:latin typeface="Courier New"/>
                <a:cs typeface="Courier New"/>
              </a:rPr>
              <a:t>...</a:t>
            </a:r>
            <a:endParaRPr sz="1100" dirty="0">
              <a:latin typeface="Courier New"/>
              <a:cs typeface="Courier New"/>
            </a:endParaRPr>
          </a:p>
          <a:p>
            <a:pPr marL="578485" marR="3566160" indent="-167005">
              <a:lnSpc>
                <a:spcPct val="116799"/>
              </a:lnSpc>
            </a:pPr>
            <a:r>
              <a:rPr sz="1100" b="1" spc="-5" dirty="0">
                <a:latin typeface="Courier New"/>
                <a:cs typeface="Courier New"/>
              </a:rPr>
              <a:t>public void </a:t>
            </a:r>
            <a:r>
              <a:rPr sz="1100" b="1" spc="-10" dirty="0">
                <a:latin typeface="Courier New"/>
                <a:cs typeface="Courier New"/>
              </a:rPr>
              <a:t>startThreads() </a:t>
            </a:r>
            <a:r>
              <a:rPr sz="1100" b="1" spc="-5" dirty="0">
                <a:latin typeface="Courier New"/>
                <a:cs typeface="Courier New"/>
              </a:rPr>
              <a:t>{  int poolSize =</a:t>
            </a:r>
            <a:r>
              <a:rPr sz="1100" b="1" spc="-105" dirty="0">
                <a:latin typeface="Courier New"/>
                <a:cs typeface="Courier New"/>
              </a:rPr>
              <a:t> </a:t>
            </a:r>
            <a:r>
              <a:rPr sz="1100" b="1" spc="-5" dirty="0">
                <a:latin typeface="Courier New"/>
                <a:cs typeface="Courier New"/>
              </a:rPr>
              <a:t>...;</a:t>
            </a:r>
            <a:endParaRPr sz="1100" dirty="0">
              <a:latin typeface="Courier New"/>
              <a:cs typeface="Courier New"/>
            </a:endParaRPr>
          </a:p>
          <a:p>
            <a:pPr marL="578485" marR="233045">
              <a:lnSpc>
                <a:spcPct val="116799"/>
              </a:lnSpc>
            </a:pPr>
            <a:r>
              <a:rPr sz="1100" b="1" spc="-5" dirty="0">
                <a:solidFill>
                  <a:srgbClr val="FF0000"/>
                </a:solidFill>
                <a:latin typeface="Courier New"/>
                <a:cs typeface="Courier New"/>
              </a:rPr>
              <a:t>ExecutorService </a:t>
            </a:r>
            <a:r>
              <a:rPr sz="1100" b="1" spc="-10" dirty="0">
                <a:solidFill>
                  <a:srgbClr val="FF0000"/>
                </a:solidFill>
                <a:latin typeface="Courier New"/>
                <a:cs typeface="Courier New"/>
              </a:rPr>
              <a:t>taskList </a:t>
            </a:r>
            <a:r>
              <a:rPr sz="1100" b="1" spc="-5" dirty="0">
                <a:solidFill>
                  <a:srgbClr val="FF0000"/>
                </a:solidFill>
                <a:latin typeface="Courier New"/>
                <a:cs typeface="Courier New"/>
              </a:rPr>
              <a:t>= Executors.newFixedThreadPool(poolSize);  </a:t>
            </a:r>
            <a:r>
              <a:rPr sz="1100" b="1" spc="-5" dirty="0">
                <a:latin typeface="Courier New"/>
                <a:cs typeface="Courier New"/>
              </a:rPr>
              <a:t>for(int i=0; </a:t>
            </a:r>
            <a:r>
              <a:rPr sz="1100" b="1" spc="-10" dirty="0">
                <a:latin typeface="Courier New"/>
                <a:cs typeface="Courier New"/>
              </a:rPr>
              <a:t>i&lt;something; </a:t>
            </a:r>
            <a:r>
              <a:rPr sz="1100" b="1" spc="-5" dirty="0">
                <a:latin typeface="Courier New"/>
                <a:cs typeface="Courier New"/>
              </a:rPr>
              <a:t>i++)</a:t>
            </a:r>
            <a:r>
              <a:rPr sz="1100" b="1" spc="-40" dirty="0">
                <a:latin typeface="Courier New"/>
                <a:cs typeface="Courier New"/>
              </a:rPr>
              <a:t> </a:t>
            </a:r>
            <a:r>
              <a:rPr sz="1100" b="1" spc="-5" dirty="0">
                <a:latin typeface="Courier New"/>
                <a:cs typeface="Courier New"/>
              </a:rPr>
              <a:t>{</a:t>
            </a:r>
            <a:endParaRPr sz="1100" dirty="0">
              <a:latin typeface="Courier New"/>
              <a:cs typeface="Courier New"/>
            </a:endParaRPr>
          </a:p>
          <a:p>
            <a:pPr marL="745490">
              <a:lnSpc>
                <a:spcPct val="100000"/>
              </a:lnSpc>
              <a:spcBef>
                <a:spcPts val="220"/>
              </a:spcBef>
            </a:pPr>
            <a:r>
              <a:rPr sz="1100" b="1" spc="-5" dirty="0">
                <a:solidFill>
                  <a:srgbClr val="FF0000"/>
                </a:solidFill>
                <a:latin typeface="Courier New"/>
                <a:cs typeface="Courier New"/>
              </a:rPr>
              <a:t>taskList.execute(new</a:t>
            </a:r>
            <a:r>
              <a:rPr sz="1100" b="1" spc="-100" dirty="0">
                <a:solidFill>
                  <a:srgbClr val="FF0000"/>
                </a:solidFill>
                <a:latin typeface="Courier New"/>
                <a:cs typeface="Courier New"/>
              </a:rPr>
              <a:t> </a:t>
            </a:r>
            <a:r>
              <a:rPr sz="1100" b="1" spc="-5" dirty="0">
                <a:solidFill>
                  <a:srgbClr val="FF0000"/>
                </a:solidFill>
                <a:latin typeface="Courier New"/>
                <a:cs typeface="Courier New"/>
              </a:rPr>
              <a:t>SomeTask(...));</a:t>
            </a:r>
            <a:endParaRPr sz="1100" dirty="0">
              <a:latin typeface="Courier New"/>
              <a:cs typeface="Courier New"/>
            </a:endParaRPr>
          </a:p>
          <a:p>
            <a:pPr marL="578485">
              <a:lnSpc>
                <a:spcPct val="100000"/>
              </a:lnSpc>
              <a:spcBef>
                <a:spcPts val="220"/>
              </a:spcBef>
            </a:pPr>
            <a:r>
              <a:rPr sz="1100" b="1" spc="-5" dirty="0">
                <a:latin typeface="Courier New"/>
                <a:cs typeface="Courier New"/>
              </a:rPr>
              <a:t>}</a:t>
            </a:r>
            <a:endParaRPr sz="1100" dirty="0">
              <a:latin typeface="Courier New"/>
              <a:cs typeface="Courier New"/>
            </a:endParaRPr>
          </a:p>
          <a:p>
            <a:pPr marL="412115">
              <a:lnSpc>
                <a:spcPct val="100000"/>
              </a:lnSpc>
              <a:spcBef>
                <a:spcPts val="220"/>
              </a:spcBef>
            </a:pPr>
            <a:r>
              <a:rPr sz="1100" b="1" spc="-5" dirty="0">
                <a:latin typeface="Courier New"/>
                <a:cs typeface="Courier New"/>
              </a:rPr>
              <a:t>}</a:t>
            </a:r>
            <a:endParaRPr sz="1100" dirty="0">
              <a:latin typeface="Courier New"/>
              <a:cs typeface="Courier New"/>
            </a:endParaRPr>
          </a:p>
          <a:p>
            <a:pPr marL="245745">
              <a:lnSpc>
                <a:spcPct val="100000"/>
              </a:lnSpc>
              <a:spcBef>
                <a:spcPts val="225"/>
              </a:spcBef>
            </a:pPr>
            <a:r>
              <a:rPr sz="1100" b="1" spc="-5" dirty="0">
                <a:latin typeface="Courier New"/>
                <a:cs typeface="Courier New"/>
              </a:rPr>
              <a:t>}</a:t>
            </a:r>
            <a:endParaRPr sz="1100" dirty="0">
              <a:latin typeface="Courier New"/>
              <a:cs typeface="Courier New"/>
            </a:endParaRPr>
          </a:p>
          <a:p>
            <a:pPr>
              <a:lnSpc>
                <a:spcPct val="100000"/>
              </a:lnSpc>
              <a:spcBef>
                <a:spcPts val="45"/>
              </a:spcBef>
            </a:pPr>
            <a:endParaRPr sz="1300" dirty="0">
              <a:latin typeface="Times New Roman"/>
              <a:cs typeface="Times New Roman"/>
            </a:endParaRPr>
          </a:p>
          <a:p>
            <a:pPr marL="412115" marR="2482850" indent="-167005">
              <a:lnSpc>
                <a:spcPct val="116799"/>
              </a:lnSpc>
            </a:pPr>
            <a:r>
              <a:rPr sz="1100" b="1" spc="-5" dirty="0">
                <a:latin typeface="Courier New"/>
                <a:cs typeface="Courier New"/>
              </a:rPr>
              <a:t>public class SomeTask </a:t>
            </a:r>
            <a:r>
              <a:rPr sz="1100" b="1" spc="-5" dirty="0">
                <a:solidFill>
                  <a:srgbClr val="FF0000"/>
                </a:solidFill>
                <a:latin typeface="Courier New"/>
                <a:cs typeface="Courier New"/>
              </a:rPr>
              <a:t>implements Runnable </a:t>
            </a:r>
            <a:r>
              <a:rPr sz="1100" b="1" spc="-5" dirty="0">
                <a:latin typeface="Courier New"/>
                <a:cs typeface="Courier New"/>
              </a:rPr>
              <a:t>{  </a:t>
            </a:r>
            <a:r>
              <a:rPr sz="1100" b="1" spc="-5" dirty="0">
                <a:solidFill>
                  <a:srgbClr val="FF0000"/>
                </a:solidFill>
                <a:latin typeface="Courier New"/>
                <a:cs typeface="Courier New"/>
              </a:rPr>
              <a:t>public void run()</a:t>
            </a:r>
            <a:r>
              <a:rPr sz="1100" b="1" spc="-110" dirty="0">
                <a:solidFill>
                  <a:srgbClr val="FF0000"/>
                </a:solidFill>
                <a:latin typeface="Courier New"/>
                <a:cs typeface="Courier New"/>
              </a:rPr>
              <a:t> </a:t>
            </a:r>
            <a:r>
              <a:rPr sz="1100" b="1" spc="-5" dirty="0">
                <a:latin typeface="Courier New"/>
                <a:cs typeface="Courier New"/>
              </a:rPr>
              <a:t>{</a:t>
            </a:r>
            <a:endParaRPr sz="1100" dirty="0">
              <a:latin typeface="Courier New"/>
              <a:cs typeface="Courier New"/>
            </a:endParaRPr>
          </a:p>
          <a:p>
            <a:pPr marL="578485">
              <a:lnSpc>
                <a:spcPct val="100000"/>
              </a:lnSpc>
              <a:spcBef>
                <a:spcPts val="220"/>
              </a:spcBef>
            </a:pPr>
            <a:r>
              <a:rPr sz="1100" spc="-5" dirty="0">
                <a:latin typeface="Courier New"/>
                <a:cs typeface="Courier New"/>
              </a:rPr>
              <a:t>// Code to run in the</a:t>
            </a:r>
            <a:r>
              <a:rPr sz="1100" spc="-105" dirty="0">
                <a:latin typeface="Courier New"/>
                <a:cs typeface="Courier New"/>
              </a:rPr>
              <a:t> </a:t>
            </a:r>
            <a:r>
              <a:rPr sz="1100" spc="-5" dirty="0">
                <a:latin typeface="Courier New"/>
                <a:cs typeface="Courier New"/>
              </a:rPr>
              <a:t>background</a:t>
            </a:r>
            <a:endParaRPr sz="1100" dirty="0">
              <a:latin typeface="Courier New"/>
              <a:cs typeface="Courier New"/>
            </a:endParaRPr>
          </a:p>
          <a:p>
            <a:pPr marL="412115">
              <a:lnSpc>
                <a:spcPct val="100000"/>
              </a:lnSpc>
              <a:spcBef>
                <a:spcPts val="220"/>
              </a:spcBef>
            </a:pPr>
            <a:r>
              <a:rPr sz="1100" b="1" spc="-5" dirty="0">
                <a:latin typeface="Courier New"/>
                <a:cs typeface="Courier New"/>
              </a:rPr>
              <a:t>}</a:t>
            </a:r>
            <a:endParaRPr sz="1100" dirty="0">
              <a:latin typeface="Courier New"/>
              <a:cs typeface="Courier New"/>
            </a:endParaRPr>
          </a:p>
          <a:p>
            <a:pPr marL="51435">
              <a:lnSpc>
                <a:spcPct val="100000"/>
              </a:lnSpc>
              <a:spcBef>
                <a:spcPts val="235"/>
              </a:spcBef>
            </a:pPr>
            <a:r>
              <a:rPr sz="1100" b="1" spc="-5" dirty="0" smtClean="0">
                <a:latin typeface="Courier New"/>
                <a:cs typeface="Courier New"/>
              </a:rPr>
              <a:t>}</a:t>
            </a:r>
            <a:endParaRPr sz="1100" dirty="0">
              <a:latin typeface="Courier New"/>
              <a:cs typeface="Courier New"/>
            </a:endParaRPr>
          </a:p>
        </p:txBody>
      </p:sp>
      <p:sp>
        <p:nvSpPr>
          <p:cNvPr id="3" name="object 3"/>
          <p:cNvSpPr/>
          <p:nvPr/>
        </p:nvSpPr>
        <p:spPr>
          <a:xfrm>
            <a:off x="806615" y="3223933"/>
            <a:ext cx="3722370" cy="0"/>
          </a:xfrm>
          <a:custGeom>
            <a:avLst/>
            <a:gdLst/>
            <a:ahLst/>
            <a:cxnLst/>
            <a:rect l="l" t="t" r="r" b="b"/>
            <a:pathLst>
              <a:path w="3722370">
                <a:moveTo>
                  <a:pt x="0" y="0"/>
                </a:moveTo>
                <a:lnTo>
                  <a:pt x="3722281" y="0"/>
                </a:lnTo>
              </a:path>
            </a:pathLst>
          </a:custGeom>
          <a:ln w="4799">
            <a:solidFill>
              <a:srgbClr val="000000"/>
            </a:solidFill>
          </a:ln>
        </p:spPr>
        <p:txBody>
          <a:bodyPr wrap="square" lIns="0" tIns="0" rIns="0" bIns="0" rtlCol="0"/>
          <a:lstStyle/>
          <a:p>
            <a:endParaRPr/>
          </a:p>
        </p:txBody>
      </p:sp>
      <p:sp>
        <p:nvSpPr>
          <p:cNvPr id="4" name="object 4"/>
          <p:cNvSpPr/>
          <p:nvPr/>
        </p:nvSpPr>
        <p:spPr>
          <a:xfrm>
            <a:off x="654799" y="5968"/>
            <a:ext cx="6463030" cy="5022850"/>
          </a:xfrm>
          <a:custGeom>
            <a:avLst/>
            <a:gdLst/>
            <a:ahLst/>
            <a:cxnLst/>
            <a:rect l="l" t="t" r="r" b="b"/>
            <a:pathLst>
              <a:path w="6463030" h="5022850">
                <a:moveTo>
                  <a:pt x="0" y="0"/>
                </a:moveTo>
                <a:lnTo>
                  <a:pt x="6462801" y="0"/>
                </a:lnTo>
                <a:lnTo>
                  <a:pt x="6462801" y="5022850"/>
                </a:lnTo>
                <a:lnTo>
                  <a:pt x="0" y="5022850"/>
                </a:lnTo>
                <a:lnTo>
                  <a:pt x="0" y="0"/>
                </a:lnTo>
                <a:close/>
              </a:path>
            </a:pathLst>
          </a:custGeom>
          <a:ln w="3175">
            <a:solidFill>
              <a:srgbClr val="000000"/>
            </a:solidFill>
          </a:ln>
        </p:spPr>
        <p:txBody>
          <a:bodyPr wrap="square" lIns="0" tIns="0" rIns="0" bIns="0" rtlCol="0"/>
          <a:lstStyle/>
          <a:p>
            <a:endParaRPr/>
          </a:p>
        </p:txBody>
      </p:sp>
      <p:sp>
        <p:nvSpPr>
          <p:cNvPr id="5" name="object 5"/>
          <p:cNvSpPr/>
          <p:nvPr/>
        </p:nvSpPr>
        <p:spPr>
          <a:xfrm>
            <a:off x="718299" y="5758535"/>
            <a:ext cx="6335801" cy="3563886"/>
          </a:xfrm>
          <a:prstGeom prst="rect">
            <a:avLst/>
          </a:prstGeom>
          <a:blipFill>
            <a:blip r:embed="rId3" cstate="print"/>
            <a:stretch>
              <a:fillRect/>
            </a:stretch>
          </a:blipFill>
        </p:spPr>
        <p:txBody>
          <a:bodyPr wrap="square" lIns="0" tIns="0" rIns="0" bIns="0" rtlCol="0"/>
          <a:lstStyle/>
          <a:p>
            <a:endParaRPr/>
          </a:p>
        </p:txBody>
      </p:sp>
      <p:sp>
        <p:nvSpPr>
          <p:cNvPr id="6" name="object 6"/>
          <p:cNvSpPr/>
          <p:nvPr/>
        </p:nvSpPr>
        <p:spPr>
          <a:xfrm>
            <a:off x="790778" y="8994597"/>
            <a:ext cx="6144895" cy="328295"/>
          </a:xfrm>
          <a:custGeom>
            <a:avLst/>
            <a:gdLst/>
            <a:ahLst/>
            <a:cxnLst/>
            <a:rect l="l" t="t" r="r" b="b"/>
            <a:pathLst>
              <a:path w="6144895" h="328295">
                <a:moveTo>
                  <a:pt x="0" y="327825"/>
                </a:moveTo>
                <a:lnTo>
                  <a:pt x="6144768" y="327825"/>
                </a:lnTo>
                <a:lnTo>
                  <a:pt x="6144768" y="0"/>
                </a:lnTo>
                <a:lnTo>
                  <a:pt x="0" y="0"/>
                </a:lnTo>
                <a:lnTo>
                  <a:pt x="0" y="327825"/>
                </a:lnTo>
                <a:close/>
              </a:path>
            </a:pathLst>
          </a:custGeom>
          <a:solidFill>
            <a:srgbClr val="FFFFFF"/>
          </a:solidFill>
        </p:spPr>
        <p:txBody>
          <a:bodyPr wrap="square" lIns="0" tIns="0" rIns="0" bIns="0" rtlCol="0"/>
          <a:lstStyle/>
          <a:p>
            <a:endParaRPr/>
          </a:p>
        </p:txBody>
      </p:sp>
      <p:sp>
        <p:nvSpPr>
          <p:cNvPr id="7" name="object 7"/>
          <p:cNvSpPr txBox="1"/>
          <p:nvPr/>
        </p:nvSpPr>
        <p:spPr>
          <a:xfrm>
            <a:off x="722134" y="5762371"/>
            <a:ext cx="6327775" cy="312843"/>
          </a:xfrm>
          <a:prstGeom prst="rect">
            <a:avLst/>
          </a:prstGeom>
          <a:ln w="8153">
            <a:solidFill>
              <a:srgbClr val="000000"/>
            </a:solidFill>
          </a:ln>
        </p:spPr>
        <p:txBody>
          <a:bodyPr vert="horz" wrap="square" lIns="0" tIns="0" rIns="0" bIns="0" rtlCol="0">
            <a:spAutoFit/>
          </a:bodyPr>
          <a:lstStyle/>
          <a:p>
            <a:pPr marL="803275">
              <a:lnSpc>
                <a:spcPts val="2550"/>
              </a:lnSpc>
            </a:pPr>
            <a:r>
              <a:rPr sz="2150" b="1" spc="15" dirty="0">
                <a:solidFill>
                  <a:srgbClr val="FFFFFF"/>
                </a:solidFill>
                <a:latin typeface="Arial"/>
                <a:cs typeface="Arial"/>
              </a:rPr>
              <a:t>Thread Mechanism One:</a:t>
            </a:r>
            <a:r>
              <a:rPr sz="2150" b="1" spc="-114" dirty="0">
                <a:solidFill>
                  <a:srgbClr val="FFFFFF"/>
                </a:solidFill>
                <a:latin typeface="Arial"/>
                <a:cs typeface="Arial"/>
              </a:rPr>
              <a:t> </a:t>
            </a:r>
            <a:r>
              <a:rPr sz="2150" b="1" spc="15" dirty="0" smtClean="0">
                <a:solidFill>
                  <a:srgbClr val="FFFFFF"/>
                </a:solidFill>
                <a:latin typeface="Arial"/>
                <a:cs typeface="Arial"/>
              </a:rPr>
              <a:t>Example</a:t>
            </a:r>
            <a:endParaRPr sz="2150" dirty="0">
              <a:latin typeface="Arial"/>
              <a:cs typeface="Arial"/>
            </a:endParaRPr>
          </a:p>
        </p:txBody>
      </p:sp>
      <p:sp>
        <p:nvSpPr>
          <p:cNvPr id="8" name="object 8"/>
          <p:cNvSpPr/>
          <p:nvPr/>
        </p:nvSpPr>
        <p:spPr>
          <a:xfrm>
            <a:off x="654799" y="5028819"/>
            <a:ext cx="6463030" cy="5022850"/>
          </a:xfrm>
          <a:custGeom>
            <a:avLst/>
            <a:gdLst/>
            <a:ahLst/>
            <a:cxnLst/>
            <a:rect l="l" t="t" r="r" b="b"/>
            <a:pathLst>
              <a:path w="6463030" h="5022850">
                <a:moveTo>
                  <a:pt x="0" y="0"/>
                </a:moveTo>
                <a:lnTo>
                  <a:pt x="6462801" y="0"/>
                </a:lnTo>
                <a:lnTo>
                  <a:pt x="6462801" y="5022850"/>
                </a:lnTo>
                <a:lnTo>
                  <a:pt x="0" y="5022850"/>
                </a:lnTo>
                <a:lnTo>
                  <a:pt x="0" y="0"/>
                </a:lnTo>
                <a:close/>
              </a:path>
            </a:pathLst>
          </a:custGeom>
          <a:ln w="3175">
            <a:solidFill>
              <a:srgbClr val="000000"/>
            </a:solidFill>
          </a:ln>
        </p:spPr>
        <p:txBody>
          <a:bodyPr wrap="square" lIns="0" tIns="0" rIns="0" bIns="0" rtlCol="0"/>
          <a:lstStyle/>
          <a:p>
            <a:endParaRPr/>
          </a:p>
        </p:txBody>
      </p:sp>
      <p:sp>
        <p:nvSpPr>
          <p:cNvPr id="9" name="Rectangle 8"/>
          <p:cNvSpPr/>
          <p:nvPr/>
        </p:nvSpPr>
        <p:spPr>
          <a:xfrm>
            <a:off x="654799" y="6324600"/>
            <a:ext cx="6463029" cy="3323987"/>
          </a:xfrm>
          <a:prstGeom prst="rect">
            <a:avLst/>
          </a:prstGeom>
        </p:spPr>
        <p:txBody>
          <a:bodyPr wrap="square">
            <a:spAutoFit/>
          </a:bodyPr>
          <a:lstStyle/>
          <a:p>
            <a:r>
              <a:rPr lang="en-IE" sz="1400" b="1" dirty="0">
                <a:solidFill>
                  <a:srgbClr val="7F0055"/>
                </a:solidFill>
                <a:latin typeface="Consolas"/>
              </a:rPr>
              <a:t>public</a:t>
            </a:r>
            <a:r>
              <a:rPr lang="en-IE" sz="1400" b="1" dirty="0">
                <a:solidFill>
                  <a:srgbClr val="000000"/>
                </a:solidFill>
                <a:latin typeface="Consolas"/>
              </a:rPr>
              <a:t> </a:t>
            </a:r>
            <a:r>
              <a:rPr lang="en-IE" sz="1400" b="1" dirty="0">
                <a:solidFill>
                  <a:srgbClr val="7F0055"/>
                </a:solidFill>
                <a:latin typeface="Consolas"/>
              </a:rPr>
              <a:t>class</a:t>
            </a:r>
            <a:r>
              <a:rPr lang="en-IE" sz="1400" b="1" dirty="0">
                <a:solidFill>
                  <a:srgbClr val="000000"/>
                </a:solidFill>
                <a:latin typeface="Consolas"/>
              </a:rPr>
              <a:t> Counter </a:t>
            </a:r>
            <a:r>
              <a:rPr lang="en-IE" sz="1400" b="1" dirty="0">
                <a:solidFill>
                  <a:srgbClr val="7F0055"/>
                </a:solidFill>
                <a:latin typeface="Consolas"/>
              </a:rPr>
              <a:t>implements</a:t>
            </a:r>
            <a:r>
              <a:rPr lang="en-IE" sz="1400" b="1" dirty="0">
                <a:solidFill>
                  <a:srgbClr val="000000"/>
                </a:solidFill>
                <a:latin typeface="Consolas"/>
              </a:rPr>
              <a:t> Runnable {  </a:t>
            </a:r>
          </a:p>
          <a:p>
            <a:pPr lvl="1"/>
            <a:r>
              <a:rPr lang="en-IE" sz="1400" b="1" dirty="0">
                <a:solidFill>
                  <a:srgbClr val="7F0055"/>
                </a:solidFill>
                <a:latin typeface="Consolas"/>
              </a:rPr>
              <a:t>private</a:t>
            </a:r>
            <a:r>
              <a:rPr lang="en-IE" sz="1400" b="1" dirty="0">
                <a:solidFill>
                  <a:srgbClr val="000000"/>
                </a:solidFill>
                <a:latin typeface="Consolas"/>
              </a:rPr>
              <a:t> </a:t>
            </a:r>
            <a:r>
              <a:rPr lang="en-IE" sz="1400" b="1" dirty="0">
                <a:solidFill>
                  <a:srgbClr val="7F0055"/>
                </a:solidFill>
                <a:latin typeface="Consolas"/>
              </a:rPr>
              <a:t>final</a:t>
            </a:r>
            <a:r>
              <a:rPr lang="en-IE" sz="1400" b="1" dirty="0">
                <a:solidFill>
                  <a:srgbClr val="000000"/>
                </a:solidFill>
                <a:latin typeface="Consolas"/>
              </a:rPr>
              <a:t> App1 </a:t>
            </a:r>
            <a:r>
              <a:rPr lang="en-IE" sz="1400" b="1" dirty="0" err="1">
                <a:solidFill>
                  <a:srgbClr val="0000C0"/>
                </a:solidFill>
                <a:latin typeface="Consolas"/>
              </a:rPr>
              <a:t>mainApp</a:t>
            </a:r>
            <a:r>
              <a:rPr lang="en-IE" sz="1400" b="1" dirty="0">
                <a:solidFill>
                  <a:srgbClr val="000000"/>
                </a:solidFill>
                <a:latin typeface="Consolas"/>
              </a:rPr>
              <a:t>;</a:t>
            </a:r>
          </a:p>
          <a:p>
            <a:pPr lvl="1"/>
            <a:r>
              <a:rPr lang="en-IE" sz="1400" b="1" dirty="0">
                <a:solidFill>
                  <a:srgbClr val="7F0055"/>
                </a:solidFill>
                <a:latin typeface="Consolas"/>
              </a:rPr>
              <a:t>private</a:t>
            </a:r>
            <a:r>
              <a:rPr lang="en-IE" sz="1400" b="1" dirty="0">
                <a:solidFill>
                  <a:srgbClr val="000000"/>
                </a:solidFill>
                <a:latin typeface="Consolas"/>
              </a:rPr>
              <a:t> </a:t>
            </a:r>
            <a:r>
              <a:rPr lang="en-IE" sz="1400" b="1" dirty="0">
                <a:solidFill>
                  <a:srgbClr val="7F0055"/>
                </a:solidFill>
                <a:latin typeface="Consolas"/>
              </a:rPr>
              <a:t>final</a:t>
            </a:r>
            <a:r>
              <a:rPr lang="en-IE" sz="1400" b="1" dirty="0">
                <a:solidFill>
                  <a:srgbClr val="000000"/>
                </a:solidFill>
                <a:latin typeface="Consolas"/>
              </a:rPr>
              <a:t> </a:t>
            </a:r>
            <a:r>
              <a:rPr lang="en-IE" sz="1400" b="1" dirty="0" err="1">
                <a:solidFill>
                  <a:srgbClr val="7F0055"/>
                </a:solidFill>
                <a:latin typeface="Consolas"/>
              </a:rPr>
              <a:t>int</a:t>
            </a:r>
            <a:r>
              <a:rPr lang="en-IE" sz="1400" b="1" dirty="0">
                <a:solidFill>
                  <a:srgbClr val="000000"/>
                </a:solidFill>
                <a:latin typeface="Consolas"/>
              </a:rPr>
              <a:t> </a:t>
            </a:r>
            <a:r>
              <a:rPr lang="en-IE" sz="1400" b="1" dirty="0" err="1">
                <a:solidFill>
                  <a:srgbClr val="0000C0"/>
                </a:solidFill>
                <a:latin typeface="Consolas"/>
              </a:rPr>
              <a:t>loopLimit</a:t>
            </a:r>
            <a:r>
              <a:rPr lang="en-IE" sz="1400" b="1" dirty="0">
                <a:solidFill>
                  <a:srgbClr val="000000"/>
                </a:solidFill>
                <a:latin typeface="Consolas"/>
              </a:rPr>
              <a:t>;</a:t>
            </a:r>
          </a:p>
          <a:p>
            <a:r>
              <a:rPr lang="en-IE" sz="1400" b="1" dirty="0">
                <a:solidFill>
                  <a:srgbClr val="7F0055"/>
                </a:solidFill>
                <a:latin typeface="Consolas"/>
              </a:rPr>
              <a:t>public</a:t>
            </a:r>
            <a:r>
              <a:rPr lang="en-IE" sz="1400" b="1" dirty="0">
                <a:solidFill>
                  <a:srgbClr val="000000"/>
                </a:solidFill>
                <a:latin typeface="Consolas"/>
              </a:rPr>
              <a:t> </a:t>
            </a:r>
            <a:r>
              <a:rPr lang="en-IE" sz="1400" b="1" dirty="0">
                <a:solidFill>
                  <a:srgbClr val="000000"/>
                </a:solidFill>
                <a:highlight>
                  <a:srgbClr val="D4D4D4"/>
                </a:highlight>
                <a:latin typeface="Consolas"/>
              </a:rPr>
              <a:t>Counter(App1 </a:t>
            </a:r>
            <a:r>
              <a:rPr lang="en-IE" sz="1400" b="1" dirty="0" err="1">
                <a:solidFill>
                  <a:srgbClr val="6A3E3E"/>
                </a:solidFill>
                <a:highlight>
                  <a:srgbClr val="D4D4D4"/>
                </a:highlight>
                <a:latin typeface="Consolas"/>
              </a:rPr>
              <a:t>mainApp</a:t>
            </a:r>
            <a:r>
              <a:rPr lang="en-IE" sz="1400" b="1" dirty="0">
                <a:solidFill>
                  <a:srgbClr val="000000"/>
                </a:solidFill>
                <a:highlight>
                  <a:srgbClr val="D4D4D4"/>
                </a:highlight>
                <a:latin typeface="Consolas"/>
              </a:rPr>
              <a:t>, </a:t>
            </a:r>
            <a:r>
              <a:rPr lang="en-IE" sz="1400" b="1" dirty="0" err="1">
                <a:solidFill>
                  <a:srgbClr val="7F0055"/>
                </a:solidFill>
                <a:highlight>
                  <a:srgbClr val="D4D4D4"/>
                </a:highlight>
                <a:latin typeface="Consolas"/>
              </a:rPr>
              <a:t>int</a:t>
            </a:r>
            <a:r>
              <a:rPr lang="en-IE" sz="1400" b="1" dirty="0">
                <a:solidFill>
                  <a:srgbClr val="000000"/>
                </a:solidFill>
                <a:highlight>
                  <a:srgbClr val="D4D4D4"/>
                </a:highlight>
                <a:latin typeface="Consolas"/>
              </a:rPr>
              <a:t> </a:t>
            </a:r>
            <a:r>
              <a:rPr lang="en-IE" sz="1400" b="1" dirty="0" err="1">
                <a:solidFill>
                  <a:srgbClr val="6A3E3E"/>
                </a:solidFill>
                <a:highlight>
                  <a:srgbClr val="D4D4D4"/>
                </a:highlight>
                <a:latin typeface="Consolas"/>
              </a:rPr>
              <a:t>loopLimit</a:t>
            </a:r>
            <a:r>
              <a:rPr lang="en-IE" sz="1400" b="1" dirty="0">
                <a:solidFill>
                  <a:srgbClr val="000000"/>
                </a:solidFill>
                <a:highlight>
                  <a:srgbClr val="D4D4D4"/>
                </a:highlight>
                <a:latin typeface="Consolas"/>
              </a:rPr>
              <a:t>) {  </a:t>
            </a:r>
          </a:p>
          <a:p>
            <a:pPr lvl="1"/>
            <a:r>
              <a:rPr lang="en-IE" sz="1400" b="1" dirty="0" err="1">
                <a:solidFill>
                  <a:srgbClr val="7F0055"/>
                </a:solidFill>
                <a:latin typeface="Consolas"/>
              </a:rPr>
              <a:t>this</a:t>
            </a:r>
            <a:r>
              <a:rPr lang="en-IE" sz="1400" b="1" dirty="0" err="1">
                <a:solidFill>
                  <a:srgbClr val="000000"/>
                </a:solidFill>
                <a:latin typeface="Consolas"/>
              </a:rPr>
              <a:t>.</a:t>
            </a:r>
            <a:r>
              <a:rPr lang="en-IE" sz="1400" b="1" dirty="0" err="1">
                <a:solidFill>
                  <a:srgbClr val="0000C0"/>
                </a:solidFill>
                <a:latin typeface="Consolas"/>
              </a:rPr>
              <a:t>mainApp</a:t>
            </a:r>
            <a:r>
              <a:rPr lang="en-IE" sz="1400" b="1" dirty="0">
                <a:solidFill>
                  <a:srgbClr val="000000"/>
                </a:solidFill>
                <a:latin typeface="Consolas"/>
              </a:rPr>
              <a:t> = </a:t>
            </a:r>
            <a:r>
              <a:rPr lang="en-IE" sz="1400" b="1" dirty="0" err="1">
                <a:solidFill>
                  <a:srgbClr val="6A3E3E"/>
                </a:solidFill>
                <a:latin typeface="Consolas"/>
              </a:rPr>
              <a:t>mainApp</a:t>
            </a:r>
            <a:r>
              <a:rPr lang="en-IE" sz="1400" b="1" dirty="0">
                <a:solidFill>
                  <a:srgbClr val="000000"/>
                </a:solidFill>
                <a:latin typeface="Consolas"/>
              </a:rPr>
              <a:t>;</a:t>
            </a:r>
          </a:p>
          <a:p>
            <a:pPr lvl="1"/>
            <a:r>
              <a:rPr lang="en-IE" sz="1400" b="1" dirty="0" err="1">
                <a:solidFill>
                  <a:srgbClr val="7F0055"/>
                </a:solidFill>
                <a:latin typeface="Consolas"/>
              </a:rPr>
              <a:t>this</a:t>
            </a:r>
            <a:r>
              <a:rPr lang="en-IE" sz="1400" b="1" dirty="0" err="1">
                <a:solidFill>
                  <a:srgbClr val="000000"/>
                </a:solidFill>
                <a:latin typeface="Consolas"/>
              </a:rPr>
              <a:t>.</a:t>
            </a:r>
            <a:r>
              <a:rPr lang="en-IE" sz="1400" b="1" dirty="0" err="1">
                <a:solidFill>
                  <a:srgbClr val="0000C0"/>
                </a:solidFill>
                <a:latin typeface="Consolas"/>
              </a:rPr>
              <a:t>loopLimit</a:t>
            </a:r>
            <a:r>
              <a:rPr lang="en-IE" sz="1400" b="1" dirty="0">
                <a:solidFill>
                  <a:srgbClr val="000000"/>
                </a:solidFill>
                <a:latin typeface="Consolas"/>
              </a:rPr>
              <a:t> = </a:t>
            </a:r>
            <a:r>
              <a:rPr lang="en-IE" sz="1400" b="1" dirty="0" err="1">
                <a:solidFill>
                  <a:srgbClr val="6A3E3E"/>
                </a:solidFill>
                <a:latin typeface="Consolas"/>
              </a:rPr>
              <a:t>loopLimit</a:t>
            </a:r>
            <a:r>
              <a:rPr lang="en-IE" sz="1400" b="1" dirty="0">
                <a:solidFill>
                  <a:srgbClr val="000000"/>
                </a:solidFill>
                <a:latin typeface="Consolas"/>
              </a:rPr>
              <a:t>;</a:t>
            </a:r>
          </a:p>
          <a:p>
            <a:r>
              <a:rPr lang="en-IE" sz="1400" dirty="0">
                <a:solidFill>
                  <a:srgbClr val="000000"/>
                </a:solidFill>
                <a:latin typeface="Consolas"/>
              </a:rPr>
              <a:t>}</a:t>
            </a:r>
          </a:p>
          <a:p>
            <a:r>
              <a:rPr lang="en-IE" sz="1400" b="1" dirty="0">
                <a:solidFill>
                  <a:srgbClr val="7F0055"/>
                </a:solidFill>
                <a:latin typeface="Consolas"/>
              </a:rPr>
              <a:t>public</a:t>
            </a:r>
            <a:r>
              <a:rPr lang="en-IE" sz="1400" b="1" dirty="0">
                <a:solidFill>
                  <a:srgbClr val="000000"/>
                </a:solidFill>
                <a:latin typeface="Consolas"/>
              </a:rPr>
              <a:t> </a:t>
            </a:r>
            <a:r>
              <a:rPr lang="en-IE" sz="1400" b="1" dirty="0">
                <a:solidFill>
                  <a:srgbClr val="7F0055"/>
                </a:solidFill>
                <a:latin typeface="Consolas"/>
              </a:rPr>
              <a:t>void</a:t>
            </a:r>
            <a:r>
              <a:rPr lang="en-IE" sz="1400" b="1" dirty="0">
                <a:solidFill>
                  <a:srgbClr val="000000"/>
                </a:solidFill>
                <a:latin typeface="Consolas"/>
              </a:rPr>
              <a:t> run() {</a:t>
            </a:r>
          </a:p>
          <a:p>
            <a:r>
              <a:rPr lang="en-IE" sz="1400" b="1" dirty="0" smtClean="0">
                <a:solidFill>
                  <a:srgbClr val="7F0055"/>
                </a:solidFill>
                <a:latin typeface="Consolas"/>
              </a:rPr>
              <a:t>	for</a:t>
            </a:r>
            <a:r>
              <a:rPr lang="en-IE" sz="1400" b="1" dirty="0" smtClean="0">
                <a:solidFill>
                  <a:srgbClr val="000000"/>
                </a:solidFill>
                <a:latin typeface="Consolas"/>
              </a:rPr>
              <a:t>(</a:t>
            </a:r>
            <a:r>
              <a:rPr lang="en-IE" sz="1400" b="1" dirty="0" err="1" smtClean="0">
                <a:solidFill>
                  <a:srgbClr val="7F0055"/>
                </a:solidFill>
                <a:latin typeface="Consolas"/>
              </a:rPr>
              <a:t>int</a:t>
            </a:r>
            <a:r>
              <a:rPr lang="en-IE" sz="1400" b="1" dirty="0" smtClean="0">
                <a:solidFill>
                  <a:srgbClr val="000000"/>
                </a:solidFill>
                <a:latin typeface="Consolas"/>
              </a:rPr>
              <a:t> </a:t>
            </a:r>
            <a:r>
              <a:rPr lang="en-IE" sz="1400" b="1" dirty="0" err="1">
                <a:solidFill>
                  <a:srgbClr val="6A3E3E"/>
                </a:solidFill>
                <a:latin typeface="Consolas"/>
              </a:rPr>
              <a:t>i</a:t>
            </a:r>
            <a:r>
              <a:rPr lang="en-IE" sz="1400" b="1" dirty="0">
                <a:solidFill>
                  <a:srgbClr val="000000"/>
                </a:solidFill>
                <a:latin typeface="Consolas"/>
              </a:rPr>
              <a:t>=0; </a:t>
            </a:r>
            <a:r>
              <a:rPr lang="en-IE" sz="1400" b="1" dirty="0" err="1">
                <a:solidFill>
                  <a:srgbClr val="6A3E3E"/>
                </a:solidFill>
                <a:latin typeface="Consolas"/>
              </a:rPr>
              <a:t>i</a:t>
            </a:r>
            <a:r>
              <a:rPr lang="en-IE" sz="1400" b="1" dirty="0">
                <a:solidFill>
                  <a:srgbClr val="000000"/>
                </a:solidFill>
                <a:latin typeface="Consolas"/>
              </a:rPr>
              <a:t>&lt;</a:t>
            </a:r>
            <a:r>
              <a:rPr lang="en-IE" sz="1400" b="1" dirty="0" err="1">
                <a:solidFill>
                  <a:srgbClr val="0000C0"/>
                </a:solidFill>
                <a:latin typeface="Consolas"/>
              </a:rPr>
              <a:t>loopLimit</a:t>
            </a:r>
            <a:r>
              <a:rPr lang="en-IE" sz="1400" b="1" dirty="0">
                <a:solidFill>
                  <a:srgbClr val="000000"/>
                </a:solidFill>
                <a:latin typeface="Consolas"/>
              </a:rPr>
              <a:t>; </a:t>
            </a:r>
            <a:r>
              <a:rPr lang="en-IE" sz="1400" b="1" dirty="0" err="1">
                <a:solidFill>
                  <a:srgbClr val="6A3E3E"/>
                </a:solidFill>
                <a:latin typeface="Consolas"/>
              </a:rPr>
              <a:t>i</a:t>
            </a:r>
            <a:r>
              <a:rPr lang="en-IE" sz="1400" b="1" dirty="0">
                <a:solidFill>
                  <a:srgbClr val="000000"/>
                </a:solidFill>
                <a:latin typeface="Consolas"/>
              </a:rPr>
              <a:t>++) {</a:t>
            </a:r>
          </a:p>
          <a:p>
            <a:r>
              <a:rPr lang="en-IE" sz="1400" dirty="0" smtClean="0">
                <a:solidFill>
                  <a:srgbClr val="000000"/>
                </a:solidFill>
                <a:latin typeface="Consolas"/>
              </a:rPr>
              <a:t>	String </a:t>
            </a:r>
            <a:r>
              <a:rPr lang="en-IE" sz="1400" dirty="0" err="1">
                <a:solidFill>
                  <a:srgbClr val="6A3E3E"/>
                </a:solidFill>
                <a:latin typeface="Consolas"/>
              </a:rPr>
              <a:t>threadName</a:t>
            </a:r>
            <a:r>
              <a:rPr lang="en-IE" sz="1400" dirty="0">
                <a:solidFill>
                  <a:srgbClr val="000000"/>
                </a:solidFill>
                <a:latin typeface="Consolas"/>
              </a:rPr>
              <a:t> = </a:t>
            </a:r>
            <a:r>
              <a:rPr lang="en-IE" sz="1400" dirty="0" err="1">
                <a:solidFill>
                  <a:srgbClr val="000000"/>
                </a:solidFill>
                <a:latin typeface="Consolas"/>
              </a:rPr>
              <a:t>Thread.</a:t>
            </a:r>
            <a:r>
              <a:rPr lang="en-IE" sz="1400" i="1" dirty="0" err="1">
                <a:solidFill>
                  <a:srgbClr val="000000"/>
                </a:solidFill>
                <a:latin typeface="Consolas"/>
              </a:rPr>
              <a:t>currentThread</a:t>
            </a:r>
            <a:r>
              <a:rPr lang="en-IE" sz="1400" i="1" dirty="0">
                <a:solidFill>
                  <a:srgbClr val="000000"/>
                </a:solidFill>
                <a:latin typeface="Consolas"/>
              </a:rPr>
              <a:t>().</a:t>
            </a:r>
            <a:r>
              <a:rPr lang="en-IE" sz="1400" i="1" dirty="0" err="1">
                <a:solidFill>
                  <a:srgbClr val="000000"/>
                </a:solidFill>
                <a:latin typeface="Consolas"/>
              </a:rPr>
              <a:t>getName</a:t>
            </a:r>
            <a:r>
              <a:rPr lang="en-IE" sz="1400" i="1" dirty="0">
                <a:solidFill>
                  <a:srgbClr val="000000"/>
                </a:solidFill>
                <a:latin typeface="Consolas"/>
              </a:rPr>
              <a:t>();</a:t>
            </a:r>
          </a:p>
          <a:p>
            <a:r>
              <a:rPr lang="en-IE" sz="1400" dirty="0" smtClean="0">
                <a:solidFill>
                  <a:srgbClr val="000000"/>
                </a:solidFill>
                <a:latin typeface="Consolas"/>
              </a:rPr>
              <a:t>	</a:t>
            </a:r>
            <a:r>
              <a:rPr lang="en-IE" sz="1400" dirty="0" err="1" smtClean="0">
                <a:solidFill>
                  <a:srgbClr val="000000"/>
                </a:solidFill>
                <a:latin typeface="Consolas"/>
              </a:rPr>
              <a:t>System.</a:t>
            </a:r>
            <a:r>
              <a:rPr lang="en-IE" sz="1400" b="1" i="1" dirty="0" err="1" smtClean="0">
                <a:solidFill>
                  <a:srgbClr val="0000C0"/>
                </a:solidFill>
                <a:latin typeface="Consolas"/>
              </a:rPr>
              <a:t>out</a:t>
            </a:r>
            <a:r>
              <a:rPr lang="en-IE" sz="1400" b="1" i="1" dirty="0" err="1" smtClean="0">
                <a:solidFill>
                  <a:srgbClr val="000000"/>
                </a:solidFill>
                <a:latin typeface="Consolas"/>
              </a:rPr>
              <a:t>.printf</a:t>
            </a:r>
            <a:r>
              <a:rPr lang="en-IE" sz="1400" b="1" i="1" dirty="0">
                <a:solidFill>
                  <a:srgbClr val="000000"/>
                </a:solidFill>
                <a:latin typeface="Consolas"/>
              </a:rPr>
              <a:t>(</a:t>
            </a:r>
            <a:r>
              <a:rPr lang="en-IE" sz="1400" b="1" i="1" dirty="0">
                <a:solidFill>
                  <a:srgbClr val="2A00FF"/>
                </a:solidFill>
                <a:latin typeface="Consolas"/>
              </a:rPr>
              <a:t>"%s: %</a:t>
            </a:r>
            <a:r>
              <a:rPr lang="en-IE" sz="1400" b="1" i="1" dirty="0" err="1">
                <a:solidFill>
                  <a:srgbClr val="2A00FF"/>
                </a:solidFill>
                <a:latin typeface="Consolas"/>
              </a:rPr>
              <a:t>s%n</a:t>
            </a:r>
            <a:r>
              <a:rPr lang="en-IE" sz="1400" b="1" i="1" dirty="0">
                <a:solidFill>
                  <a:srgbClr val="2A00FF"/>
                </a:solidFill>
                <a:latin typeface="Consolas"/>
              </a:rPr>
              <a:t>"</a:t>
            </a:r>
            <a:r>
              <a:rPr lang="en-IE" sz="1400" b="1" i="1" dirty="0">
                <a:solidFill>
                  <a:srgbClr val="000000"/>
                </a:solidFill>
                <a:latin typeface="Consolas"/>
              </a:rPr>
              <a:t>, </a:t>
            </a:r>
            <a:r>
              <a:rPr lang="en-IE" sz="1400" b="1" i="1" dirty="0" err="1">
                <a:solidFill>
                  <a:srgbClr val="6A3E3E"/>
                </a:solidFill>
                <a:latin typeface="Consolas"/>
              </a:rPr>
              <a:t>threadName</a:t>
            </a:r>
            <a:r>
              <a:rPr lang="en-IE" sz="1400" b="1" i="1" dirty="0">
                <a:solidFill>
                  <a:srgbClr val="000000"/>
                </a:solidFill>
                <a:latin typeface="Consolas"/>
              </a:rPr>
              <a:t>, </a:t>
            </a:r>
            <a:r>
              <a:rPr lang="en-IE" sz="1400" b="1" i="1" dirty="0" err="1">
                <a:solidFill>
                  <a:srgbClr val="6A3E3E"/>
                </a:solidFill>
                <a:latin typeface="Consolas"/>
              </a:rPr>
              <a:t>i</a:t>
            </a:r>
            <a:r>
              <a:rPr lang="en-IE" sz="1400" b="1" i="1" dirty="0">
                <a:solidFill>
                  <a:srgbClr val="000000"/>
                </a:solidFill>
                <a:latin typeface="Consolas"/>
              </a:rPr>
              <a:t>);  </a:t>
            </a:r>
          </a:p>
          <a:p>
            <a:r>
              <a:rPr lang="en-IE" sz="1400" dirty="0" smtClean="0">
                <a:solidFill>
                  <a:srgbClr val="0000C0"/>
                </a:solidFill>
                <a:latin typeface="Consolas"/>
              </a:rPr>
              <a:t>	</a:t>
            </a:r>
            <a:r>
              <a:rPr lang="en-IE" sz="1400" dirty="0" err="1">
                <a:solidFill>
                  <a:srgbClr val="0000C0"/>
                </a:solidFill>
                <a:latin typeface="Consolas"/>
              </a:rPr>
              <a:t>m</a:t>
            </a:r>
            <a:r>
              <a:rPr lang="en-IE" sz="1400" dirty="0" err="1" smtClean="0">
                <a:solidFill>
                  <a:srgbClr val="0000C0"/>
                </a:solidFill>
                <a:latin typeface="Consolas"/>
              </a:rPr>
              <a:t>ainApp</a:t>
            </a:r>
            <a:r>
              <a:rPr lang="en-IE" sz="1400" dirty="0" err="1" smtClean="0">
                <a:solidFill>
                  <a:srgbClr val="000000"/>
                </a:solidFill>
                <a:latin typeface="Consolas"/>
              </a:rPr>
              <a:t>.pause</a:t>
            </a:r>
            <a:r>
              <a:rPr lang="en-IE" sz="1400" dirty="0" smtClean="0">
                <a:solidFill>
                  <a:srgbClr val="000000"/>
                </a:solidFill>
                <a:latin typeface="Consolas"/>
              </a:rPr>
              <a:t>(</a:t>
            </a:r>
            <a:r>
              <a:rPr lang="en-IE" sz="1400" dirty="0" err="1" smtClean="0">
                <a:solidFill>
                  <a:srgbClr val="000000"/>
                </a:solidFill>
                <a:latin typeface="Consolas"/>
              </a:rPr>
              <a:t>Math.</a:t>
            </a:r>
            <a:r>
              <a:rPr lang="en-IE" sz="1400" i="1" dirty="0" err="1" smtClean="0">
                <a:solidFill>
                  <a:srgbClr val="000000"/>
                </a:solidFill>
                <a:latin typeface="Consolas"/>
              </a:rPr>
              <a:t>random</a:t>
            </a:r>
            <a:r>
              <a:rPr lang="en-IE" sz="1400" i="1" dirty="0">
                <a:solidFill>
                  <a:srgbClr val="000000"/>
                </a:solidFill>
                <a:latin typeface="Consolas"/>
              </a:rPr>
              <a:t>());</a:t>
            </a:r>
          </a:p>
          <a:p>
            <a:r>
              <a:rPr lang="en-IE" sz="1400" dirty="0">
                <a:solidFill>
                  <a:srgbClr val="000000"/>
                </a:solidFill>
                <a:latin typeface="Consolas"/>
              </a:rPr>
              <a:t>}</a:t>
            </a:r>
          </a:p>
          <a:p>
            <a:r>
              <a:rPr lang="en-IE" sz="1400" dirty="0">
                <a:solidFill>
                  <a:srgbClr val="000000"/>
                </a:solidFill>
                <a:latin typeface="Consolas"/>
              </a:rPr>
              <a:t>}</a:t>
            </a:r>
          </a:p>
          <a:p>
            <a:r>
              <a:rPr lang="en-IE" sz="1400" dirty="0">
                <a:solidFill>
                  <a:srgbClr val="000000"/>
                </a:solidFill>
                <a:latin typeface="Consolas"/>
              </a:rPr>
              <a:t>}</a:t>
            </a:r>
            <a:endParaRPr lang="en-IE"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812633" y="741032"/>
            <a:ext cx="5921375" cy="330860"/>
          </a:xfrm>
          <a:prstGeom prst="rect">
            <a:avLst/>
          </a:prstGeom>
        </p:spPr>
        <p:txBody>
          <a:bodyPr vert="horz" wrap="square" lIns="0" tIns="0" rIns="0" bIns="0" rtlCol="0">
            <a:spAutoFit/>
          </a:bodyPr>
          <a:lstStyle/>
          <a:p>
            <a:pPr marL="487045" algn="ctr">
              <a:lnSpc>
                <a:spcPct val="100000"/>
              </a:lnSpc>
            </a:pPr>
            <a:r>
              <a:rPr sz="2150" b="1" spc="10" dirty="0">
                <a:solidFill>
                  <a:srgbClr val="FFFFFF"/>
                </a:solidFill>
                <a:latin typeface="Arial Narrow"/>
                <a:cs typeface="Arial Narrow"/>
              </a:rPr>
              <a:t>Thread Mechanism One: Example</a:t>
            </a:r>
            <a:r>
              <a:rPr sz="2150" b="1" spc="-25" dirty="0">
                <a:solidFill>
                  <a:srgbClr val="FFFFFF"/>
                </a:solidFill>
                <a:latin typeface="Arial Narrow"/>
                <a:cs typeface="Arial Narrow"/>
              </a:rPr>
              <a:t> </a:t>
            </a:r>
            <a:r>
              <a:rPr sz="2150" b="1" spc="5" dirty="0">
                <a:solidFill>
                  <a:srgbClr val="FFFFFF"/>
                </a:solidFill>
                <a:latin typeface="Arial Narrow"/>
                <a:cs typeface="Arial Narrow"/>
              </a:rPr>
              <a:t>(Continued</a:t>
            </a:r>
            <a:r>
              <a:rPr sz="2150" b="1" spc="5" dirty="0" smtClean="0">
                <a:solidFill>
                  <a:srgbClr val="FFFFFF"/>
                </a:solidFill>
                <a:latin typeface="Arial Narrow"/>
                <a:cs typeface="Arial Narrow"/>
              </a:rPr>
              <a:t>)</a:t>
            </a:r>
            <a:endParaRPr sz="2150" dirty="0">
              <a:latin typeface="Arial Narrow"/>
              <a:cs typeface="Arial Narrow"/>
            </a:endParaRPr>
          </a:p>
        </p:txBody>
      </p:sp>
      <p:sp>
        <p:nvSpPr>
          <p:cNvPr id="10" name="object 10"/>
          <p:cNvSpPr txBox="1"/>
          <p:nvPr/>
        </p:nvSpPr>
        <p:spPr>
          <a:xfrm>
            <a:off x="4953000" y="1236914"/>
            <a:ext cx="2041511" cy="1280479"/>
          </a:xfrm>
          <a:prstGeom prst="rect">
            <a:avLst/>
          </a:prstGeom>
        </p:spPr>
        <p:txBody>
          <a:bodyPr vert="horz" wrap="square" lIns="0" tIns="0" rIns="0" bIns="0" rtlCol="0">
            <a:spAutoFit/>
          </a:bodyPr>
          <a:lstStyle/>
          <a:p>
            <a:pPr marL="12700" marR="5080">
              <a:lnSpc>
                <a:spcPct val="103899"/>
              </a:lnSpc>
            </a:pPr>
            <a:r>
              <a:rPr sz="800" dirty="0">
                <a:solidFill>
                  <a:srgbClr val="0000FF"/>
                </a:solidFill>
                <a:latin typeface="Arial Narrow"/>
                <a:cs typeface="Arial Narrow"/>
              </a:rPr>
              <a:t>The shutdown method means that the task list will no  longer accept new tasks (via execute). Tasks already  in the queue will </a:t>
            </a:r>
            <a:r>
              <a:rPr sz="800" spc="-5" dirty="0">
                <a:solidFill>
                  <a:srgbClr val="0000FF"/>
                </a:solidFill>
                <a:latin typeface="Arial Narrow"/>
                <a:cs typeface="Arial Narrow"/>
              </a:rPr>
              <a:t>still </a:t>
            </a:r>
            <a:r>
              <a:rPr sz="800" dirty="0">
                <a:solidFill>
                  <a:srgbClr val="0000FF"/>
                </a:solidFill>
                <a:latin typeface="Arial Narrow"/>
                <a:cs typeface="Arial Narrow"/>
              </a:rPr>
              <a:t>run. It is </a:t>
            </a:r>
            <a:r>
              <a:rPr sz="800" i="1" dirty="0">
                <a:solidFill>
                  <a:srgbClr val="0000FF"/>
                </a:solidFill>
                <a:latin typeface="Arial Narrow"/>
                <a:cs typeface="Arial Narrow"/>
              </a:rPr>
              <a:t>not </a:t>
            </a:r>
            <a:r>
              <a:rPr sz="800" dirty="0">
                <a:solidFill>
                  <a:srgbClr val="0000FF"/>
                </a:solidFill>
                <a:latin typeface="Arial Narrow"/>
                <a:cs typeface="Arial Narrow"/>
              </a:rPr>
              <a:t>usually necessary  to call shutdown, but in this case, you want the  program to exit after the tasks are completed. If you  didn’t call shutdown here, you would have to kill the  process with Control-C (command line) or clicking the  red button (Eclipse), because </a:t>
            </a:r>
            <a:r>
              <a:rPr sz="800" spc="5" dirty="0">
                <a:solidFill>
                  <a:srgbClr val="0000FF"/>
                </a:solidFill>
                <a:latin typeface="Arial Narrow"/>
                <a:cs typeface="Arial Narrow"/>
              </a:rPr>
              <a:t>a </a:t>
            </a:r>
            <a:r>
              <a:rPr sz="800" dirty="0">
                <a:solidFill>
                  <a:srgbClr val="0000FF"/>
                </a:solidFill>
                <a:latin typeface="Arial Narrow"/>
                <a:cs typeface="Arial Narrow"/>
              </a:rPr>
              <a:t>background thread  will </a:t>
            </a:r>
            <a:r>
              <a:rPr sz="800" spc="-5" dirty="0">
                <a:solidFill>
                  <a:srgbClr val="0000FF"/>
                </a:solidFill>
                <a:latin typeface="Arial Narrow"/>
                <a:cs typeface="Arial Narrow"/>
              </a:rPr>
              <a:t>still </a:t>
            </a:r>
            <a:r>
              <a:rPr sz="800" dirty="0">
                <a:solidFill>
                  <a:srgbClr val="0000FF"/>
                </a:solidFill>
                <a:latin typeface="Arial Narrow"/>
                <a:cs typeface="Arial Narrow"/>
              </a:rPr>
              <a:t>be running, waiting for new tasks to be added  to the</a:t>
            </a:r>
            <a:r>
              <a:rPr sz="800" spc="-65" dirty="0">
                <a:solidFill>
                  <a:srgbClr val="0000FF"/>
                </a:solidFill>
                <a:latin typeface="Arial Narrow"/>
                <a:cs typeface="Arial Narrow"/>
              </a:rPr>
              <a:t> </a:t>
            </a:r>
            <a:r>
              <a:rPr sz="800" dirty="0">
                <a:solidFill>
                  <a:srgbClr val="0000FF"/>
                </a:solidFill>
                <a:latin typeface="Arial Narrow"/>
                <a:cs typeface="Arial Narrow"/>
              </a:rPr>
              <a:t>queue.</a:t>
            </a:r>
            <a:endParaRPr sz="800" dirty="0">
              <a:latin typeface="Arial Narrow"/>
              <a:cs typeface="Arial Narrow"/>
            </a:endParaRPr>
          </a:p>
        </p:txBody>
      </p:sp>
      <p:sp>
        <p:nvSpPr>
          <p:cNvPr id="11" name="object 11"/>
          <p:cNvSpPr/>
          <p:nvPr/>
        </p:nvSpPr>
        <p:spPr>
          <a:xfrm>
            <a:off x="722134" y="739533"/>
            <a:ext cx="6327775" cy="3556000"/>
          </a:xfrm>
          <a:custGeom>
            <a:avLst/>
            <a:gdLst/>
            <a:ahLst/>
            <a:cxnLst/>
            <a:rect l="l" t="t" r="r" b="b"/>
            <a:pathLst>
              <a:path w="6327775" h="3556000">
                <a:moveTo>
                  <a:pt x="6327648" y="0"/>
                </a:moveTo>
                <a:lnTo>
                  <a:pt x="0" y="0"/>
                </a:lnTo>
                <a:lnTo>
                  <a:pt x="0" y="3555733"/>
                </a:lnTo>
                <a:lnTo>
                  <a:pt x="6327648" y="3555733"/>
                </a:lnTo>
                <a:lnTo>
                  <a:pt x="6327648" y="0"/>
                </a:lnTo>
                <a:close/>
              </a:path>
            </a:pathLst>
          </a:custGeom>
          <a:ln w="8153">
            <a:solidFill>
              <a:srgbClr val="000000"/>
            </a:solidFill>
          </a:ln>
        </p:spPr>
        <p:txBody>
          <a:bodyPr wrap="square" lIns="0" tIns="0" rIns="0" bIns="0" rtlCol="0"/>
          <a:lstStyle/>
          <a:p>
            <a:endParaRPr/>
          </a:p>
        </p:txBody>
      </p:sp>
      <p:sp>
        <p:nvSpPr>
          <p:cNvPr id="12" name="object 12"/>
          <p:cNvSpPr/>
          <p:nvPr/>
        </p:nvSpPr>
        <p:spPr>
          <a:xfrm>
            <a:off x="654799" y="5968"/>
            <a:ext cx="6463030" cy="5022850"/>
          </a:xfrm>
          <a:custGeom>
            <a:avLst/>
            <a:gdLst/>
            <a:ahLst/>
            <a:cxnLst/>
            <a:rect l="l" t="t" r="r" b="b"/>
            <a:pathLst>
              <a:path w="6463030" h="5022850">
                <a:moveTo>
                  <a:pt x="0" y="0"/>
                </a:moveTo>
                <a:lnTo>
                  <a:pt x="6462801" y="0"/>
                </a:lnTo>
                <a:lnTo>
                  <a:pt x="6462801" y="5022850"/>
                </a:lnTo>
                <a:lnTo>
                  <a:pt x="0" y="5022850"/>
                </a:lnTo>
                <a:lnTo>
                  <a:pt x="0" y="0"/>
                </a:lnTo>
                <a:close/>
              </a:path>
            </a:pathLst>
          </a:custGeom>
          <a:ln w="3175">
            <a:solidFill>
              <a:srgbClr val="000000"/>
            </a:solidFill>
          </a:ln>
        </p:spPr>
        <p:txBody>
          <a:bodyPr wrap="square" lIns="0" tIns="0" rIns="0" bIns="0" rtlCol="0"/>
          <a:lstStyle/>
          <a:p>
            <a:endParaRPr/>
          </a:p>
        </p:txBody>
      </p:sp>
      <p:sp>
        <p:nvSpPr>
          <p:cNvPr id="13" name="object 13"/>
          <p:cNvSpPr/>
          <p:nvPr/>
        </p:nvSpPr>
        <p:spPr>
          <a:xfrm>
            <a:off x="718299" y="5758535"/>
            <a:ext cx="6335801" cy="3563886"/>
          </a:xfrm>
          <a:prstGeom prst="rect">
            <a:avLst/>
          </a:prstGeom>
          <a:blipFill>
            <a:blip r:embed="rId3" cstate="print"/>
            <a:stretch>
              <a:fillRect/>
            </a:stretch>
          </a:blipFill>
        </p:spPr>
        <p:txBody>
          <a:bodyPr wrap="square" lIns="0" tIns="0" rIns="0" bIns="0" rtlCol="0"/>
          <a:lstStyle/>
          <a:p>
            <a:endParaRPr/>
          </a:p>
        </p:txBody>
      </p:sp>
      <p:sp>
        <p:nvSpPr>
          <p:cNvPr id="14" name="object 14"/>
          <p:cNvSpPr/>
          <p:nvPr/>
        </p:nvSpPr>
        <p:spPr>
          <a:xfrm>
            <a:off x="790778" y="8994597"/>
            <a:ext cx="6144895" cy="328295"/>
          </a:xfrm>
          <a:custGeom>
            <a:avLst/>
            <a:gdLst/>
            <a:ahLst/>
            <a:cxnLst/>
            <a:rect l="l" t="t" r="r" b="b"/>
            <a:pathLst>
              <a:path w="6144895" h="328295">
                <a:moveTo>
                  <a:pt x="0" y="327825"/>
                </a:moveTo>
                <a:lnTo>
                  <a:pt x="6144768" y="327825"/>
                </a:lnTo>
                <a:lnTo>
                  <a:pt x="6144768" y="0"/>
                </a:lnTo>
                <a:lnTo>
                  <a:pt x="0" y="0"/>
                </a:lnTo>
                <a:lnTo>
                  <a:pt x="0" y="327825"/>
                </a:lnTo>
                <a:close/>
              </a:path>
            </a:pathLst>
          </a:custGeom>
          <a:solidFill>
            <a:srgbClr val="FFFFFF"/>
          </a:solidFill>
        </p:spPr>
        <p:txBody>
          <a:bodyPr wrap="square" lIns="0" tIns="0" rIns="0" bIns="0" rtlCol="0"/>
          <a:lstStyle/>
          <a:p>
            <a:endParaRPr/>
          </a:p>
        </p:txBody>
      </p:sp>
      <p:sp>
        <p:nvSpPr>
          <p:cNvPr id="15" name="object 15"/>
          <p:cNvSpPr txBox="1"/>
          <p:nvPr/>
        </p:nvSpPr>
        <p:spPr>
          <a:xfrm>
            <a:off x="722134" y="5762371"/>
            <a:ext cx="6327775" cy="311432"/>
          </a:xfrm>
          <a:prstGeom prst="rect">
            <a:avLst/>
          </a:prstGeom>
          <a:ln w="8153">
            <a:solidFill>
              <a:srgbClr val="000000"/>
            </a:solidFill>
          </a:ln>
        </p:spPr>
        <p:txBody>
          <a:bodyPr vert="horz" wrap="square" lIns="0" tIns="0" rIns="0" bIns="0" rtlCol="0">
            <a:spAutoFit/>
          </a:bodyPr>
          <a:lstStyle/>
          <a:p>
            <a:pPr marL="803275">
              <a:lnSpc>
                <a:spcPts val="2560"/>
              </a:lnSpc>
            </a:pPr>
            <a:r>
              <a:rPr sz="2150" b="1" spc="10" dirty="0">
                <a:solidFill>
                  <a:srgbClr val="FFFFFF"/>
                </a:solidFill>
                <a:latin typeface="Arial Narrow"/>
                <a:cs typeface="Arial Narrow"/>
              </a:rPr>
              <a:t>Thread Mechanism One: Example</a:t>
            </a:r>
            <a:r>
              <a:rPr sz="2150" b="1" spc="-25" dirty="0">
                <a:solidFill>
                  <a:srgbClr val="FFFFFF"/>
                </a:solidFill>
                <a:latin typeface="Arial Narrow"/>
                <a:cs typeface="Arial Narrow"/>
              </a:rPr>
              <a:t> </a:t>
            </a:r>
            <a:r>
              <a:rPr sz="2150" b="1" spc="5" dirty="0">
                <a:solidFill>
                  <a:srgbClr val="FFFFFF"/>
                </a:solidFill>
                <a:latin typeface="Arial Narrow"/>
                <a:cs typeface="Arial Narrow"/>
              </a:rPr>
              <a:t>(Continued</a:t>
            </a:r>
            <a:r>
              <a:rPr sz="2150" b="1" spc="5" dirty="0" smtClean="0">
                <a:solidFill>
                  <a:srgbClr val="FFFFFF"/>
                </a:solidFill>
                <a:latin typeface="Arial Narrow"/>
                <a:cs typeface="Arial Narrow"/>
              </a:rPr>
              <a:t>)</a:t>
            </a:r>
            <a:endParaRPr sz="2150" dirty="0">
              <a:latin typeface="Arial Narrow"/>
              <a:cs typeface="Arial Narrow"/>
            </a:endParaRPr>
          </a:p>
        </p:txBody>
      </p:sp>
      <p:sp>
        <p:nvSpPr>
          <p:cNvPr id="16" name="object 16"/>
          <p:cNvSpPr/>
          <p:nvPr/>
        </p:nvSpPr>
        <p:spPr>
          <a:xfrm>
            <a:off x="654799" y="5028819"/>
            <a:ext cx="6463030" cy="5022850"/>
          </a:xfrm>
          <a:custGeom>
            <a:avLst/>
            <a:gdLst/>
            <a:ahLst/>
            <a:cxnLst/>
            <a:rect l="l" t="t" r="r" b="b"/>
            <a:pathLst>
              <a:path w="6463030" h="5022850">
                <a:moveTo>
                  <a:pt x="0" y="0"/>
                </a:moveTo>
                <a:lnTo>
                  <a:pt x="6462801" y="0"/>
                </a:lnTo>
                <a:lnTo>
                  <a:pt x="6462801" y="5022850"/>
                </a:lnTo>
                <a:lnTo>
                  <a:pt x="0" y="5022850"/>
                </a:lnTo>
                <a:lnTo>
                  <a:pt x="0" y="0"/>
                </a:lnTo>
                <a:close/>
              </a:path>
            </a:pathLst>
          </a:custGeom>
          <a:ln w="3175">
            <a:solidFill>
              <a:srgbClr val="000000"/>
            </a:solidFill>
          </a:ln>
        </p:spPr>
        <p:txBody>
          <a:bodyPr wrap="square" lIns="0" tIns="0" rIns="0" bIns="0" rtlCol="0"/>
          <a:lstStyle/>
          <a:p>
            <a:endParaRPr/>
          </a:p>
        </p:txBody>
      </p:sp>
      <p:sp>
        <p:nvSpPr>
          <p:cNvPr id="17" name="object 17"/>
          <p:cNvSpPr txBox="1">
            <a:spLocks noGrp="1"/>
          </p:cNvSpPr>
          <p:nvPr>
            <p:ph type="sldNum" sz="quarter" idx="7"/>
          </p:nvPr>
        </p:nvSpPr>
        <p:spPr>
          <a:xfrm>
            <a:off x="752415" y="9179425"/>
            <a:ext cx="122555" cy="102592"/>
          </a:xfrm>
          <a:prstGeom prst="rect">
            <a:avLst/>
          </a:prstGeom>
        </p:spPr>
        <p:txBody>
          <a:bodyPr vert="horz" wrap="square" lIns="0" tIns="0" rIns="0" bIns="0" rtlCol="0">
            <a:spAutoFit/>
          </a:bodyPr>
          <a:lstStyle/>
          <a:p>
            <a:pPr marL="25400">
              <a:lnSpc>
                <a:spcPts val="835"/>
              </a:lnSpc>
            </a:pPr>
            <a:endParaRPr spc="10" dirty="0"/>
          </a:p>
        </p:txBody>
      </p:sp>
      <p:sp>
        <p:nvSpPr>
          <p:cNvPr id="18" name="Rectangle 17"/>
          <p:cNvSpPr/>
          <p:nvPr/>
        </p:nvSpPr>
        <p:spPr>
          <a:xfrm>
            <a:off x="790779" y="1121926"/>
            <a:ext cx="6144894" cy="3539430"/>
          </a:xfrm>
          <a:prstGeom prst="rect">
            <a:avLst/>
          </a:prstGeom>
        </p:spPr>
        <p:txBody>
          <a:bodyPr wrap="square">
            <a:spAutoFit/>
          </a:bodyPr>
          <a:lstStyle/>
          <a:p>
            <a:r>
              <a:rPr lang="en-IE" sz="1400" b="1" dirty="0">
                <a:solidFill>
                  <a:srgbClr val="7F0055"/>
                </a:solidFill>
                <a:latin typeface="Consolas"/>
              </a:rPr>
              <a:t>public</a:t>
            </a:r>
            <a:r>
              <a:rPr lang="en-IE" sz="1400" b="1" dirty="0">
                <a:solidFill>
                  <a:srgbClr val="000000"/>
                </a:solidFill>
                <a:latin typeface="Consolas"/>
              </a:rPr>
              <a:t> </a:t>
            </a:r>
            <a:r>
              <a:rPr lang="en-IE" sz="1400" b="1" dirty="0">
                <a:solidFill>
                  <a:srgbClr val="7F0055"/>
                </a:solidFill>
                <a:latin typeface="Consolas"/>
              </a:rPr>
              <a:t>class</a:t>
            </a:r>
            <a:r>
              <a:rPr lang="en-IE" sz="1400" b="1" dirty="0">
                <a:solidFill>
                  <a:srgbClr val="000000"/>
                </a:solidFill>
                <a:latin typeface="Consolas"/>
              </a:rPr>
              <a:t> App1  {  </a:t>
            </a:r>
          </a:p>
          <a:p>
            <a:r>
              <a:rPr lang="en-IE" sz="1400" b="1" dirty="0">
                <a:solidFill>
                  <a:srgbClr val="7F0055"/>
                </a:solidFill>
                <a:latin typeface="Consolas"/>
              </a:rPr>
              <a:t>public</a:t>
            </a:r>
            <a:r>
              <a:rPr lang="en-IE" sz="1400" b="1" dirty="0">
                <a:solidFill>
                  <a:srgbClr val="000000"/>
                </a:solidFill>
                <a:latin typeface="Consolas"/>
              </a:rPr>
              <a:t> App1() {</a:t>
            </a:r>
          </a:p>
          <a:p>
            <a:r>
              <a:rPr lang="en-IE" sz="1400" dirty="0" err="1">
                <a:solidFill>
                  <a:srgbClr val="000000"/>
                </a:solidFill>
                <a:latin typeface="Consolas"/>
              </a:rPr>
              <a:t>ExecutorService</a:t>
            </a:r>
            <a:r>
              <a:rPr lang="en-IE" sz="1400" dirty="0">
                <a:solidFill>
                  <a:srgbClr val="000000"/>
                </a:solidFill>
                <a:latin typeface="Consolas"/>
              </a:rPr>
              <a:t> </a:t>
            </a:r>
            <a:r>
              <a:rPr lang="en-IE" sz="1400" dirty="0" err="1">
                <a:solidFill>
                  <a:srgbClr val="6A3E3E"/>
                </a:solidFill>
                <a:latin typeface="Consolas"/>
              </a:rPr>
              <a:t>taskList</a:t>
            </a:r>
            <a:r>
              <a:rPr lang="en-IE" sz="1400" dirty="0">
                <a:solidFill>
                  <a:srgbClr val="000000"/>
                </a:solidFill>
                <a:latin typeface="Consolas"/>
              </a:rPr>
              <a:t> = </a:t>
            </a:r>
            <a:r>
              <a:rPr lang="en-IE" sz="1400" dirty="0" err="1">
                <a:solidFill>
                  <a:srgbClr val="000000"/>
                </a:solidFill>
                <a:latin typeface="Consolas"/>
              </a:rPr>
              <a:t>Executors.</a:t>
            </a:r>
            <a:r>
              <a:rPr lang="en-IE" sz="1400" i="1" dirty="0" err="1">
                <a:solidFill>
                  <a:srgbClr val="000000"/>
                </a:solidFill>
                <a:latin typeface="Consolas"/>
              </a:rPr>
              <a:t>newFixedThreadPool</a:t>
            </a:r>
            <a:r>
              <a:rPr lang="en-IE" sz="1400" i="1" dirty="0">
                <a:solidFill>
                  <a:srgbClr val="000000"/>
                </a:solidFill>
                <a:latin typeface="Consolas"/>
              </a:rPr>
              <a:t>(100);</a:t>
            </a:r>
          </a:p>
          <a:p>
            <a:r>
              <a:rPr lang="en-IE" sz="1400" dirty="0" err="1" smtClean="0">
                <a:solidFill>
                  <a:srgbClr val="6A3E3E"/>
                </a:solidFill>
                <a:latin typeface="Consolas"/>
              </a:rPr>
              <a:t>taskList</a:t>
            </a:r>
            <a:r>
              <a:rPr lang="en-IE" sz="1400" dirty="0" err="1" smtClean="0">
                <a:solidFill>
                  <a:srgbClr val="000000"/>
                </a:solidFill>
                <a:latin typeface="Consolas"/>
              </a:rPr>
              <a:t>.execute</a:t>
            </a:r>
            <a:r>
              <a:rPr lang="en-IE" sz="1400" dirty="0" smtClean="0">
                <a:solidFill>
                  <a:srgbClr val="000000"/>
                </a:solidFill>
                <a:latin typeface="Consolas"/>
              </a:rPr>
              <a:t>(</a:t>
            </a:r>
            <a:r>
              <a:rPr lang="en-IE" sz="1400" b="1" dirty="0" smtClean="0">
                <a:solidFill>
                  <a:srgbClr val="7F0055"/>
                </a:solidFill>
                <a:latin typeface="Consolas"/>
              </a:rPr>
              <a:t>new</a:t>
            </a:r>
            <a:r>
              <a:rPr lang="en-IE" sz="1400" b="1" dirty="0" smtClean="0">
                <a:solidFill>
                  <a:srgbClr val="000000"/>
                </a:solidFill>
                <a:latin typeface="Consolas"/>
              </a:rPr>
              <a:t> </a:t>
            </a:r>
            <a:r>
              <a:rPr lang="en-IE" sz="1400" b="1" dirty="0">
                <a:solidFill>
                  <a:srgbClr val="000000"/>
                </a:solidFill>
                <a:latin typeface="Consolas"/>
              </a:rPr>
              <a:t>Counter(</a:t>
            </a:r>
            <a:r>
              <a:rPr lang="en-IE" sz="1400" b="1" dirty="0">
                <a:solidFill>
                  <a:srgbClr val="7F0055"/>
                </a:solidFill>
                <a:latin typeface="Consolas"/>
              </a:rPr>
              <a:t>this</a:t>
            </a:r>
            <a:r>
              <a:rPr lang="en-IE" sz="1400" b="1" dirty="0">
                <a:solidFill>
                  <a:srgbClr val="000000"/>
                </a:solidFill>
                <a:latin typeface="Consolas"/>
              </a:rPr>
              <a:t>, 6));</a:t>
            </a:r>
          </a:p>
          <a:p>
            <a:r>
              <a:rPr lang="en-IE" sz="1400" dirty="0" err="1">
                <a:solidFill>
                  <a:srgbClr val="6A3E3E"/>
                </a:solidFill>
                <a:latin typeface="Consolas"/>
              </a:rPr>
              <a:t>taskList</a:t>
            </a:r>
            <a:r>
              <a:rPr lang="en-IE" sz="1400" dirty="0" err="1">
                <a:solidFill>
                  <a:srgbClr val="000000"/>
                </a:solidFill>
                <a:latin typeface="Consolas"/>
              </a:rPr>
              <a:t>.execute</a:t>
            </a:r>
            <a:r>
              <a:rPr lang="en-IE" sz="1400" dirty="0">
                <a:solidFill>
                  <a:srgbClr val="000000"/>
                </a:solidFill>
                <a:latin typeface="Consolas"/>
              </a:rPr>
              <a:t>(</a:t>
            </a:r>
            <a:r>
              <a:rPr lang="en-IE" sz="1400" b="1" dirty="0">
                <a:solidFill>
                  <a:srgbClr val="7F0055"/>
                </a:solidFill>
                <a:latin typeface="Consolas"/>
              </a:rPr>
              <a:t>new</a:t>
            </a:r>
            <a:r>
              <a:rPr lang="en-IE" sz="1400" b="1" dirty="0">
                <a:solidFill>
                  <a:srgbClr val="000000"/>
                </a:solidFill>
                <a:latin typeface="Consolas"/>
              </a:rPr>
              <a:t> Counter(</a:t>
            </a:r>
            <a:r>
              <a:rPr lang="en-IE" sz="1400" b="1" dirty="0">
                <a:solidFill>
                  <a:srgbClr val="7F0055"/>
                </a:solidFill>
                <a:latin typeface="Consolas"/>
              </a:rPr>
              <a:t>this</a:t>
            </a:r>
            <a:r>
              <a:rPr lang="en-IE" sz="1400" b="1" dirty="0">
                <a:solidFill>
                  <a:srgbClr val="000000"/>
                </a:solidFill>
                <a:latin typeface="Consolas"/>
              </a:rPr>
              <a:t>, 10));</a:t>
            </a:r>
          </a:p>
          <a:p>
            <a:r>
              <a:rPr lang="en-IE" sz="1400" dirty="0" err="1">
                <a:solidFill>
                  <a:srgbClr val="6A3E3E"/>
                </a:solidFill>
                <a:latin typeface="Consolas"/>
              </a:rPr>
              <a:t>taskList</a:t>
            </a:r>
            <a:r>
              <a:rPr lang="en-IE" sz="1400" dirty="0" err="1">
                <a:solidFill>
                  <a:srgbClr val="000000"/>
                </a:solidFill>
                <a:latin typeface="Consolas"/>
              </a:rPr>
              <a:t>.execute</a:t>
            </a:r>
            <a:r>
              <a:rPr lang="en-IE" sz="1400" dirty="0">
                <a:solidFill>
                  <a:srgbClr val="000000"/>
                </a:solidFill>
                <a:latin typeface="Consolas"/>
              </a:rPr>
              <a:t>(</a:t>
            </a:r>
            <a:r>
              <a:rPr lang="en-IE" sz="1400" b="1" dirty="0">
                <a:solidFill>
                  <a:srgbClr val="7F0055"/>
                </a:solidFill>
                <a:latin typeface="Consolas"/>
              </a:rPr>
              <a:t>new</a:t>
            </a:r>
            <a:r>
              <a:rPr lang="en-IE" sz="1400" b="1" dirty="0">
                <a:solidFill>
                  <a:srgbClr val="000000"/>
                </a:solidFill>
                <a:latin typeface="Consolas"/>
              </a:rPr>
              <a:t> Counter(</a:t>
            </a:r>
            <a:r>
              <a:rPr lang="en-IE" sz="1400" b="1" dirty="0">
                <a:solidFill>
                  <a:srgbClr val="7F0055"/>
                </a:solidFill>
                <a:latin typeface="Consolas"/>
              </a:rPr>
              <a:t>this</a:t>
            </a:r>
            <a:r>
              <a:rPr lang="en-IE" sz="1400" b="1" dirty="0">
                <a:solidFill>
                  <a:srgbClr val="000000"/>
                </a:solidFill>
                <a:latin typeface="Consolas"/>
              </a:rPr>
              <a:t>, 2));</a:t>
            </a:r>
          </a:p>
          <a:p>
            <a:r>
              <a:rPr lang="en-IE" sz="1400" dirty="0" err="1">
                <a:solidFill>
                  <a:srgbClr val="6A3E3E"/>
                </a:solidFill>
                <a:latin typeface="Consolas"/>
              </a:rPr>
              <a:t>taskList</a:t>
            </a:r>
            <a:r>
              <a:rPr lang="en-IE" sz="1400" dirty="0" err="1">
                <a:solidFill>
                  <a:srgbClr val="000000"/>
                </a:solidFill>
                <a:latin typeface="Consolas"/>
              </a:rPr>
              <a:t>.shutdown</a:t>
            </a:r>
            <a:r>
              <a:rPr lang="en-IE" sz="1400" dirty="0">
                <a:solidFill>
                  <a:srgbClr val="000000"/>
                </a:solidFill>
                <a:latin typeface="Consolas"/>
              </a:rPr>
              <a:t>();</a:t>
            </a:r>
          </a:p>
          <a:p>
            <a:r>
              <a:rPr lang="en-IE" sz="1400" dirty="0">
                <a:solidFill>
                  <a:srgbClr val="000000"/>
                </a:solidFill>
                <a:latin typeface="Consolas"/>
              </a:rPr>
              <a:t>}</a:t>
            </a:r>
          </a:p>
          <a:p>
            <a:r>
              <a:rPr lang="en-IE" sz="1400" b="1" dirty="0">
                <a:solidFill>
                  <a:srgbClr val="7F0055"/>
                </a:solidFill>
                <a:latin typeface="Consolas"/>
              </a:rPr>
              <a:t>public</a:t>
            </a:r>
            <a:r>
              <a:rPr lang="en-IE" sz="1400" b="1" dirty="0">
                <a:solidFill>
                  <a:srgbClr val="000000"/>
                </a:solidFill>
                <a:latin typeface="Consolas"/>
              </a:rPr>
              <a:t> </a:t>
            </a:r>
            <a:r>
              <a:rPr lang="en-IE" sz="1400" b="1" dirty="0">
                <a:solidFill>
                  <a:srgbClr val="7F0055"/>
                </a:solidFill>
                <a:latin typeface="Consolas"/>
              </a:rPr>
              <a:t>void</a:t>
            </a:r>
            <a:r>
              <a:rPr lang="en-IE" sz="1400" b="1" dirty="0">
                <a:solidFill>
                  <a:srgbClr val="000000"/>
                </a:solidFill>
                <a:latin typeface="Consolas"/>
              </a:rPr>
              <a:t> </a:t>
            </a:r>
            <a:r>
              <a:rPr lang="en-IE" sz="1400" b="1" dirty="0">
                <a:solidFill>
                  <a:srgbClr val="000000"/>
                </a:solidFill>
                <a:highlight>
                  <a:srgbClr val="D4D4D4"/>
                </a:highlight>
                <a:latin typeface="Consolas"/>
              </a:rPr>
              <a:t>pause(</a:t>
            </a:r>
            <a:r>
              <a:rPr lang="en-IE" sz="1400" b="1" dirty="0">
                <a:solidFill>
                  <a:srgbClr val="7F0055"/>
                </a:solidFill>
                <a:highlight>
                  <a:srgbClr val="D4D4D4"/>
                </a:highlight>
                <a:latin typeface="Consolas"/>
              </a:rPr>
              <a:t>double</a:t>
            </a:r>
            <a:r>
              <a:rPr lang="en-IE" sz="1400" b="1" dirty="0">
                <a:solidFill>
                  <a:srgbClr val="000000"/>
                </a:solidFill>
                <a:highlight>
                  <a:srgbClr val="D4D4D4"/>
                </a:highlight>
                <a:latin typeface="Consolas"/>
              </a:rPr>
              <a:t> </a:t>
            </a:r>
            <a:r>
              <a:rPr lang="en-IE" sz="1400" b="1" dirty="0">
                <a:solidFill>
                  <a:srgbClr val="6A3E3E"/>
                </a:solidFill>
                <a:highlight>
                  <a:srgbClr val="D4D4D4"/>
                </a:highlight>
                <a:latin typeface="Consolas"/>
              </a:rPr>
              <a:t>seconds</a:t>
            </a:r>
            <a:r>
              <a:rPr lang="en-IE" sz="1400" b="1" dirty="0">
                <a:solidFill>
                  <a:srgbClr val="000000"/>
                </a:solidFill>
                <a:highlight>
                  <a:srgbClr val="D4D4D4"/>
                </a:highlight>
                <a:latin typeface="Consolas"/>
              </a:rPr>
              <a:t>) {  </a:t>
            </a:r>
          </a:p>
          <a:p>
            <a:r>
              <a:rPr lang="en-IE" sz="1400" b="1" dirty="0">
                <a:solidFill>
                  <a:srgbClr val="7F0055"/>
                </a:solidFill>
                <a:latin typeface="Consolas"/>
              </a:rPr>
              <a:t>try</a:t>
            </a:r>
            <a:r>
              <a:rPr lang="en-IE" sz="1400" b="1" dirty="0">
                <a:solidFill>
                  <a:srgbClr val="000000"/>
                </a:solidFill>
                <a:latin typeface="Consolas"/>
              </a:rPr>
              <a:t> {</a:t>
            </a:r>
          </a:p>
          <a:p>
            <a:endParaRPr lang="en-IE" sz="1400" dirty="0">
              <a:latin typeface="Consolas"/>
            </a:endParaRPr>
          </a:p>
          <a:p>
            <a:r>
              <a:rPr lang="en-IE" sz="1400" dirty="0" err="1">
                <a:solidFill>
                  <a:srgbClr val="000000"/>
                </a:solidFill>
                <a:latin typeface="Consolas"/>
              </a:rPr>
              <a:t>Thread.</a:t>
            </a:r>
            <a:r>
              <a:rPr lang="en-IE" sz="1400" i="1" dirty="0" err="1">
                <a:solidFill>
                  <a:srgbClr val="000000"/>
                </a:solidFill>
                <a:latin typeface="Consolas"/>
              </a:rPr>
              <a:t>sleep</a:t>
            </a:r>
            <a:r>
              <a:rPr lang="en-IE" sz="1400" i="1" dirty="0">
                <a:solidFill>
                  <a:srgbClr val="000000"/>
                </a:solidFill>
                <a:latin typeface="Consolas"/>
              </a:rPr>
              <a:t>(</a:t>
            </a:r>
            <a:r>
              <a:rPr lang="en-IE" sz="1400" i="1" dirty="0" err="1">
                <a:solidFill>
                  <a:srgbClr val="000000"/>
                </a:solidFill>
                <a:latin typeface="Consolas"/>
              </a:rPr>
              <a:t>Math.round</a:t>
            </a:r>
            <a:r>
              <a:rPr lang="en-IE" sz="1400" i="1" dirty="0">
                <a:solidFill>
                  <a:srgbClr val="000000"/>
                </a:solidFill>
                <a:latin typeface="Consolas"/>
              </a:rPr>
              <a:t>(1000.0 * </a:t>
            </a:r>
            <a:r>
              <a:rPr lang="en-IE" sz="1400" i="1" dirty="0">
                <a:solidFill>
                  <a:srgbClr val="6A3E3E"/>
                </a:solidFill>
                <a:latin typeface="Consolas"/>
              </a:rPr>
              <a:t>seconds</a:t>
            </a:r>
            <a:r>
              <a:rPr lang="en-IE" sz="1400" i="1" dirty="0">
                <a:solidFill>
                  <a:srgbClr val="000000"/>
                </a:solidFill>
                <a:latin typeface="Consolas"/>
              </a:rPr>
              <a:t>));</a:t>
            </a:r>
          </a:p>
          <a:p>
            <a:r>
              <a:rPr lang="en-IE" sz="1400" dirty="0">
                <a:solidFill>
                  <a:srgbClr val="000000"/>
                </a:solidFill>
                <a:latin typeface="Consolas"/>
              </a:rPr>
              <a:t>} </a:t>
            </a:r>
            <a:r>
              <a:rPr lang="en-IE" sz="1400" b="1" dirty="0">
                <a:solidFill>
                  <a:srgbClr val="7F0055"/>
                </a:solidFill>
                <a:latin typeface="Consolas"/>
              </a:rPr>
              <a:t>catch</a:t>
            </a:r>
            <a:r>
              <a:rPr lang="en-IE" sz="1400" b="1" dirty="0">
                <a:solidFill>
                  <a:srgbClr val="000000"/>
                </a:solidFill>
                <a:latin typeface="Consolas"/>
              </a:rPr>
              <a:t>(</a:t>
            </a:r>
            <a:r>
              <a:rPr lang="en-IE" sz="1400" b="1" dirty="0" err="1">
                <a:solidFill>
                  <a:srgbClr val="000000"/>
                </a:solidFill>
                <a:latin typeface="Consolas"/>
              </a:rPr>
              <a:t>InterruptedException</a:t>
            </a:r>
            <a:r>
              <a:rPr lang="en-IE" sz="1400" b="1" dirty="0">
                <a:solidFill>
                  <a:srgbClr val="000000"/>
                </a:solidFill>
                <a:latin typeface="Consolas"/>
              </a:rPr>
              <a:t>  </a:t>
            </a:r>
            <a:r>
              <a:rPr lang="en-IE" sz="1400" b="1" dirty="0">
                <a:solidFill>
                  <a:srgbClr val="6A3E3E"/>
                </a:solidFill>
                <a:latin typeface="Consolas"/>
              </a:rPr>
              <a:t>e</a:t>
            </a:r>
            <a:r>
              <a:rPr lang="en-IE" sz="1400" b="1" dirty="0">
                <a:solidFill>
                  <a:srgbClr val="000000"/>
                </a:solidFill>
                <a:latin typeface="Consolas"/>
              </a:rPr>
              <a:t>){}</a:t>
            </a:r>
          </a:p>
          <a:p>
            <a:r>
              <a:rPr lang="en-IE" sz="1400" dirty="0">
                <a:solidFill>
                  <a:srgbClr val="000000"/>
                </a:solidFill>
                <a:latin typeface="Consolas"/>
              </a:rPr>
              <a:t>}</a:t>
            </a:r>
          </a:p>
          <a:p>
            <a:r>
              <a:rPr lang="en-IE" sz="1400" dirty="0">
                <a:solidFill>
                  <a:srgbClr val="000000"/>
                </a:solidFill>
                <a:latin typeface="Consolas"/>
              </a:rPr>
              <a:t>}</a:t>
            </a:r>
          </a:p>
        </p:txBody>
      </p:sp>
      <p:sp>
        <p:nvSpPr>
          <p:cNvPr id="19" name="Rectangle 18"/>
          <p:cNvSpPr/>
          <p:nvPr/>
        </p:nvSpPr>
        <p:spPr>
          <a:xfrm>
            <a:off x="1143000" y="6858000"/>
            <a:ext cx="5334000" cy="1477328"/>
          </a:xfrm>
          <a:prstGeom prst="rect">
            <a:avLst/>
          </a:prstGeom>
        </p:spPr>
        <p:txBody>
          <a:bodyPr wrap="square">
            <a:spAutoFit/>
          </a:bodyPr>
          <a:lstStyle/>
          <a:p>
            <a:r>
              <a:rPr lang="en-IE" b="1" dirty="0">
                <a:solidFill>
                  <a:srgbClr val="7F0055"/>
                </a:solidFill>
                <a:latin typeface="Consolas"/>
              </a:rPr>
              <a:t>public</a:t>
            </a:r>
            <a:r>
              <a:rPr lang="en-IE" b="1" dirty="0">
                <a:solidFill>
                  <a:srgbClr val="000000"/>
                </a:solidFill>
                <a:latin typeface="Consolas"/>
              </a:rPr>
              <a:t> </a:t>
            </a:r>
            <a:r>
              <a:rPr lang="en-IE" b="1" dirty="0">
                <a:solidFill>
                  <a:srgbClr val="7F0055"/>
                </a:solidFill>
                <a:latin typeface="Consolas"/>
              </a:rPr>
              <a:t>class</a:t>
            </a:r>
            <a:r>
              <a:rPr lang="en-IE" b="1" dirty="0">
                <a:solidFill>
                  <a:srgbClr val="000000"/>
                </a:solidFill>
                <a:latin typeface="Consolas"/>
              </a:rPr>
              <a:t> App1Test {</a:t>
            </a:r>
          </a:p>
          <a:p>
            <a:r>
              <a:rPr lang="en-IE" b="1" dirty="0">
                <a:solidFill>
                  <a:srgbClr val="7F0055"/>
                </a:solidFill>
                <a:latin typeface="Consolas"/>
              </a:rPr>
              <a:t>public</a:t>
            </a:r>
            <a:r>
              <a:rPr lang="en-IE" b="1" dirty="0">
                <a:solidFill>
                  <a:srgbClr val="000000"/>
                </a:solidFill>
                <a:latin typeface="Consolas"/>
              </a:rPr>
              <a:t> </a:t>
            </a:r>
            <a:r>
              <a:rPr lang="en-IE" b="1" dirty="0">
                <a:solidFill>
                  <a:srgbClr val="7F0055"/>
                </a:solidFill>
                <a:latin typeface="Consolas"/>
              </a:rPr>
              <a:t>static</a:t>
            </a:r>
            <a:r>
              <a:rPr lang="en-IE" b="1" dirty="0">
                <a:solidFill>
                  <a:srgbClr val="000000"/>
                </a:solidFill>
                <a:latin typeface="Consolas"/>
              </a:rPr>
              <a:t> </a:t>
            </a:r>
            <a:r>
              <a:rPr lang="en-IE" b="1" dirty="0">
                <a:solidFill>
                  <a:srgbClr val="7F0055"/>
                </a:solidFill>
                <a:latin typeface="Consolas"/>
              </a:rPr>
              <a:t>void</a:t>
            </a:r>
            <a:r>
              <a:rPr lang="en-IE" b="1" dirty="0">
                <a:solidFill>
                  <a:srgbClr val="000000"/>
                </a:solidFill>
                <a:latin typeface="Consolas"/>
              </a:rPr>
              <a:t> main(String[] </a:t>
            </a:r>
            <a:r>
              <a:rPr lang="en-IE" b="1" dirty="0" err="1">
                <a:solidFill>
                  <a:srgbClr val="6A3E3E"/>
                </a:solidFill>
                <a:latin typeface="Consolas"/>
              </a:rPr>
              <a:t>args</a:t>
            </a:r>
            <a:r>
              <a:rPr lang="en-IE" b="1" dirty="0">
                <a:solidFill>
                  <a:srgbClr val="000000"/>
                </a:solidFill>
                <a:latin typeface="Consolas"/>
              </a:rPr>
              <a:t>) {  </a:t>
            </a:r>
          </a:p>
          <a:p>
            <a:r>
              <a:rPr lang="en-IE" b="1" dirty="0">
                <a:solidFill>
                  <a:srgbClr val="7F0055"/>
                </a:solidFill>
                <a:latin typeface="Consolas"/>
              </a:rPr>
              <a:t>new</a:t>
            </a:r>
            <a:r>
              <a:rPr lang="en-IE" b="1" dirty="0">
                <a:solidFill>
                  <a:srgbClr val="000000"/>
                </a:solidFill>
                <a:latin typeface="Consolas"/>
              </a:rPr>
              <a:t> App1();</a:t>
            </a:r>
          </a:p>
          <a:p>
            <a:r>
              <a:rPr lang="en-IE" dirty="0">
                <a:solidFill>
                  <a:srgbClr val="000000"/>
                </a:solidFill>
                <a:latin typeface="Consolas"/>
              </a:rPr>
              <a:t>}</a:t>
            </a:r>
          </a:p>
          <a:p>
            <a:r>
              <a:rPr lang="en-IE" dirty="0">
                <a:solidFill>
                  <a:srgbClr val="000000"/>
                </a:solidFill>
                <a:latin typeface="Consolas"/>
              </a:rPr>
              <a:t>}</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722134" y="739533"/>
            <a:ext cx="6327775" cy="3556000"/>
          </a:xfrm>
          <a:prstGeom prst="rect">
            <a:avLst/>
          </a:prstGeom>
          <a:ln w="8153">
            <a:solidFill>
              <a:srgbClr val="000000"/>
            </a:solidFill>
          </a:ln>
        </p:spPr>
        <p:txBody>
          <a:bodyPr vert="horz" wrap="square" lIns="0" tIns="0" rIns="0" bIns="0" rtlCol="0">
            <a:spAutoFit/>
          </a:bodyPr>
          <a:lstStyle/>
          <a:p>
            <a:pPr marL="803275">
              <a:lnSpc>
                <a:spcPts val="2550"/>
              </a:lnSpc>
            </a:pPr>
            <a:r>
              <a:rPr sz="2150" b="1" spc="15" dirty="0">
                <a:solidFill>
                  <a:srgbClr val="FFFFFF"/>
                </a:solidFill>
                <a:latin typeface="Arial"/>
                <a:cs typeface="Arial"/>
              </a:rPr>
              <a:t>Thread Mechanism One:</a:t>
            </a:r>
            <a:r>
              <a:rPr sz="2150" b="1" spc="-95" dirty="0">
                <a:solidFill>
                  <a:srgbClr val="FFFFFF"/>
                </a:solidFill>
                <a:latin typeface="Arial"/>
                <a:cs typeface="Arial"/>
              </a:rPr>
              <a:t> </a:t>
            </a:r>
            <a:r>
              <a:rPr sz="2150" b="1" spc="10" dirty="0">
                <a:solidFill>
                  <a:srgbClr val="FFFFFF"/>
                </a:solidFill>
                <a:latin typeface="Arial"/>
                <a:cs typeface="Arial"/>
              </a:rPr>
              <a:t>Results</a:t>
            </a:r>
            <a:endParaRPr sz="2150" dirty="0">
              <a:latin typeface="Arial"/>
              <a:cs typeface="Arial"/>
            </a:endParaRPr>
          </a:p>
          <a:p>
            <a:pPr marL="79375">
              <a:lnSpc>
                <a:spcPct val="100000"/>
              </a:lnSpc>
              <a:spcBef>
                <a:spcPts val="770"/>
              </a:spcBef>
            </a:pPr>
            <a:r>
              <a:rPr sz="1100" b="1" spc="-5" dirty="0">
                <a:latin typeface="Courier New"/>
                <a:cs typeface="Courier New"/>
              </a:rPr>
              <a:t>pool-1-thread-1:</a:t>
            </a:r>
            <a:r>
              <a:rPr sz="1100" b="1" spc="-105" dirty="0">
                <a:latin typeface="Courier New"/>
                <a:cs typeface="Courier New"/>
              </a:rPr>
              <a:t> </a:t>
            </a:r>
            <a:r>
              <a:rPr sz="1100" b="1" spc="-5" dirty="0">
                <a:latin typeface="Courier New"/>
                <a:cs typeface="Courier New"/>
              </a:rPr>
              <a:t>0</a:t>
            </a:r>
            <a:endParaRPr sz="1100" dirty="0">
              <a:latin typeface="Courier New"/>
              <a:cs typeface="Courier New"/>
            </a:endParaRPr>
          </a:p>
          <a:p>
            <a:pPr marL="79375">
              <a:lnSpc>
                <a:spcPct val="100000"/>
              </a:lnSpc>
              <a:spcBef>
                <a:spcPts val="220"/>
              </a:spcBef>
            </a:pPr>
            <a:r>
              <a:rPr sz="1100" b="1" spc="-5" dirty="0">
                <a:solidFill>
                  <a:srgbClr val="00B0F0"/>
                </a:solidFill>
                <a:latin typeface="Courier New"/>
                <a:cs typeface="Courier New"/>
              </a:rPr>
              <a:t>pool-1-thread-2:</a:t>
            </a:r>
            <a:r>
              <a:rPr sz="1100" b="1" spc="-105" dirty="0">
                <a:solidFill>
                  <a:srgbClr val="00B0F0"/>
                </a:solidFill>
                <a:latin typeface="Courier New"/>
                <a:cs typeface="Courier New"/>
              </a:rPr>
              <a:t> </a:t>
            </a:r>
            <a:r>
              <a:rPr sz="1100" b="1" spc="-5" dirty="0">
                <a:solidFill>
                  <a:srgbClr val="00B0F0"/>
                </a:solidFill>
                <a:latin typeface="Courier New"/>
                <a:cs typeface="Courier New"/>
              </a:rPr>
              <a:t>0</a:t>
            </a:r>
            <a:endParaRPr sz="1100" dirty="0">
              <a:latin typeface="Courier New"/>
              <a:cs typeface="Courier New"/>
            </a:endParaRPr>
          </a:p>
          <a:p>
            <a:pPr marL="79375">
              <a:lnSpc>
                <a:spcPct val="100000"/>
              </a:lnSpc>
              <a:spcBef>
                <a:spcPts val="220"/>
              </a:spcBef>
            </a:pPr>
            <a:r>
              <a:rPr sz="1100" b="1" spc="-5" dirty="0">
                <a:solidFill>
                  <a:srgbClr val="C00000"/>
                </a:solidFill>
                <a:latin typeface="Courier New"/>
                <a:cs typeface="Courier New"/>
              </a:rPr>
              <a:t>pool-1-thread-3:</a:t>
            </a:r>
            <a:r>
              <a:rPr sz="1100" b="1" spc="-105" dirty="0">
                <a:solidFill>
                  <a:srgbClr val="C00000"/>
                </a:solidFill>
                <a:latin typeface="Courier New"/>
                <a:cs typeface="Courier New"/>
              </a:rPr>
              <a:t> </a:t>
            </a:r>
            <a:r>
              <a:rPr sz="1100" b="1" spc="-5" dirty="0">
                <a:solidFill>
                  <a:srgbClr val="C00000"/>
                </a:solidFill>
                <a:latin typeface="Courier New"/>
                <a:cs typeface="Courier New"/>
              </a:rPr>
              <a:t>0</a:t>
            </a:r>
            <a:endParaRPr sz="1100" dirty="0">
              <a:latin typeface="Courier New"/>
              <a:cs typeface="Courier New"/>
            </a:endParaRPr>
          </a:p>
          <a:p>
            <a:pPr marL="79375">
              <a:lnSpc>
                <a:spcPct val="100000"/>
              </a:lnSpc>
              <a:spcBef>
                <a:spcPts val="220"/>
              </a:spcBef>
            </a:pPr>
            <a:r>
              <a:rPr sz="1100" b="1" spc="-5" dirty="0">
                <a:solidFill>
                  <a:srgbClr val="00B0F0"/>
                </a:solidFill>
                <a:latin typeface="Courier New"/>
                <a:cs typeface="Courier New"/>
              </a:rPr>
              <a:t>pool-1-thread-2:</a:t>
            </a:r>
            <a:r>
              <a:rPr sz="1100" b="1" spc="-105" dirty="0">
                <a:solidFill>
                  <a:srgbClr val="00B0F0"/>
                </a:solidFill>
                <a:latin typeface="Courier New"/>
                <a:cs typeface="Courier New"/>
              </a:rPr>
              <a:t> </a:t>
            </a:r>
            <a:r>
              <a:rPr sz="1100" b="1" spc="-5" dirty="0">
                <a:solidFill>
                  <a:srgbClr val="00B0F0"/>
                </a:solidFill>
                <a:latin typeface="Courier New"/>
                <a:cs typeface="Courier New"/>
              </a:rPr>
              <a:t>1</a:t>
            </a:r>
            <a:endParaRPr sz="1100" dirty="0">
              <a:latin typeface="Courier New"/>
              <a:cs typeface="Courier New"/>
            </a:endParaRPr>
          </a:p>
          <a:p>
            <a:pPr marL="79375">
              <a:lnSpc>
                <a:spcPct val="100000"/>
              </a:lnSpc>
              <a:spcBef>
                <a:spcPts val="220"/>
              </a:spcBef>
            </a:pPr>
            <a:r>
              <a:rPr sz="1100" b="1" spc="-5" dirty="0">
                <a:solidFill>
                  <a:srgbClr val="00B0F0"/>
                </a:solidFill>
                <a:latin typeface="Courier New"/>
                <a:cs typeface="Courier New"/>
              </a:rPr>
              <a:t>pool-1-thread-2:</a:t>
            </a:r>
            <a:r>
              <a:rPr sz="1100" b="1" spc="-105" dirty="0">
                <a:solidFill>
                  <a:srgbClr val="00B0F0"/>
                </a:solidFill>
                <a:latin typeface="Courier New"/>
                <a:cs typeface="Courier New"/>
              </a:rPr>
              <a:t> </a:t>
            </a:r>
            <a:r>
              <a:rPr sz="1100" b="1" spc="-5" dirty="0">
                <a:solidFill>
                  <a:srgbClr val="00B0F0"/>
                </a:solidFill>
                <a:latin typeface="Courier New"/>
                <a:cs typeface="Courier New"/>
              </a:rPr>
              <a:t>2</a:t>
            </a:r>
            <a:endParaRPr sz="1100" dirty="0">
              <a:latin typeface="Courier New"/>
              <a:cs typeface="Courier New"/>
            </a:endParaRPr>
          </a:p>
          <a:p>
            <a:pPr marL="79375">
              <a:lnSpc>
                <a:spcPct val="100000"/>
              </a:lnSpc>
              <a:spcBef>
                <a:spcPts val="220"/>
              </a:spcBef>
            </a:pPr>
            <a:r>
              <a:rPr sz="1100" b="1" spc="-5" dirty="0">
                <a:latin typeface="Courier New"/>
                <a:cs typeface="Courier New"/>
              </a:rPr>
              <a:t>pool-1-thread-1:</a:t>
            </a:r>
            <a:r>
              <a:rPr sz="1100" b="1" spc="-105" dirty="0">
                <a:latin typeface="Courier New"/>
                <a:cs typeface="Courier New"/>
              </a:rPr>
              <a:t> </a:t>
            </a:r>
            <a:r>
              <a:rPr sz="1100" b="1" spc="-5" dirty="0">
                <a:latin typeface="Courier New"/>
                <a:cs typeface="Courier New"/>
              </a:rPr>
              <a:t>1</a:t>
            </a:r>
            <a:endParaRPr sz="1100" dirty="0">
              <a:latin typeface="Courier New"/>
              <a:cs typeface="Courier New"/>
            </a:endParaRPr>
          </a:p>
          <a:p>
            <a:pPr marL="79375">
              <a:lnSpc>
                <a:spcPct val="100000"/>
              </a:lnSpc>
              <a:spcBef>
                <a:spcPts val="220"/>
              </a:spcBef>
            </a:pPr>
            <a:r>
              <a:rPr sz="1100" b="1" spc="-5" dirty="0">
                <a:solidFill>
                  <a:srgbClr val="C00000"/>
                </a:solidFill>
                <a:latin typeface="Courier New"/>
                <a:cs typeface="Courier New"/>
              </a:rPr>
              <a:t>pool-1-thread-3:</a:t>
            </a:r>
            <a:r>
              <a:rPr sz="1100" b="1" spc="-105" dirty="0">
                <a:solidFill>
                  <a:srgbClr val="C00000"/>
                </a:solidFill>
                <a:latin typeface="Courier New"/>
                <a:cs typeface="Courier New"/>
              </a:rPr>
              <a:t> </a:t>
            </a:r>
            <a:r>
              <a:rPr sz="1100" b="1" spc="-5" dirty="0">
                <a:solidFill>
                  <a:srgbClr val="C00000"/>
                </a:solidFill>
                <a:latin typeface="Courier New"/>
                <a:cs typeface="Courier New"/>
              </a:rPr>
              <a:t>1</a:t>
            </a:r>
            <a:endParaRPr sz="1100" dirty="0">
              <a:latin typeface="Courier New"/>
              <a:cs typeface="Courier New"/>
            </a:endParaRPr>
          </a:p>
          <a:p>
            <a:pPr marL="79375">
              <a:lnSpc>
                <a:spcPct val="100000"/>
              </a:lnSpc>
              <a:spcBef>
                <a:spcPts val="220"/>
              </a:spcBef>
            </a:pPr>
            <a:r>
              <a:rPr sz="1100" b="1" spc="-5" dirty="0">
                <a:solidFill>
                  <a:srgbClr val="00B0F0"/>
                </a:solidFill>
                <a:latin typeface="Courier New"/>
                <a:cs typeface="Courier New"/>
              </a:rPr>
              <a:t>pool-1-thread-2:</a:t>
            </a:r>
            <a:r>
              <a:rPr sz="1100" b="1" spc="-105" dirty="0">
                <a:solidFill>
                  <a:srgbClr val="00B0F0"/>
                </a:solidFill>
                <a:latin typeface="Courier New"/>
                <a:cs typeface="Courier New"/>
              </a:rPr>
              <a:t> </a:t>
            </a:r>
            <a:r>
              <a:rPr sz="1100" b="1" spc="-5" dirty="0">
                <a:solidFill>
                  <a:srgbClr val="00B0F0"/>
                </a:solidFill>
                <a:latin typeface="Courier New"/>
                <a:cs typeface="Courier New"/>
              </a:rPr>
              <a:t>3</a:t>
            </a:r>
            <a:endParaRPr sz="1100" dirty="0">
              <a:latin typeface="Courier New"/>
              <a:cs typeface="Courier New"/>
            </a:endParaRPr>
          </a:p>
          <a:p>
            <a:pPr marL="79375">
              <a:lnSpc>
                <a:spcPct val="100000"/>
              </a:lnSpc>
              <a:spcBef>
                <a:spcPts val="220"/>
              </a:spcBef>
            </a:pPr>
            <a:r>
              <a:rPr sz="1100" b="1" spc="-5" dirty="0">
                <a:solidFill>
                  <a:srgbClr val="C00000"/>
                </a:solidFill>
                <a:latin typeface="Courier New"/>
                <a:cs typeface="Courier New"/>
              </a:rPr>
              <a:t>pool-1-thread-3:</a:t>
            </a:r>
            <a:r>
              <a:rPr sz="1100" b="1" spc="-105" dirty="0">
                <a:solidFill>
                  <a:srgbClr val="C00000"/>
                </a:solidFill>
                <a:latin typeface="Courier New"/>
                <a:cs typeface="Courier New"/>
              </a:rPr>
              <a:t> </a:t>
            </a:r>
            <a:r>
              <a:rPr sz="1100" b="1" spc="-5" dirty="0">
                <a:solidFill>
                  <a:srgbClr val="C00000"/>
                </a:solidFill>
                <a:latin typeface="Courier New"/>
                <a:cs typeface="Courier New"/>
              </a:rPr>
              <a:t>2</a:t>
            </a:r>
            <a:endParaRPr sz="1100" dirty="0">
              <a:latin typeface="Courier New"/>
              <a:cs typeface="Courier New"/>
            </a:endParaRPr>
          </a:p>
          <a:p>
            <a:pPr marL="79375">
              <a:lnSpc>
                <a:spcPct val="100000"/>
              </a:lnSpc>
              <a:spcBef>
                <a:spcPts val="225"/>
              </a:spcBef>
            </a:pPr>
            <a:r>
              <a:rPr sz="1100" b="1" spc="-5" dirty="0">
                <a:latin typeface="Courier New"/>
                <a:cs typeface="Courier New"/>
              </a:rPr>
              <a:t>pool-1-thread-1:</a:t>
            </a:r>
            <a:r>
              <a:rPr sz="1100" b="1" spc="-105" dirty="0">
                <a:latin typeface="Courier New"/>
                <a:cs typeface="Courier New"/>
              </a:rPr>
              <a:t> </a:t>
            </a:r>
            <a:r>
              <a:rPr sz="1100" b="1" spc="-5" dirty="0">
                <a:latin typeface="Courier New"/>
                <a:cs typeface="Courier New"/>
              </a:rPr>
              <a:t>2</a:t>
            </a:r>
            <a:endParaRPr sz="1100" dirty="0">
              <a:latin typeface="Courier New"/>
              <a:cs typeface="Courier New"/>
            </a:endParaRPr>
          </a:p>
          <a:p>
            <a:pPr marL="79375">
              <a:lnSpc>
                <a:spcPct val="100000"/>
              </a:lnSpc>
              <a:spcBef>
                <a:spcPts val="220"/>
              </a:spcBef>
            </a:pPr>
            <a:r>
              <a:rPr sz="1100" b="1" spc="-5" dirty="0">
                <a:latin typeface="Courier New"/>
                <a:cs typeface="Courier New"/>
              </a:rPr>
              <a:t>pool-1-thread-1:</a:t>
            </a:r>
            <a:r>
              <a:rPr sz="1100" b="1" spc="-105" dirty="0">
                <a:latin typeface="Courier New"/>
                <a:cs typeface="Courier New"/>
              </a:rPr>
              <a:t> </a:t>
            </a:r>
            <a:r>
              <a:rPr sz="1100" b="1" spc="-5" dirty="0">
                <a:latin typeface="Courier New"/>
                <a:cs typeface="Courier New"/>
              </a:rPr>
              <a:t>3</a:t>
            </a:r>
            <a:endParaRPr sz="1100" dirty="0">
              <a:latin typeface="Courier New"/>
              <a:cs typeface="Courier New"/>
            </a:endParaRPr>
          </a:p>
          <a:p>
            <a:pPr marL="79375">
              <a:lnSpc>
                <a:spcPct val="100000"/>
              </a:lnSpc>
              <a:spcBef>
                <a:spcPts val="220"/>
              </a:spcBef>
            </a:pPr>
            <a:r>
              <a:rPr sz="1100" b="1" spc="-5" dirty="0">
                <a:latin typeface="Courier New"/>
                <a:cs typeface="Courier New"/>
              </a:rPr>
              <a:t>pool-1-thread-1:</a:t>
            </a:r>
            <a:r>
              <a:rPr sz="1100" b="1" spc="-105" dirty="0">
                <a:latin typeface="Courier New"/>
                <a:cs typeface="Courier New"/>
              </a:rPr>
              <a:t> </a:t>
            </a:r>
            <a:r>
              <a:rPr sz="1100" b="1" spc="-5" dirty="0">
                <a:latin typeface="Courier New"/>
                <a:cs typeface="Courier New"/>
              </a:rPr>
              <a:t>4</a:t>
            </a:r>
            <a:endParaRPr sz="1100" dirty="0">
              <a:latin typeface="Courier New"/>
              <a:cs typeface="Courier New"/>
            </a:endParaRPr>
          </a:p>
          <a:p>
            <a:pPr marL="79375">
              <a:lnSpc>
                <a:spcPct val="100000"/>
              </a:lnSpc>
              <a:spcBef>
                <a:spcPts val="220"/>
              </a:spcBef>
            </a:pPr>
            <a:r>
              <a:rPr sz="1100" b="1" spc="-5" dirty="0">
                <a:solidFill>
                  <a:srgbClr val="C00000"/>
                </a:solidFill>
                <a:latin typeface="Courier New"/>
                <a:cs typeface="Courier New"/>
              </a:rPr>
              <a:t>pool-1-thread-3:</a:t>
            </a:r>
            <a:r>
              <a:rPr sz="1100" b="1" spc="-105" dirty="0">
                <a:solidFill>
                  <a:srgbClr val="C00000"/>
                </a:solidFill>
                <a:latin typeface="Courier New"/>
                <a:cs typeface="Courier New"/>
              </a:rPr>
              <a:t> </a:t>
            </a:r>
            <a:r>
              <a:rPr sz="1100" b="1" spc="-5" dirty="0">
                <a:solidFill>
                  <a:srgbClr val="C00000"/>
                </a:solidFill>
                <a:latin typeface="Courier New"/>
                <a:cs typeface="Courier New"/>
              </a:rPr>
              <a:t>3</a:t>
            </a:r>
            <a:endParaRPr sz="1100" dirty="0">
              <a:latin typeface="Courier New"/>
              <a:cs typeface="Courier New"/>
            </a:endParaRPr>
          </a:p>
          <a:p>
            <a:pPr marL="79375">
              <a:lnSpc>
                <a:spcPct val="100000"/>
              </a:lnSpc>
              <a:spcBef>
                <a:spcPts val="220"/>
              </a:spcBef>
            </a:pPr>
            <a:r>
              <a:rPr sz="1100" b="1" spc="-5" dirty="0">
                <a:solidFill>
                  <a:srgbClr val="00B0F0"/>
                </a:solidFill>
                <a:latin typeface="Courier New"/>
                <a:cs typeface="Courier New"/>
              </a:rPr>
              <a:t>pool-1-thread-2:</a:t>
            </a:r>
            <a:r>
              <a:rPr sz="1100" b="1" spc="-105" dirty="0">
                <a:solidFill>
                  <a:srgbClr val="00B0F0"/>
                </a:solidFill>
                <a:latin typeface="Courier New"/>
                <a:cs typeface="Courier New"/>
              </a:rPr>
              <a:t> </a:t>
            </a:r>
            <a:r>
              <a:rPr sz="1100" b="1" spc="-5" dirty="0">
                <a:solidFill>
                  <a:srgbClr val="00B0F0"/>
                </a:solidFill>
                <a:latin typeface="Courier New"/>
                <a:cs typeface="Courier New"/>
              </a:rPr>
              <a:t>4</a:t>
            </a:r>
            <a:endParaRPr sz="1100" dirty="0">
              <a:latin typeface="Courier New"/>
              <a:cs typeface="Courier New"/>
            </a:endParaRPr>
          </a:p>
          <a:p>
            <a:pPr marL="79375">
              <a:lnSpc>
                <a:spcPct val="100000"/>
              </a:lnSpc>
              <a:spcBef>
                <a:spcPts val="220"/>
              </a:spcBef>
            </a:pPr>
            <a:r>
              <a:rPr sz="1100" b="1" spc="-5" dirty="0">
                <a:latin typeface="Courier New"/>
                <a:cs typeface="Courier New"/>
              </a:rPr>
              <a:t>pool-1-thread-1:</a:t>
            </a:r>
            <a:r>
              <a:rPr sz="1100" b="1" spc="-105" dirty="0">
                <a:latin typeface="Courier New"/>
                <a:cs typeface="Courier New"/>
              </a:rPr>
              <a:t> </a:t>
            </a:r>
            <a:r>
              <a:rPr sz="1100" b="1" spc="-5" dirty="0">
                <a:latin typeface="Courier New"/>
                <a:cs typeface="Courier New"/>
              </a:rPr>
              <a:t>5</a:t>
            </a:r>
            <a:endParaRPr sz="1100" dirty="0">
              <a:latin typeface="Courier New"/>
              <a:cs typeface="Courier New"/>
            </a:endParaRPr>
          </a:p>
          <a:p>
            <a:pPr marL="51435">
              <a:lnSpc>
                <a:spcPct val="100000"/>
              </a:lnSpc>
              <a:spcBef>
                <a:spcPts val="635"/>
              </a:spcBef>
            </a:pPr>
            <a:endParaRPr sz="700" dirty="0">
              <a:latin typeface="Arial Narrow"/>
              <a:cs typeface="Arial Narrow"/>
            </a:endParaRPr>
          </a:p>
        </p:txBody>
      </p:sp>
      <p:sp>
        <p:nvSpPr>
          <p:cNvPr id="3" name="object 3"/>
          <p:cNvSpPr/>
          <p:nvPr/>
        </p:nvSpPr>
        <p:spPr>
          <a:xfrm>
            <a:off x="654799" y="5968"/>
            <a:ext cx="6463030" cy="5022850"/>
          </a:xfrm>
          <a:custGeom>
            <a:avLst/>
            <a:gdLst/>
            <a:ahLst/>
            <a:cxnLst/>
            <a:rect l="l" t="t" r="r" b="b"/>
            <a:pathLst>
              <a:path w="6463030" h="5022850">
                <a:moveTo>
                  <a:pt x="0" y="0"/>
                </a:moveTo>
                <a:lnTo>
                  <a:pt x="6462801" y="0"/>
                </a:lnTo>
                <a:lnTo>
                  <a:pt x="6462801" y="5022850"/>
                </a:lnTo>
                <a:lnTo>
                  <a:pt x="0" y="5022850"/>
                </a:lnTo>
                <a:lnTo>
                  <a:pt x="0" y="0"/>
                </a:lnTo>
                <a:close/>
              </a:path>
            </a:pathLst>
          </a:custGeom>
          <a:ln w="3175">
            <a:solidFill>
              <a:srgbClr val="000000"/>
            </a:solidFill>
          </a:ln>
        </p:spPr>
        <p:txBody>
          <a:bodyPr wrap="square" lIns="0" tIns="0" rIns="0" bIns="0" rtlCol="0"/>
          <a:lstStyle/>
          <a:p>
            <a:endParaRPr/>
          </a:p>
        </p:txBody>
      </p:sp>
      <p:sp>
        <p:nvSpPr>
          <p:cNvPr id="4" name="object 4"/>
          <p:cNvSpPr/>
          <p:nvPr/>
        </p:nvSpPr>
        <p:spPr>
          <a:xfrm>
            <a:off x="718299" y="5758535"/>
            <a:ext cx="6335801" cy="3563886"/>
          </a:xfrm>
          <a:prstGeom prst="rect">
            <a:avLst/>
          </a:prstGeom>
          <a:blipFill>
            <a:blip r:embed="rId3" cstate="print"/>
            <a:stretch>
              <a:fillRect/>
            </a:stretch>
          </a:blipFill>
        </p:spPr>
        <p:txBody>
          <a:bodyPr wrap="square" lIns="0" tIns="0" rIns="0" bIns="0" rtlCol="0"/>
          <a:lstStyle/>
          <a:p>
            <a:endParaRPr/>
          </a:p>
        </p:txBody>
      </p:sp>
      <p:sp>
        <p:nvSpPr>
          <p:cNvPr id="5" name="object 5"/>
          <p:cNvSpPr/>
          <p:nvPr/>
        </p:nvSpPr>
        <p:spPr>
          <a:xfrm>
            <a:off x="790778" y="8994597"/>
            <a:ext cx="6144895" cy="328295"/>
          </a:xfrm>
          <a:custGeom>
            <a:avLst/>
            <a:gdLst/>
            <a:ahLst/>
            <a:cxnLst/>
            <a:rect l="l" t="t" r="r" b="b"/>
            <a:pathLst>
              <a:path w="6144895" h="328295">
                <a:moveTo>
                  <a:pt x="0" y="327825"/>
                </a:moveTo>
                <a:lnTo>
                  <a:pt x="6144768" y="327825"/>
                </a:lnTo>
                <a:lnTo>
                  <a:pt x="6144768" y="0"/>
                </a:lnTo>
                <a:lnTo>
                  <a:pt x="0" y="0"/>
                </a:lnTo>
                <a:lnTo>
                  <a:pt x="0" y="327825"/>
                </a:lnTo>
                <a:close/>
              </a:path>
            </a:pathLst>
          </a:custGeom>
          <a:solidFill>
            <a:srgbClr val="FFFFFF"/>
          </a:solidFill>
        </p:spPr>
        <p:txBody>
          <a:bodyPr wrap="square" lIns="0" tIns="0" rIns="0" bIns="0" rtlCol="0"/>
          <a:lstStyle/>
          <a:p>
            <a:endParaRPr/>
          </a:p>
        </p:txBody>
      </p:sp>
      <p:sp>
        <p:nvSpPr>
          <p:cNvPr id="6" name="object 6"/>
          <p:cNvSpPr txBox="1"/>
          <p:nvPr/>
        </p:nvSpPr>
        <p:spPr>
          <a:xfrm>
            <a:off x="722134" y="5762371"/>
            <a:ext cx="6327775" cy="3556000"/>
          </a:xfrm>
          <a:prstGeom prst="rect">
            <a:avLst/>
          </a:prstGeom>
          <a:ln w="8153">
            <a:solidFill>
              <a:srgbClr val="000000"/>
            </a:solidFill>
          </a:ln>
        </p:spPr>
        <p:txBody>
          <a:bodyPr vert="horz" wrap="square" lIns="0" tIns="0" rIns="0" bIns="0" rtlCol="0">
            <a:spAutoFit/>
          </a:bodyPr>
          <a:lstStyle/>
          <a:p>
            <a:pPr marL="803275">
              <a:lnSpc>
                <a:spcPts val="2560"/>
              </a:lnSpc>
            </a:pPr>
            <a:r>
              <a:rPr sz="2150" b="1" spc="10" dirty="0">
                <a:solidFill>
                  <a:srgbClr val="FFFFFF"/>
                </a:solidFill>
                <a:latin typeface="Arial Narrow"/>
                <a:cs typeface="Arial Narrow"/>
              </a:rPr>
              <a:t>Pros and Cons of </a:t>
            </a:r>
            <a:r>
              <a:rPr sz="2150" b="1" spc="5" dirty="0">
                <a:solidFill>
                  <a:srgbClr val="FFFFFF"/>
                </a:solidFill>
                <a:latin typeface="Arial Narrow"/>
                <a:cs typeface="Arial Narrow"/>
              </a:rPr>
              <a:t>Separate-Class</a:t>
            </a:r>
            <a:r>
              <a:rPr sz="2150" b="1" spc="-40" dirty="0">
                <a:solidFill>
                  <a:srgbClr val="FFFFFF"/>
                </a:solidFill>
                <a:latin typeface="Arial Narrow"/>
                <a:cs typeface="Arial Narrow"/>
              </a:rPr>
              <a:t> </a:t>
            </a:r>
            <a:r>
              <a:rPr sz="2150" b="1" spc="10" dirty="0">
                <a:solidFill>
                  <a:srgbClr val="FFFFFF"/>
                </a:solidFill>
                <a:latin typeface="Arial Narrow"/>
                <a:cs typeface="Arial Narrow"/>
              </a:rPr>
              <a:t>Approach</a:t>
            </a:r>
            <a:endParaRPr sz="2150">
              <a:latin typeface="Arial Narrow"/>
              <a:cs typeface="Arial Narrow"/>
            </a:endParaRPr>
          </a:p>
          <a:p>
            <a:pPr marL="257175" indent="-177800">
              <a:lnSpc>
                <a:spcPct val="100000"/>
              </a:lnSpc>
              <a:spcBef>
                <a:spcPts val="835"/>
              </a:spcBef>
              <a:buClr>
                <a:srgbClr val="CC0000"/>
              </a:buClr>
              <a:buFont typeface="Arial"/>
              <a:buChar char="•"/>
              <a:tabLst>
                <a:tab pos="257810" algn="l"/>
              </a:tabLst>
            </a:pPr>
            <a:r>
              <a:rPr sz="1450" b="1" dirty="0">
                <a:latin typeface="Arial"/>
                <a:cs typeface="Arial"/>
              </a:rPr>
              <a:t>Advantages</a:t>
            </a:r>
            <a:endParaRPr sz="1450">
              <a:latin typeface="Arial"/>
              <a:cs typeface="Arial"/>
            </a:endParaRPr>
          </a:p>
          <a:p>
            <a:pPr marL="464820" lvl="1" indent="-147955">
              <a:lnSpc>
                <a:spcPct val="100000"/>
              </a:lnSpc>
              <a:spcBef>
                <a:spcPts val="254"/>
              </a:spcBef>
              <a:buClr>
                <a:srgbClr val="CC0000"/>
              </a:buClr>
              <a:buChar char="–"/>
              <a:tabLst>
                <a:tab pos="465455" algn="l"/>
              </a:tabLst>
            </a:pPr>
            <a:r>
              <a:rPr sz="1250" spc="-5" dirty="0">
                <a:latin typeface="Times New Roman"/>
                <a:cs typeface="Times New Roman"/>
              </a:rPr>
              <a:t>Loose</a:t>
            </a:r>
            <a:r>
              <a:rPr sz="1250" spc="-55" dirty="0">
                <a:latin typeface="Times New Roman"/>
                <a:cs typeface="Times New Roman"/>
              </a:rPr>
              <a:t> </a:t>
            </a:r>
            <a:r>
              <a:rPr sz="1250" spc="-10" dirty="0">
                <a:latin typeface="Times New Roman"/>
                <a:cs typeface="Times New Roman"/>
              </a:rPr>
              <a:t>coupling</a:t>
            </a:r>
            <a:endParaRPr sz="1250">
              <a:latin typeface="Times New Roman"/>
              <a:cs typeface="Times New Roman"/>
            </a:endParaRPr>
          </a:p>
          <a:p>
            <a:pPr marL="673100" lvl="2" indent="-118745">
              <a:lnSpc>
                <a:spcPct val="100000"/>
              </a:lnSpc>
              <a:spcBef>
                <a:spcPts val="150"/>
              </a:spcBef>
              <a:buClr>
                <a:srgbClr val="CC0000"/>
              </a:buClr>
              <a:buChar char="•"/>
              <a:tabLst>
                <a:tab pos="673735" algn="l"/>
              </a:tabLst>
            </a:pPr>
            <a:r>
              <a:rPr sz="1000" spc="20" dirty="0">
                <a:latin typeface="Arial"/>
                <a:cs typeface="Arial"/>
              </a:rPr>
              <a:t>Can change </a:t>
            </a:r>
            <a:r>
              <a:rPr sz="1000" spc="15" dirty="0">
                <a:latin typeface="Arial"/>
                <a:cs typeface="Arial"/>
              </a:rPr>
              <a:t>pieces</a:t>
            </a:r>
            <a:r>
              <a:rPr sz="1000" spc="-35" dirty="0">
                <a:latin typeface="Arial"/>
                <a:cs typeface="Arial"/>
              </a:rPr>
              <a:t> </a:t>
            </a:r>
            <a:r>
              <a:rPr sz="1000" spc="15" dirty="0">
                <a:latin typeface="Arial"/>
                <a:cs typeface="Arial"/>
              </a:rPr>
              <a:t>independently</a:t>
            </a:r>
            <a:endParaRPr sz="1000">
              <a:latin typeface="Arial"/>
              <a:cs typeface="Arial"/>
            </a:endParaRPr>
          </a:p>
          <a:p>
            <a:pPr marL="673100" lvl="2" indent="-118745">
              <a:lnSpc>
                <a:spcPct val="100000"/>
              </a:lnSpc>
              <a:spcBef>
                <a:spcPts val="145"/>
              </a:spcBef>
              <a:buClr>
                <a:srgbClr val="CC0000"/>
              </a:buClr>
              <a:buChar char="•"/>
              <a:tabLst>
                <a:tab pos="673735" algn="l"/>
              </a:tabLst>
            </a:pPr>
            <a:r>
              <a:rPr sz="1000" spc="20" dirty="0">
                <a:latin typeface="Arial"/>
                <a:cs typeface="Arial"/>
              </a:rPr>
              <a:t>Can </a:t>
            </a:r>
            <a:r>
              <a:rPr sz="1000" spc="15" dirty="0">
                <a:latin typeface="Arial"/>
                <a:cs typeface="Arial"/>
              </a:rPr>
              <a:t>reuse </a:t>
            </a:r>
            <a:r>
              <a:rPr sz="1000" spc="20" dirty="0">
                <a:latin typeface="Arial"/>
                <a:cs typeface="Arial"/>
              </a:rPr>
              <a:t>Runnable </a:t>
            </a:r>
            <a:r>
              <a:rPr sz="1000" spc="15" dirty="0">
                <a:latin typeface="Arial"/>
                <a:cs typeface="Arial"/>
              </a:rPr>
              <a:t>class in </a:t>
            </a:r>
            <a:r>
              <a:rPr sz="1000" spc="20" dirty="0">
                <a:latin typeface="Arial"/>
                <a:cs typeface="Arial"/>
              </a:rPr>
              <a:t>more </a:t>
            </a:r>
            <a:r>
              <a:rPr sz="1000" spc="15" dirty="0">
                <a:latin typeface="Arial"/>
                <a:cs typeface="Arial"/>
              </a:rPr>
              <a:t>than </a:t>
            </a:r>
            <a:r>
              <a:rPr sz="1000" spc="20" dirty="0">
                <a:latin typeface="Arial"/>
                <a:cs typeface="Arial"/>
              </a:rPr>
              <a:t>one</a:t>
            </a:r>
            <a:r>
              <a:rPr sz="1000" spc="-85" dirty="0">
                <a:latin typeface="Arial"/>
                <a:cs typeface="Arial"/>
              </a:rPr>
              <a:t> </a:t>
            </a:r>
            <a:r>
              <a:rPr sz="1000" spc="15" dirty="0">
                <a:latin typeface="Arial"/>
                <a:cs typeface="Arial"/>
              </a:rPr>
              <a:t>application</a:t>
            </a:r>
            <a:endParaRPr sz="1000">
              <a:latin typeface="Arial"/>
              <a:cs typeface="Arial"/>
            </a:endParaRPr>
          </a:p>
          <a:p>
            <a:pPr marL="464820" lvl="1" indent="-147955">
              <a:lnSpc>
                <a:spcPct val="100000"/>
              </a:lnSpc>
              <a:spcBef>
                <a:spcPts val="250"/>
              </a:spcBef>
              <a:buClr>
                <a:srgbClr val="CC0000"/>
              </a:buClr>
              <a:buChar char="–"/>
              <a:tabLst>
                <a:tab pos="465455" algn="l"/>
              </a:tabLst>
            </a:pPr>
            <a:r>
              <a:rPr sz="1250" spc="-10" dirty="0">
                <a:latin typeface="Times New Roman"/>
                <a:cs typeface="Times New Roman"/>
              </a:rPr>
              <a:t>Passing</a:t>
            </a:r>
            <a:r>
              <a:rPr sz="1250" spc="-40" dirty="0">
                <a:latin typeface="Times New Roman"/>
                <a:cs typeface="Times New Roman"/>
              </a:rPr>
              <a:t> </a:t>
            </a:r>
            <a:r>
              <a:rPr sz="1250" spc="-5" dirty="0">
                <a:latin typeface="Times New Roman"/>
                <a:cs typeface="Times New Roman"/>
              </a:rPr>
              <a:t>arguments</a:t>
            </a:r>
            <a:endParaRPr sz="1250">
              <a:latin typeface="Times New Roman"/>
              <a:cs typeface="Times New Roman"/>
            </a:endParaRPr>
          </a:p>
          <a:p>
            <a:pPr marL="673100" marR="248920" lvl="2" indent="-118745">
              <a:lnSpc>
                <a:spcPts val="1160"/>
              </a:lnSpc>
              <a:spcBef>
                <a:spcPts val="225"/>
              </a:spcBef>
              <a:buClr>
                <a:srgbClr val="CC0000"/>
              </a:buClr>
              <a:buChar char="•"/>
              <a:tabLst>
                <a:tab pos="673735" algn="l"/>
              </a:tabLst>
            </a:pPr>
            <a:r>
              <a:rPr sz="1000" spc="5" dirty="0">
                <a:latin typeface="Arial"/>
                <a:cs typeface="Arial"/>
              </a:rPr>
              <a:t>If </a:t>
            </a:r>
            <a:r>
              <a:rPr sz="1000" spc="15" dirty="0">
                <a:latin typeface="Arial"/>
                <a:cs typeface="Arial"/>
              </a:rPr>
              <a:t>you want </a:t>
            </a:r>
            <a:r>
              <a:rPr sz="1000" spc="10" dirty="0">
                <a:latin typeface="Arial"/>
                <a:cs typeface="Arial"/>
              </a:rPr>
              <a:t>different threads to </a:t>
            </a:r>
            <a:r>
              <a:rPr sz="1000" spc="15" dirty="0">
                <a:latin typeface="Arial"/>
                <a:cs typeface="Arial"/>
              </a:rPr>
              <a:t>do </a:t>
            </a:r>
            <a:r>
              <a:rPr sz="1000" spc="10" dirty="0">
                <a:latin typeface="Arial"/>
                <a:cs typeface="Arial"/>
              </a:rPr>
              <a:t>different </a:t>
            </a:r>
            <a:r>
              <a:rPr sz="1000" spc="15" dirty="0">
                <a:latin typeface="Arial"/>
                <a:cs typeface="Arial"/>
              </a:rPr>
              <a:t>things, </a:t>
            </a:r>
            <a:r>
              <a:rPr sz="1000" spc="20" dirty="0">
                <a:latin typeface="Arial"/>
                <a:cs typeface="Arial"/>
              </a:rPr>
              <a:t>you pass </a:t>
            </a:r>
            <a:r>
              <a:rPr sz="1000" spc="15" dirty="0">
                <a:latin typeface="Arial"/>
                <a:cs typeface="Arial"/>
              </a:rPr>
              <a:t>args to constructor, </a:t>
            </a:r>
            <a:r>
              <a:rPr sz="1000" spc="20" dirty="0">
                <a:latin typeface="Arial"/>
                <a:cs typeface="Arial"/>
              </a:rPr>
              <a:t>which </a:t>
            </a:r>
            <a:r>
              <a:rPr sz="1000" spc="15" dirty="0">
                <a:latin typeface="Arial"/>
                <a:cs typeface="Arial"/>
              </a:rPr>
              <a:t>stores  </a:t>
            </a:r>
            <a:r>
              <a:rPr sz="1000" spc="20" dirty="0">
                <a:latin typeface="Arial"/>
                <a:cs typeface="Arial"/>
              </a:rPr>
              <a:t>them </a:t>
            </a:r>
            <a:r>
              <a:rPr sz="1000" spc="15" dirty="0">
                <a:latin typeface="Arial"/>
                <a:cs typeface="Arial"/>
              </a:rPr>
              <a:t>in instance variables that run </a:t>
            </a:r>
            <a:r>
              <a:rPr sz="1000" spc="20" dirty="0">
                <a:latin typeface="Arial"/>
                <a:cs typeface="Arial"/>
              </a:rPr>
              <a:t>method</a:t>
            </a:r>
            <a:r>
              <a:rPr sz="1000" spc="-75" dirty="0">
                <a:latin typeface="Arial"/>
                <a:cs typeface="Arial"/>
              </a:rPr>
              <a:t> </a:t>
            </a:r>
            <a:r>
              <a:rPr sz="1000" spc="20" dirty="0">
                <a:latin typeface="Arial"/>
                <a:cs typeface="Arial"/>
              </a:rPr>
              <a:t>uses</a:t>
            </a:r>
            <a:endParaRPr sz="1000">
              <a:latin typeface="Arial"/>
              <a:cs typeface="Arial"/>
            </a:endParaRPr>
          </a:p>
          <a:p>
            <a:pPr marL="464820" lvl="1" indent="-147955">
              <a:lnSpc>
                <a:spcPct val="100000"/>
              </a:lnSpc>
              <a:spcBef>
                <a:spcPts val="215"/>
              </a:spcBef>
              <a:buClr>
                <a:srgbClr val="CC0000"/>
              </a:buClr>
              <a:buChar char="–"/>
              <a:tabLst>
                <a:tab pos="465455" algn="l"/>
              </a:tabLst>
            </a:pPr>
            <a:r>
              <a:rPr sz="1250" spc="-10" dirty="0">
                <a:latin typeface="Times New Roman"/>
                <a:cs typeface="Times New Roman"/>
              </a:rPr>
              <a:t>Little danger </a:t>
            </a:r>
            <a:r>
              <a:rPr sz="1250" spc="-5" dirty="0">
                <a:latin typeface="Times New Roman"/>
                <a:cs typeface="Times New Roman"/>
              </a:rPr>
              <a:t>of race</a:t>
            </a:r>
            <a:r>
              <a:rPr sz="1250" dirty="0">
                <a:latin typeface="Times New Roman"/>
                <a:cs typeface="Times New Roman"/>
              </a:rPr>
              <a:t> </a:t>
            </a:r>
            <a:r>
              <a:rPr sz="1250" spc="-10" dirty="0">
                <a:latin typeface="Times New Roman"/>
                <a:cs typeface="Times New Roman"/>
              </a:rPr>
              <a:t>conditions</a:t>
            </a:r>
            <a:endParaRPr sz="1250">
              <a:latin typeface="Times New Roman"/>
              <a:cs typeface="Times New Roman"/>
            </a:endParaRPr>
          </a:p>
          <a:p>
            <a:pPr marL="673100" marR="354330" lvl="2" indent="-118745">
              <a:lnSpc>
                <a:spcPts val="1160"/>
              </a:lnSpc>
              <a:spcBef>
                <a:spcPts val="225"/>
              </a:spcBef>
              <a:buClr>
                <a:srgbClr val="CC0000"/>
              </a:buClr>
              <a:buChar char="•"/>
              <a:tabLst>
                <a:tab pos="673735" algn="l"/>
              </a:tabLst>
            </a:pPr>
            <a:r>
              <a:rPr sz="1000" spc="20" dirty="0">
                <a:latin typeface="Arial"/>
                <a:cs typeface="Arial"/>
              </a:rPr>
              <a:t>You </a:t>
            </a:r>
            <a:r>
              <a:rPr sz="1000" spc="15" dirty="0">
                <a:latin typeface="Arial"/>
                <a:cs typeface="Arial"/>
              </a:rPr>
              <a:t>usually </a:t>
            </a:r>
            <a:r>
              <a:rPr sz="1000" spc="20" dirty="0">
                <a:latin typeface="Arial"/>
                <a:cs typeface="Arial"/>
              </a:rPr>
              <a:t>use </a:t>
            </a:r>
            <a:r>
              <a:rPr sz="1000" spc="15" dirty="0">
                <a:latin typeface="Arial"/>
                <a:cs typeface="Arial"/>
              </a:rPr>
              <a:t>this </a:t>
            </a:r>
            <a:r>
              <a:rPr sz="1000" spc="20" dirty="0">
                <a:latin typeface="Arial"/>
                <a:cs typeface="Arial"/>
              </a:rPr>
              <a:t>approach when </a:t>
            </a:r>
            <a:r>
              <a:rPr sz="1000" spc="15" dirty="0">
                <a:latin typeface="Arial"/>
                <a:cs typeface="Arial"/>
              </a:rPr>
              <a:t>there </a:t>
            </a:r>
            <a:r>
              <a:rPr sz="1000" spc="10" dirty="0">
                <a:latin typeface="Arial"/>
                <a:cs typeface="Arial"/>
              </a:rPr>
              <a:t>is </a:t>
            </a:r>
            <a:r>
              <a:rPr sz="1000" spc="20" dirty="0">
                <a:latin typeface="Arial"/>
                <a:cs typeface="Arial"/>
              </a:rPr>
              <a:t>no </a:t>
            </a:r>
            <a:r>
              <a:rPr sz="1000" spc="15" dirty="0">
                <a:latin typeface="Arial"/>
                <a:cs typeface="Arial"/>
              </a:rPr>
              <a:t>data </a:t>
            </a:r>
            <a:r>
              <a:rPr sz="1000" spc="20" dirty="0">
                <a:latin typeface="Arial"/>
                <a:cs typeface="Arial"/>
              </a:rPr>
              <a:t>shared among </a:t>
            </a:r>
            <a:r>
              <a:rPr sz="1000" spc="15" dirty="0">
                <a:latin typeface="Arial"/>
                <a:cs typeface="Arial"/>
              </a:rPr>
              <a:t>threads, </a:t>
            </a:r>
            <a:r>
              <a:rPr sz="1000" spc="20" dirty="0">
                <a:latin typeface="Arial"/>
                <a:cs typeface="Arial"/>
              </a:rPr>
              <a:t>so no need</a:t>
            </a:r>
            <a:r>
              <a:rPr sz="1000" spc="-145" dirty="0">
                <a:latin typeface="Arial"/>
                <a:cs typeface="Arial"/>
              </a:rPr>
              <a:t> </a:t>
            </a:r>
            <a:r>
              <a:rPr sz="1000" spc="15" dirty="0">
                <a:latin typeface="Arial"/>
                <a:cs typeface="Arial"/>
              </a:rPr>
              <a:t>to  synchronize.</a:t>
            </a:r>
            <a:endParaRPr sz="1000">
              <a:latin typeface="Arial"/>
              <a:cs typeface="Arial"/>
            </a:endParaRPr>
          </a:p>
          <a:p>
            <a:pPr marL="257175" indent="-177800">
              <a:lnSpc>
                <a:spcPct val="100000"/>
              </a:lnSpc>
              <a:spcBef>
                <a:spcPts val="210"/>
              </a:spcBef>
              <a:buClr>
                <a:srgbClr val="CC0000"/>
              </a:buClr>
              <a:buFont typeface="Arial"/>
              <a:buChar char="•"/>
              <a:tabLst>
                <a:tab pos="257810" algn="l"/>
              </a:tabLst>
            </a:pPr>
            <a:r>
              <a:rPr sz="1450" b="1" dirty="0">
                <a:latin typeface="Arial"/>
                <a:cs typeface="Arial"/>
              </a:rPr>
              <a:t>Disadvantages</a:t>
            </a:r>
            <a:endParaRPr sz="1450">
              <a:latin typeface="Arial"/>
              <a:cs typeface="Arial"/>
            </a:endParaRPr>
          </a:p>
          <a:p>
            <a:pPr marL="464820" lvl="1" indent="-147955">
              <a:lnSpc>
                <a:spcPct val="100000"/>
              </a:lnSpc>
              <a:spcBef>
                <a:spcPts val="254"/>
              </a:spcBef>
              <a:buClr>
                <a:srgbClr val="CC0000"/>
              </a:buClr>
              <a:buChar char="–"/>
              <a:tabLst>
                <a:tab pos="465455" algn="l"/>
              </a:tabLst>
            </a:pPr>
            <a:r>
              <a:rPr sz="1250" spc="-10" dirty="0">
                <a:latin typeface="Times New Roman"/>
                <a:cs typeface="Times New Roman"/>
              </a:rPr>
              <a:t>Hard </a:t>
            </a:r>
            <a:r>
              <a:rPr sz="1250" spc="-5" dirty="0">
                <a:latin typeface="Times New Roman"/>
                <a:cs typeface="Times New Roman"/>
              </a:rPr>
              <a:t>to </a:t>
            </a:r>
            <a:r>
              <a:rPr sz="1250" spc="-10" dirty="0">
                <a:latin typeface="Times New Roman"/>
                <a:cs typeface="Times New Roman"/>
              </a:rPr>
              <a:t>access main app</a:t>
            </a:r>
            <a:endParaRPr sz="1250">
              <a:latin typeface="Times New Roman"/>
              <a:cs typeface="Times New Roman"/>
            </a:endParaRPr>
          </a:p>
          <a:p>
            <a:pPr marL="673100" lvl="2" indent="-118745">
              <a:lnSpc>
                <a:spcPct val="100000"/>
              </a:lnSpc>
              <a:spcBef>
                <a:spcPts val="150"/>
              </a:spcBef>
              <a:buClr>
                <a:srgbClr val="CC0000"/>
              </a:buClr>
              <a:buChar char="•"/>
              <a:tabLst>
                <a:tab pos="673735" algn="l"/>
              </a:tabLst>
            </a:pPr>
            <a:r>
              <a:rPr sz="1000" spc="10" dirty="0">
                <a:latin typeface="Arial"/>
                <a:cs typeface="Arial"/>
              </a:rPr>
              <a:t>If </a:t>
            </a:r>
            <a:r>
              <a:rPr sz="1000" spc="20" dirty="0">
                <a:latin typeface="Arial"/>
                <a:cs typeface="Arial"/>
              </a:rPr>
              <a:t>you want </a:t>
            </a:r>
            <a:r>
              <a:rPr sz="1000" spc="15" dirty="0">
                <a:latin typeface="Arial"/>
                <a:cs typeface="Arial"/>
              </a:rPr>
              <a:t>to </a:t>
            </a:r>
            <a:r>
              <a:rPr sz="1000" spc="10" dirty="0">
                <a:latin typeface="Arial"/>
                <a:cs typeface="Arial"/>
              </a:rPr>
              <a:t>call </a:t>
            </a:r>
            <a:r>
              <a:rPr sz="1000" spc="20" dirty="0">
                <a:latin typeface="Arial"/>
                <a:cs typeface="Arial"/>
              </a:rPr>
              <a:t>methods </a:t>
            </a:r>
            <a:r>
              <a:rPr sz="1000" spc="15" dirty="0">
                <a:latin typeface="Arial"/>
                <a:cs typeface="Arial"/>
              </a:rPr>
              <a:t>in </a:t>
            </a:r>
            <a:r>
              <a:rPr sz="1000" spc="20" dirty="0">
                <a:latin typeface="Arial"/>
                <a:cs typeface="Arial"/>
              </a:rPr>
              <a:t>main </a:t>
            </a:r>
            <a:r>
              <a:rPr sz="1000" spc="15" dirty="0">
                <a:latin typeface="Arial"/>
                <a:cs typeface="Arial"/>
              </a:rPr>
              <a:t>app, </a:t>
            </a:r>
            <a:r>
              <a:rPr sz="1000" spc="20" dirty="0">
                <a:latin typeface="Arial"/>
                <a:cs typeface="Arial"/>
              </a:rPr>
              <a:t>you</a:t>
            </a:r>
            <a:r>
              <a:rPr sz="1000" spc="-125" dirty="0">
                <a:latin typeface="Arial"/>
                <a:cs typeface="Arial"/>
              </a:rPr>
              <a:t> </a:t>
            </a:r>
            <a:r>
              <a:rPr sz="1000" spc="20" dirty="0">
                <a:latin typeface="Arial"/>
                <a:cs typeface="Arial"/>
              </a:rPr>
              <a:t>must</a:t>
            </a:r>
            <a:endParaRPr sz="1000">
              <a:latin typeface="Arial"/>
              <a:cs typeface="Arial"/>
            </a:endParaRPr>
          </a:p>
          <a:p>
            <a:pPr marL="911225" lvl="3" indent="-119380">
              <a:lnSpc>
                <a:spcPct val="100000"/>
              </a:lnSpc>
              <a:spcBef>
                <a:spcPts val="285"/>
              </a:spcBef>
              <a:buClr>
                <a:srgbClr val="CC0000"/>
              </a:buClr>
              <a:buChar char="–"/>
              <a:tabLst>
                <a:tab pos="911860" algn="l"/>
              </a:tabLst>
            </a:pPr>
            <a:r>
              <a:rPr sz="850" spc="15" dirty="0">
                <a:latin typeface="Arial"/>
                <a:cs typeface="Arial"/>
              </a:rPr>
              <a:t>Pass reference </a:t>
            </a:r>
            <a:r>
              <a:rPr sz="850" spc="10" dirty="0">
                <a:latin typeface="Arial"/>
                <a:cs typeface="Arial"/>
              </a:rPr>
              <a:t>to </a:t>
            </a:r>
            <a:r>
              <a:rPr sz="850" spc="15" dirty="0">
                <a:latin typeface="Arial"/>
                <a:cs typeface="Arial"/>
              </a:rPr>
              <a:t>main app </a:t>
            </a:r>
            <a:r>
              <a:rPr sz="850" spc="10" dirty="0">
                <a:latin typeface="Arial"/>
                <a:cs typeface="Arial"/>
              </a:rPr>
              <a:t>to </a:t>
            </a:r>
            <a:r>
              <a:rPr sz="850" spc="15" dirty="0">
                <a:latin typeface="Arial"/>
                <a:cs typeface="Arial"/>
              </a:rPr>
              <a:t>constructor, which stores</a:t>
            </a:r>
            <a:r>
              <a:rPr sz="850" spc="-5" dirty="0">
                <a:latin typeface="Arial"/>
                <a:cs typeface="Arial"/>
              </a:rPr>
              <a:t> </a:t>
            </a:r>
            <a:r>
              <a:rPr sz="850" spc="5" dirty="0">
                <a:latin typeface="Arial"/>
                <a:cs typeface="Arial"/>
              </a:rPr>
              <a:t>it</a:t>
            </a:r>
            <a:endParaRPr sz="850">
              <a:latin typeface="Arial"/>
              <a:cs typeface="Arial"/>
            </a:endParaRPr>
          </a:p>
          <a:p>
            <a:pPr marL="911225" lvl="3" indent="-119380">
              <a:lnSpc>
                <a:spcPct val="100000"/>
              </a:lnSpc>
              <a:spcBef>
                <a:spcPts val="280"/>
              </a:spcBef>
              <a:buClr>
                <a:srgbClr val="CC0000"/>
              </a:buClr>
              <a:buChar char="–"/>
              <a:tabLst>
                <a:tab pos="911860" algn="l"/>
              </a:tabLst>
            </a:pPr>
            <a:r>
              <a:rPr sz="850" spc="20" dirty="0">
                <a:latin typeface="Arial"/>
                <a:cs typeface="Arial"/>
              </a:rPr>
              <a:t>Make </a:t>
            </a:r>
            <a:r>
              <a:rPr sz="850" spc="15" dirty="0">
                <a:latin typeface="Arial"/>
                <a:cs typeface="Arial"/>
              </a:rPr>
              <a:t>methods </a:t>
            </a:r>
            <a:r>
              <a:rPr sz="850" spc="10" dirty="0">
                <a:latin typeface="Arial"/>
                <a:cs typeface="Arial"/>
              </a:rPr>
              <a:t>in </a:t>
            </a:r>
            <a:r>
              <a:rPr sz="850" spc="15" dirty="0">
                <a:latin typeface="Arial"/>
                <a:cs typeface="Arial"/>
              </a:rPr>
              <a:t>main app be</a:t>
            </a:r>
            <a:r>
              <a:rPr sz="850" spc="-20" dirty="0">
                <a:latin typeface="Arial"/>
                <a:cs typeface="Arial"/>
              </a:rPr>
              <a:t> </a:t>
            </a:r>
            <a:r>
              <a:rPr sz="850" spc="10" dirty="0">
                <a:latin typeface="Arial"/>
                <a:cs typeface="Arial"/>
              </a:rPr>
              <a:t>public</a:t>
            </a:r>
            <a:endParaRPr sz="850">
              <a:latin typeface="Arial"/>
              <a:cs typeface="Arial"/>
            </a:endParaRPr>
          </a:p>
        </p:txBody>
      </p:sp>
      <p:sp>
        <p:nvSpPr>
          <p:cNvPr id="7" name="object 7"/>
          <p:cNvSpPr/>
          <p:nvPr/>
        </p:nvSpPr>
        <p:spPr>
          <a:xfrm>
            <a:off x="654799" y="5028819"/>
            <a:ext cx="6463030" cy="5022850"/>
          </a:xfrm>
          <a:custGeom>
            <a:avLst/>
            <a:gdLst/>
            <a:ahLst/>
            <a:cxnLst/>
            <a:rect l="l" t="t" r="r" b="b"/>
            <a:pathLst>
              <a:path w="6463030" h="5022850">
                <a:moveTo>
                  <a:pt x="0" y="0"/>
                </a:moveTo>
                <a:lnTo>
                  <a:pt x="6462801" y="0"/>
                </a:lnTo>
                <a:lnTo>
                  <a:pt x="6462801" y="5022850"/>
                </a:lnTo>
                <a:lnTo>
                  <a:pt x="0" y="5022850"/>
                </a:lnTo>
                <a:lnTo>
                  <a:pt x="0" y="0"/>
                </a:lnTo>
                <a:close/>
              </a:path>
            </a:pathLst>
          </a:custGeom>
          <a:ln w="3175">
            <a:solidFill>
              <a:srgbClr val="000000"/>
            </a:solidFill>
          </a:ln>
        </p:spPr>
        <p:txBody>
          <a:bodyPr wrap="square" lIns="0" tIns="0" rIns="0" bIns="0" rtlCol="0"/>
          <a:lstStyle/>
          <a:p>
            <a:endParaRPr/>
          </a:p>
        </p:txBody>
      </p:sp>
      <p:sp>
        <p:nvSpPr>
          <p:cNvPr id="8" name="object 8"/>
          <p:cNvSpPr txBox="1">
            <a:spLocks noGrp="1"/>
          </p:cNvSpPr>
          <p:nvPr>
            <p:ph type="sldNum" sz="quarter" idx="7"/>
          </p:nvPr>
        </p:nvSpPr>
        <p:spPr>
          <a:xfrm>
            <a:off x="752415" y="9179425"/>
            <a:ext cx="122555" cy="102592"/>
          </a:xfrm>
          <a:prstGeom prst="rect">
            <a:avLst/>
          </a:prstGeom>
        </p:spPr>
        <p:txBody>
          <a:bodyPr vert="horz" wrap="square" lIns="0" tIns="0" rIns="0" bIns="0" rtlCol="0">
            <a:spAutoFit/>
          </a:bodyPr>
          <a:lstStyle/>
          <a:p>
            <a:pPr marL="25400">
              <a:lnSpc>
                <a:spcPts val="835"/>
              </a:lnSpc>
            </a:pPr>
            <a:endParaRPr spc="1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718299" y="735685"/>
            <a:ext cx="6336030" cy="3564254"/>
          </a:xfrm>
          <a:custGeom>
            <a:avLst/>
            <a:gdLst/>
            <a:ahLst/>
            <a:cxnLst/>
            <a:rect l="l" t="t" r="r" b="b"/>
            <a:pathLst>
              <a:path w="6336030" h="3564254">
                <a:moveTo>
                  <a:pt x="0" y="3563886"/>
                </a:moveTo>
                <a:lnTo>
                  <a:pt x="6335801" y="3563886"/>
                </a:lnTo>
                <a:lnTo>
                  <a:pt x="6335801" y="0"/>
                </a:lnTo>
                <a:lnTo>
                  <a:pt x="0" y="0"/>
                </a:lnTo>
                <a:lnTo>
                  <a:pt x="0" y="3563886"/>
                </a:lnTo>
                <a:close/>
              </a:path>
            </a:pathLst>
          </a:custGeom>
          <a:solidFill>
            <a:srgbClr val="B2B2B2"/>
          </a:solidFill>
        </p:spPr>
        <p:txBody>
          <a:bodyPr wrap="square" lIns="0" tIns="0" rIns="0" bIns="0" rtlCol="0"/>
          <a:lstStyle/>
          <a:p>
            <a:endParaRPr/>
          </a:p>
        </p:txBody>
      </p:sp>
      <p:sp>
        <p:nvSpPr>
          <p:cNvPr id="10" name="object 10"/>
          <p:cNvSpPr/>
          <p:nvPr/>
        </p:nvSpPr>
        <p:spPr>
          <a:xfrm>
            <a:off x="795096" y="3700081"/>
            <a:ext cx="322910" cy="587501"/>
          </a:xfrm>
          <a:prstGeom prst="rect">
            <a:avLst/>
          </a:prstGeom>
          <a:blipFill>
            <a:blip r:embed="rId3" cstate="print"/>
            <a:stretch>
              <a:fillRect/>
            </a:stretch>
          </a:blipFill>
        </p:spPr>
        <p:txBody>
          <a:bodyPr wrap="square" lIns="0" tIns="0" rIns="0" bIns="0" rtlCol="0"/>
          <a:lstStyle/>
          <a:p>
            <a:endParaRPr/>
          </a:p>
        </p:txBody>
      </p:sp>
      <p:sp>
        <p:nvSpPr>
          <p:cNvPr id="11" name="object 11"/>
          <p:cNvSpPr txBox="1"/>
          <p:nvPr/>
        </p:nvSpPr>
        <p:spPr>
          <a:xfrm>
            <a:off x="722134" y="739533"/>
            <a:ext cx="6327775" cy="2269852"/>
          </a:xfrm>
          <a:prstGeom prst="rect">
            <a:avLst/>
          </a:prstGeom>
          <a:ln w="8153">
            <a:solidFill>
              <a:srgbClr val="000000"/>
            </a:solidFill>
          </a:ln>
        </p:spPr>
        <p:txBody>
          <a:bodyPr vert="horz" wrap="square" lIns="0" tIns="10160" rIns="0" bIns="0" rtlCol="0">
            <a:spAutoFit/>
          </a:bodyPr>
          <a:lstStyle/>
          <a:p>
            <a:pPr>
              <a:lnSpc>
                <a:spcPct val="100000"/>
              </a:lnSpc>
            </a:pPr>
            <a:endParaRPr sz="1200" dirty="0">
              <a:latin typeface="Times New Roman"/>
              <a:cs typeface="Times New Roman"/>
            </a:endParaRPr>
          </a:p>
          <a:p>
            <a:pPr>
              <a:lnSpc>
                <a:spcPct val="100000"/>
              </a:lnSpc>
            </a:pPr>
            <a:endParaRPr sz="1200" dirty="0">
              <a:latin typeface="Times New Roman"/>
              <a:cs typeface="Times New Roman"/>
            </a:endParaRPr>
          </a:p>
          <a:p>
            <a:pPr>
              <a:lnSpc>
                <a:spcPct val="100000"/>
              </a:lnSpc>
            </a:pPr>
            <a:endParaRPr sz="1200" dirty="0">
              <a:latin typeface="Times New Roman"/>
              <a:cs typeface="Times New Roman"/>
            </a:endParaRPr>
          </a:p>
          <a:p>
            <a:pPr marL="525780" marR="591820" algn="ctr">
              <a:lnSpc>
                <a:spcPts val="4240"/>
              </a:lnSpc>
              <a:spcBef>
                <a:spcPts val="730"/>
              </a:spcBef>
            </a:pPr>
            <a:r>
              <a:rPr sz="4150" b="1" dirty="0">
                <a:solidFill>
                  <a:srgbClr val="FF0000"/>
                </a:solidFill>
                <a:latin typeface="Arial"/>
                <a:cs typeface="Arial"/>
              </a:rPr>
              <a:t>Approach Two: Main  </a:t>
            </a:r>
            <a:r>
              <a:rPr sz="4150" b="1" spc="5" dirty="0">
                <a:solidFill>
                  <a:srgbClr val="FF0000"/>
                </a:solidFill>
                <a:latin typeface="Arial"/>
                <a:cs typeface="Arial"/>
              </a:rPr>
              <a:t>App </a:t>
            </a:r>
            <a:r>
              <a:rPr sz="4150" b="1" dirty="0">
                <a:solidFill>
                  <a:srgbClr val="FF0000"/>
                </a:solidFill>
                <a:latin typeface="Arial"/>
                <a:cs typeface="Arial"/>
              </a:rPr>
              <a:t>Implements  </a:t>
            </a:r>
            <a:r>
              <a:rPr sz="4150" b="1" dirty="0" smtClean="0">
                <a:solidFill>
                  <a:srgbClr val="FF0000"/>
                </a:solidFill>
                <a:latin typeface="Arial"/>
                <a:cs typeface="Arial"/>
              </a:rPr>
              <a:t>Runnable</a:t>
            </a:r>
            <a:endParaRPr sz="4150" dirty="0">
              <a:latin typeface="Arial"/>
              <a:cs typeface="Arial"/>
            </a:endParaRPr>
          </a:p>
        </p:txBody>
      </p:sp>
      <p:sp>
        <p:nvSpPr>
          <p:cNvPr id="12" name="object 12"/>
          <p:cNvSpPr/>
          <p:nvPr/>
        </p:nvSpPr>
        <p:spPr>
          <a:xfrm>
            <a:off x="654799" y="5968"/>
            <a:ext cx="6463030" cy="5022850"/>
          </a:xfrm>
          <a:custGeom>
            <a:avLst/>
            <a:gdLst/>
            <a:ahLst/>
            <a:cxnLst/>
            <a:rect l="l" t="t" r="r" b="b"/>
            <a:pathLst>
              <a:path w="6463030" h="5022850">
                <a:moveTo>
                  <a:pt x="0" y="0"/>
                </a:moveTo>
                <a:lnTo>
                  <a:pt x="6462801" y="0"/>
                </a:lnTo>
                <a:lnTo>
                  <a:pt x="6462801" y="5022850"/>
                </a:lnTo>
                <a:lnTo>
                  <a:pt x="0" y="5022850"/>
                </a:lnTo>
                <a:lnTo>
                  <a:pt x="0" y="0"/>
                </a:lnTo>
                <a:close/>
              </a:path>
            </a:pathLst>
          </a:custGeom>
          <a:ln w="3175">
            <a:solidFill>
              <a:srgbClr val="000000"/>
            </a:solidFill>
          </a:ln>
        </p:spPr>
        <p:txBody>
          <a:bodyPr wrap="square" lIns="0" tIns="0" rIns="0" bIns="0" rtlCol="0"/>
          <a:lstStyle/>
          <a:p>
            <a:endParaRPr/>
          </a:p>
        </p:txBody>
      </p:sp>
      <p:sp>
        <p:nvSpPr>
          <p:cNvPr id="13" name="object 13"/>
          <p:cNvSpPr/>
          <p:nvPr/>
        </p:nvSpPr>
        <p:spPr>
          <a:xfrm>
            <a:off x="718299" y="5758535"/>
            <a:ext cx="6335801" cy="3563886"/>
          </a:xfrm>
          <a:prstGeom prst="rect">
            <a:avLst/>
          </a:prstGeom>
          <a:blipFill>
            <a:blip r:embed="rId4" cstate="print"/>
            <a:stretch>
              <a:fillRect/>
            </a:stretch>
          </a:blipFill>
        </p:spPr>
        <p:txBody>
          <a:bodyPr wrap="square" lIns="0" tIns="0" rIns="0" bIns="0" rtlCol="0"/>
          <a:lstStyle/>
          <a:p>
            <a:endParaRPr/>
          </a:p>
        </p:txBody>
      </p:sp>
      <p:sp>
        <p:nvSpPr>
          <p:cNvPr id="14" name="object 14"/>
          <p:cNvSpPr/>
          <p:nvPr/>
        </p:nvSpPr>
        <p:spPr>
          <a:xfrm>
            <a:off x="790778" y="8994597"/>
            <a:ext cx="6144895" cy="328295"/>
          </a:xfrm>
          <a:custGeom>
            <a:avLst/>
            <a:gdLst/>
            <a:ahLst/>
            <a:cxnLst/>
            <a:rect l="l" t="t" r="r" b="b"/>
            <a:pathLst>
              <a:path w="6144895" h="328295">
                <a:moveTo>
                  <a:pt x="0" y="327825"/>
                </a:moveTo>
                <a:lnTo>
                  <a:pt x="6144768" y="327825"/>
                </a:lnTo>
                <a:lnTo>
                  <a:pt x="6144768" y="0"/>
                </a:lnTo>
                <a:lnTo>
                  <a:pt x="0" y="0"/>
                </a:lnTo>
                <a:lnTo>
                  <a:pt x="0" y="327825"/>
                </a:lnTo>
                <a:close/>
              </a:path>
            </a:pathLst>
          </a:custGeom>
          <a:solidFill>
            <a:srgbClr val="FFFFFF"/>
          </a:solidFill>
        </p:spPr>
        <p:txBody>
          <a:bodyPr wrap="square" lIns="0" tIns="0" rIns="0" bIns="0" rtlCol="0"/>
          <a:lstStyle/>
          <a:p>
            <a:endParaRPr/>
          </a:p>
        </p:txBody>
      </p:sp>
      <p:sp>
        <p:nvSpPr>
          <p:cNvPr id="15" name="object 15"/>
          <p:cNvSpPr txBox="1"/>
          <p:nvPr/>
        </p:nvSpPr>
        <p:spPr>
          <a:xfrm>
            <a:off x="792954" y="5699709"/>
            <a:ext cx="5984240" cy="2767424"/>
          </a:xfrm>
          <a:prstGeom prst="rect">
            <a:avLst/>
          </a:prstGeom>
        </p:spPr>
        <p:txBody>
          <a:bodyPr vert="horz" wrap="square" lIns="0" tIns="0" rIns="0" bIns="0" rtlCol="0">
            <a:spAutoFit/>
          </a:bodyPr>
          <a:lstStyle/>
          <a:p>
            <a:pPr marL="736600">
              <a:lnSpc>
                <a:spcPts val="1835"/>
              </a:lnSpc>
            </a:pPr>
            <a:endParaRPr lang="en-US" sz="1400" b="1" spc="5" dirty="0" smtClean="0">
              <a:solidFill>
                <a:srgbClr val="FFFFFF"/>
              </a:solidFill>
              <a:latin typeface="Arial"/>
              <a:cs typeface="Arial"/>
            </a:endParaRPr>
          </a:p>
          <a:p>
            <a:pPr marL="736600">
              <a:lnSpc>
                <a:spcPts val="1835"/>
              </a:lnSpc>
            </a:pPr>
            <a:r>
              <a:rPr sz="1400" b="1" spc="5" dirty="0" smtClean="0">
                <a:solidFill>
                  <a:srgbClr val="FFFFFF"/>
                </a:solidFill>
                <a:latin typeface="Arial"/>
                <a:cs typeface="Arial"/>
              </a:rPr>
              <a:t>Thread </a:t>
            </a:r>
            <a:r>
              <a:rPr sz="1400" b="1" spc="5" dirty="0">
                <a:solidFill>
                  <a:srgbClr val="FFFFFF"/>
                </a:solidFill>
                <a:latin typeface="Arial"/>
                <a:cs typeface="Arial"/>
              </a:rPr>
              <a:t>Mechanism</a:t>
            </a:r>
            <a:r>
              <a:rPr sz="1400" b="1" spc="-100" dirty="0">
                <a:solidFill>
                  <a:srgbClr val="FFFFFF"/>
                </a:solidFill>
                <a:latin typeface="Arial"/>
                <a:cs typeface="Arial"/>
              </a:rPr>
              <a:t> </a:t>
            </a:r>
            <a:r>
              <a:rPr sz="1400" b="1" dirty="0">
                <a:solidFill>
                  <a:srgbClr val="FFFFFF"/>
                </a:solidFill>
                <a:latin typeface="Arial"/>
                <a:cs typeface="Arial"/>
              </a:rPr>
              <a:t>Two</a:t>
            </a:r>
            <a:r>
              <a:rPr sz="1400" b="1" dirty="0" smtClean="0">
                <a:solidFill>
                  <a:srgbClr val="FFFFFF"/>
                </a:solidFill>
                <a:latin typeface="Arial"/>
                <a:cs typeface="Arial"/>
              </a:rPr>
              <a:t>:</a:t>
            </a:r>
            <a:r>
              <a:rPr lang="en-US" sz="1400" b="1" dirty="0" smtClean="0">
                <a:solidFill>
                  <a:srgbClr val="FFFFFF"/>
                </a:solidFill>
                <a:latin typeface="Arial"/>
                <a:cs typeface="Arial"/>
              </a:rPr>
              <a:t> </a:t>
            </a:r>
            <a:r>
              <a:rPr sz="1400" b="1" spc="5" dirty="0" smtClean="0">
                <a:solidFill>
                  <a:srgbClr val="FFFFFF"/>
                </a:solidFill>
                <a:latin typeface="Arial"/>
                <a:cs typeface="Arial"/>
              </a:rPr>
              <a:t>Main </a:t>
            </a:r>
            <a:r>
              <a:rPr sz="1400" b="1" spc="5" dirty="0">
                <a:solidFill>
                  <a:srgbClr val="FFFFFF"/>
                </a:solidFill>
                <a:latin typeface="Arial"/>
                <a:cs typeface="Arial"/>
              </a:rPr>
              <a:t>App Implements</a:t>
            </a:r>
            <a:r>
              <a:rPr sz="1400" b="1" spc="-80" dirty="0">
                <a:solidFill>
                  <a:srgbClr val="FFFFFF"/>
                </a:solidFill>
                <a:latin typeface="Arial"/>
                <a:cs typeface="Arial"/>
              </a:rPr>
              <a:t> </a:t>
            </a:r>
            <a:r>
              <a:rPr sz="1400" b="1" spc="5" dirty="0">
                <a:solidFill>
                  <a:srgbClr val="FFFFFF"/>
                </a:solidFill>
                <a:latin typeface="Arial"/>
                <a:cs typeface="Arial"/>
              </a:rPr>
              <a:t>Runnable</a:t>
            </a:r>
            <a:endParaRPr sz="1400" dirty="0">
              <a:latin typeface="Arial"/>
              <a:cs typeface="Arial"/>
            </a:endParaRPr>
          </a:p>
          <a:p>
            <a:pPr marL="190500" indent="-177800">
              <a:lnSpc>
                <a:spcPct val="100000"/>
              </a:lnSpc>
              <a:spcBef>
                <a:spcPts val="185"/>
              </a:spcBef>
              <a:buClr>
                <a:srgbClr val="CC0000"/>
              </a:buClr>
              <a:buFont typeface="Arial"/>
              <a:buChar char="•"/>
              <a:tabLst>
                <a:tab pos="191135" algn="l"/>
              </a:tabLst>
            </a:pPr>
            <a:r>
              <a:rPr sz="1550" b="1" dirty="0">
                <a:latin typeface="Arial"/>
                <a:cs typeface="Arial"/>
              </a:rPr>
              <a:t>Have main class implement</a:t>
            </a:r>
            <a:r>
              <a:rPr sz="1550" b="1" spc="-80" dirty="0">
                <a:latin typeface="Arial"/>
                <a:cs typeface="Arial"/>
              </a:rPr>
              <a:t> </a:t>
            </a:r>
            <a:r>
              <a:rPr sz="1550" b="1" dirty="0">
                <a:latin typeface="Arial"/>
                <a:cs typeface="Arial"/>
              </a:rPr>
              <a:t>Runnable</a:t>
            </a:r>
            <a:endParaRPr sz="1550" dirty="0">
              <a:latin typeface="Arial"/>
              <a:cs typeface="Arial"/>
            </a:endParaRPr>
          </a:p>
          <a:p>
            <a:pPr marL="250190">
              <a:lnSpc>
                <a:spcPct val="100000"/>
              </a:lnSpc>
              <a:spcBef>
                <a:spcPts val="200"/>
              </a:spcBef>
            </a:pPr>
            <a:r>
              <a:rPr sz="1350" dirty="0">
                <a:solidFill>
                  <a:srgbClr val="CC0000"/>
                </a:solidFill>
                <a:latin typeface="Times New Roman"/>
                <a:cs typeface="Times New Roman"/>
              </a:rPr>
              <a:t>– </a:t>
            </a:r>
            <a:r>
              <a:rPr sz="1350" spc="-5" dirty="0">
                <a:latin typeface="Times New Roman"/>
                <a:cs typeface="Times New Roman"/>
              </a:rPr>
              <a:t>Put actions in run method of existing</a:t>
            </a:r>
            <a:r>
              <a:rPr sz="1350" spc="125" dirty="0">
                <a:latin typeface="Times New Roman"/>
                <a:cs typeface="Times New Roman"/>
              </a:rPr>
              <a:t> </a:t>
            </a:r>
            <a:r>
              <a:rPr sz="1350" spc="-5" dirty="0">
                <a:latin typeface="Times New Roman"/>
                <a:cs typeface="Times New Roman"/>
              </a:rPr>
              <a:t>class</a:t>
            </a:r>
            <a:endParaRPr sz="1350" dirty="0">
              <a:latin typeface="Times New Roman"/>
              <a:cs typeface="Times New Roman"/>
            </a:endParaRPr>
          </a:p>
          <a:p>
            <a:pPr marL="280035">
              <a:lnSpc>
                <a:spcPts val="1425"/>
              </a:lnSpc>
              <a:spcBef>
                <a:spcPts val="145"/>
              </a:spcBef>
            </a:pPr>
            <a:r>
              <a:rPr sz="1250" b="1" spc="-10" dirty="0">
                <a:latin typeface="Courier New"/>
                <a:cs typeface="Courier New"/>
              </a:rPr>
              <a:t>public class MyClass extends Something </a:t>
            </a:r>
            <a:r>
              <a:rPr sz="1250" b="1" spc="-10" dirty="0">
                <a:solidFill>
                  <a:srgbClr val="FF0000"/>
                </a:solidFill>
                <a:latin typeface="Courier New"/>
                <a:cs typeface="Courier New"/>
              </a:rPr>
              <a:t>implements Runnable</a:t>
            </a:r>
            <a:r>
              <a:rPr sz="1250" b="1" spc="114" dirty="0">
                <a:solidFill>
                  <a:srgbClr val="FF0000"/>
                </a:solidFill>
                <a:latin typeface="Courier New"/>
                <a:cs typeface="Courier New"/>
              </a:rPr>
              <a:t> </a:t>
            </a:r>
            <a:r>
              <a:rPr sz="1250" b="1" spc="-5" dirty="0">
                <a:latin typeface="Courier New"/>
                <a:cs typeface="Courier New"/>
              </a:rPr>
              <a:t>{</a:t>
            </a:r>
            <a:endParaRPr sz="1250" dirty="0">
              <a:latin typeface="Courier New"/>
              <a:cs typeface="Courier New"/>
            </a:endParaRPr>
          </a:p>
          <a:p>
            <a:pPr marL="469900">
              <a:lnSpc>
                <a:spcPts val="1345"/>
              </a:lnSpc>
            </a:pPr>
            <a:r>
              <a:rPr sz="1250" b="1" spc="-10" dirty="0">
                <a:latin typeface="Courier New"/>
                <a:cs typeface="Courier New"/>
              </a:rPr>
              <a:t>...</a:t>
            </a:r>
            <a:endParaRPr sz="1250" dirty="0">
              <a:latin typeface="Courier New"/>
              <a:cs typeface="Courier New"/>
            </a:endParaRPr>
          </a:p>
          <a:p>
            <a:pPr marL="469900">
              <a:lnSpc>
                <a:spcPts val="1425"/>
              </a:lnSpc>
            </a:pPr>
            <a:r>
              <a:rPr sz="1250" b="1" spc="-10" dirty="0">
                <a:solidFill>
                  <a:srgbClr val="FF0000"/>
                </a:solidFill>
                <a:latin typeface="Courier New"/>
                <a:cs typeface="Courier New"/>
              </a:rPr>
              <a:t>public void run()</a:t>
            </a:r>
            <a:r>
              <a:rPr sz="1250" b="1" spc="-45" dirty="0">
                <a:solidFill>
                  <a:srgbClr val="FF0000"/>
                </a:solidFill>
                <a:latin typeface="Courier New"/>
                <a:cs typeface="Courier New"/>
              </a:rPr>
              <a:t> </a:t>
            </a:r>
            <a:r>
              <a:rPr sz="1250" b="1" spc="-5" dirty="0">
                <a:solidFill>
                  <a:srgbClr val="FF0000"/>
                </a:solidFill>
                <a:latin typeface="Courier New"/>
                <a:cs typeface="Courier New"/>
              </a:rPr>
              <a:t>{</a:t>
            </a:r>
            <a:endParaRPr sz="1250" dirty="0">
              <a:latin typeface="Courier New"/>
              <a:cs typeface="Courier New"/>
            </a:endParaRPr>
          </a:p>
          <a:p>
            <a:pPr marL="659130">
              <a:lnSpc>
                <a:spcPct val="100000"/>
              </a:lnSpc>
              <a:spcBef>
                <a:spcPts val="210"/>
              </a:spcBef>
            </a:pPr>
            <a:r>
              <a:rPr sz="1250" b="1" spc="-10" dirty="0">
                <a:solidFill>
                  <a:srgbClr val="FF0000"/>
                </a:solidFill>
                <a:latin typeface="Courier New"/>
                <a:cs typeface="Courier New"/>
              </a:rPr>
              <a:t>...</a:t>
            </a:r>
            <a:endParaRPr sz="1250" dirty="0">
              <a:latin typeface="Courier New"/>
              <a:cs typeface="Courier New"/>
            </a:endParaRPr>
          </a:p>
          <a:p>
            <a:pPr marL="469900">
              <a:lnSpc>
                <a:spcPts val="1425"/>
              </a:lnSpc>
              <a:spcBef>
                <a:spcPts val="210"/>
              </a:spcBef>
            </a:pPr>
            <a:r>
              <a:rPr sz="1250" b="1" spc="-5" dirty="0">
                <a:solidFill>
                  <a:srgbClr val="FF0000"/>
                </a:solidFill>
                <a:latin typeface="Courier New"/>
                <a:cs typeface="Courier New"/>
              </a:rPr>
              <a:t>}</a:t>
            </a:r>
            <a:endParaRPr sz="1250" dirty="0">
              <a:latin typeface="Courier New"/>
              <a:cs typeface="Courier New"/>
            </a:endParaRPr>
          </a:p>
          <a:p>
            <a:pPr marL="280035">
              <a:lnSpc>
                <a:spcPts val="1425"/>
              </a:lnSpc>
            </a:pPr>
            <a:r>
              <a:rPr sz="1250" b="1" spc="-5" dirty="0">
                <a:latin typeface="Courier New"/>
                <a:cs typeface="Courier New"/>
              </a:rPr>
              <a:t>}</a:t>
            </a:r>
            <a:endParaRPr sz="1250" dirty="0">
              <a:latin typeface="Courier New"/>
              <a:cs typeface="Courier New"/>
            </a:endParaRPr>
          </a:p>
          <a:p>
            <a:pPr>
              <a:lnSpc>
                <a:spcPct val="100000"/>
              </a:lnSpc>
              <a:spcBef>
                <a:spcPts val="20"/>
              </a:spcBef>
            </a:pPr>
            <a:endParaRPr sz="1450" dirty="0">
              <a:latin typeface="Times New Roman"/>
              <a:cs typeface="Times New Roman"/>
            </a:endParaRPr>
          </a:p>
          <a:p>
            <a:pPr marL="190500" indent="-177800">
              <a:lnSpc>
                <a:spcPct val="100000"/>
              </a:lnSpc>
              <a:spcBef>
                <a:spcPts val="5"/>
              </a:spcBef>
              <a:buClr>
                <a:srgbClr val="CC0000"/>
              </a:buClr>
              <a:buFont typeface="Arial"/>
              <a:buChar char="•"/>
              <a:tabLst>
                <a:tab pos="191135" algn="l"/>
              </a:tabLst>
            </a:pPr>
            <a:r>
              <a:rPr sz="1550" b="1" dirty="0">
                <a:latin typeface="Arial"/>
                <a:cs typeface="Arial"/>
              </a:rPr>
              <a:t>Pass the instance of main class to</a:t>
            </a:r>
            <a:r>
              <a:rPr sz="1550" b="1" spc="-90" dirty="0">
                <a:latin typeface="Arial"/>
                <a:cs typeface="Arial"/>
              </a:rPr>
              <a:t> </a:t>
            </a:r>
            <a:r>
              <a:rPr sz="1550" b="1" dirty="0">
                <a:latin typeface="Arial"/>
                <a:cs typeface="Arial"/>
              </a:rPr>
              <a:t>execute</a:t>
            </a:r>
            <a:endParaRPr sz="1550" dirty="0">
              <a:latin typeface="Arial"/>
              <a:cs typeface="Arial"/>
            </a:endParaRPr>
          </a:p>
          <a:p>
            <a:pPr marL="250190">
              <a:lnSpc>
                <a:spcPct val="100000"/>
              </a:lnSpc>
              <a:spcBef>
                <a:spcPts val="145"/>
              </a:spcBef>
            </a:pPr>
            <a:r>
              <a:rPr sz="1250" b="1" spc="-10" dirty="0">
                <a:latin typeface="Courier New"/>
                <a:cs typeface="Courier New"/>
              </a:rPr>
              <a:t>taskList.execute(</a:t>
            </a:r>
            <a:r>
              <a:rPr sz="1250" b="1" spc="-10" dirty="0">
                <a:solidFill>
                  <a:srgbClr val="FF0000"/>
                </a:solidFill>
                <a:latin typeface="Courier New"/>
                <a:cs typeface="Courier New"/>
              </a:rPr>
              <a:t>this</a:t>
            </a:r>
            <a:r>
              <a:rPr sz="1250" b="1" spc="-10" dirty="0">
                <a:latin typeface="Courier New"/>
                <a:cs typeface="Courier New"/>
              </a:rPr>
              <a:t>);</a:t>
            </a:r>
            <a:endParaRPr sz="1250" dirty="0">
              <a:latin typeface="Courier New"/>
              <a:cs typeface="Courier New"/>
            </a:endParaRPr>
          </a:p>
        </p:txBody>
      </p:sp>
      <p:sp>
        <p:nvSpPr>
          <p:cNvPr id="16" name="object 16"/>
          <p:cNvSpPr/>
          <p:nvPr/>
        </p:nvSpPr>
        <p:spPr>
          <a:xfrm>
            <a:off x="722134" y="5762371"/>
            <a:ext cx="6327775" cy="3556000"/>
          </a:xfrm>
          <a:custGeom>
            <a:avLst/>
            <a:gdLst/>
            <a:ahLst/>
            <a:cxnLst/>
            <a:rect l="l" t="t" r="r" b="b"/>
            <a:pathLst>
              <a:path w="6327775" h="3556000">
                <a:moveTo>
                  <a:pt x="6327648" y="0"/>
                </a:moveTo>
                <a:lnTo>
                  <a:pt x="0" y="0"/>
                </a:lnTo>
                <a:lnTo>
                  <a:pt x="0" y="3555733"/>
                </a:lnTo>
                <a:lnTo>
                  <a:pt x="6327648" y="3555733"/>
                </a:lnTo>
                <a:lnTo>
                  <a:pt x="6327648" y="0"/>
                </a:lnTo>
                <a:close/>
              </a:path>
            </a:pathLst>
          </a:custGeom>
          <a:ln w="8153">
            <a:solidFill>
              <a:srgbClr val="000000"/>
            </a:solidFill>
          </a:ln>
        </p:spPr>
        <p:txBody>
          <a:bodyPr wrap="square" lIns="0" tIns="0" rIns="0" bIns="0" rtlCol="0"/>
          <a:lstStyle/>
          <a:p>
            <a:endParaRPr/>
          </a:p>
        </p:txBody>
      </p:sp>
      <p:sp>
        <p:nvSpPr>
          <p:cNvPr id="17" name="object 17"/>
          <p:cNvSpPr/>
          <p:nvPr/>
        </p:nvSpPr>
        <p:spPr>
          <a:xfrm>
            <a:off x="654799" y="5028819"/>
            <a:ext cx="6463030" cy="5022850"/>
          </a:xfrm>
          <a:custGeom>
            <a:avLst/>
            <a:gdLst/>
            <a:ahLst/>
            <a:cxnLst/>
            <a:rect l="l" t="t" r="r" b="b"/>
            <a:pathLst>
              <a:path w="6463030" h="5022850">
                <a:moveTo>
                  <a:pt x="0" y="0"/>
                </a:moveTo>
                <a:lnTo>
                  <a:pt x="6462801" y="0"/>
                </a:lnTo>
                <a:lnTo>
                  <a:pt x="6462801" y="5022850"/>
                </a:lnTo>
                <a:lnTo>
                  <a:pt x="0" y="5022850"/>
                </a:lnTo>
                <a:lnTo>
                  <a:pt x="0" y="0"/>
                </a:lnTo>
                <a:close/>
              </a:path>
            </a:pathLst>
          </a:custGeom>
          <a:ln w="3175">
            <a:solidFill>
              <a:srgbClr val="000000"/>
            </a:solidFill>
          </a:ln>
        </p:spPr>
        <p:txBody>
          <a:bodyPr wrap="square" lIns="0" tIns="0" rIns="0" bIns="0" rtlCol="0"/>
          <a:lstStyle/>
          <a:p>
            <a:endParaRPr/>
          </a:p>
        </p:txBody>
      </p:sp>
      <p:sp>
        <p:nvSpPr>
          <p:cNvPr id="18" name="object 18"/>
          <p:cNvSpPr txBox="1"/>
          <p:nvPr/>
        </p:nvSpPr>
        <p:spPr>
          <a:xfrm>
            <a:off x="765115" y="9179425"/>
            <a:ext cx="109855" cy="118110"/>
          </a:xfrm>
          <a:prstGeom prst="rect">
            <a:avLst/>
          </a:prstGeom>
        </p:spPr>
        <p:txBody>
          <a:bodyPr vert="horz" wrap="square" lIns="0" tIns="0" rIns="0" bIns="0" rtlCol="0">
            <a:spAutoFit/>
          </a:bodyPr>
          <a:lstStyle/>
          <a:p>
            <a:pPr marL="12700">
              <a:lnSpc>
                <a:spcPts val="835"/>
              </a:lnSpc>
            </a:pPr>
            <a:r>
              <a:rPr sz="700" b="1" spc="10" dirty="0">
                <a:solidFill>
                  <a:srgbClr val="7E7E7E"/>
                </a:solidFill>
                <a:latin typeface="Arial Narrow"/>
                <a:cs typeface="Arial Narrow"/>
              </a:rPr>
              <a:t>22</a:t>
            </a:r>
            <a:endParaRPr sz="700">
              <a:latin typeface="Arial Narrow"/>
              <a:cs typeface="Arial Narrow"/>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792954" y="676846"/>
            <a:ext cx="6124575" cy="2387192"/>
          </a:xfrm>
          <a:prstGeom prst="rect">
            <a:avLst/>
          </a:prstGeom>
        </p:spPr>
        <p:txBody>
          <a:bodyPr vert="horz" wrap="square" lIns="0" tIns="37465" rIns="0" bIns="0" rtlCol="0">
            <a:spAutoFit/>
          </a:bodyPr>
          <a:lstStyle/>
          <a:p>
            <a:pPr marL="736600" marR="2108835">
              <a:lnSpc>
                <a:spcPts val="1689"/>
              </a:lnSpc>
              <a:spcBef>
                <a:spcPts val="295"/>
              </a:spcBef>
            </a:pPr>
            <a:r>
              <a:rPr sz="1200" b="1" spc="5" dirty="0">
                <a:solidFill>
                  <a:srgbClr val="FFFFFF"/>
                </a:solidFill>
                <a:latin typeface="Arial"/>
                <a:cs typeface="Arial"/>
              </a:rPr>
              <a:t>Main App Implements</a:t>
            </a:r>
            <a:r>
              <a:rPr sz="1200" b="1" spc="-70" dirty="0">
                <a:solidFill>
                  <a:srgbClr val="FFFFFF"/>
                </a:solidFill>
                <a:latin typeface="Arial"/>
                <a:cs typeface="Arial"/>
              </a:rPr>
              <a:t> </a:t>
            </a:r>
            <a:r>
              <a:rPr sz="1200" b="1" dirty="0">
                <a:solidFill>
                  <a:srgbClr val="FFFFFF"/>
                </a:solidFill>
                <a:latin typeface="Arial"/>
                <a:cs typeface="Arial"/>
              </a:rPr>
              <a:t>Runnable:  </a:t>
            </a:r>
            <a:r>
              <a:rPr sz="1200" b="1" dirty="0" smtClean="0">
                <a:solidFill>
                  <a:srgbClr val="FFFFFF"/>
                </a:solidFill>
                <a:latin typeface="Arial"/>
                <a:cs typeface="Arial"/>
              </a:rPr>
              <a:t>Main </a:t>
            </a:r>
            <a:r>
              <a:rPr lang="en-US" sz="1200" b="1" dirty="0" smtClean="0">
                <a:solidFill>
                  <a:srgbClr val="FFFFFF"/>
                </a:solidFill>
                <a:latin typeface="Arial"/>
                <a:cs typeface="Arial"/>
              </a:rPr>
              <a:t> </a:t>
            </a:r>
            <a:r>
              <a:rPr sz="1200" b="1" dirty="0" smtClean="0">
                <a:solidFill>
                  <a:srgbClr val="FFFFFF"/>
                </a:solidFill>
                <a:latin typeface="Arial"/>
                <a:cs typeface="Arial"/>
              </a:rPr>
              <a:t>Differences </a:t>
            </a:r>
            <a:r>
              <a:rPr sz="1200" b="1" dirty="0">
                <a:solidFill>
                  <a:srgbClr val="FFFFFF"/>
                </a:solidFill>
                <a:latin typeface="Arial"/>
                <a:cs typeface="Arial"/>
              </a:rPr>
              <a:t>vs. Sep.</a:t>
            </a:r>
            <a:r>
              <a:rPr sz="1200" b="1" spc="-80" dirty="0">
                <a:solidFill>
                  <a:srgbClr val="FFFFFF"/>
                </a:solidFill>
                <a:latin typeface="Arial"/>
                <a:cs typeface="Arial"/>
              </a:rPr>
              <a:t> </a:t>
            </a:r>
            <a:r>
              <a:rPr sz="1200" b="1" dirty="0">
                <a:solidFill>
                  <a:srgbClr val="FFFFFF"/>
                </a:solidFill>
                <a:latin typeface="Arial"/>
                <a:cs typeface="Arial"/>
              </a:rPr>
              <a:t>Class</a:t>
            </a:r>
            <a:endParaRPr sz="1200" dirty="0">
              <a:latin typeface="Arial"/>
              <a:cs typeface="Arial"/>
            </a:endParaRPr>
          </a:p>
          <a:p>
            <a:pPr marL="190500" indent="-177800">
              <a:lnSpc>
                <a:spcPct val="100000"/>
              </a:lnSpc>
              <a:spcBef>
                <a:spcPts val="180"/>
              </a:spcBef>
              <a:buClr>
                <a:srgbClr val="CC0000"/>
              </a:buClr>
              <a:buFont typeface="Arial"/>
              <a:buChar char="•"/>
              <a:tabLst>
                <a:tab pos="191135" algn="l"/>
              </a:tabLst>
            </a:pPr>
            <a:r>
              <a:rPr sz="1550" b="1" dirty="0">
                <a:latin typeface="Arial"/>
                <a:cs typeface="Arial"/>
              </a:rPr>
              <a:t>Good</a:t>
            </a:r>
            <a:r>
              <a:rPr sz="1550" b="1" spc="-70" dirty="0">
                <a:latin typeface="Arial"/>
                <a:cs typeface="Arial"/>
              </a:rPr>
              <a:t> </a:t>
            </a:r>
            <a:r>
              <a:rPr sz="1550" b="1" dirty="0">
                <a:latin typeface="Arial"/>
                <a:cs typeface="Arial"/>
              </a:rPr>
              <a:t>news</a:t>
            </a:r>
            <a:endParaRPr sz="1550" dirty="0">
              <a:latin typeface="Arial"/>
              <a:cs typeface="Arial"/>
            </a:endParaRPr>
          </a:p>
          <a:p>
            <a:pPr marL="398145" lvl="1" indent="-147955">
              <a:lnSpc>
                <a:spcPct val="100000"/>
              </a:lnSpc>
              <a:spcBef>
                <a:spcPts val="200"/>
              </a:spcBef>
              <a:buClr>
                <a:srgbClr val="CC0000"/>
              </a:buClr>
              <a:buChar char="–"/>
              <a:tabLst>
                <a:tab pos="398780" algn="l"/>
              </a:tabLst>
            </a:pPr>
            <a:r>
              <a:rPr sz="1350" spc="-5" dirty="0">
                <a:latin typeface="Times New Roman"/>
                <a:cs typeface="Times New Roman"/>
              </a:rPr>
              <a:t>run can easily call methods in main class, since it is </a:t>
            </a:r>
            <a:r>
              <a:rPr sz="1350" i="1" spc="-5" dirty="0">
                <a:latin typeface="Times New Roman"/>
                <a:cs typeface="Times New Roman"/>
              </a:rPr>
              <a:t>in </a:t>
            </a:r>
            <a:r>
              <a:rPr sz="1350" spc="-5" dirty="0">
                <a:latin typeface="Times New Roman"/>
                <a:cs typeface="Times New Roman"/>
              </a:rPr>
              <a:t>that</a:t>
            </a:r>
            <a:r>
              <a:rPr sz="1350" spc="45" dirty="0">
                <a:latin typeface="Times New Roman"/>
                <a:cs typeface="Times New Roman"/>
              </a:rPr>
              <a:t> </a:t>
            </a:r>
            <a:r>
              <a:rPr sz="1350" spc="-5" dirty="0">
                <a:latin typeface="Times New Roman"/>
                <a:cs typeface="Times New Roman"/>
              </a:rPr>
              <a:t>class</a:t>
            </a:r>
            <a:endParaRPr sz="1350" dirty="0">
              <a:latin typeface="Times New Roman"/>
              <a:cs typeface="Times New Roman"/>
            </a:endParaRPr>
          </a:p>
          <a:p>
            <a:pPr lvl="1">
              <a:lnSpc>
                <a:spcPct val="100000"/>
              </a:lnSpc>
              <a:spcBef>
                <a:spcPts val="50"/>
              </a:spcBef>
              <a:buClr>
                <a:srgbClr val="CC0000"/>
              </a:buClr>
              <a:buFont typeface="Times New Roman"/>
              <a:buChar char="–"/>
            </a:pPr>
            <a:endParaRPr sz="1900" dirty="0">
              <a:latin typeface="Times New Roman"/>
              <a:cs typeface="Times New Roman"/>
            </a:endParaRPr>
          </a:p>
          <a:p>
            <a:pPr marL="190500" indent="-177800">
              <a:lnSpc>
                <a:spcPct val="100000"/>
              </a:lnSpc>
              <a:spcBef>
                <a:spcPts val="5"/>
              </a:spcBef>
              <a:buClr>
                <a:srgbClr val="CC0000"/>
              </a:buClr>
              <a:buFont typeface="Arial"/>
              <a:buChar char="•"/>
              <a:tabLst>
                <a:tab pos="191135" algn="l"/>
              </a:tabLst>
            </a:pPr>
            <a:r>
              <a:rPr sz="1550" b="1" dirty="0">
                <a:latin typeface="Arial"/>
                <a:cs typeface="Arial"/>
              </a:rPr>
              <a:t>Bad</a:t>
            </a:r>
            <a:r>
              <a:rPr sz="1550" b="1" spc="-85" dirty="0">
                <a:latin typeface="Arial"/>
                <a:cs typeface="Arial"/>
              </a:rPr>
              <a:t> </a:t>
            </a:r>
            <a:r>
              <a:rPr sz="1550" b="1" dirty="0">
                <a:latin typeface="Arial"/>
                <a:cs typeface="Arial"/>
              </a:rPr>
              <a:t>news</a:t>
            </a:r>
            <a:endParaRPr sz="1550" dirty="0">
              <a:latin typeface="Arial"/>
              <a:cs typeface="Arial"/>
            </a:endParaRPr>
          </a:p>
          <a:p>
            <a:pPr marL="398145" marR="456565" lvl="1" indent="-147955">
              <a:lnSpc>
                <a:spcPts val="1460"/>
              </a:lnSpc>
              <a:spcBef>
                <a:spcPts val="380"/>
              </a:spcBef>
              <a:buClr>
                <a:srgbClr val="CC0000"/>
              </a:buClr>
              <a:buChar char="–"/>
              <a:tabLst>
                <a:tab pos="398780" algn="l"/>
              </a:tabLst>
            </a:pPr>
            <a:r>
              <a:rPr sz="1350" spc="-5" dirty="0">
                <a:latin typeface="Times New Roman"/>
                <a:cs typeface="Times New Roman"/>
              </a:rPr>
              <a:t>If run </a:t>
            </a:r>
            <a:r>
              <a:rPr sz="1350" dirty="0">
                <a:latin typeface="Times New Roman"/>
                <a:cs typeface="Times New Roman"/>
              </a:rPr>
              <a:t>accesses any </a:t>
            </a:r>
            <a:r>
              <a:rPr sz="1350" spc="-5" dirty="0">
                <a:latin typeface="Times New Roman"/>
                <a:cs typeface="Times New Roman"/>
              </a:rPr>
              <a:t>shared data (instance variables), you have </a:t>
            </a:r>
            <a:r>
              <a:rPr sz="1350" dirty="0">
                <a:latin typeface="Times New Roman"/>
                <a:cs typeface="Times New Roman"/>
              </a:rPr>
              <a:t>to </a:t>
            </a:r>
            <a:r>
              <a:rPr sz="1350" spc="-5" dirty="0">
                <a:latin typeface="Times New Roman"/>
                <a:cs typeface="Times New Roman"/>
              </a:rPr>
              <a:t>worry </a:t>
            </a:r>
            <a:r>
              <a:rPr sz="1350" dirty="0">
                <a:latin typeface="Times New Roman"/>
                <a:cs typeface="Times New Roman"/>
              </a:rPr>
              <a:t>about  </a:t>
            </a:r>
            <a:r>
              <a:rPr sz="1350" spc="-5" dirty="0">
                <a:latin typeface="Times New Roman"/>
                <a:cs typeface="Times New Roman"/>
              </a:rPr>
              <a:t>conflicts (race</a:t>
            </a:r>
            <a:r>
              <a:rPr sz="1350" spc="-75" dirty="0">
                <a:latin typeface="Times New Roman"/>
                <a:cs typeface="Times New Roman"/>
              </a:rPr>
              <a:t> </a:t>
            </a:r>
            <a:r>
              <a:rPr sz="1350" spc="-5" dirty="0">
                <a:latin typeface="Times New Roman"/>
                <a:cs typeface="Times New Roman"/>
              </a:rPr>
              <a:t>conditions)</a:t>
            </a:r>
            <a:endParaRPr sz="1350" dirty="0">
              <a:latin typeface="Times New Roman"/>
              <a:cs typeface="Times New Roman"/>
            </a:endParaRPr>
          </a:p>
          <a:p>
            <a:pPr marL="398145" marR="5080" lvl="1" indent="-147955">
              <a:lnSpc>
                <a:spcPts val="1460"/>
              </a:lnSpc>
              <a:spcBef>
                <a:spcPts val="360"/>
              </a:spcBef>
              <a:buClr>
                <a:srgbClr val="CC0000"/>
              </a:buClr>
              <a:buChar char="–"/>
              <a:tabLst>
                <a:tab pos="398780" algn="l"/>
              </a:tabLst>
            </a:pPr>
            <a:r>
              <a:rPr sz="1350" spc="-5" dirty="0">
                <a:latin typeface="Times New Roman"/>
                <a:cs typeface="Times New Roman"/>
              </a:rPr>
              <a:t>No constructor, so very hard to customize how each thread runs, and thus each task  starts off the same</a:t>
            </a:r>
            <a:r>
              <a:rPr sz="1350" spc="-60" dirty="0">
                <a:latin typeface="Times New Roman"/>
                <a:cs typeface="Times New Roman"/>
              </a:rPr>
              <a:t> </a:t>
            </a:r>
            <a:r>
              <a:rPr sz="1350" spc="-5" dirty="0">
                <a:latin typeface="Times New Roman"/>
                <a:cs typeface="Times New Roman"/>
              </a:rPr>
              <a:t>way</a:t>
            </a:r>
            <a:endParaRPr sz="1350" dirty="0">
              <a:latin typeface="Times New Roman"/>
              <a:cs typeface="Times New Roman"/>
            </a:endParaRPr>
          </a:p>
        </p:txBody>
      </p:sp>
      <p:sp>
        <p:nvSpPr>
          <p:cNvPr id="4" name="object 4"/>
          <p:cNvSpPr/>
          <p:nvPr/>
        </p:nvSpPr>
        <p:spPr>
          <a:xfrm>
            <a:off x="722134" y="739533"/>
            <a:ext cx="6327775" cy="3556000"/>
          </a:xfrm>
          <a:custGeom>
            <a:avLst/>
            <a:gdLst/>
            <a:ahLst/>
            <a:cxnLst/>
            <a:rect l="l" t="t" r="r" b="b"/>
            <a:pathLst>
              <a:path w="6327775" h="3556000">
                <a:moveTo>
                  <a:pt x="6327648" y="0"/>
                </a:moveTo>
                <a:lnTo>
                  <a:pt x="0" y="0"/>
                </a:lnTo>
                <a:lnTo>
                  <a:pt x="0" y="3555733"/>
                </a:lnTo>
                <a:lnTo>
                  <a:pt x="6327648" y="3555733"/>
                </a:lnTo>
                <a:lnTo>
                  <a:pt x="6327648" y="0"/>
                </a:lnTo>
                <a:close/>
              </a:path>
            </a:pathLst>
          </a:custGeom>
          <a:ln w="8153">
            <a:solidFill>
              <a:srgbClr val="000000"/>
            </a:solidFill>
          </a:ln>
        </p:spPr>
        <p:txBody>
          <a:bodyPr wrap="square" lIns="0" tIns="0" rIns="0" bIns="0" rtlCol="0"/>
          <a:lstStyle/>
          <a:p>
            <a:endParaRPr/>
          </a:p>
        </p:txBody>
      </p:sp>
      <p:sp>
        <p:nvSpPr>
          <p:cNvPr id="5" name="object 5"/>
          <p:cNvSpPr/>
          <p:nvPr/>
        </p:nvSpPr>
        <p:spPr>
          <a:xfrm>
            <a:off x="654799" y="5968"/>
            <a:ext cx="6463030" cy="5022850"/>
          </a:xfrm>
          <a:custGeom>
            <a:avLst/>
            <a:gdLst/>
            <a:ahLst/>
            <a:cxnLst/>
            <a:rect l="l" t="t" r="r" b="b"/>
            <a:pathLst>
              <a:path w="6463030" h="5022850">
                <a:moveTo>
                  <a:pt x="0" y="0"/>
                </a:moveTo>
                <a:lnTo>
                  <a:pt x="6462801" y="0"/>
                </a:lnTo>
                <a:lnTo>
                  <a:pt x="6462801" y="5022850"/>
                </a:lnTo>
                <a:lnTo>
                  <a:pt x="0" y="5022850"/>
                </a:lnTo>
                <a:lnTo>
                  <a:pt x="0" y="0"/>
                </a:lnTo>
                <a:close/>
              </a:path>
            </a:pathLst>
          </a:custGeom>
          <a:ln w="3175">
            <a:solidFill>
              <a:srgbClr val="000000"/>
            </a:solidFill>
          </a:ln>
        </p:spPr>
        <p:txBody>
          <a:bodyPr wrap="square" lIns="0" tIns="0" rIns="0" bIns="0" rtlCol="0"/>
          <a:lstStyle/>
          <a:p>
            <a:endParaRPr/>
          </a:p>
        </p:txBody>
      </p:sp>
      <p:sp>
        <p:nvSpPr>
          <p:cNvPr id="6" name="object 6"/>
          <p:cNvSpPr/>
          <p:nvPr/>
        </p:nvSpPr>
        <p:spPr>
          <a:xfrm>
            <a:off x="718299" y="5758535"/>
            <a:ext cx="6335801" cy="3563886"/>
          </a:xfrm>
          <a:prstGeom prst="rect">
            <a:avLst/>
          </a:prstGeom>
          <a:blipFill>
            <a:blip r:embed="rId3" cstate="print"/>
            <a:stretch>
              <a:fillRect/>
            </a:stretch>
          </a:blipFill>
        </p:spPr>
        <p:txBody>
          <a:bodyPr wrap="square" lIns="0" tIns="0" rIns="0" bIns="0" rtlCol="0"/>
          <a:lstStyle/>
          <a:p>
            <a:endParaRPr/>
          </a:p>
        </p:txBody>
      </p:sp>
      <p:sp>
        <p:nvSpPr>
          <p:cNvPr id="7" name="object 7"/>
          <p:cNvSpPr/>
          <p:nvPr/>
        </p:nvSpPr>
        <p:spPr>
          <a:xfrm>
            <a:off x="790778" y="8994597"/>
            <a:ext cx="6144895" cy="328295"/>
          </a:xfrm>
          <a:custGeom>
            <a:avLst/>
            <a:gdLst/>
            <a:ahLst/>
            <a:cxnLst/>
            <a:rect l="l" t="t" r="r" b="b"/>
            <a:pathLst>
              <a:path w="6144895" h="328295">
                <a:moveTo>
                  <a:pt x="0" y="327825"/>
                </a:moveTo>
                <a:lnTo>
                  <a:pt x="6144768" y="327825"/>
                </a:lnTo>
                <a:lnTo>
                  <a:pt x="6144768" y="0"/>
                </a:lnTo>
                <a:lnTo>
                  <a:pt x="0" y="0"/>
                </a:lnTo>
                <a:lnTo>
                  <a:pt x="0" y="327825"/>
                </a:lnTo>
                <a:close/>
              </a:path>
            </a:pathLst>
          </a:custGeom>
          <a:solidFill>
            <a:srgbClr val="FFFFFF"/>
          </a:solidFill>
        </p:spPr>
        <p:txBody>
          <a:bodyPr wrap="square" lIns="0" tIns="0" rIns="0" bIns="0" rtlCol="0"/>
          <a:lstStyle/>
          <a:p>
            <a:endParaRPr/>
          </a:p>
        </p:txBody>
      </p:sp>
      <p:sp>
        <p:nvSpPr>
          <p:cNvPr id="8" name="object 8"/>
          <p:cNvSpPr txBox="1"/>
          <p:nvPr/>
        </p:nvSpPr>
        <p:spPr>
          <a:xfrm>
            <a:off x="722134" y="5762371"/>
            <a:ext cx="6327775" cy="3556000"/>
          </a:xfrm>
          <a:prstGeom prst="rect">
            <a:avLst/>
          </a:prstGeom>
          <a:ln w="8153">
            <a:solidFill>
              <a:srgbClr val="000000"/>
            </a:solidFill>
          </a:ln>
        </p:spPr>
        <p:txBody>
          <a:bodyPr vert="horz" wrap="square" lIns="0" tIns="0" rIns="0" bIns="0" rtlCol="0">
            <a:spAutoFit/>
          </a:bodyPr>
          <a:lstStyle/>
          <a:p>
            <a:pPr marL="803275">
              <a:lnSpc>
                <a:spcPts val="2560"/>
              </a:lnSpc>
            </a:pPr>
            <a:r>
              <a:rPr sz="2150" b="1" spc="15" dirty="0">
                <a:solidFill>
                  <a:srgbClr val="FFFFFF"/>
                </a:solidFill>
                <a:latin typeface="Arial Narrow"/>
                <a:cs typeface="Arial Narrow"/>
              </a:rPr>
              <a:t>Main App Implements Runnable: Template</a:t>
            </a:r>
            <a:r>
              <a:rPr sz="2150" b="1" spc="-140" dirty="0">
                <a:solidFill>
                  <a:srgbClr val="FFFFFF"/>
                </a:solidFill>
                <a:latin typeface="Arial Narrow"/>
                <a:cs typeface="Arial Narrow"/>
              </a:rPr>
              <a:t> </a:t>
            </a:r>
            <a:r>
              <a:rPr sz="2150" b="1" spc="15" dirty="0">
                <a:solidFill>
                  <a:srgbClr val="FFFFFF"/>
                </a:solidFill>
                <a:latin typeface="Arial Narrow"/>
                <a:cs typeface="Arial Narrow"/>
              </a:rPr>
              <a:t>Code</a:t>
            </a:r>
            <a:endParaRPr sz="2150" dirty="0">
              <a:latin typeface="Arial Narrow"/>
              <a:cs typeface="Arial Narrow"/>
            </a:endParaRPr>
          </a:p>
          <a:p>
            <a:pPr>
              <a:lnSpc>
                <a:spcPct val="100000"/>
              </a:lnSpc>
            </a:pPr>
            <a:endParaRPr sz="1900" dirty="0">
              <a:latin typeface="Times New Roman"/>
              <a:cs typeface="Times New Roman"/>
            </a:endParaRPr>
          </a:p>
          <a:p>
            <a:pPr marL="291465" marR="770255" indent="-167005">
              <a:lnSpc>
                <a:spcPct val="119700"/>
              </a:lnSpc>
              <a:spcBef>
                <a:spcPts val="5"/>
              </a:spcBef>
            </a:pPr>
            <a:r>
              <a:rPr sz="1100" b="1" spc="-5" dirty="0">
                <a:latin typeface="Courier New"/>
                <a:cs typeface="Courier New"/>
              </a:rPr>
              <a:t>public class </a:t>
            </a:r>
            <a:r>
              <a:rPr sz="1100" b="1" spc="-10" dirty="0">
                <a:latin typeface="Courier New"/>
                <a:cs typeface="Courier New"/>
              </a:rPr>
              <a:t>ThreadedClass </a:t>
            </a:r>
            <a:r>
              <a:rPr sz="1100" b="1" spc="-5" dirty="0">
                <a:latin typeface="Courier New"/>
                <a:cs typeface="Courier New"/>
              </a:rPr>
              <a:t>extends AnyClass </a:t>
            </a:r>
            <a:r>
              <a:rPr sz="1100" b="1" spc="-5" dirty="0">
                <a:solidFill>
                  <a:srgbClr val="FF0000"/>
                </a:solidFill>
                <a:latin typeface="Courier New"/>
                <a:cs typeface="Courier New"/>
              </a:rPr>
              <a:t>implements Runnable </a:t>
            </a:r>
            <a:r>
              <a:rPr sz="1100" b="1" spc="-5" dirty="0">
                <a:latin typeface="Courier New"/>
                <a:cs typeface="Courier New"/>
              </a:rPr>
              <a:t>{  </a:t>
            </a:r>
            <a:r>
              <a:rPr sz="1100" b="1" spc="-5" dirty="0">
                <a:solidFill>
                  <a:srgbClr val="FF0000"/>
                </a:solidFill>
                <a:latin typeface="Courier New"/>
                <a:cs typeface="Courier New"/>
              </a:rPr>
              <a:t>public void run()</a:t>
            </a:r>
            <a:r>
              <a:rPr sz="1100" b="1" spc="-105" dirty="0">
                <a:solidFill>
                  <a:srgbClr val="FF0000"/>
                </a:solidFill>
                <a:latin typeface="Courier New"/>
                <a:cs typeface="Courier New"/>
              </a:rPr>
              <a:t> </a:t>
            </a:r>
            <a:r>
              <a:rPr sz="1100" b="1" spc="-5" dirty="0">
                <a:latin typeface="Courier New"/>
                <a:cs typeface="Courier New"/>
              </a:rPr>
              <a:t>{</a:t>
            </a:r>
            <a:endParaRPr sz="1100" dirty="0">
              <a:latin typeface="Courier New"/>
              <a:cs typeface="Courier New"/>
            </a:endParaRPr>
          </a:p>
          <a:p>
            <a:pPr marL="458470">
              <a:lnSpc>
                <a:spcPct val="100000"/>
              </a:lnSpc>
              <a:spcBef>
                <a:spcPts val="260"/>
              </a:spcBef>
            </a:pPr>
            <a:r>
              <a:rPr sz="1100" spc="-5" dirty="0">
                <a:latin typeface="Courier New"/>
                <a:cs typeface="Courier New"/>
              </a:rPr>
              <a:t>// Code to run in</a:t>
            </a:r>
            <a:r>
              <a:rPr sz="1100" spc="-100" dirty="0">
                <a:latin typeface="Courier New"/>
                <a:cs typeface="Courier New"/>
              </a:rPr>
              <a:t> </a:t>
            </a:r>
            <a:r>
              <a:rPr sz="1100" spc="-5" dirty="0">
                <a:latin typeface="Courier New"/>
                <a:cs typeface="Courier New"/>
              </a:rPr>
              <a:t>background</a:t>
            </a:r>
            <a:endParaRPr sz="1100" dirty="0">
              <a:latin typeface="Courier New"/>
              <a:cs typeface="Courier New"/>
            </a:endParaRPr>
          </a:p>
          <a:p>
            <a:pPr marL="291465">
              <a:lnSpc>
                <a:spcPct val="100000"/>
              </a:lnSpc>
              <a:spcBef>
                <a:spcPts val="259"/>
              </a:spcBef>
            </a:pPr>
            <a:r>
              <a:rPr sz="1100" b="1" spc="-5" dirty="0">
                <a:latin typeface="Courier New"/>
                <a:cs typeface="Courier New"/>
              </a:rPr>
              <a:t>}</a:t>
            </a:r>
            <a:endParaRPr sz="1100" dirty="0">
              <a:latin typeface="Courier New"/>
              <a:cs typeface="Courier New"/>
            </a:endParaRPr>
          </a:p>
          <a:p>
            <a:pPr>
              <a:lnSpc>
                <a:spcPct val="100000"/>
              </a:lnSpc>
              <a:spcBef>
                <a:spcPts val="25"/>
              </a:spcBef>
            </a:pPr>
            <a:endParaRPr sz="1350" dirty="0">
              <a:latin typeface="Times New Roman"/>
              <a:cs typeface="Times New Roman"/>
            </a:endParaRPr>
          </a:p>
          <a:p>
            <a:pPr marL="458470" marR="3686810" indent="-167005">
              <a:lnSpc>
                <a:spcPct val="120000"/>
              </a:lnSpc>
            </a:pPr>
            <a:r>
              <a:rPr sz="1100" b="1" spc="-5" dirty="0">
                <a:latin typeface="Courier New"/>
                <a:cs typeface="Courier New"/>
              </a:rPr>
              <a:t>public void </a:t>
            </a:r>
            <a:r>
              <a:rPr sz="1100" b="1" spc="-10" dirty="0">
                <a:latin typeface="Courier New"/>
                <a:cs typeface="Courier New"/>
              </a:rPr>
              <a:t>startThreads() </a:t>
            </a:r>
            <a:r>
              <a:rPr sz="1100" b="1" spc="-5" dirty="0">
                <a:latin typeface="Courier New"/>
                <a:cs typeface="Courier New"/>
              </a:rPr>
              <a:t>{  int poolSize =</a:t>
            </a:r>
            <a:r>
              <a:rPr sz="1100" b="1" spc="-105" dirty="0">
                <a:latin typeface="Courier New"/>
                <a:cs typeface="Courier New"/>
              </a:rPr>
              <a:t> </a:t>
            </a:r>
            <a:r>
              <a:rPr sz="1100" b="1" spc="-5" dirty="0">
                <a:latin typeface="Courier New"/>
                <a:cs typeface="Courier New"/>
              </a:rPr>
              <a:t>...;</a:t>
            </a:r>
            <a:endParaRPr sz="1100" dirty="0">
              <a:latin typeface="Courier New"/>
              <a:cs typeface="Courier New"/>
            </a:endParaRPr>
          </a:p>
          <a:p>
            <a:pPr marL="458470" marR="353695">
              <a:lnSpc>
                <a:spcPts val="1580"/>
              </a:lnSpc>
              <a:spcBef>
                <a:spcPts val="95"/>
              </a:spcBef>
            </a:pPr>
            <a:r>
              <a:rPr sz="1100" b="1" spc="-5" dirty="0">
                <a:solidFill>
                  <a:srgbClr val="FF0000"/>
                </a:solidFill>
                <a:latin typeface="Courier New"/>
                <a:cs typeface="Courier New"/>
              </a:rPr>
              <a:t>ExecutorService </a:t>
            </a:r>
            <a:r>
              <a:rPr sz="1100" b="1" spc="-10" dirty="0">
                <a:solidFill>
                  <a:srgbClr val="FF0000"/>
                </a:solidFill>
                <a:latin typeface="Courier New"/>
                <a:cs typeface="Courier New"/>
              </a:rPr>
              <a:t>taskList </a:t>
            </a:r>
            <a:r>
              <a:rPr sz="1100" b="1" spc="-5" dirty="0">
                <a:solidFill>
                  <a:srgbClr val="FF0000"/>
                </a:solidFill>
                <a:latin typeface="Courier New"/>
                <a:cs typeface="Courier New"/>
              </a:rPr>
              <a:t>= Executors.newFixedThreadPool(poolSize);  </a:t>
            </a:r>
            <a:r>
              <a:rPr sz="1100" b="1" spc="-5" dirty="0">
                <a:latin typeface="Courier New"/>
                <a:cs typeface="Courier New"/>
              </a:rPr>
              <a:t>for(int i=0; </a:t>
            </a:r>
            <a:r>
              <a:rPr sz="1100" b="1" spc="-10" dirty="0">
                <a:latin typeface="Courier New"/>
                <a:cs typeface="Courier New"/>
              </a:rPr>
              <a:t>i&lt;someSize; </a:t>
            </a:r>
            <a:r>
              <a:rPr sz="1100" b="1" spc="-5" dirty="0">
                <a:latin typeface="Courier New"/>
                <a:cs typeface="Courier New"/>
              </a:rPr>
              <a:t>i++)</a:t>
            </a:r>
            <a:r>
              <a:rPr sz="1100" b="1" spc="-45" dirty="0">
                <a:latin typeface="Courier New"/>
                <a:cs typeface="Courier New"/>
              </a:rPr>
              <a:t> </a:t>
            </a:r>
            <a:r>
              <a:rPr sz="1100" b="1" spc="-5" dirty="0">
                <a:latin typeface="Courier New"/>
                <a:cs typeface="Courier New"/>
              </a:rPr>
              <a:t>{</a:t>
            </a:r>
            <a:endParaRPr sz="1100" dirty="0">
              <a:latin typeface="Courier New"/>
              <a:cs typeface="Courier New"/>
            </a:endParaRPr>
          </a:p>
          <a:p>
            <a:pPr marR="3145155" algn="ctr">
              <a:lnSpc>
                <a:spcPct val="100000"/>
              </a:lnSpc>
              <a:spcBef>
                <a:spcPts val="160"/>
              </a:spcBef>
            </a:pPr>
            <a:r>
              <a:rPr sz="1100" b="1" spc="-10" dirty="0">
                <a:solidFill>
                  <a:srgbClr val="FF0000"/>
                </a:solidFill>
                <a:latin typeface="Courier New"/>
                <a:cs typeface="Courier New"/>
              </a:rPr>
              <a:t>taskList.execute(</a:t>
            </a:r>
            <a:r>
              <a:rPr sz="1100" b="1" spc="-10" dirty="0">
                <a:solidFill>
                  <a:srgbClr val="0000CC"/>
                </a:solidFill>
                <a:latin typeface="Courier New"/>
                <a:cs typeface="Courier New"/>
              </a:rPr>
              <a:t>this</a:t>
            </a:r>
            <a:r>
              <a:rPr sz="1100" b="1" spc="-10" dirty="0">
                <a:solidFill>
                  <a:srgbClr val="FF0000"/>
                </a:solidFill>
                <a:latin typeface="Courier New"/>
                <a:cs typeface="Courier New"/>
              </a:rPr>
              <a:t>);</a:t>
            </a:r>
            <a:endParaRPr sz="1100" dirty="0">
              <a:latin typeface="Courier New"/>
              <a:cs typeface="Courier New"/>
            </a:endParaRPr>
          </a:p>
          <a:p>
            <a:pPr marL="458470">
              <a:lnSpc>
                <a:spcPct val="100000"/>
              </a:lnSpc>
              <a:spcBef>
                <a:spcPts val="260"/>
              </a:spcBef>
            </a:pPr>
            <a:r>
              <a:rPr sz="1100" b="1" spc="-5" dirty="0">
                <a:latin typeface="Courier New"/>
                <a:cs typeface="Courier New"/>
              </a:rPr>
              <a:t>}</a:t>
            </a:r>
            <a:endParaRPr sz="1100" dirty="0">
              <a:latin typeface="Courier New"/>
              <a:cs typeface="Courier New"/>
            </a:endParaRPr>
          </a:p>
          <a:p>
            <a:pPr marL="291465">
              <a:lnSpc>
                <a:spcPct val="100000"/>
              </a:lnSpc>
              <a:spcBef>
                <a:spcPts val="259"/>
              </a:spcBef>
            </a:pPr>
            <a:r>
              <a:rPr sz="1100" b="1" spc="-5" dirty="0">
                <a:latin typeface="Courier New"/>
                <a:cs typeface="Courier New"/>
              </a:rPr>
              <a:t>}</a:t>
            </a:r>
            <a:endParaRPr sz="1100" dirty="0">
              <a:latin typeface="Courier New"/>
              <a:cs typeface="Courier New"/>
            </a:endParaRPr>
          </a:p>
          <a:p>
            <a:pPr marL="291465">
              <a:lnSpc>
                <a:spcPct val="100000"/>
              </a:lnSpc>
              <a:spcBef>
                <a:spcPts val="260"/>
              </a:spcBef>
            </a:pPr>
            <a:r>
              <a:rPr sz="1100" b="1" spc="-5" dirty="0">
                <a:latin typeface="Courier New"/>
                <a:cs typeface="Courier New"/>
              </a:rPr>
              <a:t>...</a:t>
            </a:r>
            <a:endParaRPr sz="1100" dirty="0">
              <a:latin typeface="Courier New"/>
              <a:cs typeface="Courier New"/>
            </a:endParaRPr>
          </a:p>
          <a:p>
            <a:pPr marL="125095">
              <a:lnSpc>
                <a:spcPct val="100000"/>
              </a:lnSpc>
              <a:spcBef>
                <a:spcPts val="259"/>
              </a:spcBef>
            </a:pPr>
            <a:r>
              <a:rPr sz="1100" b="1" spc="-5" dirty="0">
                <a:latin typeface="Courier New"/>
                <a:cs typeface="Courier New"/>
              </a:rPr>
              <a:t>}</a:t>
            </a:r>
            <a:endParaRPr sz="1100" dirty="0">
              <a:latin typeface="Courier New"/>
              <a:cs typeface="Courier New"/>
            </a:endParaRPr>
          </a:p>
        </p:txBody>
      </p:sp>
      <p:sp>
        <p:nvSpPr>
          <p:cNvPr id="9" name="object 9"/>
          <p:cNvSpPr/>
          <p:nvPr/>
        </p:nvSpPr>
        <p:spPr>
          <a:xfrm>
            <a:off x="654799" y="5028819"/>
            <a:ext cx="6463030" cy="5022850"/>
          </a:xfrm>
          <a:custGeom>
            <a:avLst/>
            <a:gdLst/>
            <a:ahLst/>
            <a:cxnLst/>
            <a:rect l="l" t="t" r="r" b="b"/>
            <a:pathLst>
              <a:path w="6463030" h="5022850">
                <a:moveTo>
                  <a:pt x="0" y="0"/>
                </a:moveTo>
                <a:lnTo>
                  <a:pt x="6462801" y="0"/>
                </a:lnTo>
                <a:lnTo>
                  <a:pt x="6462801" y="5022850"/>
                </a:lnTo>
                <a:lnTo>
                  <a:pt x="0" y="5022850"/>
                </a:lnTo>
                <a:lnTo>
                  <a:pt x="0" y="0"/>
                </a:lnTo>
                <a:close/>
              </a:path>
            </a:pathLst>
          </a:custGeom>
          <a:ln w="3175">
            <a:solidFill>
              <a:srgbClr val="000000"/>
            </a:solidFill>
          </a:ln>
        </p:spPr>
        <p:txBody>
          <a:bodyPr wrap="square" lIns="0" tIns="0" rIns="0" bIns="0" rtlCol="0"/>
          <a:lstStyle/>
          <a:p>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845973" y="739584"/>
            <a:ext cx="5133340" cy="330860"/>
          </a:xfrm>
          <a:prstGeom prst="rect">
            <a:avLst/>
          </a:prstGeom>
        </p:spPr>
        <p:txBody>
          <a:bodyPr vert="horz" wrap="square" lIns="0" tIns="0" rIns="0" bIns="0" rtlCol="0">
            <a:spAutoFit/>
          </a:bodyPr>
          <a:lstStyle/>
          <a:p>
            <a:pPr marL="683895">
              <a:lnSpc>
                <a:spcPct val="100000"/>
              </a:lnSpc>
            </a:pPr>
            <a:r>
              <a:rPr sz="2150" b="1" spc="15" dirty="0">
                <a:solidFill>
                  <a:srgbClr val="FFFFFF"/>
                </a:solidFill>
                <a:latin typeface="Arial"/>
                <a:cs typeface="Arial"/>
              </a:rPr>
              <a:t>Thread Mechanism Two:</a:t>
            </a:r>
            <a:r>
              <a:rPr sz="2150" b="1" spc="-110" dirty="0">
                <a:solidFill>
                  <a:srgbClr val="FFFFFF"/>
                </a:solidFill>
                <a:latin typeface="Arial"/>
                <a:cs typeface="Arial"/>
              </a:rPr>
              <a:t> </a:t>
            </a:r>
            <a:r>
              <a:rPr sz="2150" b="1" spc="15" dirty="0" smtClean="0">
                <a:solidFill>
                  <a:srgbClr val="FFFFFF"/>
                </a:solidFill>
                <a:latin typeface="Arial"/>
                <a:cs typeface="Arial"/>
              </a:rPr>
              <a:t>Example</a:t>
            </a:r>
            <a:endParaRPr sz="2150" dirty="0">
              <a:latin typeface="Arial"/>
              <a:cs typeface="Arial"/>
            </a:endParaRPr>
          </a:p>
        </p:txBody>
      </p:sp>
      <p:sp>
        <p:nvSpPr>
          <p:cNvPr id="6" name="object 6"/>
          <p:cNvSpPr/>
          <p:nvPr/>
        </p:nvSpPr>
        <p:spPr>
          <a:xfrm>
            <a:off x="722134" y="739532"/>
            <a:ext cx="6327775" cy="8937868"/>
          </a:xfrm>
          <a:custGeom>
            <a:avLst/>
            <a:gdLst/>
            <a:ahLst/>
            <a:cxnLst/>
            <a:rect l="l" t="t" r="r" b="b"/>
            <a:pathLst>
              <a:path w="6327775" h="3556000">
                <a:moveTo>
                  <a:pt x="6327648" y="0"/>
                </a:moveTo>
                <a:lnTo>
                  <a:pt x="0" y="0"/>
                </a:lnTo>
                <a:lnTo>
                  <a:pt x="0" y="3555733"/>
                </a:lnTo>
                <a:lnTo>
                  <a:pt x="6327648" y="3555733"/>
                </a:lnTo>
                <a:lnTo>
                  <a:pt x="6327648" y="0"/>
                </a:lnTo>
                <a:close/>
              </a:path>
            </a:pathLst>
          </a:custGeom>
          <a:ln w="8153">
            <a:solidFill>
              <a:srgbClr val="000000"/>
            </a:solidFill>
          </a:ln>
        </p:spPr>
        <p:txBody>
          <a:bodyPr wrap="square" lIns="0" tIns="0" rIns="0" bIns="0" rtlCol="0"/>
          <a:lstStyle/>
          <a:p>
            <a:endParaRPr/>
          </a:p>
        </p:txBody>
      </p:sp>
      <p:sp>
        <p:nvSpPr>
          <p:cNvPr id="9" name="object 9"/>
          <p:cNvSpPr/>
          <p:nvPr/>
        </p:nvSpPr>
        <p:spPr>
          <a:xfrm>
            <a:off x="790778" y="8994597"/>
            <a:ext cx="6144895" cy="328295"/>
          </a:xfrm>
          <a:custGeom>
            <a:avLst/>
            <a:gdLst/>
            <a:ahLst/>
            <a:cxnLst/>
            <a:rect l="l" t="t" r="r" b="b"/>
            <a:pathLst>
              <a:path w="6144895" h="328295">
                <a:moveTo>
                  <a:pt x="0" y="327825"/>
                </a:moveTo>
                <a:lnTo>
                  <a:pt x="6144768" y="327825"/>
                </a:lnTo>
                <a:lnTo>
                  <a:pt x="6144768" y="0"/>
                </a:lnTo>
                <a:lnTo>
                  <a:pt x="0" y="0"/>
                </a:lnTo>
                <a:lnTo>
                  <a:pt x="0" y="327825"/>
                </a:lnTo>
                <a:close/>
              </a:path>
            </a:pathLst>
          </a:custGeom>
          <a:solidFill>
            <a:srgbClr val="FFFFFF"/>
          </a:solidFill>
        </p:spPr>
        <p:txBody>
          <a:bodyPr wrap="square" lIns="0" tIns="0" rIns="0" bIns="0" rtlCol="0"/>
          <a:lstStyle/>
          <a:p>
            <a:endParaRPr/>
          </a:p>
        </p:txBody>
      </p:sp>
      <p:sp>
        <p:nvSpPr>
          <p:cNvPr id="10" name="object 10"/>
          <p:cNvSpPr txBox="1"/>
          <p:nvPr/>
        </p:nvSpPr>
        <p:spPr>
          <a:xfrm>
            <a:off x="1517256" y="5486400"/>
            <a:ext cx="4476750" cy="661720"/>
          </a:xfrm>
          <a:prstGeom prst="rect">
            <a:avLst/>
          </a:prstGeom>
        </p:spPr>
        <p:txBody>
          <a:bodyPr vert="horz" wrap="square" lIns="0" tIns="0" rIns="0" bIns="0" rtlCol="0">
            <a:spAutoFit/>
          </a:bodyPr>
          <a:lstStyle/>
          <a:p>
            <a:pPr marL="12700">
              <a:lnSpc>
                <a:spcPct val="100000"/>
              </a:lnSpc>
            </a:pPr>
            <a:endParaRPr lang="en-US" sz="2150" b="1" spc="15" dirty="0" smtClean="0">
              <a:solidFill>
                <a:srgbClr val="FFFFFF"/>
              </a:solidFill>
              <a:latin typeface="Arial"/>
              <a:cs typeface="Arial"/>
            </a:endParaRPr>
          </a:p>
          <a:p>
            <a:pPr marL="12700">
              <a:lnSpc>
                <a:spcPct val="100000"/>
              </a:lnSpc>
            </a:pPr>
            <a:r>
              <a:rPr sz="2150" b="1" spc="15" dirty="0" smtClean="0">
                <a:solidFill>
                  <a:srgbClr val="FFFFFF"/>
                </a:solidFill>
                <a:latin typeface="Arial"/>
                <a:cs typeface="Arial"/>
              </a:rPr>
              <a:t>Thread </a:t>
            </a:r>
            <a:r>
              <a:rPr sz="2150" b="1" spc="15" dirty="0">
                <a:solidFill>
                  <a:srgbClr val="FFFFFF"/>
                </a:solidFill>
                <a:latin typeface="Arial"/>
                <a:cs typeface="Arial"/>
              </a:rPr>
              <a:t>Mechanism </a:t>
            </a:r>
            <a:r>
              <a:rPr sz="2150" b="1" spc="20" dirty="0">
                <a:solidFill>
                  <a:srgbClr val="FFFFFF"/>
                </a:solidFill>
                <a:latin typeface="Arial"/>
                <a:cs typeface="Arial"/>
              </a:rPr>
              <a:t>Two:</a:t>
            </a:r>
            <a:r>
              <a:rPr sz="2150" b="1" spc="-120" dirty="0">
                <a:solidFill>
                  <a:srgbClr val="FFFFFF"/>
                </a:solidFill>
                <a:latin typeface="Arial"/>
                <a:cs typeface="Arial"/>
              </a:rPr>
              <a:t> </a:t>
            </a:r>
            <a:r>
              <a:rPr sz="2150" b="1" spc="20" dirty="0">
                <a:solidFill>
                  <a:srgbClr val="FFFFFF"/>
                </a:solidFill>
                <a:latin typeface="Arial"/>
                <a:cs typeface="Arial"/>
              </a:rPr>
              <a:t>Example</a:t>
            </a:r>
            <a:endParaRPr sz="2150" dirty="0">
              <a:latin typeface="Arial"/>
              <a:cs typeface="Arial"/>
            </a:endParaRPr>
          </a:p>
        </p:txBody>
      </p:sp>
      <p:sp>
        <p:nvSpPr>
          <p:cNvPr id="11" name="object 11"/>
          <p:cNvSpPr txBox="1"/>
          <p:nvPr/>
        </p:nvSpPr>
        <p:spPr>
          <a:xfrm>
            <a:off x="967668" y="5904026"/>
            <a:ext cx="5010150" cy="507831"/>
          </a:xfrm>
          <a:prstGeom prst="rect">
            <a:avLst/>
          </a:prstGeom>
        </p:spPr>
        <p:txBody>
          <a:bodyPr vert="horz" wrap="square" lIns="0" tIns="0" rIns="0" bIns="0" rtlCol="0">
            <a:spAutoFit/>
          </a:bodyPr>
          <a:lstStyle/>
          <a:p>
            <a:pPr marL="12700">
              <a:lnSpc>
                <a:spcPct val="100000"/>
              </a:lnSpc>
              <a:spcBef>
                <a:spcPts val="1245"/>
              </a:spcBef>
            </a:pPr>
            <a:endParaRPr lang="en-US" sz="1150" b="1" spc="-5" dirty="0" smtClean="0">
              <a:latin typeface="Courier New"/>
              <a:cs typeface="Courier New"/>
            </a:endParaRPr>
          </a:p>
          <a:p>
            <a:pPr marL="12700">
              <a:lnSpc>
                <a:spcPct val="100000"/>
              </a:lnSpc>
              <a:spcBef>
                <a:spcPts val="1245"/>
              </a:spcBef>
            </a:pPr>
            <a:endParaRPr lang="en-US" sz="1150" b="1" spc="-5" dirty="0">
              <a:latin typeface="Courier New"/>
              <a:cs typeface="Courier New"/>
            </a:endParaRPr>
          </a:p>
        </p:txBody>
      </p:sp>
      <p:sp>
        <p:nvSpPr>
          <p:cNvPr id="2" name="Rectangle 1"/>
          <p:cNvSpPr/>
          <p:nvPr/>
        </p:nvSpPr>
        <p:spPr>
          <a:xfrm>
            <a:off x="722135" y="1219200"/>
            <a:ext cx="6327774" cy="5693866"/>
          </a:xfrm>
          <a:prstGeom prst="rect">
            <a:avLst/>
          </a:prstGeom>
        </p:spPr>
        <p:txBody>
          <a:bodyPr wrap="square">
            <a:spAutoFit/>
          </a:bodyPr>
          <a:lstStyle/>
          <a:p>
            <a:r>
              <a:rPr lang="en-IE" sz="1400" b="1" dirty="0" smtClean="0">
                <a:solidFill>
                  <a:srgbClr val="7F0055"/>
                </a:solidFill>
                <a:latin typeface="Consolas"/>
              </a:rPr>
              <a:t>import</a:t>
            </a:r>
            <a:r>
              <a:rPr lang="en-IE" sz="1400" b="1" dirty="0" smtClean="0">
                <a:solidFill>
                  <a:srgbClr val="000000"/>
                </a:solidFill>
                <a:latin typeface="Consolas"/>
              </a:rPr>
              <a:t> </a:t>
            </a:r>
            <a:r>
              <a:rPr lang="en-IE" sz="1400" b="1" dirty="0" err="1">
                <a:solidFill>
                  <a:srgbClr val="000000"/>
                </a:solidFill>
                <a:latin typeface="Consolas"/>
              </a:rPr>
              <a:t>java.util.concurrent.ExecutorService</a:t>
            </a:r>
            <a:r>
              <a:rPr lang="en-IE" sz="1400" b="1" dirty="0">
                <a:solidFill>
                  <a:srgbClr val="000000"/>
                </a:solidFill>
                <a:latin typeface="Consolas"/>
              </a:rPr>
              <a:t>;</a:t>
            </a:r>
          </a:p>
          <a:p>
            <a:r>
              <a:rPr lang="en-IE" sz="1400" b="1" dirty="0">
                <a:solidFill>
                  <a:srgbClr val="7F0055"/>
                </a:solidFill>
                <a:latin typeface="Consolas"/>
              </a:rPr>
              <a:t>import</a:t>
            </a:r>
            <a:r>
              <a:rPr lang="en-IE" sz="1400" b="1" dirty="0">
                <a:solidFill>
                  <a:srgbClr val="000000"/>
                </a:solidFill>
                <a:latin typeface="Consolas"/>
              </a:rPr>
              <a:t> </a:t>
            </a:r>
            <a:r>
              <a:rPr lang="en-IE" sz="1400" b="1" dirty="0" err="1">
                <a:solidFill>
                  <a:srgbClr val="000000"/>
                </a:solidFill>
                <a:latin typeface="Consolas"/>
              </a:rPr>
              <a:t>java.util.concurrent.Executors</a:t>
            </a:r>
            <a:r>
              <a:rPr lang="en-IE" sz="1400" b="1" dirty="0">
                <a:solidFill>
                  <a:srgbClr val="000000"/>
                </a:solidFill>
                <a:latin typeface="Consolas"/>
              </a:rPr>
              <a:t>;</a:t>
            </a:r>
          </a:p>
          <a:p>
            <a:r>
              <a:rPr lang="en-IE" sz="1400" b="1" dirty="0">
                <a:solidFill>
                  <a:srgbClr val="7F0055"/>
                </a:solidFill>
                <a:latin typeface="Consolas"/>
              </a:rPr>
              <a:t>public</a:t>
            </a:r>
            <a:r>
              <a:rPr lang="en-IE" sz="1400" b="1" dirty="0">
                <a:solidFill>
                  <a:srgbClr val="000000"/>
                </a:solidFill>
                <a:latin typeface="Consolas"/>
              </a:rPr>
              <a:t> </a:t>
            </a:r>
            <a:r>
              <a:rPr lang="en-IE" sz="1400" b="1" dirty="0">
                <a:solidFill>
                  <a:srgbClr val="7F0055"/>
                </a:solidFill>
                <a:latin typeface="Consolas"/>
              </a:rPr>
              <a:t>class</a:t>
            </a:r>
            <a:r>
              <a:rPr lang="en-IE" sz="1400" b="1" dirty="0">
                <a:solidFill>
                  <a:srgbClr val="000000"/>
                </a:solidFill>
                <a:latin typeface="Consolas"/>
              </a:rPr>
              <a:t> App2 </a:t>
            </a:r>
            <a:r>
              <a:rPr lang="en-IE" sz="1400" b="1" dirty="0">
                <a:solidFill>
                  <a:srgbClr val="7F0055"/>
                </a:solidFill>
                <a:latin typeface="Consolas"/>
              </a:rPr>
              <a:t>implements</a:t>
            </a:r>
            <a:r>
              <a:rPr lang="en-IE" sz="1400" b="1" dirty="0">
                <a:solidFill>
                  <a:srgbClr val="000000"/>
                </a:solidFill>
                <a:latin typeface="Consolas"/>
              </a:rPr>
              <a:t> Runnable {  </a:t>
            </a:r>
          </a:p>
          <a:p>
            <a:r>
              <a:rPr lang="en-IE" sz="1400" b="1" dirty="0" smtClean="0">
                <a:solidFill>
                  <a:srgbClr val="7F0055"/>
                </a:solidFill>
                <a:latin typeface="Consolas"/>
              </a:rPr>
              <a:t>	private</a:t>
            </a:r>
            <a:r>
              <a:rPr lang="en-IE" sz="1400" b="1" dirty="0" smtClean="0">
                <a:solidFill>
                  <a:srgbClr val="000000"/>
                </a:solidFill>
                <a:latin typeface="Consolas"/>
              </a:rPr>
              <a:t> </a:t>
            </a:r>
            <a:r>
              <a:rPr lang="en-IE" sz="1400" b="1" dirty="0">
                <a:solidFill>
                  <a:srgbClr val="7F0055"/>
                </a:solidFill>
                <a:latin typeface="Consolas"/>
              </a:rPr>
              <a:t>final</a:t>
            </a:r>
            <a:r>
              <a:rPr lang="en-IE" sz="1400" b="1" dirty="0">
                <a:solidFill>
                  <a:srgbClr val="000000"/>
                </a:solidFill>
                <a:latin typeface="Consolas"/>
              </a:rPr>
              <a:t> </a:t>
            </a:r>
            <a:r>
              <a:rPr lang="en-IE" sz="1400" b="1" dirty="0" err="1">
                <a:solidFill>
                  <a:srgbClr val="7F0055"/>
                </a:solidFill>
                <a:latin typeface="Consolas"/>
              </a:rPr>
              <a:t>int</a:t>
            </a:r>
            <a:r>
              <a:rPr lang="en-IE" sz="1400" b="1" dirty="0">
                <a:solidFill>
                  <a:srgbClr val="000000"/>
                </a:solidFill>
                <a:latin typeface="Consolas"/>
              </a:rPr>
              <a:t> </a:t>
            </a:r>
            <a:r>
              <a:rPr lang="en-IE" sz="1400" b="1" dirty="0" err="1">
                <a:solidFill>
                  <a:srgbClr val="0000C0"/>
                </a:solidFill>
                <a:latin typeface="Consolas"/>
              </a:rPr>
              <a:t>loopLimit</a:t>
            </a:r>
            <a:r>
              <a:rPr lang="en-IE" sz="1400" b="1" dirty="0">
                <a:solidFill>
                  <a:srgbClr val="000000"/>
                </a:solidFill>
                <a:latin typeface="Consolas"/>
              </a:rPr>
              <a:t>;</a:t>
            </a:r>
          </a:p>
          <a:p>
            <a:endParaRPr lang="en-IE" sz="1400" dirty="0">
              <a:latin typeface="Consolas"/>
            </a:endParaRPr>
          </a:p>
          <a:p>
            <a:r>
              <a:rPr lang="en-IE" sz="1400" b="1" dirty="0">
                <a:solidFill>
                  <a:srgbClr val="7F0055"/>
                </a:solidFill>
                <a:latin typeface="Consolas"/>
              </a:rPr>
              <a:t>public</a:t>
            </a:r>
            <a:r>
              <a:rPr lang="en-IE" sz="1400" b="1" dirty="0">
                <a:solidFill>
                  <a:srgbClr val="000000"/>
                </a:solidFill>
                <a:latin typeface="Consolas"/>
              </a:rPr>
              <a:t> App2(</a:t>
            </a:r>
            <a:r>
              <a:rPr lang="en-IE" sz="1400" b="1" dirty="0" err="1">
                <a:solidFill>
                  <a:srgbClr val="7F0055"/>
                </a:solidFill>
                <a:latin typeface="Consolas"/>
              </a:rPr>
              <a:t>int</a:t>
            </a:r>
            <a:r>
              <a:rPr lang="en-IE" sz="1400" b="1" dirty="0">
                <a:solidFill>
                  <a:srgbClr val="000000"/>
                </a:solidFill>
                <a:latin typeface="Consolas"/>
              </a:rPr>
              <a:t> </a:t>
            </a:r>
            <a:r>
              <a:rPr lang="en-IE" sz="1400" b="1" dirty="0" err="1">
                <a:solidFill>
                  <a:srgbClr val="6A3E3E"/>
                </a:solidFill>
                <a:latin typeface="Consolas"/>
              </a:rPr>
              <a:t>loopLimit</a:t>
            </a:r>
            <a:r>
              <a:rPr lang="en-IE" sz="1400" b="1" dirty="0">
                <a:solidFill>
                  <a:srgbClr val="000000"/>
                </a:solidFill>
                <a:latin typeface="Consolas"/>
              </a:rPr>
              <a:t>) {  </a:t>
            </a:r>
            <a:endParaRPr lang="en-IE" sz="1400" b="1" dirty="0" smtClean="0">
              <a:solidFill>
                <a:srgbClr val="000000"/>
              </a:solidFill>
              <a:latin typeface="Consolas"/>
            </a:endParaRPr>
          </a:p>
          <a:p>
            <a:r>
              <a:rPr lang="en-IE" sz="1400" b="1" dirty="0" err="1" smtClean="0">
                <a:solidFill>
                  <a:srgbClr val="7F0055"/>
                </a:solidFill>
                <a:latin typeface="Consolas"/>
              </a:rPr>
              <a:t>this</a:t>
            </a:r>
            <a:r>
              <a:rPr lang="en-IE" sz="1400" b="1" dirty="0" err="1" smtClean="0">
                <a:solidFill>
                  <a:srgbClr val="000000"/>
                </a:solidFill>
                <a:latin typeface="Consolas"/>
              </a:rPr>
              <a:t>.</a:t>
            </a:r>
            <a:r>
              <a:rPr lang="en-IE" sz="1400" b="1" dirty="0" err="1" smtClean="0">
                <a:solidFill>
                  <a:srgbClr val="0000C0"/>
                </a:solidFill>
                <a:latin typeface="Consolas"/>
              </a:rPr>
              <a:t>loopLimit</a:t>
            </a:r>
            <a:r>
              <a:rPr lang="en-IE" sz="1400" b="1" dirty="0" smtClean="0">
                <a:solidFill>
                  <a:srgbClr val="000000"/>
                </a:solidFill>
                <a:latin typeface="Consolas"/>
              </a:rPr>
              <a:t> </a:t>
            </a:r>
            <a:r>
              <a:rPr lang="en-IE" sz="1400" b="1" dirty="0">
                <a:solidFill>
                  <a:srgbClr val="000000"/>
                </a:solidFill>
                <a:latin typeface="Consolas"/>
              </a:rPr>
              <a:t>= </a:t>
            </a:r>
            <a:r>
              <a:rPr lang="en-IE" sz="1400" b="1" dirty="0" err="1">
                <a:solidFill>
                  <a:srgbClr val="6A3E3E"/>
                </a:solidFill>
                <a:latin typeface="Consolas"/>
              </a:rPr>
              <a:t>loopLimit</a:t>
            </a:r>
            <a:r>
              <a:rPr lang="en-IE" sz="1400" b="1" dirty="0">
                <a:solidFill>
                  <a:srgbClr val="000000"/>
                </a:solidFill>
                <a:latin typeface="Consolas"/>
              </a:rPr>
              <a:t>;</a:t>
            </a:r>
          </a:p>
          <a:p>
            <a:r>
              <a:rPr lang="en-IE" sz="1400" dirty="0" err="1">
                <a:solidFill>
                  <a:srgbClr val="000000"/>
                </a:solidFill>
                <a:latin typeface="Consolas"/>
              </a:rPr>
              <a:t>ExecutorService</a:t>
            </a:r>
            <a:r>
              <a:rPr lang="en-IE" sz="1400" dirty="0">
                <a:solidFill>
                  <a:srgbClr val="000000"/>
                </a:solidFill>
                <a:latin typeface="Consolas"/>
              </a:rPr>
              <a:t> </a:t>
            </a:r>
            <a:r>
              <a:rPr lang="en-IE" sz="1400" dirty="0" err="1">
                <a:solidFill>
                  <a:srgbClr val="6A3E3E"/>
                </a:solidFill>
                <a:latin typeface="Consolas"/>
              </a:rPr>
              <a:t>taskList</a:t>
            </a:r>
            <a:r>
              <a:rPr lang="en-IE" sz="1400" dirty="0">
                <a:solidFill>
                  <a:srgbClr val="000000"/>
                </a:solidFill>
                <a:latin typeface="Consolas"/>
              </a:rPr>
              <a:t> = </a:t>
            </a:r>
            <a:r>
              <a:rPr lang="en-IE" sz="1400" dirty="0" err="1">
                <a:solidFill>
                  <a:srgbClr val="000000"/>
                </a:solidFill>
                <a:latin typeface="Consolas"/>
              </a:rPr>
              <a:t>Executors.</a:t>
            </a:r>
            <a:r>
              <a:rPr lang="en-IE" sz="1400" i="1" dirty="0" err="1">
                <a:solidFill>
                  <a:srgbClr val="000000"/>
                </a:solidFill>
                <a:latin typeface="Consolas"/>
              </a:rPr>
              <a:t>newFixedThreadPool</a:t>
            </a:r>
            <a:r>
              <a:rPr lang="en-IE" sz="1400" i="1" dirty="0">
                <a:solidFill>
                  <a:srgbClr val="000000"/>
                </a:solidFill>
                <a:latin typeface="Consolas"/>
              </a:rPr>
              <a:t>(100);  </a:t>
            </a:r>
          </a:p>
          <a:p>
            <a:r>
              <a:rPr lang="en-IE" sz="1400" dirty="0" err="1">
                <a:solidFill>
                  <a:srgbClr val="6A3E3E"/>
                </a:solidFill>
                <a:latin typeface="Consolas"/>
              </a:rPr>
              <a:t>taskList</a:t>
            </a:r>
            <a:r>
              <a:rPr lang="en-IE" sz="1400" dirty="0" err="1">
                <a:solidFill>
                  <a:srgbClr val="000000"/>
                </a:solidFill>
                <a:latin typeface="Consolas"/>
              </a:rPr>
              <a:t>.execute</a:t>
            </a:r>
            <a:r>
              <a:rPr lang="en-IE" sz="1400" dirty="0">
                <a:solidFill>
                  <a:srgbClr val="000000"/>
                </a:solidFill>
                <a:latin typeface="Consolas"/>
              </a:rPr>
              <a:t>(</a:t>
            </a:r>
            <a:r>
              <a:rPr lang="en-IE" sz="1400" b="1" dirty="0">
                <a:solidFill>
                  <a:srgbClr val="7F0055"/>
                </a:solidFill>
                <a:latin typeface="Consolas"/>
              </a:rPr>
              <a:t>this</a:t>
            </a:r>
            <a:r>
              <a:rPr lang="en-IE" sz="1400" b="1" dirty="0">
                <a:solidFill>
                  <a:srgbClr val="000000"/>
                </a:solidFill>
                <a:latin typeface="Consolas"/>
              </a:rPr>
              <a:t>);</a:t>
            </a:r>
          </a:p>
          <a:p>
            <a:r>
              <a:rPr lang="en-IE" sz="1400" dirty="0" err="1">
                <a:solidFill>
                  <a:srgbClr val="6A3E3E"/>
                </a:solidFill>
                <a:latin typeface="Consolas"/>
              </a:rPr>
              <a:t>taskList</a:t>
            </a:r>
            <a:r>
              <a:rPr lang="en-IE" sz="1400" dirty="0" err="1">
                <a:solidFill>
                  <a:srgbClr val="000000"/>
                </a:solidFill>
                <a:latin typeface="Consolas"/>
              </a:rPr>
              <a:t>.execute</a:t>
            </a:r>
            <a:r>
              <a:rPr lang="en-IE" sz="1400" dirty="0">
                <a:solidFill>
                  <a:srgbClr val="000000"/>
                </a:solidFill>
                <a:latin typeface="Consolas"/>
              </a:rPr>
              <a:t>(</a:t>
            </a:r>
            <a:r>
              <a:rPr lang="en-IE" sz="1400" b="1" dirty="0">
                <a:solidFill>
                  <a:srgbClr val="7F0055"/>
                </a:solidFill>
                <a:latin typeface="Consolas"/>
              </a:rPr>
              <a:t>this</a:t>
            </a:r>
            <a:r>
              <a:rPr lang="en-IE" sz="1400" b="1" dirty="0">
                <a:solidFill>
                  <a:srgbClr val="000000"/>
                </a:solidFill>
                <a:latin typeface="Consolas"/>
              </a:rPr>
              <a:t>);  </a:t>
            </a:r>
          </a:p>
          <a:p>
            <a:r>
              <a:rPr lang="en-IE" sz="1400" dirty="0" err="1">
                <a:solidFill>
                  <a:srgbClr val="6A3E3E"/>
                </a:solidFill>
                <a:latin typeface="Consolas"/>
              </a:rPr>
              <a:t>taskList</a:t>
            </a:r>
            <a:r>
              <a:rPr lang="en-IE" sz="1400" dirty="0" err="1">
                <a:solidFill>
                  <a:srgbClr val="000000"/>
                </a:solidFill>
                <a:latin typeface="Consolas"/>
              </a:rPr>
              <a:t>.execute</a:t>
            </a:r>
            <a:r>
              <a:rPr lang="en-IE" sz="1400" dirty="0">
                <a:solidFill>
                  <a:srgbClr val="000000"/>
                </a:solidFill>
                <a:latin typeface="Consolas"/>
              </a:rPr>
              <a:t>(</a:t>
            </a:r>
            <a:r>
              <a:rPr lang="en-IE" sz="1400" b="1" dirty="0">
                <a:solidFill>
                  <a:srgbClr val="7F0055"/>
                </a:solidFill>
                <a:latin typeface="Consolas"/>
              </a:rPr>
              <a:t>this</a:t>
            </a:r>
            <a:r>
              <a:rPr lang="en-IE" sz="1400" b="1" dirty="0">
                <a:solidFill>
                  <a:srgbClr val="000000"/>
                </a:solidFill>
                <a:latin typeface="Consolas"/>
              </a:rPr>
              <a:t>);  </a:t>
            </a:r>
          </a:p>
          <a:p>
            <a:r>
              <a:rPr lang="en-IE" sz="1400" dirty="0" err="1">
                <a:solidFill>
                  <a:srgbClr val="6A3E3E"/>
                </a:solidFill>
                <a:latin typeface="Consolas"/>
              </a:rPr>
              <a:t>taskList</a:t>
            </a:r>
            <a:r>
              <a:rPr lang="en-IE" sz="1400" dirty="0" err="1">
                <a:solidFill>
                  <a:srgbClr val="000000"/>
                </a:solidFill>
                <a:latin typeface="Consolas"/>
              </a:rPr>
              <a:t>.shutdown</a:t>
            </a:r>
            <a:r>
              <a:rPr lang="en-IE" sz="1400" dirty="0">
                <a:solidFill>
                  <a:srgbClr val="000000"/>
                </a:solidFill>
                <a:latin typeface="Consolas"/>
              </a:rPr>
              <a:t>();</a:t>
            </a:r>
          </a:p>
          <a:p>
            <a:r>
              <a:rPr lang="en-IE" sz="1400" dirty="0">
                <a:solidFill>
                  <a:srgbClr val="000000"/>
                </a:solidFill>
                <a:latin typeface="Consolas"/>
              </a:rPr>
              <a:t>}</a:t>
            </a:r>
          </a:p>
          <a:p>
            <a:r>
              <a:rPr lang="en-IE" sz="1400" b="1" dirty="0">
                <a:solidFill>
                  <a:srgbClr val="7F0055"/>
                </a:solidFill>
                <a:latin typeface="Consolas"/>
              </a:rPr>
              <a:t>private</a:t>
            </a:r>
            <a:r>
              <a:rPr lang="en-IE" sz="1400" b="1" dirty="0">
                <a:solidFill>
                  <a:srgbClr val="000000"/>
                </a:solidFill>
                <a:latin typeface="Consolas"/>
              </a:rPr>
              <a:t> </a:t>
            </a:r>
            <a:r>
              <a:rPr lang="en-IE" sz="1400" b="1" dirty="0">
                <a:solidFill>
                  <a:srgbClr val="7F0055"/>
                </a:solidFill>
                <a:latin typeface="Consolas"/>
              </a:rPr>
              <a:t>void</a:t>
            </a:r>
            <a:r>
              <a:rPr lang="en-IE" sz="1400" b="1" dirty="0">
                <a:solidFill>
                  <a:srgbClr val="000000"/>
                </a:solidFill>
                <a:latin typeface="Consolas"/>
              </a:rPr>
              <a:t> </a:t>
            </a:r>
            <a:r>
              <a:rPr lang="en-IE" sz="1400" b="1" dirty="0">
                <a:solidFill>
                  <a:srgbClr val="000000"/>
                </a:solidFill>
                <a:highlight>
                  <a:srgbClr val="D4D4D4"/>
                </a:highlight>
                <a:latin typeface="Consolas"/>
              </a:rPr>
              <a:t>pause(</a:t>
            </a:r>
            <a:r>
              <a:rPr lang="en-IE" sz="1400" b="1" dirty="0">
                <a:solidFill>
                  <a:srgbClr val="7F0055"/>
                </a:solidFill>
                <a:highlight>
                  <a:srgbClr val="D4D4D4"/>
                </a:highlight>
                <a:latin typeface="Consolas"/>
              </a:rPr>
              <a:t>double</a:t>
            </a:r>
            <a:r>
              <a:rPr lang="en-IE" sz="1400" b="1" dirty="0">
                <a:solidFill>
                  <a:srgbClr val="000000"/>
                </a:solidFill>
                <a:highlight>
                  <a:srgbClr val="D4D4D4"/>
                </a:highlight>
                <a:latin typeface="Consolas"/>
              </a:rPr>
              <a:t> </a:t>
            </a:r>
            <a:r>
              <a:rPr lang="en-IE" sz="1400" b="1" dirty="0">
                <a:solidFill>
                  <a:srgbClr val="6A3E3E"/>
                </a:solidFill>
                <a:highlight>
                  <a:srgbClr val="D4D4D4"/>
                </a:highlight>
                <a:latin typeface="Consolas"/>
              </a:rPr>
              <a:t>seconds</a:t>
            </a:r>
            <a:r>
              <a:rPr lang="en-IE" sz="1400" b="1" dirty="0">
                <a:solidFill>
                  <a:srgbClr val="000000"/>
                </a:solidFill>
                <a:highlight>
                  <a:srgbClr val="D4D4D4"/>
                </a:highlight>
                <a:latin typeface="Consolas"/>
              </a:rPr>
              <a:t>) {  </a:t>
            </a:r>
          </a:p>
          <a:p>
            <a:r>
              <a:rPr lang="en-IE" sz="1400" b="1" dirty="0">
                <a:solidFill>
                  <a:srgbClr val="7F0055"/>
                </a:solidFill>
                <a:latin typeface="Consolas"/>
              </a:rPr>
              <a:t>try</a:t>
            </a:r>
            <a:r>
              <a:rPr lang="en-IE" sz="1400" b="1" dirty="0">
                <a:solidFill>
                  <a:srgbClr val="000000"/>
                </a:solidFill>
                <a:latin typeface="Consolas"/>
              </a:rPr>
              <a:t> {</a:t>
            </a:r>
          </a:p>
          <a:p>
            <a:r>
              <a:rPr lang="en-IE" sz="1400" dirty="0" smtClean="0">
                <a:solidFill>
                  <a:srgbClr val="000000"/>
                </a:solidFill>
                <a:latin typeface="Consolas"/>
              </a:rPr>
              <a:t>	</a:t>
            </a:r>
            <a:r>
              <a:rPr lang="en-IE" sz="1400" dirty="0" err="1" smtClean="0">
                <a:solidFill>
                  <a:srgbClr val="000000"/>
                </a:solidFill>
                <a:latin typeface="Consolas"/>
              </a:rPr>
              <a:t>Thread.</a:t>
            </a:r>
            <a:r>
              <a:rPr lang="en-IE" sz="1400" i="1" dirty="0" err="1" smtClean="0">
                <a:solidFill>
                  <a:srgbClr val="000000"/>
                </a:solidFill>
                <a:latin typeface="Consolas"/>
              </a:rPr>
              <a:t>sleep</a:t>
            </a:r>
            <a:r>
              <a:rPr lang="en-IE" sz="1400" i="1" dirty="0" smtClean="0">
                <a:solidFill>
                  <a:srgbClr val="000000"/>
                </a:solidFill>
                <a:latin typeface="Consolas"/>
              </a:rPr>
              <a:t>(</a:t>
            </a:r>
            <a:r>
              <a:rPr lang="en-IE" sz="1400" i="1" dirty="0" err="1" smtClean="0">
                <a:solidFill>
                  <a:srgbClr val="000000"/>
                </a:solidFill>
                <a:latin typeface="Consolas"/>
              </a:rPr>
              <a:t>Math.round</a:t>
            </a:r>
            <a:r>
              <a:rPr lang="en-IE" sz="1400" i="1" dirty="0" smtClean="0">
                <a:solidFill>
                  <a:srgbClr val="000000"/>
                </a:solidFill>
                <a:latin typeface="Consolas"/>
              </a:rPr>
              <a:t>(1000.0 </a:t>
            </a:r>
            <a:r>
              <a:rPr lang="en-IE" sz="1400" i="1" dirty="0">
                <a:solidFill>
                  <a:srgbClr val="000000"/>
                </a:solidFill>
                <a:latin typeface="Consolas"/>
              </a:rPr>
              <a:t>* </a:t>
            </a:r>
            <a:r>
              <a:rPr lang="en-IE" sz="1400" i="1" dirty="0">
                <a:solidFill>
                  <a:srgbClr val="6A3E3E"/>
                </a:solidFill>
                <a:latin typeface="Consolas"/>
              </a:rPr>
              <a:t>seconds</a:t>
            </a:r>
            <a:r>
              <a:rPr lang="en-IE" sz="1400" i="1" dirty="0">
                <a:solidFill>
                  <a:srgbClr val="000000"/>
                </a:solidFill>
                <a:latin typeface="Consolas"/>
              </a:rPr>
              <a:t>));</a:t>
            </a:r>
          </a:p>
          <a:p>
            <a:r>
              <a:rPr lang="en-IE" sz="1400" dirty="0">
                <a:solidFill>
                  <a:srgbClr val="000000"/>
                </a:solidFill>
                <a:latin typeface="Consolas"/>
              </a:rPr>
              <a:t>} </a:t>
            </a:r>
            <a:r>
              <a:rPr lang="en-IE" sz="1400" b="1" dirty="0">
                <a:solidFill>
                  <a:srgbClr val="7F0055"/>
                </a:solidFill>
                <a:latin typeface="Consolas"/>
              </a:rPr>
              <a:t>catch</a:t>
            </a:r>
            <a:r>
              <a:rPr lang="en-IE" sz="1400" b="1" dirty="0">
                <a:solidFill>
                  <a:srgbClr val="000000"/>
                </a:solidFill>
                <a:latin typeface="Consolas"/>
              </a:rPr>
              <a:t> (</a:t>
            </a:r>
            <a:r>
              <a:rPr lang="en-IE" sz="1400" b="1" dirty="0" err="1">
                <a:solidFill>
                  <a:srgbClr val="000000"/>
                </a:solidFill>
                <a:latin typeface="Consolas"/>
              </a:rPr>
              <a:t>InterruptedException</a:t>
            </a:r>
            <a:r>
              <a:rPr lang="en-IE" sz="1400" b="1" dirty="0">
                <a:solidFill>
                  <a:srgbClr val="000000"/>
                </a:solidFill>
                <a:latin typeface="Consolas"/>
              </a:rPr>
              <a:t> </a:t>
            </a:r>
            <a:r>
              <a:rPr lang="en-IE" sz="1400" b="1" dirty="0" err="1">
                <a:solidFill>
                  <a:srgbClr val="6A3E3E"/>
                </a:solidFill>
                <a:latin typeface="Consolas"/>
              </a:rPr>
              <a:t>ie</a:t>
            </a:r>
            <a:r>
              <a:rPr lang="en-IE" sz="1400" b="1" dirty="0">
                <a:solidFill>
                  <a:srgbClr val="000000"/>
                </a:solidFill>
                <a:latin typeface="Consolas"/>
              </a:rPr>
              <a:t>) { }</a:t>
            </a:r>
          </a:p>
          <a:p>
            <a:r>
              <a:rPr lang="en-IE" sz="1400" dirty="0">
                <a:solidFill>
                  <a:srgbClr val="000000"/>
                </a:solidFill>
                <a:latin typeface="Consolas"/>
              </a:rPr>
              <a:t>}</a:t>
            </a:r>
          </a:p>
          <a:p>
            <a:r>
              <a:rPr lang="en-IE" sz="1400" b="1" dirty="0">
                <a:solidFill>
                  <a:srgbClr val="7F0055"/>
                </a:solidFill>
                <a:latin typeface="Consolas"/>
              </a:rPr>
              <a:t>public</a:t>
            </a:r>
            <a:r>
              <a:rPr lang="en-IE" sz="1400" b="1" dirty="0">
                <a:solidFill>
                  <a:srgbClr val="000000"/>
                </a:solidFill>
                <a:latin typeface="Consolas"/>
              </a:rPr>
              <a:t> </a:t>
            </a:r>
            <a:r>
              <a:rPr lang="en-IE" sz="1400" b="1" dirty="0">
                <a:solidFill>
                  <a:srgbClr val="7F0055"/>
                </a:solidFill>
                <a:latin typeface="Consolas"/>
              </a:rPr>
              <a:t>void</a:t>
            </a:r>
            <a:r>
              <a:rPr lang="en-IE" sz="1400" b="1" dirty="0">
                <a:solidFill>
                  <a:srgbClr val="000000"/>
                </a:solidFill>
                <a:latin typeface="Consolas"/>
              </a:rPr>
              <a:t> run() {</a:t>
            </a:r>
          </a:p>
          <a:p>
            <a:r>
              <a:rPr lang="en-IE" sz="1400" b="1" dirty="0" smtClean="0">
                <a:solidFill>
                  <a:srgbClr val="7F0055"/>
                </a:solidFill>
                <a:latin typeface="Consolas"/>
              </a:rPr>
              <a:t>	for</a:t>
            </a:r>
            <a:r>
              <a:rPr lang="en-IE" sz="1400" b="1" dirty="0" smtClean="0">
                <a:solidFill>
                  <a:srgbClr val="000000"/>
                </a:solidFill>
                <a:latin typeface="Consolas"/>
              </a:rPr>
              <a:t>(</a:t>
            </a:r>
            <a:r>
              <a:rPr lang="en-IE" sz="1400" b="1" dirty="0" err="1" smtClean="0">
                <a:solidFill>
                  <a:srgbClr val="7F0055"/>
                </a:solidFill>
                <a:latin typeface="Consolas"/>
              </a:rPr>
              <a:t>int</a:t>
            </a:r>
            <a:r>
              <a:rPr lang="en-IE" sz="1400" b="1" dirty="0" smtClean="0">
                <a:solidFill>
                  <a:srgbClr val="000000"/>
                </a:solidFill>
                <a:latin typeface="Consolas"/>
              </a:rPr>
              <a:t> </a:t>
            </a:r>
            <a:r>
              <a:rPr lang="en-IE" sz="1400" b="1" dirty="0" err="1">
                <a:solidFill>
                  <a:srgbClr val="6A3E3E"/>
                </a:solidFill>
                <a:latin typeface="Consolas"/>
              </a:rPr>
              <a:t>i</a:t>
            </a:r>
            <a:r>
              <a:rPr lang="en-IE" sz="1400" b="1" dirty="0">
                <a:solidFill>
                  <a:srgbClr val="000000"/>
                </a:solidFill>
                <a:latin typeface="Consolas"/>
              </a:rPr>
              <a:t>=0; </a:t>
            </a:r>
            <a:r>
              <a:rPr lang="en-IE" sz="1400" b="1" dirty="0" err="1">
                <a:solidFill>
                  <a:srgbClr val="6A3E3E"/>
                </a:solidFill>
                <a:latin typeface="Consolas"/>
              </a:rPr>
              <a:t>i</a:t>
            </a:r>
            <a:r>
              <a:rPr lang="en-IE" sz="1400" b="1" dirty="0">
                <a:solidFill>
                  <a:srgbClr val="000000"/>
                </a:solidFill>
                <a:latin typeface="Consolas"/>
              </a:rPr>
              <a:t>&lt;</a:t>
            </a:r>
            <a:r>
              <a:rPr lang="en-IE" sz="1400" b="1" dirty="0" err="1">
                <a:solidFill>
                  <a:srgbClr val="0000C0"/>
                </a:solidFill>
                <a:latin typeface="Consolas"/>
              </a:rPr>
              <a:t>loopLimit</a:t>
            </a:r>
            <a:r>
              <a:rPr lang="en-IE" sz="1400" b="1" dirty="0">
                <a:solidFill>
                  <a:srgbClr val="000000"/>
                </a:solidFill>
                <a:latin typeface="Consolas"/>
              </a:rPr>
              <a:t>; </a:t>
            </a:r>
            <a:r>
              <a:rPr lang="en-IE" sz="1400" b="1" dirty="0" err="1">
                <a:solidFill>
                  <a:srgbClr val="6A3E3E"/>
                </a:solidFill>
                <a:latin typeface="Consolas"/>
              </a:rPr>
              <a:t>i</a:t>
            </a:r>
            <a:r>
              <a:rPr lang="en-IE" sz="1400" b="1" dirty="0">
                <a:solidFill>
                  <a:srgbClr val="000000"/>
                </a:solidFill>
                <a:latin typeface="Consolas"/>
              </a:rPr>
              <a:t>++) {</a:t>
            </a:r>
          </a:p>
          <a:p>
            <a:r>
              <a:rPr lang="en-IE" sz="1400" dirty="0" smtClean="0">
                <a:solidFill>
                  <a:srgbClr val="000000"/>
                </a:solidFill>
                <a:latin typeface="Consolas"/>
              </a:rPr>
              <a:t>	String </a:t>
            </a:r>
            <a:r>
              <a:rPr lang="en-IE" sz="1400" dirty="0" err="1">
                <a:solidFill>
                  <a:srgbClr val="6A3E3E"/>
                </a:solidFill>
                <a:latin typeface="Consolas"/>
              </a:rPr>
              <a:t>threadName</a:t>
            </a:r>
            <a:r>
              <a:rPr lang="en-IE" sz="1400" dirty="0">
                <a:solidFill>
                  <a:srgbClr val="000000"/>
                </a:solidFill>
                <a:latin typeface="Consolas"/>
              </a:rPr>
              <a:t> = </a:t>
            </a:r>
            <a:r>
              <a:rPr lang="en-IE" sz="1400" dirty="0" err="1">
                <a:solidFill>
                  <a:srgbClr val="000000"/>
                </a:solidFill>
                <a:latin typeface="Consolas"/>
              </a:rPr>
              <a:t>Thread.</a:t>
            </a:r>
            <a:r>
              <a:rPr lang="en-IE" sz="1400" i="1" dirty="0" err="1">
                <a:solidFill>
                  <a:srgbClr val="000000"/>
                </a:solidFill>
                <a:latin typeface="Consolas"/>
              </a:rPr>
              <a:t>currentThread</a:t>
            </a:r>
            <a:r>
              <a:rPr lang="en-IE" sz="1400" i="1" dirty="0">
                <a:solidFill>
                  <a:srgbClr val="000000"/>
                </a:solidFill>
                <a:latin typeface="Consolas"/>
              </a:rPr>
              <a:t>().</a:t>
            </a:r>
            <a:r>
              <a:rPr lang="en-IE" sz="1400" i="1" dirty="0" err="1">
                <a:solidFill>
                  <a:srgbClr val="000000"/>
                </a:solidFill>
                <a:latin typeface="Consolas"/>
              </a:rPr>
              <a:t>getName</a:t>
            </a:r>
            <a:r>
              <a:rPr lang="en-IE" sz="1400" i="1" dirty="0">
                <a:solidFill>
                  <a:srgbClr val="000000"/>
                </a:solidFill>
                <a:latin typeface="Consolas"/>
              </a:rPr>
              <a:t>();  </a:t>
            </a:r>
          </a:p>
          <a:p>
            <a:r>
              <a:rPr lang="en-IE" sz="1400" dirty="0" smtClean="0">
                <a:solidFill>
                  <a:srgbClr val="000000"/>
                </a:solidFill>
                <a:latin typeface="Consolas"/>
              </a:rPr>
              <a:t>	</a:t>
            </a:r>
            <a:r>
              <a:rPr lang="en-IE" sz="1400" dirty="0" err="1" smtClean="0">
                <a:solidFill>
                  <a:srgbClr val="000000"/>
                </a:solidFill>
                <a:latin typeface="Consolas"/>
              </a:rPr>
              <a:t>System.</a:t>
            </a:r>
            <a:r>
              <a:rPr lang="en-IE" sz="1400" b="1" i="1" dirty="0" err="1" smtClean="0">
                <a:solidFill>
                  <a:srgbClr val="0000C0"/>
                </a:solidFill>
                <a:latin typeface="Consolas"/>
              </a:rPr>
              <a:t>out</a:t>
            </a:r>
            <a:r>
              <a:rPr lang="en-IE" sz="1400" b="1" i="1" dirty="0" err="1" smtClean="0">
                <a:solidFill>
                  <a:srgbClr val="000000"/>
                </a:solidFill>
                <a:latin typeface="Consolas"/>
              </a:rPr>
              <a:t>.printf</a:t>
            </a:r>
            <a:r>
              <a:rPr lang="en-IE" sz="1400" b="1" i="1" dirty="0">
                <a:solidFill>
                  <a:srgbClr val="000000"/>
                </a:solidFill>
                <a:latin typeface="Consolas"/>
              </a:rPr>
              <a:t>(</a:t>
            </a:r>
            <a:r>
              <a:rPr lang="en-IE" sz="1400" b="1" i="1" dirty="0">
                <a:solidFill>
                  <a:srgbClr val="2A00FF"/>
                </a:solidFill>
                <a:latin typeface="Consolas"/>
              </a:rPr>
              <a:t>"%s: %</a:t>
            </a:r>
            <a:r>
              <a:rPr lang="en-IE" sz="1400" b="1" i="1" dirty="0" err="1">
                <a:solidFill>
                  <a:srgbClr val="2A00FF"/>
                </a:solidFill>
                <a:latin typeface="Consolas"/>
              </a:rPr>
              <a:t>s%n</a:t>
            </a:r>
            <a:r>
              <a:rPr lang="en-IE" sz="1400" b="1" i="1" dirty="0">
                <a:solidFill>
                  <a:srgbClr val="2A00FF"/>
                </a:solidFill>
                <a:latin typeface="Consolas"/>
              </a:rPr>
              <a:t>"</a:t>
            </a:r>
            <a:r>
              <a:rPr lang="en-IE" sz="1400" b="1" i="1" dirty="0">
                <a:solidFill>
                  <a:srgbClr val="000000"/>
                </a:solidFill>
                <a:latin typeface="Consolas"/>
              </a:rPr>
              <a:t>, </a:t>
            </a:r>
            <a:r>
              <a:rPr lang="en-IE" sz="1400" b="1" i="1" dirty="0" err="1">
                <a:solidFill>
                  <a:srgbClr val="6A3E3E"/>
                </a:solidFill>
                <a:latin typeface="Consolas"/>
              </a:rPr>
              <a:t>threadName</a:t>
            </a:r>
            <a:r>
              <a:rPr lang="en-IE" sz="1400" b="1" i="1" dirty="0">
                <a:solidFill>
                  <a:srgbClr val="000000"/>
                </a:solidFill>
                <a:latin typeface="Consolas"/>
              </a:rPr>
              <a:t>, </a:t>
            </a:r>
            <a:r>
              <a:rPr lang="en-IE" sz="1400" b="1" i="1" dirty="0" err="1">
                <a:solidFill>
                  <a:srgbClr val="6A3E3E"/>
                </a:solidFill>
                <a:latin typeface="Consolas"/>
              </a:rPr>
              <a:t>i</a:t>
            </a:r>
            <a:r>
              <a:rPr lang="en-IE" sz="1400" b="1" i="1" dirty="0">
                <a:solidFill>
                  <a:srgbClr val="000000"/>
                </a:solidFill>
                <a:latin typeface="Consolas"/>
              </a:rPr>
              <a:t>);  </a:t>
            </a:r>
          </a:p>
          <a:p>
            <a:r>
              <a:rPr lang="en-IE" sz="1400" dirty="0" smtClean="0">
                <a:solidFill>
                  <a:srgbClr val="000000"/>
                </a:solidFill>
                <a:highlight>
                  <a:srgbClr val="D4D4D4"/>
                </a:highlight>
                <a:latin typeface="Consolas"/>
              </a:rPr>
              <a:t>	pause(</a:t>
            </a:r>
            <a:r>
              <a:rPr lang="en-IE" sz="1400" dirty="0" err="1" smtClean="0">
                <a:solidFill>
                  <a:srgbClr val="000000"/>
                </a:solidFill>
                <a:highlight>
                  <a:srgbClr val="D4D4D4"/>
                </a:highlight>
                <a:latin typeface="Consolas"/>
              </a:rPr>
              <a:t>Math.</a:t>
            </a:r>
            <a:r>
              <a:rPr lang="en-IE" sz="1400" i="1" dirty="0" err="1" smtClean="0">
                <a:solidFill>
                  <a:srgbClr val="000000"/>
                </a:solidFill>
                <a:highlight>
                  <a:srgbClr val="D4D4D4"/>
                </a:highlight>
                <a:latin typeface="Consolas"/>
              </a:rPr>
              <a:t>random</a:t>
            </a:r>
            <a:r>
              <a:rPr lang="en-IE" sz="1400" i="1" dirty="0">
                <a:solidFill>
                  <a:srgbClr val="000000"/>
                </a:solidFill>
                <a:highlight>
                  <a:srgbClr val="D4D4D4"/>
                </a:highlight>
                <a:latin typeface="Consolas"/>
              </a:rPr>
              <a:t>());</a:t>
            </a:r>
          </a:p>
          <a:p>
            <a:r>
              <a:rPr lang="en-IE" sz="1400" dirty="0" smtClean="0">
                <a:solidFill>
                  <a:srgbClr val="000000"/>
                </a:solidFill>
                <a:latin typeface="Consolas"/>
              </a:rPr>
              <a:t>	}</a:t>
            </a:r>
            <a:endParaRPr lang="en-IE" sz="1400" dirty="0">
              <a:solidFill>
                <a:srgbClr val="000000"/>
              </a:solidFill>
              <a:latin typeface="Consolas"/>
            </a:endParaRPr>
          </a:p>
          <a:p>
            <a:r>
              <a:rPr lang="en-IE" sz="1400" dirty="0" smtClean="0">
                <a:solidFill>
                  <a:srgbClr val="000000"/>
                </a:solidFill>
                <a:latin typeface="Consolas"/>
              </a:rPr>
              <a:t>}</a:t>
            </a:r>
            <a:endParaRPr lang="en-IE" sz="1400" dirty="0">
              <a:solidFill>
                <a:srgbClr val="000000"/>
              </a:solidFill>
              <a:latin typeface="Consolas"/>
            </a:endParaRPr>
          </a:p>
          <a:p>
            <a:r>
              <a:rPr lang="en-IE" sz="1400" dirty="0">
                <a:solidFill>
                  <a:srgbClr val="000000"/>
                </a:solidFill>
                <a:latin typeface="Consolas"/>
              </a:rPr>
              <a:t>}</a:t>
            </a:r>
            <a:endParaRPr lang="en-IE"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722134" y="739533"/>
            <a:ext cx="6327775" cy="3639458"/>
          </a:xfrm>
          <a:prstGeom prst="rect">
            <a:avLst/>
          </a:prstGeom>
          <a:ln w="8153">
            <a:solidFill>
              <a:srgbClr val="000000"/>
            </a:solidFill>
          </a:ln>
        </p:spPr>
        <p:txBody>
          <a:bodyPr vert="horz" wrap="square" lIns="0" tIns="0" rIns="0" bIns="0" rtlCol="0">
            <a:spAutoFit/>
          </a:bodyPr>
          <a:lstStyle/>
          <a:p>
            <a:pPr marL="803275">
              <a:lnSpc>
                <a:spcPts val="2560"/>
              </a:lnSpc>
            </a:pPr>
            <a:r>
              <a:rPr sz="2150" b="1" spc="10" dirty="0">
                <a:solidFill>
                  <a:srgbClr val="FFFFFF"/>
                </a:solidFill>
                <a:latin typeface="Arial Narrow"/>
                <a:cs typeface="Arial Narrow"/>
              </a:rPr>
              <a:t>Thread Mechanism Two: Example</a:t>
            </a:r>
            <a:r>
              <a:rPr sz="2150" b="1" spc="-45" dirty="0">
                <a:solidFill>
                  <a:srgbClr val="FFFFFF"/>
                </a:solidFill>
                <a:latin typeface="Arial Narrow"/>
                <a:cs typeface="Arial Narrow"/>
              </a:rPr>
              <a:t> </a:t>
            </a:r>
            <a:r>
              <a:rPr sz="2150" b="1" spc="5" dirty="0">
                <a:solidFill>
                  <a:srgbClr val="FFFFFF"/>
                </a:solidFill>
                <a:latin typeface="Arial Narrow"/>
                <a:cs typeface="Arial Narrow"/>
              </a:rPr>
              <a:t>(Continued)</a:t>
            </a:r>
            <a:endParaRPr sz="2150" dirty="0">
              <a:latin typeface="Arial Narrow"/>
              <a:cs typeface="Arial Narrow"/>
            </a:endParaRPr>
          </a:p>
          <a:p>
            <a:pPr>
              <a:lnSpc>
                <a:spcPct val="100000"/>
              </a:lnSpc>
              <a:spcBef>
                <a:spcPts val="25"/>
              </a:spcBef>
            </a:pPr>
            <a:endParaRPr sz="2100" dirty="0">
              <a:latin typeface="Times New Roman"/>
              <a:cs typeface="Times New Roman"/>
            </a:endParaRPr>
          </a:p>
          <a:p>
            <a:pPr marL="79375">
              <a:lnSpc>
                <a:spcPct val="100000"/>
              </a:lnSpc>
            </a:pPr>
            <a:r>
              <a:rPr sz="1250" b="1" spc="-10" dirty="0">
                <a:latin typeface="Courier New"/>
                <a:cs typeface="Courier New"/>
              </a:rPr>
              <a:t>public class App2Test</a:t>
            </a:r>
            <a:r>
              <a:rPr sz="1250" b="1" spc="-20" dirty="0">
                <a:latin typeface="Courier New"/>
                <a:cs typeface="Courier New"/>
              </a:rPr>
              <a:t> </a:t>
            </a:r>
            <a:r>
              <a:rPr sz="1250" b="1" spc="-5" dirty="0">
                <a:latin typeface="Courier New"/>
                <a:cs typeface="Courier New"/>
              </a:rPr>
              <a:t>{</a:t>
            </a:r>
            <a:endParaRPr sz="1250" dirty="0">
              <a:latin typeface="Courier New"/>
              <a:cs typeface="Courier New"/>
            </a:endParaRPr>
          </a:p>
          <a:p>
            <a:pPr marL="459105" marR="2249805" indent="-189865">
              <a:lnSpc>
                <a:spcPct val="113900"/>
              </a:lnSpc>
            </a:pPr>
            <a:r>
              <a:rPr sz="1250" b="1" spc="-10" dirty="0">
                <a:latin typeface="Courier New"/>
                <a:cs typeface="Courier New"/>
              </a:rPr>
              <a:t>public static void main(String[] args) </a:t>
            </a:r>
            <a:r>
              <a:rPr sz="1250" b="1" spc="-5" dirty="0">
                <a:latin typeface="Courier New"/>
                <a:cs typeface="Courier New"/>
              </a:rPr>
              <a:t>{  </a:t>
            </a:r>
            <a:r>
              <a:rPr sz="1250" b="1" spc="-10" dirty="0">
                <a:latin typeface="Courier New"/>
                <a:cs typeface="Courier New"/>
              </a:rPr>
              <a:t>new</a:t>
            </a:r>
            <a:r>
              <a:rPr sz="1250" b="1" spc="-65" dirty="0">
                <a:latin typeface="Courier New"/>
                <a:cs typeface="Courier New"/>
              </a:rPr>
              <a:t> </a:t>
            </a:r>
            <a:r>
              <a:rPr sz="1250" b="1" spc="-10" dirty="0">
                <a:latin typeface="Courier New"/>
                <a:cs typeface="Courier New"/>
              </a:rPr>
              <a:t>App2(5);</a:t>
            </a:r>
            <a:endParaRPr sz="1250" dirty="0">
              <a:latin typeface="Courier New"/>
              <a:cs typeface="Courier New"/>
            </a:endParaRPr>
          </a:p>
          <a:p>
            <a:pPr marL="269240">
              <a:lnSpc>
                <a:spcPct val="100000"/>
              </a:lnSpc>
              <a:spcBef>
                <a:spcPts val="210"/>
              </a:spcBef>
            </a:pPr>
            <a:r>
              <a:rPr sz="1250" b="1" spc="-5" dirty="0">
                <a:latin typeface="Courier New"/>
                <a:cs typeface="Courier New"/>
              </a:rPr>
              <a:t>}</a:t>
            </a:r>
            <a:endParaRPr sz="1250" dirty="0">
              <a:latin typeface="Courier New"/>
              <a:cs typeface="Courier New"/>
            </a:endParaRPr>
          </a:p>
          <a:p>
            <a:pPr marL="79375">
              <a:lnSpc>
                <a:spcPct val="100000"/>
              </a:lnSpc>
              <a:spcBef>
                <a:spcPts val="210"/>
              </a:spcBef>
            </a:pPr>
            <a:r>
              <a:rPr sz="1250" b="1" spc="-5" dirty="0">
                <a:latin typeface="Courier New"/>
                <a:cs typeface="Courier New"/>
              </a:rPr>
              <a:t>}</a:t>
            </a:r>
            <a:endParaRPr sz="1250" dirty="0">
              <a:latin typeface="Courier New"/>
              <a:cs typeface="Courier New"/>
            </a:endParaRPr>
          </a:p>
          <a:p>
            <a:pPr>
              <a:lnSpc>
                <a:spcPct val="100000"/>
              </a:lnSpc>
            </a:pPr>
            <a:endParaRPr sz="1200" dirty="0">
              <a:latin typeface="Times New Roman"/>
              <a:cs typeface="Times New Roman"/>
            </a:endParaRPr>
          </a:p>
          <a:p>
            <a:pPr>
              <a:lnSpc>
                <a:spcPct val="100000"/>
              </a:lnSpc>
            </a:pPr>
            <a:endParaRPr sz="1200" dirty="0">
              <a:latin typeface="Times New Roman"/>
              <a:cs typeface="Times New Roman"/>
            </a:endParaRPr>
          </a:p>
          <a:p>
            <a:pPr>
              <a:lnSpc>
                <a:spcPct val="100000"/>
              </a:lnSpc>
            </a:pPr>
            <a:endParaRPr sz="1200" dirty="0">
              <a:latin typeface="Times New Roman"/>
              <a:cs typeface="Times New Roman"/>
            </a:endParaRPr>
          </a:p>
          <a:p>
            <a:pPr>
              <a:lnSpc>
                <a:spcPct val="100000"/>
              </a:lnSpc>
            </a:pPr>
            <a:endParaRPr sz="1200" dirty="0">
              <a:latin typeface="Times New Roman"/>
              <a:cs typeface="Times New Roman"/>
            </a:endParaRPr>
          </a:p>
          <a:p>
            <a:pPr>
              <a:lnSpc>
                <a:spcPct val="100000"/>
              </a:lnSpc>
            </a:pPr>
            <a:endParaRPr sz="1200" dirty="0">
              <a:latin typeface="Times New Roman"/>
              <a:cs typeface="Times New Roman"/>
            </a:endParaRPr>
          </a:p>
          <a:p>
            <a:pPr>
              <a:lnSpc>
                <a:spcPct val="100000"/>
              </a:lnSpc>
            </a:pPr>
            <a:endParaRPr sz="1200" dirty="0">
              <a:latin typeface="Times New Roman"/>
              <a:cs typeface="Times New Roman"/>
            </a:endParaRPr>
          </a:p>
          <a:p>
            <a:pPr>
              <a:lnSpc>
                <a:spcPct val="100000"/>
              </a:lnSpc>
            </a:pPr>
            <a:endParaRPr sz="1200" dirty="0">
              <a:latin typeface="Times New Roman"/>
              <a:cs typeface="Times New Roman"/>
            </a:endParaRPr>
          </a:p>
          <a:p>
            <a:pPr>
              <a:lnSpc>
                <a:spcPct val="100000"/>
              </a:lnSpc>
            </a:pPr>
            <a:endParaRPr sz="1200" dirty="0">
              <a:latin typeface="Times New Roman"/>
              <a:cs typeface="Times New Roman"/>
            </a:endParaRPr>
          </a:p>
          <a:p>
            <a:pPr>
              <a:lnSpc>
                <a:spcPct val="100000"/>
              </a:lnSpc>
            </a:pPr>
            <a:endParaRPr sz="1200" dirty="0">
              <a:latin typeface="Times New Roman"/>
              <a:cs typeface="Times New Roman"/>
            </a:endParaRPr>
          </a:p>
          <a:p>
            <a:pPr>
              <a:lnSpc>
                <a:spcPct val="100000"/>
              </a:lnSpc>
              <a:spcBef>
                <a:spcPts val="10"/>
              </a:spcBef>
            </a:pPr>
            <a:endParaRPr sz="950" dirty="0">
              <a:latin typeface="Times New Roman"/>
              <a:cs typeface="Times New Roman"/>
            </a:endParaRPr>
          </a:p>
          <a:p>
            <a:pPr marL="51435">
              <a:lnSpc>
                <a:spcPct val="100000"/>
              </a:lnSpc>
            </a:pPr>
            <a:endParaRPr sz="700" dirty="0">
              <a:latin typeface="Arial Narrow"/>
              <a:cs typeface="Arial Narrow"/>
            </a:endParaRPr>
          </a:p>
        </p:txBody>
      </p:sp>
      <p:sp>
        <p:nvSpPr>
          <p:cNvPr id="3" name="object 3"/>
          <p:cNvSpPr/>
          <p:nvPr/>
        </p:nvSpPr>
        <p:spPr>
          <a:xfrm>
            <a:off x="654799" y="5968"/>
            <a:ext cx="6463030" cy="5022850"/>
          </a:xfrm>
          <a:custGeom>
            <a:avLst/>
            <a:gdLst/>
            <a:ahLst/>
            <a:cxnLst/>
            <a:rect l="l" t="t" r="r" b="b"/>
            <a:pathLst>
              <a:path w="6463030" h="5022850">
                <a:moveTo>
                  <a:pt x="0" y="0"/>
                </a:moveTo>
                <a:lnTo>
                  <a:pt x="6462801" y="0"/>
                </a:lnTo>
                <a:lnTo>
                  <a:pt x="6462801" y="5022850"/>
                </a:lnTo>
                <a:lnTo>
                  <a:pt x="0" y="5022850"/>
                </a:lnTo>
                <a:lnTo>
                  <a:pt x="0" y="0"/>
                </a:lnTo>
                <a:close/>
              </a:path>
            </a:pathLst>
          </a:custGeom>
          <a:ln w="3175">
            <a:solidFill>
              <a:srgbClr val="000000"/>
            </a:solidFill>
          </a:ln>
        </p:spPr>
        <p:txBody>
          <a:bodyPr wrap="square" lIns="0" tIns="0" rIns="0" bIns="0" rtlCol="0"/>
          <a:lstStyle/>
          <a:p>
            <a:endParaRPr/>
          </a:p>
        </p:txBody>
      </p:sp>
      <p:sp>
        <p:nvSpPr>
          <p:cNvPr id="4" name="object 4"/>
          <p:cNvSpPr/>
          <p:nvPr/>
        </p:nvSpPr>
        <p:spPr>
          <a:xfrm>
            <a:off x="718299" y="5758535"/>
            <a:ext cx="6335801" cy="3563886"/>
          </a:xfrm>
          <a:prstGeom prst="rect">
            <a:avLst/>
          </a:prstGeom>
          <a:blipFill>
            <a:blip r:embed="rId3" cstate="print"/>
            <a:stretch>
              <a:fillRect/>
            </a:stretch>
          </a:blipFill>
        </p:spPr>
        <p:txBody>
          <a:bodyPr wrap="square" lIns="0" tIns="0" rIns="0" bIns="0" rtlCol="0"/>
          <a:lstStyle/>
          <a:p>
            <a:endParaRPr/>
          </a:p>
        </p:txBody>
      </p:sp>
      <p:sp>
        <p:nvSpPr>
          <p:cNvPr id="5" name="object 5"/>
          <p:cNvSpPr/>
          <p:nvPr/>
        </p:nvSpPr>
        <p:spPr>
          <a:xfrm>
            <a:off x="790778" y="8994597"/>
            <a:ext cx="6144895" cy="328295"/>
          </a:xfrm>
          <a:custGeom>
            <a:avLst/>
            <a:gdLst/>
            <a:ahLst/>
            <a:cxnLst/>
            <a:rect l="l" t="t" r="r" b="b"/>
            <a:pathLst>
              <a:path w="6144895" h="328295">
                <a:moveTo>
                  <a:pt x="0" y="327825"/>
                </a:moveTo>
                <a:lnTo>
                  <a:pt x="6144768" y="327825"/>
                </a:lnTo>
                <a:lnTo>
                  <a:pt x="6144768" y="0"/>
                </a:lnTo>
                <a:lnTo>
                  <a:pt x="0" y="0"/>
                </a:lnTo>
                <a:lnTo>
                  <a:pt x="0" y="327825"/>
                </a:lnTo>
                <a:close/>
              </a:path>
            </a:pathLst>
          </a:custGeom>
          <a:solidFill>
            <a:srgbClr val="FFFFFF"/>
          </a:solidFill>
        </p:spPr>
        <p:txBody>
          <a:bodyPr wrap="square" lIns="0" tIns="0" rIns="0" bIns="0" rtlCol="0"/>
          <a:lstStyle/>
          <a:p>
            <a:endParaRPr/>
          </a:p>
        </p:txBody>
      </p:sp>
      <p:sp>
        <p:nvSpPr>
          <p:cNvPr id="6" name="object 6"/>
          <p:cNvSpPr txBox="1"/>
          <p:nvPr/>
        </p:nvSpPr>
        <p:spPr>
          <a:xfrm>
            <a:off x="722134" y="5762371"/>
            <a:ext cx="6327775" cy="3556000"/>
          </a:xfrm>
          <a:prstGeom prst="rect">
            <a:avLst/>
          </a:prstGeom>
          <a:ln w="8153">
            <a:solidFill>
              <a:srgbClr val="000000"/>
            </a:solidFill>
          </a:ln>
        </p:spPr>
        <p:txBody>
          <a:bodyPr vert="horz" wrap="square" lIns="0" tIns="0" rIns="0" bIns="0" rtlCol="0">
            <a:spAutoFit/>
          </a:bodyPr>
          <a:lstStyle/>
          <a:p>
            <a:pPr marL="803275">
              <a:lnSpc>
                <a:spcPts val="2550"/>
              </a:lnSpc>
            </a:pPr>
            <a:r>
              <a:rPr sz="2150" b="1" spc="15" dirty="0">
                <a:solidFill>
                  <a:srgbClr val="FFFFFF"/>
                </a:solidFill>
                <a:latin typeface="Arial"/>
                <a:cs typeface="Arial"/>
              </a:rPr>
              <a:t>Thread Mechanism Two:</a:t>
            </a:r>
            <a:r>
              <a:rPr sz="2150" b="1" spc="-95" dirty="0">
                <a:solidFill>
                  <a:srgbClr val="FFFFFF"/>
                </a:solidFill>
                <a:latin typeface="Arial"/>
                <a:cs typeface="Arial"/>
              </a:rPr>
              <a:t> </a:t>
            </a:r>
            <a:r>
              <a:rPr sz="2150" b="1" spc="10" dirty="0">
                <a:solidFill>
                  <a:srgbClr val="FFFFFF"/>
                </a:solidFill>
                <a:latin typeface="Arial"/>
                <a:cs typeface="Arial"/>
              </a:rPr>
              <a:t>Results</a:t>
            </a:r>
            <a:endParaRPr sz="2150">
              <a:latin typeface="Arial"/>
              <a:cs typeface="Arial"/>
            </a:endParaRPr>
          </a:p>
          <a:p>
            <a:pPr marL="79375">
              <a:lnSpc>
                <a:spcPct val="100000"/>
              </a:lnSpc>
              <a:spcBef>
                <a:spcPts val="770"/>
              </a:spcBef>
            </a:pPr>
            <a:r>
              <a:rPr sz="1100" b="1" spc="-5" dirty="0">
                <a:solidFill>
                  <a:srgbClr val="C00000"/>
                </a:solidFill>
                <a:latin typeface="Courier New"/>
                <a:cs typeface="Courier New"/>
              </a:rPr>
              <a:t>pool-1-thread-3:</a:t>
            </a:r>
            <a:r>
              <a:rPr sz="1100" b="1" spc="-105" dirty="0">
                <a:solidFill>
                  <a:srgbClr val="C00000"/>
                </a:solidFill>
                <a:latin typeface="Courier New"/>
                <a:cs typeface="Courier New"/>
              </a:rPr>
              <a:t> </a:t>
            </a:r>
            <a:r>
              <a:rPr sz="1100" b="1" spc="-5" dirty="0">
                <a:solidFill>
                  <a:srgbClr val="C00000"/>
                </a:solidFill>
                <a:latin typeface="Courier New"/>
                <a:cs typeface="Courier New"/>
              </a:rPr>
              <a:t>0</a:t>
            </a:r>
            <a:endParaRPr sz="1100">
              <a:latin typeface="Courier New"/>
              <a:cs typeface="Courier New"/>
            </a:endParaRPr>
          </a:p>
          <a:p>
            <a:pPr marL="79375">
              <a:lnSpc>
                <a:spcPct val="100000"/>
              </a:lnSpc>
              <a:spcBef>
                <a:spcPts val="220"/>
              </a:spcBef>
            </a:pPr>
            <a:r>
              <a:rPr sz="1100" b="1" spc="-5" dirty="0">
                <a:latin typeface="Courier New"/>
                <a:cs typeface="Courier New"/>
              </a:rPr>
              <a:t>pool-1-thread-1:</a:t>
            </a:r>
            <a:r>
              <a:rPr sz="1100" b="1" spc="-105" dirty="0">
                <a:latin typeface="Courier New"/>
                <a:cs typeface="Courier New"/>
              </a:rPr>
              <a:t> </a:t>
            </a:r>
            <a:r>
              <a:rPr sz="1100" b="1" spc="-5" dirty="0">
                <a:latin typeface="Courier New"/>
                <a:cs typeface="Courier New"/>
              </a:rPr>
              <a:t>0</a:t>
            </a:r>
            <a:endParaRPr sz="1100">
              <a:latin typeface="Courier New"/>
              <a:cs typeface="Courier New"/>
            </a:endParaRPr>
          </a:p>
          <a:p>
            <a:pPr marL="79375">
              <a:lnSpc>
                <a:spcPct val="100000"/>
              </a:lnSpc>
              <a:spcBef>
                <a:spcPts val="220"/>
              </a:spcBef>
            </a:pPr>
            <a:r>
              <a:rPr sz="1100" b="1" spc="-5" dirty="0">
                <a:solidFill>
                  <a:srgbClr val="00B0F0"/>
                </a:solidFill>
                <a:latin typeface="Courier New"/>
                <a:cs typeface="Courier New"/>
              </a:rPr>
              <a:t>pool-1-thread-2:</a:t>
            </a:r>
            <a:r>
              <a:rPr sz="1100" b="1" spc="-105" dirty="0">
                <a:solidFill>
                  <a:srgbClr val="00B0F0"/>
                </a:solidFill>
                <a:latin typeface="Courier New"/>
                <a:cs typeface="Courier New"/>
              </a:rPr>
              <a:t> </a:t>
            </a:r>
            <a:r>
              <a:rPr sz="1100" b="1" spc="-5" dirty="0">
                <a:solidFill>
                  <a:srgbClr val="00B0F0"/>
                </a:solidFill>
                <a:latin typeface="Courier New"/>
                <a:cs typeface="Courier New"/>
              </a:rPr>
              <a:t>0</a:t>
            </a:r>
            <a:endParaRPr sz="1100">
              <a:latin typeface="Courier New"/>
              <a:cs typeface="Courier New"/>
            </a:endParaRPr>
          </a:p>
          <a:p>
            <a:pPr marL="79375">
              <a:lnSpc>
                <a:spcPct val="100000"/>
              </a:lnSpc>
              <a:spcBef>
                <a:spcPts val="220"/>
              </a:spcBef>
            </a:pPr>
            <a:r>
              <a:rPr sz="1100" b="1" spc="-5" dirty="0">
                <a:solidFill>
                  <a:srgbClr val="00B0F0"/>
                </a:solidFill>
                <a:latin typeface="Courier New"/>
                <a:cs typeface="Courier New"/>
              </a:rPr>
              <a:t>pool-1-thread-2:</a:t>
            </a:r>
            <a:r>
              <a:rPr sz="1100" b="1" spc="-105" dirty="0">
                <a:solidFill>
                  <a:srgbClr val="00B0F0"/>
                </a:solidFill>
                <a:latin typeface="Courier New"/>
                <a:cs typeface="Courier New"/>
              </a:rPr>
              <a:t> </a:t>
            </a:r>
            <a:r>
              <a:rPr sz="1100" b="1" spc="-5" dirty="0">
                <a:solidFill>
                  <a:srgbClr val="00B0F0"/>
                </a:solidFill>
                <a:latin typeface="Courier New"/>
                <a:cs typeface="Courier New"/>
              </a:rPr>
              <a:t>1</a:t>
            </a:r>
            <a:endParaRPr sz="1100">
              <a:latin typeface="Courier New"/>
              <a:cs typeface="Courier New"/>
            </a:endParaRPr>
          </a:p>
          <a:p>
            <a:pPr marL="79375">
              <a:lnSpc>
                <a:spcPct val="100000"/>
              </a:lnSpc>
              <a:spcBef>
                <a:spcPts val="220"/>
              </a:spcBef>
            </a:pPr>
            <a:r>
              <a:rPr sz="1100" b="1" spc="-5" dirty="0">
                <a:solidFill>
                  <a:srgbClr val="C00000"/>
                </a:solidFill>
                <a:latin typeface="Courier New"/>
                <a:cs typeface="Courier New"/>
              </a:rPr>
              <a:t>pool-1-thread-3:</a:t>
            </a:r>
            <a:r>
              <a:rPr sz="1100" b="1" spc="-105" dirty="0">
                <a:solidFill>
                  <a:srgbClr val="C00000"/>
                </a:solidFill>
                <a:latin typeface="Courier New"/>
                <a:cs typeface="Courier New"/>
              </a:rPr>
              <a:t> </a:t>
            </a:r>
            <a:r>
              <a:rPr sz="1100" b="1" spc="-5" dirty="0">
                <a:solidFill>
                  <a:srgbClr val="C00000"/>
                </a:solidFill>
                <a:latin typeface="Courier New"/>
                <a:cs typeface="Courier New"/>
              </a:rPr>
              <a:t>1</a:t>
            </a:r>
            <a:endParaRPr sz="1100">
              <a:latin typeface="Courier New"/>
              <a:cs typeface="Courier New"/>
            </a:endParaRPr>
          </a:p>
          <a:p>
            <a:pPr marL="79375">
              <a:lnSpc>
                <a:spcPct val="100000"/>
              </a:lnSpc>
              <a:spcBef>
                <a:spcPts val="220"/>
              </a:spcBef>
            </a:pPr>
            <a:r>
              <a:rPr sz="1100" b="1" spc="-5" dirty="0">
                <a:solidFill>
                  <a:srgbClr val="C00000"/>
                </a:solidFill>
                <a:latin typeface="Courier New"/>
                <a:cs typeface="Courier New"/>
              </a:rPr>
              <a:t>pool-1-thread-3:</a:t>
            </a:r>
            <a:r>
              <a:rPr sz="1100" b="1" spc="-105" dirty="0">
                <a:solidFill>
                  <a:srgbClr val="C00000"/>
                </a:solidFill>
                <a:latin typeface="Courier New"/>
                <a:cs typeface="Courier New"/>
              </a:rPr>
              <a:t> </a:t>
            </a:r>
            <a:r>
              <a:rPr sz="1100" b="1" spc="-5" dirty="0">
                <a:solidFill>
                  <a:srgbClr val="C00000"/>
                </a:solidFill>
                <a:latin typeface="Courier New"/>
                <a:cs typeface="Courier New"/>
              </a:rPr>
              <a:t>2</a:t>
            </a:r>
            <a:endParaRPr sz="1100">
              <a:latin typeface="Courier New"/>
              <a:cs typeface="Courier New"/>
            </a:endParaRPr>
          </a:p>
          <a:p>
            <a:pPr marL="79375">
              <a:lnSpc>
                <a:spcPct val="100000"/>
              </a:lnSpc>
              <a:spcBef>
                <a:spcPts val="220"/>
              </a:spcBef>
            </a:pPr>
            <a:r>
              <a:rPr sz="1100" b="1" spc="-5" dirty="0">
                <a:latin typeface="Courier New"/>
                <a:cs typeface="Courier New"/>
              </a:rPr>
              <a:t>pool-1-thread-1:</a:t>
            </a:r>
            <a:r>
              <a:rPr sz="1100" b="1" spc="-105" dirty="0">
                <a:latin typeface="Courier New"/>
                <a:cs typeface="Courier New"/>
              </a:rPr>
              <a:t> </a:t>
            </a:r>
            <a:r>
              <a:rPr sz="1100" b="1" spc="-5" dirty="0">
                <a:latin typeface="Courier New"/>
                <a:cs typeface="Courier New"/>
              </a:rPr>
              <a:t>1</a:t>
            </a:r>
            <a:endParaRPr sz="1100">
              <a:latin typeface="Courier New"/>
              <a:cs typeface="Courier New"/>
            </a:endParaRPr>
          </a:p>
          <a:p>
            <a:pPr marL="79375">
              <a:lnSpc>
                <a:spcPct val="100000"/>
              </a:lnSpc>
              <a:spcBef>
                <a:spcPts val="220"/>
              </a:spcBef>
            </a:pPr>
            <a:r>
              <a:rPr sz="1100" b="1" spc="-5" dirty="0">
                <a:solidFill>
                  <a:srgbClr val="00B0F0"/>
                </a:solidFill>
                <a:latin typeface="Courier New"/>
                <a:cs typeface="Courier New"/>
              </a:rPr>
              <a:t>pool-1-thread-2:</a:t>
            </a:r>
            <a:r>
              <a:rPr sz="1100" b="1" spc="-105" dirty="0">
                <a:solidFill>
                  <a:srgbClr val="00B0F0"/>
                </a:solidFill>
                <a:latin typeface="Courier New"/>
                <a:cs typeface="Courier New"/>
              </a:rPr>
              <a:t> </a:t>
            </a:r>
            <a:r>
              <a:rPr sz="1100" b="1" spc="-5" dirty="0">
                <a:solidFill>
                  <a:srgbClr val="00B0F0"/>
                </a:solidFill>
                <a:latin typeface="Courier New"/>
                <a:cs typeface="Courier New"/>
              </a:rPr>
              <a:t>2</a:t>
            </a:r>
            <a:endParaRPr sz="1100">
              <a:latin typeface="Courier New"/>
              <a:cs typeface="Courier New"/>
            </a:endParaRPr>
          </a:p>
          <a:p>
            <a:pPr marL="79375">
              <a:lnSpc>
                <a:spcPct val="100000"/>
              </a:lnSpc>
              <a:spcBef>
                <a:spcPts val="220"/>
              </a:spcBef>
            </a:pPr>
            <a:r>
              <a:rPr sz="1100" b="1" spc="-5" dirty="0">
                <a:solidFill>
                  <a:srgbClr val="C00000"/>
                </a:solidFill>
                <a:latin typeface="Courier New"/>
                <a:cs typeface="Courier New"/>
              </a:rPr>
              <a:t>pool-1-thread-3:</a:t>
            </a:r>
            <a:r>
              <a:rPr sz="1100" b="1" spc="-105" dirty="0">
                <a:solidFill>
                  <a:srgbClr val="C00000"/>
                </a:solidFill>
                <a:latin typeface="Courier New"/>
                <a:cs typeface="Courier New"/>
              </a:rPr>
              <a:t> </a:t>
            </a:r>
            <a:r>
              <a:rPr sz="1100" b="1" spc="-5" dirty="0">
                <a:solidFill>
                  <a:srgbClr val="C00000"/>
                </a:solidFill>
                <a:latin typeface="Courier New"/>
                <a:cs typeface="Courier New"/>
              </a:rPr>
              <a:t>3</a:t>
            </a:r>
            <a:endParaRPr sz="1100">
              <a:latin typeface="Courier New"/>
              <a:cs typeface="Courier New"/>
            </a:endParaRPr>
          </a:p>
          <a:p>
            <a:pPr marL="79375">
              <a:lnSpc>
                <a:spcPct val="100000"/>
              </a:lnSpc>
              <a:spcBef>
                <a:spcPts val="225"/>
              </a:spcBef>
            </a:pPr>
            <a:r>
              <a:rPr sz="1100" b="1" spc="-5" dirty="0">
                <a:solidFill>
                  <a:srgbClr val="00B0F0"/>
                </a:solidFill>
                <a:latin typeface="Courier New"/>
                <a:cs typeface="Courier New"/>
              </a:rPr>
              <a:t>pool-1-thread-2:</a:t>
            </a:r>
            <a:r>
              <a:rPr sz="1100" b="1" spc="-105" dirty="0">
                <a:solidFill>
                  <a:srgbClr val="00B0F0"/>
                </a:solidFill>
                <a:latin typeface="Courier New"/>
                <a:cs typeface="Courier New"/>
              </a:rPr>
              <a:t> </a:t>
            </a:r>
            <a:r>
              <a:rPr sz="1100" b="1" spc="-5" dirty="0">
                <a:solidFill>
                  <a:srgbClr val="00B0F0"/>
                </a:solidFill>
                <a:latin typeface="Courier New"/>
                <a:cs typeface="Courier New"/>
              </a:rPr>
              <a:t>3</a:t>
            </a:r>
            <a:endParaRPr sz="1100">
              <a:latin typeface="Courier New"/>
              <a:cs typeface="Courier New"/>
            </a:endParaRPr>
          </a:p>
          <a:p>
            <a:pPr marL="79375">
              <a:lnSpc>
                <a:spcPct val="100000"/>
              </a:lnSpc>
              <a:spcBef>
                <a:spcPts val="220"/>
              </a:spcBef>
            </a:pPr>
            <a:r>
              <a:rPr sz="1100" b="1" spc="-5" dirty="0">
                <a:latin typeface="Courier New"/>
                <a:cs typeface="Courier New"/>
              </a:rPr>
              <a:t>pool-1-thread-1:</a:t>
            </a:r>
            <a:r>
              <a:rPr sz="1100" b="1" spc="-105" dirty="0">
                <a:latin typeface="Courier New"/>
                <a:cs typeface="Courier New"/>
              </a:rPr>
              <a:t> </a:t>
            </a:r>
            <a:r>
              <a:rPr sz="1100" b="1" spc="-5" dirty="0">
                <a:latin typeface="Courier New"/>
                <a:cs typeface="Courier New"/>
              </a:rPr>
              <a:t>2</a:t>
            </a:r>
            <a:endParaRPr sz="1100">
              <a:latin typeface="Courier New"/>
              <a:cs typeface="Courier New"/>
            </a:endParaRPr>
          </a:p>
          <a:p>
            <a:pPr marL="79375">
              <a:lnSpc>
                <a:spcPct val="100000"/>
              </a:lnSpc>
              <a:spcBef>
                <a:spcPts val="220"/>
              </a:spcBef>
            </a:pPr>
            <a:r>
              <a:rPr sz="1100" b="1" spc="-5" dirty="0">
                <a:solidFill>
                  <a:srgbClr val="C00000"/>
                </a:solidFill>
                <a:latin typeface="Courier New"/>
                <a:cs typeface="Courier New"/>
              </a:rPr>
              <a:t>pool-1-thread-3:</a:t>
            </a:r>
            <a:r>
              <a:rPr sz="1100" b="1" spc="-105" dirty="0">
                <a:solidFill>
                  <a:srgbClr val="C00000"/>
                </a:solidFill>
                <a:latin typeface="Courier New"/>
                <a:cs typeface="Courier New"/>
              </a:rPr>
              <a:t> </a:t>
            </a:r>
            <a:r>
              <a:rPr sz="1100" b="1" spc="-5" dirty="0">
                <a:solidFill>
                  <a:srgbClr val="C00000"/>
                </a:solidFill>
                <a:latin typeface="Courier New"/>
                <a:cs typeface="Courier New"/>
              </a:rPr>
              <a:t>4</a:t>
            </a:r>
            <a:endParaRPr sz="1100">
              <a:latin typeface="Courier New"/>
              <a:cs typeface="Courier New"/>
            </a:endParaRPr>
          </a:p>
          <a:p>
            <a:pPr marL="79375">
              <a:lnSpc>
                <a:spcPct val="100000"/>
              </a:lnSpc>
              <a:spcBef>
                <a:spcPts val="220"/>
              </a:spcBef>
            </a:pPr>
            <a:r>
              <a:rPr sz="1100" b="1" spc="-5" dirty="0">
                <a:latin typeface="Courier New"/>
                <a:cs typeface="Courier New"/>
              </a:rPr>
              <a:t>pool-1-thread-1:</a:t>
            </a:r>
            <a:r>
              <a:rPr sz="1100" b="1" spc="-105" dirty="0">
                <a:latin typeface="Courier New"/>
                <a:cs typeface="Courier New"/>
              </a:rPr>
              <a:t> </a:t>
            </a:r>
            <a:r>
              <a:rPr sz="1100" b="1" spc="-5" dirty="0">
                <a:latin typeface="Courier New"/>
                <a:cs typeface="Courier New"/>
              </a:rPr>
              <a:t>3</a:t>
            </a:r>
            <a:endParaRPr sz="1100">
              <a:latin typeface="Courier New"/>
              <a:cs typeface="Courier New"/>
            </a:endParaRPr>
          </a:p>
          <a:p>
            <a:pPr marL="79375">
              <a:lnSpc>
                <a:spcPct val="100000"/>
              </a:lnSpc>
              <a:spcBef>
                <a:spcPts val="220"/>
              </a:spcBef>
            </a:pPr>
            <a:r>
              <a:rPr sz="1100" b="1" spc="-5" dirty="0">
                <a:solidFill>
                  <a:srgbClr val="00B0F0"/>
                </a:solidFill>
                <a:latin typeface="Courier New"/>
                <a:cs typeface="Courier New"/>
              </a:rPr>
              <a:t>pool-1-thread-2:</a:t>
            </a:r>
            <a:r>
              <a:rPr sz="1100" b="1" spc="-105" dirty="0">
                <a:solidFill>
                  <a:srgbClr val="00B0F0"/>
                </a:solidFill>
                <a:latin typeface="Courier New"/>
                <a:cs typeface="Courier New"/>
              </a:rPr>
              <a:t> </a:t>
            </a:r>
            <a:r>
              <a:rPr sz="1100" b="1" spc="-5" dirty="0">
                <a:solidFill>
                  <a:srgbClr val="00B0F0"/>
                </a:solidFill>
                <a:latin typeface="Courier New"/>
                <a:cs typeface="Courier New"/>
              </a:rPr>
              <a:t>4</a:t>
            </a:r>
            <a:endParaRPr sz="1100">
              <a:latin typeface="Courier New"/>
              <a:cs typeface="Courier New"/>
            </a:endParaRPr>
          </a:p>
          <a:p>
            <a:pPr marL="79375">
              <a:lnSpc>
                <a:spcPct val="100000"/>
              </a:lnSpc>
              <a:spcBef>
                <a:spcPts val="220"/>
              </a:spcBef>
            </a:pPr>
            <a:r>
              <a:rPr sz="1100" b="1" spc="-5" dirty="0">
                <a:latin typeface="Courier New"/>
                <a:cs typeface="Courier New"/>
              </a:rPr>
              <a:t>pool-1-thread-1:</a:t>
            </a:r>
            <a:r>
              <a:rPr sz="1100" b="1" spc="-105" dirty="0">
                <a:latin typeface="Courier New"/>
                <a:cs typeface="Courier New"/>
              </a:rPr>
              <a:t> </a:t>
            </a:r>
            <a:r>
              <a:rPr sz="1100" b="1" spc="-5" dirty="0">
                <a:latin typeface="Courier New"/>
                <a:cs typeface="Courier New"/>
              </a:rPr>
              <a:t>4</a:t>
            </a:r>
            <a:endParaRPr sz="1100">
              <a:latin typeface="Courier New"/>
              <a:cs typeface="Courier New"/>
            </a:endParaRPr>
          </a:p>
        </p:txBody>
      </p:sp>
      <p:sp>
        <p:nvSpPr>
          <p:cNvPr id="7" name="object 7"/>
          <p:cNvSpPr/>
          <p:nvPr/>
        </p:nvSpPr>
        <p:spPr>
          <a:xfrm>
            <a:off x="654799" y="5028819"/>
            <a:ext cx="6463030" cy="5022850"/>
          </a:xfrm>
          <a:custGeom>
            <a:avLst/>
            <a:gdLst/>
            <a:ahLst/>
            <a:cxnLst/>
            <a:rect l="l" t="t" r="r" b="b"/>
            <a:pathLst>
              <a:path w="6463030" h="5022850">
                <a:moveTo>
                  <a:pt x="0" y="0"/>
                </a:moveTo>
                <a:lnTo>
                  <a:pt x="6462801" y="0"/>
                </a:lnTo>
                <a:lnTo>
                  <a:pt x="6462801" y="5022850"/>
                </a:lnTo>
                <a:lnTo>
                  <a:pt x="0" y="5022850"/>
                </a:lnTo>
                <a:lnTo>
                  <a:pt x="0" y="0"/>
                </a:lnTo>
                <a:close/>
              </a:path>
            </a:pathLst>
          </a:custGeom>
          <a:ln w="3175">
            <a:solidFill>
              <a:srgbClr val="000000"/>
            </a:solidFill>
          </a:ln>
        </p:spPr>
        <p:txBody>
          <a:bodyPr wrap="square" lIns="0" tIns="0" rIns="0" bIns="0" rtlCol="0"/>
          <a:lstStyle/>
          <a:p>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722134" y="739533"/>
            <a:ext cx="6327775" cy="3556000"/>
          </a:xfrm>
          <a:prstGeom prst="rect">
            <a:avLst/>
          </a:prstGeom>
          <a:ln w="8153">
            <a:solidFill>
              <a:srgbClr val="000000"/>
            </a:solidFill>
          </a:ln>
        </p:spPr>
        <p:txBody>
          <a:bodyPr vert="horz" wrap="square" lIns="0" tIns="0" rIns="0" bIns="0" rtlCol="0">
            <a:spAutoFit/>
          </a:bodyPr>
          <a:lstStyle/>
          <a:p>
            <a:pPr marL="803275">
              <a:lnSpc>
                <a:spcPts val="2550"/>
              </a:lnSpc>
            </a:pPr>
            <a:r>
              <a:rPr sz="2150" b="1" spc="15" dirty="0">
                <a:solidFill>
                  <a:srgbClr val="FFFFFF"/>
                </a:solidFill>
                <a:latin typeface="Arial"/>
                <a:cs typeface="Arial"/>
              </a:rPr>
              <a:t>Pros and Cons </a:t>
            </a:r>
            <a:r>
              <a:rPr sz="2150" b="1" spc="10" dirty="0">
                <a:solidFill>
                  <a:srgbClr val="FFFFFF"/>
                </a:solidFill>
                <a:latin typeface="Arial"/>
                <a:cs typeface="Arial"/>
              </a:rPr>
              <a:t>of</a:t>
            </a:r>
            <a:r>
              <a:rPr sz="2150" b="1" spc="-120" dirty="0">
                <a:solidFill>
                  <a:srgbClr val="FFFFFF"/>
                </a:solidFill>
                <a:latin typeface="Arial"/>
                <a:cs typeface="Arial"/>
              </a:rPr>
              <a:t> </a:t>
            </a:r>
            <a:r>
              <a:rPr sz="2150" b="1" spc="15" dirty="0">
                <a:solidFill>
                  <a:srgbClr val="FFFFFF"/>
                </a:solidFill>
                <a:latin typeface="Arial"/>
                <a:cs typeface="Arial"/>
              </a:rPr>
              <a:t>Approach</a:t>
            </a:r>
            <a:endParaRPr sz="2150" dirty="0">
              <a:latin typeface="Arial"/>
              <a:cs typeface="Arial"/>
            </a:endParaRPr>
          </a:p>
          <a:p>
            <a:pPr marL="257175" indent="-177800">
              <a:lnSpc>
                <a:spcPct val="100000"/>
              </a:lnSpc>
              <a:spcBef>
                <a:spcPts val="785"/>
              </a:spcBef>
              <a:buClr>
                <a:srgbClr val="CC0000"/>
              </a:buClr>
              <a:buFont typeface="Arial"/>
              <a:buChar char="•"/>
              <a:tabLst>
                <a:tab pos="257810" algn="l"/>
              </a:tabLst>
            </a:pPr>
            <a:r>
              <a:rPr sz="1550" b="1" dirty="0">
                <a:latin typeface="Arial"/>
                <a:cs typeface="Arial"/>
              </a:rPr>
              <a:t>Advantages</a:t>
            </a:r>
            <a:endParaRPr sz="1550" dirty="0">
              <a:latin typeface="Arial"/>
              <a:cs typeface="Arial"/>
            </a:endParaRPr>
          </a:p>
          <a:p>
            <a:pPr marL="464820" lvl="1" indent="-147955">
              <a:lnSpc>
                <a:spcPct val="100000"/>
              </a:lnSpc>
              <a:spcBef>
                <a:spcPts val="200"/>
              </a:spcBef>
              <a:buClr>
                <a:srgbClr val="CC0000"/>
              </a:buClr>
              <a:buChar char="–"/>
              <a:tabLst>
                <a:tab pos="465455" algn="l"/>
              </a:tabLst>
            </a:pPr>
            <a:r>
              <a:rPr sz="1350" spc="-5" dirty="0">
                <a:latin typeface="Times New Roman"/>
                <a:cs typeface="Times New Roman"/>
              </a:rPr>
              <a:t>Easy to access main</a:t>
            </a:r>
            <a:r>
              <a:rPr sz="1350" spc="-70" dirty="0">
                <a:latin typeface="Times New Roman"/>
                <a:cs typeface="Times New Roman"/>
              </a:rPr>
              <a:t> </a:t>
            </a:r>
            <a:r>
              <a:rPr sz="1350" spc="-5" dirty="0">
                <a:latin typeface="Times New Roman"/>
                <a:cs typeface="Times New Roman"/>
              </a:rPr>
              <a:t>app.</a:t>
            </a:r>
            <a:endParaRPr sz="1350" dirty="0">
              <a:latin typeface="Times New Roman"/>
              <a:cs typeface="Times New Roman"/>
            </a:endParaRPr>
          </a:p>
          <a:p>
            <a:pPr marL="673100" marR="174625" lvl="2" indent="-118745">
              <a:lnSpc>
                <a:spcPts val="1240"/>
              </a:lnSpc>
              <a:spcBef>
                <a:spcPts val="234"/>
              </a:spcBef>
              <a:buClr>
                <a:srgbClr val="CC0000"/>
              </a:buClr>
              <a:buChar char="•"/>
              <a:tabLst>
                <a:tab pos="673735" algn="l"/>
              </a:tabLst>
            </a:pPr>
            <a:r>
              <a:rPr sz="1150" spc="-5" dirty="0">
                <a:latin typeface="Arial"/>
                <a:cs typeface="Arial"/>
              </a:rPr>
              <a:t>run is already inside main app. Can access any public or private methods or instance  variables.</a:t>
            </a:r>
            <a:endParaRPr sz="1150" dirty="0">
              <a:latin typeface="Arial"/>
              <a:cs typeface="Arial"/>
            </a:endParaRPr>
          </a:p>
          <a:p>
            <a:pPr marL="257175" indent="-177800">
              <a:lnSpc>
                <a:spcPct val="100000"/>
              </a:lnSpc>
              <a:spcBef>
                <a:spcPts val="155"/>
              </a:spcBef>
              <a:buClr>
                <a:srgbClr val="CC0000"/>
              </a:buClr>
              <a:buFont typeface="Arial"/>
              <a:buChar char="•"/>
              <a:tabLst>
                <a:tab pos="257810" algn="l"/>
              </a:tabLst>
            </a:pPr>
            <a:r>
              <a:rPr sz="1550" b="1" dirty="0">
                <a:latin typeface="Arial"/>
                <a:cs typeface="Arial"/>
              </a:rPr>
              <a:t>Disadvantages</a:t>
            </a:r>
            <a:endParaRPr sz="1550" dirty="0">
              <a:latin typeface="Arial"/>
              <a:cs typeface="Arial"/>
            </a:endParaRPr>
          </a:p>
          <a:p>
            <a:pPr marL="464820" lvl="1" indent="-147955">
              <a:lnSpc>
                <a:spcPct val="100000"/>
              </a:lnSpc>
              <a:spcBef>
                <a:spcPts val="200"/>
              </a:spcBef>
              <a:buClr>
                <a:srgbClr val="CC0000"/>
              </a:buClr>
              <a:buChar char="–"/>
              <a:tabLst>
                <a:tab pos="465455" algn="l"/>
              </a:tabLst>
            </a:pPr>
            <a:r>
              <a:rPr sz="1350" dirty="0">
                <a:latin typeface="Times New Roman"/>
                <a:cs typeface="Times New Roman"/>
              </a:rPr>
              <a:t>Tight</a:t>
            </a:r>
            <a:r>
              <a:rPr sz="1350" spc="-85" dirty="0">
                <a:latin typeface="Times New Roman"/>
                <a:cs typeface="Times New Roman"/>
              </a:rPr>
              <a:t> </a:t>
            </a:r>
            <a:r>
              <a:rPr sz="1350" spc="-5" dirty="0">
                <a:latin typeface="Times New Roman"/>
                <a:cs typeface="Times New Roman"/>
              </a:rPr>
              <a:t>coupling</a:t>
            </a:r>
            <a:endParaRPr sz="1350" dirty="0">
              <a:latin typeface="Times New Roman"/>
              <a:cs typeface="Times New Roman"/>
            </a:endParaRPr>
          </a:p>
          <a:p>
            <a:pPr marL="673100" lvl="2" indent="-118745">
              <a:lnSpc>
                <a:spcPct val="100000"/>
              </a:lnSpc>
              <a:spcBef>
                <a:spcPts val="75"/>
              </a:spcBef>
              <a:buClr>
                <a:srgbClr val="CC0000"/>
              </a:buClr>
              <a:buChar char="•"/>
              <a:tabLst>
                <a:tab pos="673735" algn="l"/>
              </a:tabLst>
            </a:pPr>
            <a:r>
              <a:rPr sz="1150" spc="-5" dirty="0">
                <a:latin typeface="Arial"/>
                <a:cs typeface="Arial"/>
              </a:rPr>
              <a:t>run method tied closely to this</a:t>
            </a:r>
            <a:r>
              <a:rPr sz="1150" spc="-15" dirty="0">
                <a:latin typeface="Arial"/>
                <a:cs typeface="Arial"/>
              </a:rPr>
              <a:t> </a:t>
            </a:r>
            <a:r>
              <a:rPr sz="1150" spc="-5" dirty="0">
                <a:latin typeface="Arial"/>
                <a:cs typeface="Arial"/>
              </a:rPr>
              <a:t>application</a:t>
            </a:r>
            <a:endParaRPr sz="1150" dirty="0">
              <a:latin typeface="Arial"/>
              <a:cs typeface="Arial"/>
            </a:endParaRPr>
          </a:p>
          <a:p>
            <a:pPr marL="464820" lvl="1" indent="-147955">
              <a:lnSpc>
                <a:spcPct val="100000"/>
              </a:lnSpc>
              <a:spcBef>
                <a:spcPts val="185"/>
              </a:spcBef>
              <a:buClr>
                <a:srgbClr val="CC0000"/>
              </a:buClr>
              <a:buChar char="–"/>
              <a:tabLst>
                <a:tab pos="465455" algn="l"/>
              </a:tabLst>
            </a:pPr>
            <a:r>
              <a:rPr sz="1350" spc="-5" dirty="0">
                <a:latin typeface="Times New Roman"/>
                <a:cs typeface="Times New Roman"/>
              </a:rPr>
              <a:t>Cannot pass arguments to</a:t>
            </a:r>
            <a:r>
              <a:rPr sz="1350" spc="-55" dirty="0">
                <a:latin typeface="Times New Roman"/>
                <a:cs typeface="Times New Roman"/>
              </a:rPr>
              <a:t> </a:t>
            </a:r>
            <a:r>
              <a:rPr sz="1350" spc="-5" dirty="0">
                <a:latin typeface="Times New Roman"/>
                <a:cs typeface="Times New Roman"/>
              </a:rPr>
              <a:t>run</a:t>
            </a:r>
            <a:endParaRPr sz="1350" dirty="0">
              <a:latin typeface="Times New Roman"/>
              <a:cs typeface="Times New Roman"/>
            </a:endParaRPr>
          </a:p>
          <a:p>
            <a:pPr marL="673100" marR="383540" lvl="2" indent="-118745">
              <a:lnSpc>
                <a:spcPts val="1230"/>
              </a:lnSpc>
              <a:spcBef>
                <a:spcPts val="245"/>
              </a:spcBef>
              <a:buClr>
                <a:srgbClr val="CC0000"/>
              </a:buClr>
              <a:buChar char="•"/>
              <a:tabLst>
                <a:tab pos="673735" algn="l"/>
              </a:tabLst>
            </a:pPr>
            <a:r>
              <a:rPr sz="1150" spc="-5" dirty="0">
                <a:latin typeface="Arial"/>
                <a:cs typeface="Arial"/>
              </a:rPr>
              <a:t>So, you either start a single thread only (quite common), or all the threads do very  similar</a:t>
            </a:r>
            <a:r>
              <a:rPr sz="1150" spc="-75" dirty="0">
                <a:latin typeface="Arial"/>
                <a:cs typeface="Arial"/>
              </a:rPr>
              <a:t> </a:t>
            </a:r>
            <a:r>
              <a:rPr sz="1150" spc="-5" dirty="0">
                <a:latin typeface="Arial"/>
                <a:cs typeface="Arial"/>
              </a:rPr>
              <a:t>tasks</a:t>
            </a:r>
            <a:endParaRPr sz="1150" dirty="0">
              <a:latin typeface="Arial"/>
              <a:cs typeface="Arial"/>
            </a:endParaRPr>
          </a:p>
          <a:p>
            <a:pPr marL="464820" lvl="1" indent="-147955">
              <a:lnSpc>
                <a:spcPct val="100000"/>
              </a:lnSpc>
              <a:spcBef>
                <a:spcPts val="170"/>
              </a:spcBef>
              <a:buClr>
                <a:srgbClr val="CC0000"/>
              </a:buClr>
              <a:buChar char="–"/>
              <a:tabLst>
                <a:tab pos="465455" algn="l"/>
              </a:tabLst>
            </a:pPr>
            <a:r>
              <a:rPr sz="1350" spc="-5" dirty="0">
                <a:latin typeface="Times New Roman"/>
                <a:cs typeface="Times New Roman"/>
              </a:rPr>
              <a:t>Danger of race</a:t>
            </a:r>
            <a:r>
              <a:rPr sz="1350" spc="-80" dirty="0">
                <a:latin typeface="Times New Roman"/>
                <a:cs typeface="Times New Roman"/>
              </a:rPr>
              <a:t> </a:t>
            </a:r>
            <a:r>
              <a:rPr sz="1350" spc="-5" dirty="0">
                <a:latin typeface="Times New Roman"/>
                <a:cs typeface="Times New Roman"/>
              </a:rPr>
              <a:t>conditions</a:t>
            </a:r>
            <a:endParaRPr sz="1350" dirty="0">
              <a:latin typeface="Times New Roman"/>
              <a:cs typeface="Times New Roman"/>
            </a:endParaRPr>
          </a:p>
          <a:p>
            <a:pPr marL="673100" marR="258445" lvl="2" indent="-118745">
              <a:lnSpc>
                <a:spcPts val="1240"/>
              </a:lnSpc>
              <a:spcBef>
                <a:spcPts val="234"/>
              </a:spcBef>
              <a:buClr>
                <a:srgbClr val="CC0000"/>
              </a:buClr>
              <a:buChar char="•"/>
              <a:tabLst>
                <a:tab pos="673735" algn="l"/>
              </a:tabLst>
            </a:pPr>
            <a:r>
              <a:rPr sz="1150" spc="-5" dirty="0">
                <a:latin typeface="Arial"/>
                <a:cs typeface="Arial"/>
              </a:rPr>
              <a:t>You usually use this approach specifically because you want to access data in main  application. So, if run modifies some shared data, you must</a:t>
            </a:r>
            <a:r>
              <a:rPr sz="1150" spc="20" dirty="0">
                <a:latin typeface="Arial"/>
                <a:cs typeface="Arial"/>
              </a:rPr>
              <a:t> </a:t>
            </a:r>
            <a:r>
              <a:rPr sz="1150" spc="-5" dirty="0">
                <a:latin typeface="Arial"/>
                <a:cs typeface="Arial"/>
              </a:rPr>
              <a:t>synchronize.</a:t>
            </a:r>
            <a:endParaRPr sz="1150" dirty="0">
              <a:latin typeface="Arial"/>
              <a:cs typeface="Arial"/>
            </a:endParaRPr>
          </a:p>
          <a:p>
            <a:pPr>
              <a:lnSpc>
                <a:spcPct val="100000"/>
              </a:lnSpc>
            </a:pPr>
            <a:endParaRPr sz="1100" dirty="0">
              <a:latin typeface="Times New Roman"/>
              <a:cs typeface="Times New Roman"/>
            </a:endParaRPr>
          </a:p>
          <a:p>
            <a:pPr>
              <a:lnSpc>
                <a:spcPct val="100000"/>
              </a:lnSpc>
              <a:spcBef>
                <a:spcPts val="15"/>
              </a:spcBef>
            </a:pPr>
            <a:endParaRPr sz="1350" dirty="0">
              <a:latin typeface="Times New Roman"/>
              <a:cs typeface="Times New Roman"/>
            </a:endParaRPr>
          </a:p>
          <a:p>
            <a:pPr marL="51435">
              <a:lnSpc>
                <a:spcPct val="100000"/>
              </a:lnSpc>
            </a:pPr>
            <a:endParaRPr sz="700" dirty="0">
              <a:latin typeface="Arial Narrow"/>
              <a:cs typeface="Arial Narrow"/>
            </a:endParaRPr>
          </a:p>
        </p:txBody>
      </p:sp>
      <p:sp>
        <p:nvSpPr>
          <p:cNvPr id="3" name="object 3"/>
          <p:cNvSpPr/>
          <p:nvPr/>
        </p:nvSpPr>
        <p:spPr>
          <a:xfrm>
            <a:off x="654799" y="5968"/>
            <a:ext cx="6463030" cy="5022850"/>
          </a:xfrm>
          <a:custGeom>
            <a:avLst/>
            <a:gdLst/>
            <a:ahLst/>
            <a:cxnLst/>
            <a:rect l="l" t="t" r="r" b="b"/>
            <a:pathLst>
              <a:path w="6463030" h="5022850">
                <a:moveTo>
                  <a:pt x="0" y="0"/>
                </a:moveTo>
                <a:lnTo>
                  <a:pt x="6462801" y="0"/>
                </a:lnTo>
                <a:lnTo>
                  <a:pt x="6462801" y="5022850"/>
                </a:lnTo>
                <a:lnTo>
                  <a:pt x="0" y="5022850"/>
                </a:lnTo>
                <a:lnTo>
                  <a:pt x="0" y="0"/>
                </a:lnTo>
                <a:close/>
              </a:path>
            </a:pathLst>
          </a:custGeom>
          <a:ln w="3175">
            <a:solidFill>
              <a:srgbClr val="000000"/>
            </a:solidFill>
          </a:ln>
        </p:spPr>
        <p:txBody>
          <a:bodyPr wrap="square" lIns="0" tIns="0" rIns="0" bIns="0" rtlCol="0"/>
          <a:lstStyle/>
          <a:p>
            <a:endParaRPr/>
          </a:p>
        </p:txBody>
      </p:sp>
      <p:sp>
        <p:nvSpPr>
          <p:cNvPr id="4" name="object 4"/>
          <p:cNvSpPr/>
          <p:nvPr/>
        </p:nvSpPr>
        <p:spPr>
          <a:xfrm>
            <a:off x="718299" y="5758535"/>
            <a:ext cx="6336030" cy="3564254"/>
          </a:xfrm>
          <a:custGeom>
            <a:avLst/>
            <a:gdLst/>
            <a:ahLst/>
            <a:cxnLst/>
            <a:rect l="l" t="t" r="r" b="b"/>
            <a:pathLst>
              <a:path w="6336030" h="3564254">
                <a:moveTo>
                  <a:pt x="0" y="3563886"/>
                </a:moveTo>
                <a:lnTo>
                  <a:pt x="6335801" y="3563886"/>
                </a:lnTo>
                <a:lnTo>
                  <a:pt x="6335801" y="0"/>
                </a:lnTo>
                <a:lnTo>
                  <a:pt x="0" y="0"/>
                </a:lnTo>
                <a:lnTo>
                  <a:pt x="0" y="3563886"/>
                </a:lnTo>
                <a:close/>
              </a:path>
            </a:pathLst>
          </a:custGeom>
          <a:solidFill>
            <a:srgbClr val="B2B2B2"/>
          </a:solidFill>
        </p:spPr>
        <p:txBody>
          <a:bodyPr wrap="square" lIns="0" tIns="0" rIns="0" bIns="0" rtlCol="0"/>
          <a:lstStyle/>
          <a:p>
            <a:endParaRPr/>
          </a:p>
        </p:txBody>
      </p:sp>
      <p:sp>
        <p:nvSpPr>
          <p:cNvPr id="12" name="object 12"/>
          <p:cNvSpPr/>
          <p:nvPr/>
        </p:nvSpPr>
        <p:spPr>
          <a:xfrm>
            <a:off x="795096" y="8722931"/>
            <a:ext cx="322910" cy="587502"/>
          </a:xfrm>
          <a:prstGeom prst="rect">
            <a:avLst/>
          </a:prstGeom>
          <a:blipFill>
            <a:blip r:embed="rId3" cstate="print"/>
            <a:stretch>
              <a:fillRect/>
            </a:stretch>
          </a:blipFill>
        </p:spPr>
        <p:txBody>
          <a:bodyPr wrap="square" lIns="0" tIns="0" rIns="0" bIns="0" rtlCol="0"/>
          <a:lstStyle/>
          <a:p>
            <a:endParaRPr/>
          </a:p>
        </p:txBody>
      </p:sp>
      <p:sp>
        <p:nvSpPr>
          <p:cNvPr id="13" name="object 13"/>
          <p:cNvSpPr txBox="1"/>
          <p:nvPr/>
        </p:nvSpPr>
        <p:spPr>
          <a:xfrm>
            <a:off x="722134" y="5762371"/>
            <a:ext cx="6327775" cy="2526333"/>
          </a:xfrm>
          <a:prstGeom prst="rect">
            <a:avLst/>
          </a:prstGeom>
          <a:ln w="8153">
            <a:solidFill>
              <a:srgbClr val="000000"/>
            </a:solidFill>
          </a:ln>
        </p:spPr>
        <p:txBody>
          <a:bodyPr vert="horz" wrap="square" lIns="0" tIns="10160" rIns="0" bIns="0" rtlCol="0">
            <a:spAutoFit/>
          </a:bodyPr>
          <a:lstStyle/>
          <a:p>
            <a:pPr>
              <a:lnSpc>
                <a:spcPct val="100000"/>
              </a:lnSpc>
            </a:pPr>
            <a:endParaRPr sz="1200" dirty="0">
              <a:latin typeface="Times New Roman"/>
              <a:cs typeface="Times New Roman"/>
            </a:endParaRPr>
          </a:p>
          <a:p>
            <a:pPr>
              <a:lnSpc>
                <a:spcPct val="100000"/>
              </a:lnSpc>
            </a:pPr>
            <a:endParaRPr sz="1150" dirty="0">
              <a:latin typeface="Times New Roman"/>
              <a:cs typeface="Times New Roman"/>
            </a:endParaRPr>
          </a:p>
          <a:p>
            <a:pPr marL="1011555" marR="1075055" algn="ctr">
              <a:lnSpc>
                <a:spcPts val="4240"/>
              </a:lnSpc>
            </a:pPr>
            <a:r>
              <a:rPr sz="4150" b="1" dirty="0">
                <a:solidFill>
                  <a:srgbClr val="FF0000"/>
                </a:solidFill>
                <a:latin typeface="Arial"/>
                <a:cs typeface="Arial"/>
              </a:rPr>
              <a:t>Approach</a:t>
            </a:r>
            <a:r>
              <a:rPr sz="4150" b="1" spc="-45" dirty="0">
                <a:solidFill>
                  <a:srgbClr val="FF0000"/>
                </a:solidFill>
                <a:latin typeface="Arial"/>
                <a:cs typeface="Arial"/>
              </a:rPr>
              <a:t> </a:t>
            </a:r>
            <a:r>
              <a:rPr sz="4150" b="1" dirty="0">
                <a:solidFill>
                  <a:srgbClr val="FF0000"/>
                </a:solidFill>
                <a:latin typeface="Arial"/>
                <a:cs typeface="Arial"/>
              </a:rPr>
              <a:t>Three:  Inner Class that  Implements  </a:t>
            </a:r>
            <a:r>
              <a:rPr sz="4150" b="1" dirty="0" smtClean="0">
                <a:solidFill>
                  <a:srgbClr val="FF0000"/>
                </a:solidFill>
                <a:latin typeface="Arial"/>
                <a:cs typeface="Arial"/>
              </a:rPr>
              <a:t>Runnable</a:t>
            </a:r>
            <a:endParaRPr sz="4150" dirty="0">
              <a:latin typeface="Arial"/>
              <a:cs typeface="Arial"/>
            </a:endParaRPr>
          </a:p>
        </p:txBody>
      </p:sp>
      <p:sp>
        <p:nvSpPr>
          <p:cNvPr id="14" name="object 14"/>
          <p:cNvSpPr/>
          <p:nvPr/>
        </p:nvSpPr>
        <p:spPr>
          <a:xfrm>
            <a:off x="654799" y="5028819"/>
            <a:ext cx="6463030" cy="5022850"/>
          </a:xfrm>
          <a:custGeom>
            <a:avLst/>
            <a:gdLst/>
            <a:ahLst/>
            <a:cxnLst/>
            <a:rect l="l" t="t" r="r" b="b"/>
            <a:pathLst>
              <a:path w="6463030" h="5022850">
                <a:moveTo>
                  <a:pt x="0" y="0"/>
                </a:moveTo>
                <a:lnTo>
                  <a:pt x="6462801" y="0"/>
                </a:lnTo>
                <a:lnTo>
                  <a:pt x="6462801" y="5022850"/>
                </a:lnTo>
                <a:lnTo>
                  <a:pt x="0" y="5022850"/>
                </a:lnTo>
                <a:lnTo>
                  <a:pt x="0" y="0"/>
                </a:lnTo>
                <a:close/>
              </a:path>
            </a:pathLst>
          </a:custGeom>
          <a:ln w="3175">
            <a:solidFill>
              <a:srgbClr val="000000"/>
            </a:solidFill>
          </a:ln>
        </p:spPr>
        <p:txBody>
          <a:bodyPr wrap="square" lIns="0" tIns="0" rIns="0" bIns="0" rtlCol="0"/>
          <a:lstStyle/>
          <a:p>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722134" y="739533"/>
            <a:ext cx="6327775" cy="3556000"/>
          </a:xfrm>
          <a:prstGeom prst="rect">
            <a:avLst/>
          </a:prstGeom>
          <a:ln w="8153">
            <a:solidFill>
              <a:srgbClr val="000000"/>
            </a:solidFill>
          </a:ln>
        </p:spPr>
        <p:txBody>
          <a:bodyPr vert="horz" wrap="square" lIns="0" tIns="0" rIns="0" bIns="0" rtlCol="0">
            <a:spAutoFit/>
          </a:bodyPr>
          <a:lstStyle/>
          <a:p>
            <a:pPr marL="803275">
              <a:lnSpc>
                <a:spcPts val="2560"/>
              </a:lnSpc>
            </a:pPr>
            <a:r>
              <a:rPr sz="2150" b="1" spc="10" dirty="0">
                <a:solidFill>
                  <a:srgbClr val="FFFFFF"/>
                </a:solidFill>
                <a:latin typeface="Arial Narrow"/>
                <a:cs typeface="Arial Narrow"/>
              </a:rPr>
              <a:t>Thread Mechanism Three: Runnable </a:t>
            </a:r>
            <a:r>
              <a:rPr sz="2150" b="1" spc="5" dirty="0">
                <a:solidFill>
                  <a:srgbClr val="FFFFFF"/>
                </a:solidFill>
                <a:latin typeface="Arial Narrow"/>
                <a:cs typeface="Arial Narrow"/>
              </a:rPr>
              <a:t>Inner</a:t>
            </a:r>
            <a:r>
              <a:rPr sz="2150" b="1" spc="-90" dirty="0">
                <a:solidFill>
                  <a:srgbClr val="FFFFFF"/>
                </a:solidFill>
                <a:latin typeface="Arial Narrow"/>
                <a:cs typeface="Arial Narrow"/>
              </a:rPr>
              <a:t> </a:t>
            </a:r>
            <a:r>
              <a:rPr sz="2150" b="1" spc="10" dirty="0">
                <a:solidFill>
                  <a:srgbClr val="FFFFFF"/>
                </a:solidFill>
                <a:latin typeface="Arial Narrow"/>
                <a:cs typeface="Arial Narrow"/>
              </a:rPr>
              <a:t>Class</a:t>
            </a:r>
            <a:endParaRPr sz="2150" dirty="0">
              <a:latin typeface="Arial Narrow"/>
              <a:cs typeface="Arial Narrow"/>
            </a:endParaRPr>
          </a:p>
          <a:p>
            <a:pPr marL="257175" indent="-177800">
              <a:lnSpc>
                <a:spcPct val="100000"/>
              </a:lnSpc>
              <a:spcBef>
                <a:spcPts val="940"/>
              </a:spcBef>
              <a:buClr>
                <a:srgbClr val="CC0000"/>
              </a:buClr>
              <a:buFont typeface="Arial"/>
              <a:buChar char="•"/>
              <a:tabLst>
                <a:tab pos="257810" algn="l"/>
              </a:tabLst>
            </a:pPr>
            <a:r>
              <a:rPr sz="1550" b="1" dirty="0">
                <a:latin typeface="Arial"/>
                <a:cs typeface="Arial"/>
              </a:rPr>
              <a:t>Have inner class implement</a:t>
            </a:r>
            <a:r>
              <a:rPr sz="1550" b="1" spc="-75" dirty="0">
                <a:latin typeface="Arial"/>
                <a:cs typeface="Arial"/>
              </a:rPr>
              <a:t> </a:t>
            </a:r>
            <a:r>
              <a:rPr sz="1550" b="1" dirty="0">
                <a:latin typeface="Arial"/>
                <a:cs typeface="Arial"/>
              </a:rPr>
              <a:t>Runnable</a:t>
            </a:r>
            <a:endParaRPr sz="1550" dirty="0">
              <a:latin typeface="Arial"/>
              <a:cs typeface="Arial"/>
            </a:endParaRPr>
          </a:p>
          <a:p>
            <a:pPr marL="316865">
              <a:lnSpc>
                <a:spcPct val="100000"/>
              </a:lnSpc>
              <a:spcBef>
                <a:spcPts val="345"/>
              </a:spcBef>
            </a:pPr>
            <a:r>
              <a:rPr sz="1350" dirty="0">
                <a:solidFill>
                  <a:srgbClr val="CC0000"/>
                </a:solidFill>
                <a:latin typeface="Times New Roman"/>
                <a:cs typeface="Times New Roman"/>
              </a:rPr>
              <a:t>– </a:t>
            </a:r>
            <a:r>
              <a:rPr sz="1350" spc="-5" dirty="0">
                <a:latin typeface="Times New Roman"/>
                <a:cs typeface="Times New Roman"/>
              </a:rPr>
              <a:t>Put actions in run method of inner</a:t>
            </a:r>
            <a:r>
              <a:rPr sz="1350" spc="120" dirty="0">
                <a:latin typeface="Times New Roman"/>
                <a:cs typeface="Times New Roman"/>
              </a:rPr>
              <a:t> </a:t>
            </a:r>
            <a:r>
              <a:rPr sz="1350" spc="-5" dirty="0">
                <a:latin typeface="Times New Roman"/>
                <a:cs typeface="Times New Roman"/>
              </a:rPr>
              <a:t>class</a:t>
            </a:r>
            <a:endParaRPr sz="1350" dirty="0">
              <a:latin typeface="Times New Roman"/>
              <a:cs typeface="Times New Roman"/>
            </a:endParaRPr>
          </a:p>
          <a:p>
            <a:pPr marL="346710">
              <a:lnSpc>
                <a:spcPts val="1490"/>
              </a:lnSpc>
              <a:spcBef>
                <a:spcPts val="245"/>
              </a:spcBef>
            </a:pPr>
            <a:r>
              <a:rPr sz="1250" b="1" spc="-10" dirty="0">
                <a:latin typeface="Courier New"/>
                <a:cs typeface="Courier New"/>
              </a:rPr>
              <a:t>public class MyClass extends Whatever</a:t>
            </a:r>
            <a:r>
              <a:rPr sz="1250" b="1" spc="40" dirty="0">
                <a:latin typeface="Courier New"/>
                <a:cs typeface="Courier New"/>
              </a:rPr>
              <a:t> </a:t>
            </a:r>
            <a:r>
              <a:rPr sz="1250" b="1" spc="-5" dirty="0">
                <a:latin typeface="Courier New"/>
                <a:cs typeface="Courier New"/>
              </a:rPr>
              <a:t>{</a:t>
            </a:r>
            <a:endParaRPr sz="1250" dirty="0">
              <a:latin typeface="Courier New"/>
              <a:cs typeface="Courier New"/>
            </a:endParaRPr>
          </a:p>
          <a:p>
            <a:pPr marL="536575">
              <a:lnSpc>
                <a:spcPts val="1480"/>
              </a:lnSpc>
            </a:pPr>
            <a:r>
              <a:rPr sz="1250" b="1" spc="-5" dirty="0">
                <a:latin typeface="Courier New"/>
                <a:cs typeface="Courier New"/>
              </a:rPr>
              <a:t>…</a:t>
            </a:r>
            <a:endParaRPr sz="1250" dirty="0">
              <a:latin typeface="Courier New"/>
              <a:cs typeface="Courier New"/>
            </a:endParaRPr>
          </a:p>
          <a:p>
            <a:pPr marL="726440" marR="1412875" indent="-189865">
              <a:lnSpc>
                <a:spcPts val="1480"/>
              </a:lnSpc>
              <a:spcBef>
                <a:spcPts val="55"/>
              </a:spcBef>
            </a:pPr>
            <a:r>
              <a:rPr sz="1250" b="1" spc="-10" dirty="0">
                <a:solidFill>
                  <a:srgbClr val="FF0000"/>
                </a:solidFill>
                <a:latin typeface="Courier New"/>
                <a:cs typeface="Courier New"/>
              </a:rPr>
              <a:t>private class InnerClass implements Runnable </a:t>
            </a:r>
            <a:r>
              <a:rPr sz="1250" b="1" spc="-5" dirty="0">
                <a:solidFill>
                  <a:srgbClr val="FF0000"/>
                </a:solidFill>
                <a:latin typeface="Courier New"/>
                <a:cs typeface="Courier New"/>
              </a:rPr>
              <a:t>{  </a:t>
            </a:r>
            <a:r>
              <a:rPr sz="1250" b="1" spc="-10" dirty="0">
                <a:solidFill>
                  <a:srgbClr val="FF0000"/>
                </a:solidFill>
                <a:latin typeface="Courier New"/>
                <a:cs typeface="Courier New"/>
              </a:rPr>
              <a:t>public void run()</a:t>
            </a:r>
            <a:r>
              <a:rPr sz="1250" b="1" spc="-30" dirty="0">
                <a:solidFill>
                  <a:srgbClr val="FF0000"/>
                </a:solidFill>
                <a:latin typeface="Courier New"/>
                <a:cs typeface="Courier New"/>
              </a:rPr>
              <a:t> </a:t>
            </a:r>
            <a:r>
              <a:rPr sz="1250" b="1" spc="-5" dirty="0">
                <a:solidFill>
                  <a:srgbClr val="FF0000"/>
                </a:solidFill>
                <a:latin typeface="Courier New"/>
                <a:cs typeface="Courier New"/>
              </a:rPr>
              <a:t>{</a:t>
            </a:r>
            <a:endParaRPr sz="1250" dirty="0">
              <a:latin typeface="Courier New"/>
              <a:cs typeface="Courier New"/>
            </a:endParaRPr>
          </a:p>
          <a:p>
            <a:pPr marL="915669">
              <a:lnSpc>
                <a:spcPct val="100000"/>
              </a:lnSpc>
              <a:spcBef>
                <a:spcPts val="300"/>
              </a:spcBef>
            </a:pPr>
            <a:r>
              <a:rPr sz="1250" b="1" spc="-10" dirty="0">
                <a:solidFill>
                  <a:srgbClr val="FF0000"/>
                </a:solidFill>
                <a:latin typeface="Courier New"/>
                <a:cs typeface="Courier New"/>
              </a:rPr>
              <a:t>...</a:t>
            </a:r>
            <a:endParaRPr sz="1250" dirty="0">
              <a:latin typeface="Courier New"/>
              <a:cs typeface="Courier New"/>
            </a:endParaRPr>
          </a:p>
          <a:p>
            <a:pPr marL="726440">
              <a:lnSpc>
                <a:spcPts val="1490"/>
              </a:lnSpc>
              <a:spcBef>
                <a:spcPts val="345"/>
              </a:spcBef>
            </a:pPr>
            <a:r>
              <a:rPr sz="1250" b="1" spc="-5" dirty="0">
                <a:solidFill>
                  <a:srgbClr val="FF0000"/>
                </a:solidFill>
                <a:latin typeface="Courier New"/>
                <a:cs typeface="Courier New"/>
              </a:rPr>
              <a:t>}</a:t>
            </a:r>
            <a:endParaRPr sz="1250" dirty="0">
              <a:latin typeface="Courier New"/>
              <a:cs typeface="Courier New"/>
            </a:endParaRPr>
          </a:p>
          <a:p>
            <a:pPr marL="536575">
              <a:lnSpc>
                <a:spcPts val="1480"/>
              </a:lnSpc>
            </a:pPr>
            <a:r>
              <a:rPr sz="1250" b="1" spc="-5" dirty="0">
                <a:solidFill>
                  <a:srgbClr val="FF0000"/>
                </a:solidFill>
                <a:latin typeface="Courier New"/>
                <a:cs typeface="Courier New"/>
              </a:rPr>
              <a:t>}</a:t>
            </a:r>
            <a:endParaRPr sz="1250" dirty="0">
              <a:latin typeface="Courier New"/>
              <a:cs typeface="Courier New"/>
            </a:endParaRPr>
          </a:p>
          <a:p>
            <a:pPr marL="346710">
              <a:lnSpc>
                <a:spcPts val="1490"/>
              </a:lnSpc>
            </a:pPr>
            <a:r>
              <a:rPr sz="1250" b="1" spc="-5" dirty="0">
                <a:latin typeface="Courier New"/>
                <a:cs typeface="Courier New"/>
              </a:rPr>
              <a:t>}</a:t>
            </a:r>
            <a:endParaRPr sz="1250" dirty="0">
              <a:latin typeface="Courier New"/>
              <a:cs typeface="Courier New"/>
            </a:endParaRPr>
          </a:p>
          <a:p>
            <a:pPr marL="257175" indent="-177800">
              <a:lnSpc>
                <a:spcPct val="100000"/>
              </a:lnSpc>
              <a:spcBef>
                <a:spcPts val="450"/>
              </a:spcBef>
              <a:buClr>
                <a:srgbClr val="CC0000"/>
              </a:buClr>
              <a:buFont typeface="Arial"/>
              <a:buChar char="•"/>
              <a:tabLst>
                <a:tab pos="257810" algn="l"/>
              </a:tabLst>
            </a:pPr>
            <a:r>
              <a:rPr sz="1550" b="1" dirty="0">
                <a:latin typeface="Arial"/>
                <a:cs typeface="Arial"/>
              </a:rPr>
              <a:t>Pass instances of inner class to</a:t>
            </a:r>
            <a:r>
              <a:rPr sz="1550" b="1" spc="-95" dirty="0">
                <a:latin typeface="Arial"/>
                <a:cs typeface="Arial"/>
              </a:rPr>
              <a:t> </a:t>
            </a:r>
            <a:r>
              <a:rPr sz="1550" b="1" dirty="0">
                <a:latin typeface="Arial"/>
                <a:cs typeface="Arial"/>
              </a:rPr>
              <a:t>execute</a:t>
            </a:r>
            <a:endParaRPr sz="1550" dirty="0">
              <a:latin typeface="Arial"/>
              <a:cs typeface="Arial"/>
            </a:endParaRPr>
          </a:p>
          <a:p>
            <a:pPr marL="346710">
              <a:lnSpc>
                <a:spcPct val="100000"/>
              </a:lnSpc>
              <a:spcBef>
                <a:spcPts val="245"/>
              </a:spcBef>
            </a:pPr>
            <a:r>
              <a:rPr sz="1250" b="1" spc="-10" dirty="0">
                <a:latin typeface="Courier New"/>
                <a:cs typeface="Courier New"/>
              </a:rPr>
              <a:t>taskList.execute(</a:t>
            </a:r>
            <a:r>
              <a:rPr sz="1250" b="1" spc="-10" dirty="0">
                <a:solidFill>
                  <a:srgbClr val="FF0000"/>
                </a:solidFill>
                <a:latin typeface="Courier New"/>
                <a:cs typeface="Courier New"/>
              </a:rPr>
              <a:t>new</a:t>
            </a:r>
            <a:r>
              <a:rPr sz="1250" b="1" spc="30" dirty="0">
                <a:solidFill>
                  <a:srgbClr val="FF0000"/>
                </a:solidFill>
                <a:latin typeface="Courier New"/>
                <a:cs typeface="Courier New"/>
              </a:rPr>
              <a:t> </a:t>
            </a:r>
            <a:r>
              <a:rPr sz="1250" b="1" spc="-10" dirty="0">
                <a:solidFill>
                  <a:srgbClr val="FF0000"/>
                </a:solidFill>
                <a:latin typeface="Courier New"/>
                <a:cs typeface="Courier New"/>
              </a:rPr>
              <a:t>InnerClass(...)</a:t>
            </a:r>
            <a:r>
              <a:rPr sz="1250" b="1" spc="-10" dirty="0">
                <a:latin typeface="Courier New"/>
                <a:cs typeface="Courier New"/>
              </a:rPr>
              <a:t>);</a:t>
            </a:r>
            <a:endParaRPr sz="1250" dirty="0">
              <a:latin typeface="Courier New"/>
              <a:cs typeface="Courier New"/>
            </a:endParaRPr>
          </a:p>
          <a:p>
            <a:pPr>
              <a:lnSpc>
                <a:spcPct val="100000"/>
              </a:lnSpc>
            </a:pPr>
            <a:endParaRPr sz="1200" dirty="0">
              <a:latin typeface="Times New Roman"/>
              <a:cs typeface="Times New Roman"/>
            </a:endParaRPr>
          </a:p>
          <a:p>
            <a:pPr>
              <a:lnSpc>
                <a:spcPct val="100000"/>
              </a:lnSpc>
              <a:spcBef>
                <a:spcPts val="45"/>
              </a:spcBef>
            </a:pPr>
            <a:endParaRPr sz="1050" dirty="0">
              <a:latin typeface="Times New Roman"/>
              <a:cs typeface="Times New Roman"/>
            </a:endParaRPr>
          </a:p>
          <a:p>
            <a:pPr marL="51435">
              <a:lnSpc>
                <a:spcPct val="100000"/>
              </a:lnSpc>
            </a:pPr>
            <a:endParaRPr sz="700" dirty="0">
              <a:latin typeface="Arial Narrow"/>
              <a:cs typeface="Arial Narrow"/>
            </a:endParaRPr>
          </a:p>
        </p:txBody>
      </p:sp>
      <p:sp>
        <p:nvSpPr>
          <p:cNvPr id="3" name="object 3"/>
          <p:cNvSpPr/>
          <p:nvPr/>
        </p:nvSpPr>
        <p:spPr>
          <a:xfrm>
            <a:off x="654799" y="5968"/>
            <a:ext cx="6463030" cy="5022850"/>
          </a:xfrm>
          <a:custGeom>
            <a:avLst/>
            <a:gdLst/>
            <a:ahLst/>
            <a:cxnLst/>
            <a:rect l="l" t="t" r="r" b="b"/>
            <a:pathLst>
              <a:path w="6463030" h="5022850">
                <a:moveTo>
                  <a:pt x="0" y="0"/>
                </a:moveTo>
                <a:lnTo>
                  <a:pt x="6462801" y="0"/>
                </a:lnTo>
                <a:lnTo>
                  <a:pt x="6462801" y="5022850"/>
                </a:lnTo>
                <a:lnTo>
                  <a:pt x="0" y="5022850"/>
                </a:lnTo>
                <a:lnTo>
                  <a:pt x="0" y="0"/>
                </a:lnTo>
                <a:close/>
              </a:path>
            </a:pathLst>
          </a:custGeom>
          <a:ln w="3175">
            <a:solidFill>
              <a:srgbClr val="000000"/>
            </a:solidFill>
          </a:ln>
        </p:spPr>
        <p:txBody>
          <a:bodyPr wrap="square" lIns="0" tIns="0" rIns="0" bIns="0" rtlCol="0"/>
          <a:lstStyle/>
          <a:p>
            <a:endParaRPr/>
          </a:p>
        </p:txBody>
      </p:sp>
      <p:sp>
        <p:nvSpPr>
          <p:cNvPr id="4" name="object 4"/>
          <p:cNvSpPr/>
          <p:nvPr/>
        </p:nvSpPr>
        <p:spPr>
          <a:xfrm>
            <a:off x="718299" y="5758535"/>
            <a:ext cx="6335801" cy="3563886"/>
          </a:xfrm>
          <a:prstGeom prst="rect">
            <a:avLst/>
          </a:prstGeom>
          <a:blipFill>
            <a:blip r:embed="rId3" cstate="print"/>
            <a:stretch>
              <a:fillRect/>
            </a:stretch>
          </a:blipFill>
        </p:spPr>
        <p:txBody>
          <a:bodyPr wrap="square" lIns="0" tIns="0" rIns="0" bIns="0" rtlCol="0"/>
          <a:lstStyle/>
          <a:p>
            <a:endParaRPr/>
          </a:p>
        </p:txBody>
      </p:sp>
      <p:sp>
        <p:nvSpPr>
          <p:cNvPr id="5" name="object 5"/>
          <p:cNvSpPr/>
          <p:nvPr/>
        </p:nvSpPr>
        <p:spPr>
          <a:xfrm>
            <a:off x="790778" y="8994597"/>
            <a:ext cx="6144895" cy="328295"/>
          </a:xfrm>
          <a:custGeom>
            <a:avLst/>
            <a:gdLst/>
            <a:ahLst/>
            <a:cxnLst/>
            <a:rect l="l" t="t" r="r" b="b"/>
            <a:pathLst>
              <a:path w="6144895" h="328295">
                <a:moveTo>
                  <a:pt x="0" y="327825"/>
                </a:moveTo>
                <a:lnTo>
                  <a:pt x="6144768" y="327825"/>
                </a:lnTo>
                <a:lnTo>
                  <a:pt x="6144768" y="0"/>
                </a:lnTo>
                <a:lnTo>
                  <a:pt x="0" y="0"/>
                </a:lnTo>
                <a:lnTo>
                  <a:pt x="0" y="327825"/>
                </a:lnTo>
                <a:close/>
              </a:path>
            </a:pathLst>
          </a:custGeom>
          <a:solidFill>
            <a:srgbClr val="FFFFFF"/>
          </a:solidFill>
        </p:spPr>
        <p:txBody>
          <a:bodyPr wrap="square" lIns="0" tIns="0" rIns="0" bIns="0" rtlCol="0"/>
          <a:lstStyle/>
          <a:p>
            <a:endParaRPr/>
          </a:p>
        </p:txBody>
      </p:sp>
      <p:sp>
        <p:nvSpPr>
          <p:cNvPr id="6" name="object 6"/>
          <p:cNvSpPr txBox="1"/>
          <p:nvPr/>
        </p:nvSpPr>
        <p:spPr>
          <a:xfrm>
            <a:off x="722134" y="5762371"/>
            <a:ext cx="6327775" cy="3556000"/>
          </a:xfrm>
          <a:prstGeom prst="rect">
            <a:avLst/>
          </a:prstGeom>
          <a:ln w="8153">
            <a:solidFill>
              <a:srgbClr val="000000"/>
            </a:solidFill>
          </a:ln>
        </p:spPr>
        <p:txBody>
          <a:bodyPr vert="horz" wrap="square" lIns="0" tIns="0" rIns="0" bIns="0" rtlCol="0">
            <a:spAutoFit/>
          </a:bodyPr>
          <a:lstStyle/>
          <a:p>
            <a:pPr marL="803275">
              <a:lnSpc>
                <a:spcPts val="2560"/>
              </a:lnSpc>
            </a:pPr>
            <a:r>
              <a:rPr sz="2150" b="1" spc="10" dirty="0">
                <a:solidFill>
                  <a:srgbClr val="FFFFFF"/>
                </a:solidFill>
                <a:latin typeface="Arial Narrow"/>
                <a:cs typeface="Arial Narrow"/>
              </a:rPr>
              <a:t>Inner </a:t>
            </a:r>
            <a:r>
              <a:rPr sz="2150" b="1" spc="15" dirty="0">
                <a:solidFill>
                  <a:srgbClr val="FFFFFF"/>
                </a:solidFill>
                <a:latin typeface="Arial Narrow"/>
                <a:cs typeface="Arial Narrow"/>
              </a:rPr>
              <a:t>Class Implements Runnable: Template</a:t>
            </a:r>
            <a:r>
              <a:rPr sz="2150" b="1" spc="-130" dirty="0">
                <a:solidFill>
                  <a:srgbClr val="FFFFFF"/>
                </a:solidFill>
                <a:latin typeface="Arial Narrow"/>
                <a:cs typeface="Arial Narrow"/>
              </a:rPr>
              <a:t> </a:t>
            </a:r>
            <a:r>
              <a:rPr sz="2150" b="1" spc="15" dirty="0">
                <a:solidFill>
                  <a:srgbClr val="FFFFFF"/>
                </a:solidFill>
                <a:latin typeface="Arial Narrow"/>
                <a:cs typeface="Arial Narrow"/>
              </a:rPr>
              <a:t>Code</a:t>
            </a:r>
            <a:endParaRPr sz="2150">
              <a:latin typeface="Arial Narrow"/>
              <a:cs typeface="Arial Narrow"/>
            </a:endParaRPr>
          </a:p>
          <a:p>
            <a:pPr marL="291465" marR="2769870" indent="-167005">
              <a:lnSpc>
                <a:spcPct val="120000"/>
              </a:lnSpc>
              <a:spcBef>
                <a:spcPts val="575"/>
              </a:spcBef>
            </a:pPr>
            <a:r>
              <a:rPr sz="1100" b="1" spc="-5" dirty="0">
                <a:latin typeface="Courier New"/>
                <a:cs typeface="Courier New"/>
              </a:rPr>
              <a:t>public class </a:t>
            </a:r>
            <a:r>
              <a:rPr sz="1100" b="1" spc="-10" dirty="0">
                <a:latin typeface="Courier New"/>
                <a:cs typeface="Courier New"/>
              </a:rPr>
              <a:t>MainClass </a:t>
            </a:r>
            <a:r>
              <a:rPr sz="1100" b="1" spc="-5" dirty="0">
                <a:latin typeface="Courier New"/>
                <a:cs typeface="Courier New"/>
              </a:rPr>
              <a:t>extends AnyClass {  public void </a:t>
            </a:r>
            <a:r>
              <a:rPr sz="1100" b="1" spc="-10" dirty="0">
                <a:latin typeface="Courier New"/>
                <a:cs typeface="Courier New"/>
              </a:rPr>
              <a:t>startThreads()</a:t>
            </a:r>
            <a:r>
              <a:rPr sz="1100" b="1" spc="-35" dirty="0">
                <a:latin typeface="Courier New"/>
                <a:cs typeface="Courier New"/>
              </a:rPr>
              <a:t> </a:t>
            </a:r>
            <a:r>
              <a:rPr sz="1100" b="1" spc="-5" dirty="0">
                <a:latin typeface="Courier New"/>
                <a:cs typeface="Courier New"/>
              </a:rPr>
              <a:t>{</a:t>
            </a:r>
            <a:endParaRPr sz="1100">
              <a:latin typeface="Courier New"/>
              <a:cs typeface="Courier New"/>
            </a:endParaRPr>
          </a:p>
          <a:p>
            <a:pPr marL="458470">
              <a:lnSpc>
                <a:spcPct val="100000"/>
              </a:lnSpc>
              <a:spcBef>
                <a:spcPts val="259"/>
              </a:spcBef>
            </a:pPr>
            <a:r>
              <a:rPr sz="1100" b="1" spc="-5" dirty="0">
                <a:latin typeface="Courier New"/>
                <a:cs typeface="Courier New"/>
              </a:rPr>
              <a:t>int poolSize =</a:t>
            </a:r>
            <a:r>
              <a:rPr sz="1100" b="1" spc="-105" dirty="0">
                <a:latin typeface="Courier New"/>
                <a:cs typeface="Courier New"/>
              </a:rPr>
              <a:t> </a:t>
            </a:r>
            <a:r>
              <a:rPr sz="1100" b="1" spc="-5" dirty="0">
                <a:latin typeface="Courier New"/>
                <a:cs typeface="Courier New"/>
              </a:rPr>
              <a:t>...;</a:t>
            </a:r>
            <a:endParaRPr sz="1100">
              <a:latin typeface="Courier New"/>
              <a:cs typeface="Courier New"/>
            </a:endParaRPr>
          </a:p>
          <a:p>
            <a:pPr marL="458470" marR="353695">
              <a:lnSpc>
                <a:spcPct val="119700"/>
              </a:lnSpc>
            </a:pPr>
            <a:r>
              <a:rPr sz="1100" b="1" spc="-5" dirty="0">
                <a:solidFill>
                  <a:srgbClr val="FF0000"/>
                </a:solidFill>
                <a:latin typeface="Courier New"/>
                <a:cs typeface="Courier New"/>
              </a:rPr>
              <a:t>ExecutorService </a:t>
            </a:r>
            <a:r>
              <a:rPr sz="1100" b="1" spc="-10" dirty="0">
                <a:solidFill>
                  <a:srgbClr val="FF0000"/>
                </a:solidFill>
                <a:latin typeface="Courier New"/>
                <a:cs typeface="Courier New"/>
              </a:rPr>
              <a:t>taskList </a:t>
            </a:r>
            <a:r>
              <a:rPr sz="1100" b="1" spc="-5" dirty="0">
                <a:solidFill>
                  <a:srgbClr val="FF0000"/>
                </a:solidFill>
                <a:latin typeface="Courier New"/>
                <a:cs typeface="Courier New"/>
              </a:rPr>
              <a:t>= Executors.newFixedThreadPool(poolSize);  </a:t>
            </a:r>
            <a:r>
              <a:rPr sz="1100" b="1" spc="-5" dirty="0">
                <a:latin typeface="Courier New"/>
                <a:cs typeface="Courier New"/>
              </a:rPr>
              <a:t>for(int i=0; </a:t>
            </a:r>
            <a:r>
              <a:rPr sz="1100" b="1" spc="-10" dirty="0">
                <a:latin typeface="Courier New"/>
                <a:cs typeface="Courier New"/>
              </a:rPr>
              <a:t>i&lt;someSize; </a:t>
            </a:r>
            <a:r>
              <a:rPr sz="1100" b="1" spc="-5" dirty="0">
                <a:latin typeface="Courier New"/>
                <a:cs typeface="Courier New"/>
              </a:rPr>
              <a:t>i++)</a:t>
            </a:r>
            <a:r>
              <a:rPr sz="1100" b="1" spc="-45" dirty="0">
                <a:latin typeface="Courier New"/>
                <a:cs typeface="Courier New"/>
              </a:rPr>
              <a:t> </a:t>
            </a:r>
            <a:r>
              <a:rPr sz="1100" b="1" spc="-5" dirty="0">
                <a:latin typeface="Courier New"/>
                <a:cs typeface="Courier New"/>
              </a:rPr>
              <a:t>{</a:t>
            </a:r>
            <a:endParaRPr sz="1100">
              <a:latin typeface="Courier New"/>
              <a:cs typeface="Courier New"/>
            </a:endParaRPr>
          </a:p>
          <a:p>
            <a:pPr marL="624840">
              <a:lnSpc>
                <a:spcPct val="100000"/>
              </a:lnSpc>
              <a:spcBef>
                <a:spcPts val="260"/>
              </a:spcBef>
            </a:pPr>
            <a:r>
              <a:rPr sz="1100" b="1" spc="-5" dirty="0">
                <a:solidFill>
                  <a:srgbClr val="FF0000"/>
                </a:solidFill>
                <a:latin typeface="Courier New"/>
                <a:cs typeface="Courier New"/>
              </a:rPr>
              <a:t>taskList.execute(</a:t>
            </a:r>
            <a:r>
              <a:rPr sz="1100" b="1" spc="-5" dirty="0">
                <a:solidFill>
                  <a:srgbClr val="0000CC"/>
                </a:solidFill>
                <a:latin typeface="Courier New"/>
                <a:cs typeface="Courier New"/>
              </a:rPr>
              <a:t>new</a:t>
            </a:r>
            <a:r>
              <a:rPr sz="1100" b="1" spc="-15" dirty="0">
                <a:solidFill>
                  <a:srgbClr val="0000CC"/>
                </a:solidFill>
                <a:latin typeface="Courier New"/>
                <a:cs typeface="Courier New"/>
              </a:rPr>
              <a:t> </a:t>
            </a:r>
            <a:r>
              <a:rPr sz="1100" b="1" spc="-10" dirty="0">
                <a:solidFill>
                  <a:srgbClr val="0000CC"/>
                </a:solidFill>
                <a:latin typeface="Courier New"/>
                <a:cs typeface="Courier New"/>
              </a:rPr>
              <a:t>RunnableClass(...)</a:t>
            </a:r>
            <a:r>
              <a:rPr sz="1100" b="1" spc="-10" dirty="0">
                <a:solidFill>
                  <a:srgbClr val="FF0000"/>
                </a:solidFill>
                <a:latin typeface="Courier New"/>
                <a:cs typeface="Courier New"/>
              </a:rPr>
              <a:t>);</a:t>
            </a:r>
            <a:endParaRPr sz="1100">
              <a:latin typeface="Courier New"/>
              <a:cs typeface="Courier New"/>
            </a:endParaRPr>
          </a:p>
          <a:p>
            <a:pPr marL="458470">
              <a:lnSpc>
                <a:spcPct val="100000"/>
              </a:lnSpc>
              <a:spcBef>
                <a:spcPts val="259"/>
              </a:spcBef>
            </a:pPr>
            <a:r>
              <a:rPr sz="1100" b="1" spc="-5" dirty="0">
                <a:latin typeface="Courier New"/>
                <a:cs typeface="Courier New"/>
              </a:rPr>
              <a:t>}</a:t>
            </a:r>
            <a:endParaRPr sz="1100">
              <a:latin typeface="Courier New"/>
              <a:cs typeface="Courier New"/>
            </a:endParaRPr>
          </a:p>
          <a:p>
            <a:pPr marL="291465">
              <a:lnSpc>
                <a:spcPct val="100000"/>
              </a:lnSpc>
              <a:spcBef>
                <a:spcPts val="260"/>
              </a:spcBef>
            </a:pPr>
            <a:r>
              <a:rPr sz="1100" b="1" spc="-5" dirty="0">
                <a:latin typeface="Courier New"/>
                <a:cs typeface="Courier New"/>
              </a:rPr>
              <a:t>}</a:t>
            </a:r>
            <a:endParaRPr sz="1100">
              <a:latin typeface="Courier New"/>
              <a:cs typeface="Courier New"/>
            </a:endParaRPr>
          </a:p>
          <a:p>
            <a:pPr marL="291465">
              <a:lnSpc>
                <a:spcPct val="100000"/>
              </a:lnSpc>
              <a:spcBef>
                <a:spcPts val="259"/>
              </a:spcBef>
            </a:pPr>
            <a:r>
              <a:rPr sz="1100" b="1" spc="-5" dirty="0">
                <a:latin typeface="Courier New"/>
                <a:cs typeface="Courier New"/>
              </a:rPr>
              <a:t>...</a:t>
            </a:r>
            <a:endParaRPr sz="1100">
              <a:latin typeface="Courier New"/>
              <a:cs typeface="Courier New"/>
            </a:endParaRPr>
          </a:p>
          <a:p>
            <a:pPr marL="458470" marR="1936750" indent="-167005">
              <a:lnSpc>
                <a:spcPct val="119700"/>
              </a:lnSpc>
            </a:pPr>
            <a:r>
              <a:rPr sz="1100" b="1" spc="-5" dirty="0">
                <a:latin typeface="Courier New"/>
                <a:cs typeface="Courier New"/>
              </a:rPr>
              <a:t>private class RunnableClass </a:t>
            </a:r>
            <a:r>
              <a:rPr sz="1100" b="1" spc="-5" dirty="0">
                <a:solidFill>
                  <a:srgbClr val="FF0000"/>
                </a:solidFill>
                <a:latin typeface="Courier New"/>
                <a:cs typeface="Courier New"/>
              </a:rPr>
              <a:t>implements Runnable </a:t>
            </a:r>
            <a:r>
              <a:rPr sz="1100" b="1" spc="-5" dirty="0">
                <a:latin typeface="Courier New"/>
                <a:cs typeface="Courier New"/>
              </a:rPr>
              <a:t>{  public void run()</a:t>
            </a:r>
            <a:r>
              <a:rPr sz="1100" b="1" spc="-105" dirty="0">
                <a:latin typeface="Courier New"/>
                <a:cs typeface="Courier New"/>
              </a:rPr>
              <a:t> </a:t>
            </a:r>
            <a:r>
              <a:rPr sz="1100" b="1" spc="-5" dirty="0">
                <a:latin typeface="Courier New"/>
                <a:cs typeface="Courier New"/>
              </a:rPr>
              <a:t>{</a:t>
            </a:r>
            <a:endParaRPr sz="1100">
              <a:latin typeface="Courier New"/>
              <a:cs typeface="Courier New"/>
            </a:endParaRPr>
          </a:p>
          <a:p>
            <a:pPr marL="624840">
              <a:lnSpc>
                <a:spcPct val="100000"/>
              </a:lnSpc>
              <a:spcBef>
                <a:spcPts val="260"/>
              </a:spcBef>
            </a:pPr>
            <a:r>
              <a:rPr sz="1100" spc="-5" dirty="0">
                <a:latin typeface="Courier New"/>
                <a:cs typeface="Courier New"/>
              </a:rPr>
              <a:t>// Code to </a:t>
            </a:r>
            <a:r>
              <a:rPr sz="1100" spc="-10" dirty="0">
                <a:latin typeface="Courier New"/>
                <a:cs typeface="Courier New"/>
              </a:rPr>
              <a:t>run </a:t>
            </a:r>
            <a:r>
              <a:rPr sz="1100" spc="-5" dirty="0">
                <a:latin typeface="Courier New"/>
                <a:cs typeface="Courier New"/>
              </a:rPr>
              <a:t>in</a:t>
            </a:r>
            <a:r>
              <a:rPr sz="1100" spc="-85" dirty="0">
                <a:latin typeface="Courier New"/>
                <a:cs typeface="Courier New"/>
              </a:rPr>
              <a:t> </a:t>
            </a:r>
            <a:r>
              <a:rPr sz="1100" spc="-5" dirty="0">
                <a:latin typeface="Courier New"/>
                <a:cs typeface="Courier New"/>
              </a:rPr>
              <a:t>background</a:t>
            </a:r>
            <a:endParaRPr sz="1100">
              <a:latin typeface="Courier New"/>
              <a:cs typeface="Courier New"/>
            </a:endParaRPr>
          </a:p>
          <a:p>
            <a:pPr marL="458470">
              <a:lnSpc>
                <a:spcPct val="100000"/>
              </a:lnSpc>
              <a:spcBef>
                <a:spcPts val="259"/>
              </a:spcBef>
            </a:pPr>
            <a:r>
              <a:rPr sz="1100" b="1" spc="-5" dirty="0">
                <a:latin typeface="Courier New"/>
                <a:cs typeface="Courier New"/>
              </a:rPr>
              <a:t>}</a:t>
            </a:r>
            <a:endParaRPr sz="1100">
              <a:latin typeface="Courier New"/>
              <a:cs typeface="Courier New"/>
            </a:endParaRPr>
          </a:p>
          <a:p>
            <a:pPr marL="291465">
              <a:lnSpc>
                <a:spcPct val="100000"/>
              </a:lnSpc>
              <a:spcBef>
                <a:spcPts val="260"/>
              </a:spcBef>
            </a:pPr>
            <a:r>
              <a:rPr sz="1100" b="1" spc="-5" dirty="0">
                <a:latin typeface="Courier New"/>
                <a:cs typeface="Courier New"/>
              </a:rPr>
              <a:t>}</a:t>
            </a:r>
            <a:endParaRPr sz="1100">
              <a:latin typeface="Courier New"/>
              <a:cs typeface="Courier New"/>
            </a:endParaRPr>
          </a:p>
          <a:p>
            <a:pPr marL="125095">
              <a:lnSpc>
                <a:spcPct val="100000"/>
              </a:lnSpc>
              <a:spcBef>
                <a:spcPts val="259"/>
              </a:spcBef>
            </a:pPr>
            <a:r>
              <a:rPr sz="1100" b="1" spc="-5" dirty="0">
                <a:latin typeface="Courier New"/>
                <a:cs typeface="Courier New"/>
              </a:rPr>
              <a:t>}</a:t>
            </a:r>
            <a:endParaRPr sz="1100">
              <a:latin typeface="Courier New"/>
              <a:cs typeface="Courier New"/>
            </a:endParaRPr>
          </a:p>
        </p:txBody>
      </p:sp>
      <p:sp>
        <p:nvSpPr>
          <p:cNvPr id="7" name="object 7"/>
          <p:cNvSpPr/>
          <p:nvPr/>
        </p:nvSpPr>
        <p:spPr>
          <a:xfrm>
            <a:off x="654799" y="5028819"/>
            <a:ext cx="6463030" cy="5022850"/>
          </a:xfrm>
          <a:custGeom>
            <a:avLst/>
            <a:gdLst/>
            <a:ahLst/>
            <a:cxnLst/>
            <a:rect l="l" t="t" r="r" b="b"/>
            <a:pathLst>
              <a:path w="6463030" h="5022850">
                <a:moveTo>
                  <a:pt x="0" y="0"/>
                </a:moveTo>
                <a:lnTo>
                  <a:pt x="6462801" y="0"/>
                </a:lnTo>
                <a:lnTo>
                  <a:pt x="6462801" y="5022850"/>
                </a:lnTo>
                <a:lnTo>
                  <a:pt x="0" y="5022850"/>
                </a:lnTo>
                <a:lnTo>
                  <a:pt x="0" y="0"/>
                </a:lnTo>
                <a:close/>
              </a:path>
            </a:pathLst>
          </a:custGeom>
          <a:ln w="3175">
            <a:solidFill>
              <a:srgbClr val="000000"/>
            </a:solidFill>
          </a:ln>
        </p:spPr>
        <p:txBody>
          <a:bodyPr wrap="square" lIns="0" tIns="0" rIns="0" bIns="0" rtlCol="0"/>
          <a:lstStyle/>
          <a:p>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722134" y="739533"/>
            <a:ext cx="6327775" cy="3597908"/>
          </a:xfrm>
          <a:prstGeom prst="rect">
            <a:avLst/>
          </a:prstGeom>
          <a:ln w="8153">
            <a:solidFill>
              <a:srgbClr val="000000"/>
            </a:solidFill>
          </a:ln>
        </p:spPr>
        <p:txBody>
          <a:bodyPr vert="horz" wrap="square" lIns="0" tIns="0" rIns="0" bIns="0" rtlCol="0">
            <a:spAutoFit/>
          </a:bodyPr>
          <a:lstStyle/>
          <a:p>
            <a:pPr marL="803275">
              <a:lnSpc>
                <a:spcPts val="2550"/>
              </a:lnSpc>
            </a:pPr>
            <a:r>
              <a:rPr sz="2150" b="1" spc="15" dirty="0">
                <a:solidFill>
                  <a:srgbClr val="FFFFFF"/>
                </a:solidFill>
                <a:latin typeface="Arial"/>
                <a:cs typeface="Arial"/>
              </a:rPr>
              <a:t>Minor </a:t>
            </a:r>
            <a:r>
              <a:rPr sz="2150" b="1" spc="10" dirty="0">
                <a:solidFill>
                  <a:srgbClr val="FFFFFF"/>
                </a:solidFill>
                <a:latin typeface="Arial"/>
                <a:cs typeface="Arial"/>
              </a:rPr>
              <a:t>Variation: </a:t>
            </a:r>
            <a:r>
              <a:rPr sz="2150" b="1" spc="15" dirty="0">
                <a:solidFill>
                  <a:srgbClr val="FFFFFF"/>
                </a:solidFill>
                <a:latin typeface="Arial"/>
                <a:cs typeface="Arial"/>
              </a:rPr>
              <a:t>Anonymous </a:t>
            </a:r>
            <a:r>
              <a:rPr sz="2150" b="1" spc="10" dirty="0">
                <a:solidFill>
                  <a:srgbClr val="FFFFFF"/>
                </a:solidFill>
                <a:latin typeface="Arial"/>
                <a:cs typeface="Arial"/>
              </a:rPr>
              <a:t>Inner</a:t>
            </a:r>
            <a:r>
              <a:rPr sz="2150" b="1" spc="-90" dirty="0">
                <a:solidFill>
                  <a:srgbClr val="FFFFFF"/>
                </a:solidFill>
                <a:latin typeface="Arial"/>
                <a:cs typeface="Arial"/>
              </a:rPr>
              <a:t> </a:t>
            </a:r>
            <a:r>
              <a:rPr sz="2150" b="1" spc="10" dirty="0">
                <a:solidFill>
                  <a:srgbClr val="FFFFFF"/>
                </a:solidFill>
                <a:latin typeface="Arial"/>
                <a:cs typeface="Arial"/>
              </a:rPr>
              <a:t>Class</a:t>
            </a:r>
            <a:endParaRPr sz="2150" dirty="0">
              <a:latin typeface="Arial"/>
              <a:cs typeface="Arial"/>
            </a:endParaRPr>
          </a:p>
          <a:p>
            <a:pPr marL="339725" marR="2433955" indent="-181610">
              <a:lnSpc>
                <a:spcPct val="117800"/>
              </a:lnSpc>
              <a:spcBef>
                <a:spcPts val="440"/>
              </a:spcBef>
            </a:pPr>
            <a:r>
              <a:rPr sz="1200" b="1" spc="-10" dirty="0">
                <a:latin typeface="Courier New"/>
                <a:cs typeface="Courier New"/>
              </a:rPr>
              <a:t>public class MainClass extends AnyClass </a:t>
            </a:r>
            <a:r>
              <a:rPr sz="1200" b="1" spc="-5" dirty="0">
                <a:latin typeface="Courier New"/>
                <a:cs typeface="Courier New"/>
              </a:rPr>
              <a:t>{  </a:t>
            </a:r>
            <a:r>
              <a:rPr sz="1200" b="1" spc="-10" dirty="0">
                <a:latin typeface="Courier New"/>
                <a:cs typeface="Courier New"/>
              </a:rPr>
              <a:t>public void startThreads()</a:t>
            </a:r>
            <a:r>
              <a:rPr sz="1200" b="1" spc="-60" dirty="0">
                <a:latin typeface="Courier New"/>
                <a:cs typeface="Courier New"/>
              </a:rPr>
              <a:t> </a:t>
            </a:r>
            <a:r>
              <a:rPr sz="1200" b="1" spc="-5" dirty="0">
                <a:latin typeface="Courier New"/>
                <a:cs typeface="Courier New"/>
              </a:rPr>
              <a:t>{</a:t>
            </a:r>
            <a:endParaRPr sz="1200" dirty="0">
              <a:latin typeface="Courier New"/>
              <a:cs typeface="Courier New"/>
            </a:endParaRPr>
          </a:p>
          <a:p>
            <a:pPr marL="521334" marR="3431540">
              <a:lnSpc>
                <a:spcPts val="1700"/>
              </a:lnSpc>
              <a:spcBef>
                <a:spcPts val="95"/>
              </a:spcBef>
            </a:pPr>
            <a:r>
              <a:rPr sz="1200" b="1" spc="-10" dirty="0">
                <a:latin typeface="Courier New"/>
                <a:cs typeface="Courier New"/>
              </a:rPr>
              <a:t>int poolSize </a:t>
            </a:r>
            <a:r>
              <a:rPr sz="1200" b="1" spc="-5" dirty="0">
                <a:latin typeface="Courier New"/>
                <a:cs typeface="Courier New"/>
              </a:rPr>
              <a:t>= </a:t>
            </a:r>
            <a:r>
              <a:rPr sz="1200" b="1" spc="-10" dirty="0">
                <a:latin typeface="Courier New"/>
                <a:cs typeface="Courier New"/>
              </a:rPr>
              <a:t>...;  </a:t>
            </a:r>
            <a:r>
              <a:rPr sz="1200" b="1" spc="-10" dirty="0">
                <a:solidFill>
                  <a:srgbClr val="FF0000"/>
                </a:solidFill>
                <a:latin typeface="Courier New"/>
                <a:cs typeface="Courier New"/>
              </a:rPr>
              <a:t>ExecutorService taskList</a:t>
            </a:r>
            <a:r>
              <a:rPr sz="1200" b="1" spc="-65" dirty="0">
                <a:solidFill>
                  <a:srgbClr val="FF0000"/>
                </a:solidFill>
                <a:latin typeface="Courier New"/>
                <a:cs typeface="Courier New"/>
              </a:rPr>
              <a:t> </a:t>
            </a:r>
            <a:r>
              <a:rPr sz="1200" b="1" spc="-5" dirty="0">
                <a:solidFill>
                  <a:srgbClr val="FF0000"/>
                </a:solidFill>
                <a:latin typeface="Courier New"/>
                <a:cs typeface="Courier New"/>
              </a:rPr>
              <a:t>=</a:t>
            </a:r>
            <a:endParaRPr sz="1200" dirty="0">
              <a:latin typeface="Courier New"/>
              <a:cs typeface="Courier New"/>
            </a:endParaRPr>
          </a:p>
          <a:p>
            <a:pPr marL="702945">
              <a:lnSpc>
                <a:spcPct val="100000"/>
              </a:lnSpc>
              <a:spcBef>
                <a:spcPts val="155"/>
              </a:spcBef>
            </a:pPr>
            <a:r>
              <a:rPr sz="1200" b="1" spc="-10" dirty="0">
                <a:solidFill>
                  <a:srgbClr val="FF0000"/>
                </a:solidFill>
                <a:latin typeface="Courier New"/>
                <a:cs typeface="Courier New"/>
              </a:rPr>
              <a:t>Executors.newFixedThreadPool(poolSize);</a:t>
            </a:r>
            <a:endParaRPr sz="1200" dirty="0">
              <a:latin typeface="Courier New"/>
              <a:cs typeface="Courier New"/>
            </a:endParaRPr>
          </a:p>
          <a:p>
            <a:pPr marL="702945" marR="2614930" indent="-181610">
              <a:lnSpc>
                <a:spcPct val="117800"/>
              </a:lnSpc>
            </a:pPr>
            <a:r>
              <a:rPr sz="1200" b="1" spc="-10" dirty="0">
                <a:latin typeface="Courier New"/>
                <a:cs typeface="Courier New"/>
              </a:rPr>
              <a:t>for(int i=0; i&lt;someSize; i++) </a:t>
            </a:r>
            <a:r>
              <a:rPr sz="1200" b="1" spc="-5" dirty="0">
                <a:latin typeface="Courier New"/>
                <a:cs typeface="Courier New"/>
              </a:rPr>
              <a:t>{  </a:t>
            </a:r>
            <a:r>
              <a:rPr sz="1200" b="1" spc="-10" dirty="0">
                <a:solidFill>
                  <a:srgbClr val="FF0000"/>
                </a:solidFill>
                <a:latin typeface="Courier New"/>
                <a:cs typeface="Courier New"/>
              </a:rPr>
              <a:t>taskList.execute(</a:t>
            </a:r>
            <a:r>
              <a:rPr sz="1200" b="1" spc="-10" dirty="0">
                <a:solidFill>
                  <a:srgbClr val="0000CC"/>
                </a:solidFill>
                <a:latin typeface="Courier New"/>
                <a:cs typeface="Courier New"/>
              </a:rPr>
              <a:t>new Runnable()</a:t>
            </a:r>
            <a:r>
              <a:rPr sz="1200" b="1" spc="-55" dirty="0">
                <a:solidFill>
                  <a:srgbClr val="0000CC"/>
                </a:solidFill>
                <a:latin typeface="Courier New"/>
                <a:cs typeface="Courier New"/>
              </a:rPr>
              <a:t> </a:t>
            </a:r>
            <a:r>
              <a:rPr sz="1200" b="1" spc="-5" dirty="0">
                <a:solidFill>
                  <a:srgbClr val="0000CC"/>
                </a:solidFill>
                <a:latin typeface="Courier New"/>
                <a:cs typeface="Courier New"/>
              </a:rPr>
              <a:t>{</a:t>
            </a:r>
            <a:endParaRPr sz="1200" dirty="0">
              <a:latin typeface="Courier New"/>
              <a:cs typeface="Courier New"/>
            </a:endParaRPr>
          </a:p>
          <a:p>
            <a:pPr marL="883919">
              <a:lnSpc>
                <a:spcPct val="100000"/>
              </a:lnSpc>
              <a:spcBef>
                <a:spcPts val="254"/>
              </a:spcBef>
            </a:pPr>
            <a:r>
              <a:rPr sz="1200" b="1" spc="-10" dirty="0">
                <a:solidFill>
                  <a:srgbClr val="0000CC"/>
                </a:solidFill>
                <a:latin typeface="Courier New"/>
                <a:cs typeface="Courier New"/>
              </a:rPr>
              <a:t>public void run()</a:t>
            </a:r>
            <a:r>
              <a:rPr sz="1200" b="1" spc="-75" dirty="0">
                <a:solidFill>
                  <a:srgbClr val="0000CC"/>
                </a:solidFill>
                <a:latin typeface="Courier New"/>
                <a:cs typeface="Courier New"/>
              </a:rPr>
              <a:t> </a:t>
            </a:r>
            <a:r>
              <a:rPr sz="1200" b="1" spc="-5" dirty="0">
                <a:solidFill>
                  <a:srgbClr val="0000CC"/>
                </a:solidFill>
                <a:latin typeface="Courier New"/>
                <a:cs typeface="Courier New"/>
              </a:rPr>
              <a:t>{</a:t>
            </a:r>
            <a:endParaRPr sz="1200" dirty="0">
              <a:latin typeface="Courier New"/>
              <a:cs typeface="Courier New"/>
            </a:endParaRPr>
          </a:p>
          <a:p>
            <a:pPr marL="1065530">
              <a:lnSpc>
                <a:spcPct val="100000"/>
              </a:lnSpc>
              <a:spcBef>
                <a:spcPts val="260"/>
              </a:spcBef>
            </a:pPr>
            <a:r>
              <a:rPr sz="1200" b="1" spc="-10" dirty="0">
                <a:solidFill>
                  <a:srgbClr val="0000CC"/>
                </a:solidFill>
                <a:latin typeface="Courier New"/>
                <a:cs typeface="Courier New"/>
              </a:rPr>
              <a:t>...</a:t>
            </a:r>
            <a:endParaRPr sz="1200" dirty="0">
              <a:latin typeface="Courier New"/>
              <a:cs typeface="Courier New"/>
            </a:endParaRPr>
          </a:p>
          <a:p>
            <a:pPr marL="883919">
              <a:lnSpc>
                <a:spcPct val="100000"/>
              </a:lnSpc>
              <a:spcBef>
                <a:spcPts val="254"/>
              </a:spcBef>
            </a:pPr>
            <a:r>
              <a:rPr sz="1200" b="1" spc="-5" dirty="0">
                <a:solidFill>
                  <a:srgbClr val="0000CC"/>
                </a:solidFill>
                <a:latin typeface="Courier New"/>
                <a:cs typeface="Courier New"/>
              </a:rPr>
              <a:t>}</a:t>
            </a:r>
            <a:endParaRPr sz="1200" dirty="0">
              <a:latin typeface="Courier New"/>
              <a:cs typeface="Courier New"/>
            </a:endParaRPr>
          </a:p>
          <a:p>
            <a:pPr marL="702945">
              <a:lnSpc>
                <a:spcPct val="100000"/>
              </a:lnSpc>
              <a:spcBef>
                <a:spcPts val="254"/>
              </a:spcBef>
            </a:pPr>
            <a:r>
              <a:rPr sz="1200" b="1" spc="-10" dirty="0">
                <a:solidFill>
                  <a:srgbClr val="0000CC"/>
                </a:solidFill>
                <a:latin typeface="Courier New"/>
                <a:cs typeface="Courier New"/>
              </a:rPr>
              <a:t>}</a:t>
            </a:r>
            <a:r>
              <a:rPr sz="1200" b="1" spc="-10" dirty="0">
                <a:solidFill>
                  <a:srgbClr val="FF0000"/>
                </a:solidFill>
                <a:latin typeface="Courier New"/>
                <a:cs typeface="Courier New"/>
              </a:rPr>
              <a:t>);</a:t>
            </a:r>
            <a:endParaRPr sz="1200" dirty="0">
              <a:latin typeface="Courier New"/>
              <a:cs typeface="Courier New"/>
            </a:endParaRPr>
          </a:p>
          <a:p>
            <a:pPr marL="521334">
              <a:lnSpc>
                <a:spcPct val="100000"/>
              </a:lnSpc>
              <a:spcBef>
                <a:spcPts val="254"/>
              </a:spcBef>
            </a:pPr>
            <a:r>
              <a:rPr sz="1200" b="1" spc="-5" dirty="0">
                <a:latin typeface="Courier New"/>
                <a:cs typeface="Courier New"/>
              </a:rPr>
              <a:t>}</a:t>
            </a:r>
            <a:endParaRPr sz="1200" dirty="0">
              <a:latin typeface="Courier New"/>
              <a:cs typeface="Courier New"/>
            </a:endParaRPr>
          </a:p>
          <a:p>
            <a:pPr marL="339725">
              <a:lnSpc>
                <a:spcPct val="100000"/>
              </a:lnSpc>
              <a:spcBef>
                <a:spcPts val="260"/>
              </a:spcBef>
            </a:pPr>
            <a:r>
              <a:rPr sz="1200" b="1" spc="-5" dirty="0">
                <a:latin typeface="Courier New"/>
                <a:cs typeface="Courier New"/>
              </a:rPr>
              <a:t>}</a:t>
            </a:r>
            <a:endParaRPr sz="1200" dirty="0">
              <a:latin typeface="Courier New"/>
              <a:cs typeface="Courier New"/>
            </a:endParaRPr>
          </a:p>
          <a:p>
            <a:pPr marL="158115">
              <a:lnSpc>
                <a:spcPct val="100000"/>
              </a:lnSpc>
              <a:spcBef>
                <a:spcPts val="254"/>
              </a:spcBef>
            </a:pPr>
            <a:r>
              <a:rPr sz="1200" b="1" spc="-5" dirty="0">
                <a:latin typeface="Courier New"/>
                <a:cs typeface="Courier New"/>
              </a:rPr>
              <a:t>}</a:t>
            </a:r>
            <a:endParaRPr sz="1200" dirty="0">
              <a:latin typeface="Courier New"/>
              <a:cs typeface="Courier New"/>
            </a:endParaRPr>
          </a:p>
          <a:p>
            <a:pPr marL="51435">
              <a:lnSpc>
                <a:spcPct val="100000"/>
              </a:lnSpc>
              <a:spcBef>
                <a:spcPts val="110"/>
              </a:spcBef>
            </a:pPr>
            <a:endParaRPr sz="700" dirty="0">
              <a:latin typeface="Arial Narrow"/>
              <a:cs typeface="Arial Narrow"/>
            </a:endParaRPr>
          </a:p>
        </p:txBody>
      </p:sp>
      <p:sp>
        <p:nvSpPr>
          <p:cNvPr id="3" name="object 3"/>
          <p:cNvSpPr/>
          <p:nvPr/>
        </p:nvSpPr>
        <p:spPr>
          <a:xfrm>
            <a:off x="654799" y="5968"/>
            <a:ext cx="6463030" cy="5022850"/>
          </a:xfrm>
          <a:custGeom>
            <a:avLst/>
            <a:gdLst/>
            <a:ahLst/>
            <a:cxnLst/>
            <a:rect l="l" t="t" r="r" b="b"/>
            <a:pathLst>
              <a:path w="6463030" h="5022850">
                <a:moveTo>
                  <a:pt x="0" y="0"/>
                </a:moveTo>
                <a:lnTo>
                  <a:pt x="6462801" y="0"/>
                </a:lnTo>
                <a:lnTo>
                  <a:pt x="6462801" y="5022850"/>
                </a:lnTo>
                <a:lnTo>
                  <a:pt x="0" y="5022850"/>
                </a:lnTo>
                <a:lnTo>
                  <a:pt x="0" y="0"/>
                </a:lnTo>
                <a:close/>
              </a:path>
            </a:pathLst>
          </a:custGeom>
          <a:ln w="3175">
            <a:solidFill>
              <a:srgbClr val="000000"/>
            </a:solidFill>
          </a:ln>
        </p:spPr>
        <p:txBody>
          <a:bodyPr wrap="square" lIns="0" tIns="0" rIns="0" bIns="0" rtlCol="0"/>
          <a:lstStyle/>
          <a:p>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777815" y="4105160"/>
            <a:ext cx="84455" cy="135422"/>
          </a:xfrm>
          <a:prstGeom prst="rect">
            <a:avLst/>
          </a:prstGeom>
        </p:spPr>
        <p:txBody>
          <a:bodyPr vert="horz" wrap="square" lIns="0" tIns="0" rIns="0" bIns="0" rtlCol="0">
            <a:spAutoFit/>
          </a:bodyPr>
          <a:lstStyle/>
          <a:p>
            <a:pPr>
              <a:lnSpc>
                <a:spcPts val="1235"/>
              </a:lnSpc>
            </a:pPr>
            <a:r>
              <a:rPr lang="en-US" sz="700" b="1" spc="-105" dirty="0">
                <a:solidFill>
                  <a:srgbClr val="7E7E7E"/>
                </a:solidFill>
                <a:latin typeface="Arial Narrow"/>
                <a:cs typeface="Arial Narrow"/>
              </a:rPr>
              <a:t>}</a:t>
            </a:r>
            <a:endParaRPr sz="700" dirty="0">
              <a:latin typeface="Arial Narrow"/>
              <a:cs typeface="Arial Narrow"/>
            </a:endParaRPr>
          </a:p>
        </p:txBody>
      </p:sp>
      <p:sp>
        <p:nvSpPr>
          <p:cNvPr id="6" name="object 6"/>
          <p:cNvSpPr/>
          <p:nvPr/>
        </p:nvSpPr>
        <p:spPr>
          <a:xfrm>
            <a:off x="654799" y="5968"/>
            <a:ext cx="6463030" cy="7156832"/>
          </a:xfrm>
          <a:custGeom>
            <a:avLst/>
            <a:gdLst/>
            <a:ahLst/>
            <a:cxnLst/>
            <a:rect l="l" t="t" r="r" b="b"/>
            <a:pathLst>
              <a:path w="6463030" h="5022850">
                <a:moveTo>
                  <a:pt x="0" y="0"/>
                </a:moveTo>
                <a:lnTo>
                  <a:pt x="6462801" y="0"/>
                </a:lnTo>
                <a:lnTo>
                  <a:pt x="6462801" y="5022850"/>
                </a:lnTo>
                <a:lnTo>
                  <a:pt x="0" y="5022850"/>
                </a:lnTo>
                <a:lnTo>
                  <a:pt x="0" y="0"/>
                </a:lnTo>
                <a:close/>
              </a:path>
            </a:pathLst>
          </a:custGeom>
          <a:ln w="3175">
            <a:solidFill>
              <a:srgbClr val="000000"/>
            </a:solidFill>
          </a:ln>
        </p:spPr>
        <p:txBody>
          <a:bodyPr wrap="square" lIns="0" tIns="0" rIns="0" bIns="0" rtlCol="0"/>
          <a:lstStyle/>
          <a:p>
            <a:endParaRPr/>
          </a:p>
        </p:txBody>
      </p:sp>
      <p:sp>
        <p:nvSpPr>
          <p:cNvPr id="8" name="object 8"/>
          <p:cNvSpPr/>
          <p:nvPr/>
        </p:nvSpPr>
        <p:spPr>
          <a:xfrm>
            <a:off x="790778" y="8994597"/>
            <a:ext cx="6144895" cy="328295"/>
          </a:xfrm>
          <a:custGeom>
            <a:avLst/>
            <a:gdLst/>
            <a:ahLst/>
            <a:cxnLst/>
            <a:rect l="l" t="t" r="r" b="b"/>
            <a:pathLst>
              <a:path w="6144895" h="328295">
                <a:moveTo>
                  <a:pt x="0" y="327825"/>
                </a:moveTo>
                <a:lnTo>
                  <a:pt x="6144768" y="327825"/>
                </a:lnTo>
                <a:lnTo>
                  <a:pt x="6144768" y="0"/>
                </a:lnTo>
                <a:lnTo>
                  <a:pt x="0" y="0"/>
                </a:lnTo>
                <a:lnTo>
                  <a:pt x="0" y="327825"/>
                </a:lnTo>
                <a:close/>
              </a:path>
            </a:pathLst>
          </a:custGeom>
          <a:solidFill>
            <a:srgbClr val="FFFFFF"/>
          </a:solidFill>
        </p:spPr>
        <p:txBody>
          <a:bodyPr wrap="square" lIns="0" tIns="0" rIns="0" bIns="0" rtlCol="0"/>
          <a:lstStyle/>
          <a:p>
            <a:endParaRPr/>
          </a:p>
        </p:txBody>
      </p:sp>
      <p:sp>
        <p:nvSpPr>
          <p:cNvPr id="11" name="Rectangle 10"/>
          <p:cNvSpPr/>
          <p:nvPr/>
        </p:nvSpPr>
        <p:spPr>
          <a:xfrm>
            <a:off x="631710" y="1143000"/>
            <a:ext cx="6463029" cy="6124754"/>
          </a:xfrm>
          <a:prstGeom prst="rect">
            <a:avLst/>
          </a:prstGeom>
        </p:spPr>
        <p:txBody>
          <a:bodyPr wrap="square">
            <a:spAutoFit/>
          </a:bodyPr>
          <a:lstStyle/>
          <a:p>
            <a:r>
              <a:rPr lang="en-IE" sz="1400" b="1" dirty="0">
                <a:solidFill>
                  <a:srgbClr val="7F0055"/>
                </a:solidFill>
                <a:latin typeface="Consolas"/>
              </a:rPr>
              <a:t>import</a:t>
            </a:r>
            <a:r>
              <a:rPr lang="en-IE" sz="1400" b="1" dirty="0">
                <a:solidFill>
                  <a:srgbClr val="000000"/>
                </a:solidFill>
                <a:latin typeface="Consolas"/>
              </a:rPr>
              <a:t> </a:t>
            </a:r>
            <a:r>
              <a:rPr lang="en-IE" sz="1400" b="1" dirty="0" err="1">
                <a:solidFill>
                  <a:srgbClr val="000000"/>
                </a:solidFill>
                <a:latin typeface="Consolas"/>
              </a:rPr>
              <a:t>java.util.concurrent.ExecutorService</a:t>
            </a:r>
            <a:r>
              <a:rPr lang="en-IE" sz="1400" b="1" dirty="0">
                <a:solidFill>
                  <a:srgbClr val="000000"/>
                </a:solidFill>
                <a:latin typeface="Consolas"/>
              </a:rPr>
              <a:t>;</a:t>
            </a:r>
          </a:p>
          <a:p>
            <a:r>
              <a:rPr lang="en-IE" sz="1400" b="1" dirty="0">
                <a:solidFill>
                  <a:srgbClr val="7F0055"/>
                </a:solidFill>
                <a:latin typeface="Consolas"/>
              </a:rPr>
              <a:t>import</a:t>
            </a:r>
            <a:r>
              <a:rPr lang="en-IE" sz="1400" b="1" dirty="0">
                <a:solidFill>
                  <a:srgbClr val="000000"/>
                </a:solidFill>
                <a:latin typeface="Consolas"/>
              </a:rPr>
              <a:t> </a:t>
            </a:r>
            <a:r>
              <a:rPr lang="en-IE" sz="1400" b="1" dirty="0" err="1">
                <a:solidFill>
                  <a:srgbClr val="000000"/>
                </a:solidFill>
                <a:latin typeface="Consolas"/>
              </a:rPr>
              <a:t>java.util.concurrent.Executors</a:t>
            </a:r>
            <a:r>
              <a:rPr lang="en-IE" sz="1400" b="1" dirty="0">
                <a:solidFill>
                  <a:srgbClr val="000000"/>
                </a:solidFill>
                <a:latin typeface="Consolas"/>
              </a:rPr>
              <a:t>;</a:t>
            </a:r>
          </a:p>
          <a:p>
            <a:r>
              <a:rPr lang="en-IE" sz="1400" b="1" dirty="0">
                <a:solidFill>
                  <a:srgbClr val="7F0055"/>
                </a:solidFill>
                <a:latin typeface="Consolas"/>
              </a:rPr>
              <a:t>public</a:t>
            </a:r>
            <a:r>
              <a:rPr lang="en-IE" sz="1400" b="1" dirty="0">
                <a:solidFill>
                  <a:srgbClr val="000000"/>
                </a:solidFill>
                <a:latin typeface="Consolas"/>
              </a:rPr>
              <a:t> </a:t>
            </a:r>
            <a:r>
              <a:rPr lang="en-IE" sz="1400" b="1" dirty="0">
                <a:solidFill>
                  <a:srgbClr val="7F0055"/>
                </a:solidFill>
                <a:latin typeface="Consolas"/>
              </a:rPr>
              <a:t>class</a:t>
            </a:r>
            <a:r>
              <a:rPr lang="en-IE" sz="1400" b="1" dirty="0">
                <a:solidFill>
                  <a:srgbClr val="000000"/>
                </a:solidFill>
                <a:latin typeface="Consolas"/>
              </a:rPr>
              <a:t> App3 {  </a:t>
            </a:r>
          </a:p>
          <a:p>
            <a:r>
              <a:rPr lang="en-IE" sz="1400" b="1" dirty="0">
                <a:solidFill>
                  <a:srgbClr val="7F0055"/>
                </a:solidFill>
                <a:latin typeface="Consolas"/>
              </a:rPr>
              <a:t>public</a:t>
            </a:r>
            <a:r>
              <a:rPr lang="en-IE" sz="1400" b="1" dirty="0">
                <a:solidFill>
                  <a:srgbClr val="000000"/>
                </a:solidFill>
                <a:latin typeface="Consolas"/>
              </a:rPr>
              <a:t> App3() {</a:t>
            </a:r>
          </a:p>
          <a:p>
            <a:r>
              <a:rPr lang="en-IE" sz="1400" dirty="0" err="1">
                <a:solidFill>
                  <a:srgbClr val="000000"/>
                </a:solidFill>
                <a:latin typeface="Consolas"/>
              </a:rPr>
              <a:t>ExecutorService</a:t>
            </a:r>
            <a:r>
              <a:rPr lang="en-IE" sz="1400" dirty="0">
                <a:solidFill>
                  <a:srgbClr val="000000"/>
                </a:solidFill>
                <a:latin typeface="Consolas"/>
              </a:rPr>
              <a:t> </a:t>
            </a:r>
            <a:r>
              <a:rPr lang="en-IE" sz="1400" dirty="0" err="1">
                <a:solidFill>
                  <a:srgbClr val="6A3E3E"/>
                </a:solidFill>
                <a:latin typeface="Consolas"/>
              </a:rPr>
              <a:t>taskList</a:t>
            </a:r>
            <a:r>
              <a:rPr lang="en-IE" sz="1400" dirty="0">
                <a:solidFill>
                  <a:srgbClr val="000000"/>
                </a:solidFill>
                <a:latin typeface="Consolas"/>
              </a:rPr>
              <a:t> = </a:t>
            </a:r>
            <a:r>
              <a:rPr lang="en-IE" sz="1400" dirty="0" err="1">
                <a:solidFill>
                  <a:srgbClr val="000000"/>
                </a:solidFill>
                <a:latin typeface="Consolas"/>
              </a:rPr>
              <a:t>Executors.</a:t>
            </a:r>
            <a:r>
              <a:rPr lang="en-IE" sz="1400" i="1" dirty="0" err="1">
                <a:solidFill>
                  <a:srgbClr val="000000"/>
                </a:solidFill>
                <a:latin typeface="Consolas"/>
              </a:rPr>
              <a:t>newFixedThreadPool</a:t>
            </a:r>
            <a:r>
              <a:rPr lang="en-IE" sz="1400" i="1" dirty="0">
                <a:solidFill>
                  <a:srgbClr val="000000"/>
                </a:solidFill>
                <a:latin typeface="Consolas"/>
              </a:rPr>
              <a:t>(100);  </a:t>
            </a:r>
          </a:p>
          <a:p>
            <a:r>
              <a:rPr lang="en-IE" sz="1400" dirty="0" err="1">
                <a:solidFill>
                  <a:srgbClr val="6A3E3E"/>
                </a:solidFill>
                <a:latin typeface="Consolas"/>
              </a:rPr>
              <a:t>taskList</a:t>
            </a:r>
            <a:r>
              <a:rPr lang="en-IE" sz="1400" dirty="0" err="1">
                <a:solidFill>
                  <a:srgbClr val="000000"/>
                </a:solidFill>
                <a:latin typeface="Consolas"/>
              </a:rPr>
              <a:t>.execute</a:t>
            </a:r>
            <a:r>
              <a:rPr lang="en-IE" sz="1400" dirty="0">
                <a:solidFill>
                  <a:srgbClr val="000000"/>
                </a:solidFill>
                <a:latin typeface="Consolas"/>
              </a:rPr>
              <a:t>(</a:t>
            </a:r>
            <a:r>
              <a:rPr lang="en-IE" sz="1400" b="1" dirty="0">
                <a:solidFill>
                  <a:srgbClr val="7F0055"/>
                </a:solidFill>
                <a:latin typeface="Consolas"/>
              </a:rPr>
              <a:t>new</a:t>
            </a:r>
            <a:r>
              <a:rPr lang="en-IE" sz="1400" b="1" dirty="0">
                <a:solidFill>
                  <a:srgbClr val="000000"/>
                </a:solidFill>
                <a:latin typeface="Consolas"/>
              </a:rPr>
              <a:t> Counter(6));</a:t>
            </a:r>
          </a:p>
          <a:p>
            <a:r>
              <a:rPr lang="en-IE" sz="1400" dirty="0" err="1">
                <a:solidFill>
                  <a:srgbClr val="6A3E3E"/>
                </a:solidFill>
                <a:latin typeface="Consolas"/>
              </a:rPr>
              <a:t>taskList</a:t>
            </a:r>
            <a:r>
              <a:rPr lang="en-IE" sz="1400" dirty="0" err="1">
                <a:solidFill>
                  <a:srgbClr val="000000"/>
                </a:solidFill>
                <a:latin typeface="Consolas"/>
              </a:rPr>
              <a:t>.execute</a:t>
            </a:r>
            <a:r>
              <a:rPr lang="en-IE" sz="1400" dirty="0">
                <a:solidFill>
                  <a:srgbClr val="000000"/>
                </a:solidFill>
                <a:latin typeface="Consolas"/>
              </a:rPr>
              <a:t>(</a:t>
            </a:r>
            <a:r>
              <a:rPr lang="en-IE" sz="1400" b="1" dirty="0">
                <a:solidFill>
                  <a:srgbClr val="7F0055"/>
                </a:solidFill>
                <a:latin typeface="Consolas"/>
              </a:rPr>
              <a:t>new</a:t>
            </a:r>
            <a:r>
              <a:rPr lang="en-IE" sz="1400" b="1" dirty="0">
                <a:solidFill>
                  <a:srgbClr val="000000"/>
                </a:solidFill>
                <a:latin typeface="Consolas"/>
              </a:rPr>
              <a:t> Counter(5));</a:t>
            </a:r>
          </a:p>
          <a:p>
            <a:r>
              <a:rPr lang="en-IE" sz="1400" dirty="0" err="1">
                <a:solidFill>
                  <a:srgbClr val="6A3E3E"/>
                </a:solidFill>
                <a:latin typeface="Consolas"/>
              </a:rPr>
              <a:t>taskList</a:t>
            </a:r>
            <a:r>
              <a:rPr lang="en-IE" sz="1400" dirty="0" err="1">
                <a:solidFill>
                  <a:srgbClr val="000000"/>
                </a:solidFill>
                <a:latin typeface="Consolas"/>
              </a:rPr>
              <a:t>.execute</a:t>
            </a:r>
            <a:r>
              <a:rPr lang="en-IE" sz="1400" dirty="0">
                <a:solidFill>
                  <a:srgbClr val="000000"/>
                </a:solidFill>
                <a:latin typeface="Consolas"/>
              </a:rPr>
              <a:t>(</a:t>
            </a:r>
            <a:r>
              <a:rPr lang="en-IE" sz="1400" b="1" dirty="0">
                <a:solidFill>
                  <a:srgbClr val="7F0055"/>
                </a:solidFill>
                <a:latin typeface="Consolas"/>
              </a:rPr>
              <a:t>new</a:t>
            </a:r>
            <a:r>
              <a:rPr lang="en-IE" sz="1400" b="1" dirty="0">
                <a:solidFill>
                  <a:srgbClr val="000000"/>
                </a:solidFill>
                <a:latin typeface="Consolas"/>
              </a:rPr>
              <a:t> Counter(4));  </a:t>
            </a:r>
          </a:p>
          <a:p>
            <a:r>
              <a:rPr lang="en-IE" sz="1400" dirty="0" err="1">
                <a:solidFill>
                  <a:srgbClr val="6A3E3E"/>
                </a:solidFill>
                <a:latin typeface="Consolas"/>
              </a:rPr>
              <a:t>taskList</a:t>
            </a:r>
            <a:r>
              <a:rPr lang="en-IE" sz="1400" dirty="0" err="1">
                <a:solidFill>
                  <a:srgbClr val="000000"/>
                </a:solidFill>
                <a:latin typeface="Consolas"/>
              </a:rPr>
              <a:t>.shutdown</a:t>
            </a:r>
            <a:r>
              <a:rPr lang="en-IE" sz="1400" dirty="0">
                <a:solidFill>
                  <a:srgbClr val="000000"/>
                </a:solidFill>
                <a:latin typeface="Consolas"/>
              </a:rPr>
              <a:t>();</a:t>
            </a:r>
          </a:p>
          <a:p>
            <a:r>
              <a:rPr lang="en-IE" sz="1400" dirty="0">
                <a:solidFill>
                  <a:srgbClr val="000000"/>
                </a:solidFill>
                <a:latin typeface="Consolas"/>
              </a:rPr>
              <a:t>}</a:t>
            </a:r>
          </a:p>
          <a:p>
            <a:r>
              <a:rPr lang="en-IE" sz="1400" b="1" dirty="0">
                <a:solidFill>
                  <a:srgbClr val="7F0055"/>
                </a:solidFill>
                <a:latin typeface="Consolas"/>
              </a:rPr>
              <a:t>private</a:t>
            </a:r>
            <a:r>
              <a:rPr lang="en-IE" sz="1400" b="1" dirty="0">
                <a:solidFill>
                  <a:srgbClr val="000000"/>
                </a:solidFill>
                <a:latin typeface="Consolas"/>
              </a:rPr>
              <a:t> </a:t>
            </a:r>
            <a:r>
              <a:rPr lang="en-IE" sz="1400" b="1" dirty="0">
                <a:solidFill>
                  <a:srgbClr val="7F0055"/>
                </a:solidFill>
                <a:latin typeface="Consolas"/>
              </a:rPr>
              <a:t>void</a:t>
            </a:r>
            <a:r>
              <a:rPr lang="en-IE" sz="1400" b="1" dirty="0">
                <a:solidFill>
                  <a:srgbClr val="000000"/>
                </a:solidFill>
                <a:latin typeface="Consolas"/>
              </a:rPr>
              <a:t> pause(</a:t>
            </a:r>
            <a:r>
              <a:rPr lang="en-IE" sz="1400" b="1" dirty="0">
                <a:solidFill>
                  <a:srgbClr val="7F0055"/>
                </a:solidFill>
                <a:latin typeface="Consolas"/>
              </a:rPr>
              <a:t>double</a:t>
            </a:r>
            <a:r>
              <a:rPr lang="en-IE" sz="1400" b="1" dirty="0">
                <a:solidFill>
                  <a:srgbClr val="000000"/>
                </a:solidFill>
                <a:latin typeface="Consolas"/>
              </a:rPr>
              <a:t> </a:t>
            </a:r>
            <a:r>
              <a:rPr lang="en-IE" sz="1400" b="1" dirty="0">
                <a:solidFill>
                  <a:srgbClr val="6A3E3E"/>
                </a:solidFill>
                <a:latin typeface="Consolas"/>
              </a:rPr>
              <a:t>seconds</a:t>
            </a:r>
            <a:r>
              <a:rPr lang="en-IE" sz="1400" b="1" dirty="0">
                <a:solidFill>
                  <a:srgbClr val="000000"/>
                </a:solidFill>
                <a:latin typeface="Consolas"/>
              </a:rPr>
              <a:t>) {  </a:t>
            </a:r>
          </a:p>
          <a:p>
            <a:r>
              <a:rPr lang="en-IE" sz="1400" b="1" dirty="0">
                <a:solidFill>
                  <a:srgbClr val="7F0055"/>
                </a:solidFill>
                <a:latin typeface="Consolas"/>
              </a:rPr>
              <a:t>try</a:t>
            </a:r>
            <a:r>
              <a:rPr lang="en-IE" sz="1400" b="1" dirty="0">
                <a:solidFill>
                  <a:srgbClr val="000000"/>
                </a:solidFill>
                <a:latin typeface="Consolas"/>
              </a:rPr>
              <a:t> {</a:t>
            </a:r>
          </a:p>
          <a:p>
            <a:r>
              <a:rPr lang="en-IE" sz="1400" dirty="0" err="1">
                <a:solidFill>
                  <a:srgbClr val="000000"/>
                </a:solidFill>
                <a:latin typeface="Consolas"/>
              </a:rPr>
              <a:t>Thread.</a:t>
            </a:r>
            <a:r>
              <a:rPr lang="en-IE" sz="1400" i="1" dirty="0" err="1">
                <a:solidFill>
                  <a:srgbClr val="000000"/>
                </a:solidFill>
                <a:latin typeface="Consolas"/>
              </a:rPr>
              <a:t>sleep</a:t>
            </a:r>
            <a:r>
              <a:rPr lang="en-IE" sz="1400" i="1" dirty="0">
                <a:solidFill>
                  <a:srgbClr val="000000"/>
                </a:solidFill>
                <a:latin typeface="Consolas"/>
              </a:rPr>
              <a:t>(</a:t>
            </a:r>
            <a:r>
              <a:rPr lang="en-IE" sz="1400" i="1" dirty="0" err="1">
                <a:solidFill>
                  <a:srgbClr val="000000"/>
                </a:solidFill>
                <a:latin typeface="Consolas"/>
              </a:rPr>
              <a:t>Math.round</a:t>
            </a:r>
            <a:r>
              <a:rPr lang="en-IE" sz="1400" i="1" dirty="0">
                <a:solidFill>
                  <a:srgbClr val="000000"/>
                </a:solidFill>
                <a:latin typeface="Consolas"/>
              </a:rPr>
              <a:t>(1000.0 * </a:t>
            </a:r>
            <a:r>
              <a:rPr lang="en-IE" sz="1400" i="1" dirty="0">
                <a:solidFill>
                  <a:srgbClr val="6A3E3E"/>
                </a:solidFill>
                <a:latin typeface="Consolas"/>
              </a:rPr>
              <a:t>seconds</a:t>
            </a:r>
            <a:r>
              <a:rPr lang="en-IE" sz="1400" i="1" dirty="0">
                <a:solidFill>
                  <a:srgbClr val="000000"/>
                </a:solidFill>
                <a:latin typeface="Consolas"/>
              </a:rPr>
              <a:t>));</a:t>
            </a:r>
          </a:p>
          <a:p>
            <a:r>
              <a:rPr lang="en-IE" sz="1400" dirty="0">
                <a:solidFill>
                  <a:srgbClr val="000000"/>
                </a:solidFill>
                <a:latin typeface="Consolas"/>
              </a:rPr>
              <a:t>} </a:t>
            </a:r>
            <a:r>
              <a:rPr lang="en-IE" sz="1400" b="1" dirty="0">
                <a:solidFill>
                  <a:srgbClr val="7F0055"/>
                </a:solidFill>
                <a:latin typeface="Consolas"/>
              </a:rPr>
              <a:t>catch</a:t>
            </a:r>
            <a:r>
              <a:rPr lang="en-IE" sz="1400" b="1" dirty="0">
                <a:solidFill>
                  <a:srgbClr val="000000"/>
                </a:solidFill>
                <a:latin typeface="Consolas"/>
              </a:rPr>
              <a:t> (</a:t>
            </a:r>
            <a:r>
              <a:rPr lang="en-IE" sz="1400" b="1" dirty="0" err="1">
                <a:solidFill>
                  <a:srgbClr val="000000"/>
                </a:solidFill>
                <a:latin typeface="Consolas"/>
              </a:rPr>
              <a:t>InterruptedException</a:t>
            </a:r>
            <a:r>
              <a:rPr lang="en-IE" sz="1400" b="1" dirty="0">
                <a:solidFill>
                  <a:srgbClr val="000000"/>
                </a:solidFill>
                <a:latin typeface="Consolas"/>
              </a:rPr>
              <a:t> </a:t>
            </a:r>
            <a:r>
              <a:rPr lang="en-IE" sz="1400" b="1" dirty="0" err="1">
                <a:solidFill>
                  <a:srgbClr val="6A3E3E"/>
                </a:solidFill>
                <a:latin typeface="Consolas"/>
              </a:rPr>
              <a:t>ie</a:t>
            </a:r>
            <a:r>
              <a:rPr lang="en-IE" sz="1400" b="1" dirty="0">
                <a:solidFill>
                  <a:srgbClr val="000000"/>
                </a:solidFill>
                <a:latin typeface="Consolas"/>
              </a:rPr>
              <a:t>) { }</a:t>
            </a:r>
          </a:p>
          <a:p>
            <a:r>
              <a:rPr lang="en-IE" sz="1400" dirty="0">
                <a:solidFill>
                  <a:srgbClr val="000000"/>
                </a:solidFill>
                <a:latin typeface="Consolas"/>
              </a:rPr>
              <a:t>}</a:t>
            </a:r>
          </a:p>
          <a:p>
            <a:r>
              <a:rPr lang="en-IE" sz="1400" b="1" dirty="0">
                <a:solidFill>
                  <a:srgbClr val="7F0055"/>
                </a:solidFill>
                <a:latin typeface="Consolas"/>
              </a:rPr>
              <a:t>private</a:t>
            </a:r>
            <a:r>
              <a:rPr lang="en-IE" sz="1400" b="1" dirty="0">
                <a:solidFill>
                  <a:srgbClr val="000000"/>
                </a:solidFill>
                <a:latin typeface="Consolas"/>
              </a:rPr>
              <a:t> </a:t>
            </a:r>
            <a:r>
              <a:rPr lang="en-IE" sz="1400" b="1" dirty="0">
                <a:solidFill>
                  <a:srgbClr val="7F0055"/>
                </a:solidFill>
                <a:latin typeface="Consolas"/>
              </a:rPr>
              <a:t>class</a:t>
            </a:r>
            <a:r>
              <a:rPr lang="en-IE" sz="1400" b="1" dirty="0">
                <a:solidFill>
                  <a:srgbClr val="000000"/>
                </a:solidFill>
                <a:latin typeface="Consolas"/>
              </a:rPr>
              <a:t> Counter </a:t>
            </a:r>
            <a:r>
              <a:rPr lang="en-IE" sz="1400" b="1" dirty="0">
                <a:solidFill>
                  <a:srgbClr val="7F0055"/>
                </a:solidFill>
                <a:latin typeface="Consolas"/>
              </a:rPr>
              <a:t>implements</a:t>
            </a:r>
            <a:r>
              <a:rPr lang="en-IE" sz="1400" b="1" dirty="0">
                <a:solidFill>
                  <a:srgbClr val="000000"/>
                </a:solidFill>
                <a:latin typeface="Consolas"/>
              </a:rPr>
              <a:t> Runnable {</a:t>
            </a:r>
            <a:r>
              <a:rPr lang="en-IE" sz="1400" b="1" dirty="0">
                <a:solidFill>
                  <a:srgbClr val="3F7F5F"/>
                </a:solidFill>
                <a:latin typeface="Consolas"/>
              </a:rPr>
              <a:t>// Inner class</a:t>
            </a:r>
          </a:p>
          <a:p>
            <a:r>
              <a:rPr lang="en-IE" sz="1400" b="1" dirty="0">
                <a:solidFill>
                  <a:srgbClr val="7F0055"/>
                </a:solidFill>
                <a:latin typeface="Consolas"/>
              </a:rPr>
              <a:t>private</a:t>
            </a:r>
            <a:r>
              <a:rPr lang="en-IE" sz="1400" b="1" dirty="0">
                <a:solidFill>
                  <a:srgbClr val="000000"/>
                </a:solidFill>
                <a:latin typeface="Consolas"/>
              </a:rPr>
              <a:t> </a:t>
            </a:r>
            <a:r>
              <a:rPr lang="en-IE" sz="1400" b="1" dirty="0">
                <a:solidFill>
                  <a:srgbClr val="7F0055"/>
                </a:solidFill>
                <a:latin typeface="Consolas"/>
              </a:rPr>
              <a:t>final</a:t>
            </a:r>
            <a:r>
              <a:rPr lang="en-IE" sz="1400" b="1" dirty="0">
                <a:solidFill>
                  <a:srgbClr val="000000"/>
                </a:solidFill>
                <a:latin typeface="Consolas"/>
              </a:rPr>
              <a:t> </a:t>
            </a:r>
            <a:r>
              <a:rPr lang="en-IE" sz="1400" b="1" dirty="0" err="1">
                <a:solidFill>
                  <a:srgbClr val="7F0055"/>
                </a:solidFill>
                <a:latin typeface="Consolas"/>
              </a:rPr>
              <a:t>int</a:t>
            </a:r>
            <a:r>
              <a:rPr lang="en-IE" sz="1400" b="1" dirty="0">
                <a:solidFill>
                  <a:srgbClr val="000000"/>
                </a:solidFill>
                <a:latin typeface="Consolas"/>
              </a:rPr>
              <a:t> </a:t>
            </a:r>
            <a:r>
              <a:rPr lang="en-IE" sz="1400" b="1" dirty="0" err="1">
                <a:solidFill>
                  <a:srgbClr val="0000C0"/>
                </a:solidFill>
                <a:latin typeface="Consolas"/>
              </a:rPr>
              <a:t>loopLimit</a:t>
            </a:r>
            <a:r>
              <a:rPr lang="en-IE" sz="1400" b="1" dirty="0">
                <a:solidFill>
                  <a:srgbClr val="000000"/>
                </a:solidFill>
                <a:latin typeface="Consolas"/>
              </a:rPr>
              <a:t>;</a:t>
            </a:r>
          </a:p>
          <a:p>
            <a:endParaRPr lang="en-IE" sz="1400" dirty="0">
              <a:latin typeface="Consolas"/>
            </a:endParaRPr>
          </a:p>
          <a:p>
            <a:r>
              <a:rPr lang="en-IE" sz="1400" b="1" dirty="0">
                <a:solidFill>
                  <a:srgbClr val="7F0055"/>
                </a:solidFill>
                <a:latin typeface="Consolas"/>
              </a:rPr>
              <a:t>public</a:t>
            </a:r>
            <a:r>
              <a:rPr lang="en-IE" sz="1400" b="1" dirty="0">
                <a:solidFill>
                  <a:srgbClr val="000000"/>
                </a:solidFill>
                <a:latin typeface="Consolas"/>
              </a:rPr>
              <a:t> Counter(</a:t>
            </a:r>
            <a:r>
              <a:rPr lang="en-IE" sz="1400" b="1" dirty="0" err="1">
                <a:solidFill>
                  <a:srgbClr val="7F0055"/>
                </a:solidFill>
                <a:latin typeface="Consolas"/>
              </a:rPr>
              <a:t>int</a:t>
            </a:r>
            <a:r>
              <a:rPr lang="en-IE" sz="1400" b="1" dirty="0">
                <a:solidFill>
                  <a:srgbClr val="000000"/>
                </a:solidFill>
                <a:latin typeface="Consolas"/>
              </a:rPr>
              <a:t> </a:t>
            </a:r>
            <a:r>
              <a:rPr lang="en-IE" sz="1400" b="1" dirty="0" err="1">
                <a:solidFill>
                  <a:srgbClr val="6A3E3E"/>
                </a:solidFill>
                <a:latin typeface="Consolas"/>
              </a:rPr>
              <a:t>loopLimit</a:t>
            </a:r>
            <a:r>
              <a:rPr lang="en-IE" sz="1400" b="1" dirty="0">
                <a:solidFill>
                  <a:srgbClr val="000000"/>
                </a:solidFill>
                <a:latin typeface="Consolas"/>
              </a:rPr>
              <a:t>) {  </a:t>
            </a:r>
          </a:p>
          <a:p>
            <a:r>
              <a:rPr lang="en-IE" sz="1400" b="1" dirty="0" err="1">
                <a:solidFill>
                  <a:srgbClr val="7F0055"/>
                </a:solidFill>
                <a:latin typeface="Consolas"/>
              </a:rPr>
              <a:t>this</a:t>
            </a:r>
            <a:r>
              <a:rPr lang="en-IE" sz="1400" b="1" dirty="0" err="1">
                <a:solidFill>
                  <a:srgbClr val="000000"/>
                </a:solidFill>
                <a:latin typeface="Consolas"/>
              </a:rPr>
              <a:t>.</a:t>
            </a:r>
            <a:r>
              <a:rPr lang="en-IE" sz="1400" b="1" dirty="0" err="1">
                <a:solidFill>
                  <a:srgbClr val="0000C0"/>
                </a:solidFill>
                <a:latin typeface="Consolas"/>
              </a:rPr>
              <a:t>loopLimit</a:t>
            </a:r>
            <a:r>
              <a:rPr lang="en-IE" sz="1400" b="1" dirty="0">
                <a:solidFill>
                  <a:srgbClr val="000000"/>
                </a:solidFill>
                <a:latin typeface="Consolas"/>
              </a:rPr>
              <a:t> = </a:t>
            </a:r>
            <a:r>
              <a:rPr lang="en-IE" sz="1400" b="1" dirty="0" err="1">
                <a:solidFill>
                  <a:srgbClr val="6A3E3E"/>
                </a:solidFill>
                <a:latin typeface="Consolas"/>
              </a:rPr>
              <a:t>loopLimit</a:t>
            </a:r>
            <a:r>
              <a:rPr lang="en-IE" sz="1400" b="1" dirty="0">
                <a:solidFill>
                  <a:srgbClr val="000000"/>
                </a:solidFill>
                <a:latin typeface="Consolas"/>
              </a:rPr>
              <a:t>;</a:t>
            </a:r>
          </a:p>
          <a:p>
            <a:r>
              <a:rPr lang="en-IE" sz="1400" dirty="0">
                <a:solidFill>
                  <a:srgbClr val="000000"/>
                </a:solidFill>
                <a:latin typeface="Consolas"/>
              </a:rPr>
              <a:t>}</a:t>
            </a:r>
          </a:p>
          <a:p>
            <a:r>
              <a:rPr lang="en-IE" sz="1400" b="1" dirty="0">
                <a:solidFill>
                  <a:srgbClr val="7F0055"/>
                </a:solidFill>
                <a:latin typeface="Consolas"/>
              </a:rPr>
              <a:t>public</a:t>
            </a:r>
            <a:r>
              <a:rPr lang="en-IE" sz="1400" b="1" dirty="0">
                <a:solidFill>
                  <a:srgbClr val="000000"/>
                </a:solidFill>
                <a:latin typeface="Consolas"/>
              </a:rPr>
              <a:t> </a:t>
            </a:r>
            <a:r>
              <a:rPr lang="en-IE" sz="1400" b="1" dirty="0">
                <a:solidFill>
                  <a:srgbClr val="7F0055"/>
                </a:solidFill>
                <a:latin typeface="Consolas"/>
              </a:rPr>
              <a:t>void</a:t>
            </a:r>
            <a:r>
              <a:rPr lang="en-IE" sz="1400" b="1" dirty="0">
                <a:solidFill>
                  <a:srgbClr val="000000"/>
                </a:solidFill>
                <a:latin typeface="Consolas"/>
              </a:rPr>
              <a:t> run() {</a:t>
            </a:r>
          </a:p>
          <a:p>
            <a:r>
              <a:rPr lang="en-IE" sz="1400" b="1" dirty="0">
                <a:solidFill>
                  <a:srgbClr val="7F0055"/>
                </a:solidFill>
                <a:latin typeface="Consolas"/>
              </a:rPr>
              <a:t>for</a:t>
            </a:r>
            <a:r>
              <a:rPr lang="en-IE" sz="1400" b="1" dirty="0">
                <a:solidFill>
                  <a:srgbClr val="000000"/>
                </a:solidFill>
                <a:latin typeface="Consolas"/>
              </a:rPr>
              <a:t>(</a:t>
            </a:r>
            <a:r>
              <a:rPr lang="en-IE" sz="1400" b="1" dirty="0" err="1">
                <a:solidFill>
                  <a:srgbClr val="7F0055"/>
                </a:solidFill>
                <a:latin typeface="Consolas"/>
              </a:rPr>
              <a:t>int</a:t>
            </a:r>
            <a:r>
              <a:rPr lang="en-IE" sz="1400" b="1" dirty="0">
                <a:solidFill>
                  <a:srgbClr val="000000"/>
                </a:solidFill>
                <a:latin typeface="Consolas"/>
              </a:rPr>
              <a:t> </a:t>
            </a:r>
            <a:r>
              <a:rPr lang="en-IE" sz="1400" b="1" dirty="0" err="1">
                <a:solidFill>
                  <a:srgbClr val="6A3E3E"/>
                </a:solidFill>
                <a:latin typeface="Consolas"/>
              </a:rPr>
              <a:t>i</a:t>
            </a:r>
            <a:r>
              <a:rPr lang="en-IE" sz="1400" b="1" dirty="0">
                <a:solidFill>
                  <a:srgbClr val="000000"/>
                </a:solidFill>
                <a:latin typeface="Consolas"/>
              </a:rPr>
              <a:t>=0; </a:t>
            </a:r>
            <a:r>
              <a:rPr lang="en-IE" sz="1400" b="1" dirty="0" err="1">
                <a:solidFill>
                  <a:srgbClr val="6A3E3E"/>
                </a:solidFill>
                <a:latin typeface="Consolas"/>
              </a:rPr>
              <a:t>i</a:t>
            </a:r>
            <a:r>
              <a:rPr lang="en-IE" sz="1400" b="1" dirty="0">
                <a:solidFill>
                  <a:srgbClr val="000000"/>
                </a:solidFill>
                <a:latin typeface="Consolas"/>
              </a:rPr>
              <a:t>&lt;</a:t>
            </a:r>
            <a:r>
              <a:rPr lang="en-IE" sz="1400" b="1" dirty="0" err="1">
                <a:solidFill>
                  <a:srgbClr val="0000C0"/>
                </a:solidFill>
                <a:latin typeface="Consolas"/>
              </a:rPr>
              <a:t>loopLimit</a:t>
            </a:r>
            <a:r>
              <a:rPr lang="en-IE" sz="1400" b="1" dirty="0">
                <a:solidFill>
                  <a:srgbClr val="000000"/>
                </a:solidFill>
                <a:latin typeface="Consolas"/>
              </a:rPr>
              <a:t>; </a:t>
            </a:r>
            <a:r>
              <a:rPr lang="en-IE" sz="1400" b="1" dirty="0" err="1">
                <a:solidFill>
                  <a:srgbClr val="6A3E3E"/>
                </a:solidFill>
                <a:latin typeface="Consolas"/>
              </a:rPr>
              <a:t>i</a:t>
            </a:r>
            <a:r>
              <a:rPr lang="en-IE" sz="1400" b="1" dirty="0">
                <a:solidFill>
                  <a:srgbClr val="000000"/>
                </a:solidFill>
                <a:latin typeface="Consolas"/>
              </a:rPr>
              <a:t>++) {</a:t>
            </a:r>
          </a:p>
          <a:p>
            <a:r>
              <a:rPr lang="en-IE" sz="1400" dirty="0">
                <a:solidFill>
                  <a:srgbClr val="000000"/>
                </a:solidFill>
                <a:latin typeface="Consolas"/>
              </a:rPr>
              <a:t>String </a:t>
            </a:r>
            <a:r>
              <a:rPr lang="en-IE" sz="1400" dirty="0" err="1">
                <a:solidFill>
                  <a:srgbClr val="6A3E3E"/>
                </a:solidFill>
                <a:latin typeface="Consolas"/>
              </a:rPr>
              <a:t>threadName</a:t>
            </a:r>
            <a:r>
              <a:rPr lang="en-IE" sz="1400" dirty="0">
                <a:solidFill>
                  <a:srgbClr val="000000"/>
                </a:solidFill>
                <a:latin typeface="Consolas"/>
              </a:rPr>
              <a:t> = </a:t>
            </a:r>
            <a:r>
              <a:rPr lang="en-IE" sz="1400" dirty="0" err="1">
                <a:solidFill>
                  <a:srgbClr val="000000"/>
                </a:solidFill>
                <a:latin typeface="Consolas"/>
              </a:rPr>
              <a:t>Thread.</a:t>
            </a:r>
            <a:r>
              <a:rPr lang="en-IE" sz="1400" i="1" dirty="0" err="1">
                <a:solidFill>
                  <a:srgbClr val="000000"/>
                </a:solidFill>
                <a:latin typeface="Consolas"/>
              </a:rPr>
              <a:t>currentThread</a:t>
            </a:r>
            <a:r>
              <a:rPr lang="en-IE" sz="1400" i="1" dirty="0">
                <a:solidFill>
                  <a:srgbClr val="000000"/>
                </a:solidFill>
                <a:latin typeface="Consolas"/>
              </a:rPr>
              <a:t>().</a:t>
            </a:r>
            <a:r>
              <a:rPr lang="en-IE" sz="1400" i="1" dirty="0" err="1">
                <a:solidFill>
                  <a:srgbClr val="000000"/>
                </a:solidFill>
                <a:latin typeface="Consolas"/>
              </a:rPr>
              <a:t>getName</a:t>
            </a:r>
            <a:r>
              <a:rPr lang="en-IE" sz="1400" i="1" dirty="0">
                <a:solidFill>
                  <a:srgbClr val="000000"/>
                </a:solidFill>
                <a:latin typeface="Consolas"/>
              </a:rPr>
              <a:t>();  </a:t>
            </a:r>
          </a:p>
          <a:p>
            <a:r>
              <a:rPr lang="en-IE" sz="1400" dirty="0" err="1">
                <a:solidFill>
                  <a:srgbClr val="000000"/>
                </a:solidFill>
                <a:latin typeface="Consolas"/>
              </a:rPr>
              <a:t>System.</a:t>
            </a:r>
            <a:r>
              <a:rPr lang="en-IE" sz="1400" b="1" i="1" dirty="0" err="1">
                <a:solidFill>
                  <a:srgbClr val="0000C0"/>
                </a:solidFill>
                <a:latin typeface="Consolas"/>
              </a:rPr>
              <a:t>out</a:t>
            </a:r>
            <a:r>
              <a:rPr lang="en-IE" sz="1400" b="1" i="1" dirty="0" err="1">
                <a:solidFill>
                  <a:srgbClr val="000000"/>
                </a:solidFill>
                <a:latin typeface="Consolas"/>
              </a:rPr>
              <a:t>.printf</a:t>
            </a:r>
            <a:r>
              <a:rPr lang="en-IE" sz="1400" b="1" i="1" dirty="0">
                <a:solidFill>
                  <a:srgbClr val="000000"/>
                </a:solidFill>
                <a:latin typeface="Consolas"/>
              </a:rPr>
              <a:t>(</a:t>
            </a:r>
            <a:r>
              <a:rPr lang="en-IE" sz="1400" b="1" i="1" dirty="0">
                <a:solidFill>
                  <a:srgbClr val="2A00FF"/>
                </a:solidFill>
                <a:latin typeface="Consolas"/>
              </a:rPr>
              <a:t>"%s: %</a:t>
            </a:r>
            <a:r>
              <a:rPr lang="en-IE" sz="1400" b="1" i="1" dirty="0" err="1">
                <a:solidFill>
                  <a:srgbClr val="2A00FF"/>
                </a:solidFill>
                <a:latin typeface="Consolas"/>
              </a:rPr>
              <a:t>s%n</a:t>
            </a:r>
            <a:r>
              <a:rPr lang="en-IE" sz="1400" b="1" i="1" dirty="0">
                <a:solidFill>
                  <a:srgbClr val="2A00FF"/>
                </a:solidFill>
                <a:latin typeface="Consolas"/>
              </a:rPr>
              <a:t>"</a:t>
            </a:r>
            <a:r>
              <a:rPr lang="en-IE" sz="1400" b="1" i="1" dirty="0">
                <a:solidFill>
                  <a:srgbClr val="000000"/>
                </a:solidFill>
                <a:latin typeface="Consolas"/>
              </a:rPr>
              <a:t>, </a:t>
            </a:r>
            <a:r>
              <a:rPr lang="en-IE" sz="1400" b="1" i="1" dirty="0" err="1">
                <a:solidFill>
                  <a:srgbClr val="6A3E3E"/>
                </a:solidFill>
                <a:latin typeface="Consolas"/>
              </a:rPr>
              <a:t>threadName</a:t>
            </a:r>
            <a:r>
              <a:rPr lang="en-IE" sz="1400" b="1" i="1" dirty="0">
                <a:solidFill>
                  <a:srgbClr val="000000"/>
                </a:solidFill>
                <a:latin typeface="Consolas"/>
              </a:rPr>
              <a:t>, </a:t>
            </a:r>
            <a:r>
              <a:rPr lang="en-IE" sz="1400" b="1" i="1" dirty="0" err="1">
                <a:solidFill>
                  <a:srgbClr val="6A3E3E"/>
                </a:solidFill>
                <a:latin typeface="Consolas"/>
              </a:rPr>
              <a:t>i</a:t>
            </a:r>
            <a:r>
              <a:rPr lang="en-IE" sz="1400" b="1" i="1" dirty="0">
                <a:solidFill>
                  <a:srgbClr val="000000"/>
                </a:solidFill>
                <a:latin typeface="Consolas"/>
              </a:rPr>
              <a:t>);  </a:t>
            </a:r>
          </a:p>
          <a:p>
            <a:r>
              <a:rPr lang="en-IE" sz="1400" dirty="0">
                <a:solidFill>
                  <a:srgbClr val="000000"/>
                </a:solidFill>
                <a:latin typeface="Consolas"/>
              </a:rPr>
              <a:t>pause(</a:t>
            </a:r>
            <a:r>
              <a:rPr lang="en-IE" sz="1400" dirty="0" err="1">
                <a:solidFill>
                  <a:srgbClr val="000000"/>
                </a:solidFill>
                <a:latin typeface="Consolas"/>
              </a:rPr>
              <a:t>Math.</a:t>
            </a:r>
            <a:r>
              <a:rPr lang="en-IE" sz="1400" i="1" dirty="0" err="1">
                <a:solidFill>
                  <a:srgbClr val="000000"/>
                </a:solidFill>
                <a:latin typeface="Consolas"/>
              </a:rPr>
              <a:t>random</a:t>
            </a:r>
            <a:r>
              <a:rPr lang="en-IE" sz="1400" i="1" dirty="0">
                <a:solidFill>
                  <a:srgbClr val="000000"/>
                </a:solidFill>
                <a:latin typeface="Consolas"/>
              </a:rPr>
              <a:t>());</a:t>
            </a:r>
          </a:p>
          <a:p>
            <a:r>
              <a:rPr lang="en-IE" sz="1400" dirty="0" smtClean="0">
                <a:solidFill>
                  <a:srgbClr val="000000"/>
                </a:solidFill>
                <a:latin typeface="Consolas"/>
              </a:rPr>
              <a:t>}}}}</a:t>
            </a:r>
            <a:endParaRPr lang="en-IE" sz="1400" dirty="0"/>
          </a:p>
        </p:txBody>
      </p:sp>
      <p:sp>
        <p:nvSpPr>
          <p:cNvPr id="12" name="Rectangle 11"/>
          <p:cNvSpPr/>
          <p:nvPr/>
        </p:nvSpPr>
        <p:spPr>
          <a:xfrm>
            <a:off x="654800" y="7681416"/>
            <a:ext cx="6463029" cy="1477328"/>
          </a:xfrm>
          <a:prstGeom prst="rect">
            <a:avLst/>
          </a:prstGeom>
        </p:spPr>
        <p:txBody>
          <a:bodyPr wrap="square">
            <a:spAutoFit/>
          </a:bodyPr>
          <a:lstStyle/>
          <a:p>
            <a:r>
              <a:rPr lang="en-IE" b="1" dirty="0">
                <a:solidFill>
                  <a:srgbClr val="7F0055"/>
                </a:solidFill>
                <a:latin typeface="Consolas"/>
              </a:rPr>
              <a:t>public</a:t>
            </a:r>
            <a:r>
              <a:rPr lang="en-IE" b="1" dirty="0">
                <a:solidFill>
                  <a:srgbClr val="000000"/>
                </a:solidFill>
                <a:latin typeface="Consolas"/>
              </a:rPr>
              <a:t> </a:t>
            </a:r>
            <a:r>
              <a:rPr lang="en-IE" b="1" dirty="0">
                <a:solidFill>
                  <a:srgbClr val="7F0055"/>
                </a:solidFill>
                <a:latin typeface="Consolas"/>
              </a:rPr>
              <a:t>class</a:t>
            </a:r>
            <a:r>
              <a:rPr lang="en-IE" b="1" dirty="0">
                <a:solidFill>
                  <a:srgbClr val="000000"/>
                </a:solidFill>
                <a:latin typeface="Consolas"/>
              </a:rPr>
              <a:t> App3Test {</a:t>
            </a:r>
          </a:p>
          <a:p>
            <a:r>
              <a:rPr lang="en-IE" b="1" dirty="0">
                <a:solidFill>
                  <a:srgbClr val="7F0055"/>
                </a:solidFill>
                <a:latin typeface="Consolas"/>
              </a:rPr>
              <a:t>public</a:t>
            </a:r>
            <a:r>
              <a:rPr lang="en-IE" b="1" dirty="0">
                <a:solidFill>
                  <a:srgbClr val="000000"/>
                </a:solidFill>
                <a:latin typeface="Consolas"/>
              </a:rPr>
              <a:t> </a:t>
            </a:r>
            <a:r>
              <a:rPr lang="en-IE" b="1" dirty="0">
                <a:solidFill>
                  <a:srgbClr val="7F0055"/>
                </a:solidFill>
                <a:latin typeface="Consolas"/>
              </a:rPr>
              <a:t>static</a:t>
            </a:r>
            <a:r>
              <a:rPr lang="en-IE" b="1" dirty="0">
                <a:solidFill>
                  <a:srgbClr val="000000"/>
                </a:solidFill>
                <a:latin typeface="Consolas"/>
              </a:rPr>
              <a:t> </a:t>
            </a:r>
            <a:r>
              <a:rPr lang="en-IE" b="1" dirty="0">
                <a:solidFill>
                  <a:srgbClr val="7F0055"/>
                </a:solidFill>
                <a:latin typeface="Consolas"/>
              </a:rPr>
              <a:t>void</a:t>
            </a:r>
            <a:r>
              <a:rPr lang="en-IE" b="1" dirty="0">
                <a:solidFill>
                  <a:srgbClr val="000000"/>
                </a:solidFill>
                <a:latin typeface="Consolas"/>
              </a:rPr>
              <a:t> main(String[] </a:t>
            </a:r>
            <a:r>
              <a:rPr lang="en-IE" b="1" dirty="0" err="1">
                <a:solidFill>
                  <a:srgbClr val="6A3E3E"/>
                </a:solidFill>
                <a:latin typeface="Consolas"/>
              </a:rPr>
              <a:t>args</a:t>
            </a:r>
            <a:r>
              <a:rPr lang="en-IE" b="1" dirty="0">
                <a:solidFill>
                  <a:srgbClr val="000000"/>
                </a:solidFill>
                <a:latin typeface="Consolas"/>
              </a:rPr>
              <a:t>) {  </a:t>
            </a:r>
          </a:p>
          <a:p>
            <a:r>
              <a:rPr lang="en-IE" b="1" dirty="0">
                <a:solidFill>
                  <a:srgbClr val="7F0055"/>
                </a:solidFill>
                <a:latin typeface="Consolas"/>
              </a:rPr>
              <a:t>new</a:t>
            </a:r>
            <a:r>
              <a:rPr lang="en-IE" b="1" dirty="0">
                <a:solidFill>
                  <a:srgbClr val="000000"/>
                </a:solidFill>
                <a:latin typeface="Consolas"/>
              </a:rPr>
              <a:t> App3();</a:t>
            </a:r>
          </a:p>
          <a:p>
            <a:r>
              <a:rPr lang="en-IE" dirty="0">
                <a:solidFill>
                  <a:srgbClr val="000000"/>
                </a:solidFill>
                <a:latin typeface="Consolas"/>
              </a:rPr>
              <a:t>}</a:t>
            </a:r>
          </a:p>
          <a:p>
            <a:r>
              <a:rPr lang="en-IE" dirty="0">
                <a:solidFill>
                  <a:srgbClr val="000000"/>
                </a:solidFill>
                <a:latin typeface="Consolas"/>
              </a:rPr>
              <a:t>}</a:t>
            </a:r>
          </a:p>
        </p:txBody>
      </p:sp>
      <p:sp>
        <p:nvSpPr>
          <p:cNvPr id="13" name="Rectangle 12"/>
          <p:cNvSpPr/>
          <p:nvPr/>
        </p:nvSpPr>
        <p:spPr>
          <a:xfrm>
            <a:off x="1447801" y="763409"/>
            <a:ext cx="5487872" cy="425758"/>
          </a:xfrm>
          <a:prstGeom prst="rect">
            <a:avLst/>
          </a:prstGeom>
        </p:spPr>
        <p:txBody>
          <a:bodyPr wrap="square">
            <a:spAutoFit/>
          </a:bodyPr>
          <a:lstStyle/>
          <a:p>
            <a:pPr marL="803275">
              <a:lnSpc>
                <a:spcPts val="2550"/>
              </a:lnSpc>
            </a:pPr>
            <a:r>
              <a:rPr lang="en-IE" b="1" spc="15" dirty="0">
                <a:solidFill>
                  <a:srgbClr val="FFFFFF"/>
                </a:solidFill>
                <a:latin typeface="Arial"/>
                <a:cs typeface="Arial"/>
              </a:rPr>
              <a:t>Thread Mechanism </a:t>
            </a:r>
            <a:r>
              <a:rPr lang="en-IE" b="1" spc="10" dirty="0">
                <a:solidFill>
                  <a:srgbClr val="FFFFFF"/>
                </a:solidFill>
                <a:latin typeface="Arial"/>
                <a:cs typeface="Arial"/>
              </a:rPr>
              <a:t>Three:</a:t>
            </a:r>
            <a:r>
              <a:rPr lang="en-IE" b="1" spc="-100" dirty="0">
                <a:solidFill>
                  <a:srgbClr val="FFFFFF"/>
                </a:solidFill>
                <a:latin typeface="Arial"/>
                <a:cs typeface="Arial"/>
              </a:rPr>
              <a:t> </a:t>
            </a:r>
            <a:r>
              <a:rPr lang="en-IE" b="1" spc="15" dirty="0">
                <a:solidFill>
                  <a:srgbClr val="FFFFFF"/>
                </a:solidFill>
                <a:latin typeface="Arial"/>
                <a:cs typeface="Arial"/>
              </a:rPr>
              <a:t>Example</a:t>
            </a:r>
            <a:endParaRPr lang="en-IE" dirty="0">
              <a:latin typeface="Arial"/>
              <a:cs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722134" y="739533"/>
            <a:ext cx="6327775" cy="3556000"/>
          </a:xfrm>
          <a:prstGeom prst="rect">
            <a:avLst/>
          </a:prstGeom>
          <a:ln w="8153">
            <a:solidFill>
              <a:srgbClr val="000000"/>
            </a:solidFill>
          </a:ln>
        </p:spPr>
        <p:txBody>
          <a:bodyPr vert="horz" wrap="square" lIns="0" tIns="0" rIns="0" bIns="0" rtlCol="0">
            <a:spAutoFit/>
          </a:bodyPr>
          <a:lstStyle/>
          <a:p>
            <a:pPr marL="803275">
              <a:lnSpc>
                <a:spcPts val="2550"/>
              </a:lnSpc>
            </a:pPr>
            <a:r>
              <a:rPr sz="2150" b="1" spc="15" dirty="0">
                <a:solidFill>
                  <a:srgbClr val="FFFFFF"/>
                </a:solidFill>
                <a:latin typeface="Arial"/>
                <a:cs typeface="Arial"/>
              </a:rPr>
              <a:t>Thread Mechanism </a:t>
            </a:r>
            <a:r>
              <a:rPr sz="2150" b="1" spc="10" dirty="0">
                <a:solidFill>
                  <a:srgbClr val="FFFFFF"/>
                </a:solidFill>
                <a:latin typeface="Arial"/>
                <a:cs typeface="Arial"/>
              </a:rPr>
              <a:t>Three:</a:t>
            </a:r>
            <a:r>
              <a:rPr sz="2150" b="1" spc="-80" dirty="0">
                <a:solidFill>
                  <a:srgbClr val="FFFFFF"/>
                </a:solidFill>
                <a:latin typeface="Arial"/>
                <a:cs typeface="Arial"/>
              </a:rPr>
              <a:t> </a:t>
            </a:r>
            <a:r>
              <a:rPr sz="2150" b="1" spc="10" dirty="0">
                <a:solidFill>
                  <a:srgbClr val="FFFFFF"/>
                </a:solidFill>
                <a:latin typeface="Arial"/>
                <a:cs typeface="Arial"/>
              </a:rPr>
              <a:t>Results</a:t>
            </a:r>
            <a:endParaRPr sz="2150" dirty="0">
              <a:latin typeface="Arial"/>
              <a:cs typeface="Arial"/>
            </a:endParaRPr>
          </a:p>
          <a:p>
            <a:pPr marL="79375">
              <a:lnSpc>
                <a:spcPct val="100000"/>
              </a:lnSpc>
              <a:spcBef>
                <a:spcPts val="770"/>
              </a:spcBef>
            </a:pPr>
            <a:r>
              <a:rPr sz="1100" b="1" spc="-5" dirty="0">
                <a:solidFill>
                  <a:srgbClr val="00B0F0"/>
                </a:solidFill>
                <a:latin typeface="Courier New"/>
                <a:cs typeface="Courier New"/>
              </a:rPr>
              <a:t>pool-1-thread-2:</a:t>
            </a:r>
            <a:r>
              <a:rPr sz="1100" b="1" spc="-105" dirty="0">
                <a:solidFill>
                  <a:srgbClr val="00B0F0"/>
                </a:solidFill>
                <a:latin typeface="Courier New"/>
                <a:cs typeface="Courier New"/>
              </a:rPr>
              <a:t> </a:t>
            </a:r>
            <a:r>
              <a:rPr sz="1100" b="1" spc="-5" dirty="0">
                <a:solidFill>
                  <a:srgbClr val="00B0F0"/>
                </a:solidFill>
                <a:latin typeface="Courier New"/>
                <a:cs typeface="Courier New"/>
              </a:rPr>
              <a:t>0</a:t>
            </a:r>
            <a:endParaRPr sz="1100" dirty="0">
              <a:latin typeface="Courier New"/>
              <a:cs typeface="Courier New"/>
            </a:endParaRPr>
          </a:p>
          <a:p>
            <a:pPr marL="79375">
              <a:lnSpc>
                <a:spcPct val="100000"/>
              </a:lnSpc>
              <a:spcBef>
                <a:spcPts val="220"/>
              </a:spcBef>
            </a:pPr>
            <a:r>
              <a:rPr sz="1100" b="1" spc="-5" dirty="0">
                <a:latin typeface="Courier New"/>
                <a:cs typeface="Courier New"/>
              </a:rPr>
              <a:t>pool-1-thread-1:</a:t>
            </a:r>
            <a:r>
              <a:rPr sz="1100" b="1" spc="-105" dirty="0">
                <a:latin typeface="Courier New"/>
                <a:cs typeface="Courier New"/>
              </a:rPr>
              <a:t> </a:t>
            </a:r>
            <a:r>
              <a:rPr sz="1100" b="1" spc="-5" dirty="0">
                <a:latin typeface="Courier New"/>
                <a:cs typeface="Courier New"/>
              </a:rPr>
              <a:t>0</a:t>
            </a:r>
            <a:endParaRPr sz="1100" dirty="0">
              <a:latin typeface="Courier New"/>
              <a:cs typeface="Courier New"/>
            </a:endParaRPr>
          </a:p>
          <a:p>
            <a:pPr marL="79375">
              <a:lnSpc>
                <a:spcPct val="100000"/>
              </a:lnSpc>
              <a:spcBef>
                <a:spcPts val="220"/>
              </a:spcBef>
            </a:pPr>
            <a:r>
              <a:rPr sz="1100" b="1" spc="-5" dirty="0">
                <a:solidFill>
                  <a:srgbClr val="C00000"/>
                </a:solidFill>
                <a:latin typeface="Courier New"/>
                <a:cs typeface="Courier New"/>
              </a:rPr>
              <a:t>pool-1-thread-3:</a:t>
            </a:r>
            <a:r>
              <a:rPr sz="1100" b="1" spc="-105" dirty="0">
                <a:solidFill>
                  <a:srgbClr val="C00000"/>
                </a:solidFill>
                <a:latin typeface="Courier New"/>
                <a:cs typeface="Courier New"/>
              </a:rPr>
              <a:t> </a:t>
            </a:r>
            <a:r>
              <a:rPr sz="1100" b="1" spc="-5" dirty="0">
                <a:solidFill>
                  <a:srgbClr val="C00000"/>
                </a:solidFill>
                <a:latin typeface="Courier New"/>
                <a:cs typeface="Courier New"/>
              </a:rPr>
              <a:t>0</a:t>
            </a:r>
            <a:endParaRPr sz="1100" dirty="0">
              <a:latin typeface="Courier New"/>
              <a:cs typeface="Courier New"/>
            </a:endParaRPr>
          </a:p>
          <a:p>
            <a:pPr marL="79375">
              <a:lnSpc>
                <a:spcPct val="100000"/>
              </a:lnSpc>
              <a:spcBef>
                <a:spcPts val="220"/>
              </a:spcBef>
            </a:pPr>
            <a:r>
              <a:rPr sz="1100" b="1" spc="-5" dirty="0">
                <a:solidFill>
                  <a:srgbClr val="C00000"/>
                </a:solidFill>
                <a:latin typeface="Courier New"/>
                <a:cs typeface="Courier New"/>
              </a:rPr>
              <a:t>pool-1-thread-3:</a:t>
            </a:r>
            <a:r>
              <a:rPr sz="1100" b="1" spc="-105" dirty="0">
                <a:solidFill>
                  <a:srgbClr val="C00000"/>
                </a:solidFill>
                <a:latin typeface="Courier New"/>
                <a:cs typeface="Courier New"/>
              </a:rPr>
              <a:t> </a:t>
            </a:r>
            <a:r>
              <a:rPr sz="1100" b="1" spc="-5" dirty="0">
                <a:solidFill>
                  <a:srgbClr val="C00000"/>
                </a:solidFill>
                <a:latin typeface="Courier New"/>
                <a:cs typeface="Courier New"/>
              </a:rPr>
              <a:t>1</a:t>
            </a:r>
            <a:endParaRPr sz="1100" dirty="0">
              <a:latin typeface="Courier New"/>
              <a:cs typeface="Courier New"/>
            </a:endParaRPr>
          </a:p>
          <a:p>
            <a:pPr marL="79375">
              <a:lnSpc>
                <a:spcPct val="100000"/>
              </a:lnSpc>
              <a:spcBef>
                <a:spcPts val="220"/>
              </a:spcBef>
            </a:pPr>
            <a:r>
              <a:rPr sz="1100" b="1" spc="-5" dirty="0">
                <a:latin typeface="Courier New"/>
                <a:cs typeface="Courier New"/>
              </a:rPr>
              <a:t>pool-1-thread-1:</a:t>
            </a:r>
            <a:r>
              <a:rPr sz="1100" b="1" spc="-105" dirty="0">
                <a:latin typeface="Courier New"/>
                <a:cs typeface="Courier New"/>
              </a:rPr>
              <a:t> </a:t>
            </a:r>
            <a:r>
              <a:rPr sz="1100" b="1" spc="-5" dirty="0">
                <a:latin typeface="Courier New"/>
                <a:cs typeface="Courier New"/>
              </a:rPr>
              <a:t>1</a:t>
            </a:r>
            <a:endParaRPr sz="1100" dirty="0">
              <a:latin typeface="Courier New"/>
              <a:cs typeface="Courier New"/>
            </a:endParaRPr>
          </a:p>
          <a:p>
            <a:pPr marL="79375">
              <a:lnSpc>
                <a:spcPct val="100000"/>
              </a:lnSpc>
              <a:spcBef>
                <a:spcPts val="220"/>
              </a:spcBef>
            </a:pPr>
            <a:r>
              <a:rPr sz="1100" b="1" spc="-5" dirty="0">
                <a:latin typeface="Courier New"/>
                <a:cs typeface="Courier New"/>
              </a:rPr>
              <a:t>pool-1-thread-1:</a:t>
            </a:r>
            <a:r>
              <a:rPr sz="1100" b="1" spc="-105" dirty="0">
                <a:latin typeface="Courier New"/>
                <a:cs typeface="Courier New"/>
              </a:rPr>
              <a:t> </a:t>
            </a:r>
            <a:r>
              <a:rPr sz="1100" b="1" spc="-5" dirty="0">
                <a:latin typeface="Courier New"/>
                <a:cs typeface="Courier New"/>
              </a:rPr>
              <a:t>2</a:t>
            </a:r>
            <a:endParaRPr sz="1100" dirty="0">
              <a:latin typeface="Courier New"/>
              <a:cs typeface="Courier New"/>
            </a:endParaRPr>
          </a:p>
          <a:p>
            <a:pPr marL="79375">
              <a:lnSpc>
                <a:spcPct val="100000"/>
              </a:lnSpc>
              <a:spcBef>
                <a:spcPts val="220"/>
              </a:spcBef>
            </a:pPr>
            <a:r>
              <a:rPr sz="1100" b="1" spc="-5" dirty="0">
                <a:solidFill>
                  <a:srgbClr val="00B0F0"/>
                </a:solidFill>
                <a:latin typeface="Courier New"/>
                <a:cs typeface="Courier New"/>
              </a:rPr>
              <a:t>pool-1-thread-2:</a:t>
            </a:r>
            <a:r>
              <a:rPr sz="1100" b="1" spc="-105" dirty="0">
                <a:solidFill>
                  <a:srgbClr val="00B0F0"/>
                </a:solidFill>
                <a:latin typeface="Courier New"/>
                <a:cs typeface="Courier New"/>
              </a:rPr>
              <a:t> </a:t>
            </a:r>
            <a:r>
              <a:rPr sz="1100" b="1" spc="-5" dirty="0">
                <a:solidFill>
                  <a:srgbClr val="00B0F0"/>
                </a:solidFill>
                <a:latin typeface="Courier New"/>
                <a:cs typeface="Courier New"/>
              </a:rPr>
              <a:t>1</a:t>
            </a:r>
            <a:endParaRPr sz="1100" dirty="0">
              <a:latin typeface="Courier New"/>
              <a:cs typeface="Courier New"/>
            </a:endParaRPr>
          </a:p>
          <a:p>
            <a:pPr marL="79375">
              <a:lnSpc>
                <a:spcPct val="100000"/>
              </a:lnSpc>
              <a:spcBef>
                <a:spcPts val="220"/>
              </a:spcBef>
            </a:pPr>
            <a:r>
              <a:rPr sz="1100" b="1" spc="-5" dirty="0">
                <a:solidFill>
                  <a:srgbClr val="C00000"/>
                </a:solidFill>
                <a:latin typeface="Courier New"/>
                <a:cs typeface="Courier New"/>
              </a:rPr>
              <a:t>pool-1-thread-3:</a:t>
            </a:r>
            <a:r>
              <a:rPr sz="1100" b="1" spc="-105" dirty="0">
                <a:solidFill>
                  <a:srgbClr val="C00000"/>
                </a:solidFill>
                <a:latin typeface="Courier New"/>
                <a:cs typeface="Courier New"/>
              </a:rPr>
              <a:t> </a:t>
            </a:r>
            <a:r>
              <a:rPr sz="1100" b="1" spc="-5" dirty="0">
                <a:solidFill>
                  <a:srgbClr val="C00000"/>
                </a:solidFill>
                <a:latin typeface="Courier New"/>
                <a:cs typeface="Courier New"/>
              </a:rPr>
              <a:t>2</a:t>
            </a:r>
            <a:endParaRPr sz="1100" dirty="0">
              <a:latin typeface="Courier New"/>
              <a:cs typeface="Courier New"/>
            </a:endParaRPr>
          </a:p>
          <a:p>
            <a:pPr marL="79375">
              <a:lnSpc>
                <a:spcPct val="100000"/>
              </a:lnSpc>
              <a:spcBef>
                <a:spcPts val="220"/>
              </a:spcBef>
            </a:pPr>
            <a:r>
              <a:rPr sz="1100" b="1" spc="-5" dirty="0">
                <a:solidFill>
                  <a:srgbClr val="C00000"/>
                </a:solidFill>
                <a:latin typeface="Courier New"/>
                <a:cs typeface="Courier New"/>
              </a:rPr>
              <a:t>pool-1-thread-3:</a:t>
            </a:r>
            <a:r>
              <a:rPr sz="1100" b="1" spc="-105" dirty="0">
                <a:solidFill>
                  <a:srgbClr val="C00000"/>
                </a:solidFill>
                <a:latin typeface="Courier New"/>
                <a:cs typeface="Courier New"/>
              </a:rPr>
              <a:t> </a:t>
            </a:r>
            <a:r>
              <a:rPr sz="1100" b="1" spc="-5" dirty="0">
                <a:solidFill>
                  <a:srgbClr val="C00000"/>
                </a:solidFill>
                <a:latin typeface="Courier New"/>
                <a:cs typeface="Courier New"/>
              </a:rPr>
              <a:t>3</a:t>
            </a:r>
            <a:endParaRPr sz="1100" dirty="0">
              <a:latin typeface="Courier New"/>
              <a:cs typeface="Courier New"/>
            </a:endParaRPr>
          </a:p>
          <a:p>
            <a:pPr marL="79375">
              <a:lnSpc>
                <a:spcPct val="100000"/>
              </a:lnSpc>
              <a:spcBef>
                <a:spcPts val="225"/>
              </a:spcBef>
            </a:pPr>
            <a:r>
              <a:rPr sz="1100" b="1" spc="-5" dirty="0">
                <a:latin typeface="Courier New"/>
                <a:cs typeface="Courier New"/>
              </a:rPr>
              <a:t>pool-1-thread-1:</a:t>
            </a:r>
            <a:r>
              <a:rPr sz="1100" b="1" spc="-105" dirty="0">
                <a:latin typeface="Courier New"/>
                <a:cs typeface="Courier New"/>
              </a:rPr>
              <a:t> </a:t>
            </a:r>
            <a:r>
              <a:rPr sz="1100" b="1" spc="-5" dirty="0">
                <a:latin typeface="Courier New"/>
                <a:cs typeface="Courier New"/>
              </a:rPr>
              <a:t>3</a:t>
            </a:r>
            <a:endParaRPr sz="1100" dirty="0">
              <a:latin typeface="Courier New"/>
              <a:cs typeface="Courier New"/>
            </a:endParaRPr>
          </a:p>
          <a:p>
            <a:pPr marL="79375">
              <a:lnSpc>
                <a:spcPct val="100000"/>
              </a:lnSpc>
              <a:spcBef>
                <a:spcPts val="220"/>
              </a:spcBef>
            </a:pPr>
            <a:r>
              <a:rPr sz="1100" b="1" spc="-5" dirty="0">
                <a:latin typeface="Courier New"/>
                <a:cs typeface="Courier New"/>
              </a:rPr>
              <a:t>pool-1-thread-1:</a:t>
            </a:r>
            <a:r>
              <a:rPr sz="1100" b="1" spc="-105" dirty="0">
                <a:latin typeface="Courier New"/>
                <a:cs typeface="Courier New"/>
              </a:rPr>
              <a:t> </a:t>
            </a:r>
            <a:r>
              <a:rPr sz="1100" b="1" spc="-5" dirty="0">
                <a:latin typeface="Courier New"/>
                <a:cs typeface="Courier New"/>
              </a:rPr>
              <a:t>4</a:t>
            </a:r>
            <a:endParaRPr sz="1100" dirty="0">
              <a:latin typeface="Courier New"/>
              <a:cs typeface="Courier New"/>
            </a:endParaRPr>
          </a:p>
          <a:p>
            <a:pPr marL="79375">
              <a:lnSpc>
                <a:spcPct val="100000"/>
              </a:lnSpc>
              <a:spcBef>
                <a:spcPts val="220"/>
              </a:spcBef>
            </a:pPr>
            <a:r>
              <a:rPr sz="1100" b="1" spc="-5" dirty="0">
                <a:latin typeface="Courier New"/>
                <a:cs typeface="Courier New"/>
              </a:rPr>
              <a:t>pool-1-thread-1:</a:t>
            </a:r>
            <a:r>
              <a:rPr sz="1100" b="1" spc="-105" dirty="0">
                <a:latin typeface="Courier New"/>
                <a:cs typeface="Courier New"/>
              </a:rPr>
              <a:t> </a:t>
            </a:r>
            <a:r>
              <a:rPr sz="1100" b="1" spc="-5" dirty="0">
                <a:latin typeface="Courier New"/>
                <a:cs typeface="Courier New"/>
              </a:rPr>
              <a:t>5</a:t>
            </a:r>
            <a:endParaRPr sz="1100" dirty="0">
              <a:latin typeface="Courier New"/>
              <a:cs typeface="Courier New"/>
            </a:endParaRPr>
          </a:p>
          <a:p>
            <a:pPr marL="79375">
              <a:lnSpc>
                <a:spcPct val="100000"/>
              </a:lnSpc>
              <a:spcBef>
                <a:spcPts val="220"/>
              </a:spcBef>
            </a:pPr>
            <a:r>
              <a:rPr sz="1100" b="1" spc="-5" dirty="0">
                <a:solidFill>
                  <a:srgbClr val="00B0F0"/>
                </a:solidFill>
                <a:latin typeface="Courier New"/>
                <a:cs typeface="Courier New"/>
              </a:rPr>
              <a:t>pool-1-thread-2:</a:t>
            </a:r>
            <a:r>
              <a:rPr sz="1100" b="1" spc="-105" dirty="0">
                <a:solidFill>
                  <a:srgbClr val="00B0F0"/>
                </a:solidFill>
                <a:latin typeface="Courier New"/>
                <a:cs typeface="Courier New"/>
              </a:rPr>
              <a:t> </a:t>
            </a:r>
            <a:r>
              <a:rPr sz="1100" b="1" spc="-5" dirty="0">
                <a:solidFill>
                  <a:srgbClr val="00B0F0"/>
                </a:solidFill>
                <a:latin typeface="Courier New"/>
                <a:cs typeface="Courier New"/>
              </a:rPr>
              <a:t>2</a:t>
            </a:r>
            <a:endParaRPr sz="1100" dirty="0">
              <a:latin typeface="Courier New"/>
              <a:cs typeface="Courier New"/>
            </a:endParaRPr>
          </a:p>
          <a:p>
            <a:pPr marL="79375">
              <a:lnSpc>
                <a:spcPct val="100000"/>
              </a:lnSpc>
              <a:spcBef>
                <a:spcPts val="220"/>
              </a:spcBef>
            </a:pPr>
            <a:r>
              <a:rPr sz="1100" b="1" spc="-5" dirty="0">
                <a:solidFill>
                  <a:srgbClr val="00B0F0"/>
                </a:solidFill>
                <a:latin typeface="Courier New"/>
                <a:cs typeface="Courier New"/>
              </a:rPr>
              <a:t>pool-1-thread-2:</a:t>
            </a:r>
            <a:r>
              <a:rPr sz="1100" b="1" spc="-105" dirty="0">
                <a:solidFill>
                  <a:srgbClr val="00B0F0"/>
                </a:solidFill>
                <a:latin typeface="Courier New"/>
                <a:cs typeface="Courier New"/>
              </a:rPr>
              <a:t> </a:t>
            </a:r>
            <a:r>
              <a:rPr sz="1100" b="1" spc="-5" dirty="0">
                <a:solidFill>
                  <a:srgbClr val="00B0F0"/>
                </a:solidFill>
                <a:latin typeface="Courier New"/>
                <a:cs typeface="Courier New"/>
              </a:rPr>
              <a:t>3</a:t>
            </a:r>
            <a:endParaRPr sz="1100" dirty="0">
              <a:latin typeface="Courier New"/>
              <a:cs typeface="Courier New"/>
            </a:endParaRPr>
          </a:p>
          <a:p>
            <a:pPr marL="79375">
              <a:lnSpc>
                <a:spcPct val="100000"/>
              </a:lnSpc>
              <a:spcBef>
                <a:spcPts val="220"/>
              </a:spcBef>
            </a:pPr>
            <a:r>
              <a:rPr sz="1100" b="1" spc="-5" dirty="0">
                <a:solidFill>
                  <a:srgbClr val="00B0F0"/>
                </a:solidFill>
                <a:latin typeface="Courier New"/>
                <a:cs typeface="Courier New"/>
              </a:rPr>
              <a:t>pool-1-thread-2:</a:t>
            </a:r>
            <a:r>
              <a:rPr sz="1100" b="1" spc="-105" dirty="0">
                <a:solidFill>
                  <a:srgbClr val="00B0F0"/>
                </a:solidFill>
                <a:latin typeface="Courier New"/>
                <a:cs typeface="Courier New"/>
              </a:rPr>
              <a:t> </a:t>
            </a:r>
            <a:r>
              <a:rPr sz="1100" b="1" spc="-5" dirty="0">
                <a:solidFill>
                  <a:srgbClr val="00B0F0"/>
                </a:solidFill>
                <a:latin typeface="Courier New"/>
                <a:cs typeface="Courier New"/>
              </a:rPr>
              <a:t>4</a:t>
            </a:r>
            <a:endParaRPr sz="1100" dirty="0">
              <a:latin typeface="Courier New"/>
              <a:cs typeface="Courier New"/>
            </a:endParaRPr>
          </a:p>
          <a:p>
            <a:pPr marL="51435">
              <a:lnSpc>
                <a:spcPct val="100000"/>
              </a:lnSpc>
              <a:spcBef>
                <a:spcPts val="635"/>
              </a:spcBef>
            </a:pPr>
            <a:endParaRPr sz="700" dirty="0">
              <a:latin typeface="Arial Narrow"/>
              <a:cs typeface="Arial Narrow"/>
            </a:endParaRPr>
          </a:p>
        </p:txBody>
      </p:sp>
      <p:sp>
        <p:nvSpPr>
          <p:cNvPr id="3" name="object 3"/>
          <p:cNvSpPr/>
          <p:nvPr/>
        </p:nvSpPr>
        <p:spPr>
          <a:xfrm>
            <a:off x="654799" y="5968"/>
            <a:ext cx="6463030" cy="5022850"/>
          </a:xfrm>
          <a:custGeom>
            <a:avLst/>
            <a:gdLst/>
            <a:ahLst/>
            <a:cxnLst/>
            <a:rect l="l" t="t" r="r" b="b"/>
            <a:pathLst>
              <a:path w="6463030" h="5022850">
                <a:moveTo>
                  <a:pt x="0" y="0"/>
                </a:moveTo>
                <a:lnTo>
                  <a:pt x="6462801" y="0"/>
                </a:lnTo>
                <a:lnTo>
                  <a:pt x="6462801" y="5022850"/>
                </a:lnTo>
                <a:lnTo>
                  <a:pt x="0" y="5022850"/>
                </a:lnTo>
                <a:lnTo>
                  <a:pt x="0" y="0"/>
                </a:lnTo>
                <a:close/>
              </a:path>
            </a:pathLst>
          </a:custGeom>
          <a:ln w="3175">
            <a:solidFill>
              <a:srgbClr val="000000"/>
            </a:solidFill>
          </a:ln>
        </p:spPr>
        <p:txBody>
          <a:bodyPr wrap="square" lIns="0" tIns="0" rIns="0" bIns="0" rtlCol="0"/>
          <a:lstStyle/>
          <a:p>
            <a:endParaRPr/>
          </a:p>
        </p:txBody>
      </p:sp>
      <p:sp>
        <p:nvSpPr>
          <p:cNvPr id="4" name="object 4"/>
          <p:cNvSpPr/>
          <p:nvPr/>
        </p:nvSpPr>
        <p:spPr>
          <a:xfrm>
            <a:off x="718299" y="5758535"/>
            <a:ext cx="6335801" cy="3563886"/>
          </a:xfrm>
          <a:prstGeom prst="rect">
            <a:avLst/>
          </a:prstGeom>
          <a:blipFill>
            <a:blip r:embed="rId3" cstate="print"/>
            <a:stretch>
              <a:fillRect/>
            </a:stretch>
          </a:blipFill>
        </p:spPr>
        <p:txBody>
          <a:bodyPr wrap="square" lIns="0" tIns="0" rIns="0" bIns="0" rtlCol="0"/>
          <a:lstStyle/>
          <a:p>
            <a:endParaRPr/>
          </a:p>
        </p:txBody>
      </p:sp>
      <p:sp>
        <p:nvSpPr>
          <p:cNvPr id="5" name="object 5"/>
          <p:cNvSpPr/>
          <p:nvPr/>
        </p:nvSpPr>
        <p:spPr>
          <a:xfrm>
            <a:off x="790778" y="8994597"/>
            <a:ext cx="6144895" cy="328295"/>
          </a:xfrm>
          <a:custGeom>
            <a:avLst/>
            <a:gdLst/>
            <a:ahLst/>
            <a:cxnLst/>
            <a:rect l="l" t="t" r="r" b="b"/>
            <a:pathLst>
              <a:path w="6144895" h="328295">
                <a:moveTo>
                  <a:pt x="0" y="327825"/>
                </a:moveTo>
                <a:lnTo>
                  <a:pt x="6144768" y="327825"/>
                </a:lnTo>
                <a:lnTo>
                  <a:pt x="6144768" y="0"/>
                </a:lnTo>
                <a:lnTo>
                  <a:pt x="0" y="0"/>
                </a:lnTo>
                <a:lnTo>
                  <a:pt x="0" y="327825"/>
                </a:lnTo>
                <a:close/>
              </a:path>
            </a:pathLst>
          </a:custGeom>
          <a:solidFill>
            <a:srgbClr val="FFFFFF"/>
          </a:solidFill>
        </p:spPr>
        <p:txBody>
          <a:bodyPr wrap="square" lIns="0" tIns="0" rIns="0" bIns="0" rtlCol="0"/>
          <a:lstStyle/>
          <a:p>
            <a:endParaRPr/>
          </a:p>
        </p:txBody>
      </p:sp>
      <p:sp>
        <p:nvSpPr>
          <p:cNvPr id="6" name="object 6"/>
          <p:cNvSpPr txBox="1"/>
          <p:nvPr/>
        </p:nvSpPr>
        <p:spPr>
          <a:xfrm>
            <a:off x="722134" y="5762371"/>
            <a:ext cx="6327775" cy="3556000"/>
          </a:xfrm>
          <a:prstGeom prst="rect">
            <a:avLst/>
          </a:prstGeom>
          <a:ln w="8153">
            <a:solidFill>
              <a:srgbClr val="000000"/>
            </a:solidFill>
          </a:ln>
        </p:spPr>
        <p:txBody>
          <a:bodyPr vert="horz" wrap="square" lIns="0" tIns="0" rIns="0" bIns="0" rtlCol="0">
            <a:spAutoFit/>
          </a:bodyPr>
          <a:lstStyle/>
          <a:p>
            <a:pPr marL="803275">
              <a:lnSpc>
                <a:spcPts val="2550"/>
              </a:lnSpc>
            </a:pPr>
            <a:r>
              <a:rPr sz="2150" b="1" spc="15" dirty="0">
                <a:solidFill>
                  <a:srgbClr val="FFFFFF"/>
                </a:solidFill>
                <a:latin typeface="Arial"/>
                <a:cs typeface="Arial"/>
              </a:rPr>
              <a:t>Pros and Cons </a:t>
            </a:r>
            <a:r>
              <a:rPr sz="2150" b="1" spc="10" dirty="0">
                <a:solidFill>
                  <a:srgbClr val="FFFFFF"/>
                </a:solidFill>
                <a:latin typeface="Arial"/>
                <a:cs typeface="Arial"/>
              </a:rPr>
              <a:t>of</a:t>
            </a:r>
            <a:r>
              <a:rPr sz="2150" b="1" spc="-120" dirty="0">
                <a:solidFill>
                  <a:srgbClr val="FFFFFF"/>
                </a:solidFill>
                <a:latin typeface="Arial"/>
                <a:cs typeface="Arial"/>
              </a:rPr>
              <a:t> </a:t>
            </a:r>
            <a:r>
              <a:rPr sz="2150" b="1" spc="15" dirty="0">
                <a:solidFill>
                  <a:srgbClr val="FFFFFF"/>
                </a:solidFill>
                <a:latin typeface="Arial"/>
                <a:cs typeface="Arial"/>
              </a:rPr>
              <a:t>Approach</a:t>
            </a:r>
            <a:endParaRPr sz="2150">
              <a:latin typeface="Arial"/>
              <a:cs typeface="Arial"/>
            </a:endParaRPr>
          </a:p>
          <a:p>
            <a:pPr marL="257175" indent="-177800">
              <a:lnSpc>
                <a:spcPct val="100000"/>
              </a:lnSpc>
              <a:spcBef>
                <a:spcPts val="785"/>
              </a:spcBef>
              <a:buClr>
                <a:srgbClr val="CC0000"/>
              </a:buClr>
              <a:buFont typeface="Arial"/>
              <a:buChar char="•"/>
              <a:tabLst>
                <a:tab pos="257810" algn="l"/>
              </a:tabLst>
            </a:pPr>
            <a:r>
              <a:rPr sz="1550" b="1" dirty="0">
                <a:latin typeface="Arial"/>
                <a:cs typeface="Arial"/>
              </a:rPr>
              <a:t>Advantages</a:t>
            </a:r>
            <a:endParaRPr sz="1550">
              <a:latin typeface="Arial"/>
              <a:cs typeface="Arial"/>
            </a:endParaRPr>
          </a:p>
          <a:p>
            <a:pPr marL="464820" lvl="1" indent="-147955">
              <a:lnSpc>
                <a:spcPct val="100000"/>
              </a:lnSpc>
              <a:spcBef>
                <a:spcPts val="200"/>
              </a:spcBef>
              <a:buClr>
                <a:srgbClr val="CC0000"/>
              </a:buClr>
              <a:buChar char="–"/>
              <a:tabLst>
                <a:tab pos="465455" algn="l"/>
              </a:tabLst>
            </a:pPr>
            <a:r>
              <a:rPr sz="1350" spc="-5" dirty="0">
                <a:latin typeface="Times New Roman"/>
                <a:cs typeface="Times New Roman"/>
              </a:rPr>
              <a:t>Easy to access main</a:t>
            </a:r>
            <a:r>
              <a:rPr sz="1350" spc="-70" dirty="0">
                <a:latin typeface="Times New Roman"/>
                <a:cs typeface="Times New Roman"/>
              </a:rPr>
              <a:t> </a:t>
            </a:r>
            <a:r>
              <a:rPr sz="1350" spc="-5" dirty="0">
                <a:latin typeface="Times New Roman"/>
                <a:cs typeface="Times New Roman"/>
              </a:rPr>
              <a:t>app.</a:t>
            </a:r>
            <a:endParaRPr sz="1350">
              <a:latin typeface="Times New Roman"/>
              <a:cs typeface="Times New Roman"/>
            </a:endParaRPr>
          </a:p>
          <a:p>
            <a:pPr marL="673100" marR="578485" lvl="2" indent="-118745">
              <a:lnSpc>
                <a:spcPts val="1240"/>
              </a:lnSpc>
              <a:spcBef>
                <a:spcPts val="234"/>
              </a:spcBef>
              <a:buClr>
                <a:srgbClr val="CC0000"/>
              </a:buClr>
              <a:buChar char="•"/>
              <a:tabLst>
                <a:tab pos="673735" algn="l"/>
              </a:tabLst>
            </a:pPr>
            <a:r>
              <a:rPr sz="1150" spc="-5" dirty="0">
                <a:latin typeface="Arial"/>
                <a:cs typeface="Arial"/>
              </a:rPr>
              <a:t>Methods in inner classes can access any public or private methods or instance  variables of outer</a:t>
            </a:r>
            <a:r>
              <a:rPr sz="1150" spc="-60" dirty="0">
                <a:latin typeface="Arial"/>
                <a:cs typeface="Arial"/>
              </a:rPr>
              <a:t> </a:t>
            </a:r>
            <a:r>
              <a:rPr sz="1150" spc="-5" dirty="0">
                <a:latin typeface="Arial"/>
                <a:cs typeface="Arial"/>
              </a:rPr>
              <a:t>class</a:t>
            </a:r>
            <a:endParaRPr sz="1150">
              <a:latin typeface="Arial"/>
              <a:cs typeface="Arial"/>
            </a:endParaRPr>
          </a:p>
          <a:p>
            <a:pPr marL="464820" lvl="1" indent="-147955">
              <a:lnSpc>
                <a:spcPct val="100000"/>
              </a:lnSpc>
              <a:spcBef>
                <a:spcPts val="165"/>
              </a:spcBef>
              <a:buClr>
                <a:srgbClr val="CC0000"/>
              </a:buClr>
              <a:buChar char="–"/>
              <a:tabLst>
                <a:tab pos="465455" algn="l"/>
              </a:tabLst>
            </a:pPr>
            <a:r>
              <a:rPr sz="1350" spc="-5" dirty="0">
                <a:latin typeface="Times New Roman"/>
                <a:cs typeface="Times New Roman"/>
              </a:rPr>
              <a:t>Can pass arguments to</a:t>
            </a:r>
            <a:r>
              <a:rPr sz="1350" spc="-60" dirty="0">
                <a:latin typeface="Times New Roman"/>
                <a:cs typeface="Times New Roman"/>
              </a:rPr>
              <a:t> </a:t>
            </a:r>
            <a:r>
              <a:rPr sz="1350" spc="-5" dirty="0">
                <a:latin typeface="Times New Roman"/>
                <a:cs typeface="Times New Roman"/>
              </a:rPr>
              <a:t>run</a:t>
            </a:r>
            <a:endParaRPr sz="1350">
              <a:latin typeface="Times New Roman"/>
              <a:cs typeface="Times New Roman"/>
            </a:endParaRPr>
          </a:p>
          <a:p>
            <a:pPr marL="673100" marR="143510" lvl="2" indent="-118745">
              <a:lnSpc>
                <a:spcPts val="1240"/>
              </a:lnSpc>
              <a:spcBef>
                <a:spcPts val="234"/>
              </a:spcBef>
              <a:buClr>
                <a:srgbClr val="CC0000"/>
              </a:buClr>
              <a:buChar char="•"/>
              <a:tabLst>
                <a:tab pos="673735" algn="l"/>
              </a:tabLst>
            </a:pPr>
            <a:r>
              <a:rPr sz="1150" spc="-5" dirty="0">
                <a:latin typeface="Arial"/>
                <a:cs typeface="Arial"/>
              </a:rPr>
              <a:t>As with separate classes, you pass args to constructor, which stores them in instance  variables that run</a:t>
            </a:r>
            <a:r>
              <a:rPr sz="1150" spc="-65" dirty="0">
                <a:latin typeface="Arial"/>
                <a:cs typeface="Arial"/>
              </a:rPr>
              <a:t> </a:t>
            </a:r>
            <a:r>
              <a:rPr sz="1150" spc="-5" dirty="0">
                <a:latin typeface="Arial"/>
                <a:cs typeface="Arial"/>
              </a:rPr>
              <a:t>uses</a:t>
            </a:r>
            <a:endParaRPr sz="1150">
              <a:latin typeface="Arial"/>
              <a:cs typeface="Arial"/>
            </a:endParaRPr>
          </a:p>
          <a:p>
            <a:pPr marL="257175" indent="-177800">
              <a:lnSpc>
                <a:spcPct val="100000"/>
              </a:lnSpc>
              <a:spcBef>
                <a:spcPts val="155"/>
              </a:spcBef>
              <a:buClr>
                <a:srgbClr val="CC0000"/>
              </a:buClr>
              <a:buFont typeface="Arial"/>
              <a:buChar char="•"/>
              <a:tabLst>
                <a:tab pos="257810" algn="l"/>
              </a:tabLst>
            </a:pPr>
            <a:r>
              <a:rPr sz="1550" b="1" dirty="0">
                <a:latin typeface="Arial"/>
                <a:cs typeface="Arial"/>
              </a:rPr>
              <a:t>Disadvantages</a:t>
            </a:r>
            <a:endParaRPr sz="1550">
              <a:latin typeface="Arial"/>
              <a:cs typeface="Arial"/>
            </a:endParaRPr>
          </a:p>
          <a:p>
            <a:pPr marL="464820" lvl="1" indent="-147955">
              <a:lnSpc>
                <a:spcPct val="100000"/>
              </a:lnSpc>
              <a:spcBef>
                <a:spcPts val="200"/>
              </a:spcBef>
              <a:buClr>
                <a:srgbClr val="CC0000"/>
              </a:buClr>
              <a:buChar char="–"/>
              <a:tabLst>
                <a:tab pos="465455" algn="l"/>
              </a:tabLst>
            </a:pPr>
            <a:r>
              <a:rPr sz="1350" dirty="0">
                <a:latin typeface="Times New Roman"/>
                <a:cs typeface="Times New Roman"/>
              </a:rPr>
              <a:t>Tight</a:t>
            </a:r>
            <a:r>
              <a:rPr sz="1350" spc="-85" dirty="0">
                <a:latin typeface="Times New Roman"/>
                <a:cs typeface="Times New Roman"/>
              </a:rPr>
              <a:t> </a:t>
            </a:r>
            <a:r>
              <a:rPr sz="1350" spc="-5" dirty="0">
                <a:latin typeface="Times New Roman"/>
                <a:cs typeface="Times New Roman"/>
              </a:rPr>
              <a:t>coupling</a:t>
            </a:r>
            <a:endParaRPr sz="1350">
              <a:latin typeface="Times New Roman"/>
              <a:cs typeface="Times New Roman"/>
            </a:endParaRPr>
          </a:p>
          <a:p>
            <a:pPr marL="673100" lvl="2" indent="-118745">
              <a:lnSpc>
                <a:spcPct val="100000"/>
              </a:lnSpc>
              <a:spcBef>
                <a:spcPts val="75"/>
              </a:spcBef>
              <a:buClr>
                <a:srgbClr val="CC0000"/>
              </a:buClr>
              <a:buChar char="•"/>
              <a:tabLst>
                <a:tab pos="673735" algn="l"/>
              </a:tabLst>
            </a:pPr>
            <a:r>
              <a:rPr sz="1150" spc="-5" dirty="0">
                <a:latin typeface="Arial"/>
                <a:cs typeface="Arial"/>
              </a:rPr>
              <a:t>run method tied closely to this</a:t>
            </a:r>
            <a:r>
              <a:rPr sz="1150" spc="-15" dirty="0">
                <a:latin typeface="Arial"/>
                <a:cs typeface="Arial"/>
              </a:rPr>
              <a:t> </a:t>
            </a:r>
            <a:r>
              <a:rPr sz="1150" spc="-5" dirty="0">
                <a:latin typeface="Arial"/>
                <a:cs typeface="Arial"/>
              </a:rPr>
              <a:t>application</a:t>
            </a:r>
            <a:endParaRPr sz="1150">
              <a:latin typeface="Arial"/>
              <a:cs typeface="Arial"/>
            </a:endParaRPr>
          </a:p>
          <a:p>
            <a:pPr marL="464820" lvl="1" indent="-147955">
              <a:lnSpc>
                <a:spcPct val="100000"/>
              </a:lnSpc>
              <a:spcBef>
                <a:spcPts val="185"/>
              </a:spcBef>
              <a:buClr>
                <a:srgbClr val="CC0000"/>
              </a:buClr>
              <a:buChar char="–"/>
              <a:tabLst>
                <a:tab pos="465455" algn="l"/>
              </a:tabLst>
            </a:pPr>
            <a:r>
              <a:rPr sz="1350" spc="-5" dirty="0">
                <a:latin typeface="Times New Roman"/>
                <a:cs typeface="Times New Roman"/>
              </a:rPr>
              <a:t>Danger of race</a:t>
            </a:r>
            <a:r>
              <a:rPr sz="1350" spc="-80" dirty="0">
                <a:latin typeface="Times New Roman"/>
                <a:cs typeface="Times New Roman"/>
              </a:rPr>
              <a:t> </a:t>
            </a:r>
            <a:r>
              <a:rPr sz="1350" spc="-5" dirty="0">
                <a:latin typeface="Times New Roman"/>
                <a:cs typeface="Times New Roman"/>
              </a:rPr>
              <a:t>conditions</a:t>
            </a:r>
            <a:endParaRPr sz="1350">
              <a:latin typeface="Times New Roman"/>
              <a:cs typeface="Times New Roman"/>
            </a:endParaRPr>
          </a:p>
          <a:p>
            <a:pPr marL="673100" marR="258445" lvl="2" indent="-118745">
              <a:lnSpc>
                <a:spcPts val="1240"/>
              </a:lnSpc>
              <a:spcBef>
                <a:spcPts val="234"/>
              </a:spcBef>
              <a:buClr>
                <a:srgbClr val="CC0000"/>
              </a:buClr>
              <a:buChar char="•"/>
              <a:tabLst>
                <a:tab pos="673735" algn="l"/>
              </a:tabLst>
            </a:pPr>
            <a:r>
              <a:rPr sz="1150" spc="-5" dirty="0">
                <a:latin typeface="Arial"/>
                <a:cs typeface="Arial"/>
              </a:rPr>
              <a:t>You usually use this approach specifically because you want to access data in main  application. So, if run modifies some shared data, you must</a:t>
            </a:r>
            <a:r>
              <a:rPr sz="1150" spc="20" dirty="0">
                <a:latin typeface="Arial"/>
                <a:cs typeface="Arial"/>
              </a:rPr>
              <a:t> </a:t>
            </a:r>
            <a:r>
              <a:rPr sz="1150" spc="-5" dirty="0">
                <a:latin typeface="Arial"/>
                <a:cs typeface="Arial"/>
              </a:rPr>
              <a:t>synchronize.</a:t>
            </a:r>
            <a:endParaRPr sz="1150">
              <a:latin typeface="Arial"/>
              <a:cs typeface="Arial"/>
            </a:endParaRPr>
          </a:p>
        </p:txBody>
      </p:sp>
      <p:sp>
        <p:nvSpPr>
          <p:cNvPr id="7" name="object 7"/>
          <p:cNvSpPr/>
          <p:nvPr/>
        </p:nvSpPr>
        <p:spPr>
          <a:xfrm>
            <a:off x="654799" y="5028819"/>
            <a:ext cx="6463030" cy="5022850"/>
          </a:xfrm>
          <a:custGeom>
            <a:avLst/>
            <a:gdLst/>
            <a:ahLst/>
            <a:cxnLst/>
            <a:rect l="l" t="t" r="r" b="b"/>
            <a:pathLst>
              <a:path w="6463030" h="5022850">
                <a:moveTo>
                  <a:pt x="0" y="0"/>
                </a:moveTo>
                <a:lnTo>
                  <a:pt x="6462801" y="0"/>
                </a:lnTo>
                <a:lnTo>
                  <a:pt x="6462801" y="5022850"/>
                </a:lnTo>
                <a:lnTo>
                  <a:pt x="0" y="5022850"/>
                </a:lnTo>
                <a:lnTo>
                  <a:pt x="0" y="0"/>
                </a:lnTo>
                <a:close/>
              </a:path>
            </a:pathLst>
          </a:custGeom>
          <a:ln w="3175">
            <a:solidFill>
              <a:srgbClr val="000000"/>
            </a:solidFill>
          </a:ln>
        </p:spPr>
        <p:txBody>
          <a:bodyPr wrap="square" lIns="0" tIns="0" rIns="0" bIns="0" rtlCol="0"/>
          <a:lstStyle/>
          <a:p>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718299" y="735685"/>
            <a:ext cx="6336030" cy="3564254"/>
          </a:xfrm>
          <a:custGeom>
            <a:avLst/>
            <a:gdLst/>
            <a:ahLst/>
            <a:cxnLst/>
            <a:rect l="l" t="t" r="r" b="b"/>
            <a:pathLst>
              <a:path w="6336030" h="3564254">
                <a:moveTo>
                  <a:pt x="0" y="3563886"/>
                </a:moveTo>
                <a:lnTo>
                  <a:pt x="6335801" y="3563886"/>
                </a:lnTo>
                <a:lnTo>
                  <a:pt x="6335801" y="0"/>
                </a:lnTo>
                <a:lnTo>
                  <a:pt x="0" y="0"/>
                </a:lnTo>
                <a:lnTo>
                  <a:pt x="0" y="3563886"/>
                </a:lnTo>
                <a:close/>
              </a:path>
            </a:pathLst>
          </a:custGeom>
          <a:solidFill>
            <a:srgbClr val="B2B2B2"/>
          </a:solidFill>
        </p:spPr>
        <p:txBody>
          <a:bodyPr wrap="square" lIns="0" tIns="0" rIns="0" bIns="0" rtlCol="0"/>
          <a:lstStyle/>
          <a:p>
            <a:endParaRPr/>
          </a:p>
        </p:txBody>
      </p:sp>
      <p:sp>
        <p:nvSpPr>
          <p:cNvPr id="10" name="object 10"/>
          <p:cNvSpPr/>
          <p:nvPr/>
        </p:nvSpPr>
        <p:spPr>
          <a:xfrm>
            <a:off x="795096" y="3700081"/>
            <a:ext cx="322910" cy="587501"/>
          </a:xfrm>
          <a:prstGeom prst="rect">
            <a:avLst/>
          </a:prstGeom>
          <a:blipFill>
            <a:blip r:embed="rId3" cstate="print"/>
            <a:stretch>
              <a:fillRect/>
            </a:stretch>
          </a:blipFill>
        </p:spPr>
        <p:txBody>
          <a:bodyPr wrap="square" lIns="0" tIns="0" rIns="0" bIns="0" rtlCol="0"/>
          <a:lstStyle/>
          <a:p>
            <a:endParaRPr/>
          </a:p>
        </p:txBody>
      </p:sp>
      <p:sp>
        <p:nvSpPr>
          <p:cNvPr id="11" name="object 11"/>
          <p:cNvSpPr txBox="1"/>
          <p:nvPr/>
        </p:nvSpPr>
        <p:spPr>
          <a:xfrm>
            <a:off x="722134" y="739533"/>
            <a:ext cx="6327775" cy="2064668"/>
          </a:xfrm>
          <a:prstGeom prst="rect">
            <a:avLst/>
          </a:prstGeom>
          <a:ln w="8153">
            <a:solidFill>
              <a:srgbClr val="000000"/>
            </a:solidFill>
          </a:ln>
        </p:spPr>
        <p:txBody>
          <a:bodyPr vert="horz" wrap="square" lIns="0" tIns="10160" rIns="0" bIns="0" rtlCol="0">
            <a:spAutoFit/>
          </a:bodyPr>
          <a:lstStyle/>
          <a:p>
            <a:pPr>
              <a:lnSpc>
                <a:spcPct val="100000"/>
              </a:lnSpc>
            </a:pPr>
            <a:endParaRPr sz="1200" dirty="0">
              <a:latin typeface="Times New Roman"/>
              <a:cs typeface="Times New Roman"/>
            </a:endParaRPr>
          </a:p>
          <a:p>
            <a:pPr>
              <a:lnSpc>
                <a:spcPct val="100000"/>
              </a:lnSpc>
            </a:pPr>
            <a:endParaRPr sz="1200" dirty="0">
              <a:latin typeface="Times New Roman"/>
              <a:cs typeface="Times New Roman"/>
            </a:endParaRPr>
          </a:p>
          <a:p>
            <a:pPr>
              <a:lnSpc>
                <a:spcPct val="100000"/>
              </a:lnSpc>
            </a:pPr>
            <a:endParaRPr sz="1200" dirty="0">
              <a:latin typeface="Times New Roman"/>
              <a:cs typeface="Times New Roman"/>
            </a:endParaRPr>
          </a:p>
          <a:p>
            <a:pPr>
              <a:lnSpc>
                <a:spcPct val="100000"/>
              </a:lnSpc>
            </a:pPr>
            <a:endParaRPr sz="1200" dirty="0">
              <a:latin typeface="Times New Roman"/>
              <a:cs typeface="Times New Roman"/>
            </a:endParaRPr>
          </a:p>
          <a:p>
            <a:pPr>
              <a:lnSpc>
                <a:spcPct val="100000"/>
              </a:lnSpc>
              <a:spcBef>
                <a:spcPts val="30"/>
              </a:spcBef>
            </a:pPr>
            <a:endParaRPr sz="1550" dirty="0">
              <a:latin typeface="Times New Roman"/>
              <a:cs typeface="Times New Roman"/>
            </a:endParaRPr>
          </a:p>
          <a:p>
            <a:pPr marL="1652270" marR="1607185">
              <a:lnSpc>
                <a:spcPts val="4240"/>
              </a:lnSpc>
            </a:pPr>
            <a:r>
              <a:rPr sz="4150" b="1" dirty="0">
                <a:solidFill>
                  <a:srgbClr val="FF0000"/>
                </a:solidFill>
                <a:latin typeface="Arial"/>
                <a:cs typeface="Arial"/>
              </a:rPr>
              <a:t>Summary of  </a:t>
            </a:r>
            <a:r>
              <a:rPr sz="4150" b="1" dirty="0" smtClean="0">
                <a:solidFill>
                  <a:srgbClr val="FF0000"/>
                </a:solidFill>
                <a:latin typeface="Arial"/>
                <a:cs typeface="Arial"/>
              </a:rPr>
              <a:t>Approaches</a:t>
            </a:r>
            <a:endParaRPr sz="4150" dirty="0">
              <a:latin typeface="Arial"/>
              <a:cs typeface="Arial"/>
            </a:endParaRPr>
          </a:p>
        </p:txBody>
      </p:sp>
      <p:sp>
        <p:nvSpPr>
          <p:cNvPr id="12" name="object 12"/>
          <p:cNvSpPr/>
          <p:nvPr/>
        </p:nvSpPr>
        <p:spPr>
          <a:xfrm>
            <a:off x="654799" y="5968"/>
            <a:ext cx="6463030" cy="5022850"/>
          </a:xfrm>
          <a:custGeom>
            <a:avLst/>
            <a:gdLst/>
            <a:ahLst/>
            <a:cxnLst/>
            <a:rect l="l" t="t" r="r" b="b"/>
            <a:pathLst>
              <a:path w="6463030" h="5022850">
                <a:moveTo>
                  <a:pt x="0" y="0"/>
                </a:moveTo>
                <a:lnTo>
                  <a:pt x="6462801" y="0"/>
                </a:lnTo>
                <a:lnTo>
                  <a:pt x="6462801" y="5022850"/>
                </a:lnTo>
                <a:lnTo>
                  <a:pt x="0" y="5022850"/>
                </a:lnTo>
                <a:lnTo>
                  <a:pt x="0" y="0"/>
                </a:lnTo>
                <a:close/>
              </a:path>
            </a:pathLst>
          </a:custGeom>
          <a:ln w="3175">
            <a:solidFill>
              <a:srgbClr val="000000"/>
            </a:solidFill>
          </a:ln>
        </p:spPr>
        <p:txBody>
          <a:bodyPr wrap="square" lIns="0" tIns="0" rIns="0" bIns="0" rtlCol="0"/>
          <a:lstStyle/>
          <a:p>
            <a:endParaRPr/>
          </a:p>
        </p:txBody>
      </p:sp>
      <p:sp>
        <p:nvSpPr>
          <p:cNvPr id="13" name="object 13"/>
          <p:cNvSpPr/>
          <p:nvPr/>
        </p:nvSpPr>
        <p:spPr>
          <a:xfrm>
            <a:off x="718299" y="5758535"/>
            <a:ext cx="6335801" cy="3563886"/>
          </a:xfrm>
          <a:prstGeom prst="rect">
            <a:avLst/>
          </a:prstGeom>
          <a:blipFill>
            <a:blip r:embed="rId4" cstate="print"/>
            <a:stretch>
              <a:fillRect/>
            </a:stretch>
          </a:blipFill>
        </p:spPr>
        <p:txBody>
          <a:bodyPr wrap="square" lIns="0" tIns="0" rIns="0" bIns="0" rtlCol="0"/>
          <a:lstStyle/>
          <a:p>
            <a:endParaRPr/>
          </a:p>
        </p:txBody>
      </p:sp>
      <p:sp>
        <p:nvSpPr>
          <p:cNvPr id="14" name="object 14"/>
          <p:cNvSpPr/>
          <p:nvPr/>
        </p:nvSpPr>
        <p:spPr>
          <a:xfrm>
            <a:off x="790778" y="8994597"/>
            <a:ext cx="6144895" cy="328295"/>
          </a:xfrm>
          <a:custGeom>
            <a:avLst/>
            <a:gdLst/>
            <a:ahLst/>
            <a:cxnLst/>
            <a:rect l="l" t="t" r="r" b="b"/>
            <a:pathLst>
              <a:path w="6144895" h="328295">
                <a:moveTo>
                  <a:pt x="0" y="327825"/>
                </a:moveTo>
                <a:lnTo>
                  <a:pt x="6144768" y="327825"/>
                </a:lnTo>
                <a:lnTo>
                  <a:pt x="6144768" y="0"/>
                </a:lnTo>
                <a:lnTo>
                  <a:pt x="0" y="0"/>
                </a:lnTo>
                <a:lnTo>
                  <a:pt x="0" y="327825"/>
                </a:lnTo>
                <a:close/>
              </a:path>
            </a:pathLst>
          </a:custGeom>
          <a:solidFill>
            <a:srgbClr val="FFFFFF"/>
          </a:solidFill>
        </p:spPr>
        <p:txBody>
          <a:bodyPr wrap="square" lIns="0" tIns="0" rIns="0" bIns="0" rtlCol="0"/>
          <a:lstStyle/>
          <a:p>
            <a:endParaRPr/>
          </a:p>
        </p:txBody>
      </p:sp>
      <p:sp>
        <p:nvSpPr>
          <p:cNvPr id="15" name="object 15"/>
          <p:cNvSpPr txBox="1"/>
          <p:nvPr/>
        </p:nvSpPr>
        <p:spPr>
          <a:xfrm>
            <a:off x="777815" y="5762434"/>
            <a:ext cx="4124960" cy="2769989"/>
          </a:xfrm>
          <a:prstGeom prst="rect">
            <a:avLst/>
          </a:prstGeom>
        </p:spPr>
        <p:txBody>
          <a:bodyPr vert="horz" wrap="square" lIns="0" tIns="0" rIns="0" bIns="0" rtlCol="0">
            <a:spAutoFit/>
          </a:bodyPr>
          <a:lstStyle/>
          <a:p>
            <a:pPr marL="751840">
              <a:lnSpc>
                <a:spcPct val="100000"/>
              </a:lnSpc>
            </a:pPr>
            <a:r>
              <a:rPr sz="2150" b="1" spc="15" dirty="0">
                <a:solidFill>
                  <a:srgbClr val="FFFFFF"/>
                </a:solidFill>
                <a:latin typeface="Arial"/>
                <a:cs typeface="Arial"/>
              </a:rPr>
              <a:t>Pros and</a:t>
            </a:r>
            <a:r>
              <a:rPr sz="2150" b="1" spc="-105" dirty="0">
                <a:solidFill>
                  <a:srgbClr val="FFFFFF"/>
                </a:solidFill>
                <a:latin typeface="Arial"/>
                <a:cs typeface="Arial"/>
              </a:rPr>
              <a:t> </a:t>
            </a:r>
            <a:r>
              <a:rPr sz="2150" b="1" spc="15" dirty="0">
                <a:solidFill>
                  <a:srgbClr val="FFFFFF"/>
                </a:solidFill>
                <a:latin typeface="Arial"/>
                <a:cs typeface="Arial"/>
              </a:rPr>
              <a:t>Cons</a:t>
            </a:r>
            <a:endParaRPr sz="2150" dirty="0">
              <a:latin typeface="Arial"/>
              <a:cs typeface="Arial"/>
            </a:endParaRPr>
          </a:p>
          <a:p>
            <a:pPr marL="205740" indent="-178435">
              <a:lnSpc>
                <a:spcPct val="100000"/>
              </a:lnSpc>
              <a:spcBef>
                <a:spcPts val="825"/>
              </a:spcBef>
              <a:buClr>
                <a:srgbClr val="CC0000"/>
              </a:buClr>
              <a:buFont typeface="Arial"/>
              <a:buChar char="•"/>
              <a:tabLst>
                <a:tab pos="206375" algn="l"/>
              </a:tabLst>
            </a:pPr>
            <a:r>
              <a:rPr sz="1200" b="1" spc="-5" dirty="0">
                <a:latin typeface="Arial"/>
                <a:cs typeface="Arial"/>
              </a:rPr>
              <a:t>Separate class that implements</a:t>
            </a:r>
            <a:r>
              <a:rPr sz="1200" b="1" spc="-60" dirty="0">
                <a:latin typeface="Arial"/>
                <a:cs typeface="Arial"/>
              </a:rPr>
              <a:t> </a:t>
            </a:r>
            <a:r>
              <a:rPr sz="1200" b="1" spc="-5" dirty="0">
                <a:latin typeface="Arial"/>
                <a:cs typeface="Arial"/>
              </a:rPr>
              <a:t>Runnable</a:t>
            </a:r>
            <a:endParaRPr sz="1200" dirty="0">
              <a:latin typeface="Arial"/>
              <a:cs typeface="Arial"/>
            </a:endParaRPr>
          </a:p>
          <a:p>
            <a:pPr marL="413384" lvl="1" indent="-147955">
              <a:lnSpc>
                <a:spcPct val="100000"/>
              </a:lnSpc>
              <a:spcBef>
                <a:spcPts val="270"/>
              </a:spcBef>
              <a:buClr>
                <a:srgbClr val="CC0000"/>
              </a:buClr>
              <a:buChar char="–"/>
              <a:tabLst>
                <a:tab pos="414020" algn="l"/>
              </a:tabLst>
            </a:pPr>
            <a:r>
              <a:rPr sz="1000" spc="15" dirty="0">
                <a:latin typeface="Times New Roman"/>
                <a:cs typeface="Times New Roman"/>
              </a:rPr>
              <a:t>Cannot easily access data in main class (and only public</a:t>
            </a:r>
            <a:r>
              <a:rPr sz="1000" spc="-120" dirty="0">
                <a:latin typeface="Times New Roman"/>
                <a:cs typeface="Times New Roman"/>
              </a:rPr>
              <a:t> </a:t>
            </a:r>
            <a:r>
              <a:rPr sz="1000" spc="15" dirty="0">
                <a:latin typeface="Times New Roman"/>
                <a:cs typeface="Times New Roman"/>
              </a:rPr>
              <a:t>data)</a:t>
            </a:r>
            <a:endParaRPr sz="1000" dirty="0">
              <a:latin typeface="Times New Roman"/>
              <a:cs typeface="Times New Roman"/>
            </a:endParaRPr>
          </a:p>
          <a:p>
            <a:pPr marL="413384" lvl="1" indent="-147955">
              <a:lnSpc>
                <a:spcPct val="100000"/>
              </a:lnSpc>
              <a:spcBef>
                <a:spcPts val="290"/>
              </a:spcBef>
              <a:buClr>
                <a:srgbClr val="CC0000"/>
              </a:buClr>
              <a:buChar char="–"/>
              <a:tabLst>
                <a:tab pos="414020" algn="l"/>
              </a:tabLst>
            </a:pPr>
            <a:r>
              <a:rPr sz="1000" spc="20" dirty="0">
                <a:latin typeface="Times New Roman"/>
                <a:cs typeface="Times New Roman"/>
              </a:rPr>
              <a:t>Can </a:t>
            </a:r>
            <a:r>
              <a:rPr sz="1000" spc="15" dirty="0">
                <a:latin typeface="Times New Roman"/>
                <a:cs typeface="Times New Roman"/>
              </a:rPr>
              <a:t>pass args to run </a:t>
            </a:r>
            <a:r>
              <a:rPr sz="1000" spc="10" dirty="0">
                <a:latin typeface="Times New Roman"/>
                <a:cs typeface="Times New Roman"/>
              </a:rPr>
              <a:t>(indirectly via </a:t>
            </a:r>
            <a:r>
              <a:rPr sz="1000" spc="15" dirty="0">
                <a:latin typeface="Times New Roman"/>
                <a:cs typeface="Times New Roman"/>
              </a:rPr>
              <a:t>constructor and instance</a:t>
            </a:r>
            <a:r>
              <a:rPr sz="1000" spc="-100" dirty="0">
                <a:latin typeface="Times New Roman"/>
                <a:cs typeface="Times New Roman"/>
              </a:rPr>
              <a:t> </a:t>
            </a:r>
            <a:r>
              <a:rPr sz="1000" spc="15" dirty="0">
                <a:latin typeface="Times New Roman"/>
                <a:cs typeface="Times New Roman"/>
              </a:rPr>
              <a:t>variables)</a:t>
            </a:r>
            <a:endParaRPr sz="1000" dirty="0">
              <a:latin typeface="Times New Roman"/>
              <a:cs typeface="Times New Roman"/>
            </a:endParaRPr>
          </a:p>
          <a:p>
            <a:pPr marL="413384" lvl="1" indent="-147955">
              <a:lnSpc>
                <a:spcPct val="100000"/>
              </a:lnSpc>
              <a:spcBef>
                <a:spcPts val="285"/>
              </a:spcBef>
              <a:buClr>
                <a:srgbClr val="CC0000"/>
              </a:buClr>
              <a:buChar char="–"/>
              <a:tabLst>
                <a:tab pos="414020" algn="l"/>
              </a:tabLst>
            </a:pPr>
            <a:r>
              <a:rPr sz="1000" spc="15" dirty="0">
                <a:latin typeface="Times New Roman"/>
                <a:cs typeface="Times New Roman"/>
              </a:rPr>
              <a:t>Usually no worry about race</a:t>
            </a:r>
            <a:r>
              <a:rPr sz="1000" spc="-75" dirty="0">
                <a:latin typeface="Times New Roman"/>
                <a:cs typeface="Times New Roman"/>
              </a:rPr>
              <a:t> </a:t>
            </a:r>
            <a:r>
              <a:rPr sz="1000" spc="15" dirty="0">
                <a:latin typeface="Times New Roman"/>
                <a:cs typeface="Times New Roman"/>
              </a:rPr>
              <a:t>conditions</a:t>
            </a:r>
            <a:endParaRPr sz="1000" dirty="0">
              <a:latin typeface="Times New Roman"/>
              <a:cs typeface="Times New Roman"/>
            </a:endParaRPr>
          </a:p>
          <a:p>
            <a:pPr marL="205740" indent="-178435">
              <a:lnSpc>
                <a:spcPct val="100000"/>
              </a:lnSpc>
              <a:spcBef>
                <a:spcPts val="225"/>
              </a:spcBef>
              <a:buClr>
                <a:srgbClr val="CC0000"/>
              </a:buClr>
              <a:buFont typeface="Arial"/>
              <a:buChar char="•"/>
              <a:tabLst>
                <a:tab pos="206375" algn="l"/>
              </a:tabLst>
            </a:pPr>
            <a:r>
              <a:rPr sz="1200" b="1" spc="-5" dirty="0">
                <a:latin typeface="Arial"/>
                <a:cs typeface="Arial"/>
              </a:rPr>
              <a:t>Main class implements</a:t>
            </a:r>
            <a:r>
              <a:rPr sz="1200" b="1" spc="-85" dirty="0">
                <a:latin typeface="Arial"/>
                <a:cs typeface="Arial"/>
              </a:rPr>
              <a:t> </a:t>
            </a:r>
            <a:r>
              <a:rPr sz="1200" b="1" spc="-5" dirty="0">
                <a:latin typeface="Arial"/>
                <a:cs typeface="Arial"/>
              </a:rPr>
              <a:t>Runnable</a:t>
            </a:r>
            <a:endParaRPr sz="1200" dirty="0">
              <a:latin typeface="Arial"/>
              <a:cs typeface="Arial"/>
            </a:endParaRPr>
          </a:p>
          <a:p>
            <a:pPr marL="413384" lvl="1" indent="-147955">
              <a:lnSpc>
                <a:spcPct val="100000"/>
              </a:lnSpc>
              <a:spcBef>
                <a:spcPts val="275"/>
              </a:spcBef>
              <a:buClr>
                <a:srgbClr val="CC0000"/>
              </a:buClr>
              <a:buChar char="–"/>
              <a:tabLst>
                <a:tab pos="414020" algn="l"/>
              </a:tabLst>
            </a:pPr>
            <a:r>
              <a:rPr sz="1000" spc="15" dirty="0">
                <a:latin typeface="Times New Roman"/>
                <a:cs typeface="Times New Roman"/>
              </a:rPr>
              <a:t>Can easily access </a:t>
            </a:r>
            <a:r>
              <a:rPr sz="1000" spc="10" dirty="0">
                <a:latin typeface="Times New Roman"/>
                <a:cs typeface="Times New Roman"/>
              </a:rPr>
              <a:t>data </a:t>
            </a:r>
            <a:r>
              <a:rPr sz="1000" spc="15" dirty="0">
                <a:latin typeface="Times New Roman"/>
                <a:cs typeface="Times New Roman"/>
              </a:rPr>
              <a:t>in main</a:t>
            </a:r>
            <a:r>
              <a:rPr sz="1000" spc="-90" dirty="0">
                <a:latin typeface="Times New Roman"/>
                <a:cs typeface="Times New Roman"/>
              </a:rPr>
              <a:t> </a:t>
            </a:r>
            <a:r>
              <a:rPr sz="1000" spc="10" dirty="0">
                <a:latin typeface="Times New Roman"/>
                <a:cs typeface="Times New Roman"/>
              </a:rPr>
              <a:t>class</a:t>
            </a:r>
            <a:endParaRPr sz="1000" dirty="0">
              <a:latin typeface="Times New Roman"/>
              <a:cs typeface="Times New Roman"/>
            </a:endParaRPr>
          </a:p>
          <a:p>
            <a:pPr marL="413384" lvl="1" indent="-147955">
              <a:lnSpc>
                <a:spcPct val="100000"/>
              </a:lnSpc>
              <a:spcBef>
                <a:spcPts val="285"/>
              </a:spcBef>
              <a:buClr>
                <a:srgbClr val="CC0000"/>
              </a:buClr>
              <a:buChar char="–"/>
              <a:tabLst>
                <a:tab pos="414020" algn="l"/>
              </a:tabLst>
            </a:pPr>
            <a:r>
              <a:rPr sz="1000" spc="15" dirty="0">
                <a:latin typeface="Times New Roman"/>
                <a:cs typeface="Times New Roman"/>
              </a:rPr>
              <a:t>Cannot pass args to</a:t>
            </a:r>
            <a:r>
              <a:rPr sz="1000" spc="-85" dirty="0">
                <a:latin typeface="Times New Roman"/>
                <a:cs typeface="Times New Roman"/>
              </a:rPr>
              <a:t> </a:t>
            </a:r>
            <a:r>
              <a:rPr sz="1000" spc="15" dirty="0">
                <a:latin typeface="Times New Roman"/>
                <a:cs typeface="Times New Roman"/>
              </a:rPr>
              <a:t>run</a:t>
            </a:r>
            <a:endParaRPr sz="1000" dirty="0">
              <a:latin typeface="Times New Roman"/>
              <a:cs typeface="Times New Roman"/>
            </a:endParaRPr>
          </a:p>
          <a:p>
            <a:pPr marL="413384" lvl="1" indent="-147955">
              <a:lnSpc>
                <a:spcPct val="100000"/>
              </a:lnSpc>
              <a:spcBef>
                <a:spcPts val="285"/>
              </a:spcBef>
              <a:buClr>
                <a:srgbClr val="CC0000"/>
              </a:buClr>
              <a:buChar char="–"/>
              <a:tabLst>
                <a:tab pos="414020" algn="l"/>
              </a:tabLst>
            </a:pPr>
            <a:r>
              <a:rPr sz="1000" spc="20" dirty="0">
                <a:latin typeface="Times New Roman"/>
                <a:cs typeface="Times New Roman"/>
              </a:rPr>
              <a:t>Must </a:t>
            </a:r>
            <a:r>
              <a:rPr sz="1000" spc="15" dirty="0">
                <a:latin typeface="Times New Roman"/>
                <a:cs typeface="Times New Roman"/>
              </a:rPr>
              <a:t>worry about race</a:t>
            </a:r>
            <a:r>
              <a:rPr sz="1000" spc="-100" dirty="0">
                <a:latin typeface="Times New Roman"/>
                <a:cs typeface="Times New Roman"/>
              </a:rPr>
              <a:t> </a:t>
            </a:r>
            <a:r>
              <a:rPr sz="1000" spc="15" dirty="0">
                <a:latin typeface="Times New Roman"/>
                <a:cs typeface="Times New Roman"/>
              </a:rPr>
              <a:t>conditions</a:t>
            </a:r>
            <a:endParaRPr sz="1000" dirty="0">
              <a:latin typeface="Times New Roman"/>
              <a:cs typeface="Times New Roman"/>
            </a:endParaRPr>
          </a:p>
          <a:p>
            <a:pPr marL="205740" indent="-178435">
              <a:lnSpc>
                <a:spcPct val="100000"/>
              </a:lnSpc>
              <a:spcBef>
                <a:spcPts val="225"/>
              </a:spcBef>
              <a:buClr>
                <a:srgbClr val="CC0000"/>
              </a:buClr>
              <a:buFont typeface="Arial"/>
              <a:buChar char="•"/>
              <a:tabLst>
                <a:tab pos="206375" algn="l"/>
              </a:tabLst>
            </a:pPr>
            <a:r>
              <a:rPr sz="1200" b="1" spc="-5" dirty="0">
                <a:latin typeface="Arial"/>
                <a:cs typeface="Arial"/>
              </a:rPr>
              <a:t>Inner class implements</a:t>
            </a:r>
            <a:r>
              <a:rPr sz="1200" b="1" spc="-85" dirty="0">
                <a:latin typeface="Arial"/>
                <a:cs typeface="Arial"/>
              </a:rPr>
              <a:t> </a:t>
            </a:r>
            <a:r>
              <a:rPr sz="1200" b="1" spc="-5" dirty="0">
                <a:latin typeface="Arial"/>
                <a:cs typeface="Arial"/>
              </a:rPr>
              <a:t>Runnable</a:t>
            </a:r>
            <a:endParaRPr sz="1200" dirty="0">
              <a:latin typeface="Arial"/>
              <a:cs typeface="Arial"/>
            </a:endParaRPr>
          </a:p>
          <a:p>
            <a:pPr marL="413384" lvl="1" indent="-147955">
              <a:lnSpc>
                <a:spcPct val="100000"/>
              </a:lnSpc>
              <a:spcBef>
                <a:spcPts val="270"/>
              </a:spcBef>
              <a:buClr>
                <a:srgbClr val="CC0000"/>
              </a:buClr>
              <a:buChar char="–"/>
              <a:tabLst>
                <a:tab pos="414020" algn="l"/>
              </a:tabLst>
            </a:pPr>
            <a:r>
              <a:rPr sz="1000" spc="15" dirty="0">
                <a:latin typeface="Times New Roman"/>
                <a:cs typeface="Times New Roman"/>
              </a:rPr>
              <a:t>Can easily access </a:t>
            </a:r>
            <a:r>
              <a:rPr sz="1000" spc="10" dirty="0">
                <a:latin typeface="Times New Roman"/>
                <a:cs typeface="Times New Roman"/>
              </a:rPr>
              <a:t>data </a:t>
            </a:r>
            <a:r>
              <a:rPr sz="1000" spc="15" dirty="0">
                <a:latin typeface="Times New Roman"/>
                <a:cs typeface="Times New Roman"/>
              </a:rPr>
              <a:t>in main</a:t>
            </a:r>
            <a:r>
              <a:rPr sz="1000" spc="-90" dirty="0">
                <a:latin typeface="Times New Roman"/>
                <a:cs typeface="Times New Roman"/>
              </a:rPr>
              <a:t> </a:t>
            </a:r>
            <a:r>
              <a:rPr sz="1000" spc="10" dirty="0">
                <a:latin typeface="Times New Roman"/>
                <a:cs typeface="Times New Roman"/>
              </a:rPr>
              <a:t>class</a:t>
            </a:r>
            <a:endParaRPr sz="1000" dirty="0">
              <a:latin typeface="Times New Roman"/>
              <a:cs typeface="Times New Roman"/>
            </a:endParaRPr>
          </a:p>
          <a:p>
            <a:pPr marL="413384" lvl="1" indent="-147955">
              <a:lnSpc>
                <a:spcPct val="100000"/>
              </a:lnSpc>
              <a:spcBef>
                <a:spcPts val="290"/>
              </a:spcBef>
              <a:buClr>
                <a:srgbClr val="CC0000"/>
              </a:buClr>
              <a:buChar char="–"/>
              <a:tabLst>
                <a:tab pos="414020" algn="l"/>
              </a:tabLst>
            </a:pPr>
            <a:r>
              <a:rPr sz="1000" spc="20" dirty="0">
                <a:latin typeface="Times New Roman"/>
                <a:cs typeface="Times New Roman"/>
              </a:rPr>
              <a:t>Can </a:t>
            </a:r>
            <a:r>
              <a:rPr sz="1000" spc="15" dirty="0">
                <a:latin typeface="Times New Roman"/>
                <a:cs typeface="Times New Roman"/>
              </a:rPr>
              <a:t>pass args to run </a:t>
            </a:r>
            <a:r>
              <a:rPr sz="1000" spc="10" dirty="0">
                <a:latin typeface="Times New Roman"/>
                <a:cs typeface="Times New Roman"/>
              </a:rPr>
              <a:t>(indirectly via </a:t>
            </a:r>
            <a:r>
              <a:rPr sz="1000" spc="15" dirty="0">
                <a:latin typeface="Times New Roman"/>
                <a:cs typeface="Times New Roman"/>
              </a:rPr>
              <a:t>constructor and instance</a:t>
            </a:r>
            <a:r>
              <a:rPr sz="1000" spc="-100" dirty="0">
                <a:latin typeface="Times New Roman"/>
                <a:cs typeface="Times New Roman"/>
              </a:rPr>
              <a:t> </a:t>
            </a:r>
            <a:r>
              <a:rPr sz="1000" spc="15" dirty="0">
                <a:latin typeface="Times New Roman"/>
                <a:cs typeface="Times New Roman"/>
              </a:rPr>
              <a:t>variables)</a:t>
            </a:r>
            <a:endParaRPr sz="1000" dirty="0">
              <a:latin typeface="Times New Roman"/>
              <a:cs typeface="Times New Roman"/>
            </a:endParaRPr>
          </a:p>
          <a:p>
            <a:pPr marL="413384" lvl="1" indent="-147955">
              <a:lnSpc>
                <a:spcPct val="100000"/>
              </a:lnSpc>
              <a:spcBef>
                <a:spcPts val="285"/>
              </a:spcBef>
              <a:buClr>
                <a:srgbClr val="CC0000"/>
              </a:buClr>
              <a:buChar char="–"/>
              <a:tabLst>
                <a:tab pos="414020" algn="l"/>
              </a:tabLst>
            </a:pPr>
            <a:r>
              <a:rPr sz="1000" spc="20" dirty="0">
                <a:latin typeface="Times New Roman"/>
                <a:cs typeface="Times New Roman"/>
              </a:rPr>
              <a:t>Must </a:t>
            </a:r>
            <a:r>
              <a:rPr sz="1000" spc="15" dirty="0">
                <a:latin typeface="Times New Roman"/>
                <a:cs typeface="Times New Roman"/>
              </a:rPr>
              <a:t>worry about race</a:t>
            </a:r>
            <a:r>
              <a:rPr sz="1000" spc="-100" dirty="0">
                <a:latin typeface="Times New Roman"/>
                <a:cs typeface="Times New Roman"/>
              </a:rPr>
              <a:t> </a:t>
            </a:r>
            <a:r>
              <a:rPr sz="1000" spc="15" dirty="0" smtClean="0">
                <a:latin typeface="Times New Roman"/>
                <a:cs typeface="Times New Roman"/>
              </a:rPr>
              <a:t>conditions</a:t>
            </a:r>
            <a:endParaRPr sz="1000" dirty="0">
              <a:latin typeface="Times New Roman"/>
              <a:cs typeface="Times New Roman"/>
            </a:endParaRPr>
          </a:p>
        </p:txBody>
      </p:sp>
      <p:sp>
        <p:nvSpPr>
          <p:cNvPr id="16" name="object 16"/>
          <p:cNvSpPr/>
          <p:nvPr/>
        </p:nvSpPr>
        <p:spPr>
          <a:xfrm>
            <a:off x="722134" y="5762371"/>
            <a:ext cx="6327775" cy="3556000"/>
          </a:xfrm>
          <a:custGeom>
            <a:avLst/>
            <a:gdLst/>
            <a:ahLst/>
            <a:cxnLst/>
            <a:rect l="l" t="t" r="r" b="b"/>
            <a:pathLst>
              <a:path w="6327775" h="3556000">
                <a:moveTo>
                  <a:pt x="6327648" y="0"/>
                </a:moveTo>
                <a:lnTo>
                  <a:pt x="0" y="0"/>
                </a:lnTo>
                <a:lnTo>
                  <a:pt x="0" y="3555733"/>
                </a:lnTo>
                <a:lnTo>
                  <a:pt x="6327648" y="3555733"/>
                </a:lnTo>
                <a:lnTo>
                  <a:pt x="6327648" y="0"/>
                </a:lnTo>
                <a:close/>
              </a:path>
            </a:pathLst>
          </a:custGeom>
          <a:ln w="8153">
            <a:solidFill>
              <a:srgbClr val="000000"/>
            </a:solidFill>
          </a:ln>
        </p:spPr>
        <p:txBody>
          <a:bodyPr wrap="square" lIns="0" tIns="0" rIns="0" bIns="0" rtlCol="0"/>
          <a:lstStyle/>
          <a:p>
            <a:endParaRPr/>
          </a:p>
        </p:txBody>
      </p:sp>
      <p:sp>
        <p:nvSpPr>
          <p:cNvPr id="17" name="object 17"/>
          <p:cNvSpPr/>
          <p:nvPr/>
        </p:nvSpPr>
        <p:spPr>
          <a:xfrm>
            <a:off x="654799" y="5028819"/>
            <a:ext cx="6463030" cy="5022850"/>
          </a:xfrm>
          <a:custGeom>
            <a:avLst/>
            <a:gdLst/>
            <a:ahLst/>
            <a:cxnLst/>
            <a:rect l="l" t="t" r="r" b="b"/>
            <a:pathLst>
              <a:path w="6463030" h="5022850">
                <a:moveTo>
                  <a:pt x="0" y="0"/>
                </a:moveTo>
                <a:lnTo>
                  <a:pt x="6462801" y="0"/>
                </a:lnTo>
                <a:lnTo>
                  <a:pt x="6462801" y="5022850"/>
                </a:lnTo>
                <a:lnTo>
                  <a:pt x="0" y="5022850"/>
                </a:lnTo>
                <a:lnTo>
                  <a:pt x="0" y="0"/>
                </a:lnTo>
                <a:close/>
              </a:path>
            </a:pathLst>
          </a:custGeom>
          <a:ln w="3175">
            <a:solidFill>
              <a:srgbClr val="000000"/>
            </a:solidFill>
          </a:ln>
        </p:spPr>
        <p:txBody>
          <a:bodyPr wrap="square" lIns="0" tIns="0" rIns="0" bIns="0" rtlCol="0"/>
          <a:lstStyle/>
          <a:p>
            <a:endParaRPr/>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722134" y="739533"/>
            <a:ext cx="6327775" cy="3556000"/>
          </a:xfrm>
          <a:prstGeom prst="rect">
            <a:avLst/>
          </a:prstGeom>
          <a:ln w="8153">
            <a:solidFill>
              <a:srgbClr val="000000"/>
            </a:solidFill>
          </a:ln>
        </p:spPr>
        <p:txBody>
          <a:bodyPr vert="horz" wrap="square" lIns="0" tIns="0" rIns="0" bIns="0" rtlCol="0">
            <a:spAutoFit/>
          </a:bodyPr>
          <a:lstStyle/>
          <a:p>
            <a:pPr marL="803275">
              <a:lnSpc>
                <a:spcPts val="2550"/>
              </a:lnSpc>
            </a:pPr>
            <a:r>
              <a:rPr sz="2150" b="1" spc="15" dirty="0">
                <a:solidFill>
                  <a:srgbClr val="FFFFFF"/>
                </a:solidFill>
                <a:latin typeface="Arial"/>
                <a:cs typeface="Arial"/>
              </a:rPr>
              <a:t>Methods </a:t>
            </a:r>
            <a:r>
              <a:rPr sz="2150" b="1" spc="10" dirty="0">
                <a:solidFill>
                  <a:srgbClr val="FFFFFF"/>
                </a:solidFill>
                <a:latin typeface="Arial"/>
                <a:cs typeface="Arial"/>
              </a:rPr>
              <a:t>in </a:t>
            </a:r>
            <a:r>
              <a:rPr sz="2150" b="1" spc="15" dirty="0">
                <a:solidFill>
                  <a:srgbClr val="FFFFFF"/>
                </a:solidFill>
                <a:latin typeface="Arial"/>
                <a:cs typeface="Arial"/>
              </a:rPr>
              <a:t>Thread</a:t>
            </a:r>
            <a:r>
              <a:rPr sz="2150" b="1" spc="-95" dirty="0">
                <a:solidFill>
                  <a:srgbClr val="FFFFFF"/>
                </a:solidFill>
                <a:latin typeface="Arial"/>
                <a:cs typeface="Arial"/>
              </a:rPr>
              <a:t> </a:t>
            </a:r>
            <a:r>
              <a:rPr sz="2150" b="1" spc="10" dirty="0">
                <a:solidFill>
                  <a:srgbClr val="FFFFFF"/>
                </a:solidFill>
                <a:latin typeface="Arial"/>
                <a:cs typeface="Arial"/>
              </a:rPr>
              <a:t>Class</a:t>
            </a:r>
            <a:endParaRPr sz="2150" dirty="0">
              <a:latin typeface="Arial"/>
              <a:cs typeface="Arial"/>
            </a:endParaRPr>
          </a:p>
          <a:p>
            <a:pPr marL="257175" indent="-177800">
              <a:lnSpc>
                <a:spcPct val="100000"/>
              </a:lnSpc>
              <a:spcBef>
                <a:spcPts val="950"/>
              </a:spcBef>
              <a:buClr>
                <a:srgbClr val="CC0000"/>
              </a:buClr>
              <a:buFont typeface="Arial"/>
              <a:buChar char="•"/>
              <a:tabLst>
                <a:tab pos="257810" algn="l"/>
              </a:tabLst>
            </a:pPr>
            <a:r>
              <a:rPr sz="1550" b="1" dirty="0">
                <a:latin typeface="Arial"/>
                <a:cs typeface="Arial"/>
              </a:rPr>
              <a:t>Thread.currentThread()</a:t>
            </a:r>
            <a:endParaRPr sz="1550" dirty="0">
              <a:latin typeface="Arial"/>
              <a:cs typeface="Arial"/>
            </a:endParaRPr>
          </a:p>
          <a:p>
            <a:pPr marL="464820" lvl="1" indent="-147955">
              <a:lnSpc>
                <a:spcPct val="100000"/>
              </a:lnSpc>
              <a:spcBef>
                <a:spcPts val="345"/>
              </a:spcBef>
              <a:buClr>
                <a:srgbClr val="CC0000"/>
              </a:buClr>
              <a:buChar char="–"/>
              <a:tabLst>
                <a:tab pos="465455" algn="l"/>
              </a:tabLst>
            </a:pPr>
            <a:r>
              <a:rPr sz="1350" spc="-5" dirty="0">
                <a:latin typeface="Times New Roman"/>
                <a:cs typeface="Times New Roman"/>
              </a:rPr>
              <a:t>Gives instance of Thread running current</a:t>
            </a:r>
            <a:r>
              <a:rPr sz="1350" spc="-55" dirty="0">
                <a:latin typeface="Times New Roman"/>
                <a:cs typeface="Times New Roman"/>
              </a:rPr>
              <a:t> </a:t>
            </a:r>
            <a:r>
              <a:rPr sz="1350" spc="-5" dirty="0">
                <a:latin typeface="Times New Roman"/>
                <a:cs typeface="Times New Roman"/>
              </a:rPr>
              <a:t>code</a:t>
            </a:r>
            <a:endParaRPr sz="1350" dirty="0">
              <a:latin typeface="Times New Roman"/>
              <a:cs typeface="Times New Roman"/>
            </a:endParaRPr>
          </a:p>
          <a:p>
            <a:pPr marL="257175" indent="-177800">
              <a:lnSpc>
                <a:spcPct val="100000"/>
              </a:lnSpc>
              <a:spcBef>
                <a:spcPts val="355"/>
              </a:spcBef>
              <a:buClr>
                <a:srgbClr val="CC0000"/>
              </a:buClr>
              <a:buFont typeface="Arial"/>
              <a:buChar char="•"/>
              <a:tabLst>
                <a:tab pos="257810" algn="l"/>
              </a:tabLst>
            </a:pPr>
            <a:r>
              <a:rPr sz="1550" b="1" dirty="0">
                <a:latin typeface="Arial"/>
                <a:cs typeface="Arial"/>
              </a:rPr>
              <a:t>Thread.sleep(milliseconds)</a:t>
            </a:r>
            <a:endParaRPr sz="1550" dirty="0">
              <a:latin typeface="Arial"/>
              <a:cs typeface="Arial"/>
            </a:endParaRPr>
          </a:p>
          <a:p>
            <a:pPr marL="464820" marR="123189" lvl="1" indent="-147955">
              <a:lnSpc>
                <a:spcPts val="1600"/>
              </a:lnSpc>
              <a:spcBef>
                <a:spcPts val="420"/>
              </a:spcBef>
              <a:buClr>
                <a:srgbClr val="CC0000"/>
              </a:buClr>
              <a:buChar char="–"/>
              <a:tabLst>
                <a:tab pos="465455" algn="l"/>
              </a:tabLst>
            </a:pPr>
            <a:r>
              <a:rPr sz="1350" spc="-5" dirty="0">
                <a:latin typeface="Times New Roman"/>
                <a:cs typeface="Times New Roman"/>
              </a:rPr>
              <a:t>Puts calling code to sleep. Useful for non-busy waiting in all kinds of code, not just  multithreaded code. You must catch InterruptedException, but you can ignore</a:t>
            </a:r>
            <a:r>
              <a:rPr sz="1350" dirty="0">
                <a:latin typeface="Times New Roman"/>
                <a:cs typeface="Times New Roman"/>
              </a:rPr>
              <a:t> </a:t>
            </a:r>
            <a:r>
              <a:rPr sz="1350" spc="-5" dirty="0">
                <a:latin typeface="Times New Roman"/>
                <a:cs typeface="Times New Roman"/>
              </a:rPr>
              <a:t>it:</a:t>
            </a:r>
            <a:endParaRPr sz="1350" dirty="0">
              <a:latin typeface="Times New Roman"/>
              <a:cs typeface="Times New Roman"/>
            </a:endParaRPr>
          </a:p>
          <a:p>
            <a:pPr marL="554355" marR="2346960">
              <a:lnSpc>
                <a:spcPts val="1360"/>
              </a:lnSpc>
              <a:spcBef>
                <a:spcPts val="114"/>
              </a:spcBef>
            </a:pPr>
            <a:r>
              <a:rPr sz="1150" b="1" spc="-5" dirty="0">
                <a:latin typeface="Courier New"/>
                <a:cs typeface="Courier New"/>
              </a:rPr>
              <a:t>try { Thread.sleep(someMilliseconds); }  catch (InterruptedException ie) {</a:t>
            </a:r>
            <a:r>
              <a:rPr sz="1150" b="1" spc="-45" dirty="0">
                <a:latin typeface="Courier New"/>
                <a:cs typeface="Courier New"/>
              </a:rPr>
              <a:t> </a:t>
            </a:r>
            <a:r>
              <a:rPr sz="1150" b="1" spc="-5" dirty="0">
                <a:latin typeface="Courier New"/>
                <a:cs typeface="Courier New"/>
              </a:rPr>
              <a:t>}</a:t>
            </a:r>
            <a:endParaRPr sz="1150" dirty="0">
              <a:latin typeface="Courier New"/>
              <a:cs typeface="Courier New"/>
            </a:endParaRPr>
          </a:p>
          <a:p>
            <a:pPr marL="464820" lvl="1" indent="-147955">
              <a:lnSpc>
                <a:spcPct val="100000"/>
              </a:lnSpc>
              <a:spcBef>
                <a:spcPts val="385"/>
              </a:spcBef>
              <a:buClr>
                <a:srgbClr val="CC0000"/>
              </a:buClr>
              <a:buChar char="–"/>
              <a:tabLst>
                <a:tab pos="465455" algn="l"/>
              </a:tabLst>
            </a:pPr>
            <a:r>
              <a:rPr sz="1350" spc="-5" dirty="0">
                <a:latin typeface="Times New Roman"/>
                <a:cs typeface="Times New Roman"/>
              </a:rPr>
              <a:t>See also TimeUnit.SECONDS.sleep, TimeUnit.MINUTES.sleep,</a:t>
            </a:r>
            <a:r>
              <a:rPr sz="1350" spc="-40" dirty="0">
                <a:latin typeface="Times New Roman"/>
                <a:cs typeface="Times New Roman"/>
              </a:rPr>
              <a:t> </a:t>
            </a:r>
            <a:r>
              <a:rPr sz="1350" spc="-5" dirty="0">
                <a:latin typeface="Times New Roman"/>
                <a:cs typeface="Times New Roman"/>
              </a:rPr>
              <a:t>etc.</a:t>
            </a:r>
            <a:endParaRPr sz="1350" dirty="0">
              <a:latin typeface="Times New Roman"/>
              <a:cs typeface="Times New Roman"/>
            </a:endParaRPr>
          </a:p>
          <a:p>
            <a:pPr marL="673100" lvl="2" indent="-118745">
              <a:lnSpc>
                <a:spcPct val="100000"/>
              </a:lnSpc>
              <a:spcBef>
                <a:spcPts val="200"/>
              </a:spcBef>
              <a:buClr>
                <a:srgbClr val="CC0000"/>
              </a:buClr>
              <a:buChar char="•"/>
              <a:tabLst>
                <a:tab pos="673735" algn="l"/>
              </a:tabLst>
            </a:pPr>
            <a:r>
              <a:rPr sz="1150" spc="-5" dirty="0">
                <a:latin typeface="Arial"/>
                <a:cs typeface="Arial"/>
              </a:rPr>
              <a:t>Same idea except takes sleep time in different</a:t>
            </a:r>
            <a:r>
              <a:rPr sz="1150" spc="-10" dirty="0">
                <a:latin typeface="Arial"/>
                <a:cs typeface="Arial"/>
              </a:rPr>
              <a:t> </a:t>
            </a:r>
            <a:r>
              <a:rPr sz="1150" spc="-5" dirty="0">
                <a:latin typeface="Arial"/>
                <a:cs typeface="Arial"/>
              </a:rPr>
              <a:t>units.</a:t>
            </a:r>
            <a:endParaRPr sz="1150" dirty="0">
              <a:latin typeface="Arial"/>
              <a:cs typeface="Arial"/>
            </a:endParaRPr>
          </a:p>
          <a:p>
            <a:pPr marL="257175" indent="-177800">
              <a:lnSpc>
                <a:spcPct val="100000"/>
              </a:lnSpc>
              <a:spcBef>
                <a:spcPts val="340"/>
              </a:spcBef>
              <a:buClr>
                <a:srgbClr val="CC0000"/>
              </a:buClr>
              <a:buFont typeface="Arial"/>
              <a:buChar char="•"/>
              <a:tabLst>
                <a:tab pos="257810" algn="l"/>
              </a:tabLst>
            </a:pPr>
            <a:r>
              <a:rPr sz="1550" b="1" dirty="0">
                <a:latin typeface="Arial"/>
                <a:cs typeface="Arial"/>
              </a:rPr>
              <a:t>someThread.getName(),</a:t>
            </a:r>
            <a:r>
              <a:rPr sz="1550" b="1" spc="-70" dirty="0">
                <a:latin typeface="Arial"/>
                <a:cs typeface="Arial"/>
              </a:rPr>
              <a:t> </a:t>
            </a:r>
            <a:r>
              <a:rPr sz="1550" b="1" dirty="0">
                <a:latin typeface="Arial"/>
                <a:cs typeface="Arial"/>
              </a:rPr>
              <a:t>someThread.getId()</a:t>
            </a:r>
            <a:endParaRPr sz="1550" dirty="0">
              <a:latin typeface="Arial"/>
              <a:cs typeface="Arial"/>
            </a:endParaRPr>
          </a:p>
          <a:p>
            <a:pPr marL="464820" lvl="1" indent="-147955">
              <a:lnSpc>
                <a:spcPct val="100000"/>
              </a:lnSpc>
              <a:spcBef>
                <a:spcPts val="350"/>
              </a:spcBef>
              <a:buClr>
                <a:srgbClr val="CC0000"/>
              </a:buClr>
              <a:buChar char="–"/>
              <a:tabLst>
                <a:tab pos="465455" algn="l"/>
              </a:tabLst>
            </a:pPr>
            <a:r>
              <a:rPr sz="1350" spc="-5" dirty="0">
                <a:latin typeface="Times New Roman"/>
                <a:cs typeface="Times New Roman"/>
              </a:rPr>
              <a:t>Useful for printing/debugging, to tell threads</a:t>
            </a:r>
            <a:r>
              <a:rPr sz="1350" spc="-25" dirty="0">
                <a:latin typeface="Times New Roman"/>
                <a:cs typeface="Times New Roman"/>
              </a:rPr>
              <a:t> </a:t>
            </a:r>
            <a:r>
              <a:rPr sz="1350" spc="-5" dirty="0">
                <a:latin typeface="Times New Roman"/>
                <a:cs typeface="Times New Roman"/>
              </a:rPr>
              <a:t>apart</a:t>
            </a:r>
            <a:endParaRPr sz="1350" dirty="0">
              <a:latin typeface="Times New Roman"/>
              <a:cs typeface="Times New Roman"/>
            </a:endParaRPr>
          </a:p>
          <a:p>
            <a:pPr>
              <a:lnSpc>
                <a:spcPct val="100000"/>
              </a:lnSpc>
            </a:pPr>
            <a:endParaRPr sz="1300" dirty="0">
              <a:latin typeface="Times New Roman"/>
              <a:cs typeface="Times New Roman"/>
            </a:endParaRPr>
          </a:p>
          <a:p>
            <a:pPr>
              <a:lnSpc>
                <a:spcPct val="100000"/>
              </a:lnSpc>
            </a:pPr>
            <a:endParaRPr sz="1400" dirty="0">
              <a:latin typeface="Times New Roman"/>
              <a:cs typeface="Times New Roman"/>
            </a:endParaRPr>
          </a:p>
        </p:txBody>
      </p:sp>
      <p:sp>
        <p:nvSpPr>
          <p:cNvPr id="3" name="object 3"/>
          <p:cNvSpPr/>
          <p:nvPr/>
        </p:nvSpPr>
        <p:spPr>
          <a:xfrm>
            <a:off x="654799" y="5968"/>
            <a:ext cx="6463030" cy="5022850"/>
          </a:xfrm>
          <a:custGeom>
            <a:avLst/>
            <a:gdLst/>
            <a:ahLst/>
            <a:cxnLst/>
            <a:rect l="l" t="t" r="r" b="b"/>
            <a:pathLst>
              <a:path w="6463030" h="5022850">
                <a:moveTo>
                  <a:pt x="0" y="0"/>
                </a:moveTo>
                <a:lnTo>
                  <a:pt x="6462801" y="0"/>
                </a:lnTo>
                <a:lnTo>
                  <a:pt x="6462801" y="5022850"/>
                </a:lnTo>
                <a:lnTo>
                  <a:pt x="0" y="5022850"/>
                </a:lnTo>
                <a:lnTo>
                  <a:pt x="0" y="0"/>
                </a:lnTo>
                <a:close/>
              </a:path>
            </a:pathLst>
          </a:custGeom>
          <a:ln w="3175">
            <a:solidFill>
              <a:srgbClr val="000000"/>
            </a:solidFill>
          </a:ln>
        </p:spPr>
        <p:txBody>
          <a:bodyPr wrap="square" lIns="0" tIns="0" rIns="0" bIns="0" rtlCol="0"/>
          <a:lstStyle/>
          <a:p>
            <a:endParaRPr/>
          </a:p>
        </p:txBody>
      </p:sp>
      <p:sp>
        <p:nvSpPr>
          <p:cNvPr id="4" name="object 4"/>
          <p:cNvSpPr/>
          <p:nvPr/>
        </p:nvSpPr>
        <p:spPr>
          <a:xfrm>
            <a:off x="718299" y="5758535"/>
            <a:ext cx="6335801" cy="3563886"/>
          </a:xfrm>
          <a:prstGeom prst="rect">
            <a:avLst/>
          </a:prstGeom>
          <a:blipFill>
            <a:blip r:embed="rId3" cstate="print"/>
            <a:stretch>
              <a:fillRect/>
            </a:stretch>
          </a:blipFill>
        </p:spPr>
        <p:txBody>
          <a:bodyPr wrap="square" lIns="0" tIns="0" rIns="0" bIns="0" rtlCol="0"/>
          <a:lstStyle/>
          <a:p>
            <a:endParaRPr/>
          </a:p>
        </p:txBody>
      </p:sp>
      <p:sp>
        <p:nvSpPr>
          <p:cNvPr id="5" name="object 5"/>
          <p:cNvSpPr/>
          <p:nvPr/>
        </p:nvSpPr>
        <p:spPr>
          <a:xfrm>
            <a:off x="790778" y="8994597"/>
            <a:ext cx="6144895" cy="328295"/>
          </a:xfrm>
          <a:custGeom>
            <a:avLst/>
            <a:gdLst/>
            <a:ahLst/>
            <a:cxnLst/>
            <a:rect l="l" t="t" r="r" b="b"/>
            <a:pathLst>
              <a:path w="6144895" h="328295">
                <a:moveTo>
                  <a:pt x="0" y="327825"/>
                </a:moveTo>
                <a:lnTo>
                  <a:pt x="6144768" y="327825"/>
                </a:lnTo>
                <a:lnTo>
                  <a:pt x="6144768" y="0"/>
                </a:lnTo>
                <a:lnTo>
                  <a:pt x="0" y="0"/>
                </a:lnTo>
                <a:lnTo>
                  <a:pt x="0" y="327825"/>
                </a:lnTo>
                <a:close/>
              </a:path>
            </a:pathLst>
          </a:custGeom>
          <a:solidFill>
            <a:srgbClr val="FFFFFF"/>
          </a:solidFill>
        </p:spPr>
        <p:txBody>
          <a:bodyPr wrap="square" lIns="0" tIns="0" rIns="0" bIns="0" rtlCol="0"/>
          <a:lstStyle/>
          <a:p>
            <a:endParaRPr/>
          </a:p>
        </p:txBody>
      </p:sp>
      <p:sp>
        <p:nvSpPr>
          <p:cNvPr id="6" name="object 6"/>
          <p:cNvSpPr txBox="1"/>
          <p:nvPr/>
        </p:nvSpPr>
        <p:spPr>
          <a:xfrm>
            <a:off x="722134" y="5762371"/>
            <a:ext cx="6327775" cy="3556000"/>
          </a:xfrm>
          <a:prstGeom prst="rect">
            <a:avLst/>
          </a:prstGeom>
          <a:ln w="8153">
            <a:solidFill>
              <a:srgbClr val="000000"/>
            </a:solidFill>
          </a:ln>
        </p:spPr>
        <p:txBody>
          <a:bodyPr vert="horz" wrap="square" lIns="0" tIns="0" rIns="0" bIns="0" rtlCol="0">
            <a:spAutoFit/>
          </a:bodyPr>
          <a:lstStyle/>
          <a:p>
            <a:pPr marL="803275">
              <a:lnSpc>
                <a:spcPts val="2550"/>
              </a:lnSpc>
            </a:pPr>
            <a:r>
              <a:rPr sz="2150" b="1" spc="15" dirty="0">
                <a:solidFill>
                  <a:srgbClr val="FFFFFF"/>
                </a:solidFill>
                <a:latin typeface="Arial"/>
                <a:cs typeface="Arial"/>
              </a:rPr>
              <a:t>Methods </a:t>
            </a:r>
            <a:r>
              <a:rPr sz="2150" b="1" spc="10" dirty="0">
                <a:solidFill>
                  <a:srgbClr val="FFFFFF"/>
                </a:solidFill>
                <a:latin typeface="Arial"/>
                <a:cs typeface="Arial"/>
              </a:rPr>
              <a:t>in ExecutorService</a:t>
            </a:r>
            <a:r>
              <a:rPr sz="2150" b="1" spc="-45" dirty="0">
                <a:solidFill>
                  <a:srgbClr val="FFFFFF"/>
                </a:solidFill>
                <a:latin typeface="Arial"/>
                <a:cs typeface="Arial"/>
              </a:rPr>
              <a:t> </a:t>
            </a:r>
            <a:r>
              <a:rPr sz="2150" b="1" spc="10" dirty="0">
                <a:solidFill>
                  <a:srgbClr val="FFFFFF"/>
                </a:solidFill>
                <a:latin typeface="Arial"/>
                <a:cs typeface="Arial"/>
              </a:rPr>
              <a:t>Class</a:t>
            </a:r>
            <a:endParaRPr sz="2150" dirty="0">
              <a:latin typeface="Arial"/>
              <a:cs typeface="Arial"/>
            </a:endParaRPr>
          </a:p>
          <a:p>
            <a:pPr marL="257175" indent="-177800">
              <a:lnSpc>
                <a:spcPct val="100000"/>
              </a:lnSpc>
              <a:spcBef>
                <a:spcPts val="994"/>
              </a:spcBef>
              <a:buClr>
                <a:srgbClr val="CC0000"/>
              </a:buClr>
              <a:buFont typeface="Arial"/>
              <a:buChar char="•"/>
              <a:tabLst>
                <a:tab pos="257810" algn="l"/>
              </a:tabLst>
            </a:pPr>
            <a:r>
              <a:rPr sz="1550" b="1" dirty="0">
                <a:latin typeface="Arial"/>
                <a:cs typeface="Arial"/>
              </a:rPr>
              <a:t>execute(Runnable)</a:t>
            </a:r>
            <a:endParaRPr sz="1550" dirty="0">
              <a:latin typeface="Arial"/>
              <a:cs typeface="Arial"/>
            </a:endParaRPr>
          </a:p>
          <a:p>
            <a:pPr marL="464820" lvl="1" indent="-147955">
              <a:lnSpc>
                <a:spcPct val="100000"/>
              </a:lnSpc>
              <a:spcBef>
                <a:spcPts val="555"/>
              </a:spcBef>
              <a:buClr>
                <a:srgbClr val="CC0000"/>
              </a:buClr>
              <a:buChar char="–"/>
              <a:tabLst>
                <a:tab pos="465455" algn="l"/>
              </a:tabLst>
            </a:pPr>
            <a:r>
              <a:rPr sz="1350" spc="-5" dirty="0">
                <a:latin typeface="Times New Roman"/>
                <a:cs typeface="Times New Roman"/>
              </a:rPr>
              <a:t>Adds Runnable to the queue of</a:t>
            </a:r>
            <a:r>
              <a:rPr sz="1350" spc="-55" dirty="0">
                <a:latin typeface="Times New Roman"/>
                <a:cs typeface="Times New Roman"/>
              </a:rPr>
              <a:t> </a:t>
            </a:r>
            <a:r>
              <a:rPr sz="1350" spc="-5" dirty="0">
                <a:latin typeface="Times New Roman"/>
                <a:cs typeface="Times New Roman"/>
              </a:rPr>
              <a:t>tasks</a:t>
            </a:r>
            <a:endParaRPr sz="1350" dirty="0">
              <a:latin typeface="Times New Roman"/>
              <a:cs typeface="Times New Roman"/>
            </a:endParaRPr>
          </a:p>
          <a:p>
            <a:pPr marL="257175" indent="-177800">
              <a:lnSpc>
                <a:spcPct val="100000"/>
              </a:lnSpc>
              <a:spcBef>
                <a:spcPts val="530"/>
              </a:spcBef>
              <a:buClr>
                <a:srgbClr val="CC0000"/>
              </a:buClr>
              <a:buFont typeface="Arial"/>
              <a:buChar char="•"/>
              <a:tabLst>
                <a:tab pos="257810" algn="l"/>
              </a:tabLst>
            </a:pPr>
            <a:r>
              <a:rPr sz="1550" b="1" dirty="0">
                <a:latin typeface="Arial"/>
                <a:cs typeface="Arial"/>
              </a:rPr>
              <a:t>shutdown</a:t>
            </a:r>
            <a:endParaRPr sz="1550" dirty="0">
              <a:latin typeface="Arial"/>
              <a:cs typeface="Arial"/>
            </a:endParaRPr>
          </a:p>
          <a:p>
            <a:pPr marL="464820" marR="92075" lvl="1" indent="-147955">
              <a:lnSpc>
                <a:spcPct val="109900"/>
              </a:lnSpc>
              <a:spcBef>
                <a:spcPts val="395"/>
              </a:spcBef>
              <a:buClr>
                <a:srgbClr val="CC0000"/>
              </a:buClr>
              <a:buChar char="–"/>
              <a:tabLst>
                <a:tab pos="465455" algn="l"/>
              </a:tabLst>
            </a:pPr>
            <a:r>
              <a:rPr sz="1350" spc="-5" dirty="0">
                <a:latin typeface="Times New Roman"/>
                <a:cs typeface="Times New Roman"/>
              </a:rPr>
              <a:t>Prevents any more tasks from being added with execute (or submit), but lets current  tasks</a:t>
            </a:r>
            <a:r>
              <a:rPr sz="1350" spc="-90" dirty="0">
                <a:latin typeface="Times New Roman"/>
                <a:cs typeface="Times New Roman"/>
              </a:rPr>
              <a:t> </a:t>
            </a:r>
            <a:r>
              <a:rPr sz="1350" spc="-5" dirty="0">
                <a:latin typeface="Times New Roman"/>
                <a:cs typeface="Times New Roman"/>
              </a:rPr>
              <a:t>finish</a:t>
            </a:r>
            <a:endParaRPr sz="1350" dirty="0">
              <a:latin typeface="Times New Roman"/>
              <a:cs typeface="Times New Roman"/>
            </a:endParaRPr>
          </a:p>
          <a:p>
            <a:pPr marL="257175" indent="-177800">
              <a:lnSpc>
                <a:spcPct val="100000"/>
              </a:lnSpc>
              <a:spcBef>
                <a:spcPts val="535"/>
              </a:spcBef>
              <a:buClr>
                <a:srgbClr val="CC0000"/>
              </a:buClr>
              <a:buFont typeface="Arial"/>
              <a:buChar char="•"/>
              <a:tabLst>
                <a:tab pos="257810" algn="l"/>
              </a:tabLst>
            </a:pPr>
            <a:r>
              <a:rPr sz="1550" b="1" dirty="0">
                <a:latin typeface="Arial"/>
                <a:cs typeface="Arial"/>
              </a:rPr>
              <a:t>shutdownNow</a:t>
            </a:r>
            <a:endParaRPr sz="1550" dirty="0">
              <a:latin typeface="Arial"/>
              <a:cs typeface="Arial"/>
            </a:endParaRPr>
          </a:p>
          <a:p>
            <a:pPr marL="464820" marR="220345" lvl="1" indent="-147955">
              <a:lnSpc>
                <a:spcPct val="110100"/>
              </a:lnSpc>
              <a:spcBef>
                <a:spcPts val="390"/>
              </a:spcBef>
              <a:buClr>
                <a:srgbClr val="CC0000"/>
              </a:buClr>
              <a:buChar char="–"/>
              <a:tabLst>
                <a:tab pos="465455" algn="l"/>
              </a:tabLst>
            </a:pPr>
            <a:r>
              <a:rPr sz="1350" spc="-5" dirty="0">
                <a:latin typeface="Times New Roman"/>
                <a:cs typeface="Times New Roman"/>
              </a:rPr>
              <a:t>Attempts to halt current tasks. But author of tasks must have them respond to  interrupts (i.e., catch InterruptedException), or this is no different from</a:t>
            </a:r>
            <a:r>
              <a:rPr sz="1350" spc="20" dirty="0">
                <a:latin typeface="Times New Roman"/>
                <a:cs typeface="Times New Roman"/>
              </a:rPr>
              <a:t> </a:t>
            </a:r>
            <a:r>
              <a:rPr sz="1350" spc="-5" dirty="0">
                <a:latin typeface="Times New Roman"/>
                <a:cs typeface="Times New Roman"/>
              </a:rPr>
              <a:t>shutdown.</a:t>
            </a:r>
            <a:endParaRPr sz="1350" dirty="0">
              <a:latin typeface="Times New Roman"/>
              <a:cs typeface="Times New Roman"/>
            </a:endParaRPr>
          </a:p>
          <a:p>
            <a:pPr marL="257175" indent="-177800">
              <a:lnSpc>
                <a:spcPct val="100000"/>
              </a:lnSpc>
              <a:spcBef>
                <a:spcPts val="535"/>
              </a:spcBef>
              <a:buClr>
                <a:srgbClr val="CC0000"/>
              </a:buClr>
              <a:buFont typeface="Arial"/>
              <a:buChar char="•"/>
              <a:tabLst>
                <a:tab pos="257810" algn="l"/>
              </a:tabLst>
            </a:pPr>
            <a:r>
              <a:rPr sz="1550" b="1" dirty="0">
                <a:latin typeface="Arial"/>
                <a:cs typeface="Arial"/>
              </a:rPr>
              <a:t>awaitTermination</a:t>
            </a:r>
            <a:endParaRPr sz="1550" dirty="0">
              <a:latin typeface="Arial"/>
              <a:cs typeface="Arial"/>
            </a:endParaRPr>
          </a:p>
          <a:p>
            <a:pPr marL="464820" lvl="1" indent="-147955">
              <a:lnSpc>
                <a:spcPct val="100000"/>
              </a:lnSpc>
              <a:spcBef>
                <a:spcPts val="555"/>
              </a:spcBef>
              <a:buClr>
                <a:srgbClr val="CC0000"/>
              </a:buClr>
              <a:buChar char="–"/>
              <a:tabLst>
                <a:tab pos="465455" algn="l"/>
              </a:tabLst>
            </a:pPr>
            <a:r>
              <a:rPr sz="1350" spc="-5" dirty="0">
                <a:latin typeface="Times New Roman"/>
                <a:cs typeface="Times New Roman"/>
              </a:rPr>
              <a:t>Blocks until all tasks are complete. Must shutdown() first.</a:t>
            </a:r>
            <a:endParaRPr sz="1350" dirty="0">
              <a:latin typeface="Times New Roman"/>
              <a:cs typeface="Times New Roman"/>
            </a:endParaRPr>
          </a:p>
          <a:p>
            <a:pPr>
              <a:lnSpc>
                <a:spcPct val="100000"/>
              </a:lnSpc>
              <a:spcBef>
                <a:spcPts val="55"/>
              </a:spcBef>
            </a:pPr>
            <a:endParaRPr sz="1700" dirty="0">
              <a:latin typeface="Times New Roman"/>
              <a:cs typeface="Times New Roman"/>
            </a:endParaRPr>
          </a:p>
          <a:p>
            <a:pPr marL="51435">
              <a:lnSpc>
                <a:spcPct val="100000"/>
              </a:lnSpc>
            </a:pPr>
            <a:endParaRPr sz="700" dirty="0">
              <a:latin typeface="Arial Narrow"/>
              <a:cs typeface="Arial Narrow"/>
            </a:endParaRPr>
          </a:p>
        </p:txBody>
      </p:sp>
      <p:sp>
        <p:nvSpPr>
          <p:cNvPr id="7" name="object 7"/>
          <p:cNvSpPr/>
          <p:nvPr/>
        </p:nvSpPr>
        <p:spPr>
          <a:xfrm>
            <a:off x="654799" y="5028819"/>
            <a:ext cx="6463030" cy="5022850"/>
          </a:xfrm>
          <a:custGeom>
            <a:avLst/>
            <a:gdLst/>
            <a:ahLst/>
            <a:cxnLst/>
            <a:rect l="l" t="t" r="r" b="b"/>
            <a:pathLst>
              <a:path w="6463030" h="5022850">
                <a:moveTo>
                  <a:pt x="0" y="0"/>
                </a:moveTo>
                <a:lnTo>
                  <a:pt x="6462801" y="0"/>
                </a:lnTo>
                <a:lnTo>
                  <a:pt x="6462801" y="5022850"/>
                </a:lnTo>
                <a:lnTo>
                  <a:pt x="0" y="5022850"/>
                </a:lnTo>
                <a:lnTo>
                  <a:pt x="0" y="0"/>
                </a:lnTo>
                <a:close/>
              </a:path>
            </a:pathLst>
          </a:custGeom>
          <a:ln w="3175">
            <a:solidFill>
              <a:srgbClr val="000000"/>
            </a:solidFill>
          </a:ln>
        </p:spPr>
        <p:txBody>
          <a:bodyPr wrap="square" lIns="0" tIns="0" rIns="0" bIns="0" rtlCol="0"/>
          <a:lstStyle/>
          <a:p>
            <a:endParaRPr/>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722134" y="739533"/>
            <a:ext cx="6327775" cy="3406574"/>
          </a:xfrm>
          <a:prstGeom prst="rect">
            <a:avLst/>
          </a:prstGeom>
          <a:ln w="8153">
            <a:solidFill>
              <a:srgbClr val="000000"/>
            </a:solidFill>
          </a:ln>
        </p:spPr>
        <p:txBody>
          <a:bodyPr vert="horz" wrap="square" lIns="0" tIns="0" rIns="0" bIns="0" rtlCol="0">
            <a:spAutoFit/>
          </a:bodyPr>
          <a:lstStyle/>
          <a:p>
            <a:pPr marL="803275">
              <a:lnSpc>
                <a:spcPts val="2550"/>
              </a:lnSpc>
            </a:pPr>
            <a:r>
              <a:rPr sz="2150" b="1" spc="10" dirty="0">
                <a:solidFill>
                  <a:srgbClr val="FFFFFF"/>
                </a:solidFill>
                <a:latin typeface="Arial"/>
                <a:cs typeface="Arial"/>
              </a:rPr>
              <a:t>Lower-Level</a:t>
            </a:r>
            <a:r>
              <a:rPr sz="2150" b="1" spc="-35" dirty="0">
                <a:solidFill>
                  <a:srgbClr val="FFFFFF"/>
                </a:solidFill>
                <a:latin typeface="Arial"/>
                <a:cs typeface="Arial"/>
              </a:rPr>
              <a:t> </a:t>
            </a:r>
            <a:r>
              <a:rPr sz="2150" b="1" spc="10" dirty="0">
                <a:solidFill>
                  <a:srgbClr val="FFFFFF"/>
                </a:solidFill>
                <a:latin typeface="Arial"/>
                <a:cs typeface="Arial"/>
              </a:rPr>
              <a:t>Threading</a:t>
            </a:r>
            <a:endParaRPr sz="2150" dirty="0">
              <a:latin typeface="Arial"/>
              <a:cs typeface="Arial"/>
            </a:endParaRPr>
          </a:p>
          <a:p>
            <a:pPr marL="257175" indent="-177800">
              <a:lnSpc>
                <a:spcPct val="100000"/>
              </a:lnSpc>
              <a:spcBef>
                <a:spcPts val="785"/>
              </a:spcBef>
              <a:buClr>
                <a:srgbClr val="CC0000"/>
              </a:buClr>
              <a:buFont typeface="Arial"/>
              <a:buChar char="•"/>
              <a:tabLst>
                <a:tab pos="257810" algn="l"/>
              </a:tabLst>
            </a:pPr>
            <a:r>
              <a:rPr sz="1550" b="1" dirty="0">
                <a:latin typeface="Arial"/>
                <a:cs typeface="Arial"/>
              </a:rPr>
              <a:t>Use</a:t>
            </a:r>
            <a:r>
              <a:rPr sz="1550" b="1" spc="-85" dirty="0">
                <a:latin typeface="Arial"/>
                <a:cs typeface="Arial"/>
              </a:rPr>
              <a:t> </a:t>
            </a:r>
            <a:r>
              <a:rPr sz="1550" b="1" dirty="0">
                <a:latin typeface="Arial"/>
                <a:cs typeface="Arial"/>
              </a:rPr>
              <a:t>Thread.start(someRunnable)</a:t>
            </a:r>
            <a:endParaRPr sz="1550" dirty="0">
              <a:latin typeface="Arial"/>
              <a:cs typeface="Arial"/>
            </a:endParaRPr>
          </a:p>
          <a:p>
            <a:pPr marL="554355" marR="1830705" lvl="1" indent="-237490">
              <a:lnSpc>
                <a:spcPct val="109500"/>
              </a:lnSpc>
              <a:spcBef>
                <a:spcPts val="190"/>
              </a:spcBef>
              <a:buClr>
                <a:srgbClr val="CC0000"/>
              </a:buClr>
              <a:buChar char="–"/>
              <a:tabLst>
                <a:tab pos="465455" algn="l"/>
              </a:tabLst>
            </a:pPr>
            <a:r>
              <a:rPr sz="1350" spc="-5" dirty="0">
                <a:latin typeface="Times New Roman"/>
                <a:cs typeface="Times New Roman"/>
              </a:rPr>
              <a:t>Implement Runnable, pass to Thread constructor, call start  </a:t>
            </a:r>
            <a:r>
              <a:rPr sz="1150" b="1" spc="-5" dirty="0">
                <a:latin typeface="Courier New"/>
                <a:cs typeface="Courier New"/>
              </a:rPr>
              <a:t>Thread t = new Thread(someRunnable);  t.start();</a:t>
            </a:r>
            <a:endParaRPr sz="1150" dirty="0">
              <a:latin typeface="Courier New"/>
              <a:cs typeface="Courier New"/>
            </a:endParaRPr>
          </a:p>
          <a:p>
            <a:pPr marL="464820" marR="224154" lvl="1" indent="-147955">
              <a:lnSpc>
                <a:spcPts val="1610"/>
              </a:lnSpc>
              <a:spcBef>
                <a:spcPts val="490"/>
              </a:spcBef>
              <a:buClr>
                <a:srgbClr val="CC0000"/>
              </a:buClr>
              <a:buChar char="–"/>
              <a:tabLst>
                <a:tab pos="465455" algn="l"/>
              </a:tabLst>
            </a:pPr>
            <a:r>
              <a:rPr sz="1350" spc="-5" dirty="0">
                <a:latin typeface="Times New Roman"/>
                <a:cs typeface="Times New Roman"/>
              </a:rPr>
              <a:t>About same effect as taskList.execute(someRunnable), except that you cannot put  bound on number of simultaneous</a:t>
            </a:r>
            <a:r>
              <a:rPr sz="1350" spc="-35" dirty="0">
                <a:latin typeface="Times New Roman"/>
                <a:cs typeface="Times New Roman"/>
              </a:rPr>
              <a:t> </a:t>
            </a:r>
            <a:r>
              <a:rPr sz="1350" spc="-5" dirty="0">
                <a:latin typeface="Times New Roman"/>
                <a:cs typeface="Times New Roman"/>
              </a:rPr>
              <a:t>threads</a:t>
            </a:r>
            <a:endParaRPr sz="1350" dirty="0">
              <a:latin typeface="Times New Roman"/>
              <a:cs typeface="Times New Roman"/>
            </a:endParaRPr>
          </a:p>
          <a:p>
            <a:pPr marL="464820" lvl="1" indent="-147955">
              <a:lnSpc>
                <a:spcPct val="100000"/>
              </a:lnSpc>
              <a:spcBef>
                <a:spcPts val="295"/>
              </a:spcBef>
              <a:buClr>
                <a:srgbClr val="CC0000"/>
              </a:buClr>
              <a:buChar char="–"/>
              <a:tabLst>
                <a:tab pos="465455" algn="l"/>
              </a:tabLst>
            </a:pPr>
            <a:r>
              <a:rPr sz="1350" spc="-5" dirty="0">
                <a:latin typeface="Times New Roman"/>
                <a:cs typeface="Times New Roman"/>
              </a:rPr>
              <a:t>Mostly </a:t>
            </a:r>
            <a:r>
              <a:rPr sz="1350" dirty="0">
                <a:latin typeface="Times New Roman"/>
                <a:cs typeface="Times New Roman"/>
              </a:rPr>
              <a:t>a </a:t>
            </a:r>
            <a:r>
              <a:rPr sz="1350" spc="-5" dirty="0">
                <a:latin typeface="Times New Roman"/>
                <a:cs typeface="Times New Roman"/>
              </a:rPr>
              <a:t>carryover from pre-Java-5 days; still widely</a:t>
            </a:r>
            <a:r>
              <a:rPr sz="1350" spc="-20" dirty="0">
                <a:latin typeface="Times New Roman"/>
                <a:cs typeface="Times New Roman"/>
              </a:rPr>
              <a:t> </a:t>
            </a:r>
            <a:r>
              <a:rPr sz="1350" spc="-5" dirty="0">
                <a:latin typeface="Times New Roman"/>
                <a:cs typeface="Times New Roman"/>
              </a:rPr>
              <a:t>used</a:t>
            </a:r>
            <a:endParaRPr sz="1350" dirty="0">
              <a:latin typeface="Times New Roman"/>
              <a:cs typeface="Times New Roman"/>
            </a:endParaRPr>
          </a:p>
          <a:p>
            <a:pPr marL="257175" indent="-177800">
              <a:lnSpc>
                <a:spcPct val="100000"/>
              </a:lnSpc>
              <a:spcBef>
                <a:spcPts val="355"/>
              </a:spcBef>
              <a:buClr>
                <a:srgbClr val="CC0000"/>
              </a:buClr>
              <a:buFont typeface="Arial"/>
              <a:buChar char="•"/>
              <a:tabLst>
                <a:tab pos="257810" algn="l"/>
              </a:tabLst>
            </a:pPr>
            <a:r>
              <a:rPr sz="1550" b="1" spc="5" dirty="0">
                <a:latin typeface="Arial"/>
                <a:cs typeface="Arial"/>
              </a:rPr>
              <a:t>Extend</a:t>
            </a:r>
            <a:r>
              <a:rPr sz="1550" b="1" spc="-95" dirty="0">
                <a:latin typeface="Arial"/>
                <a:cs typeface="Arial"/>
              </a:rPr>
              <a:t> </a:t>
            </a:r>
            <a:r>
              <a:rPr sz="1550" b="1" spc="5" dirty="0">
                <a:latin typeface="Arial"/>
                <a:cs typeface="Arial"/>
              </a:rPr>
              <a:t>Thread</a:t>
            </a:r>
            <a:endParaRPr sz="1550" dirty="0">
              <a:latin typeface="Arial"/>
              <a:cs typeface="Arial"/>
            </a:endParaRPr>
          </a:p>
          <a:p>
            <a:pPr marL="554355" marR="2005964" lvl="1" indent="-237490">
              <a:lnSpc>
                <a:spcPct val="109500"/>
              </a:lnSpc>
              <a:spcBef>
                <a:spcPts val="190"/>
              </a:spcBef>
              <a:buClr>
                <a:srgbClr val="CC0000"/>
              </a:buClr>
              <a:buChar char="–"/>
              <a:tabLst>
                <a:tab pos="465455" algn="l"/>
              </a:tabLst>
            </a:pPr>
            <a:r>
              <a:rPr sz="1350" spc="-5" dirty="0">
                <a:latin typeface="Times New Roman"/>
                <a:cs typeface="Times New Roman"/>
              </a:rPr>
              <a:t>Put run method in Thread subclass, instantiate, call start  </a:t>
            </a:r>
            <a:r>
              <a:rPr sz="1150" b="1" spc="-5" dirty="0">
                <a:latin typeface="Courier New"/>
                <a:cs typeface="Courier New"/>
              </a:rPr>
              <a:t>SomeThread t = new SomeThread(…);  t.start();</a:t>
            </a:r>
            <a:endParaRPr sz="1150" dirty="0">
              <a:latin typeface="Courier New"/>
              <a:cs typeface="Courier New"/>
            </a:endParaRPr>
          </a:p>
          <a:p>
            <a:pPr marL="464820" lvl="1" indent="-147955">
              <a:lnSpc>
                <a:spcPct val="100000"/>
              </a:lnSpc>
              <a:spcBef>
                <a:spcPts val="434"/>
              </a:spcBef>
              <a:buClr>
                <a:srgbClr val="CC0000"/>
              </a:buClr>
              <a:buChar char="–"/>
              <a:tabLst>
                <a:tab pos="465455" algn="l"/>
              </a:tabLst>
            </a:pPr>
            <a:r>
              <a:rPr sz="1350" dirty="0">
                <a:latin typeface="Times New Roman"/>
                <a:cs typeface="Times New Roman"/>
              </a:rPr>
              <a:t>A </a:t>
            </a:r>
            <a:r>
              <a:rPr sz="1350" spc="-5" dirty="0">
                <a:latin typeface="Times New Roman"/>
                <a:cs typeface="Times New Roman"/>
              </a:rPr>
              <a:t>holdover from pre-Java-5; has little use in modern Java</a:t>
            </a:r>
            <a:r>
              <a:rPr sz="1350" spc="-10" dirty="0">
                <a:latin typeface="Times New Roman"/>
                <a:cs typeface="Times New Roman"/>
              </a:rPr>
              <a:t> </a:t>
            </a:r>
            <a:r>
              <a:rPr sz="1350" spc="-5" dirty="0">
                <a:latin typeface="Times New Roman"/>
                <a:cs typeface="Times New Roman"/>
              </a:rPr>
              <a:t>applications</a:t>
            </a:r>
            <a:endParaRPr sz="1350" dirty="0">
              <a:latin typeface="Times New Roman"/>
              <a:cs typeface="Times New Roman"/>
            </a:endParaRPr>
          </a:p>
          <a:p>
            <a:pPr marL="51435">
              <a:lnSpc>
                <a:spcPct val="100000"/>
              </a:lnSpc>
            </a:pPr>
            <a:endParaRPr sz="700" dirty="0">
              <a:latin typeface="Arial Narrow"/>
              <a:cs typeface="Arial Narrow"/>
            </a:endParaRPr>
          </a:p>
        </p:txBody>
      </p:sp>
      <p:sp>
        <p:nvSpPr>
          <p:cNvPr id="3" name="object 3"/>
          <p:cNvSpPr/>
          <p:nvPr/>
        </p:nvSpPr>
        <p:spPr>
          <a:xfrm>
            <a:off x="654799" y="5968"/>
            <a:ext cx="6463030" cy="5022850"/>
          </a:xfrm>
          <a:custGeom>
            <a:avLst/>
            <a:gdLst/>
            <a:ahLst/>
            <a:cxnLst/>
            <a:rect l="l" t="t" r="r" b="b"/>
            <a:pathLst>
              <a:path w="6463030" h="5022850">
                <a:moveTo>
                  <a:pt x="0" y="0"/>
                </a:moveTo>
                <a:lnTo>
                  <a:pt x="6462801" y="0"/>
                </a:lnTo>
                <a:lnTo>
                  <a:pt x="6462801" y="5022850"/>
                </a:lnTo>
                <a:lnTo>
                  <a:pt x="0" y="5022850"/>
                </a:lnTo>
                <a:lnTo>
                  <a:pt x="0" y="0"/>
                </a:lnTo>
                <a:close/>
              </a:path>
            </a:pathLst>
          </a:custGeom>
          <a:ln w="3175">
            <a:solidFill>
              <a:srgbClr val="000000"/>
            </a:solidFill>
          </a:ln>
        </p:spPr>
        <p:txBody>
          <a:bodyPr wrap="square" lIns="0" tIns="0" rIns="0" bIns="0" rtlCol="0"/>
          <a:lstStyle/>
          <a:p>
            <a:endParaRPr/>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722134" y="739533"/>
            <a:ext cx="6327775" cy="3411190"/>
          </a:xfrm>
          <a:prstGeom prst="rect">
            <a:avLst/>
          </a:prstGeom>
          <a:ln w="8153">
            <a:solidFill>
              <a:srgbClr val="000000"/>
            </a:solidFill>
          </a:ln>
        </p:spPr>
        <p:txBody>
          <a:bodyPr vert="horz" wrap="square" lIns="0" tIns="0" rIns="0" bIns="0" rtlCol="0">
            <a:spAutoFit/>
          </a:bodyPr>
          <a:lstStyle/>
          <a:p>
            <a:pPr marL="803275">
              <a:lnSpc>
                <a:spcPts val="2550"/>
              </a:lnSpc>
            </a:pPr>
            <a:r>
              <a:rPr sz="2150" b="1" spc="15" dirty="0">
                <a:solidFill>
                  <a:srgbClr val="FFFFFF"/>
                </a:solidFill>
                <a:latin typeface="Arial"/>
                <a:cs typeface="Arial"/>
              </a:rPr>
              <a:t>Callable</a:t>
            </a:r>
            <a:endParaRPr sz="2150" dirty="0">
              <a:latin typeface="Arial"/>
              <a:cs typeface="Arial"/>
            </a:endParaRPr>
          </a:p>
          <a:p>
            <a:pPr marL="257175" indent="-177800">
              <a:lnSpc>
                <a:spcPct val="100000"/>
              </a:lnSpc>
              <a:spcBef>
                <a:spcPts val="785"/>
              </a:spcBef>
              <a:buClr>
                <a:srgbClr val="CC0000"/>
              </a:buClr>
              <a:buFont typeface="Arial"/>
              <a:buChar char="•"/>
              <a:tabLst>
                <a:tab pos="257810" algn="l"/>
              </a:tabLst>
            </a:pPr>
            <a:r>
              <a:rPr sz="1550" b="1" dirty="0">
                <a:latin typeface="Arial"/>
                <a:cs typeface="Arial"/>
              </a:rPr>
              <a:t>Runnable</a:t>
            </a:r>
            <a:endParaRPr sz="1550" dirty="0">
              <a:latin typeface="Arial"/>
              <a:cs typeface="Arial"/>
            </a:endParaRPr>
          </a:p>
          <a:p>
            <a:pPr marL="464820" lvl="1" indent="-147955">
              <a:lnSpc>
                <a:spcPct val="100000"/>
              </a:lnSpc>
              <a:spcBef>
                <a:spcPts val="200"/>
              </a:spcBef>
              <a:buClr>
                <a:srgbClr val="CC0000"/>
              </a:buClr>
              <a:buChar char="–"/>
              <a:tabLst>
                <a:tab pos="465455" algn="l"/>
              </a:tabLst>
            </a:pPr>
            <a:r>
              <a:rPr sz="1350" spc="-5" dirty="0">
                <a:latin typeface="Times New Roman"/>
                <a:cs typeface="Times New Roman"/>
              </a:rPr>
              <a:t>“run” method runs in background. No return values, but run can do side</a:t>
            </a:r>
            <a:r>
              <a:rPr sz="1350" spc="5" dirty="0">
                <a:latin typeface="Times New Roman"/>
                <a:cs typeface="Times New Roman"/>
              </a:rPr>
              <a:t> </a:t>
            </a:r>
            <a:r>
              <a:rPr sz="1350" spc="-5" dirty="0">
                <a:latin typeface="Times New Roman"/>
                <a:cs typeface="Times New Roman"/>
              </a:rPr>
              <a:t>effects.</a:t>
            </a:r>
            <a:endParaRPr sz="1350" dirty="0">
              <a:latin typeface="Times New Roman"/>
              <a:cs typeface="Times New Roman"/>
            </a:endParaRPr>
          </a:p>
          <a:p>
            <a:pPr marL="464820" lvl="1" indent="-147955">
              <a:lnSpc>
                <a:spcPct val="100000"/>
              </a:lnSpc>
              <a:spcBef>
                <a:spcPts val="200"/>
              </a:spcBef>
              <a:buClr>
                <a:srgbClr val="CC0000"/>
              </a:buClr>
              <a:buChar char="–"/>
              <a:tabLst>
                <a:tab pos="465455" algn="l"/>
              </a:tabLst>
            </a:pPr>
            <a:r>
              <a:rPr sz="1350" spc="-5" dirty="0">
                <a:latin typeface="Times New Roman"/>
                <a:cs typeface="Times New Roman"/>
              </a:rPr>
              <a:t>Use “execute” to put in task</a:t>
            </a:r>
            <a:r>
              <a:rPr sz="1350" spc="-30" dirty="0">
                <a:latin typeface="Times New Roman"/>
                <a:cs typeface="Times New Roman"/>
              </a:rPr>
              <a:t> </a:t>
            </a:r>
            <a:r>
              <a:rPr sz="1350" spc="-5" dirty="0">
                <a:latin typeface="Times New Roman"/>
                <a:cs typeface="Times New Roman"/>
              </a:rPr>
              <a:t>queue</a:t>
            </a:r>
            <a:endParaRPr sz="1350" dirty="0">
              <a:latin typeface="Times New Roman"/>
              <a:cs typeface="Times New Roman"/>
            </a:endParaRPr>
          </a:p>
          <a:p>
            <a:pPr marL="257175" indent="-177800">
              <a:lnSpc>
                <a:spcPct val="100000"/>
              </a:lnSpc>
              <a:spcBef>
                <a:spcPts val="190"/>
              </a:spcBef>
              <a:buClr>
                <a:srgbClr val="CC0000"/>
              </a:buClr>
              <a:buFont typeface="Arial"/>
              <a:buChar char="•"/>
              <a:tabLst>
                <a:tab pos="257810" algn="l"/>
              </a:tabLst>
            </a:pPr>
            <a:r>
              <a:rPr sz="1550" b="1" spc="5" dirty="0">
                <a:latin typeface="Arial"/>
                <a:cs typeface="Arial"/>
              </a:rPr>
              <a:t>Callable</a:t>
            </a:r>
            <a:endParaRPr sz="1550" dirty="0">
              <a:latin typeface="Arial"/>
              <a:cs typeface="Arial"/>
            </a:endParaRPr>
          </a:p>
          <a:p>
            <a:pPr marL="464820" marR="485140" lvl="1" indent="-147955">
              <a:lnSpc>
                <a:spcPts val="1460"/>
              </a:lnSpc>
              <a:spcBef>
                <a:spcPts val="380"/>
              </a:spcBef>
              <a:buClr>
                <a:srgbClr val="CC0000"/>
              </a:buClr>
              <a:buChar char="–"/>
              <a:tabLst>
                <a:tab pos="465455" algn="l"/>
              </a:tabLst>
            </a:pPr>
            <a:r>
              <a:rPr sz="1350" spc="-5" dirty="0">
                <a:latin typeface="Times New Roman"/>
                <a:cs typeface="Times New Roman"/>
              </a:rPr>
              <a:t>“call” method runs in background. It returns </a:t>
            </a:r>
            <a:r>
              <a:rPr sz="1350" dirty="0">
                <a:latin typeface="Times New Roman"/>
                <a:cs typeface="Times New Roman"/>
              </a:rPr>
              <a:t>a </a:t>
            </a:r>
            <a:r>
              <a:rPr sz="1350" spc="-5" dirty="0">
                <a:latin typeface="Times New Roman"/>
                <a:cs typeface="Times New Roman"/>
              </a:rPr>
              <a:t>value that can be retrieved after  termination with</a:t>
            </a:r>
            <a:r>
              <a:rPr sz="1350" spc="-65" dirty="0">
                <a:latin typeface="Times New Roman"/>
                <a:cs typeface="Times New Roman"/>
              </a:rPr>
              <a:t> </a:t>
            </a:r>
            <a:r>
              <a:rPr sz="1350" spc="-5" dirty="0">
                <a:latin typeface="Times New Roman"/>
                <a:cs typeface="Times New Roman"/>
              </a:rPr>
              <a:t>“get”.</a:t>
            </a:r>
            <a:endParaRPr sz="1350" dirty="0">
              <a:latin typeface="Times New Roman"/>
              <a:cs typeface="Times New Roman"/>
            </a:endParaRPr>
          </a:p>
          <a:p>
            <a:pPr marL="464820" lvl="1" indent="-147955">
              <a:lnSpc>
                <a:spcPct val="100000"/>
              </a:lnSpc>
              <a:spcBef>
                <a:spcPts val="180"/>
              </a:spcBef>
              <a:buClr>
                <a:srgbClr val="CC0000"/>
              </a:buClr>
              <a:buChar char="–"/>
              <a:tabLst>
                <a:tab pos="465455" algn="l"/>
              </a:tabLst>
            </a:pPr>
            <a:r>
              <a:rPr sz="1350" spc="-5" dirty="0">
                <a:latin typeface="Times New Roman"/>
                <a:cs typeface="Times New Roman"/>
              </a:rPr>
              <a:t>Use </a:t>
            </a:r>
            <a:r>
              <a:rPr sz="1350" dirty="0">
                <a:latin typeface="Times New Roman"/>
                <a:cs typeface="Times New Roman"/>
              </a:rPr>
              <a:t>“submit” to </a:t>
            </a:r>
            <a:r>
              <a:rPr sz="1350" spc="-5" dirty="0">
                <a:latin typeface="Times New Roman"/>
                <a:cs typeface="Times New Roman"/>
              </a:rPr>
              <a:t>put </a:t>
            </a:r>
            <a:r>
              <a:rPr sz="1350" dirty="0">
                <a:latin typeface="Times New Roman"/>
                <a:cs typeface="Times New Roman"/>
              </a:rPr>
              <a:t>in task</a:t>
            </a:r>
            <a:r>
              <a:rPr sz="1350" spc="-75" dirty="0">
                <a:latin typeface="Times New Roman"/>
                <a:cs typeface="Times New Roman"/>
              </a:rPr>
              <a:t> </a:t>
            </a:r>
            <a:r>
              <a:rPr sz="1350" spc="-5" dirty="0">
                <a:latin typeface="Times New Roman"/>
                <a:cs typeface="Times New Roman"/>
              </a:rPr>
              <a:t>queue.</a:t>
            </a:r>
            <a:endParaRPr sz="1350" dirty="0">
              <a:latin typeface="Times New Roman"/>
              <a:cs typeface="Times New Roman"/>
            </a:endParaRPr>
          </a:p>
          <a:p>
            <a:pPr marL="464820" lvl="1" indent="-147955">
              <a:lnSpc>
                <a:spcPct val="100000"/>
              </a:lnSpc>
              <a:spcBef>
                <a:spcPts val="200"/>
              </a:spcBef>
              <a:buClr>
                <a:srgbClr val="CC0000"/>
              </a:buClr>
              <a:buChar char="–"/>
              <a:tabLst>
                <a:tab pos="465455" algn="l"/>
              </a:tabLst>
            </a:pPr>
            <a:r>
              <a:rPr sz="1350" spc="-5" dirty="0">
                <a:latin typeface="Times New Roman"/>
                <a:cs typeface="Times New Roman"/>
              </a:rPr>
              <a:t>Use invokeAny and invokeAll to block until value or values are</a:t>
            </a:r>
            <a:r>
              <a:rPr sz="1350" spc="10" dirty="0">
                <a:latin typeface="Times New Roman"/>
                <a:cs typeface="Times New Roman"/>
              </a:rPr>
              <a:t> </a:t>
            </a:r>
            <a:r>
              <a:rPr sz="1350" spc="-5" dirty="0">
                <a:latin typeface="Times New Roman"/>
                <a:cs typeface="Times New Roman"/>
              </a:rPr>
              <a:t>available</a:t>
            </a:r>
            <a:endParaRPr sz="1350" dirty="0">
              <a:latin typeface="Times New Roman"/>
              <a:cs typeface="Times New Roman"/>
            </a:endParaRPr>
          </a:p>
          <a:p>
            <a:pPr marL="673100" marR="119380" lvl="2" indent="-118745">
              <a:lnSpc>
                <a:spcPts val="1240"/>
              </a:lnSpc>
              <a:spcBef>
                <a:spcPts val="234"/>
              </a:spcBef>
              <a:buClr>
                <a:srgbClr val="CC0000"/>
              </a:buClr>
              <a:buChar char="•"/>
              <a:tabLst>
                <a:tab pos="673735" algn="l"/>
              </a:tabLst>
            </a:pPr>
            <a:r>
              <a:rPr sz="1150" spc="-5" dirty="0">
                <a:latin typeface="Arial"/>
                <a:cs typeface="Arial"/>
              </a:rPr>
              <a:t>Example: you have a list of links from a Web page and want to check status (404 vs.  good). Submit them to a task queue to run concurrently, then invokeAll will let you see  return values when all links are done being</a:t>
            </a:r>
            <a:r>
              <a:rPr sz="1150" spc="-20" dirty="0">
                <a:latin typeface="Arial"/>
                <a:cs typeface="Arial"/>
              </a:rPr>
              <a:t> </a:t>
            </a:r>
            <a:r>
              <a:rPr sz="1150" spc="-5" dirty="0">
                <a:latin typeface="Arial"/>
                <a:cs typeface="Arial"/>
              </a:rPr>
              <a:t>checked.</a:t>
            </a:r>
            <a:endParaRPr sz="1150" dirty="0">
              <a:latin typeface="Arial"/>
              <a:cs typeface="Arial"/>
            </a:endParaRPr>
          </a:p>
          <a:p>
            <a:pPr>
              <a:lnSpc>
                <a:spcPct val="100000"/>
              </a:lnSpc>
            </a:pPr>
            <a:endParaRPr sz="1100" dirty="0">
              <a:latin typeface="Times New Roman"/>
              <a:cs typeface="Times New Roman"/>
            </a:endParaRPr>
          </a:p>
          <a:p>
            <a:pPr>
              <a:lnSpc>
                <a:spcPct val="100000"/>
              </a:lnSpc>
            </a:pPr>
            <a:endParaRPr sz="1100" dirty="0">
              <a:latin typeface="Times New Roman"/>
              <a:cs typeface="Times New Roman"/>
            </a:endParaRPr>
          </a:p>
          <a:p>
            <a:pPr>
              <a:lnSpc>
                <a:spcPct val="100000"/>
              </a:lnSpc>
            </a:pPr>
            <a:endParaRPr sz="1100" dirty="0">
              <a:latin typeface="Times New Roman"/>
              <a:cs typeface="Times New Roman"/>
            </a:endParaRPr>
          </a:p>
          <a:p>
            <a:pPr marL="51435">
              <a:lnSpc>
                <a:spcPct val="100000"/>
              </a:lnSpc>
            </a:pPr>
            <a:endParaRPr sz="700" dirty="0">
              <a:latin typeface="Arial Narrow"/>
              <a:cs typeface="Arial Narrow"/>
            </a:endParaRPr>
          </a:p>
        </p:txBody>
      </p:sp>
      <p:sp>
        <p:nvSpPr>
          <p:cNvPr id="3" name="object 3"/>
          <p:cNvSpPr/>
          <p:nvPr/>
        </p:nvSpPr>
        <p:spPr>
          <a:xfrm>
            <a:off x="654799" y="5968"/>
            <a:ext cx="6463030" cy="5022850"/>
          </a:xfrm>
          <a:custGeom>
            <a:avLst/>
            <a:gdLst/>
            <a:ahLst/>
            <a:cxnLst/>
            <a:rect l="l" t="t" r="r" b="b"/>
            <a:pathLst>
              <a:path w="6463030" h="5022850">
                <a:moveTo>
                  <a:pt x="0" y="0"/>
                </a:moveTo>
                <a:lnTo>
                  <a:pt x="6462801" y="0"/>
                </a:lnTo>
                <a:lnTo>
                  <a:pt x="6462801" y="5022850"/>
                </a:lnTo>
                <a:lnTo>
                  <a:pt x="0" y="5022850"/>
                </a:lnTo>
                <a:lnTo>
                  <a:pt x="0" y="0"/>
                </a:lnTo>
                <a:close/>
              </a:path>
            </a:pathLst>
          </a:custGeom>
          <a:ln w="3175">
            <a:solidFill>
              <a:srgbClr val="000000"/>
            </a:solidFill>
          </a:ln>
        </p:spPr>
        <p:txBody>
          <a:bodyPr wrap="square" lIns="0" tIns="0" rIns="0" bIns="0" rtlCol="0"/>
          <a:lstStyle/>
          <a:p>
            <a:endParaRPr/>
          </a:p>
        </p:txBody>
      </p:sp>
      <p:sp>
        <p:nvSpPr>
          <p:cNvPr id="5" name="object 5"/>
          <p:cNvSpPr/>
          <p:nvPr/>
        </p:nvSpPr>
        <p:spPr>
          <a:xfrm>
            <a:off x="654799" y="9525000"/>
            <a:ext cx="6144895" cy="328295"/>
          </a:xfrm>
          <a:custGeom>
            <a:avLst/>
            <a:gdLst/>
            <a:ahLst/>
            <a:cxnLst/>
            <a:rect l="l" t="t" r="r" b="b"/>
            <a:pathLst>
              <a:path w="6144895" h="328295">
                <a:moveTo>
                  <a:pt x="0" y="327825"/>
                </a:moveTo>
                <a:lnTo>
                  <a:pt x="6144768" y="327825"/>
                </a:lnTo>
                <a:lnTo>
                  <a:pt x="6144768" y="0"/>
                </a:lnTo>
                <a:lnTo>
                  <a:pt x="0" y="0"/>
                </a:lnTo>
                <a:lnTo>
                  <a:pt x="0" y="327825"/>
                </a:lnTo>
                <a:close/>
              </a:path>
            </a:pathLst>
          </a:custGeom>
          <a:solidFill>
            <a:srgbClr val="FFFFFF"/>
          </a:solidFill>
        </p:spPr>
        <p:txBody>
          <a:bodyPr wrap="square" lIns="0" tIns="0" rIns="0" bIns="0" rtlCol="0"/>
          <a:lstStyle/>
          <a:p>
            <a:endParaRPr/>
          </a:p>
        </p:txBody>
      </p:sp>
      <p:sp>
        <p:nvSpPr>
          <p:cNvPr id="7" name="object 7"/>
          <p:cNvSpPr/>
          <p:nvPr/>
        </p:nvSpPr>
        <p:spPr>
          <a:xfrm>
            <a:off x="654799" y="5028819"/>
            <a:ext cx="6463030" cy="5022850"/>
          </a:xfrm>
          <a:custGeom>
            <a:avLst/>
            <a:gdLst/>
            <a:ahLst/>
            <a:cxnLst/>
            <a:rect l="l" t="t" r="r" b="b"/>
            <a:pathLst>
              <a:path w="6463030" h="5022850">
                <a:moveTo>
                  <a:pt x="0" y="0"/>
                </a:moveTo>
                <a:lnTo>
                  <a:pt x="6462801" y="0"/>
                </a:lnTo>
                <a:lnTo>
                  <a:pt x="6462801" y="5022850"/>
                </a:lnTo>
                <a:lnTo>
                  <a:pt x="0" y="5022850"/>
                </a:lnTo>
                <a:lnTo>
                  <a:pt x="0" y="0"/>
                </a:lnTo>
                <a:close/>
              </a:path>
            </a:pathLst>
          </a:custGeom>
          <a:ln w="3175">
            <a:solidFill>
              <a:srgbClr val="000000"/>
            </a:solidFill>
          </a:ln>
        </p:spPr>
        <p:txBody>
          <a:bodyPr wrap="square" lIns="0" tIns="0" rIns="0" bIns="0" rtlCol="0"/>
          <a:lstStyle/>
          <a:p>
            <a:endParaRPr/>
          </a:p>
        </p:txBody>
      </p:sp>
      <p:sp>
        <p:nvSpPr>
          <p:cNvPr id="8" name="Rectangle 7"/>
          <p:cNvSpPr/>
          <p:nvPr/>
        </p:nvSpPr>
        <p:spPr>
          <a:xfrm>
            <a:off x="838200" y="5257800"/>
            <a:ext cx="6135508" cy="4401205"/>
          </a:xfrm>
          <a:prstGeom prst="rect">
            <a:avLst/>
          </a:prstGeom>
        </p:spPr>
        <p:txBody>
          <a:bodyPr wrap="square">
            <a:spAutoFit/>
          </a:bodyPr>
          <a:lstStyle/>
          <a:p>
            <a:r>
              <a:rPr lang="en-IE" sz="1400" b="1" dirty="0" smtClean="0">
                <a:solidFill>
                  <a:srgbClr val="7F0055"/>
                </a:solidFill>
                <a:latin typeface="Consolas"/>
              </a:rPr>
              <a:t>import</a:t>
            </a:r>
            <a:r>
              <a:rPr lang="en-IE" sz="1400" b="1" dirty="0" smtClean="0">
                <a:solidFill>
                  <a:srgbClr val="000000"/>
                </a:solidFill>
                <a:latin typeface="Consolas"/>
              </a:rPr>
              <a:t> </a:t>
            </a:r>
            <a:r>
              <a:rPr lang="en-IE" sz="1400" b="1" dirty="0" err="1">
                <a:solidFill>
                  <a:srgbClr val="000000"/>
                </a:solidFill>
                <a:latin typeface="Consolas"/>
              </a:rPr>
              <a:t>java.util.concurrent.Callable</a:t>
            </a:r>
            <a:r>
              <a:rPr lang="en-IE" sz="1400" b="1" dirty="0">
                <a:solidFill>
                  <a:srgbClr val="000000"/>
                </a:solidFill>
                <a:latin typeface="Consolas"/>
              </a:rPr>
              <a:t>;</a:t>
            </a:r>
          </a:p>
          <a:p>
            <a:r>
              <a:rPr lang="en-IE" sz="1400" b="1" dirty="0">
                <a:solidFill>
                  <a:srgbClr val="7F0055"/>
                </a:solidFill>
                <a:latin typeface="Consolas"/>
              </a:rPr>
              <a:t>class</a:t>
            </a:r>
            <a:r>
              <a:rPr lang="en-IE" sz="1400" b="1" dirty="0">
                <a:solidFill>
                  <a:srgbClr val="000000"/>
                </a:solidFill>
                <a:latin typeface="Consolas"/>
              </a:rPr>
              <a:t> </a:t>
            </a:r>
            <a:r>
              <a:rPr lang="en-IE" sz="1400" b="1" dirty="0" err="1">
                <a:solidFill>
                  <a:srgbClr val="000000"/>
                </a:solidFill>
                <a:latin typeface="Consolas"/>
              </a:rPr>
              <a:t>FindMaxTask</a:t>
            </a:r>
            <a:r>
              <a:rPr lang="en-IE" sz="1400" b="1" dirty="0">
                <a:solidFill>
                  <a:srgbClr val="000000"/>
                </a:solidFill>
                <a:latin typeface="Consolas"/>
              </a:rPr>
              <a:t> </a:t>
            </a:r>
            <a:r>
              <a:rPr lang="en-IE" sz="1400" b="1" dirty="0">
                <a:solidFill>
                  <a:srgbClr val="7F0055"/>
                </a:solidFill>
                <a:latin typeface="Consolas"/>
              </a:rPr>
              <a:t>implements</a:t>
            </a:r>
            <a:r>
              <a:rPr lang="en-IE" sz="1400" b="1" dirty="0">
                <a:solidFill>
                  <a:srgbClr val="000000"/>
                </a:solidFill>
                <a:latin typeface="Consolas"/>
              </a:rPr>
              <a:t> Callable&lt;Integer&gt; {</a:t>
            </a:r>
          </a:p>
          <a:p>
            <a:pPr lvl="1"/>
            <a:r>
              <a:rPr lang="en-IE" sz="1400" b="1" dirty="0">
                <a:solidFill>
                  <a:srgbClr val="7F0055"/>
                </a:solidFill>
                <a:latin typeface="Consolas"/>
              </a:rPr>
              <a:t>private</a:t>
            </a:r>
            <a:r>
              <a:rPr lang="en-IE" sz="1400" b="1" dirty="0">
                <a:solidFill>
                  <a:srgbClr val="000000"/>
                </a:solidFill>
                <a:latin typeface="Consolas"/>
              </a:rPr>
              <a:t> </a:t>
            </a:r>
            <a:r>
              <a:rPr lang="en-IE" sz="1400" b="1" dirty="0" err="1">
                <a:solidFill>
                  <a:srgbClr val="7F0055"/>
                </a:solidFill>
                <a:latin typeface="Consolas"/>
              </a:rPr>
              <a:t>int</a:t>
            </a:r>
            <a:r>
              <a:rPr lang="en-IE" sz="1400" b="1" dirty="0">
                <a:solidFill>
                  <a:srgbClr val="000000"/>
                </a:solidFill>
                <a:latin typeface="Consolas"/>
              </a:rPr>
              <a:t>[] </a:t>
            </a:r>
            <a:r>
              <a:rPr lang="en-IE" sz="1400" b="1" dirty="0">
                <a:solidFill>
                  <a:srgbClr val="0000C0"/>
                </a:solidFill>
                <a:latin typeface="Consolas"/>
              </a:rPr>
              <a:t>data</a:t>
            </a:r>
            <a:r>
              <a:rPr lang="en-IE" sz="1400" b="1" dirty="0">
                <a:solidFill>
                  <a:srgbClr val="000000"/>
                </a:solidFill>
                <a:latin typeface="Consolas"/>
              </a:rPr>
              <a:t>;</a:t>
            </a:r>
          </a:p>
          <a:p>
            <a:pPr lvl="1"/>
            <a:r>
              <a:rPr lang="en-IE" sz="1400" b="1" dirty="0">
                <a:solidFill>
                  <a:srgbClr val="7F0055"/>
                </a:solidFill>
                <a:latin typeface="Consolas"/>
              </a:rPr>
              <a:t>private</a:t>
            </a:r>
            <a:r>
              <a:rPr lang="en-IE" sz="1400" b="1" dirty="0">
                <a:solidFill>
                  <a:srgbClr val="000000"/>
                </a:solidFill>
                <a:latin typeface="Consolas"/>
              </a:rPr>
              <a:t> </a:t>
            </a:r>
            <a:r>
              <a:rPr lang="en-IE" sz="1400" b="1" dirty="0" err="1">
                <a:solidFill>
                  <a:srgbClr val="7F0055"/>
                </a:solidFill>
                <a:latin typeface="Consolas"/>
              </a:rPr>
              <a:t>int</a:t>
            </a:r>
            <a:r>
              <a:rPr lang="en-IE" sz="1400" b="1" dirty="0">
                <a:solidFill>
                  <a:srgbClr val="000000"/>
                </a:solidFill>
                <a:latin typeface="Consolas"/>
              </a:rPr>
              <a:t> </a:t>
            </a:r>
            <a:r>
              <a:rPr lang="en-IE" sz="1400" b="1" dirty="0">
                <a:solidFill>
                  <a:srgbClr val="0000C0"/>
                </a:solidFill>
                <a:latin typeface="Consolas"/>
              </a:rPr>
              <a:t>start</a:t>
            </a:r>
            <a:r>
              <a:rPr lang="en-IE" sz="1400" b="1" dirty="0">
                <a:solidFill>
                  <a:srgbClr val="000000"/>
                </a:solidFill>
                <a:latin typeface="Consolas"/>
              </a:rPr>
              <a:t>;</a:t>
            </a:r>
          </a:p>
          <a:p>
            <a:pPr lvl="1"/>
            <a:r>
              <a:rPr lang="en-IE" sz="1400" b="1" dirty="0">
                <a:solidFill>
                  <a:srgbClr val="7F0055"/>
                </a:solidFill>
                <a:latin typeface="Consolas"/>
              </a:rPr>
              <a:t>private</a:t>
            </a:r>
            <a:r>
              <a:rPr lang="en-IE" sz="1400" b="1" dirty="0">
                <a:solidFill>
                  <a:srgbClr val="000000"/>
                </a:solidFill>
                <a:latin typeface="Consolas"/>
              </a:rPr>
              <a:t> </a:t>
            </a:r>
            <a:r>
              <a:rPr lang="en-IE" sz="1400" b="1" dirty="0" err="1">
                <a:solidFill>
                  <a:srgbClr val="7F0055"/>
                </a:solidFill>
                <a:latin typeface="Consolas"/>
              </a:rPr>
              <a:t>int</a:t>
            </a:r>
            <a:r>
              <a:rPr lang="en-IE" sz="1400" b="1" dirty="0">
                <a:solidFill>
                  <a:srgbClr val="000000"/>
                </a:solidFill>
                <a:latin typeface="Consolas"/>
              </a:rPr>
              <a:t> </a:t>
            </a:r>
            <a:r>
              <a:rPr lang="en-IE" sz="1400" b="1" dirty="0">
                <a:solidFill>
                  <a:srgbClr val="0000C0"/>
                </a:solidFill>
                <a:latin typeface="Consolas"/>
              </a:rPr>
              <a:t>end</a:t>
            </a:r>
            <a:r>
              <a:rPr lang="en-IE" sz="1400" b="1" dirty="0">
                <a:solidFill>
                  <a:srgbClr val="000000"/>
                </a:solidFill>
                <a:latin typeface="Consolas"/>
              </a:rPr>
              <a:t>;</a:t>
            </a:r>
          </a:p>
          <a:p>
            <a:r>
              <a:rPr lang="en-IE" sz="1400" dirty="0" err="1">
                <a:solidFill>
                  <a:srgbClr val="000000"/>
                </a:solidFill>
                <a:highlight>
                  <a:srgbClr val="D4D4D4"/>
                </a:highlight>
                <a:latin typeface="Consolas"/>
              </a:rPr>
              <a:t>FindMaxTask</a:t>
            </a:r>
            <a:r>
              <a:rPr lang="en-IE" sz="1400" dirty="0">
                <a:solidFill>
                  <a:srgbClr val="000000"/>
                </a:solidFill>
                <a:highlight>
                  <a:srgbClr val="D4D4D4"/>
                </a:highlight>
                <a:latin typeface="Consolas"/>
              </a:rPr>
              <a:t>(</a:t>
            </a:r>
            <a:r>
              <a:rPr lang="en-IE" sz="1400" b="1" dirty="0" err="1">
                <a:solidFill>
                  <a:srgbClr val="7F0055"/>
                </a:solidFill>
                <a:highlight>
                  <a:srgbClr val="D4D4D4"/>
                </a:highlight>
                <a:latin typeface="Consolas"/>
              </a:rPr>
              <a:t>int</a:t>
            </a:r>
            <a:r>
              <a:rPr lang="en-IE" sz="1400" b="1" dirty="0">
                <a:solidFill>
                  <a:srgbClr val="000000"/>
                </a:solidFill>
                <a:highlight>
                  <a:srgbClr val="D4D4D4"/>
                </a:highlight>
                <a:latin typeface="Consolas"/>
              </a:rPr>
              <a:t>[] </a:t>
            </a:r>
            <a:r>
              <a:rPr lang="en-IE" sz="1400" b="1" dirty="0">
                <a:solidFill>
                  <a:srgbClr val="6A3E3E"/>
                </a:solidFill>
                <a:highlight>
                  <a:srgbClr val="D4D4D4"/>
                </a:highlight>
                <a:latin typeface="Consolas"/>
              </a:rPr>
              <a:t>data</a:t>
            </a:r>
            <a:r>
              <a:rPr lang="en-IE" sz="1400" b="1" dirty="0">
                <a:solidFill>
                  <a:srgbClr val="000000"/>
                </a:solidFill>
                <a:highlight>
                  <a:srgbClr val="D4D4D4"/>
                </a:highlight>
                <a:latin typeface="Consolas"/>
              </a:rPr>
              <a:t>, </a:t>
            </a:r>
            <a:r>
              <a:rPr lang="en-IE" sz="1400" b="1" dirty="0" err="1">
                <a:solidFill>
                  <a:srgbClr val="7F0055"/>
                </a:solidFill>
                <a:highlight>
                  <a:srgbClr val="D4D4D4"/>
                </a:highlight>
                <a:latin typeface="Consolas"/>
              </a:rPr>
              <a:t>int</a:t>
            </a:r>
            <a:r>
              <a:rPr lang="en-IE" sz="1400" b="1" dirty="0">
                <a:solidFill>
                  <a:srgbClr val="000000"/>
                </a:solidFill>
                <a:highlight>
                  <a:srgbClr val="D4D4D4"/>
                </a:highlight>
                <a:latin typeface="Consolas"/>
              </a:rPr>
              <a:t> </a:t>
            </a:r>
            <a:r>
              <a:rPr lang="en-IE" sz="1400" b="1" dirty="0">
                <a:solidFill>
                  <a:srgbClr val="6A3E3E"/>
                </a:solidFill>
                <a:highlight>
                  <a:srgbClr val="D4D4D4"/>
                </a:highlight>
                <a:latin typeface="Consolas"/>
              </a:rPr>
              <a:t>start</a:t>
            </a:r>
            <a:r>
              <a:rPr lang="en-IE" sz="1400" b="1" dirty="0">
                <a:solidFill>
                  <a:srgbClr val="000000"/>
                </a:solidFill>
                <a:highlight>
                  <a:srgbClr val="D4D4D4"/>
                </a:highlight>
                <a:latin typeface="Consolas"/>
              </a:rPr>
              <a:t>, </a:t>
            </a:r>
            <a:r>
              <a:rPr lang="en-IE" sz="1400" b="1" dirty="0" err="1">
                <a:solidFill>
                  <a:srgbClr val="7F0055"/>
                </a:solidFill>
                <a:highlight>
                  <a:srgbClr val="D4D4D4"/>
                </a:highlight>
                <a:latin typeface="Consolas"/>
              </a:rPr>
              <a:t>int</a:t>
            </a:r>
            <a:r>
              <a:rPr lang="en-IE" sz="1400" b="1" dirty="0">
                <a:solidFill>
                  <a:srgbClr val="000000"/>
                </a:solidFill>
                <a:highlight>
                  <a:srgbClr val="D4D4D4"/>
                </a:highlight>
                <a:latin typeface="Consolas"/>
              </a:rPr>
              <a:t> </a:t>
            </a:r>
            <a:r>
              <a:rPr lang="en-IE" sz="1400" b="1" dirty="0">
                <a:solidFill>
                  <a:srgbClr val="6A3E3E"/>
                </a:solidFill>
                <a:highlight>
                  <a:srgbClr val="D4D4D4"/>
                </a:highlight>
                <a:latin typeface="Consolas"/>
              </a:rPr>
              <a:t>end</a:t>
            </a:r>
            <a:r>
              <a:rPr lang="en-IE" sz="1400" b="1" dirty="0">
                <a:solidFill>
                  <a:srgbClr val="000000"/>
                </a:solidFill>
                <a:highlight>
                  <a:srgbClr val="D4D4D4"/>
                </a:highlight>
                <a:latin typeface="Consolas"/>
              </a:rPr>
              <a:t>) {</a:t>
            </a:r>
          </a:p>
          <a:p>
            <a:pPr lvl="1"/>
            <a:r>
              <a:rPr lang="en-IE" sz="1400" b="1" dirty="0" err="1">
                <a:solidFill>
                  <a:srgbClr val="7F0055"/>
                </a:solidFill>
                <a:latin typeface="Consolas"/>
              </a:rPr>
              <a:t>this</a:t>
            </a:r>
            <a:r>
              <a:rPr lang="en-IE" sz="1400" b="1" dirty="0" err="1">
                <a:solidFill>
                  <a:srgbClr val="000000"/>
                </a:solidFill>
                <a:latin typeface="Consolas"/>
              </a:rPr>
              <a:t>.</a:t>
            </a:r>
            <a:r>
              <a:rPr lang="en-IE" sz="1400" b="1" dirty="0" err="1">
                <a:solidFill>
                  <a:srgbClr val="0000C0"/>
                </a:solidFill>
                <a:latin typeface="Consolas"/>
              </a:rPr>
              <a:t>data</a:t>
            </a:r>
            <a:r>
              <a:rPr lang="en-IE" sz="1400" b="1" dirty="0">
                <a:solidFill>
                  <a:srgbClr val="000000"/>
                </a:solidFill>
                <a:latin typeface="Consolas"/>
              </a:rPr>
              <a:t> = </a:t>
            </a:r>
            <a:r>
              <a:rPr lang="en-IE" sz="1400" b="1" dirty="0">
                <a:solidFill>
                  <a:srgbClr val="6A3E3E"/>
                </a:solidFill>
                <a:latin typeface="Consolas"/>
              </a:rPr>
              <a:t>data</a:t>
            </a:r>
            <a:r>
              <a:rPr lang="en-IE" sz="1400" b="1" dirty="0">
                <a:solidFill>
                  <a:srgbClr val="000000"/>
                </a:solidFill>
                <a:latin typeface="Consolas"/>
              </a:rPr>
              <a:t>;</a:t>
            </a:r>
          </a:p>
          <a:p>
            <a:pPr lvl="1"/>
            <a:r>
              <a:rPr lang="en-IE" sz="1400" b="1" dirty="0" err="1">
                <a:solidFill>
                  <a:srgbClr val="7F0055"/>
                </a:solidFill>
                <a:latin typeface="Consolas"/>
              </a:rPr>
              <a:t>this</a:t>
            </a:r>
            <a:r>
              <a:rPr lang="en-IE" sz="1400" b="1" dirty="0" err="1">
                <a:solidFill>
                  <a:srgbClr val="000000"/>
                </a:solidFill>
                <a:latin typeface="Consolas"/>
              </a:rPr>
              <a:t>.</a:t>
            </a:r>
            <a:r>
              <a:rPr lang="en-IE" sz="1400" b="1" dirty="0" err="1">
                <a:solidFill>
                  <a:srgbClr val="0000C0"/>
                </a:solidFill>
                <a:latin typeface="Consolas"/>
              </a:rPr>
              <a:t>start</a:t>
            </a:r>
            <a:r>
              <a:rPr lang="en-IE" sz="1400" b="1" dirty="0">
                <a:solidFill>
                  <a:srgbClr val="000000"/>
                </a:solidFill>
                <a:latin typeface="Consolas"/>
              </a:rPr>
              <a:t> = </a:t>
            </a:r>
            <a:r>
              <a:rPr lang="en-IE" sz="1400" b="1" dirty="0">
                <a:solidFill>
                  <a:srgbClr val="6A3E3E"/>
                </a:solidFill>
                <a:latin typeface="Consolas"/>
              </a:rPr>
              <a:t>start</a:t>
            </a:r>
            <a:r>
              <a:rPr lang="en-IE" sz="1400" b="1" dirty="0">
                <a:solidFill>
                  <a:srgbClr val="000000"/>
                </a:solidFill>
                <a:latin typeface="Consolas"/>
              </a:rPr>
              <a:t>;</a:t>
            </a:r>
          </a:p>
          <a:p>
            <a:pPr lvl="1"/>
            <a:r>
              <a:rPr lang="en-IE" sz="1400" b="1" dirty="0" err="1">
                <a:solidFill>
                  <a:srgbClr val="7F0055"/>
                </a:solidFill>
                <a:latin typeface="Consolas"/>
              </a:rPr>
              <a:t>this</a:t>
            </a:r>
            <a:r>
              <a:rPr lang="en-IE" sz="1400" b="1" dirty="0" err="1">
                <a:solidFill>
                  <a:srgbClr val="000000"/>
                </a:solidFill>
                <a:latin typeface="Consolas"/>
              </a:rPr>
              <a:t>.</a:t>
            </a:r>
            <a:r>
              <a:rPr lang="en-IE" sz="1400" b="1" dirty="0" err="1">
                <a:solidFill>
                  <a:srgbClr val="0000C0"/>
                </a:solidFill>
                <a:latin typeface="Consolas"/>
              </a:rPr>
              <a:t>end</a:t>
            </a:r>
            <a:r>
              <a:rPr lang="en-IE" sz="1400" b="1" dirty="0">
                <a:solidFill>
                  <a:srgbClr val="000000"/>
                </a:solidFill>
                <a:latin typeface="Consolas"/>
              </a:rPr>
              <a:t> = </a:t>
            </a:r>
            <a:r>
              <a:rPr lang="en-IE" sz="1400" b="1" dirty="0">
                <a:solidFill>
                  <a:srgbClr val="6A3E3E"/>
                </a:solidFill>
                <a:latin typeface="Consolas"/>
              </a:rPr>
              <a:t>end</a:t>
            </a:r>
            <a:r>
              <a:rPr lang="en-IE" sz="1400" b="1" dirty="0">
                <a:solidFill>
                  <a:srgbClr val="000000"/>
                </a:solidFill>
                <a:latin typeface="Consolas"/>
              </a:rPr>
              <a:t>;</a:t>
            </a:r>
          </a:p>
          <a:p>
            <a:r>
              <a:rPr lang="en-IE" sz="1400" dirty="0">
                <a:solidFill>
                  <a:srgbClr val="000000"/>
                </a:solidFill>
                <a:latin typeface="Consolas"/>
              </a:rPr>
              <a:t>}</a:t>
            </a:r>
          </a:p>
          <a:p>
            <a:r>
              <a:rPr lang="en-IE" sz="1400" b="1" dirty="0">
                <a:solidFill>
                  <a:srgbClr val="7F0055"/>
                </a:solidFill>
                <a:latin typeface="Consolas"/>
              </a:rPr>
              <a:t>public</a:t>
            </a:r>
            <a:r>
              <a:rPr lang="en-IE" sz="1400" b="1" dirty="0">
                <a:solidFill>
                  <a:srgbClr val="000000"/>
                </a:solidFill>
                <a:latin typeface="Consolas"/>
              </a:rPr>
              <a:t> Integer call() {</a:t>
            </a:r>
          </a:p>
          <a:p>
            <a:pPr lvl="1"/>
            <a:r>
              <a:rPr lang="en-IE" sz="1400" b="1" dirty="0" err="1">
                <a:solidFill>
                  <a:srgbClr val="7F0055"/>
                </a:solidFill>
                <a:latin typeface="Consolas"/>
              </a:rPr>
              <a:t>int</a:t>
            </a:r>
            <a:r>
              <a:rPr lang="en-IE" sz="1400" b="1" dirty="0">
                <a:solidFill>
                  <a:srgbClr val="000000"/>
                </a:solidFill>
                <a:latin typeface="Consolas"/>
              </a:rPr>
              <a:t> </a:t>
            </a:r>
            <a:r>
              <a:rPr lang="en-IE" sz="1400" b="1" dirty="0">
                <a:solidFill>
                  <a:srgbClr val="6A3E3E"/>
                </a:solidFill>
                <a:latin typeface="Consolas"/>
              </a:rPr>
              <a:t>max</a:t>
            </a:r>
            <a:r>
              <a:rPr lang="en-IE" sz="1400" b="1" dirty="0">
                <a:solidFill>
                  <a:srgbClr val="000000"/>
                </a:solidFill>
                <a:latin typeface="Consolas"/>
              </a:rPr>
              <a:t> = </a:t>
            </a:r>
            <a:r>
              <a:rPr lang="en-IE" sz="1400" b="1" dirty="0" err="1">
                <a:solidFill>
                  <a:srgbClr val="000000"/>
                </a:solidFill>
                <a:latin typeface="Consolas"/>
              </a:rPr>
              <a:t>Integer.</a:t>
            </a:r>
            <a:r>
              <a:rPr lang="en-IE" sz="1400" b="1" i="1" dirty="0" err="1">
                <a:solidFill>
                  <a:srgbClr val="0000C0"/>
                </a:solidFill>
                <a:latin typeface="Consolas"/>
              </a:rPr>
              <a:t>MIN_VALUE</a:t>
            </a:r>
            <a:r>
              <a:rPr lang="en-IE" sz="1400" b="1" i="1" dirty="0">
                <a:solidFill>
                  <a:srgbClr val="000000"/>
                </a:solidFill>
                <a:latin typeface="Consolas"/>
              </a:rPr>
              <a:t>;</a:t>
            </a:r>
          </a:p>
          <a:p>
            <a:pPr lvl="1"/>
            <a:r>
              <a:rPr lang="en-IE" sz="1400" b="1" dirty="0">
                <a:solidFill>
                  <a:srgbClr val="7F0055"/>
                </a:solidFill>
                <a:latin typeface="Consolas"/>
              </a:rPr>
              <a:t>for</a:t>
            </a:r>
            <a:r>
              <a:rPr lang="en-IE" sz="1400" b="1" dirty="0">
                <a:solidFill>
                  <a:srgbClr val="000000"/>
                </a:solidFill>
                <a:latin typeface="Consolas"/>
              </a:rPr>
              <a:t> (</a:t>
            </a:r>
            <a:r>
              <a:rPr lang="en-IE" sz="1400" b="1" dirty="0" err="1">
                <a:solidFill>
                  <a:srgbClr val="7F0055"/>
                </a:solidFill>
                <a:latin typeface="Consolas"/>
              </a:rPr>
              <a:t>int</a:t>
            </a:r>
            <a:r>
              <a:rPr lang="en-IE" sz="1400" b="1" dirty="0">
                <a:solidFill>
                  <a:srgbClr val="000000"/>
                </a:solidFill>
                <a:latin typeface="Consolas"/>
              </a:rPr>
              <a:t> </a:t>
            </a:r>
            <a:r>
              <a:rPr lang="en-IE" sz="1400" b="1" dirty="0" err="1">
                <a:solidFill>
                  <a:srgbClr val="6A3E3E"/>
                </a:solidFill>
                <a:latin typeface="Consolas"/>
              </a:rPr>
              <a:t>i</a:t>
            </a:r>
            <a:r>
              <a:rPr lang="en-IE" sz="1400" b="1" dirty="0">
                <a:solidFill>
                  <a:srgbClr val="000000"/>
                </a:solidFill>
                <a:latin typeface="Consolas"/>
              </a:rPr>
              <a:t> = </a:t>
            </a:r>
            <a:r>
              <a:rPr lang="en-IE" sz="1400" b="1" dirty="0">
                <a:solidFill>
                  <a:srgbClr val="0000C0"/>
                </a:solidFill>
                <a:latin typeface="Consolas"/>
              </a:rPr>
              <a:t>start</a:t>
            </a:r>
            <a:r>
              <a:rPr lang="en-IE" sz="1400" b="1" dirty="0">
                <a:solidFill>
                  <a:srgbClr val="000000"/>
                </a:solidFill>
                <a:latin typeface="Consolas"/>
              </a:rPr>
              <a:t>; </a:t>
            </a:r>
            <a:r>
              <a:rPr lang="en-IE" sz="1400" b="1" dirty="0" err="1">
                <a:solidFill>
                  <a:srgbClr val="6A3E3E"/>
                </a:solidFill>
                <a:latin typeface="Consolas"/>
              </a:rPr>
              <a:t>i</a:t>
            </a:r>
            <a:r>
              <a:rPr lang="en-IE" sz="1400" b="1" dirty="0">
                <a:solidFill>
                  <a:srgbClr val="000000"/>
                </a:solidFill>
                <a:latin typeface="Consolas"/>
              </a:rPr>
              <a:t> &lt; </a:t>
            </a:r>
            <a:r>
              <a:rPr lang="en-IE" sz="1400" b="1" dirty="0">
                <a:solidFill>
                  <a:srgbClr val="0000C0"/>
                </a:solidFill>
                <a:latin typeface="Consolas"/>
              </a:rPr>
              <a:t>end</a:t>
            </a:r>
            <a:r>
              <a:rPr lang="en-IE" sz="1400" b="1" dirty="0">
                <a:solidFill>
                  <a:srgbClr val="000000"/>
                </a:solidFill>
                <a:latin typeface="Consolas"/>
              </a:rPr>
              <a:t>; </a:t>
            </a:r>
            <a:r>
              <a:rPr lang="en-IE" sz="1400" b="1" dirty="0" err="1">
                <a:solidFill>
                  <a:srgbClr val="6A3E3E"/>
                </a:solidFill>
                <a:latin typeface="Consolas"/>
              </a:rPr>
              <a:t>i</a:t>
            </a:r>
            <a:r>
              <a:rPr lang="en-IE" sz="1400" b="1" dirty="0">
                <a:solidFill>
                  <a:srgbClr val="000000"/>
                </a:solidFill>
                <a:latin typeface="Consolas"/>
              </a:rPr>
              <a:t>++) {</a:t>
            </a:r>
          </a:p>
          <a:p>
            <a:pPr lvl="1"/>
            <a:r>
              <a:rPr lang="en-IE" sz="1400" b="1" dirty="0">
                <a:solidFill>
                  <a:srgbClr val="7F0055"/>
                </a:solidFill>
                <a:latin typeface="Consolas"/>
              </a:rPr>
              <a:t>if</a:t>
            </a:r>
            <a:r>
              <a:rPr lang="en-IE" sz="1400" b="1" dirty="0">
                <a:solidFill>
                  <a:srgbClr val="000000"/>
                </a:solidFill>
                <a:latin typeface="Consolas"/>
              </a:rPr>
              <a:t> (</a:t>
            </a:r>
            <a:r>
              <a:rPr lang="en-IE" sz="1400" b="1" dirty="0">
                <a:solidFill>
                  <a:srgbClr val="0000C0"/>
                </a:solidFill>
                <a:latin typeface="Consolas"/>
              </a:rPr>
              <a:t>data</a:t>
            </a:r>
            <a:r>
              <a:rPr lang="en-IE" sz="1400" b="1" dirty="0">
                <a:solidFill>
                  <a:srgbClr val="000000"/>
                </a:solidFill>
                <a:latin typeface="Consolas"/>
              </a:rPr>
              <a:t>[</a:t>
            </a:r>
            <a:r>
              <a:rPr lang="en-IE" sz="1400" b="1" dirty="0" err="1">
                <a:solidFill>
                  <a:srgbClr val="6A3E3E"/>
                </a:solidFill>
                <a:latin typeface="Consolas"/>
              </a:rPr>
              <a:t>i</a:t>
            </a:r>
            <a:r>
              <a:rPr lang="en-IE" sz="1400" b="1" dirty="0">
                <a:solidFill>
                  <a:srgbClr val="000000"/>
                </a:solidFill>
                <a:latin typeface="Consolas"/>
              </a:rPr>
              <a:t>] &gt; </a:t>
            </a:r>
            <a:r>
              <a:rPr lang="en-IE" sz="1400" b="1" dirty="0">
                <a:solidFill>
                  <a:srgbClr val="6A3E3E"/>
                </a:solidFill>
                <a:latin typeface="Consolas"/>
              </a:rPr>
              <a:t>max</a:t>
            </a:r>
            <a:r>
              <a:rPr lang="en-IE" sz="1400" b="1" dirty="0">
                <a:solidFill>
                  <a:srgbClr val="000000"/>
                </a:solidFill>
                <a:latin typeface="Consolas"/>
              </a:rPr>
              <a:t>)</a:t>
            </a:r>
          </a:p>
          <a:p>
            <a:r>
              <a:rPr lang="en-IE" sz="1400" dirty="0" smtClean="0">
                <a:solidFill>
                  <a:srgbClr val="6A3E3E"/>
                </a:solidFill>
                <a:latin typeface="Consolas"/>
              </a:rPr>
              <a:t>	max</a:t>
            </a:r>
            <a:r>
              <a:rPr lang="en-IE" sz="1400" dirty="0" smtClean="0">
                <a:solidFill>
                  <a:srgbClr val="000000"/>
                </a:solidFill>
                <a:latin typeface="Consolas"/>
              </a:rPr>
              <a:t> </a:t>
            </a:r>
            <a:r>
              <a:rPr lang="en-IE" sz="1400" dirty="0">
                <a:solidFill>
                  <a:srgbClr val="000000"/>
                </a:solidFill>
                <a:latin typeface="Consolas"/>
              </a:rPr>
              <a:t>= </a:t>
            </a:r>
            <a:r>
              <a:rPr lang="en-IE" sz="1400" dirty="0">
                <a:solidFill>
                  <a:srgbClr val="0000C0"/>
                </a:solidFill>
                <a:latin typeface="Consolas"/>
              </a:rPr>
              <a:t>data</a:t>
            </a:r>
            <a:r>
              <a:rPr lang="en-IE" sz="1400" dirty="0">
                <a:solidFill>
                  <a:srgbClr val="000000"/>
                </a:solidFill>
                <a:latin typeface="Consolas"/>
              </a:rPr>
              <a:t>[</a:t>
            </a:r>
            <a:r>
              <a:rPr lang="en-IE" sz="1400" dirty="0" err="1">
                <a:solidFill>
                  <a:srgbClr val="6A3E3E"/>
                </a:solidFill>
                <a:latin typeface="Consolas"/>
              </a:rPr>
              <a:t>i</a:t>
            </a:r>
            <a:r>
              <a:rPr lang="en-IE" sz="1400" dirty="0">
                <a:solidFill>
                  <a:srgbClr val="000000"/>
                </a:solidFill>
                <a:latin typeface="Consolas"/>
              </a:rPr>
              <a:t>];</a:t>
            </a:r>
          </a:p>
          <a:p>
            <a:r>
              <a:rPr lang="en-IE" sz="1400" dirty="0" smtClean="0">
                <a:solidFill>
                  <a:srgbClr val="000000"/>
                </a:solidFill>
                <a:latin typeface="Consolas"/>
              </a:rPr>
              <a:t>	</a:t>
            </a:r>
          </a:p>
          <a:p>
            <a:r>
              <a:rPr lang="en-IE" sz="1400" dirty="0">
                <a:solidFill>
                  <a:srgbClr val="000000"/>
                </a:solidFill>
                <a:latin typeface="Consolas"/>
              </a:rPr>
              <a:t>	</a:t>
            </a:r>
            <a:r>
              <a:rPr lang="en-IE" sz="1400" dirty="0" smtClean="0">
                <a:solidFill>
                  <a:srgbClr val="000000"/>
                </a:solidFill>
                <a:latin typeface="Consolas"/>
              </a:rPr>
              <a:t>}</a:t>
            </a:r>
            <a:endParaRPr lang="en-IE" sz="1400" dirty="0">
              <a:solidFill>
                <a:srgbClr val="000000"/>
              </a:solidFill>
              <a:latin typeface="Consolas"/>
            </a:endParaRPr>
          </a:p>
          <a:p>
            <a:r>
              <a:rPr lang="en-IE" sz="1400" b="1" dirty="0" smtClean="0">
                <a:solidFill>
                  <a:srgbClr val="7F0055"/>
                </a:solidFill>
                <a:latin typeface="Consolas"/>
              </a:rPr>
              <a:t>	return</a:t>
            </a:r>
            <a:r>
              <a:rPr lang="en-IE" sz="1400" b="1" dirty="0" smtClean="0">
                <a:solidFill>
                  <a:srgbClr val="000000"/>
                </a:solidFill>
                <a:latin typeface="Consolas"/>
              </a:rPr>
              <a:t> </a:t>
            </a:r>
            <a:r>
              <a:rPr lang="en-IE" sz="1400" b="1" dirty="0">
                <a:solidFill>
                  <a:srgbClr val="6A3E3E"/>
                </a:solidFill>
                <a:latin typeface="Consolas"/>
              </a:rPr>
              <a:t>max</a:t>
            </a:r>
            <a:r>
              <a:rPr lang="en-IE" sz="1400" b="1" dirty="0">
                <a:solidFill>
                  <a:srgbClr val="000000"/>
                </a:solidFill>
                <a:latin typeface="Consolas"/>
              </a:rPr>
              <a:t>;</a:t>
            </a:r>
          </a:p>
          <a:p>
            <a:r>
              <a:rPr lang="en-IE" sz="1400" dirty="0">
                <a:solidFill>
                  <a:srgbClr val="000000"/>
                </a:solidFill>
                <a:latin typeface="Consolas"/>
              </a:rPr>
              <a:t>}</a:t>
            </a:r>
          </a:p>
          <a:p>
            <a:r>
              <a:rPr lang="en-IE" sz="1400" dirty="0">
                <a:solidFill>
                  <a:srgbClr val="000000"/>
                </a:solidFill>
                <a:latin typeface="Consolas"/>
              </a:rPr>
              <a:t>}</a:t>
            </a:r>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5"/>
          <p:cNvSpPr/>
          <p:nvPr/>
        </p:nvSpPr>
        <p:spPr>
          <a:xfrm>
            <a:off x="790778" y="8994597"/>
            <a:ext cx="6144895" cy="328295"/>
          </a:xfrm>
          <a:custGeom>
            <a:avLst/>
            <a:gdLst/>
            <a:ahLst/>
            <a:cxnLst/>
            <a:rect l="l" t="t" r="r" b="b"/>
            <a:pathLst>
              <a:path w="6144895" h="328295">
                <a:moveTo>
                  <a:pt x="0" y="327825"/>
                </a:moveTo>
                <a:lnTo>
                  <a:pt x="6144768" y="327825"/>
                </a:lnTo>
                <a:lnTo>
                  <a:pt x="6144768" y="0"/>
                </a:lnTo>
                <a:lnTo>
                  <a:pt x="0" y="0"/>
                </a:lnTo>
                <a:lnTo>
                  <a:pt x="0" y="327825"/>
                </a:lnTo>
                <a:close/>
              </a:path>
            </a:pathLst>
          </a:custGeom>
          <a:solidFill>
            <a:srgbClr val="FFFFFF"/>
          </a:solidFill>
        </p:spPr>
        <p:txBody>
          <a:bodyPr wrap="square" lIns="0" tIns="0" rIns="0" bIns="0" rtlCol="0"/>
          <a:lstStyle/>
          <a:p>
            <a:endParaRPr/>
          </a:p>
        </p:txBody>
      </p:sp>
      <p:sp>
        <p:nvSpPr>
          <p:cNvPr id="9" name="Rectangle 8"/>
          <p:cNvSpPr/>
          <p:nvPr/>
        </p:nvSpPr>
        <p:spPr>
          <a:xfrm>
            <a:off x="594100" y="1164134"/>
            <a:ext cx="6584428" cy="5693866"/>
          </a:xfrm>
          <a:prstGeom prst="rect">
            <a:avLst/>
          </a:prstGeom>
        </p:spPr>
        <p:txBody>
          <a:bodyPr wrap="square">
            <a:spAutoFit/>
          </a:bodyPr>
          <a:lstStyle/>
          <a:p>
            <a:r>
              <a:rPr lang="en-IE" sz="1400" b="1" dirty="0" smtClean="0">
                <a:solidFill>
                  <a:srgbClr val="7F0055"/>
                </a:solidFill>
                <a:latin typeface="Consolas"/>
              </a:rPr>
              <a:t>import</a:t>
            </a:r>
            <a:r>
              <a:rPr lang="en-IE" sz="1400" b="1" dirty="0" smtClean="0">
                <a:solidFill>
                  <a:srgbClr val="000000"/>
                </a:solidFill>
                <a:latin typeface="Consolas"/>
              </a:rPr>
              <a:t> </a:t>
            </a:r>
            <a:r>
              <a:rPr lang="en-IE" sz="1400" b="1" dirty="0" err="1">
                <a:solidFill>
                  <a:srgbClr val="000000"/>
                </a:solidFill>
                <a:latin typeface="Consolas"/>
              </a:rPr>
              <a:t>java.util.concurrent</a:t>
            </a:r>
            <a:r>
              <a:rPr lang="en-IE" sz="1400" b="1" dirty="0">
                <a:solidFill>
                  <a:srgbClr val="000000"/>
                </a:solidFill>
                <a:latin typeface="Consolas"/>
              </a:rPr>
              <a:t>.*;</a:t>
            </a:r>
          </a:p>
          <a:p>
            <a:r>
              <a:rPr lang="en-IE" sz="1400" b="1" dirty="0">
                <a:solidFill>
                  <a:srgbClr val="7F0055"/>
                </a:solidFill>
                <a:latin typeface="Consolas"/>
              </a:rPr>
              <a:t>public</a:t>
            </a:r>
            <a:r>
              <a:rPr lang="en-IE" sz="1400" b="1" dirty="0">
                <a:solidFill>
                  <a:srgbClr val="000000"/>
                </a:solidFill>
                <a:latin typeface="Consolas"/>
              </a:rPr>
              <a:t> </a:t>
            </a:r>
            <a:r>
              <a:rPr lang="en-IE" sz="1400" b="1" dirty="0">
                <a:solidFill>
                  <a:srgbClr val="7F0055"/>
                </a:solidFill>
                <a:latin typeface="Consolas"/>
              </a:rPr>
              <a:t>class</a:t>
            </a:r>
            <a:r>
              <a:rPr lang="en-IE" sz="1400" b="1" dirty="0">
                <a:solidFill>
                  <a:srgbClr val="000000"/>
                </a:solidFill>
                <a:latin typeface="Consolas"/>
              </a:rPr>
              <a:t> </a:t>
            </a:r>
            <a:r>
              <a:rPr lang="en-IE" sz="1400" b="1" dirty="0" err="1">
                <a:solidFill>
                  <a:srgbClr val="000000"/>
                </a:solidFill>
                <a:latin typeface="Consolas"/>
              </a:rPr>
              <a:t>MultithreadedMaxFinder</a:t>
            </a:r>
            <a:r>
              <a:rPr lang="en-IE" sz="1400" b="1" dirty="0">
                <a:solidFill>
                  <a:srgbClr val="000000"/>
                </a:solidFill>
                <a:latin typeface="Consolas"/>
              </a:rPr>
              <a:t> {</a:t>
            </a:r>
          </a:p>
          <a:p>
            <a:r>
              <a:rPr lang="en-IE" sz="1400" b="1" dirty="0">
                <a:solidFill>
                  <a:srgbClr val="7F0055"/>
                </a:solidFill>
                <a:latin typeface="Consolas"/>
              </a:rPr>
              <a:t>public</a:t>
            </a:r>
            <a:r>
              <a:rPr lang="en-IE" sz="1400" b="1" dirty="0">
                <a:solidFill>
                  <a:srgbClr val="000000"/>
                </a:solidFill>
                <a:latin typeface="Consolas"/>
              </a:rPr>
              <a:t> </a:t>
            </a:r>
            <a:r>
              <a:rPr lang="en-IE" sz="1400" b="1" dirty="0">
                <a:solidFill>
                  <a:srgbClr val="7F0055"/>
                </a:solidFill>
                <a:latin typeface="Consolas"/>
              </a:rPr>
              <a:t>static</a:t>
            </a:r>
            <a:r>
              <a:rPr lang="en-IE" sz="1400" b="1" dirty="0">
                <a:solidFill>
                  <a:srgbClr val="000000"/>
                </a:solidFill>
                <a:latin typeface="Consolas"/>
              </a:rPr>
              <a:t> </a:t>
            </a:r>
            <a:r>
              <a:rPr lang="en-IE" sz="1400" b="1" dirty="0" err="1">
                <a:solidFill>
                  <a:srgbClr val="7F0055"/>
                </a:solidFill>
                <a:latin typeface="Consolas"/>
              </a:rPr>
              <a:t>int</a:t>
            </a:r>
            <a:r>
              <a:rPr lang="en-IE" sz="1400" b="1" dirty="0">
                <a:solidFill>
                  <a:srgbClr val="000000"/>
                </a:solidFill>
                <a:latin typeface="Consolas"/>
              </a:rPr>
              <a:t> max(</a:t>
            </a:r>
            <a:r>
              <a:rPr lang="en-IE" sz="1400" b="1" dirty="0" err="1">
                <a:solidFill>
                  <a:srgbClr val="7F0055"/>
                </a:solidFill>
                <a:latin typeface="Consolas"/>
              </a:rPr>
              <a:t>int</a:t>
            </a:r>
            <a:r>
              <a:rPr lang="en-IE" sz="1400" b="1" dirty="0">
                <a:solidFill>
                  <a:srgbClr val="000000"/>
                </a:solidFill>
                <a:latin typeface="Consolas"/>
              </a:rPr>
              <a:t>[] </a:t>
            </a:r>
            <a:r>
              <a:rPr lang="en-IE" sz="1400" b="1" dirty="0">
                <a:solidFill>
                  <a:srgbClr val="6A3E3E"/>
                </a:solidFill>
                <a:latin typeface="Consolas"/>
              </a:rPr>
              <a:t>data</a:t>
            </a:r>
            <a:r>
              <a:rPr lang="en-IE" sz="1400" b="1" dirty="0">
                <a:solidFill>
                  <a:srgbClr val="000000"/>
                </a:solidFill>
                <a:latin typeface="Consolas"/>
              </a:rPr>
              <a:t>) </a:t>
            </a:r>
            <a:r>
              <a:rPr lang="en-IE" sz="1400" b="1" dirty="0">
                <a:solidFill>
                  <a:srgbClr val="7F0055"/>
                </a:solidFill>
                <a:latin typeface="Consolas"/>
              </a:rPr>
              <a:t>throws</a:t>
            </a:r>
            <a:r>
              <a:rPr lang="en-IE" sz="1400" b="1" dirty="0">
                <a:solidFill>
                  <a:srgbClr val="000000"/>
                </a:solidFill>
                <a:latin typeface="Consolas"/>
              </a:rPr>
              <a:t> </a:t>
            </a:r>
            <a:r>
              <a:rPr lang="en-IE" sz="1400" b="1" dirty="0" err="1">
                <a:solidFill>
                  <a:srgbClr val="000000"/>
                </a:solidFill>
                <a:latin typeface="Consolas"/>
              </a:rPr>
              <a:t>InterruptedException</a:t>
            </a:r>
            <a:r>
              <a:rPr lang="en-IE" sz="1400" b="1" dirty="0">
                <a:solidFill>
                  <a:srgbClr val="000000"/>
                </a:solidFill>
                <a:latin typeface="Consolas"/>
              </a:rPr>
              <a:t>, </a:t>
            </a:r>
            <a:r>
              <a:rPr lang="en-IE" sz="1400" b="1" dirty="0" err="1">
                <a:solidFill>
                  <a:srgbClr val="000000"/>
                </a:solidFill>
                <a:latin typeface="Consolas"/>
              </a:rPr>
              <a:t>ExecutionException</a:t>
            </a:r>
            <a:r>
              <a:rPr lang="en-IE" sz="1400" b="1" dirty="0">
                <a:solidFill>
                  <a:srgbClr val="000000"/>
                </a:solidFill>
                <a:latin typeface="Consolas"/>
              </a:rPr>
              <a:t> {</a:t>
            </a:r>
          </a:p>
          <a:p>
            <a:r>
              <a:rPr lang="en-IE" sz="1400" b="1" dirty="0">
                <a:solidFill>
                  <a:srgbClr val="7F0055"/>
                </a:solidFill>
                <a:latin typeface="Consolas"/>
              </a:rPr>
              <a:t>if</a:t>
            </a:r>
            <a:r>
              <a:rPr lang="en-IE" sz="1400" b="1" dirty="0">
                <a:solidFill>
                  <a:srgbClr val="000000"/>
                </a:solidFill>
                <a:latin typeface="Consolas"/>
              </a:rPr>
              <a:t> (</a:t>
            </a:r>
            <a:r>
              <a:rPr lang="en-IE" sz="1400" b="1" dirty="0" err="1">
                <a:solidFill>
                  <a:srgbClr val="6A3E3E"/>
                </a:solidFill>
                <a:latin typeface="Consolas"/>
              </a:rPr>
              <a:t>data</a:t>
            </a:r>
            <a:r>
              <a:rPr lang="en-IE" sz="1400" b="1" dirty="0" err="1">
                <a:solidFill>
                  <a:srgbClr val="000000"/>
                </a:solidFill>
                <a:latin typeface="Consolas"/>
              </a:rPr>
              <a:t>.</a:t>
            </a:r>
            <a:r>
              <a:rPr lang="en-IE" sz="1400" b="1" dirty="0" err="1">
                <a:solidFill>
                  <a:srgbClr val="0000C0"/>
                </a:solidFill>
                <a:latin typeface="Consolas"/>
              </a:rPr>
              <a:t>length</a:t>
            </a:r>
            <a:r>
              <a:rPr lang="en-IE" sz="1400" b="1" dirty="0">
                <a:solidFill>
                  <a:srgbClr val="000000"/>
                </a:solidFill>
                <a:latin typeface="Consolas"/>
              </a:rPr>
              <a:t> == 1) {</a:t>
            </a:r>
          </a:p>
          <a:p>
            <a:r>
              <a:rPr lang="en-IE" sz="1400" b="1" dirty="0">
                <a:solidFill>
                  <a:srgbClr val="7F0055"/>
                </a:solidFill>
                <a:latin typeface="Consolas"/>
              </a:rPr>
              <a:t>return</a:t>
            </a:r>
            <a:r>
              <a:rPr lang="en-IE" sz="1400" b="1" dirty="0">
                <a:solidFill>
                  <a:srgbClr val="000000"/>
                </a:solidFill>
                <a:latin typeface="Consolas"/>
              </a:rPr>
              <a:t> </a:t>
            </a:r>
            <a:r>
              <a:rPr lang="en-IE" sz="1400" b="1" dirty="0">
                <a:solidFill>
                  <a:srgbClr val="6A3E3E"/>
                </a:solidFill>
                <a:latin typeface="Consolas"/>
              </a:rPr>
              <a:t>data</a:t>
            </a:r>
            <a:r>
              <a:rPr lang="en-IE" sz="1400" b="1" dirty="0">
                <a:solidFill>
                  <a:srgbClr val="000000"/>
                </a:solidFill>
                <a:latin typeface="Consolas"/>
              </a:rPr>
              <a:t>[0];</a:t>
            </a:r>
          </a:p>
          <a:p>
            <a:r>
              <a:rPr lang="en-IE" sz="1400" dirty="0">
                <a:solidFill>
                  <a:srgbClr val="000000"/>
                </a:solidFill>
                <a:latin typeface="Consolas"/>
              </a:rPr>
              <a:t>} </a:t>
            </a:r>
          </a:p>
          <a:p>
            <a:r>
              <a:rPr lang="en-IE" sz="1400" b="1" dirty="0">
                <a:solidFill>
                  <a:srgbClr val="7F0055"/>
                </a:solidFill>
                <a:latin typeface="Consolas"/>
              </a:rPr>
              <a:t>else</a:t>
            </a:r>
            <a:r>
              <a:rPr lang="en-IE" sz="1400" b="1" dirty="0">
                <a:solidFill>
                  <a:srgbClr val="000000"/>
                </a:solidFill>
                <a:latin typeface="Consolas"/>
              </a:rPr>
              <a:t> </a:t>
            </a:r>
            <a:r>
              <a:rPr lang="en-IE" sz="1400" b="1" dirty="0">
                <a:solidFill>
                  <a:srgbClr val="7F0055"/>
                </a:solidFill>
                <a:latin typeface="Consolas"/>
              </a:rPr>
              <a:t>if</a:t>
            </a:r>
            <a:r>
              <a:rPr lang="en-IE" sz="1400" b="1" dirty="0">
                <a:solidFill>
                  <a:srgbClr val="000000"/>
                </a:solidFill>
                <a:latin typeface="Consolas"/>
              </a:rPr>
              <a:t> (</a:t>
            </a:r>
            <a:r>
              <a:rPr lang="en-IE" sz="1400" b="1" dirty="0" err="1">
                <a:solidFill>
                  <a:srgbClr val="6A3E3E"/>
                </a:solidFill>
                <a:latin typeface="Consolas"/>
              </a:rPr>
              <a:t>data</a:t>
            </a:r>
            <a:r>
              <a:rPr lang="en-IE" sz="1400" b="1" dirty="0" err="1">
                <a:solidFill>
                  <a:srgbClr val="000000"/>
                </a:solidFill>
                <a:latin typeface="Consolas"/>
              </a:rPr>
              <a:t>.</a:t>
            </a:r>
            <a:r>
              <a:rPr lang="en-IE" sz="1400" b="1" dirty="0" err="1">
                <a:solidFill>
                  <a:srgbClr val="0000C0"/>
                </a:solidFill>
                <a:latin typeface="Consolas"/>
              </a:rPr>
              <a:t>length</a:t>
            </a:r>
            <a:r>
              <a:rPr lang="en-IE" sz="1400" b="1" dirty="0">
                <a:solidFill>
                  <a:srgbClr val="000000"/>
                </a:solidFill>
                <a:latin typeface="Consolas"/>
              </a:rPr>
              <a:t> == 0) {</a:t>
            </a:r>
          </a:p>
          <a:p>
            <a:r>
              <a:rPr lang="en-IE" sz="1400" b="1" dirty="0">
                <a:solidFill>
                  <a:srgbClr val="7F0055"/>
                </a:solidFill>
                <a:latin typeface="Consolas"/>
              </a:rPr>
              <a:t>throw</a:t>
            </a:r>
            <a:r>
              <a:rPr lang="en-IE" sz="1400" b="1" dirty="0">
                <a:solidFill>
                  <a:srgbClr val="000000"/>
                </a:solidFill>
                <a:latin typeface="Consolas"/>
              </a:rPr>
              <a:t> </a:t>
            </a:r>
            <a:r>
              <a:rPr lang="en-IE" sz="1400" b="1" dirty="0">
                <a:solidFill>
                  <a:srgbClr val="7F0055"/>
                </a:solidFill>
                <a:latin typeface="Consolas"/>
              </a:rPr>
              <a:t>new</a:t>
            </a:r>
            <a:r>
              <a:rPr lang="en-IE" sz="1400" b="1" dirty="0">
                <a:solidFill>
                  <a:srgbClr val="000000"/>
                </a:solidFill>
                <a:latin typeface="Consolas"/>
              </a:rPr>
              <a:t> </a:t>
            </a:r>
            <a:r>
              <a:rPr lang="en-IE" sz="1400" b="1" dirty="0" err="1">
                <a:solidFill>
                  <a:srgbClr val="000000"/>
                </a:solidFill>
                <a:latin typeface="Consolas"/>
              </a:rPr>
              <a:t>IllegalArgumentException</a:t>
            </a:r>
            <a:r>
              <a:rPr lang="en-IE" sz="1400" b="1" dirty="0">
                <a:solidFill>
                  <a:srgbClr val="000000"/>
                </a:solidFill>
                <a:latin typeface="Consolas"/>
              </a:rPr>
              <a:t>();</a:t>
            </a:r>
          </a:p>
          <a:p>
            <a:r>
              <a:rPr lang="en-IE" sz="1400" dirty="0">
                <a:solidFill>
                  <a:srgbClr val="000000"/>
                </a:solidFill>
                <a:latin typeface="Consolas"/>
              </a:rPr>
              <a:t>}</a:t>
            </a:r>
          </a:p>
          <a:p>
            <a:r>
              <a:rPr lang="en-IE" sz="1400" dirty="0" err="1" smtClean="0">
                <a:solidFill>
                  <a:srgbClr val="000000"/>
                </a:solidFill>
                <a:latin typeface="Consolas"/>
              </a:rPr>
              <a:t>FindMaxTask</a:t>
            </a:r>
            <a:r>
              <a:rPr lang="en-IE" sz="1400" dirty="0" smtClean="0">
                <a:solidFill>
                  <a:srgbClr val="000000"/>
                </a:solidFill>
                <a:latin typeface="Consolas"/>
              </a:rPr>
              <a:t> </a:t>
            </a:r>
            <a:r>
              <a:rPr lang="en-IE" sz="1400" dirty="0">
                <a:solidFill>
                  <a:srgbClr val="6A3E3E"/>
                </a:solidFill>
                <a:latin typeface="Consolas"/>
              </a:rPr>
              <a:t>task1</a:t>
            </a:r>
            <a:r>
              <a:rPr lang="en-IE" sz="1400" dirty="0">
                <a:solidFill>
                  <a:srgbClr val="000000"/>
                </a:solidFill>
                <a:latin typeface="Consolas"/>
              </a:rPr>
              <a:t> = </a:t>
            </a:r>
            <a:r>
              <a:rPr lang="en-IE" sz="1400" b="1" dirty="0">
                <a:solidFill>
                  <a:srgbClr val="7F0055"/>
                </a:solidFill>
                <a:latin typeface="Consolas"/>
              </a:rPr>
              <a:t>new</a:t>
            </a:r>
            <a:r>
              <a:rPr lang="en-IE" sz="1400" b="1" dirty="0">
                <a:solidFill>
                  <a:srgbClr val="000000"/>
                </a:solidFill>
                <a:latin typeface="Consolas"/>
              </a:rPr>
              <a:t> </a:t>
            </a:r>
            <a:r>
              <a:rPr lang="en-IE" sz="1400" b="1" dirty="0" err="1">
                <a:solidFill>
                  <a:srgbClr val="000000"/>
                </a:solidFill>
                <a:latin typeface="Consolas"/>
              </a:rPr>
              <a:t>FindMaxTask</a:t>
            </a:r>
            <a:r>
              <a:rPr lang="en-IE" sz="1400" b="1" dirty="0">
                <a:solidFill>
                  <a:srgbClr val="000000"/>
                </a:solidFill>
                <a:latin typeface="Consolas"/>
              </a:rPr>
              <a:t>(</a:t>
            </a:r>
            <a:r>
              <a:rPr lang="en-IE" sz="1400" b="1" dirty="0">
                <a:solidFill>
                  <a:srgbClr val="6A3E3E"/>
                </a:solidFill>
                <a:latin typeface="Consolas"/>
              </a:rPr>
              <a:t>data</a:t>
            </a:r>
            <a:r>
              <a:rPr lang="en-IE" sz="1400" b="1" dirty="0">
                <a:solidFill>
                  <a:srgbClr val="000000"/>
                </a:solidFill>
                <a:latin typeface="Consolas"/>
              </a:rPr>
              <a:t>, 0, </a:t>
            </a:r>
            <a:r>
              <a:rPr lang="en-IE" sz="1400" b="1" dirty="0" err="1">
                <a:solidFill>
                  <a:srgbClr val="6A3E3E"/>
                </a:solidFill>
                <a:latin typeface="Consolas"/>
              </a:rPr>
              <a:t>data</a:t>
            </a:r>
            <a:r>
              <a:rPr lang="en-IE" sz="1400" b="1" dirty="0" err="1">
                <a:solidFill>
                  <a:srgbClr val="000000"/>
                </a:solidFill>
                <a:latin typeface="Consolas"/>
              </a:rPr>
              <a:t>.</a:t>
            </a:r>
            <a:r>
              <a:rPr lang="en-IE" sz="1400" b="1" dirty="0" err="1">
                <a:solidFill>
                  <a:srgbClr val="0000C0"/>
                </a:solidFill>
                <a:latin typeface="Consolas"/>
              </a:rPr>
              <a:t>length</a:t>
            </a:r>
            <a:r>
              <a:rPr lang="en-IE" sz="1400" b="1" dirty="0">
                <a:solidFill>
                  <a:srgbClr val="000000"/>
                </a:solidFill>
                <a:latin typeface="Consolas"/>
              </a:rPr>
              <a:t>/2);</a:t>
            </a:r>
          </a:p>
          <a:p>
            <a:r>
              <a:rPr lang="en-IE" sz="1400" dirty="0" err="1">
                <a:solidFill>
                  <a:srgbClr val="000000"/>
                </a:solidFill>
                <a:latin typeface="Consolas"/>
              </a:rPr>
              <a:t>FindMaxTask</a:t>
            </a:r>
            <a:r>
              <a:rPr lang="en-IE" sz="1400" dirty="0">
                <a:solidFill>
                  <a:srgbClr val="000000"/>
                </a:solidFill>
                <a:latin typeface="Consolas"/>
              </a:rPr>
              <a:t> </a:t>
            </a:r>
            <a:r>
              <a:rPr lang="en-IE" sz="1400" dirty="0">
                <a:solidFill>
                  <a:srgbClr val="6A3E3E"/>
                </a:solidFill>
                <a:latin typeface="Consolas"/>
              </a:rPr>
              <a:t>task2</a:t>
            </a:r>
            <a:r>
              <a:rPr lang="en-IE" sz="1400" dirty="0">
                <a:solidFill>
                  <a:srgbClr val="000000"/>
                </a:solidFill>
                <a:latin typeface="Consolas"/>
              </a:rPr>
              <a:t> = </a:t>
            </a:r>
            <a:r>
              <a:rPr lang="en-IE" sz="1400" b="1" dirty="0">
                <a:solidFill>
                  <a:srgbClr val="7F0055"/>
                </a:solidFill>
                <a:latin typeface="Consolas"/>
              </a:rPr>
              <a:t>new</a:t>
            </a:r>
            <a:r>
              <a:rPr lang="en-IE" sz="1400" b="1" dirty="0">
                <a:solidFill>
                  <a:srgbClr val="000000"/>
                </a:solidFill>
                <a:latin typeface="Consolas"/>
              </a:rPr>
              <a:t> </a:t>
            </a:r>
            <a:r>
              <a:rPr lang="en-IE" sz="1400" b="1" dirty="0" err="1">
                <a:solidFill>
                  <a:srgbClr val="000000"/>
                </a:solidFill>
                <a:latin typeface="Consolas"/>
              </a:rPr>
              <a:t>FindMaxTask</a:t>
            </a:r>
            <a:r>
              <a:rPr lang="en-IE" sz="1400" b="1" dirty="0">
                <a:solidFill>
                  <a:srgbClr val="000000"/>
                </a:solidFill>
                <a:latin typeface="Consolas"/>
              </a:rPr>
              <a:t>(</a:t>
            </a:r>
            <a:r>
              <a:rPr lang="en-IE" sz="1400" b="1" dirty="0">
                <a:solidFill>
                  <a:srgbClr val="6A3E3E"/>
                </a:solidFill>
                <a:latin typeface="Consolas"/>
              </a:rPr>
              <a:t>data</a:t>
            </a:r>
            <a:r>
              <a:rPr lang="en-IE" sz="1400" b="1" dirty="0">
                <a:solidFill>
                  <a:srgbClr val="000000"/>
                </a:solidFill>
                <a:latin typeface="Consolas"/>
              </a:rPr>
              <a:t>, </a:t>
            </a:r>
            <a:r>
              <a:rPr lang="en-IE" sz="1400" b="1" dirty="0" err="1">
                <a:solidFill>
                  <a:srgbClr val="6A3E3E"/>
                </a:solidFill>
                <a:latin typeface="Consolas"/>
              </a:rPr>
              <a:t>data</a:t>
            </a:r>
            <a:r>
              <a:rPr lang="en-IE" sz="1400" b="1" dirty="0" err="1">
                <a:solidFill>
                  <a:srgbClr val="000000"/>
                </a:solidFill>
                <a:latin typeface="Consolas"/>
              </a:rPr>
              <a:t>.</a:t>
            </a:r>
            <a:r>
              <a:rPr lang="en-IE" sz="1400" b="1" dirty="0" err="1">
                <a:solidFill>
                  <a:srgbClr val="0000C0"/>
                </a:solidFill>
                <a:latin typeface="Consolas"/>
              </a:rPr>
              <a:t>length</a:t>
            </a:r>
            <a:r>
              <a:rPr lang="en-IE" sz="1400" b="1" dirty="0">
                <a:solidFill>
                  <a:srgbClr val="000000"/>
                </a:solidFill>
                <a:latin typeface="Consolas"/>
              </a:rPr>
              <a:t>/2, </a:t>
            </a:r>
            <a:r>
              <a:rPr lang="en-IE" sz="1400" b="1" dirty="0" err="1">
                <a:solidFill>
                  <a:srgbClr val="6A3E3E"/>
                </a:solidFill>
                <a:latin typeface="Consolas"/>
              </a:rPr>
              <a:t>data</a:t>
            </a:r>
            <a:r>
              <a:rPr lang="en-IE" sz="1400" b="1" dirty="0" err="1">
                <a:solidFill>
                  <a:srgbClr val="000000"/>
                </a:solidFill>
                <a:latin typeface="Consolas"/>
              </a:rPr>
              <a:t>.</a:t>
            </a:r>
            <a:r>
              <a:rPr lang="en-IE" sz="1400" b="1" dirty="0" err="1">
                <a:solidFill>
                  <a:srgbClr val="0000C0"/>
                </a:solidFill>
                <a:latin typeface="Consolas"/>
              </a:rPr>
              <a:t>length</a:t>
            </a:r>
            <a:r>
              <a:rPr lang="en-IE" sz="1400" b="1" dirty="0">
                <a:solidFill>
                  <a:srgbClr val="000000"/>
                </a:solidFill>
                <a:latin typeface="Consolas"/>
              </a:rPr>
              <a:t>);</a:t>
            </a:r>
          </a:p>
          <a:p>
            <a:r>
              <a:rPr lang="en-IE" sz="1400" dirty="0" err="1" smtClean="0">
                <a:solidFill>
                  <a:srgbClr val="000000"/>
                </a:solidFill>
                <a:latin typeface="Consolas"/>
              </a:rPr>
              <a:t>ExecutorService</a:t>
            </a:r>
            <a:r>
              <a:rPr lang="en-IE" sz="1400" dirty="0" smtClean="0">
                <a:solidFill>
                  <a:srgbClr val="000000"/>
                </a:solidFill>
                <a:latin typeface="Consolas"/>
              </a:rPr>
              <a:t> </a:t>
            </a:r>
            <a:r>
              <a:rPr lang="en-IE" sz="1400" dirty="0">
                <a:solidFill>
                  <a:srgbClr val="6A3E3E"/>
                </a:solidFill>
                <a:latin typeface="Consolas"/>
              </a:rPr>
              <a:t>service</a:t>
            </a:r>
            <a:r>
              <a:rPr lang="en-IE" sz="1400" dirty="0">
                <a:solidFill>
                  <a:srgbClr val="000000"/>
                </a:solidFill>
                <a:latin typeface="Consolas"/>
              </a:rPr>
              <a:t> = </a:t>
            </a:r>
            <a:r>
              <a:rPr lang="en-IE" sz="1400" dirty="0" err="1">
                <a:solidFill>
                  <a:srgbClr val="000000"/>
                </a:solidFill>
                <a:latin typeface="Consolas"/>
              </a:rPr>
              <a:t>Executors.</a:t>
            </a:r>
            <a:r>
              <a:rPr lang="en-IE" sz="1400" i="1" dirty="0" err="1">
                <a:solidFill>
                  <a:srgbClr val="000000"/>
                </a:solidFill>
                <a:latin typeface="Consolas"/>
              </a:rPr>
              <a:t>newFixedThreadPool</a:t>
            </a:r>
            <a:r>
              <a:rPr lang="en-IE" sz="1400" i="1" dirty="0">
                <a:solidFill>
                  <a:srgbClr val="000000"/>
                </a:solidFill>
                <a:latin typeface="Consolas"/>
              </a:rPr>
              <a:t>(2);</a:t>
            </a:r>
          </a:p>
          <a:p>
            <a:r>
              <a:rPr lang="en-IE" sz="1400" dirty="0">
                <a:solidFill>
                  <a:srgbClr val="000000"/>
                </a:solidFill>
                <a:latin typeface="Consolas"/>
              </a:rPr>
              <a:t>Future&lt;Integer&gt; </a:t>
            </a:r>
            <a:r>
              <a:rPr lang="en-IE" sz="1400" dirty="0">
                <a:solidFill>
                  <a:srgbClr val="6A3E3E"/>
                </a:solidFill>
                <a:latin typeface="Consolas"/>
              </a:rPr>
              <a:t>future1</a:t>
            </a:r>
            <a:r>
              <a:rPr lang="en-IE" sz="1400" dirty="0">
                <a:solidFill>
                  <a:srgbClr val="000000"/>
                </a:solidFill>
                <a:latin typeface="Consolas"/>
              </a:rPr>
              <a:t> = </a:t>
            </a:r>
            <a:r>
              <a:rPr lang="en-IE" sz="1400" dirty="0" err="1">
                <a:solidFill>
                  <a:srgbClr val="6A3E3E"/>
                </a:solidFill>
                <a:latin typeface="Consolas"/>
              </a:rPr>
              <a:t>service</a:t>
            </a:r>
            <a:r>
              <a:rPr lang="en-IE" sz="1400" dirty="0" err="1">
                <a:solidFill>
                  <a:srgbClr val="000000"/>
                </a:solidFill>
                <a:latin typeface="Consolas"/>
              </a:rPr>
              <a:t>.submit</a:t>
            </a:r>
            <a:r>
              <a:rPr lang="en-IE" sz="1400" dirty="0">
                <a:solidFill>
                  <a:srgbClr val="000000"/>
                </a:solidFill>
                <a:latin typeface="Consolas"/>
              </a:rPr>
              <a:t>(</a:t>
            </a:r>
            <a:r>
              <a:rPr lang="en-IE" sz="1400" dirty="0">
                <a:solidFill>
                  <a:srgbClr val="6A3E3E"/>
                </a:solidFill>
                <a:latin typeface="Consolas"/>
              </a:rPr>
              <a:t>task1</a:t>
            </a:r>
            <a:r>
              <a:rPr lang="en-IE" sz="1400" dirty="0">
                <a:solidFill>
                  <a:srgbClr val="000000"/>
                </a:solidFill>
                <a:latin typeface="Consolas"/>
              </a:rPr>
              <a:t>);</a:t>
            </a:r>
          </a:p>
          <a:p>
            <a:r>
              <a:rPr lang="en-IE" sz="1400" dirty="0">
                <a:solidFill>
                  <a:srgbClr val="000000"/>
                </a:solidFill>
                <a:latin typeface="Consolas"/>
              </a:rPr>
              <a:t>Future&lt;Integer&gt; </a:t>
            </a:r>
            <a:r>
              <a:rPr lang="en-IE" sz="1400" dirty="0">
                <a:solidFill>
                  <a:srgbClr val="6A3E3E"/>
                </a:solidFill>
                <a:latin typeface="Consolas"/>
              </a:rPr>
              <a:t>future2</a:t>
            </a:r>
            <a:r>
              <a:rPr lang="en-IE" sz="1400" dirty="0">
                <a:solidFill>
                  <a:srgbClr val="000000"/>
                </a:solidFill>
                <a:latin typeface="Consolas"/>
              </a:rPr>
              <a:t> = </a:t>
            </a:r>
            <a:r>
              <a:rPr lang="en-IE" sz="1400" dirty="0" err="1">
                <a:solidFill>
                  <a:srgbClr val="6A3E3E"/>
                </a:solidFill>
                <a:latin typeface="Consolas"/>
              </a:rPr>
              <a:t>service</a:t>
            </a:r>
            <a:r>
              <a:rPr lang="en-IE" sz="1400" dirty="0" err="1">
                <a:solidFill>
                  <a:srgbClr val="000000"/>
                </a:solidFill>
                <a:latin typeface="Consolas"/>
              </a:rPr>
              <a:t>.submit</a:t>
            </a:r>
            <a:r>
              <a:rPr lang="en-IE" sz="1400" dirty="0">
                <a:solidFill>
                  <a:srgbClr val="000000"/>
                </a:solidFill>
                <a:latin typeface="Consolas"/>
              </a:rPr>
              <a:t>(</a:t>
            </a:r>
            <a:r>
              <a:rPr lang="en-IE" sz="1400" dirty="0">
                <a:solidFill>
                  <a:srgbClr val="6A3E3E"/>
                </a:solidFill>
                <a:latin typeface="Consolas"/>
              </a:rPr>
              <a:t>task2</a:t>
            </a:r>
            <a:r>
              <a:rPr lang="en-IE" sz="1400" dirty="0">
                <a:solidFill>
                  <a:srgbClr val="000000"/>
                </a:solidFill>
                <a:latin typeface="Consolas"/>
              </a:rPr>
              <a:t>);</a:t>
            </a:r>
          </a:p>
          <a:p>
            <a:endParaRPr lang="en-IE" sz="1400" dirty="0">
              <a:latin typeface="Consolas"/>
            </a:endParaRPr>
          </a:p>
          <a:p>
            <a:r>
              <a:rPr lang="en-IE" sz="1400" b="1" dirty="0">
                <a:solidFill>
                  <a:srgbClr val="7F0055"/>
                </a:solidFill>
                <a:latin typeface="Consolas"/>
              </a:rPr>
              <a:t>return</a:t>
            </a:r>
            <a:r>
              <a:rPr lang="en-IE" sz="1400" b="1" dirty="0">
                <a:solidFill>
                  <a:srgbClr val="000000"/>
                </a:solidFill>
                <a:latin typeface="Consolas"/>
              </a:rPr>
              <a:t> </a:t>
            </a:r>
            <a:r>
              <a:rPr lang="en-IE" sz="1400" b="1" dirty="0" err="1">
                <a:solidFill>
                  <a:srgbClr val="000000"/>
                </a:solidFill>
                <a:latin typeface="Consolas"/>
              </a:rPr>
              <a:t>Math.</a:t>
            </a:r>
            <a:r>
              <a:rPr lang="en-IE" sz="1400" b="1" i="1" dirty="0" err="1">
                <a:solidFill>
                  <a:srgbClr val="000000"/>
                </a:solidFill>
                <a:latin typeface="Consolas"/>
              </a:rPr>
              <a:t>max</a:t>
            </a:r>
            <a:r>
              <a:rPr lang="en-IE" sz="1400" b="1" i="1" dirty="0">
                <a:solidFill>
                  <a:srgbClr val="000000"/>
                </a:solidFill>
                <a:latin typeface="Consolas"/>
              </a:rPr>
              <a:t>(</a:t>
            </a:r>
            <a:r>
              <a:rPr lang="en-IE" sz="1400" b="1" i="1" dirty="0">
                <a:solidFill>
                  <a:srgbClr val="6A3E3E"/>
                </a:solidFill>
                <a:latin typeface="Consolas"/>
              </a:rPr>
              <a:t>future1</a:t>
            </a:r>
            <a:r>
              <a:rPr lang="en-IE" sz="1400" b="1" i="1" dirty="0">
                <a:solidFill>
                  <a:srgbClr val="000000"/>
                </a:solidFill>
                <a:latin typeface="Consolas"/>
              </a:rPr>
              <a:t>.get(), </a:t>
            </a:r>
            <a:r>
              <a:rPr lang="en-IE" sz="1400" b="1" i="1" dirty="0">
                <a:solidFill>
                  <a:srgbClr val="6A3E3E"/>
                </a:solidFill>
                <a:latin typeface="Consolas"/>
              </a:rPr>
              <a:t>future2</a:t>
            </a:r>
            <a:r>
              <a:rPr lang="en-IE" sz="1400" b="1" i="1" dirty="0">
                <a:solidFill>
                  <a:srgbClr val="000000"/>
                </a:solidFill>
                <a:latin typeface="Consolas"/>
              </a:rPr>
              <a:t>.get());</a:t>
            </a:r>
          </a:p>
          <a:p>
            <a:r>
              <a:rPr lang="en-IE" sz="1400" dirty="0">
                <a:solidFill>
                  <a:srgbClr val="000000"/>
                </a:solidFill>
                <a:latin typeface="Consolas"/>
              </a:rPr>
              <a:t>}</a:t>
            </a:r>
          </a:p>
          <a:p>
            <a:r>
              <a:rPr lang="en-IE" sz="1400" b="1" dirty="0">
                <a:solidFill>
                  <a:srgbClr val="7F0055"/>
                </a:solidFill>
                <a:latin typeface="Consolas"/>
              </a:rPr>
              <a:t>public</a:t>
            </a:r>
            <a:r>
              <a:rPr lang="en-IE" sz="1400" b="1" dirty="0">
                <a:solidFill>
                  <a:srgbClr val="000000"/>
                </a:solidFill>
                <a:latin typeface="Consolas"/>
              </a:rPr>
              <a:t> </a:t>
            </a:r>
            <a:r>
              <a:rPr lang="en-IE" sz="1400" b="1" dirty="0">
                <a:solidFill>
                  <a:srgbClr val="7F0055"/>
                </a:solidFill>
                <a:latin typeface="Consolas"/>
              </a:rPr>
              <a:t>static</a:t>
            </a:r>
            <a:r>
              <a:rPr lang="en-IE" sz="1400" b="1" dirty="0">
                <a:solidFill>
                  <a:srgbClr val="000000"/>
                </a:solidFill>
                <a:latin typeface="Consolas"/>
              </a:rPr>
              <a:t> </a:t>
            </a:r>
            <a:r>
              <a:rPr lang="en-IE" sz="1400" b="1" dirty="0">
                <a:solidFill>
                  <a:srgbClr val="7F0055"/>
                </a:solidFill>
                <a:latin typeface="Consolas"/>
              </a:rPr>
              <a:t>void</a:t>
            </a:r>
            <a:r>
              <a:rPr lang="en-IE" sz="1400" b="1" dirty="0">
                <a:solidFill>
                  <a:srgbClr val="000000"/>
                </a:solidFill>
                <a:latin typeface="Consolas"/>
              </a:rPr>
              <a:t> main (String </a:t>
            </a:r>
            <a:r>
              <a:rPr lang="en-IE" sz="1400" b="1" dirty="0" err="1">
                <a:solidFill>
                  <a:srgbClr val="6A3E3E"/>
                </a:solidFill>
                <a:latin typeface="Consolas"/>
              </a:rPr>
              <a:t>arg</a:t>
            </a:r>
            <a:r>
              <a:rPr lang="en-IE" sz="1400" b="1" dirty="0">
                <a:solidFill>
                  <a:srgbClr val="000000"/>
                </a:solidFill>
                <a:latin typeface="Consolas"/>
              </a:rPr>
              <a:t>[]) </a:t>
            </a:r>
            <a:r>
              <a:rPr lang="en-IE" sz="1400" b="1" dirty="0">
                <a:solidFill>
                  <a:srgbClr val="7F0055"/>
                </a:solidFill>
                <a:latin typeface="Consolas"/>
              </a:rPr>
              <a:t>throws</a:t>
            </a:r>
            <a:r>
              <a:rPr lang="en-IE" sz="1400" b="1" dirty="0">
                <a:solidFill>
                  <a:srgbClr val="000000"/>
                </a:solidFill>
                <a:latin typeface="Consolas"/>
              </a:rPr>
              <a:t> </a:t>
            </a:r>
            <a:r>
              <a:rPr lang="en-IE" sz="1400" b="1" dirty="0" err="1">
                <a:solidFill>
                  <a:srgbClr val="000000"/>
                </a:solidFill>
                <a:latin typeface="Consolas"/>
              </a:rPr>
              <a:t>InterruptedException</a:t>
            </a:r>
            <a:r>
              <a:rPr lang="en-IE" sz="1400" b="1" dirty="0">
                <a:solidFill>
                  <a:srgbClr val="000000"/>
                </a:solidFill>
                <a:latin typeface="Consolas"/>
              </a:rPr>
              <a:t>, </a:t>
            </a:r>
            <a:r>
              <a:rPr lang="en-IE" sz="1400" b="1" dirty="0" err="1">
                <a:solidFill>
                  <a:srgbClr val="000000"/>
                </a:solidFill>
                <a:latin typeface="Consolas"/>
              </a:rPr>
              <a:t>ExecutionException</a:t>
            </a:r>
            <a:r>
              <a:rPr lang="en-IE" sz="1400" b="1" dirty="0">
                <a:solidFill>
                  <a:srgbClr val="000000"/>
                </a:solidFill>
                <a:latin typeface="Consolas"/>
              </a:rPr>
              <a:t>{</a:t>
            </a:r>
          </a:p>
          <a:p>
            <a:r>
              <a:rPr lang="en-IE" sz="1400" b="1" dirty="0" err="1">
                <a:solidFill>
                  <a:srgbClr val="7F0055"/>
                </a:solidFill>
                <a:latin typeface="Consolas"/>
              </a:rPr>
              <a:t>int</a:t>
            </a:r>
            <a:r>
              <a:rPr lang="en-IE" sz="1400" b="1" dirty="0">
                <a:solidFill>
                  <a:srgbClr val="000000"/>
                </a:solidFill>
                <a:latin typeface="Consolas"/>
              </a:rPr>
              <a:t>[] </a:t>
            </a:r>
            <a:r>
              <a:rPr lang="en-IE" sz="1400" b="1" dirty="0">
                <a:solidFill>
                  <a:srgbClr val="6A3E3E"/>
                </a:solidFill>
                <a:latin typeface="Consolas"/>
              </a:rPr>
              <a:t>data</a:t>
            </a:r>
            <a:r>
              <a:rPr lang="en-IE" sz="1400" b="1" dirty="0">
                <a:solidFill>
                  <a:srgbClr val="000000"/>
                </a:solidFill>
                <a:latin typeface="Consolas"/>
              </a:rPr>
              <a:t> = {10,20,30,40,5,7,50};</a:t>
            </a:r>
          </a:p>
          <a:p>
            <a:r>
              <a:rPr lang="en-IE" sz="1400" dirty="0" err="1">
                <a:solidFill>
                  <a:srgbClr val="000000"/>
                </a:solidFill>
                <a:latin typeface="Consolas"/>
              </a:rPr>
              <a:t>MultithreadedMaxFinder</a:t>
            </a:r>
            <a:r>
              <a:rPr lang="en-IE" sz="1400" dirty="0">
                <a:solidFill>
                  <a:srgbClr val="000000"/>
                </a:solidFill>
                <a:latin typeface="Consolas"/>
              </a:rPr>
              <a:t> </a:t>
            </a:r>
            <a:r>
              <a:rPr lang="en-IE" sz="1400" u="sng" dirty="0">
                <a:solidFill>
                  <a:srgbClr val="6A3E3E"/>
                </a:solidFill>
                <a:latin typeface="Consolas"/>
              </a:rPr>
              <a:t>test</a:t>
            </a:r>
            <a:r>
              <a:rPr lang="en-IE" sz="1400" u="sng" dirty="0">
                <a:solidFill>
                  <a:srgbClr val="000000"/>
                </a:solidFill>
                <a:latin typeface="Consolas"/>
              </a:rPr>
              <a:t> = </a:t>
            </a:r>
            <a:r>
              <a:rPr lang="en-IE" sz="1400" b="1" u="sng" dirty="0">
                <a:solidFill>
                  <a:srgbClr val="7F0055"/>
                </a:solidFill>
                <a:latin typeface="Consolas"/>
              </a:rPr>
              <a:t>new</a:t>
            </a:r>
            <a:r>
              <a:rPr lang="en-IE" sz="1400" b="1" u="sng" dirty="0">
                <a:solidFill>
                  <a:srgbClr val="000000"/>
                </a:solidFill>
                <a:latin typeface="Consolas"/>
              </a:rPr>
              <a:t> </a:t>
            </a:r>
            <a:r>
              <a:rPr lang="en-IE" sz="1400" b="1" u="sng" dirty="0" err="1">
                <a:solidFill>
                  <a:srgbClr val="000000"/>
                </a:solidFill>
                <a:latin typeface="Consolas"/>
              </a:rPr>
              <a:t>MultithreadedMaxFinder</a:t>
            </a:r>
            <a:r>
              <a:rPr lang="en-IE" sz="1400" b="1" u="sng" dirty="0">
                <a:solidFill>
                  <a:srgbClr val="000000"/>
                </a:solidFill>
                <a:latin typeface="Consolas"/>
              </a:rPr>
              <a:t>();</a:t>
            </a:r>
          </a:p>
          <a:p>
            <a:r>
              <a:rPr lang="en-IE" sz="1400" dirty="0" err="1" smtClean="0">
                <a:solidFill>
                  <a:srgbClr val="000000"/>
                </a:solidFill>
                <a:latin typeface="Consolas"/>
              </a:rPr>
              <a:t>System.</a:t>
            </a:r>
            <a:r>
              <a:rPr lang="en-IE" sz="1400" b="1" i="1" dirty="0" err="1" smtClean="0">
                <a:solidFill>
                  <a:srgbClr val="0000C0"/>
                </a:solidFill>
                <a:latin typeface="Consolas"/>
              </a:rPr>
              <a:t>out</a:t>
            </a:r>
            <a:r>
              <a:rPr lang="en-IE" sz="1400" b="1" i="1" dirty="0" err="1" smtClean="0">
                <a:solidFill>
                  <a:srgbClr val="000000"/>
                </a:solidFill>
                <a:latin typeface="Consolas"/>
              </a:rPr>
              <a:t>.println</a:t>
            </a:r>
            <a:r>
              <a:rPr lang="en-IE" sz="1400" b="1" i="1" dirty="0" smtClean="0">
                <a:solidFill>
                  <a:srgbClr val="000000"/>
                </a:solidFill>
                <a:latin typeface="Consolas"/>
              </a:rPr>
              <a:t>(max(</a:t>
            </a:r>
            <a:r>
              <a:rPr lang="en-IE" sz="1400" b="1" i="1" dirty="0" smtClean="0">
                <a:solidFill>
                  <a:srgbClr val="6A3E3E"/>
                </a:solidFill>
                <a:latin typeface="Consolas"/>
              </a:rPr>
              <a:t>data</a:t>
            </a:r>
            <a:r>
              <a:rPr lang="en-IE" sz="1400" b="1" i="1" dirty="0">
                <a:solidFill>
                  <a:srgbClr val="000000"/>
                </a:solidFill>
                <a:latin typeface="Consolas"/>
              </a:rPr>
              <a:t>));</a:t>
            </a:r>
          </a:p>
          <a:p>
            <a:r>
              <a:rPr lang="en-IE" sz="1400" dirty="0" smtClean="0">
                <a:solidFill>
                  <a:srgbClr val="000000"/>
                </a:solidFill>
                <a:latin typeface="Consolas"/>
              </a:rPr>
              <a:t>}}</a:t>
            </a:r>
            <a:endParaRPr lang="en-IE" sz="1400" dirty="0">
              <a:solidFill>
                <a:srgbClr val="000000"/>
              </a:solidFill>
              <a:latin typeface="Consolas"/>
            </a:endParaRPr>
          </a:p>
        </p:txBody>
      </p:sp>
      <p:sp>
        <p:nvSpPr>
          <p:cNvPr id="10" name="Rectangle 9"/>
          <p:cNvSpPr/>
          <p:nvPr/>
        </p:nvSpPr>
        <p:spPr>
          <a:xfrm>
            <a:off x="1447800" y="685800"/>
            <a:ext cx="3752374" cy="369332"/>
          </a:xfrm>
          <a:prstGeom prst="rect">
            <a:avLst/>
          </a:prstGeom>
        </p:spPr>
        <p:txBody>
          <a:bodyPr wrap="none">
            <a:spAutoFit/>
          </a:bodyPr>
          <a:lstStyle/>
          <a:p>
            <a:r>
              <a:rPr lang="en-IE" b="1" spc="15" dirty="0" smtClean="0">
                <a:solidFill>
                  <a:srgbClr val="FFFFFF"/>
                </a:solidFill>
                <a:latin typeface="Arial"/>
                <a:cs typeface="Arial"/>
              </a:rPr>
              <a:t>Maximum Value Finder Example</a:t>
            </a:r>
            <a:endParaRPr lang="en-IE" dirty="0"/>
          </a:p>
        </p:txBody>
      </p:sp>
    </p:spTree>
    <p:extLst>
      <p:ext uri="{BB962C8B-B14F-4D97-AF65-F5344CB8AC3E}">
        <p14:creationId xmlns:p14="http://schemas.microsoft.com/office/powerpoint/2010/main" val="1811908428"/>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8242D679B6F40C48B2519DEB851FE85E" ma:contentTypeVersion="0" ma:contentTypeDescription="Create a new document." ma:contentTypeScope="" ma:versionID="ca0eff15ccbfe079c26c4eccae0f3b99">
  <xsd:schema xmlns:xsd="http://www.w3.org/2001/XMLSchema" xmlns:xs="http://www.w3.org/2001/XMLSchema" xmlns:p="http://schemas.microsoft.com/office/2006/metadata/properties" targetNamespace="http://schemas.microsoft.com/office/2006/metadata/properties" ma:root="true" ma:fieldsID="31d5eec3c12ee2e8127422d567928fa7">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27B9F83A-50E7-447E-BBC5-936637F8E178}"/>
</file>

<file path=customXml/itemProps2.xml><?xml version="1.0" encoding="utf-8"?>
<ds:datastoreItem xmlns:ds="http://schemas.openxmlformats.org/officeDocument/2006/customXml" ds:itemID="{7597FA00-DF66-4AA8-8C09-B5F6EA94BE96}"/>
</file>

<file path=customXml/itemProps3.xml><?xml version="1.0" encoding="utf-8"?>
<ds:datastoreItem xmlns:ds="http://schemas.openxmlformats.org/officeDocument/2006/customXml" ds:itemID="{95F3D4DC-18C6-425D-9F5D-43992A91D979}"/>
</file>

<file path=docProps/app.xml><?xml version="1.0" encoding="utf-8"?>
<Properties xmlns="http://schemas.openxmlformats.org/officeDocument/2006/extended-properties" xmlns:vt="http://schemas.openxmlformats.org/officeDocument/2006/docPropsVTypes">
  <Template/>
  <TotalTime>126</TotalTime>
  <Words>2334</Words>
  <Application>Microsoft Office PowerPoint</Application>
  <PresentationFormat>Custom</PresentationFormat>
  <Paragraphs>482</Paragraphs>
  <Slides>21</Slides>
  <Notes>21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21</vt:i4>
      </vt:variant>
    </vt:vector>
  </HeadingPairs>
  <TitlesOfParts>
    <vt:vector size="28" baseType="lpstr">
      <vt:lpstr>Arial</vt:lpstr>
      <vt:lpstr>Arial Narrow</vt:lpstr>
      <vt:lpstr>Calibri</vt:lpstr>
      <vt:lpstr>Consolas</vt:lpstr>
      <vt:lpstr>Courier New</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Microsoft PowerPoint - 11-Java-Multithreaded-Programming.pptx</dc:title>
  <dc:creator>Marty</dc:creator>
  <cp:lastModifiedBy>Adeel-ur-Rehman</cp:lastModifiedBy>
  <cp:revision>56</cp:revision>
  <dcterms:created xsi:type="dcterms:W3CDTF">2017-03-27T04:10:22Z</dcterms:created>
  <dcterms:modified xsi:type="dcterms:W3CDTF">2019-08-28T06:08:17Z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2016-08-19T00:00:00Z</vt:filetime>
  </property>
  <property fmtid="{D5CDD505-2E9C-101B-9397-08002B2CF9AE}" pid="3" name="Creator">
    <vt:lpwstr>PScript5.dll Version 5.2.2</vt:lpwstr>
  </property>
  <property fmtid="{D5CDD505-2E9C-101B-9397-08002B2CF9AE}" pid="4" name="LastSaved">
    <vt:filetime>2017-03-27T00:00:00Z</vt:filetime>
  </property>
  <property fmtid="{D5CDD505-2E9C-101B-9397-08002B2CF9AE}" pid="5" name="ContentTypeId">
    <vt:lpwstr>0x0101008242D679B6F40C48B2519DEB851FE85E</vt:lpwstr>
  </property>
</Properties>
</file>