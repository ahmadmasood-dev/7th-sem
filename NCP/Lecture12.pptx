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12.xml" ContentType="application/vnd.openxmlformats-officedocument.presentationml.slide+xml"/>
  <Override PartName="/ppt/slides/slide39.xml" ContentType="application/vnd.openxmlformats-officedocument.presentationml.slide+xml"/>
  <Override PartName="/ppt/slides/slide4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40.xml" ContentType="application/vnd.openxmlformats-officedocument.presentationml.slide+xml"/>
  <Override PartName="/ppt/slides/slide11.xml" ContentType="application/vnd.openxmlformats-officedocument.presentationml.slide+xml"/>
  <Override PartName="/ppt/slides/slide52.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53.xml" ContentType="application/vnd.openxmlformats-officedocument.presentationml.slide+xml"/>
  <Override PartName="/ppt/slides/slide46.xml" ContentType="application/vnd.openxmlformats-officedocument.presentationml.slide+xml"/>
  <Override PartName="/ppt/slides/slide48.xml" ContentType="application/vnd.openxmlformats-officedocument.presentationml.slide+xml"/>
  <Override PartName="/ppt/slides/slide47.xml" ContentType="application/vnd.openxmlformats-officedocument.presentationml.slide+xml"/>
  <Override PartName="/ppt/slides/slide51.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sldIdLst>
    <p:sldId id="256" r:id="rId2"/>
    <p:sldId id="394" r:id="rId3"/>
    <p:sldId id="351" r:id="rId4"/>
    <p:sldId id="396" r:id="rId5"/>
    <p:sldId id="352" r:id="rId6"/>
    <p:sldId id="353" r:id="rId7"/>
    <p:sldId id="354" r:id="rId8"/>
    <p:sldId id="355" r:id="rId9"/>
    <p:sldId id="397" r:id="rId10"/>
    <p:sldId id="398" r:id="rId11"/>
    <p:sldId id="399" r:id="rId12"/>
    <p:sldId id="400" r:id="rId13"/>
    <p:sldId id="401" r:id="rId14"/>
    <p:sldId id="403" r:id="rId15"/>
    <p:sldId id="356" r:id="rId16"/>
    <p:sldId id="357" r:id="rId17"/>
    <p:sldId id="358" r:id="rId18"/>
    <p:sldId id="359" r:id="rId19"/>
    <p:sldId id="360" r:id="rId20"/>
    <p:sldId id="361" r:id="rId21"/>
    <p:sldId id="362" r:id="rId22"/>
    <p:sldId id="363" r:id="rId23"/>
    <p:sldId id="364" r:id="rId24"/>
    <p:sldId id="365" r:id="rId25"/>
    <p:sldId id="366" r:id="rId26"/>
    <p:sldId id="367" r:id="rId27"/>
    <p:sldId id="368" r:id="rId28"/>
    <p:sldId id="369" r:id="rId29"/>
    <p:sldId id="370" r:id="rId30"/>
    <p:sldId id="371" r:id="rId31"/>
    <p:sldId id="372" r:id="rId32"/>
    <p:sldId id="373" r:id="rId33"/>
    <p:sldId id="374" r:id="rId34"/>
    <p:sldId id="375" r:id="rId35"/>
    <p:sldId id="376" r:id="rId36"/>
    <p:sldId id="404" r:id="rId37"/>
    <p:sldId id="405" r:id="rId38"/>
    <p:sldId id="406" r:id="rId39"/>
    <p:sldId id="379" r:id="rId40"/>
    <p:sldId id="407" r:id="rId41"/>
    <p:sldId id="408" r:id="rId42"/>
    <p:sldId id="413" r:id="rId43"/>
    <p:sldId id="412" r:id="rId44"/>
    <p:sldId id="409" r:id="rId45"/>
    <p:sldId id="410" r:id="rId46"/>
    <p:sldId id="411" r:id="rId47"/>
    <p:sldId id="416" r:id="rId48"/>
    <p:sldId id="380" r:id="rId49"/>
    <p:sldId id="381" r:id="rId50"/>
    <p:sldId id="414" r:id="rId51"/>
    <p:sldId id="415" r:id="rId52"/>
    <p:sldId id="384" r:id="rId53"/>
    <p:sldId id="378" r:id="rId5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00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97" autoAdjust="0"/>
    <p:restoredTop sz="94629" autoAdjust="0"/>
  </p:normalViewPr>
  <p:slideViewPr>
    <p:cSldViewPr>
      <p:cViewPr varScale="1">
        <p:scale>
          <a:sx n="69" d="100"/>
          <a:sy n="69" d="100"/>
        </p:scale>
        <p:origin x="1416" y="54"/>
      </p:cViewPr>
      <p:guideLst>
        <p:guide orient="horz" pos="2160"/>
        <p:guide pos="2880"/>
      </p:guideLst>
    </p:cSldViewPr>
  </p:slideViewPr>
  <p:outlineViewPr>
    <p:cViewPr>
      <p:scale>
        <a:sx n="33" d="100"/>
        <a:sy n="33" d="100"/>
      </p:scale>
      <p:origin x="48" y="4295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customXml" Target="../customXml/item2.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70520FC-D788-48C1-BB99-0370BEB8FF51}" type="datetimeFigureOut">
              <a:rPr lang="en-IE" smtClean="0"/>
              <a:t>11/11/2019</a:t>
            </a:fld>
            <a:endParaRPr lang="en-IE"/>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48A391-A794-471D-B72A-F262B2B3B5B4}" type="slidenum">
              <a:rPr lang="en-IE" smtClean="0"/>
              <a:t>‹#›</a:t>
            </a:fld>
            <a:endParaRPr lang="en-IE"/>
          </a:p>
        </p:txBody>
      </p:sp>
    </p:spTree>
    <p:extLst>
      <p:ext uri="{BB962C8B-B14F-4D97-AF65-F5344CB8AC3E}">
        <p14:creationId xmlns:p14="http://schemas.microsoft.com/office/powerpoint/2010/main" val="402174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E"/>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E"/>
          </a:p>
        </p:txBody>
      </p:sp>
      <p:sp>
        <p:nvSpPr>
          <p:cNvPr id="4" name="Date Placeholder 3"/>
          <p:cNvSpPr>
            <a:spLocks noGrp="1"/>
          </p:cNvSpPr>
          <p:nvPr>
            <p:ph type="dt" sz="half" idx="10"/>
          </p:nvPr>
        </p:nvSpPr>
        <p:spPr/>
        <p:txBody>
          <a:bodyPr/>
          <a:lstStyle/>
          <a:p>
            <a:fld id="{23B5AF71-02A3-46FB-8593-3D5F029059DF}" type="datetimeFigureOut">
              <a:rPr lang="en-IE" smtClean="0"/>
              <a:t>11/11/2019</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9284FB45-1ED6-41BB-A146-54B96BE78B7D}" type="slidenum">
              <a:rPr lang="en-IE" smtClean="0"/>
              <a:t>‹#›</a:t>
            </a:fld>
            <a:endParaRPr lang="en-IE"/>
          </a:p>
        </p:txBody>
      </p:sp>
    </p:spTree>
    <p:extLst>
      <p:ext uri="{BB962C8B-B14F-4D97-AF65-F5344CB8AC3E}">
        <p14:creationId xmlns:p14="http://schemas.microsoft.com/office/powerpoint/2010/main" val="2255258717"/>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idx="1"/>
          </p:nvPr>
        </p:nvSpPr>
        <p:spPr/>
        <p:txBody>
          <a:bodyPr/>
          <a:lstStyle>
            <a:lvl1pPr>
              <a:defRPr>
                <a:solidFill>
                  <a:srgbClr val="FF0000"/>
                </a:solidFill>
              </a:defRPr>
            </a:lvl1pPr>
            <a:lvl2pPr>
              <a:defRPr>
                <a:solidFill>
                  <a:schemeClr val="tx1"/>
                </a:solidFill>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E" dirty="0"/>
          </a:p>
        </p:txBody>
      </p:sp>
      <p:sp>
        <p:nvSpPr>
          <p:cNvPr id="4" name="Date Placeholder 3"/>
          <p:cNvSpPr>
            <a:spLocks noGrp="1"/>
          </p:cNvSpPr>
          <p:nvPr>
            <p:ph type="dt" sz="half" idx="10"/>
          </p:nvPr>
        </p:nvSpPr>
        <p:spPr/>
        <p:txBody>
          <a:bodyPr/>
          <a:lstStyle/>
          <a:p>
            <a:fld id="{23B5AF71-02A3-46FB-8593-3D5F029059DF}" type="datetimeFigureOut">
              <a:rPr lang="en-IE" smtClean="0"/>
              <a:t>11/11/2019</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9284FB45-1ED6-41BB-A146-54B96BE78B7D}" type="slidenum">
              <a:rPr lang="en-IE" smtClean="0"/>
              <a:t>‹#›</a:t>
            </a:fld>
            <a:endParaRPr lang="en-IE"/>
          </a:p>
        </p:txBody>
      </p:sp>
    </p:spTree>
    <p:extLst>
      <p:ext uri="{BB962C8B-B14F-4D97-AF65-F5344CB8AC3E}">
        <p14:creationId xmlns:p14="http://schemas.microsoft.com/office/powerpoint/2010/main" val="923229902"/>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endParaRPr lang="en-IE"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E"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B5AF71-02A3-46FB-8593-3D5F029059DF}" type="datetimeFigureOut">
              <a:rPr lang="en-IE" smtClean="0"/>
              <a:t>11/11/2019</a:t>
            </a:fld>
            <a:endParaRPr lang="en-IE"/>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E"/>
          </a:p>
        </p:txBody>
      </p:sp>
      <p:sp>
        <p:nvSpPr>
          <p:cNvPr id="7" name="TextBox 6"/>
          <p:cNvSpPr txBox="1"/>
          <p:nvPr userDrawn="1"/>
        </p:nvSpPr>
        <p:spPr>
          <a:xfrm>
            <a:off x="8458200" y="6477000"/>
            <a:ext cx="685800" cy="381000"/>
          </a:xfrm>
          <a:prstGeom prst="rect">
            <a:avLst/>
          </a:prstGeom>
          <a:noFill/>
        </p:spPr>
        <p:txBody>
          <a:bodyPr wrap="square" rtlCol="0">
            <a:spAutoFit/>
          </a:bodyPr>
          <a:lstStyle/>
          <a:p>
            <a:pPr algn="r"/>
            <a:fld id="{361424CE-21A9-40ED-A480-F74D0252FFC4}" type="slidenum">
              <a:rPr lang="en-IE" smtClean="0"/>
              <a:pPr algn="r"/>
              <a:t>‹#›</a:t>
            </a:fld>
            <a:endParaRPr lang="en-IE" dirty="0"/>
          </a:p>
        </p:txBody>
      </p:sp>
    </p:spTree>
    <p:extLst>
      <p:ext uri="{BB962C8B-B14F-4D97-AF65-F5344CB8AC3E}">
        <p14:creationId xmlns:p14="http://schemas.microsoft.com/office/powerpoint/2010/main" val="3243519232"/>
      </p:ext>
    </p:extLst>
  </p:cSld>
  <p:clrMap bg1="lt1" tx1="dk1" bg2="lt2" tx2="dk2" accent1="accent1" accent2="accent2" accent3="accent3" accent4="accent4" accent5="accent5" accent6="accent6" hlink="hlink" folHlink="folHlink"/>
  <p:sldLayoutIdLst>
    <p:sldLayoutId id="2147483649" r:id="rId1"/>
    <p:sldLayoutId id="2147483650" r:id="rId2"/>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2"/>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rgbClr val="C00000"/>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rgbClr val="FF0000"/>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www.ibiblio.org/javafaq/index.html#today"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http://www.example.com/images/logo.png"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URI and URL</a:t>
            </a:r>
            <a:endParaRPr lang="en-IE" dirty="0"/>
          </a:p>
        </p:txBody>
      </p:sp>
      <p:sp>
        <p:nvSpPr>
          <p:cNvPr id="3" name="Subtitle 2"/>
          <p:cNvSpPr>
            <a:spLocks noGrp="1"/>
          </p:cNvSpPr>
          <p:nvPr>
            <p:ph type="subTitle" idx="1"/>
          </p:nvPr>
        </p:nvSpPr>
        <p:spPr/>
        <p:txBody>
          <a:bodyPr/>
          <a:lstStyle/>
          <a:p>
            <a:r>
              <a:rPr lang="en-US" dirty="0" smtClean="0">
                <a:solidFill>
                  <a:srgbClr val="FF0000"/>
                </a:solidFill>
              </a:rPr>
              <a:t>Adeel-ur-Rehman</a:t>
            </a:r>
            <a:endParaRPr lang="en-IE" dirty="0">
              <a:solidFill>
                <a:srgbClr val="FF0000"/>
              </a:solidFill>
            </a:endParaRPr>
          </a:p>
        </p:txBody>
      </p:sp>
    </p:spTree>
    <p:extLst>
      <p:ext uri="{BB962C8B-B14F-4D97-AF65-F5344CB8AC3E}">
        <p14:creationId xmlns:p14="http://schemas.microsoft.com/office/powerpoint/2010/main" val="399352293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URI vs. UR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381000"/>
            <a:ext cx="6096000" cy="57531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818128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fontScale="90000"/>
          </a:bodyPr>
          <a:lstStyle/>
          <a:p>
            <a:r>
              <a:rPr lang="en-US" dirty="0" smtClean="0"/>
              <a:t>URI</a:t>
            </a:r>
            <a:endParaRPr lang="en-IE" dirty="0"/>
          </a:p>
        </p:txBody>
      </p:sp>
      <p:sp>
        <p:nvSpPr>
          <p:cNvPr id="3" name="Content Placeholder 2"/>
          <p:cNvSpPr>
            <a:spLocks noGrp="1"/>
          </p:cNvSpPr>
          <p:nvPr>
            <p:ph idx="1"/>
          </p:nvPr>
        </p:nvSpPr>
        <p:spPr>
          <a:xfrm>
            <a:off x="0" y="609600"/>
            <a:ext cx="9144000" cy="6248400"/>
          </a:xfrm>
        </p:spPr>
        <p:txBody>
          <a:bodyPr>
            <a:noAutofit/>
          </a:bodyPr>
          <a:lstStyle/>
          <a:p>
            <a:r>
              <a:rPr lang="en-IE" sz="2400" dirty="0"/>
              <a:t>A </a:t>
            </a:r>
            <a:r>
              <a:rPr lang="en-IE" sz="2400" dirty="0">
                <a:solidFill>
                  <a:schemeClr val="tx2"/>
                </a:solidFill>
              </a:rPr>
              <a:t>Uniform Resource Identifier (URI)</a:t>
            </a:r>
            <a:r>
              <a:rPr lang="en-IE" sz="2400" dirty="0"/>
              <a:t> is a compact sequence of characters that identifies </a:t>
            </a:r>
            <a:r>
              <a:rPr lang="en-IE" sz="2400" dirty="0" smtClean="0"/>
              <a:t>a </a:t>
            </a:r>
            <a:r>
              <a:rPr lang="en-IE" sz="2400" dirty="0"/>
              <a:t>physical resource.</a:t>
            </a:r>
          </a:p>
          <a:p>
            <a:r>
              <a:rPr lang="en-IE" sz="2400" dirty="0"/>
              <a:t>A </a:t>
            </a:r>
            <a:r>
              <a:rPr lang="en-IE" sz="2400" dirty="0">
                <a:solidFill>
                  <a:schemeClr val="tx2"/>
                </a:solidFill>
              </a:rPr>
              <a:t>URI</a:t>
            </a:r>
            <a:r>
              <a:rPr lang="en-IE" sz="2400" dirty="0"/>
              <a:t> can be further classified as a locator, a name, or both. The term “</a:t>
            </a:r>
            <a:r>
              <a:rPr lang="en-IE" sz="2400" dirty="0">
                <a:solidFill>
                  <a:schemeClr val="tx2"/>
                </a:solidFill>
              </a:rPr>
              <a:t>Uniform Resource Locator</a:t>
            </a:r>
            <a:r>
              <a:rPr lang="en-IE" sz="2400" dirty="0"/>
              <a:t>” (</a:t>
            </a:r>
            <a:r>
              <a:rPr lang="en-IE" sz="2400" dirty="0">
                <a:solidFill>
                  <a:schemeClr val="tx2"/>
                </a:solidFill>
              </a:rPr>
              <a:t>URL</a:t>
            </a:r>
            <a:r>
              <a:rPr lang="en-IE" sz="2400" dirty="0"/>
              <a:t>) refers to </a:t>
            </a:r>
            <a:r>
              <a:rPr lang="en-IE" sz="2400" dirty="0">
                <a:solidFill>
                  <a:schemeClr val="tx2"/>
                </a:solidFill>
              </a:rPr>
              <a:t>the subset of URIs </a:t>
            </a:r>
            <a:r>
              <a:rPr lang="en-IE" sz="2400" dirty="0"/>
              <a:t>that, in addition to </a:t>
            </a:r>
            <a:r>
              <a:rPr lang="en-IE" sz="2400" dirty="0">
                <a:solidFill>
                  <a:schemeClr val="tx2"/>
                </a:solidFill>
              </a:rPr>
              <a:t>identifying a resource</a:t>
            </a:r>
            <a:r>
              <a:rPr lang="en-IE" sz="2400" dirty="0"/>
              <a:t>, </a:t>
            </a:r>
            <a:r>
              <a:rPr lang="en-IE" sz="2400" dirty="0">
                <a:solidFill>
                  <a:schemeClr val="tx2"/>
                </a:solidFill>
              </a:rPr>
              <a:t>provide a means of locating the resource</a:t>
            </a:r>
            <a:r>
              <a:rPr lang="en-IE" sz="2400" dirty="0"/>
              <a:t> by describing its primary access mechanism (e.g., its network “location”).</a:t>
            </a:r>
          </a:p>
          <a:p>
            <a:r>
              <a:rPr lang="en-IE" sz="2400" dirty="0"/>
              <a:t>One can classify </a:t>
            </a:r>
            <a:r>
              <a:rPr lang="en-IE" sz="2400" dirty="0">
                <a:solidFill>
                  <a:schemeClr val="tx2"/>
                </a:solidFill>
              </a:rPr>
              <a:t>URIs</a:t>
            </a:r>
            <a:r>
              <a:rPr lang="en-IE" sz="2400" dirty="0"/>
              <a:t> as locators (</a:t>
            </a:r>
            <a:r>
              <a:rPr lang="en-IE" sz="2400" dirty="0">
                <a:solidFill>
                  <a:schemeClr val="tx2"/>
                </a:solidFill>
              </a:rPr>
              <a:t>URLs</a:t>
            </a:r>
            <a:r>
              <a:rPr lang="en-IE" sz="2400" dirty="0"/>
              <a:t>), or as names (</a:t>
            </a:r>
            <a:r>
              <a:rPr lang="en-IE" sz="2400" dirty="0">
                <a:solidFill>
                  <a:schemeClr val="tx2"/>
                </a:solidFill>
              </a:rPr>
              <a:t>URNs</a:t>
            </a:r>
            <a:r>
              <a:rPr lang="en-IE" sz="2400" dirty="0"/>
              <a:t>), or as both. </a:t>
            </a:r>
            <a:endParaRPr lang="en-IE" sz="2400" dirty="0" smtClean="0"/>
          </a:p>
          <a:p>
            <a:r>
              <a:rPr lang="en-IE" sz="2400" dirty="0" smtClean="0"/>
              <a:t>A </a:t>
            </a:r>
            <a:r>
              <a:rPr lang="en-IE" sz="2400" dirty="0"/>
              <a:t>Uniform Resource Name (</a:t>
            </a:r>
            <a:r>
              <a:rPr lang="en-IE" sz="2400" dirty="0">
                <a:solidFill>
                  <a:schemeClr val="tx2"/>
                </a:solidFill>
              </a:rPr>
              <a:t>URN</a:t>
            </a:r>
            <a:r>
              <a:rPr lang="en-IE" sz="2400" dirty="0"/>
              <a:t>) functions like a person’s name, while a Uniform Resource Locator (</a:t>
            </a:r>
            <a:r>
              <a:rPr lang="en-IE" sz="2400" dirty="0">
                <a:solidFill>
                  <a:schemeClr val="tx2"/>
                </a:solidFill>
              </a:rPr>
              <a:t>URL</a:t>
            </a:r>
            <a:r>
              <a:rPr lang="en-IE" sz="2400" dirty="0"/>
              <a:t>) resembles that person’s street address. </a:t>
            </a:r>
            <a:endParaRPr lang="en-IE" sz="2400" dirty="0" smtClean="0"/>
          </a:p>
          <a:p>
            <a:r>
              <a:rPr lang="en-IE" sz="2400" dirty="0" smtClean="0"/>
              <a:t>In </a:t>
            </a:r>
            <a:r>
              <a:rPr lang="en-IE" sz="2400" dirty="0"/>
              <a:t>other words: the </a:t>
            </a:r>
            <a:r>
              <a:rPr lang="en-IE" sz="2400" dirty="0">
                <a:solidFill>
                  <a:schemeClr val="tx2"/>
                </a:solidFill>
              </a:rPr>
              <a:t>URN defines an item’s identity</a:t>
            </a:r>
            <a:r>
              <a:rPr lang="en-IE" sz="2400" dirty="0"/>
              <a:t>, while the </a:t>
            </a:r>
            <a:r>
              <a:rPr lang="en-IE" sz="2400" dirty="0">
                <a:solidFill>
                  <a:schemeClr val="tx2"/>
                </a:solidFill>
              </a:rPr>
              <a:t>URL provides a method for finding it.</a:t>
            </a:r>
            <a:endParaRPr lang="en-IE" sz="2400" b="1" dirty="0" smtClean="0">
              <a:solidFill>
                <a:schemeClr val="tx2"/>
              </a:solidFill>
            </a:endParaRPr>
          </a:p>
        </p:txBody>
      </p:sp>
    </p:spTree>
    <p:extLst>
      <p:ext uri="{BB962C8B-B14F-4D97-AF65-F5344CB8AC3E}">
        <p14:creationId xmlns:p14="http://schemas.microsoft.com/office/powerpoint/2010/main" val="398567188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fontScale="90000"/>
          </a:bodyPr>
          <a:lstStyle/>
          <a:p>
            <a:r>
              <a:rPr lang="en-US" dirty="0" smtClean="0"/>
              <a:t>URI</a:t>
            </a:r>
            <a:endParaRPr lang="en-IE" dirty="0"/>
          </a:p>
        </p:txBody>
      </p:sp>
      <p:sp>
        <p:nvSpPr>
          <p:cNvPr id="3" name="Content Placeholder 2"/>
          <p:cNvSpPr>
            <a:spLocks noGrp="1"/>
          </p:cNvSpPr>
          <p:nvPr>
            <p:ph idx="1"/>
          </p:nvPr>
        </p:nvSpPr>
        <p:spPr>
          <a:xfrm>
            <a:off x="0" y="609600"/>
            <a:ext cx="9144000" cy="6248400"/>
          </a:xfrm>
        </p:spPr>
        <p:txBody>
          <a:bodyPr>
            <a:noAutofit/>
          </a:bodyPr>
          <a:lstStyle/>
          <a:p>
            <a:r>
              <a:rPr lang="en-IE" sz="2400" dirty="0"/>
              <a:t>First of all (as we see in the diagram as well) a </a:t>
            </a:r>
            <a:r>
              <a:rPr lang="en-IE" sz="2400" dirty="0">
                <a:solidFill>
                  <a:schemeClr val="tx2"/>
                </a:solidFill>
              </a:rPr>
              <a:t>URL is </a:t>
            </a:r>
            <a:r>
              <a:rPr lang="en-IE" sz="2400" b="1" dirty="0">
                <a:solidFill>
                  <a:schemeClr val="tx2"/>
                </a:solidFill>
              </a:rPr>
              <a:t>a type of URI</a:t>
            </a:r>
            <a:r>
              <a:rPr lang="en-IE" sz="2400" dirty="0" smtClean="0"/>
              <a:t>.</a:t>
            </a:r>
          </a:p>
          <a:p>
            <a:r>
              <a:rPr lang="en-IE" sz="2400" dirty="0" smtClean="0"/>
              <a:t> </a:t>
            </a:r>
            <a:r>
              <a:rPr lang="en-IE" sz="2400" dirty="0"/>
              <a:t>So if someone tells you that a </a:t>
            </a:r>
            <a:r>
              <a:rPr lang="en-IE" sz="2400" dirty="0">
                <a:solidFill>
                  <a:schemeClr val="tx2"/>
                </a:solidFill>
              </a:rPr>
              <a:t>URL is not a URI, he’s wrong</a:t>
            </a:r>
            <a:r>
              <a:rPr lang="en-IE" sz="2400" dirty="0"/>
              <a:t>. </a:t>
            </a:r>
            <a:endParaRPr lang="en-IE" sz="2400" dirty="0" smtClean="0"/>
          </a:p>
          <a:p>
            <a:r>
              <a:rPr lang="en-IE" sz="2400" dirty="0" smtClean="0"/>
              <a:t>But </a:t>
            </a:r>
            <a:r>
              <a:rPr lang="en-IE" sz="2400" dirty="0"/>
              <a:t>that doesn’t mean all URIs are URLs. </a:t>
            </a:r>
            <a:r>
              <a:rPr lang="en-IE" sz="2400" dirty="0">
                <a:solidFill>
                  <a:schemeClr val="tx2"/>
                </a:solidFill>
              </a:rPr>
              <a:t>All butterflies fly, but not everything that flies is a butterfly.</a:t>
            </a:r>
          </a:p>
          <a:p>
            <a:r>
              <a:rPr lang="en-IE" sz="2400" dirty="0"/>
              <a:t>The part that makes a URI a URL is </a:t>
            </a:r>
            <a:r>
              <a:rPr lang="en-IE" sz="2400" dirty="0">
                <a:solidFill>
                  <a:schemeClr val="tx2"/>
                </a:solidFill>
              </a:rPr>
              <a:t>the inclusion of the “access mechanism”, or “network location”, e.g. http:// or ftp://.</a:t>
            </a:r>
          </a:p>
          <a:p>
            <a:r>
              <a:rPr lang="en-IE" sz="2400" dirty="0"/>
              <a:t>The URN is the “</a:t>
            </a:r>
            <a:r>
              <a:rPr lang="en-IE" sz="2400" dirty="0">
                <a:solidFill>
                  <a:schemeClr val="tx2"/>
                </a:solidFill>
              </a:rPr>
              <a:t>globally unique” part of the identification</a:t>
            </a:r>
            <a:r>
              <a:rPr lang="en-IE" sz="2400" dirty="0"/>
              <a:t>; it’s a unique name.</a:t>
            </a:r>
          </a:p>
          <a:p>
            <a:endParaRPr lang="en-IE" sz="2400" b="1" dirty="0" smtClean="0"/>
          </a:p>
        </p:txBody>
      </p:sp>
    </p:spTree>
    <p:extLst>
      <p:ext uri="{BB962C8B-B14F-4D97-AF65-F5344CB8AC3E}">
        <p14:creationId xmlns:p14="http://schemas.microsoft.com/office/powerpoint/2010/main" val="31859691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fontScale="90000"/>
          </a:bodyPr>
          <a:lstStyle/>
          <a:p>
            <a:r>
              <a:rPr lang="en-US" dirty="0" smtClean="0"/>
              <a:t>URIs</a:t>
            </a:r>
            <a:endParaRPr lang="en-IE" dirty="0"/>
          </a:p>
        </p:txBody>
      </p:sp>
      <p:sp>
        <p:nvSpPr>
          <p:cNvPr id="3" name="Content Placeholder 2"/>
          <p:cNvSpPr>
            <a:spLocks noGrp="1"/>
          </p:cNvSpPr>
          <p:nvPr>
            <p:ph idx="1"/>
          </p:nvPr>
        </p:nvSpPr>
        <p:spPr>
          <a:xfrm>
            <a:off x="0" y="609600"/>
            <a:ext cx="9144000" cy="6248400"/>
          </a:xfrm>
        </p:spPr>
        <p:txBody>
          <a:bodyPr>
            <a:noAutofit/>
          </a:bodyPr>
          <a:lstStyle/>
          <a:p>
            <a:r>
              <a:rPr lang="en-IE" sz="2400" dirty="0"/>
              <a:t>A </a:t>
            </a:r>
            <a:r>
              <a:rPr lang="en-IE" sz="2400" dirty="0">
                <a:solidFill>
                  <a:schemeClr val="tx2"/>
                </a:solidFill>
              </a:rPr>
              <a:t>Uniform Resource Identifier (URI) </a:t>
            </a:r>
            <a:r>
              <a:rPr lang="en-IE" sz="2400" dirty="0"/>
              <a:t>is a string of characters in a particular syntax </a:t>
            </a:r>
            <a:r>
              <a:rPr lang="en-IE" sz="2400" dirty="0" smtClean="0">
                <a:solidFill>
                  <a:schemeClr val="tx2"/>
                </a:solidFill>
              </a:rPr>
              <a:t>that identifies </a:t>
            </a:r>
            <a:r>
              <a:rPr lang="en-IE" sz="2400" dirty="0">
                <a:solidFill>
                  <a:schemeClr val="tx2"/>
                </a:solidFill>
              </a:rPr>
              <a:t>a resource</a:t>
            </a:r>
            <a:r>
              <a:rPr lang="en-IE" sz="2400" dirty="0"/>
              <a:t>. </a:t>
            </a:r>
            <a:endParaRPr lang="en-IE" sz="2400" dirty="0" smtClean="0"/>
          </a:p>
          <a:p>
            <a:r>
              <a:rPr lang="en-IE" sz="2400" dirty="0" smtClean="0"/>
              <a:t>The </a:t>
            </a:r>
            <a:r>
              <a:rPr lang="en-IE" sz="2400" dirty="0"/>
              <a:t>resource identified may be a </a:t>
            </a:r>
            <a:r>
              <a:rPr lang="en-IE" sz="2400" dirty="0">
                <a:solidFill>
                  <a:schemeClr val="tx2"/>
                </a:solidFill>
              </a:rPr>
              <a:t>file o</a:t>
            </a:r>
            <a:r>
              <a:rPr lang="en-IE" sz="2400" dirty="0"/>
              <a:t>n a server; but it may </a:t>
            </a:r>
            <a:r>
              <a:rPr lang="en-IE" sz="2400" dirty="0" smtClean="0"/>
              <a:t>also be </a:t>
            </a:r>
            <a:r>
              <a:rPr lang="en-IE" sz="2400" dirty="0"/>
              <a:t>an </a:t>
            </a:r>
            <a:r>
              <a:rPr lang="en-IE" sz="2400" dirty="0">
                <a:solidFill>
                  <a:schemeClr val="tx2"/>
                </a:solidFill>
              </a:rPr>
              <a:t>email address</a:t>
            </a:r>
            <a:r>
              <a:rPr lang="en-IE" sz="2400" dirty="0"/>
              <a:t>, a </a:t>
            </a:r>
            <a:r>
              <a:rPr lang="en-IE" sz="2400" dirty="0">
                <a:solidFill>
                  <a:schemeClr val="tx2"/>
                </a:solidFill>
              </a:rPr>
              <a:t>news message</a:t>
            </a:r>
            <a:r>
              <a:rPr lang="en-IE" sz="2400" dirty="0"/>
              <a:t>, a </a:t>
            </a:r>
            <a:r>
              <a:rPr lang="en-IE" sz="2400" dirty="0">
                <a:solidFill>
                  <a:schemeClr val="tx2"/>
                </a:solidFill>
              </a:rPr>
              <a:t>book</a:t>
            </a:r>
            <a:r>
              <a:rPr lang="en-IE" sz="2400" dirty="0"/>
              <a:t>, a </a:t>
            </a:r>
            <a:r>
              <a:rPr lang="en-IE" sz="2400" dirty="0">
                <a:solidFill>
                  <a:schemeClr val="tx2"/>
                </a:solidFill>
              </a:rPr>
              <a:t>person’s name</a:t>
            </a:r>
            <a:r>
              <a:rPr lang="en-IE" sz="2400" dirty="0"/>
              <a:t>, an </a:t>
            </a:r>
            <a:r>
              <a:rPr lang="en-IE" sz="2400" dirty="0">
                <a:solidFill>
                  <a:schemeClr val="tx2"/>
                </a:solidFill>
              </a:rPr>
              <a:t>Internet host</a:t>
            </a:r>
            <a:r>
              <a:rPr lang="en-IE" sz="2400" dirty="0"/>
              <a:t>, </a:t>
            </a:r>
            <a:r>
              <a:rPr lang="en-IE" sz="2400" dirty="0" smtClean="0"/>
              <a:t>the </a:t>
            </a:r>
            <a:r>
              <a:rPr lang="en-IE" sz="2400" dirty="0" smtClean="0">
                <a:solidFill>
                  <a:schemeClr val="tx2"/>
                </a:solidFill>
              </a:rPr>
              <a:t>current </a:t>
            </a:r>
            <a:r>
              <a:rPr lang="en-IE" sz="2400" dirty="0">
                <a:solidFill>
                  <a:schemeClr val="tx2"/>
                </a:solidFill>
              </a:rPr>
              <a:t>stock price of Oracle</a:t>
            </a:r>
            <a:r>
              <a:rPr lang="en-IE" sz="2400" dirty="0"/>
              <a:t>, or something else.</a:t>
            </a:r>
          </a:p>
          <a:p>
            <a:r>
              <a:rPr lang="en-IE" sz="2400" dirty="0" smtClean="0"/>
              <a:t>All </a:t>
            </a:r>
            <a:r>
              <a:rPr lang="en-IE" sz="2400" dirty="0"/>
              <a:t>you ever </a:t>
            </a:r>
            <a:r>
              <a:rPr lang="en-IE" sz="2400" dirty="0">
                <a:solidFill>
                  <a:schemeClr val="tx2"/>
                </a:solidFill>
              </a:rPr>
              <a:t>receive from a server </a:t>
            </a:r>
            <a:r>
              <a:rPr lang="en-IE" sz="2400" dirty="0"/>
              <a:t>is </a:t>
            </a:r>
            <a:r>
              <a:rPr lang="en-IE" sz="2400" dirty="0" smtClean="0"/>
              <a:t>a </a:t>
            </a:r>
            <a:r>
              <a:rPr lang="en-IE" sz="2400" i="1" dirty="0" smtClean="0"/>
              <a:t>representation </a:t>
            </a:r>
            <a:r>
              <a:rPr lang="en-IE" sz="2400" dirty="0"/>
              <a:t>of a resource which comes in the form of bytes. </a:t>
            </a:r>
            <a:endParaRPr lang="en-IE" sz="2400" dirty="0" smtClean="0"/>
          </a:p>
          <a:p>
            <a:r>
              <a:rPr lang="en-IE" sz="2400" dirty="0" smtClean="0"/>
              <a:t>However </a:t>
            </a:r>
            <a:r>
              <a:rPr lang="en-IE" sz="2400" dirty="0"/>
              <a:t>a single </a:t>
            </a:r>
            <a:r>
              <a:rPr lang="en-IE" sz="2400" dirty="0" smtClean="0"/>
              <a:t>resource may </a:t>
            </a:r>
            <a:r>
              <a:rPr lang="en-IE" sz="2400" dirty="0"/>
              <a:t>have different representations. </a:t>
            </a:r>
            <a:endParaRPr lang="en-IE" sz="2400" dirty="0" smtClean="0"/>
          </a:p>
          <a:p>
            <a:r>
              <a:rPr lang="en-IE" sz="2400" dirty="0" smtClean="0"/>
              <a:t>For </a:t>
            </a:r>
            <a:r>
              <a:rPr lang="en-IE" sz="2400" dirty="0"/>
              <a:t>instance, </a:t>
            </a:r>
            <a:r>
              <a:rPr lang="en-IE" sz="2400" i="1" dirty="0">
                <a:solidFill>
                  <a:srgbClr val="FF9900"/>
                </a:solidFill>
              </a:rPr>
              <a:t>https://</a:t>
            </a:r>
            <a:r>
              <a:rPr lang="en-IE" sz="2400" i="1" dirty="0" smtClean="0">
                <a:solidFill>
                  <a:srgbClr val="FF9900"/>
                </a:solidFill>
              </a:rPr>
              <a:t>www.un.org/en/documents/udhr</a:t>
            </a:r>
            <a:r>
              <a:rPr lang="en-IE" sz="2400" i="1" dirty="0">
                <a:solidFill>
                  <a:srgbClr val="FF9900"/>
                </a:solidFill>
              </a:rPr>
              <a:t>/</a:t>
            </a:r>
            <a:r>
              <a:rPr lang="en-IE" sz="2400" i="1" dirty="0"/>
              <a:t> </a:t>
            </a:r>
            <a:r>
              <a:rPr lang="en-IE" sz="2400" dirty="0"/>
              <a:t>identifies the Universal Declaration of Human Rights; but there are </a:t>
            </a:r>
            <a:r>
              <a:rPr lang="en-IE" sz="2400" i="1" dirty="0" smtClean="0"/>
              <a:t>representations </a:t>
            </a:r>
            <a:r>
              <a:rPr lang="en-IE" sz="2400" dirty="0" smtClean="0"/>
              <a:t>of </a:t>
            </a:r>
            <a:r>
              <a:rPr lang="en-IE" sz="2400" dirty="0"/>
              <a:t>the declaration in plain text, XML, PDF, and other formats. </a:t>
            </a:r>
            <a:endParaRPr lang="en-IE" sz="2400" dirty="0" smtClean="0"/>
          </a:p>
        </p:txBody>
      </p:sp>
    </p:spTree>
    <p:extLst>
      <p:ext uri="{BB962C8B-B14F-4D97-AF65-F5344CB8AC3E}">
        <p14:creationId xmlns:p14="http://schemas.microsoft.com/office/powerpoint/2010/main" val="81935001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fontScale="90000"/>
          </a:bodyPr>
          <a:lstStyle/>
          <a:p>
            <a:r>
              <a:rPr lang="en-US" dirty="0" smtClean="0"/>
              <a:t>URIs Syntax</a:t>
            </a:r>
            <a:endParaRPr lang="en-IE" dirty="0"/>
          </a:p>
        </p:txBody>
      </p:sp>
      <p:sp>
        <p:nvSpPr>
          <p:cNvPr id="3" name="Content Placeholder 2"/>
          <p:cNvSpPr>
            <a:spLocks noGrp="1"/>
          </p:cNvSpPr>
          <p:nvPr>
            <p:ph idx="1"/>
          </p:nvPr>
        </p:nvSpPr>
        <p:spPr>
          <a:xfrm>
            <a:off x="0" y="609600"/>
            <a:ext cx="9144000" cy="6248400"/>
          </a:xfrm>
        </p:spPr>
        <p:txBody>
          <a:bodyPr>
            <a:noAutofit/>
          </a:bodyPr>
          <a:lstStyle/>
          <a:p>
            <a:r>
              <a:rPr lang="en-IE" sz="1800" dirty="0"/>
              <a:t>The syntax of a URI is composed of a scheme and a scheme-specific part, separated </a:t>
            </a:r>
            <a:r>
              <a:rPr lang="en-IE" sz="1800" dirty="0" smtClean="0"/>
              <a:t>by a </a:t>
            </a:r>
            <a:r>
              <a:rPr lang="en-IE" sz="1800" dirty="0"/>
              <a:t>colon, like this:</a:t>
            </a:r>
          </a:p>
          <a:p>
            <a:pPr lvl="1"/>
            <a:r>
              <a:rPr lang="en-IE" sz="2000" i="1" dirty="0" err="1">
                <a:solidFill>
                  <a:schemeClr val="tx2"/>
                </a:solidFill>
              </a:rPr>
              <a:t>scheme</a:t>
            </a:r>
            <a:r>
              <a:rPr lang="en-IE" sz="2000" dirty="0" err="1">
                <a:solidFill>
                  <a:schemeClr val="tx2"/>
                </a:solidFill>
              </a:rPr>
              <a:t>:</a:t>
            </a:r>
            <a:r>
              <a:rPr lang="en-IE" sz="2000" i="1" dirty="0" err="1">
                <a:solidFill>
                  <a:schemeClr val="tx2"/>
                </a:solidFill>
              </a:rPr>
              <a:t>scheme-specific-part</a:t>
            </a:r>
            <a:endParaRPr lang="en-IE" sz="2000" i="1" dirty="0">
              <a:solidFill>
                <a:schemeClr val="tx2"/>
              </a:solidFill>
            </a:endParaRPr>
          </a:p>
          <a:p>
            <a:r>
              <a:rPr lang="en-IE" sz="1800" dirty="0"/>
              <a:t>The syntax of the scheme-specific part depends on the scheme being used. </a:t>
            </a:r>
            <a:r>
              <a:rPr lang="en-IE" sz="1800" dirty="0" smtClean="0"/>
              <a:t>Current schemes </a:t>
            </a:r>
            <a:r>
              <a:rPr lang="en-IE" sz="1800" dirty="0"/>
              <a:t>include:</a:t>
            </a:r>
          </a:p>
          <a:p>
            <a:r>
              <a:rPr lang="en-IE" sz="1800" i="1" dirty="0"/>
              <a:t>data</a:t>
            </a:r>
          </a:p>
          <a:p>
            <a:pPr lvl="1"/>
            <a:r>
              <a:rPr lang="en-IE" sz="1600" dirty="0"/>
              <a:t>Base64-encoded data included directly in a </a:t>
            </a:r>
            <a:r>
              <a:rPr lang="en-IE" sz="1600" dirty="0" smtClean="0"/>
              <a:t>link</a:t>
            </a:r>
            <a:endParaRPr lang="en-IE" sz="1600" dirty="0"/>
          </a:p>
          <a:p>
            <a:r>
              <a:rPr lang="en-IE" sz="1800" i="1" dirty="0"/>
              <a:t>file</a:t>
            </a:r>
          </a:p>
          <a:p>
            <a:pPr lvl="1"/>
            <a:r>
              <a:rPr lang="en-IE" sz="1600" dirty="0"/>
              <a:t>A file on a local disk</a:t>
            </a:r>
          </a:p>
          <a:p>
            <a:r>
              <a:rPr lang="en-IE" sz="1800" i="1" dirty="0"/>
              <a:t>ftp</a:t>
            </a:r>
          </a:p>
          <a:p>
            <a:pPr lvl="1"/>
            <a:r>
              <a:rPr lang="en-IE" sz="1600" dirty="0"/>
              <a:t>An FTP server</a:t>
            </a:r>
          </a:p>
          <a:p>
            <a:r>
              <a:rPr lang="en-IE" sz="1800" i="1" dirty="0"/>
              <a:t>http</a:t>
            </a:r>
          </a:p>
          <a:p>
            <a:pPr lvl="1"/>
            <a:r>
              <a:rPr lang="en-IE" sz="1600" dirty="0"/>
              <a:t>A World Wide Web server using the Hypertext Transfer Protocol</a:t>
            </a:r>
          </a:p>
          <a:p>
            <a:r>
              <a:rPr lang="en-IE" sz="1800" i="1" dirty="0"/>
              <a:t>mailto</a:t>
            </a:r>
          </a:p>
          <a:p>
            <a:pPr lvl="1"/>
            <a:r>
              <a:rPr lang="en-IE" sz="1600" dirty="0"/>
              <a:t>An email address</a:t>
            </a:r>
          </a:p>
          <a:p>
            <a:r>
              <a:rPr lang="en-IE" sz="1800" i="1" dirty="0" smtClean="0"/>
              <a:t>telnet</a:t>
            </a:r>
            <a:endParaRPr lang="en-IE" sz="1800" i="1" dirty="0"/>
          </a:p>
          <a:p>
            <a:pPr lvl="1"/>
            <a:r>
              <a:rPr lang="en-IE" sz="1600" dirty="0"/>
              <a:t>A connection to a Telnet-based service</a:t>
            </a:r>
          </a:p>
          <a:p>
            <a:r>
              <a:rPr lang="en-IE" sz="1800" i="1" dirty="0"/>
              <a:t>urn</a:t>
            </a:r>
          </a:p>
          <a:p>
            <a:pPr lvl="1"/>
            <a:r>
              <a:rPr lang="en-IE" sz="1600" dirty="0"/>
              <a:t>A Uniform Resource Name</a:t>
            </a:r>
          </a:p>
        </p:txBody>
      </p:sp>
    </p:spTree>
    <p:extLst>
      <p:ext uri="{BB962C8B-B14F-4D97-AF65-F5344CB8AC3E}">
        <p14:creationId xmlns:p14="http://schemas.microsoft.com/office/powerpoint/2010/main" val="257823504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fontScale="90000"/>
          </a:bodyPr>
          <a:lstStyle/>
          <a:p>
            <a:r>
              <a:rPr lang="en-US" dirty="0" smtClean="0"/>
              <a:t>URIs Syntax</a:t>
            </a:r>
            <a:endParaRPr lang="en-IE" dirty="0"/>
          </a:p>
        </p:txBody>
      </p:sp>
      <p:sp>
        <p:nvSpPr>
          <p:cNvPr id="3" name="Content Placeholder 2"/>
          <p:cNvSpPr>
            <a:spLocks noGrp="1"/>
          </p:cNvSpPr>
          <p:nvPr>
            <p:ph idx="1"/>
          </p:nvPr>
        </p:nvSpPr>
        <p:spPr>
          <a:xfrm>
            <a:off x="0" y="609600"/>
            <a:ext cx="9144000" cy="6248400"/>
          </a:xfrm>
        </p:spPr>
        <p:txBody>
          <a:bodyPr>
            <a:noAutofit/>
          </a:bodyPr>
          <a:lstStyle/>
          <a:p>
            <a:r>
              <a:rPr lang="en-IE" sz="1800" dirty="0"/>
              <a:t>There </a:t>
            </a:r>
            <a:r>
              <a:rPr lang="en-IE" sz="1800" dirty="0">
                <a:solidFill>
                  <a:schemeClr val="tx2"/>
                </a:solidFill>
              </a:rPr>
              <a:t>is no specific syntax</a:t>
            </a:r>
            <a:r>
              <a:rPr lang="en-IE" sz="1800" dirty="0"/>
              <a:t> that applies to the </a:t>
            </a:r>
            <a:r>
              <a:rPr lang="en-IE" sz="1800" dirty="0">
                <a:solidFill>
                  <a:schemeClr val="tx2"/>
                </a:solidFill>
              </a:rPr>
              <a:t>scheme-specific parts </a:t>
            </a:r>
            <a:r>
              <a:rPr lang="en-IE" sz="1800" dirty="0"/>
              <a:t>of all URIs. However</a:t>
            </a:r>
            <a:r>
              <a:rPr lang="en-IE" sz="1800" dirty="0" smtClean="0"/>
              <a:t>, many </a:t>
            </a:r>
            <a:r>
              <a:rPr lang="en-IE" sz="1800" dirty="0"/>
              <a:t>have a hierarchical form, like this:</a:t>
            </a:r>
          </a:p>
          <a:p>
            <a:pPr lvl="1"/>
            <a:r>
              <a:rPr lang="en-IE" sz="2000" dirty="0">
                <a:solidFill>
                  <a:schemeClr val="tx2"/>
                </a:solidFill>
              </a:rPr>
              <a:t>//</a:t>
            </a:r>
            <a:r>
              <a:rPr lang="en-IE" sz="2000" i="1" dirty="0">
                <a:solidFill>
                  <a:schemeClr val="tx2"/>
                </a:solidFill>
              </a:rPr>
              <a:t>authority</a:t>
            </a:r>
            <a:r>
              <a:rPr lang="en-IE" sz="2000" dirty="0">
                <a:solidFill>
                  <a:schemeClr val="tx2"/>
                </a:solidFill>
              </a:rPr>
              <a:t>/</a:t>
            </a:r>
            <a:r>
              <a:rPr lang="en-IE" sz="2000" i="1" dirty="0" err="1">
                <a:solidFill>
                  <a:schemeClr val="tx2"/>
                </a:solidFill>
              </a:rPr>
              <a:t>path</a:t>
            </a:r>
            <a:r>
              <a:rPr lang="en-IE" sz="2000" dirty="0" err="1">
                <a:solidFill>
                  <a:schemeClr val="tx2"/>
                </a:solidFill>
              </a:rPr>
              <a:t>?</a:t>
            </a:r>
            <a:r>
              <a:rPr lang="en-IE" sz="2000" i="1" dirty="0" err="1">
                <a:solidFill>
                  <a:schemeClr val="tx2"/>
                </a:solidFill>
              </a:rPr>
              <a:t>query</a:t>
            </a:r>
            <a:endParaRPr lang="en-IE" sz="2000" i="1" dirty="0">
              <a:solidFill>
                <a:schemeClr val="tx2"/>
              </a:solidFill>
            </a:endParaRPr>
          </a:p>
          <a:p>
            <a:r>
              <a:rPr lang="en-IE" sz="1800" dirty="0"/>
              <a:t>The </a:t>
            </a:r>
            <a:r>
              <a:rPr lang="en-IE" sz="1800" i="1" dirty="0">
                <a:solidFill>
                  <a:schemeClr val="tx2"/>
                </a:solidFill>
              </a:rPr>
              <a:t>authority</a:t>
            </a:r>
            <a:r>
              <a:rPr lang="en-IE" sz="1800" i="1" dirty="0"/>
              <a:t> </a:t>
            </a:r>
            <a:r>
              <a:rPr lang="en-IE" sz="1800" dirty="0"/>
              <a:t>part of the URI </a:t>
            </a:r>
            <a:r>
              <a:rPr lang="en-IE" sz="1800" dirty="0">
                <a:solidFill>
                  <a:schemeClr val="tx2"/>
                </a:solidFill>
              </a:rPr>
              <a:t>names the authority responsible for resolving the rest </a:t>
            </a:r>
            <a:r>
              <a:rPr lang="en-IE" sz="1800" dirty="0" smtClean="0">
                <a:solidFill>
                  <a:schemeClr val="tx2"/>
                </a:solidFill>
              </a:rPr>
              <a:t>of the </a:t>
            </a:r>
            <a:r>
              <a:rPr lang="en-IE" sz="1800" dirty="0">
                <a:solidFill>
                  <a:schemeClr val="tx2"/>
                </a:solidFill>
              </a:rPr>
              <a:t>URI.</a:t>
            </a:r>
            <a:r>
              <a:rPr lang="en-IE" sz="1800" dirty="0"/>
              <a:t> For instance, the URI </a:t>
            </a:r>
            <a:r>
              <a:rPr lang="en-IE" sz="1800" i="1" dirty="0">
                <a:solidFill>
                  <a:schemeClr val="tx1"/>
                </a:solidFill>
              </a:rPr>
              <a:t>http://www.ietf.org/rfc/rfc3986.txt</a:t>
            </a:r>
            <a:r>
              <a:rPr lang="en-IE" sz="1800" i="1" dirty="0"/>
              <a:t> </a:t>
            </a:r>
            <a:r>
              <a:rPr lang="en-IE" sz="1800" dirty="0"/>
              <a:t>has the scheme </a:t>
            </a:r>
            <a:r>
              <a:rPr lang="en-IE" sz="1800" i="1" dirty="0" smtClean="0">
                <a:solidFill>
                  <a:schemeClr val="tx2"/>
                </a:solidFill>
              </a:rPr>
              <a:t>http</a:t>
            </a:r>
            <a:r>
              <a:rPr lang="en-IE" sz="1800" dirty="0" smtClean="0"/>
              <a:t>, the </a:t>
            </a:r>
            <a:r>
              <a:rPr lang="en-IE" sz="1800" dirty="0"/>
              <a:t>authority </a:t>
            </a:r>
            <a:r>
              <a:rPr lang="en-IE" sz="1800" i="1" dirty="0">
                <a:solidFill>
                  <a:schemeClr val="tx2"/>
                </a:solidFill>
              </a:rPr>
              <a:t>www.ietf.org</a:t>
            </a:r>
            <a:r>
              <a:rPr lang="en-IE" sz="1800" dirty="0"/>
              <a:t>, and the path </a:t>
            </a:r>
            <a:r>
              <a:rPr lang="en-IE" sz="1800" i="1" dirty="0"/>
              <a:t>/</a:t>
            </a:r>
            <a:r>
              <a:rPr lang="en-IE" sz="1800" i="1" dirty="0" err="1">
                <a:solidFill>
                  <a:schemeClr val="tx2"/>
                </a:solidFill>
              </a:rPr>
              <a:t>rfc</a:t>
            </a:r>
            <a:r>
              <a:rPr lang="en-IE" sz="1800" i="1" dirty="0">
                <a:solidFill>
                  <a:schemeClr val="tx2"/>
                </a:solidFill>
              </a:rPr>
              <a:t>/rfc3986.txt</a:t>
            </a:r>
            <a:r>
              <a:rPr lang="en-IE" sz="1800" i="1" dirty="0"/>
              <a:t> </a:t>
            </a:r>
            <a:r>
              <a:rPr lang="en-IE" sz="1800" dirty="0"/>
              <a:t>(initial slash included). </a:t>
            </a:r>
            <a:endParaRPr lang="en-IE" sz="1800" dirty="0" smtClean="0"/>
          </a:p>
          <a:p>
            <a:r>
              <a:rPr lang="en-IE" sz="1800" dirty="0" smtClean="0"/>
              <a:t>This means </a:t>
            </a:r>
            <a:r>
              <a:rPr lang="en-IE" sz="1800" dirty="0"/>
              <a:t>the </a:t>
            </a:r>
            <a:r>
              <a:rPr lang="en-IE" sz="1800" dirty="0">
                <a:solidFill>
                  <a:schemeClr val="tx2"/>
                </a:solidFill>
              </a:rPr>
              <a:t>server at www.ietf.org is responsible for mapping the path </a:t>
            </a:r>
            <a:r>
              <a:rPr lang="en-IE" sz="1800" i="1" dirty="0">
                <a:solidFill>
                  <a:schemeClr val="tx2"/>
                </a:solidFill>
              </a:rPr>
              <a:t>/</a:t>
            </a:r>
            <a:r>
              <a:rPr lang="en-IE" sz="1800" i="1" dirty="0" err="1">
                <a:solidFill>
                  <a:schemeClr val="tx2"/>
                </a:solidFill>
              </a:rPr>
              <a:t>rfc</a:t>
            </a:r>
            <a:r>
              <a:rPr lang="en-IE" sz="1800" i="1" dirty="0">
                <a:solidFill>
                  <a:schemeClr val="tx2"/>
                </a:solidFill>
              </a:rPr>
              <a:t>/rfc3986.txt </a:t>
            </a:r>
            <a:r>
              <a:rPr lang="en-IE" sz="1800" dirty="0" smtClean="0">
                <a:solidFill>
                  <a:schemeClr val="tx2"/>
                </a:solidFill>
              </a:rPr>
              <a:t>to a </a:t>
            </a:r>
            <a:r>
              <a:rPr lang="en-IE" sz="1800" dirty="0">
                <a:solidFill>
                  <a:schemeClr val="tx2"/>
                </a:solidFill>
              </a:rPr>
              <a:t>resource</a:t>
            </a:r>
            <a:r>
              <a:rPr lang="en-IE" sz="1800" dirty="0"/>
              <a:t>. This URI does not have a query part. </a:t>
            </a:r>
            <a:endParaRPr lang="en-IE" sz="1800" dirty="0" smtClean="0"/>
          </a:p>
          <a:p>
            <a:r>
              <a:rPr lang="en-IE" sz="1800" dirty="0" smtClean="0"/>
              <a:t>The </a:t>
            </a:r>
            <a:r>
              <a:rPr lang="en-IE" sz="1800" dirty="0"/>
              <a:t>URI </a:t>
            </a:r>
            <a:r>
              <a:rPr lang="en-IE" sz="1800" i="1" dirty="0">
                <a:solidFill>
                  <a:schemeClr val="tx2"/>
                </a:solidFill>
              </a:rPr>
              <a:t>http://</a:t>
            </a:r>
            <a:r>
              <a:rPr lang="en-IE" sz="1800" i="1" dirty="0" smtClean="0">
                <a:solidFill>
                  <a:schemeClr val="tx2"/>
                </a:solidFill>
              </a:rPr>
              <a:t>www.powells.com/cgibin/biblio?inkey=62-1565928709-0 </a:t>
            </a:r>
            <a:r>
              <a:rPr lang="en-IE" sz="1800" dirty="0"/>
              <a:t>has the scheme </a:t>
            </a:r>
            <a:r>
              <a:rPr lang="en-IE" sz="1800" i="1" dirty="0">
                <a:solidFill>
                  <a:schemeClr val="tx2"/>
                </a:solidFill>
              </a:rPr>
              <a:t>http</a:t>
            </a:r>
            <a:r>
              <a:rPr lang="en-IE" sz="1800" dirty="0"/>
              <a:t>, the authority </a:t>
            </a:r>
            <a:r>
              <a:rPr lang="en-IE" sz="1800" i="1" dirty="0" smtClean="0">
                <a:solidFill>
                  <a:schemeClr val="tx2"/>
                </a:solidFill>
              </a:rPr>
              <a:t>www.powells.com</a:t>
            </a:r>
            <a:r>
              <a:rPr lang="en-IE" sz="1800" dirty="0"/>
              <a:t>, the path </a:t>
            </a:r>
            <a:r>
              <a:rPr lang="en-IE" sz="1800" i="1" dirty="0">
                <a:solidFill>
                  <a:schemeClr val="tx2"/>
                </a:solidFill>
              </a:rPr>
              <a:t>/</a:t>
            </a:r>
            <a:r>
              <a:rPr lang="en-IE" sz="1800" i="1" dirty="0" err="1">
                <a:solidFill>
                  <a:schemeClr val="tx2"/>
                </a:solidFill>
              </a:rPr>
              <a:t>cgi</a:t>
            </a:r>
            <a:r>
              <a:rPr lang="en-IE" sz="1800" i="1" dirty="0">
                <a:solidFill>
                  <a:schemeClr val="tx2"/>
                </a:solidFill>
              </a:rPr>
              <a:t>-bin/</a:t>
            </a:r>
            <a:r>
              <a:rPr lang="en-IE" sz="1800" i="1" dirty="0" err="1">
                <a:solidFill>
                  <a:schemeClr val="tx2"/>
                </a:solidFill>
              </a:rPr>
              <a:t>biblio</a:t>
            </a:r>
            <a:r>
              <a:rPr lang="en-IE" sz="1800" dirty="0"/>
              <a:t>, and the query </a:t>
            </a:r>
            <a:r>
              <a:rPr lang="en-IE" sz="1800" dirty="0" err="1">
                <a:solidFill>
                  <a:schemeClr val="tx2"/>
                </a:solidFill>
              </a:rPr>
              <a:t>inkey</a:t>
            </a:r>
            <a:r>
              <a:rPr lang="en-IE" sz="1800" dirty="0">
                <a:solidFill>
                  <a:schemeClr val="tx2"/>
                </a:solidFill>
              </a:rPr>
              <a:t>=62-1565928709-0. </a:t>
            </a:r>
            <a:endParaRPr lang="en-IE" sz="1800" dirty="0" smtClean="0">
              <a:solidFill>
                <a:schemeClr val="tx2"/>
              </a:solidFill>
            </a:endParaRPr>
          </a:p>
          <a:p>
            <a:r>
              <a:rPr lang="en-IE" sz="1800" dirty="0" smtClean="0"/>
              <a:t>The URI </a:t>
            </a:r>
            <a:r>
              <a:rPr lang="en-IE" sz="1800" i="1" dirty="0" smtClean="0">
                <a:solidFill>
                  <a:schemeClr val="tx2"/>
                </a:solidFill>
              </a:rPr>
              <a:t>urn:isbn:156592870</a:t>
            </a:r>
            <a:r>
              <a:rPr lang="en-IE" sz="1800" i="1" dirty="0" smtClean="0"/>
              <a:t> </a:t>
            </a:r>
            <a:r>
              <a:rPr lang="en-IE" sz="1800" dirty="0"/>
              <a:t>has the scheme </a:t>
            </a:r>
            <a:r>
              <a:rPr lang="en-IE" sz="1800" i="1" dirty="0">
                <a:solidFill>
                  <a:schemeClr val="tx2"/>
                </a:solidFill>
              </a:rPr>
              <a:t>urn</a:t>
            </a:r>
            <a:r>
              <a:rPr lang="en-IE" sz="1800" i="1" dirty="0"/>
              <a:t> </a:t>
            </a:r>
            <a:r>
              <a:rPr lang="en-IE" sz="1800" dirty="0"/>
              <a:t>but </a:t>
            </a:r>
            <a:r>
              <a:rPr lang="en-IE" sz="1800" dirty="0">
                <a:solidFill>
                  <a:schemeClr val="tx2"/>
                </a:solidFill>
              </a:rPr>
              <a:t>doesn’t follow the hierarchical </a:t>
            </a:r>
            <a:r>
              <a:rPr lang="en-IE" sz="1800" i="1" dirty="0">
                <a:solidFill>
                  <a:schemeClr val="tx2"/>
                </a:solidFill>
              </a:rPr>
              <a:t>//</a:t>
            </a:r>
            <a:r>
              <a:rPr lang="en-IE" sz="1800" i="1" dirty="0" smtClean="0">
                <a:solidFill>
                  <a:schemeClr val="tx2"/>
                </a:solidFill>
              </a:rPr>
              <a:t>authority/</a:t>
            </a:r>
            <a:r>
              <a:rPr lang="en-IE" sz="1800" i="1" dirty="0" err="1" smtClean="0">
                <a:solidFill>
                  <a:schemeClr val="tx2"/>
                </a:solidFill>
              </a:rPr>
              <a:t>path?query</a:t>
            </a:r>
            <a:r>
              <a:rPr lang="en-IE" sz="1800" i="1" dirty="0" smtClean="0"/>
              <a:t> </a:t>
            </a:r>
            <a:r>
              <a:rPr lang="en-IE" sz="1800" dirty="0"/>
              <a:t>form for scheme-specific parts</a:t>
            </a:r>
            <a:r>
              <a:rPr lang="en-IE" sz="1800" dirty="0" smtClean="0"/>
              <a:t>.</a:t>
            </a:r>
          </a:p>
          <a:p>
            <a:r>
              <a:rPr lang="en-IE" sz="1800" dirty="0" smtClean="0"/>
              <a:t>If </a:t>
            </a:r>
            <a:r>
              <a:rPr lang="en-IE" sz="1800" dirty="0"/>
              <a:t>the authority is an Internet host, </a:t>
            </a:r>
            <a:r>
              <a:rPr lang="en-IE" sz="1800" dirty="0">
                <a:solidFill>
                  <a:schemeClr val="tx2"/>
                </a:solidFill>
              </a:rPr>
              <a:t>optional usernames </a:t>
            </a:r>
            <a:r>
              <a:rPr lang="en-IE" sz="1800" dirty="0" smtClean="0">
                <a:solidFill>
                  <a:schemeClr val="tx2"/>
                </a:solidFill>
              </a:rPr>
              <a:t>and ports </a:t>
            </a:r>
            <a:r>
              <a:rPr lang="en-IE" sz="1800" dirty="0">
                <a:solidFill>
                  <a:schemeClr val="tx2"/>
                </a:solidFill>
              </a:rPr>
              <a:t>may also be provided </a:t>
            </a:r>
            <a:r>
              <a:rPr lang="en-IE" sz="1800" dirty="0"/>
              <a:t>to make the authority more specific. For example, the </a:t>
            </a:r>
            <a:r>
              <a:rPr lang="en-IE" sz="1800" dirty="0" smtClean="0"/>
              <a:t>URI </a:t>
            </a:r>
            <a:r>
              <a:rPr lang="en-IE" sz="1800" i="1" dirty="0" smtClean="0">
                <a:solidFill>
                  <a:schemeClr val="tx2"/>
                </a:solidFill>
              </a:rPr>
              <a:t>ftp</a:t>
            </a:r>
            <a:r>
              <a:rPr lang="en-IE" sz="1800" i="1" dirty="0">
                <a:solidFill>
                  <a:schemeClr val="tx2"/>
                </a:solidFill>
              </a:rPr>
              <a:t>://</a:t>
            </a:r>
            <a:r>
              <a:rPr lang="en-IE" sz="1800" i="1" dirty="0" smtClean="0">
                <a:solidFill>
                  <a:schemeClr val="tx2"/>
                </a:solidFill>
              </a:rPr>
              <a:t>mp3:mp3@ci43198-a.ashvil1.nc.home.com:33/VanHalen-Jump.mp3</a:t>
            </a:r>
            <a:r>
              <a:rPr lang="en-IE" sz="1800" i="1" dirty="0" smtClean="0"/>
              <a:t> </a:t>
            </a:r>
            <a:r>
              <a:rPr lang="en-IE" sz="1800" dirty="0"/>
              <a:t>has the </a:t>
            </a:r>
            <a:r>
              <a:rPr lang="en-IE" sz="1800" dirty="0" smtClean="0"/>
              <a:t>authority </a:t>
            </a:r>
            <a:r>
              <a:rPr lang="en-IE" sz="1800" i="1" dirty="0" smtClean="0">
                <a:solidFill>
                  <a:schemeClr val="tx2"/>
                </a:solidFill>
              </a:rPr>
              <a:t>mp3:mp3@ci43198-a.ashvil1.nc.home.com:33</a:t>
            </a:r>
            <a:r>
              <a:rPr lang="en-IE" sz="1800" dirty="0"/>
              <a:t>. </a:t>
            </a:r>
            <a:endParaRPr lang="en-IE" sz="1800" dirty="0" smtClean="0"/>
          </a:p>
          <a:p>
            <a:r>
              <a:rPr lang="en-IE" sz="1800" dirty="0" smtClean="0"/>
              <a:t>This </a:t>
            </a:r>
            <a:r>
              <a:rPr lang="en-IE" sz="1800" dirty="0"/>
              <a:t>authority has the </a:t>
            </a:r>
            <a:r>
              <a:rPr lang="en-IE" sz="1800" dirty="0" smtClean="0">
                <a:solidFill>
                  <a:schemeClr val="tx2"/>
                </a:solidFill>
              </a:rPr>
              <a:t>username </a:t>
            </a:r>
            <a:r>
              <a:rPr lang="en-IE" sz="1800" i="1" dirty="0" smtClean="0">
                <a:solidFill>
                  <a:schemeClr val="tx2"/>
                </a:solidFill>
              </a:rPr>
              <a:t>mp3</a:t>
            </a:r>
            <a:r>
              <a:rPr lang="en-IE" sz="1800" dirty="0">
                <a:solidFill>
                  <a:schemeClr val="tx2"/>
                </a:solidFill>
              </a:rPr>
              <a:t>, the password </a:t>
            </a:r>
            <a:r>
              <a:rPr lang="en-IE" sz="1800" i="1" dirty="0">
                <a:solidFill>
                  <a:schemeClr val="tx2"/>
                </a:solidFill>
              </a:rPr>
              <a:t>mp3</a:t>
            </a:r>
            <a:r>
              <a:rPr lang="en-IE" sz="1800" dirty="0">
                <a:solidFill>
                  <a:schemeClr val="tx2"/>
                </a:solidFill>
              </a:rPr>
              <a:t>, the host </a:t>
            </a:r>
            <a:r>
              <a:rPr lang="en-IE" sz="1800" i="1" dirty="0">
                <a:solidFill>
                  <a:schemeClr val="tx2"/>
                </a:solidFill>
              </a:rPr>
              <a:t>ci43198-a.ashvil1.nc.home.com</a:t>
            </a:r>
            <a:r>
              <a:rPr lang="en-IE" sz="1800" dirty="0">
                <a:solidFill>
                  <a:schemeClr val="tx2"/>
                </a:solidFill>
              </a:rPr>
              <a:t>, and the port </a:t>
            </a:r>
            <a:r>
              <a:rPr lang="en-IE" sz="1800" i="1" dirty="0">
                <a:solidFill>
                  <a:schemeClr val="tx2"/>
                </a:solidFill>
              </a:rPr>
              <a:t>33</a:t>
            </a:r>
            <a:r>
              <a:rPr lang="en-IE" sz="1800" dirty="0">
                <a:solidFill>
                  <a:schemeClr val="tx2"/>
                </a:solidFill>
              </a:rPr>
              <a:t>. </a:t>
            </a:r>
            <a:endParaRPr lang="en-IE" sz="1800" dirty="0" smtClean="0">
              <a:solidFill>
                <a:schemeClr val="tx2"/>
              </a:solidFill>
            </a:endParaRPr>
          </a:p>
          <a:p>
            <a:r>
              <a:rPr lang="en-IE" sz="1800" dirty="0" smtClean="0"/>
              <a:t>It has the </a:t>
            </a:r>
            <a:r>
              <a:rPr lang="en-IE" sz="1800" dirty="0"/>
              <a:t>scheme </a:t>
            </a:r>
            <a:r>
              <a:rPr lang="en-IE" sz="1800" i="1" dirty="0">
                <a:solidFill>
                  <a:schemeClr val="tx2"/>
                </a:solidFill>
              </a:rPr>
              <a:t>ftp</a:t>
            </a:r>
            <a:r>
              <a:rPr lang="en-IE" sz="1800" i="1" dirty="0"/>
              <a:t> </a:t>
            </a:r>
            <a:r>
              <a:rPr lang="en-IE" sz="1800" dirty="0"/>
              <a:t>and the path </a:t>
            </a:r>
            <a:r>
              <a:rPr lang="en-IE" sz="1800" i="1" dirty="0">
                <a:solidFill>
                  <a:schemeClr val="tx2"/>
                </a:solidFill>
              </a:rPr>
              <a:t>/VanHalen-Jump.mp3</a:t>
            </a:r>
            <a:r>
              <a:rPr lang="en-IE" sz="1800" dirty="0"/>
              <a:t>. </a:t>
            </a:r>
          </a:p>
        </p:txBody>
      </p:sp>
    </p:spTree>
    <p:extLst>
      <p:ext uri="{BB962C8B-B14F-4D97-AF65-F5344CB8AC3E}">
        <p14:creationId xmlns:p14="http://schemas.microsoft.com/office/powerpoint/2010/main" val="242247720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fontScale="90000"/>
          </a:bodyPr>
          <a:lstStyle/>
          <a:p>
            <a:r>
              <a:rPr lang="en-US" dirty="0" smtClean="0"/>
              <a:t>URIs Syntax</a:t>
            </a:r>
            <a:endParaRPr lang="en-IE" dirty="0"/>
          </a:p>
        </p:txBody>
      </p:sp>
      <p:sp>
        <p:nvSpPr>
          <p:cNvPr id="3" name="Content Placeholder 2"/>
          <p:cNvSpPr>
            <a:spLocks noGrp="1"/>
          </p:cNvSpPr>
          <p:nvPr>
            <p:ph idx="1"/>
          </p:nvPr>
        </p:nvSpPr>
        <p:spPr>
          <a:xfrm>
            <a:off x="0" y="609600"/>
            <a:ext cx="9144000" cy="6248400"/>
          </a:xfrm>
        </p:spPr>
        <p:txBody>
          <a:bodyPr>
            <a:noAutofit/>
          </a:bodyPr>
          <a:lstStyle/>
          <a:p>
            <a:r>
              <a:rPr lang="en-IE" sz="2400" dirty="0"/>
              <a:t>The </a:t>
            </a:r>
            <a:r>
              <a:rPr lang="en-IE" sz="2400" dirty="0">
                <a:solidFill>
                  <a:schemeClr val="tx2"/>
                </a:solidFill>
              </a:rPr>
              <a:t>path is a string</a:t>
            </a:r>
            <a:r>
              <a:rPr lang="en-IE" sz="2400" dirty="0"/>
              <a:t> that the authority can use to determine which </a:t>
            </a:r>
            <a:r>
              <a:rPr lang="en-IE" sz="2400" dirty="0">
                <a:solidFill>
                  <a:schemeClr val="tx2"/>
                </a:solidFill>
              </a:rPr>
              <a:t>resource is identified</a:t>
            </a:r>
            <a:r>
              <a:rPr lang="en-IE" sz="2400" dirty="0" smtClean="0"/>
              <a:t>. </a:t>
            </a:r>
          </a:p>
          <a:p>
            <a:r>
              <a:rPr lang="en-IE" sz="2400" dirty="0" smtClean="0">
                <a:solidFill>
                  <a:schemeClr val="tx2"/>
                </a:solidFill>
              </a:rPr>
              <a:t>Different </a:t>
            </a:r>
            <a:r>
              <a:rPr lang="en-IE" sz="2400" dirty="0">
                <a:solidFill>
                  <a:schemeClr val="tx2"/>
                </a:solidFill>
              </a:rPr>
              <a:t>authorities </a:t>
            </a:r>
            <a:r>
              <a:rPr lang="en-IE" sz="2400" dirty="0"/>
              <a:t>may interpret the </a:t>
            </a:r>
            <a:r>
              <a:rPr lang="en-IE" sz="2400" dirty="0">
                <a:solidFill>
                  <a:schemeClr val="tx2"/>
                </a:solidFill>
              </a:rPr>
              <a:t>same path </a:t>
            </a:r>
            <a:r>
              <a:rPr lang="en-IE" sz="2400" dirty="0"/>
              <a:t>to refer </a:t>
            </a:r>
            <a:r>
              <a:rPr lang="en-IE" sz="2400" dirty="0">
                <a:solidFill>
                  <a:schemeClr val="tx2"/>
                </a:solidFill>
              </a:rPr>
              <a:t>to different resources. </a:t>
            </a:r>
            <a:endParaRPr lang="en-IE" sz="2400" dirty="0" smtClean="0">
              <a:solidFill>
                <a:schemeClr val="tx2"/>
              </a:solidFill>
            </a:endParaRPr>
          </a:p>
          <a:p>
            <a:r>
              <a:rPr lang="en-IE" sz="2400" dirty="0" smtClean="0"/>
              <a:t>For instance</a:t>
            </a:r>
            <a:r>
              <a:rPr lang="en-IE" sz="2400" dirty="0"/>
              <a:t>, the path </a:t>
            </a:r>
            <a:r>
              <a:rPr lang="en-IE" sz="2400" i="1" dirty="0">
                <a:solidFill>
                  <a:schemeClr val="tx2"/>
                </a:solidFill>
              </a:rPr>
              <a:t>/index.html </a:t>
            </a:r>
            <a:r>
              <a:rPr lang="en-IE" sz="2400" dirty="0"/>
              <a:t>means one thing when the authority </a:t>
            </a:r>
            <a:r>
              <a:rPr lang="en-IE" sz="2400" dirty="0" smtClean="0"/>
              <a:t>is  </a:t>
            </a:r>
            <a:r>
              <a:rPr lang="en-IE" sz="2400" i="1" dirty="0" smtClean="0">
                <a:solidFill>
                  <a:schemeClr val="tx2"/>
                </a:solidFill>
              </a:rPr>
              <a:t>www.landoverbaptist.org</a:t>
            </a:r>
            <a:r>
              <a:rPr lang="en-IE" sz="2400" i="1" dirty="0" smtClean="0"/>
              <a:t> </a:t>
            </a:r>
            <a:r>
              <a:rPr lang="en-IE" sz="2400" dirty="0"/>
              <a:t>and something very different when the authority is </a:t>
            </a:r>
            <a:r>
              <a:rPr lang="en-IE" sz="2400" i="1" dirty="0" smtClean="0">
                <a:solidFill>
                  <a:schemeClr val="tx2"/>
                </a:solidFill>
              </a:rPr>
              <a:t>www.churchofsatan.com</a:t>
            </a:r>
            <a:r>
              <a:rPr lang="en-IE" sz="2400" dirty="0"/>
              <a:t>. </a:t>
            </a:r>
            <a:endParaRPr lang="en-IE" sz="2400" dirty="0" smtClean="0"/>
          </a:p>
          <a:p>
            <a:r>
              <a:rPr lang="en-IE" sz="2400" dirty="0" smtClean="0"/>
              <a:t>The </a:t>
            </a:r>
            <a:r>
              <a:rPr lang="en-IE" sz="2400" dirty="0"/>
              <a:t>path may be hierarchical, in which case the individual parts are </a:t>
            </a:r>
            <a:r>
              <a:rPr lang="en-IE" sz="2400" dirty="0" smtClean="0"/>
              <a:t>separated by </a:t>
            </a:r>
            <a:r>
              <a:rPr lang="en-IE" sz="2400" dirty="0"/>
              <a:t>forward slashes, and the </a:t>
            </a:r>
            <a:r>
              <a:rPr lang="en-IE" sz="2400" i="1" dirty="0"/>
              <a:t>. </a:t>
            </a:r>
            <a:r>
              <a:rPr lang="en-IE" sz="2400" dirty="0"/>
              <a:t>and </a:t>
            </a:r>
            <a:r>
              <a:rPr lang="en-IE" sz="2400" i="1" dirty="0"/>
              <a:t>.. </a:t>
            </a:r>
            <a:r>
              <a:rPr lang="en-IE" sz="2400" dirty="0"/>
              <a:t>operators are used to navigate the hierarchy. </a:t>
            </a:r>
            <a:endParaRPr lang="en-IE" sz="2400" dirty="0" smtClean="0"/>
          </a:p>
          <a:p>
            <a:r>
              <a:rPr lang="en-IE" sz="2400" dirty="0" smtClean="0"/>
              <a:t>These are </a:t>
            </a:r>
            <a:r>
              <a:rPr lang="en-IE" sz="2400" dirty="0">
                <a:solidFill>
                  <a:schemeClr val="tx2"/>
                </a:solidFill>
              </a:rPr>
              <a:t>derived</a:t>
            </a:r>
            <a:r>
              <a:rPr lang="en-IE" sz="2400" dirty="0"/>
              <a:t> from the </a:t>
            </a:r>
            <a:r>
              <a:rPr lang="en-IE" sz="2400" dirty="0">
                <a:solidFill>
                  <a:schemeClr val="tx2"/>
                </a:solidFill>
              </a:rPr>
              <a:t>pathname syntax on the Unix </a:t>
            </a:r>
            <a:r>
              <a:rPr lang="en-IE" sz="2400" dirty="0"/>
              <a:t>operating systems where the </a:t>
            </a:r>
            <a:r>
              <a:rPr lang="en-IE" sz="2400" dirty="0" smtClean="0"/>
              <a:t>Web and </a:t>
            </a:r>
            <a:r>
              <a:rPr lang="en-IE" sz="2400" dirty="0"/>
              <a:t>URLs were invented. </a:t>
            </a:r>
            <a:endParaRPr lang="en-IE" sz="2400" dirty="0" smtClean="0"/>
          </a:p>
          <a:p>
            <a:r>
              <a:rPr lang="en-IE" sz="2400" dirty="0" smtClean="0"/>
              <a:t>They </a:t>
            </a:r>
            <a:r>
              <a:rPr lang="en-IE" sz="2400" dirty="0"/>
              <a:t>conveniently map to a filesystem stored on a Unix </a:t>
            </a:r>
            <a:r>
              <a:rPr lang="en-IE" sz="2400" dirty="0" smtClean="0"/>
              <a:t>web server</a:t>
            </a:r>
            <a:r>
              <a:rPr lang="en-IE" sz="2400" dirty="0"/>
              <a:t>. </a:t>
            </a:r>
            <a:endParaRPr lang="en-IE" sz="2400" dirty="0" smtClean="0"/>
          </a:p>
        </p:txBody>
      </p:sp>
    </p:spTree>
    <p:extLst>
      <p:ext uri="{BB962C8B-B14F-4D97-AF65-F5344CB8AC3E}">
        <p14:creationId xmlns:p14="http://schemas.microsoft.com/office/powerpoint/2010/main" val="130016732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4" name="Rectangle 2"/>
          <p:cNvSpPr>
            <a:spLocks noGrp="1" noChangeArrowheads="1"/>
          </p:cNvSpPr>
          <p:nvPr>
            <p:ph type="title"/>
          </p:nvPr>
        </p:nvSpPr>
        <p:spPr/>
        <p:txBody>
          <a:bodyPr/>
          <a:lstStyle/>
          <a:p>
            <a:r>
              <a:rPr lang="en-US" altLang="en-US"/>
              <a:t>Universal Resource Locators (URL)</a:t>
            </a:r>
          </a:p>
        </p:txBody>
      </p:sp>
      <p:sp>
        <p:nvSpPr>
          <p:cNvPr id="392195" name="Rectangle 3"/>
          <p:cNvSpPr>
            <a:spLocks noGrp="1" noChangeArrowheads="1"/>
          </p:cNvSpPr>
          <p:nvPr>
            <p:ph type="body" idx="1"/>
          </p:nvPr>
        </p:nvSpPr>
        <p:spPr/>
        <p:txBody>
          <a:bodyPr/>
          <a:lstStyle/>
          <a:p>
            <a:r>
              <a:rPr lang="en-US" altLang="en-US" sz="2800" dirty="0"/>
              <a:t>It is also called </a:t>
            </a:r>
            <a:r>
              <a:rPr lang="en-US" altLang="en-US" sz="2800" dirty="0">
                <a:latin typeface="Arial"/>
              </a:rPr>
              <a:t>“</a:t>
            </a:r>
            <a:r>
              <a:rPr lang="en-US" altLang="en-US" sz="2800" dirty="0"/>
              <a:t>Uniform Resource Locators</a:t>
            </a:r>
            <a:r>
              <a:rPr lang="en-US" altLang="en-US" sz="2800" dirty="0">
                <a:latin typeface="Arial"/>
              </a:rPr>
              <a:t>”</a:t>
            </a:r>
            <a:r>
              <a:rPr lang="en-US" altLang="en-US" sz="2800" dirty="0"/>
              <a:t> which is used to identify resources on the Internet.</a:t>
            </a:r>
          </a:p>
          <a:p>
            <a:r>
              <a:rPr lang="en-US" altLang="en-US" sz="2800" dirty="0"/>
              <a:t>It has the following general format:</a:t>
            </a:r>
          </a:p>
          <a:p>
            <a:pPr lvl="1"/>
            <a:r>
              <a:rPr lang="en-US" altLang="en-US" sz="2400" dirty="0" err="1">
                <a:solidFill>
                  <a:srgbClr val="FF5050"/>
                </a:solidFill>
              </a:rPr>
              <a:t>Scheme</a:t>
            </a:r>
            <a:r>
              <a:rPr lang="en-US" altLang="en-US" sz="2400" dirty="0" err="1"/>
              <a:t>:</a:t>
            </a:r>
            <a:r>
              <a:rPr lang="en-US" altLang="en-US" sz="2400" dirty="0" err="1">
                <a:solidFill>
                  <a:schemeClr val="tx2"/>
                </a:solidFill>
              </a:rPr>
              <a:t>object-address</a:t>
            </a:r>
            <a:endParaRPr lang="en-US" altLang="en-US" sz="2400" dirty="0">
              <a:solidFill>
                <a:schemeClr val="tx2"/>
              </a:solidFill>
            </a:endParaRPr>
          </a:p>
          <a:p>
            <a:pPr lvl="1"/>
            <a:r>
              <a:rPr lang="en-US" altLang="en-US" sz="2400" dirty="0">
                <a:solidFill>
                  <a:srgbClr val="FF5050"/>
                </a:solidFill>
              </a:rPr>
              <a:t>Schemes</a:t>
            </a:r>
            <a:r>
              <a:rPr lang="en-US" altLang="en-US" sz="2400" dirty="0"/>
              <a:t> can be</a:t>
            </a:r>
          </a:p>
          <a:p>
            <a:pPr lvl="2"/>
            <a:r>
              <a:rPr lang="en-US" altLang="en-US" sz="2000" dirty="0"/>
              <a:t>http, ftp, gopher, telnet, file, mailto, news</a:t>
            </a:r>
          </a:p>
          <a:p>
            <a:pPr lvl="1"/>
            <a:r>
              <a:rPr lang="en-US" altLang="en-US" sz="2400" dirty="0">
                <a:solidFill>
                  <a:schemeClr val="tx2"/>
                </a:solidFill>
              </a:rPr>
              <a:t>Object-address</a:t>
            </a:r>
          </a:p>
          <a:p>
            <a:pPr lvl="2"/>
            <a:r>
              <a:rPr lang="en-US" altLang="en-US" sz="2000" dirty="0"/>
              <a:t>//fully-qualified-domain-name/document-path</a:t>
            </a:r>
          </a:p>
          <a:p>
            <a:pPr lvl="1"/>
            <a:r>
              <a:rPr lang="en-US" altLang="en-US" sz="2400" dirty="0"/>
              <a:t>E.g. http://www.cse.cuhk.edu.hk/index.html</a:t>
            </a:r>
          </a:p>
        </p:txBody>
      </p:sp>
    </p:spTree>
    <p:extLst>
      <p:ext uri="{BB962C8B-B14F-4D97-AF65-F5344CB8AC3E}">
        <p14:creationId xmlns:p14="http://schemas.microsoft.com/office/powerpoint/2010/main" val="288458362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2"/>
          <p:cNvSpPr>
            <a:spLocks noGrp="1" noChangeArrowheads="1"/>
          </p:cNvSpPr>
          <p:nvPr>
            <p:ph type="title"/>
          </p:nvPr>
        </p:nvSpPr>
        <p:spPr/>
        <p:txBody>
          <a:bodyPr/>
          <a:lstStyle/>
          <a:p>
            <a:r>
              <a:rPr lang="en-US" altLang="en-US"/>
              <a:t>Universal Resource Locator (URL)</a:t>
            </a:r>
          </a:p>
        </p:txBody>
      </p:sp>
      <p:sp>
        <p:nvSpPr>
          <p:cNvPr id="303107" name="Rectangle 3"/>
          <p:cNvSpPr>
            <a:spLocks noGrp="1" noChangeArrowheads="1"/>
          </p:cNvSpPr>
          <p:nvPr>
            <p:ph type="body" idx="1"/>
          </p:nvPr>
        </p:nvSpPr>
        <p:spPr/>
        <p:txBody>
          <a:bodyPr/>
          <a:lstStyle/>
          <a:p>
            <a:r>
              <a:rPr lang="en-US" altLang="en-US" sz="2800" dirty="0">
                <a:latin typeface="Arial" charset="0"/>
                <a:cs typeface="Arial" charset="0"/>
              </a:rPr>
              <a:t>URL is a scheme for specifying </a:t>
            </a:r>
            <a:r>
              <a:rPr lang="en-US" altLang="en-US" sz="2800" dirty="0">
                <a:solidFill>
                  <a:srgbClr val="FF9900"/>
                </a:solidFill>
                <a:latin typeface="Arial" charset="0"/>
                <a:cs typeface="Arial" charset="0"/>
              </a:rPr>
              <a:t>Internet resources</a:t>
            </a:r>
            <a:r>
              <a:rPr lang="en-US" altLang="en-US" sz="2800" dirty="0">
                <a:latin typeface="Arial" charset="0"/>
                <a:cs typeface="Arial" charset="0"/>
              </a:rPr>
              <a:t> (WEB page, email address, </a:t>
            </a:r>
            <a:r>
              <a:rPr lang="en-US" altLang="en-US" sz="2800" dirty="0" smtClean="0">
                <a:latin typeface="Arial" charset="0"/>
                <a:cs typeface="Arial" charset="0"/>
              </a:rPr>
              <a:t>newsgroups</a:t>
            </a:r>
            <a:r>
              <a:rPr lang="en-US" altLang="en-US" sz="2800" dirty="0">
                <a:latin typeface="Arial" charset="0"/>
                <a:cs typeface="Arial" charset="0"/>
              </a:rPr>
              <a:t>, various files, ...) using a single line of </a:t>
            </a:r>
            <a:r>
              <a:rPr lang="en-US" altLang="en-US" sz="2800" dirty="0">
                <a:solidFill>
                  <a:srgbClr val="FF5050"/>
                </a:solidFill>
                <a:latin typeface="Arial" charset="0"/>
                <a:cs typeface="Arial" charset="0"/>
              </a:rPr>
              <a:t>printable characters</a:t>
            </a:r>
            <a:r>
              <a:rPr lang="en-US" altLang="en-US" sz="2800" dirty="0">
                <a:latin typeface="Arial" charset="0"/>
                <a:cs typeface="Arial" charset="0"/>
              </a:rPr>
              <a:t>. </a:t>
            </a:r>
          </a:p>
          <a:p>
            <a:r>
              <a:rPr lang="en-US" altLang="en-US" sz="2800" dirty="0">
                <a:latin typeface="Arial" charset="0"/>
                <a:cs typeface="Arial" charset="0"/>
              </a:rPr>
              <a:t>This scheme encompasses all major Internet protocols, including </a:t>
            </a:r>
            <a:r>
              <a:rPr lang="en-US" altLang="en-US" sz="2800" dirty="0" smtClean="0">
                <a:latin typeface="Arial" charset="0"/>
                <a:cs typeface="Arial" charset="0"/>
              </a:rPr>
              <a:t>FTP, HTTP</a:t>
            </a:r>
            <a:r>
              <a:rPr lang="en-US" altLang="en-US" sz="2800" dirty="0">
                <a:latin typeface="Arial" charset="0"/>
                <a:cs typeface="Arial" charset="0"/>
              </a:rPr>
              <a:t>, ... </a:t>
            </a:r>
          </a:p>
          <a:p>
            <a:r>
              <a:rPr lang="en-US" altLang="en-US" sz="2800" dirty="0">
                <a:latin typeface="Arial" charset="0"/>
                <a:cs typeface="Arial" charset="0"/>
              </a:rPr>
              <a:t>It is the foundation tool for WEB pages to specify </a:t>
            </a:r>
            <a:r>
              <a:rPr lang="en-US" altLang="en-US" sz="2800" dirty="0">
                <a:solidFill>
                  <a:srgbClr val="FF0000"/>
                </a:solidFill>
                <a:latin typeface="Arial" charset="0"/>
                <a:cs typeface="Arial" charset="0"/>
              </a:rPr>
              <a:t>hyperlink</a:t>
            </a:r>
            <a:r>
              <a:rPr lang="en-US" altLang="en-US" sz="2800" dirty="0">
                <a:latin typeface="Arial" charset="0"/>
                <a:cs typeface="Arial" charset="0"/>
              </a:rPr>
              <a:t>. </a:t>
            </a:r>
            <a:endParaRPr lang="en-US" altLang="en-US" sz="2800" dirty="0"/>
          </a:p>
        </p:txBody>
      </p:sp>
    </p:spTree>
    <p:extLst>
      <p:ext uri="{BB962C8B-B14F-4D97-AF65-F5344CB8AC3E}">
        <p14:creationId xmlns:p14="http://schemas.microsoft.com/office/powerpoint/2010/main" val="29136095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2"/>
          <p:cNvSpPr>
            <a:spLocks noGrp="1" noChangeArrowheads="1"/>
          </p:cNvSpPr>
          <p:nvPr>
            <p:ph type="title"/>
          </p:nvPr>
        </p:nvSpPr>
        <p:spPr/>
        <p:txBody>
          <a:bodyPr/>
          <a:lstStyle/>
          <a:p>
            <a:r>
              <a:rPr lang="en-US" altLang="en-US"/>
              <a:t>URL</a:t>
            </a:r>
          </a:p>
        </p:txBody>
      </p:sp>
      <p:sp>
        <p:nvSpPr>
          <p:cNvPr id="315395" name="Rectangle 3"/>
          <p:cNvSpPr>
            <a:spLocks noGrp="1" noChangeArrowheads="1"/>
          </p:cNvSpPr>
          <p:nvPr>
            <p:ph type="body" idx="1"/>
          </p:nvPr>
        </p:nvSpPr>
        <p:spPr>
          <a:xfrm>
            <a:off x="457200" y="1219200"/>
            <a:ext cx="8534400" cy="5257800"/>
          </a:xfrm>
        </p:spPr>
        <p:txBody>
          <a:bodyPr>
            <a:normAutofit/>
          </a:bodyPr>
          <a:lstStyle/>
          <a:p>
            <a:r>
              <a:rPr lang="en-US" altLang="en-US" sz="2000" dirty="0">
                <a:solidFill>
                  <a:srgbClr val="FF5050"/>
                </a:solidFill>
                <a:latin typeface="Arial" charset="0"/>
                <a:cs typeface="Arial" charset="0"/>
              </a:rPr>
              <a:t>http</a:t>
            </a:r>
            <a:r>
              <a:rPr lang="en-US" altLang="en-US" sz="2000" dirty="0" smtClean="0">
                <a:solidFill>
                  <a:srgbClr val="FF5050"/>
                </a:solidFill>
                <a:latin typeface="Arial" charset="0"/>
                <a:cs typeface="Arial" charset="0"/>
              </a:rPr>
              <a:t>://</a:t>
            </a:r>
            <a:r>
              <a:rPr lang="en-US" altLang="en-US" sz="2000" dirty="0" smtClean="0">
                <a:solidFill>
                  <a:srgbClr val="FF9900"/>
                </a:solidFill>
                <a:latin typeface="Arial" charset="0"/>
                <a:cs typeface="Arial" charset="0"/>
              </a:rPr>
              <a:t>www.cse.cuhk.edu.hk</a:t>
            </a:r>
            <a:r>
              <a:rPr lang="en-US" altLang="en-US" sz="2000" dirty="0" smtClean="0">
                <a:solidFill>
                  <a:schemeClr val="accent1"/>
                </a:solidFill>
                <a:latin typeface="Arial" charset="0"/>
                <a:cs typeface="Arial" charset="0"/>
              </a:rPr>
              <a:t>:8080</a:t>
            </a:r>
            <a:r>
              <a:rPr lang="en-US" altLang="en-US" sz="2000" dirty="0">
                <a:solidFill>
                  <a:srgbClr val="009900"/>
                </a:solidFill>
                <a:latin typeface="Arial" charset="0"/>
                <a:cs typeface="Arial" charset="0"/>
              </a:rPr>
              <a:t>/~csc1720/lecture.notes/url/index.html</a:t>
            </a:r>
            <a:r>
              <a:rPr lang="en-US" altLang="en-US" sz="1800" b="1" dirty="0">
                <a:solidFill>
                  <a:srgbClr val="009900"/>
                </a:solidFill>
                <a:latin typeface="Arial" charset="0"/>
                <a:cs typeface="Arial" charset="0"/>
              </a:rPr>
              <a:t> </a:t>
            </a:r>
          </a:p>
          <a:p>
            <a:endParaRPr lang="en-US" altLang="en-US" sz="2400" dirty="0">
              <a:solidFill>
                <a:srgbClr val="66FF33"/>
              </a:solidFill>
              <a:latin typeface="Arial" charset="0"/>
              <a:cs typeface="Arial" charset="0"/>
            </a:endParaRPr>
          </a:p>
          <a:p>
            <a:r>
              <a:rPr lang="en-US" altLang="en-US" sz="2400" dirty="0">
                <a:solidFill>
                  <a:srgbClr val="FF5050"/>
                </a:solidFill>
                <a:latin typeface="Arial" charset="0"/>
                <a:cs typeface="Arial" charset="0"/>
              </a:rPr>
              <a:t>Protocol </a:t>
            </a:r>
            <a:r>
              <a:rPr lang="en-US" altLang="en-US" sz="2400" dirty="0">
                <a:latin typeface="Arial" charset="0"/>
                <a:cs typeface="Arial" charset="0"/>
              </a:rPr>
              <a:t>- Specifies the protocol used in accessing the resource. </a:t>
            </a:r>
          </a:p>
          <a:p>
            <a:r>
              <a:rPr lang="en-US" altLang="en-US" sz="2400" dirty="0">
                <a:solidFill>
                  <a:srgbClr val="FF9900"/>
                </a:solidFill>
                <a:latin typeface="Arial" charset="0"/>
                <a:cs typeface="Arial" charset="0"/>
              </a:rPr>
              <a:t>Domain Name </a:t>
            </a:r>
            <a:r>
              <a:rPr lang="en-US" altLang="en-US" sz="2400" dirty="0">
                <a:latin typeface="Arial" charset="0"/>
                <a:cs typeface="Arial" charset="0"/>
              </a:rPr>
              <a:t>- Domain name of the server on which the resource is located </a:t>
            </a:r>
          </a:p>
          <a:p>
            <a:pPr lvl="1"/>
            <a:r>
              <a:rPr lang="en-US" altLang="en-US" sz="2000" dirty="0">
                <a:latin typeface="Arial" charset="0"/>
                <a:cs typeface="Arial" charset="0"/>
              </a:rPr>
              <a:t>(Numerical) IP Address can be used instead. </a:t>
            </a:r>
          </a:p>
          <a:p>
            <a:r>
              <a:rPr lang="en-US" altLang="en-US" sz="2400" dirty="0">
                <a:solidFill>
                  <a:schemeClr val="accent1"/>
                </a:solidFill>
                <a:latin typeface="Arial" charset="0"/>
                <a:cs typeface="Arial" charset="0"/>
              </a:rPr>
              <a:t>Port </a:t>
            </a:r>
            <a:r>
              <a:rPr lang="en-US" altLang="en-US" sz="2400" dirty="0">
                <a:latin typeface="Arial" charset="0"/>
                <a:cs typeface="Arial" charset="0"/>
              </a:rPr>
              <a:t>- The port number to be used to access the resource.</a:t>
            </a:r>
          </a:p>
          <a:p>
            <a:pPr lvl="1"/>
            <a:r>
              <a:rPr lang="en-US" altLang="en-US" sz="2000" dirty="0">
                <a:latin typeface="Arial" charset="0"/>
                <a:cs typeface="Arial" charset="0"/>
              </a:rPr>
              <a:t>If omitted, the </a:t>
            </a:r>
            <a:r>
              <a:rPr lang="en-US" altLang="en-US" sz="2000" i="1" dirty="0">
                <a:latin typeface="Arial" charset="0"/>
                <a:cs typeface="Arial" charset="0"/>
              </a:rPr>
              <a:t>default value</a:t>
            </a:r>
            <a:r>
              <a:rPr lang="en-US" altLang="en-US" sz="2000" dirty="0">
                <a:latin typeface="Arial" charset="0"/>
                <a:cs typeface="Arial" charset="0"/>
              </a:rPr>
              <a:t> for the specified protocol will be used. </a:t>
            </a:r>
          </a:p>
          <a:p>
            <a:r>
              <a:rPr lang="en-US" altLang="en-US" sz="2400" dirty="0">
                <a:solidFill>
                  <a:srgbClr val="009900"/>
                </a:solidFill>
                <a:latin typeface="Arial" charset="0"/>
                <a:cs typeface="Arial" charset="0"/>
              </a:rPr>
              <a:t>Directory and Resource Details </a:t>
            </a:r>
            <a:r>
              <a:rPr lang="en-US" altLang="en-US" sz="2400" i="1" dirty="0">
                <a:latin typeface="Arial" charset="0"/>
                <a:cs typeface="Arial" charset="0"/>
              </a:rPr>
              <a:t>- Path</a:t>
            </a:r>
            <a:r>
              <a:rPr lang="en-US" altLang="en-US" sz="2400" dirty="0">
                <a:latin typeface="Arial" charset="0"/>
                <a:cs typeface="Arial" charset="0"/>
              </a:rPr>
              <a:t> information required to locate the resource on the server. </a:t>
            </a:r>
          </a:p>
          <a:p>
            <a:pPr lvl="1"/>
            <a:r>
              <a:rPr lang="en-US" altLang="en-US" sz="2000" dirty="0">
                <a:latin typeface="Arial" charset="0"/>
                <a:cs typeface="Arial" charset="0"/>
              </a:rPr>
              <a:t>This field may vary considerably. </a:t>
            </a:r>
          </a:p>
        </p:txBody>
      </p:sp>
    </p:spTree>
    <p:extLst>
      <p:ext uri="{BB962C8B-B14F-4D97-AF65-F5344CB8AC3E}">
        <p14:creationId xmlns:p14="http://schemas.microsoft.com/office/powerpoint/2010/main" val="37886863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Rectangle 2"/>
          <p:cNvSpPr>
            <a:spLocks noGrp="1" noChangeArrowheads="1"/>
          </p:cNvSpPr>
          <p:nvPr>
            <p:ph type="title"/>
          </p:nvPr>
        </p:nvSpPr>
        <p:spPr/>
        <p:txBody>
          <a:bodyPr/>
          <a:lstStyle/>
          <a:p>
            <a:r>
              <a:rPr lang="en-US" altLang="en-US"/>
              <a:t>URL Example: HTTP</a:t>
            </a:r>
          </a:p>
        </p:txBody>
      </p:sp>
      <p:sp>
        <p:nvSpPr>
          <p:cNvPr id="317443" name="Rectangle 3"/>
          <p:cNvSpPr>
            <a:spLocks noGrp="1" noChangeArrowheads="1"/>
          </p:cNvSpPr>
          <p:nvPr>
            <p:ph type="body" idx="1"/>
          </p:nvPr>
        </p:nvSpPr>
        <p:spPr/>
        <p:txBody>
          <a:bodyPr/>
          <a:lstStyle/>
          <a:p>
            <a:pPr>
              <a:lnSpc>
                <a:spcPct val="90000"/>
              </a:lnSpc>
            </a:pPr>
            <a:r>
              <a:rPr lang="en-US" altLang="en-US" sz="2000" b="1" dirty="0">
                <a:solidFill>
                  <a:srgbClr val="009900"/>
                </a:solidFill>
                <a:latin typeface="Arial" charset="0"/>
                <a:cs typeface="Arial" charset="0"/>
              </a:rPr>
              <a:t>http://leonardo.utirc.utoronto.ca:8080/cgi-bin/</a:t>
            </a:r>
          </a:p>
          <a:p>
            <a:pPr>
              <a:lnSpc>
                <a:spcPct val="90000"/>
              </a:lnSpc>
            </a:pPr>
            <a:r>
              <a:rPr lang="en-US" altLang="en-US" sz="2400" dirty="0">
                <a:latin typeface="Arial" charset="0"/>
                <a:cs typeface="Arial" charset="0"/>
              </a:rPr>
              <a:t>Designed for distribution of hypertext documents. </a:t>
            </a:r>
          </a:p>
          <a:p>
            <a:pPr>
              <a:lnSpc>
                <a:spcPct val="90000"/>
              </a:lnSpc>
            </a:pPr>
            <a:r>
              <a:rPr lang="en-US" altLang="en-US" sz="2400" dirty="0">
                <a:latin typeface="Arial" charset="0"/>
                <a:cs typeface="Arial" charset="0"/>
              </a:rPr>
              <a:t>HTTP is a client-server protocol. </a:t>
            </a:r>
          </a:p>
          <a:p>
            <a:pPr>
              <a:lnSpc>
                <a:spcPct val="90000"/>
              </a:lnSpc>
            </a:pPr>
            <a:r>
              <a:rPr lang="en-US" altLang="en-US" sz="2400" dirty="0">
                <a:latin typeface="Arial" charset="0"/>
                <a:cs typeface="Arial" charset="0"/>
              </a:rPr>
              <a:t>Two important features: </a:t>
            </a:r>
          </a:p>
          <a:p>
            <a:pPr lvl="1">
              <a:lnSpc>
                <a:spcPct val="90000"/>
              </a:lnSpc>
            </a:pPr>
            <a:r>
              <a:rPr lang="en-US" altLang="en-US" sz="2000" dirty="0">
                <a:latin typeface="Arial" charset="0"/>
                <a:cs typeface="Arial" charset="0"/>
              </a:rPr>
              <a:t>The ability to return to the client (e.g. </a:t>
            </a:r>
            <a:r>
              <a:rPr lang="en-US" altLang="en-US" sz="2000" dirty="0" smtClean="0">
                <a:latin typeface="Arial" charset="0"/>
                <a:cs typeface="Arial" charset="0"/>
              </a:rPr>
              <a:t>Chrome) </a:t>
            </a:r>
            <a:r>
              <a:rPr lang="en-US" altLang="en-US" sz="2000" dirty="0">
                <a:latin typeface="Arial" charset="0"/>
                <a:cs typeface="Arial" charset="0"/>
              </a:rPr>
              <a:t>not just files (e.g. html files), but also information generated by programs running on the server (e.g. database searching results). </a:t>
            </a:r>
          </a:p>
          <a:p>
            <a:pPr lvl="1">
              <a:lnSpc>
                <a:spcPct val="90000"/>
              </a:lnSpc>
            </a:pPr>
            <a:r>
              <a:rPr lang="en-US" altLang="en-US" sz="2000" dirty="0">
                <a:latin typeface="Arial" charset="0"/>
                <a:cs typeface="Arial" charset="0"/>
              </a:rPr>
              <a:t>The ability to take data sent from the client and pass this information on to other programs (called CGI programs) on the server for further processing (e.g. order processing). </a:t>
            </a:r>
            <a:endParaRPr lang="en-US" altLang="en-US" sz="2000" dirty="0" smtClean="0">
              <a:latin typeface="Arial" charset="0"/>
              <a:cs typeface="Arial" charset="0"/>
            </a:endParaRPr>
          </a:p>
          <a:p>
            <a:pPr lvl="1">
              <a:lnSpc>
                <a:spcPct val="90000"/>
              </a:lnSpc>
            </a:pPr>
            <a:r>
              <a:rPr lang="en-US" altLang="en-US" sz="2000" dirty="0" smtClean="0">
                <a:latin typeface="Arial" charset="0"/>
                <a:cs typeface="Arial" charset="0"/>
              </a:rPr>
              <a:t>HTTP </a:t>
            </a:r>
            <a:r>
              <a:rPr lang="en-US" altLang="en-US" sz="2000" dirty="0">
                <a:latin typeface="Arial" charset="0"/>
                <a:cs typeface="Arial" charset="0"/>
              </a:rPr>
              <a:t>URL in this case carries the information from the client to the server.</a:t>
            </a:r>
          </a:p>
        </p:txBody>
      </p:sp>
    </p:spTree>
    <p:extLst>
      <p:ext uri="{BB962C8B-B14F-4D97-AF65-F5344CB8AC3E}">
        <p14:creationId xmlns:p14="http://schemas.microsoft.com/office/powerpoint/2010/main" val="35101817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Rectangle 2"/>
          <p:cNvSpPr>
            <a:spLocks noGrp="1" noChangeArrowheads="1"/>
          </p:cNvSpPr>
          <p:nvPr>
            <p:ph type="title"/>
          </p:nvPr>
        </p:nvSpPr>
        <p:spPr/>
        <p:txBody>
          <a:bodyPr/>
          <a:lstStyle/>
          <a:p>
            <a:r>
              <a:rPr lang="en-US" altLang="en-US"/>
              <a:t>URL Example: mailto</a:t>
            </a:r>
          </a:p>
        </p:txBody>
      </p:sp>
      <p:sp>
        <p:nvSpPr>
          <p:cNvPr id="318467" name="Rectangle 3"/>
          <p:cNvSpPr>
            <a:spLocks noGrp="1" noChangeArrowheads="1"/>
          </p:cNvSpPr>
          <p:nvPr>
            <p:ph type="body" idx="1"/>
          </p:nvPr>
        </p:nvSpPr>
        <p:spPr/>
        <p:txBody>
          <a:bodyPr/>
          <a:lstStyle/>
          <a:p>
            <a:pPr>
              <a:lnSpc>
                <a:spcPct val="90000"/>
              </a:lnSpc>
            </a:pPr>
            <a:r>
              <a:rPr lang="en-US" altLang="en-US" dirty="0">
                <a:latin typeface="Arial" charset="0"/>
                <a:cs typeface="Arial" charset="0"/>
              </a:rPr>
              <a:t>Use mailto as the protocol. </a:t>
            </a:r>
          </a:p>
          <a:p>
            <a:pPr>
              <a:lnSpc>
                <a:spcPct val="90000"/>
              </a:lnSpc>
            </a:pPr>
            <a:r>
              <a:rPr lang="en-US" altLang="en-US" dirty="0">
                <a:latin typeface="Arial" charset="0"/>
                <a:cs typeface="Arial" charset="0"/>
              </a:rPr>
              <a:t>Followed by the email address of the target recipient. </a:t>
            </a:r>
          </a:p>
          <a:p>
            <a:pPr>
              <a:lnSpc>
                <a:spcPct val="90000"/>
              </a:lnSpc>
            </a:pPr>
            <a:r>
              <a:rPr lang="en-US" altLang="en-US" dirty="0">
                <a:latin typeface="Arial" charset="0"/>
                <a:cs typeface="Arial" charset="0"/>
              </a:rPr>
              <a:t>Note the omission of "//", between mailto: and the email address. </a:t>
            </a:r>
          </a:p>
          <a:p>
            <a:pPr>
              <a:lnSpc>
                <a:spcPct val="90000"/>
              </a:lnSpc>
            </a:pPr>
            <a:r>
              <a:rPr lang="en-US" altLang="en-US" dirty="0" smtClean="0">
                <a:latin typeface="Arial" charset="0"/>
                <a:cs typeface="Arial" charset="0"/>
              </a:rPr>
              <a:t>An </a:t>
            </a:r>
            <a:r>
              <a:rPr lang="en-US" altLang="en-US" dirty="0">
                <a:latin typeface="Arial" charset="0"/>
                <a:cs typeface="Arial" charset="0"/>
              </a:rPr>
              <a:t>email interface (e.g. </a:t>
            </a:r>
            <a:r>
              <a:rPr lang="en-US" altLang="en-US" dirty="0" smtClean="0">
                <a:latin typeface="Arial" charset="0"/>
                <a:cs typeface="Arial" charset="0"/>
              </a:rPr>
              <a:t>Netscape Mail) </a:t>
            </a:r>
            <a:r>
              <a:rPr lang="en-US" altLang="en-US" dirty="0">
                <a:latin typeface="Arial" charset="0"/>
                <a:cs typeface="Arial" charset="0"/>
              </a:rPr>
              <a:t>will be created to allow you to compose and send your email. </a:t>
            </a:r>
          </a:p>
          <a:p>
            <a:pPr>
              <a:lnSpc>
                <a:spcPct val="90000"/>
              </a:lnSpc>
            </a:pPr>
            <a:r>
              <a:rPr lang="en-US" altLang="en-US" dirty="0">
                <a:solidFill>
                  <a:srgbClr val="009900"/>
                </a:solidFill>
                <a:latin typeface="Arial" charset="0"/>
                <a:cs typeface="Arial" charset="0"/>
              </a:rPr>
              <a:t>mailto:csc1720@cse.cuhk.edu.hk</a:t>
            </a:r>
            <a:r>
              <a:rPr lang="en-US" altLang="en-US" b="1" dirty="0">
                <a:solidFill>
                  <a:srgbClr val="66FF33"/>
                </a:solidFill>
                <a:latin typeface="Arial" charset="0"/>
                <a:cs typeface="Arial" charset="0"/>
              </a:rPr>
              <a:t> </a:t>
            </a:r>
            <a:endParaRPr lang="en-US" altLang="en-US" dirty="0">
              <a:solidFill>
                <a:srgbClr val="66FF33"/>
              </a:solidFill>
            </a:endParaRPr>
          </a:p>
        </p:txBody>
      </p:sp>
    </p:spTree>
    <p:extLst>
      <p:ext uri="{BB962C8B-B14F-4D97-AF65-F5344CB8AC3E}">
        <p14:creationId xmlns:p14="http://schemas.microsoft.com/office/powerpoint/2010/main" val="13286267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1026"/>
          <p:cNvSpPr>
            <a:spLocks noGrp="1" noChangeArrowheads="1"/>
          </p:cNvSpPr>
          <p:nvPr>
            <p:ph type="title"/>
          </p:nvPr>
        </p:nvSpPr>
        <p:spPr/>
        <p:txBody>
          <a:bodyPr/>
          <a:lstStyle/>
          <a:p>
            <a:r>
              <a:rPr lang="en-US" altLang="en-US"/>
              <a:t>URL Example: FTP</a:t>
            </a:r>
          </a:p>
        </p:txBody>
      </p:sp>
      <p:sp>
        <p:nvSpPr>
          <p:cNvPr id="320515" name="Rectangle 1027"/>
          <p:cNvSpPr>
            <a:spLocks noGrp="1" noChangeArrowheads="1"/>
          </p:cNvSpPr>
          <p:nvPr>
            <p:ph type="body" idx="1"/>
          </p:nvPr>
        </p:nvSpPr>
        <p:spPr>
          <a:xfrm>
            <a:off x="914400" y="1981200"/>
            <a:ext cx="8229600" cy="4114800"/>
          </a:xfrm>
        </p:spPr>
        <p:txBody>
          <a:bodyPr/>
          <a:lstStyle/>
          <a:p>
            <a:r>
              <a:rPr lang="en-US" altLang="en-US" sz="2000" dirty="0">
                <a:solidFill>
                  <a:srgbClr val="009900"/>
                </a:solidFill>
                <a:latin typeface="Arial" charset="0"/>
                <a:cs typeface="Arial" charset="0"/>
              </a:rPr>
              <a:t>ftp://s123456:abcdefg@logic.csc.cuhk.edu.hk/images/dragonball.gif </a:t>
            </a:r>
            <a:r>
              <a:rPr lang="en-US" altLang="en-US" sz="2000" dirty="0">
                <a:solidFill>
                  <a:srgbClr val="66FF33"/>
                </a:solidFill>
                <a:latin typeface="Arial" charset="0"/>
                <a:cs typeface="Arial" charset="0"/>
              </a:rPr>
              <a:t/>
            </a:r>
            <a:br>
              <a:rPr lang="en-US" altLang="en-US" sz="2000" dirty="0">
                <a:solidFill>
                  <a:srgbClr val="66FF33"/>
                </a:solidFill>
                <a:latin typeface="Arial" charset="0"/>
                <a:cs typeface="Arial" charset="0"/>
              </a:rPr>
            </a:br>
            <a:endParaRPr lang="en-US" altLang="en-US" sz="2000" dirty="0">
              <a:solidFill>
                <a:srgbClr val="66FF33"/>
              </a:solidFill>
              <a:latin typeface="Arial" charset="0"/>
              <a:cs typeface="Arial" charset="0"/>
            </a:endParaRPr>
          </a:p>
          <a:p>
            <a:r>
              <a:rPr lang="en-US" altLang="en-US" sz="2800" dirty="0">
                <a:solidFill>
                  <a:srgbClr val="FF5050"/>
                </a:solidFill>
                <a:latin typeface="Arial" charset="0"/>
                <a:cs typeface="Arial" charset="0"/>
              </a:rPr>
              <a:t>username (s123456)</a:t>
            </a:r>
            <a:r>
              <a:rPr lang="en-US" altLang="en-US" sz="2800" dirty="0">
                <a:latin typeface="Arial" charset="0"/>
                <a:cs typeface="Arial" charset="0"/>
              </a:rPr>
              <a:t> &amp; </a:t>
            </a:r>
            <a:r>
              <a:rPr lang="en-US" altLang="en-US" sz="2800" dirty="0">
                <a:solidFill>
                  <a:srgbClr val="FF9900"/>
                </a:solidFill>
                <a:latin typeface="Arial" charset="0"/>
                <a:cs typeface="Arial" charset="0"/>
              </a:rPr>
              <a:t>password (</a:t>
            </a:r>
            <a:r>
              <a:rPr lang="en-US" altLang="en-US" sz="2800" dirty="0" err="1">
                <a:solidFill>
                  <a:srgbClr val="FF9900"/>
                </a:solidFill>
                <a:latin typeface="Arial" charset="0"/>
                <a:cs typeface="Arial" charset="0"/>
              </a:rPr>
              <a:t>abcdefg</a:t>
            </a:r>
            <a:r>
              <a:rPr lang="en-US" altLang="en-US" sz="2800" dirty="0">
                <a:solidFill>
                  <a:srgbClr val="FF9900"/>
                </a:solidFill>
                <a:latin typeface="Arial" charset="0"/>
                <a:cs typeface="Arial" charset="0"/>
              </a:rPr>
              <a:t>) </a:t>
            </a:r>
          </a:p>
          <a:p>
            <a:r>
              <a:rPr lang="en-US" altLang="en-US" sz="2800" dirty="0">
                <a:latin typeface="Arial" charset="0"/>
                <a:cs typeface="Arial" charset="0"/>
              </a:rPr>
              <a:t>Not secure. </a:t>
            </a:r>
          </a:p>
          <a:p>
            <a:r>
              <a:rPr lang="en-US" altLang="en-US" sz="2800" dirty="0">
                <a:latin typeface="Arial" charset="0"/>
                <a:cs typeface="Arial" charset="0"/>
              </a:rPr>
              <a:t>Directory paths are relative to the user's home directory.</a:t>
            </a:r>
          </a:p>
          <a:p>
            <a:pPr lvl="1"/>
            <a:r>
              <a:rPr lang="en-US" altLang="en-US" sz="2000" dirty="0">
                <a:latin typeface="Arial" charset="0"/>
                <a:cs typeface="Arial" charset="0"/>
              </a:rPr>
              <a:t>In this case, /users/students/s123456/images/dragonball.gif. </a:t>
            </a:r>
          </a:p>
          <a:p>
            <a:endParaRPr lang="en-US" altLang="en-US" sz="2800" dirty="0"/>
          </a:p>
        </p:txBody>
      </p:sp>
    </p:spTree>
    <p:extLst>
      <p:ext uri="{BB962C8B-B14F-4D97-AF65-F5344CB8AC3E}">
        <p14:creationId xmlns:p14="http://schemas.microsoft.com/office/powerpoint/2010/main" val="9666346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fontScale="90000"/>
          </a:bodyPr>
          <a:lstStyle/>
          <a:p>
            <a:r>
              <a:rPr lang="en-US" dirty="0" smtClean="0"/>
              <a:t>URL</a:t>
            </a:r>
            <a:endParaRPr lang="en-IE" dirty="0"/>
          </a:p>
        </p:txBody>
      </p:sp>
      <p:sp>
        <p:nvSpPr>
          <p:cNvPr id="3" name="Content Placeholder 2"/>
          <p:cNvSpPr>
            <a:spLocks noGrp="1"/>
          </p:cNvSpPr>
          <p:nvPr>
            <p:ph idx="1"/>
          </p:nvPr>
        </p:nvSpPr>
        <p:spPr>
          <a:xfrm>
            <a:off x="0" y="609600"/>
            <a:ext cx="9144000" cy="6248400"/>
          </a:xfrm>
        </p:spPr>
        <p:txBody>
          <a:bodyPr>
            <a:noAutofit/>
          </a:bodyPr>
          <a:lstStyle/>
          <a:p>
            <a:r>
              <a:rPr lang="en-IE" sz="2000" dirty="0"/>
              <a:t>A </a:t>
            </a:r>
            <a:r>
              <a:rPr lang="en-IE" sz="2000" dirty="0">
                <a:solidFill>
                  <a:schemeClr val="tx2"/>
                </a:solidFill>
              </a:rPr>
              <a:t>URL is a URI </a:t>
            </a:r>
            <a:r>
              <a:rPr lang="en-IE" sz="2000" dirty="0"/>
              <a:t>that, as well as identifying a resource, </a:t>
            </a:r>
            <a:r>
              <a:rPr lang="en-IE" sz="2000" dirty="0">
                <a:solidFill>
                  <a:schemeClr val="tx2"/>
                </a:solidFill>
              </a:rPr>
              <a:t>provides a specific </a:t>
            </a:r>
            <a:r>
              <a:rPr lang="en-IE" sz="2000" dirty="0" smtClean="0">
                <a:solidFill>
                  <a:schemeClr val="tx2"/>
                </a:solidFill>
              </a:rPr>
              <a:t>network location </a:t>
            </a:r>
            <a:r>
              <a:rPr lang="en-IE" sz="2000" dirty="0">
                <a:solidFill>
                  <a:schemeClr val="tx2"/>
                </a:solidFill>
              </a:rPr>
              <a:t>for the resource</a:t>
            </a:r>
            <a:r>
              <a:rPr lang="en-IE" sz="2000" dirty="0"/>
              <a:t> that a client can use to retrieve a representation of that resource.</a:t>
            </a:r>
          </a:p>
          <a:p>
            <a:r>
              <a:rPr lang="en-IE" sz="2000" dirty="0"/>
              <a:t>By contrast, a generic </a:t>
            </a:r>
            <a:r>
              <a:rPr lang="en-IE" sz="2000" dirty="0">
                <a:solidFill>
                  <a:schemeClr val="tx2"/>
                </a:solidFill>
              </a:rPr>
              <a:t>URI</a:t>
            </a:r>
            <a:r>
              <a:rPr lang="en-IE" sz="2000" dirty="0"/>
              <a:t> may tell you </a:t>
            </a:r>
            <a:r>
              <a:rPr lang="en-IE" sz="2000" dirty="0">
                <a:solidFill>
                  <a:schemeClr val="tx2"/>
                </a:solidFill>
              </a:rPr>
              <a:t>what a resource is</a:t>
            </a:r>
            <a:r>
              <a:rPr lang="en-IE" sz="2000" dirty="0"/>
              <a:t>, </a:t>
            </a:r>
            <a:r>
              <a:rPr lang="en-IE" sz="2000" dirty="0">
                <a:solidFill>
                  <a:schemeClr val="tx2"/>
                </a:solidFill>
              </a:rPr>
              <a:t>but not actually tell you </a:t>
            </a:r>
            <a:r>
              <a:rPr lang="en-IE" sz="2000" dirty="0" smtClean="0">
                <a:solidFill>
                  <a:schemeClr val="tx2"/>
                </a:solidFill>
              </a:rPr>
              <a:t>where  and </a:t>
            </a:r>
            <a:r>
              <a:rPr lang="en-IE" sz="2000" dirty="0">
                <a:solidFill>
                  <a:schemeClr val="tx2"/>
                </a:solidFill>
              </a:rPr>
              <a:t>how to get that resource. </a:t>
            </a:r>
            <a:endParaRPr lang="en-IE" sz="2000" dirty="0" smtClean="0">
              <a:solidFill>
                <a:schemeClr val="tx2"/>
              </a:solidFill>
            </a:endParaRPr>
          </a:p>
          <a:p>
            <a:r>
              <a:rPr lang="en-IE" sz="2000" dirty="0" smtClean="0"/>
              <a:t>In </a:t>
            </a:r>
            <a:r>
              <a:rPr lang="en-IE" sz="2000" dirty="0"/>
              <a:t>the physical world, it’s the difference between the </a:t>
            </a:r>
            <a:r>
              <a:rPr lang="en-IE" sz="2000" dirty="0" smtClean="0"/>
              <a:t>title “</a:t>
            </a:r>
            <a:r>
              <a:rPr lang="en-IE" sz="2000" dirty="0"/>
              <a:t>Harry Potter and The Deathly Hallows” and the library location “Room 312, Row </a:t>
            </a:r>
            <a:r>
              <a:rPr lang="en-IE" sz="2000" dirty="0" smtClean="0"/>
              <a:t>28, Shelf </a:t>
            </a:r>
            <a:r>
              <a:rPr lang="en-IE" sz="2000" dirty="0"/>
              <a:t>7”. </a:t>
            </a:r>
            <a:endParaRPr lang="en-IE" sz="2000" dirty="0" smtClean="0"/>
          </a:p>
          <a:p>
            <a:r>
              <a:rPr lang="en-IE" sz="2000" dirty="0" smtClean="0"/>
              <a:t>In </a:t>
            </a:r>
            <a:r>
              <a:rPr lang="en-IE" sz="2000" dirty="0">
                <a:solidFill>
                  <a:schemeClr val="tx2"/>
                </a:solidFill>
              </a:rPr>
              <a:t>Java</a:t>
            </a:r>
            <a:r>
              <a:rPr lang="en-IE" sz="2000" dirty="0"/>
              <a:t>, it’s the difference between the</a:t>
            </a:r>
            <a:r>
              <a:rPr lang="en-IE" sz="2000" dirty="0">
                <a:solidFill>
                  <a:schemeClr val="tx2"/>
                </a:solidFill>
              </a:rPr>
              <a:t> </a:t>
            </a:r>
            <a:r>
              <a:rPr lang="en-IE" sz="2000" dirty="0" err="1">
                <a:solidFill>
                  <a:schemeClr val="tx2"/>
                </a:solidFill>
              </a:rPr>
              <a:t>java.net.URI</a:t>
            </a:r>
            <a:r>
              <a:rPr lang="en-IE" sz="2000" dirty="0">
                <a:solidFill>
                  <a:schemeClr val="tx2"/>
                </a:solidFill>
              </a:rPr>
              <a:t> </a:t>
            </a:r>
            <a:r>
              <a:rPr lang="en-IE" sz="2000" dirty="0"/>
              <a:t>class that only </a:t>
            </a:r>
            <a:r>
              <a:rPr lang="en-IE" sz="2000" dirty="0" smtClean="0">
                <a:solidFill>
                  <a:schemeClr val="tx2"/>
                </a:solidFill>
              </a:rPr>
              <a:t>identifies</a:t>
            </a:r>
            <a:r>
              <a:rPr lang="en-IE" sz="2000" dirty="0" smtClean="0"/>
              <a:t> resources </a:t>
            </a:r>
            <a:r>
              <a:rPr lang="en-IE" sz="2000" dirty="0"/>
              <a:t>and the </a:t>
            </a:r>
            <a:r>
              <a:rPr lang="en-IE" sz="2000" dirty="0">
                <a:solidFill>
                  <a:schemeClr val="tx2"/>
                </a:solidFill>
              </a:rPr>
              <a:t>java.net.URL</a:t>
            </a:r>
            <a:r>
              <a:rPr lang="en-IE" sz="2000" dirty="0"/>
              <a:t> class that can both </a:t>
            </a:r>
            <a:r>
              <a:rPr lang="en-IE" sz="2000" dirty="0">
                <a:solidFill>
                  <a:schemeClr val="tx2"/>
                </a:solidFill>
              </a:rPr>
              <a:t>identify and retrieve resources</a:t>
            </a:r>
            <a:r>
              <a:rPr lang="en-IE" sz="2000" dirty="0" smtClean="0"/>
              <a:t>. </a:t>
            </a:r>
            <a:endParaRPr lang="en-IE" sz="2000" dirty="0"/>
          </a:p>
          <a:p>
            <a:r>
              <a:rPr lang="en-IE" sz="2000" dirty="0"/>
              <a:t>The network location in a URL usually includes the </a:t>
            </a:r>
            <a:r>
              <a:rPr lang="en-IE" sz="2000" dirty="0">
                <a:solidFill>
                  <a:schemeClr val="tx2"/>
                </a:solidFill>
              </a:rPr>
              <a:t>protocol used to access a </a:t>
            </a:r>
            <a:r>
              <a:rPr lang="en-IE" sz="2000" dirty="0" smtClean="0">
                <a:solidFill>
                  <a:schemeClr val="tx2"/>
                </a:solidFill>
              </a:rPr>
              <a:t>server </a:t>
            </a:r>
            <a:r>
              <a:rPr lang="en-IE" sz="2000" dirty="0" smtClean="0"/>
              <a:t>(</a:t>
            </a:r>
            <a:r>
              <a:rPr lang="en-IE" sz="2000" dirty="0"/>
              <a:t>e.g., FTP, HTTP), the </a:t>
            </a:r>
            <a:r>
              <a:rPr lang="en-IE" sz="2000" dirty="0">
                <a:solidFill>
                  <a:schemeClr val="tx2"/>
                </a:solidFill>
              </a:rPr>
              <a:t>hostname or IP address of the server, and the path to the </a:t>
            </a:r>
            <a:r>
              <a:rPr lang="en-IE" sz="2000" dirty="0" smtClean="0">
                <a:solidFill>
                  <a:schemeClr val="tx2"/>
                </a:solidFill>
              </a:rPr>
              <a:t>resource on </a:t>
            </a:r>
            <a:r>
              <a:rPr lang="en-IE" sz="2000" dirty="0">
                <a:solidFill>
                  <a:schemeClr val="tx2"/>
                </a:solidFill>
              </a:rPr>
              <a:t>that server. </a:t>
            </a:r>
            <a:endParaRPr lang="en-IE" sz="2000" dirty="0" smtClean="0">
              <a:solidFill>
                <a:schemeClr val="tx2"/>
              </a:solidFill>
            </a:endParaRPr>
          </a:p>
          <a:p>
            <a:r>
              <a:rPr lang="en-IE" sz="2000" dirty="0" smtClean="0"/>
              <a:t>A </a:t>
            </a:r>
            <a:r>
              <a:rPr lang="en-IE" sz="2000" dirty="0"/>
              <a:t>typical URL looks like </a:t>
            </a:r>
            <a:r>
              <a:rPr lang="en-IE" sz="2000" i="1" dirty="0">
                <a:solidFill>
                  <a:schemeClr val="tx2"/>
                </a:solidFill>
              </a:rPr>
              <a:t>http://</a:t>
            </a:r>
            <a:r>
              <a:rPr lang="en-IE" sz="2000" i="1" dirty="0" smtClean="0">
                <a:solidFill>
                  <a:schemeClr val="tx2"/>
                </a:solidFill>
              </a:rPr>
              <a:t>www.ibiblio.org/javafaq/javatutorial.html</a:t>
            </a:r>
            <a:r>
              <a:rPr lang="en-IE" sz="2000" dirty="0"/>
              <a:t>. </a:t>
            </a:r>
            <a:endParaRPr lang="en-IE" sz="2000" dirty="0" smtClean="0"/>
          </a:p>
          <a:p>
            <a:r>
              <a:rPr lang="en-IE" sz="2000" dirty="0" smtClean="0"/>
              <a:t>This </a:t>
            </a:r>
            <a:r>
              <a:rPr lang="en-IE" sz="2000" dirty="0"/>
              <a:t>specifies that there is a file called </a:t>
            </a:r>
            <a:r>
              <a:rPr lang="en-IE" sz="2000" i="1" dirty="0"/>
              <a:t>javatutorial.html </a:t>
            </a:r>
            <a:r>
              <a:rPr lang="en-IE" sz="2000" dirty="0"/>
              <a:t>in a directory </a:t>
            </a:r>
            <a:r>
              <a:rPr lang="en-IE" sz="2000" dirty="0" smtClean="0"/>
              <a:t>called </a:t>
            </a:r>
            <a:r>
              <a:rPr lang="en-IE" sz="2000" i="1" dirty="0" err="1" smtClean="0"/>
              <a:t>javafaq</a:t>
            </a:r>
            <a:r>
              <a:rPr lang="en-IE" sz="2000" i="1" dirty="0" smtClean="0"/>
              <a:t> </a:t>
            </a:r>
            <a:r>
              <a:rPr lang="en-IE" sz="2000" dirty="0"/>
              <a:t>on the server </a:t>
            </a:r>
            <a:r>
              <a:rPr lang="en-IE" sz="2000" i="1" dirty="0"/>
              <a:t>www.ibiblio.org</a:t>
            </a:r>
            <a:r>
              <a:rPr lang="en-IE" sz="2000" dirty="0"/>
              <a:t>, and that this file can be accessed via the </a:t>
            </a:r>
            <a:r>
              <a:rPr lang="en-IE" sz="2000" dirty="0" smtClean="0"/>
              <a:t>HTTP protocol</a:t>
            </a:r>
            <a:r>
              <a:rPr lang="en-IE" sz="2000" dirty="0"/>
              <a:t>.</a:t>
            </a:r>
            <a:endParaRPr lang="en-IE" sz="2000" dirty="0" smtClean="0"/>
          </a:p>
        </p:txBody>
      </p:sp>
    </p:spTree>
    <p:extLst>
      <p:ext uri="{BB962C8B-B14F-4D97-AF65-F5344CB8AC3E}">
        <p14:creationId xmlns:p14="http://schemas.microsoft.com/office/powerpoint/2010/main" val="5659368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fontScale="90000"/>
          </a:bodyPr>
          <a:lstStyle/>
          <a:p>
            <a:r>
              <a:rPr lang="en-US" dirty="0" smtClean="0"/>
              <a:t>URL Syntax</a:t>
            </a:r>
            <a:endParaRPr lang="en-IE" dirty="0"/>
          </a:p>
        </p:txBody>
      </p:sp>
      <p:sp>
        <p:nvSpPr>
          <p:cNvPr id="3" name="Content Placeholder 2"/>
          <p:cNvSpPr>
            <a:spLocks noGrp="1"/>
          </p:cNvSpPr>
          <p:nvPr>
            <p:ph idx="1"/>
          </p:nvPr>
        </p:nvSpPr>
        <p:spPr>
          <a:xfrm>
            <a:off x="0" y="609600"/>
            <a:ext cx="9144000" cy="6248400"/>
          </a:xfrm>
        </p:spPr>
        <p:txBody>
          <a:bodyPr>
            <a:noAutofit/>
          </a:bodyPr>
          <a:lstStyle/>
          <a:p>
            <a:r>
              <a:rPr lang="en-IE" sz="2000" dirty="0"/>
              <a:t>The syntax of a URL is:</a:t>
            </a:r>
          </a:p>
          <a:p>
            <a:pPr lvl="1"/>
            <a:r>
              <a:rPr lang="en-IE" sz="2000" i="1" dirty="0"/>
              <a:t>protocol</a:t>
            </a:r>
            <a:r>
              <a:rPr lang="en-IE" sz="2000" dirty="0"/>
              <a:t>://</a:t>
            </a:r>
            <a:r>
              <a:rPr lang="en-IE" sz="2000" i="1" dirty="0"/>
              <a:t>userInfo</a:t>
            </a:r>
            <a:r>
              <a:rPr lang="en-IE" sz="2000" dirty="0"/>
              <a:t>@</a:t>
            </a:r>
            <a:r>
              <a:rPr lang="en-IE" sz="2000" i="1" dirty="0"/>
              <a:t>host</a:t>
            </a:r>
            <a:r>
              <a:rPr lang="en-IE" sz="2000" dirty="0"/>
              <a:t>:</a:t>
            </a:r>
            <a:r>
              <a:rPr lang="en-IE" sz="2000" i="1" dirty="0"/>
              <a:t>port</a:t>
            </a:r>
            <a:r>
              <a:rPr lang="en-IE" sz="2000" dirty="0"/>
              <a:t>/</a:t>
            </a:r>
            <a:r>
              <a:rPr lang="en-IE" sz="2000" i="1" dirty="0"/>
              <a:t>path</a:t>
            </a:r>
            <a:r>
              <a:rPr lang="en-IE" sz="2000" dirty="0"/>
              <a:t>?</a:t>
            </a:r>
            <a:r>
              <a:rPr lang="en-IE" sz="2000" i="1" dirty="0"/>
              <a:t>query</a:t>
            </a:r>
            <a:r>
              <a:rPr lang="en-IE" sz="2000" dirty="0"/>
              <a:t>#</a:t>
            </a:r>
            <a:r>
              <a:rPr lang="en-IE" sz="2000" i="1" dirty="0"/>
              <a:t>fragment</a:t>
            </a:r>
          </a:p>
          <a:p>
            <a:r>
              <a:rPr lang="en-IE" sz="2000" dirty="0"/>
              <a:t>Here the protocol is another word for what was called the scheme of the URI</a:t>
            </a:r>
            <a:r>
              <a:rPr lang="en-IE" sz="2000" dirty="0" smtClean="0"/>
              <a:t>.</a:t>
            </a:r>
          </a:p>
          <a:p>
            <a:r>
              <a:rPr lang="en-IE" sz="2000" i="1" dirty="0" smtClean="0">
                <a:solidFill>
                  <a:schemeClr val="tx2"/>
                </a:solidFill>
              </a:rPr>
              <a:t>Scheme </a:t>
            </a:r>
            <a:r>
              <a:rPr lang="en-IE" sz="2000" dirty="0">
                <a:solidFill>
                  <a:schemeClr val="tx2"/>
                </a:solidFill>
              </a:rPr>
              <a:t>is the word used in the URI RFC. </a:t>
            </a:r>
            <a:r>
              <a:rPr lang="en-IE" sz="2000" i="1" dirty="0">
                <a:solidFill>
                  <a:schemeClr val="tx2"/>
                </a:solidFill>
              </a:rPr>
              <a:t>Protocol </a:t>
            </a:r>
            <a:r>
              <a:rPr lang="en-IE" sz="2000" dirty="0">
                <a:solidFill>
                  <a:schemeClr val="tx2"/>
                </a:solidFill>
              </a:rPr>
              <a:t>is the word used in the Java documentation</a:t>
            </a:r>
            <a:r>
              <a:rPr lang="en-IE" sz="2000" dirty="0" smtClean="0">
                <a:solidFill>
                  <a:schemeClr val="tx2"/>
                </a:solidFill>
              </a:rPr>
              <a:t>.</a:t>
            </a:r>
            <a:endParaRPr lang="en-IE" sz="2000" dirty="0">
              <a:solidFill>
                <a:schemeClr val="tx2"/>
              </a:solidFill>
            </a:endParaRPr>
          </a:p>
          <a:p>
            <a:r>
              <a:rPr lang="en-IE" sz="2000" dirty="0"/>
              <a:t>In a URL, the protocol part can be </a:t>
            </a:r>
            <a:r>
              <a:rPr lang="en-IE" sz="2000" i="1" dirty="0">
                <a:solidFill>
                  <a:schemeClr val="tx2"/>
                </a:solidFill>
              </a:rPr>
              <a:t>file</a:t>
            </a:r>
            <a:r>
              <a:rPr lang="en-IE" sz="2000" dirty="0">
                <a:solidFill>
                  <a:schemeClr val="tx2"/>
                </a:solidFill>
              </a:rPr>
              <a:t>, </a:t>
            </a:r>
            <a:r>
              <a:rPr lang="en-IE" sz="2000" i="1" dirty="0">
                <a:solidFill>
                  <a:schemeClr val="tx2"/>
                </a:solidFill>
              </a:rPr>
              <a:t>ftp</a:t>
            </a:r>
            <a:r>
              <a:rPr lang="en-IE" sz="2000" dirty="0">
                <a:solidFill>
                  <a:schemeClr val="tx2"/>
                </a:solidFill>
              </a:rPr>
              <a:t>, </a:t>
            </a:r>
            <a:r>
              <a:rPr lang="en-IE" sz="2000" i="1" dirty="0">
                <a:solidFill>
                  <a:schemeClr val="tx2"/>
                </a:solidFill>
              </a:rPr>
              <a:t>http</a:t>
            </a:r>
            <a:r>
              <a:rPr lang="en-IE" sz="2000" dirty="0">
                <a:solidFill>
                  <a:schemeClr val="tx2"/>
                </a:solidFill>
              </a:rPr>
              <a:t>, </a:t>
            </a:r>
            <a:r>
              <a:rPr lang="en-IE" sz="2000" i="1" dirty="0">
                <a:solidFill>
                  <a:schemeClr val="tx2"/>
                </a:solidFill>
              </a:rPr>
              <a:t>https</a:t>
            </a:r>
            <a:r>
              <a:rPr lang="en-IE" sz="2000" dirty="0">
                <a:solidFill>
                  <a:schemeClr val="tx2"/>
                </a:solidFill>
              </a:rPr>
              <a:t>, </a:t>
            </a:r>
            <a:r>
              <a:rPr lang="en-IE" sz="2000" i="1" dirty="0">
                <a:solidFill>
                  <a:schemeClr val="tx2"/>
                </a:solidFill>
              </a:rPr>
              <a:t>magnet</a:t>
            </a:r>
            <a:r>
              <a:rPr lang="en-IE" sz="2000" dirty="0">
                <a:solidFill>
                  <a:schemeClr val="tx2"/>
                </a:solidFill>
              </a:rPr>
              <a:t>, </a:t>
            </a:r>
            <a:r>
              <a:rPr lang="en-IE" sz="2000" i="1" dirty="0">
                <a:solidFill>
                  <a:schemeClr val="tx2"/>
                </a:solidFill>
              </a:rPr>
              <a:t>telnet</a:t>
            </a:r>
            <a:r>
              <a:rPr lang="en-IE" sz="2000" dirty="0">
                <a:solidFill>
                  <a:schemeClr val="tx2"/>
                </a:solidFill>
              </a:rPr>
              <a:t>, </a:t>
            </a:r>
            <a:r>
              <a:rPr lang="en-IE" sz="2000" dirty="0" smtClean="0">
                <a:solidFill>
                  <a:schemeClr val="tx2"/>
                </a:solidFill>
              </a:rPr>
              <a:t>or various </a:t>
            </a:r>
            <a:r>
              <a:rPr lang="en-IE" sz="2000" dirty="0">
                <a:solidFill>
                  <a:schemeClr val="tx2"/>
                </a:solidFill>
              </a:rPr>
              <a:t>other strings (though not </a:t>
            </a:r>
            <a:r>
              <a:rPr lang="en-IE" sz="2000" i="1" dirty="0">
                <a:solidFill>
                  <a:schemeClr val="tx2"/>
                </a:solidFill>
              </a:rPr>
              <a:t>urn</a:t>
            </a:r>
            <a:r>
              <a:rPr lang="en-IE" sz="2000" dirty="0" smtClean="0">
                <a:solidFill>
                  <a:schemeClr val="tx2"/>
                </a:solidFill>
              </a:rPr>
              <a:t>). </a:t>
            </a:r>
            <a:endParaRPr lang="en-IE" sz="2000" dirty="0">
              <a:solidFill>
                <a:schemeClr val="tx2"/>
              </a:solidFill>
            </a:endParaRPr>
          </a:p>
          <a:p>
            <a:r>
              <a:rPr lang="en-IE" sz="2000" dirty="0"/>
              <a:t>The </a:t>
            </a:r>
            <a:r>
              <a:rPr lang="en-IE" sz="2000" i="1" dirty="0">
                <a:solidFill>
                  <a:schemeClr val="tx2"/>
                </a:solidFill>
              </a:rPr>
              <a:t>host</a:t>
            </a:r>
            <a:r>
              <a:rPr lang="en-IE" sz="2000" i="1" dirty="0"/>
              <a:t> </a:t>
            </a:r>
            <a:r>
              <a:rPr lang="en-IE" sz="2000" dirty="0"/>
              <a:t>part of a URL is the name of the server that provides the resource you want</a:t>
            </a:r>
            <a:r>
              <a:rPr lang="en-IE" sz="2000" dirty="0" smtClean="0"/>
              <a:t>. </a:t>
            </a:r>
          </a:p>
          <a:p>
            <a:r>
              <a:rPr lang="en-IE" sz="2000" dirty="0" smtClean="0"/>
              <a:t>It </a:t>
            </a:r>
            <a:r>
              <a:rPr lang="en-IE" sz="2000" dirty="0"/>
              <a:t>can be a </a:t>
            </a:r>
            <a:r>
              <a:rPr lang="en-IE" sz="2000" dirty="0">
                <a:solidFill>
                  <a:schemeClr val="tx2"/>
                </a:solidFill>
              </a:rPr>
              <a:t>hostname</a:t>
            </a:r>
            <a:r>
              <a:rPr lang="en-IE" sz="2000" dirty="0"/>
              <a:t> such as </a:t>
            </a:r>
            <a:r>
              <a:rPr lang="en-IE" sz="2000" i="1" dirty="0"/>
              <a:t>www.oreilly.com </a:t>
            </a:r>
            <a:r>
              <a:rPr lang="en-IE" sz="2000" dirty="0"/>
              <a:t>or </a:t>
            </a:r>
            <a:r>
              <a:rPr lang="en-IE" sz="2000" i="1" dirty="0"/>
              <a:t>utopia.poly.edu </a:t>
            </a:r>
            <a:r>
              <a:rPr lang="en-IE" sz="2000" dirty="0"/>
              <a:t>or an IP address, </a:t>
            </a:r>
            <a:r>
              <a:rPr lang="en-IE" sz="2000" dirty="0" smtClean="0"/>
              <a:t>such as </a:t>
            </a:r>
            <a:r>
              <a:rPr lang="en-IE" sz="2000" dirty="0"/>
              <a:t>204.148.40.9 or 128.238.3.21.</a:t>
            </a:r>
          </a:p>
          <a:p>
            <a:r>
              <a:rPr lang="en-IE" sz="2000" dirty="0"/>
              <a:t>The </a:t>
            </a:r>
            <a:r>
              <a:rPr lang="en-IE" sz="2000" i="1" dirty="0" err="1">
                <a:solidFill>
                  <a:schemeClr val="tx2"/>
                </a:solidFill>
              </a:rPr>
              <a:t>userInfo</a:t>
            </a:r>
            <a:r>
              <a:rPr lang="en-IE" sz="2000" i="1" dirty="0">
                <a:solidFill>
                  <a:schemeClr val="tx2"/>
                </a:solidFill>
              </a:rPr>
              <a:t> </a:t>
            </a:r>
            <a:r>
              <a:rPr lang="en-IE" sz="2000" dirty="0">
                <a:solidFill>
                  <a:schemeClr val="tx2"/>
                </a:solidFill>
              </a:rPr>
              <a:t>is optional login information</a:t>
            </a:r>
            <a:r>
              <a:rPr lang="en-IE" sz="2000" dirty="0"/>
              <a:t> for the server. If present, it contains a </a:t>
            </a:r>
            <a:r>
              <a:rPr lang="en-IE" sz="2000" dirty="0" smtClean="0"/>
              <a:t>username and</a:t>
            </a:r>
            <a:r>
              <a:rPr lang="en-IE" sz="2000" dirty="0"/>
              <a:t>, rarely, a password.</a:t>
            </a:r>
          </a:p>
          <a:p>
            <a:r>
              <a:rPr lang="en-IE" sz="2000" dirty="0"/>
              <a:t>The </a:t>
            </a:r>
            <a:r>
              <a:rPr lang="en-IE" sz="2000" i="1" dirty="0">
                <a:solidFill>
                  <a:schemeClr val="tx2"/>
                </a:solidFill>
              </a:rPr>
              <a:t>port</a:t>
            </a:r>
            <a:r>
              <a:rPr lang="en-IE" sz="2000" i="1" dirty="0"/>
              <a:t> </a:t>
            </a:r>
            <a:r>
              <a:rPr lang="en-IE" sz="2000" dirty="0"/>
              <a:t>number is also optional. It’s not necessary if the service is running on its </a:t>
            </a:r>
            <a:r>
              <a:rPr lang="en-IE" sz="2000" dirty="0" smtClean="0"/>
              <a:t>default </a:t>
            </a:r>
            <a:r>
              <a:rPr lang="fr-FR" sz="2000" dirty="0" smtClean="0"/>
              <a:t>port </a:t>
            </a:r>
            <a:r>
              <a:rPr lang="fr-FR" sz="2000" dirty="0"/>
              <a:t>(port 80 for HTTP servers).</a:t>
            </a:r>
          </a:p>
          <a:p>
            <a:r>
              <a:rPr lang="en-IE" sz="2000" dirty="0"/>
              <a:t>Together, the </a:t>
            </a:r>
            <a:r>
              <a:rPr lang="en-IE" sz="2000" dirty="0" err="1">
                <a:solidFill>
                  <a:schemeClr val="tx2"/>
                </a:solidFill>
              </a:rPr>
              <a:t>userInfo</a:t>
            </a:r>
            <a:r>
              <a:rPr lang="en-IE" sz="2000" dirty="0">
                <a:solidFill>
                  <a:schemeClr val="tx2"/>
                </a:solidFill>
              </a:rPr>
              <a:t>, host, and port constitute the </a:t>
            </a:r>
            <a:r>
              <a:rPr lang="en-IE" sz="2000" i="1" dirty="0">
                <a:solidFill>
                  <a:schemeClr val="tx2"/>
                </a:solidFill>
              </a:rPr>
              <a:t>authority</a:t>
            </a:r>
            <a:r>
              <a:rPr lang="en-IE" sz="2000" dirty="0"/>
              <a:t>.</a:t>
            </a:r>
            <a:endParaRPr lang="en-IE" sz="2000" dirty="0" smtClean="0"/>
          </a:p>
        </p:txBody>
      </p:sp>
    </p:spTree>
    <p:extLst>
      <p:ext uri="{BB962C8B-B14F-4D97-AF65-F5344CB8AC3E}">
        <p14:creationId xmlns:p14="http://schemas.microsoft.com/office/powerpoint/2010/main" val="339144530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fontScale="90000"/>
          </a:bodyPr>
          <a:lstStyle/>
          <a:p>
            <a:r>
              <a:rPr lang="en-US" dirty="0" smtClean="0"/>
              <a:t>URL Syntax</a:t>
            </a:r>
            <a:endParaRPr lang="en-IE" dirty="0"/>
          </a:p>
        </p:txBody>
      </p:sp>
      <p:sp>
        <p:nvSpPr>
          <p:cNvPr id="3" name="Content Placeholder 2"/>
          <p:cNvSpPr>
            <a:spLocks noGrp="1"/>
          </p:cNvSpPr>
          <p:nvPr>
            <p:ph idx="1"/>
          </p:nvPr>
        </p:nvSpPr>
        <p:spPr>
          <a:xfrm>
            <a:off x="0" y="609600"/>
            <a:ext cx="9144000" cy="6248400"/>
          </a:xfrm>
        </p:spPr>
        <p:txBody>
          <a:bodyPr>
            <a:noAutofit/>
          </a:bodyPr>
          <a:lstStyle/>
          <a:p>
            <a:r>
              <a:rPr lang="en-IE" sz="2400" dirty="0"/>
              <a:t>The </a:t>
            </a:r>
            <a:r>
              <a:rPr lang="en-IE" sz="2400" i="1" dirty="0">
                <a:solidFill>
                  <a:schemeClr val="tx2"/>
                </a:solidFill>
              </a:rPr>
              <a:t>path </a:t>
            </a:r>
            <a:r>
              <a:rPr lang="en-IE" sz="2400" dirty="0">
                <a:solidFill>
                  <a:schemeClr val="tx2"/>
                </a:solidFill>
              </a:rPr>
              <a:t>points to a particular resource on the specified server</a:t>
            </a:r>
            <a:r>
              <a:rPr lang="en-IE" sz="2400" dirty="0"/>
              <a:t>. It often looks like </a:t>
            </a:r>
            <a:r>
              <a:rPr lang="en-IE" sz="2400" dirty="0" smtClean="0"/>
              <a:t>a filesystem </a:t>
            </a:r>
            <a:r>
              <a:rPr lang="en-IE" sz="2400" dirty="0"/>
              <a:t>path such as </a:t>
            </a:r>
            <a:r>
              <a:rPr lang="en-IE" sz="2400" i="1" dirty="0"/>
              <a:t>/forum/</a:t>
            </a:r>
            <a:r>
              <a:rPr lang="en-IE" sz="2400" i="1" dirty="0" err="1"/>
              <a:t>index.php</a:t>
            </a:r>
            <a:r>
              <a:rPr lang="en-IE" sz="2400" dirty="0"/>
              <a:t>. </a:t>
            </a:r>
            <a:endParaRPr lang="en-IE" sz="2400" dirty="0" smtClean="0"/>
          </a:p>
          <a:p>
            <a:r>
              <a:rPr lang="en-IE" sz="2400" dirty="0" smtClean="0"/>
              <a:t>However</a:t>
            </a:r>
            <a:r>
              <a:rPr lang="en-IE" sz="2400" dirty="0"/>
              <a:t>, it </a:t>
            </a:r>
            <a:r>
              <a:rPr lang="en-IE" sz="2400" dirty="0">
                <a:solidFill>
                  <a:schemeClr val="tx2"/>
                </a:solidFill>
              </a:rPr>
              <a:t>may or may not actually map </a:t>
            </a:r>
            <a:r>
              <a:rPr lang="en-IE" sz="2400" dirty="0" smtClean="0">
                <a:solidFill>
                  <a:schemeClr val="tx2"/>
                </a:solidFill>
              </a:rPr>
              <a:t>to a </a:t>
            </a:r>
            <a:r>
              <a:rPr lang="en-IE" sz="2400" dirty="0">
                <a:solidFill>
                  <a:schemeClr val="tx2"/>
                </a:solidFill>
              </a:rPr>
              <a:t>filesystem </a:t>
            </a:r>
            <a:r>
              <a:rPr lang="en-IE" sz="2400" dirty="0"/>
              <a:t>on the server. If it does map to a filesystem, the path is relative to </a:t>
            </a:r>
            <a:r>
              <a:rPr lang="en-IE" sz="2400" dirty="0" smtClean="0"/>
              <a:t>the document </a:t>
            </a:r>
            <a:r>
              <a:rPr lang="en-IE" sz="2400" dirty="0"/>
              <a:t>root of the server, not necessarily to the root of the filesystem on the server.</a:t>
            </a:r>
          </a:p>
          <a:p>
            <a:r>
              <a:rPr lang="en-IE" sz="2400" dirty="0"/>
              <a:t>As a rule, </a:t>
            </a:r>
            <a:r>
              <a:rPr lang="en-IE" sz="2400" dirty="0">
                <a:solidFill>
                  <a:schemeClr val="tx2"/>
                </a:solidFill>
              </a:rPr>
              <a:t>servers that are open to the public do not show their entire filesystem to clients</a:t>
            </a:r>
            <a:r>
              <a:rPr lang="en-IE" sz="2400" dirty="0" smtClean="0"/>
              <a:t>. Rather</a:t>
            </a:r>
            <a:r>
              <a:rPr lang="en-IE" sz="2400" dirty="0"/>
              <a:t>, they show only the contents of a specified directory. This directory is called </a:t>
            </a:r>
            <a:r>
              <a:rPr lang="en-IE" sz="2400" dirty="0" smtClean="0"/>
              <a:t>the </a:t>
            </a:r>
            <a:r>
              <a:rPr lang="en-IE" sz="2400" dirty="0" smtClean="0">
                <a:solidFill>
                  <a:schemeClr val="tx2"/>
                </a:solidFill>
              </a:rPr>
              <a:t>document </a:t>
            </a:r>
            <a:r>
              <a:rPr lang="en-IE" sz="2400" dirty="0">
                <a:solidFill>
                  <a:schemeClr val="tx2"/>
                </a:solidFill>
              </a:rPr>
              <a:t>root</a:t>
            </a:r>
            <a:r>
              <a:rPr lang="en-IE" sz="2400" dirty="0"/>
              <a:t>, and all paths and filenames are relative to it. </a:t>
            </a:r>
            <a:endParaRPr lang="en-IE" sz="2400" dirty="0" smtClean="0"/>
          </a:p>
          <a:p>
            <a:r>
              <a:rPr lang="en-IE" sz="2400" dirty="0" smtClean="0"/>
              <a:t>Thus</a:t>
            </a:r>
            <a:r>
              <a:rPr lang="en-IE" sz="2400" dirty="0"/>
              <a:t>, on a Unix server, </a:t>
            </a:r>
            <a:r>
              <a:rPr lang="en-IE" sz="2400" dirty="0" smtClean="0"/>
              <a:t>all files </a:t>
            </a:r>
            <a:r>
              <a:rPr lang="en-IE" sz="2400" dirty="0"/>
              <a:t>that are available to the public might be in </a:t>
            </a:r>
            <a:r>
              <a:rPr lang="en-IE" sz="2400" i="1" dirty="0">
                <a:solidFill>
                  <a:schemeClr val="tx2"/>
                </a:solidFill>
              </a:rPr>
              <a:t>/</a:t>
            </a:r>
            <a:r>
              <a:rPr lang="en-IE" sz="2400" i="1" dirty="0" err="1">
                <a:solidFill>
                  <a:schemeClr val="tx2"/>
                </a:solidFill>
              </a:rPr>
              <a:t>var</a:t>
            </a:r>
            <a:r>
              <a:rPr lang="en-IE" sz="2400" i="1" dirty="0">
                <a:solidFill>
                  <a:schemeClr val="tx2"/>
                </a:solidFill>
              </a:rPr>
              <a:t>/public/html</a:t>
            </a:r>
            <a:r>
              <a:rPr lang="en-IE" sz="2400" dirty="0"/>
              <a:t>, but to somebody </a:t>
            </a:r>
            <a:r>
              <a:rPr lang="en-IE" sz="2400" dirty="0" smtClean="0"/>
              <a:t>connecting from </a:t>
            </a:r>
            <a:r>
              <a:rPr lang="en-IE" sz="2400" dirty="0"/>
              <a:t>a remote machine, this directory looks like the root of the filesystem.</a:t>
            </a:r>
          </a:p>
          <a:p>
            <a:r>
              <a:rPr lang="en-IE" sz="2400" dirty="0"/>
              <a:t>The </a:t>
            </a:r>
            <a:r>
              <a:rPr lang="en-IE" sz="2400" i="1" dirty="0"/>
              <a:t>query </a:t>
            </a:r>
            <a:r>
              <a:rPr lang="en-IE" sz="2400" dirty="0"/>
              <a:t>string provides additional arguments for the server. It’s commonly used </a:t>
            </a:r>
            <a:r>
              <a:rPr lang="en-IE" sz="2400" dirty="0" smtClean="0"/>
              <a:t>only in </a:t>
            </a:r>
            <a:r>
              <a:rPr lang="en-IE" sz="2400" i="1" dirty="0"/>
              <a:t>http </a:t>
            </a:r>
            <a:r>
              <a:rPr lang="en-IE" sz="2400" dirty="0"/>
              <a:t>URLs, where it contains form data for input to programs running on the server</a:t>
            </a:r>
            <a:endParaRPr lang="en-IE" sz="2400" dirty="0" smtClean="0"/>
          </a:p>
        </p:txBody>
      </p:sp>
    </p:spTree>
    <p:extLst>
      <p:ext uri="{BB962C8B-B14F-4D97-AF65-F5344CB8AC3E}">
        <p14:creationId xmlns:p14="http://schemas.microsoft.com/office/powerpoint/2010/main" val="363421307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fontScale="90000"/>
          </a:bodyPr>
          <a:lstStyle/>
          <a:p>
            <a:r>
              <a:rPr lang="en-US" dirty="0" smtClean="0"/>
              <a:t>URL Syntax</a:t>
            </a:r>
            <a:endParaRPr lang="en-IE" dirty="0"/>
          </a:p>
        </p:txBody>
      </p:sp>
      <p:sp>
        <p:nvSpPr>
          <p:cNvPr id="3" name="Content Placeholder 2"/>
          <p:cNvSpPr>
            <a:spLocks noGrp="1"/>
          </p:cNvSpPr>
          <p:nvPr>
            <p:ph idx="1"/>
          </p:nvPr>
        </p:nvSpPr>
        <p:spPr>
          <a:xfrm>
            <a:off x="0" y="609600"/>
            <a:ext cx="9144000" cy="6248400"/>
          </a:xfrm>
        </p:spPr>
        <p:txBody>
          <a:bodyPr>
            <a:noAutofit/>
          </a:bodyPr>
          <a:lstStyle/>
          <a:p>
            <a:r>
              <a:rPr lang="en-IE" sz="2400" dirty="0"/>
              <a:t>Finally, the </a:t>
            </a:r>
            <a:r>
              <a:rPr lang="en-IE" sz="2400" i="1" dirty="0">
                <a:solidFill>
                  <a:schemeClr val="tx2"/>
                </a:solidFill>
              </a:rPr>
              <a:t>fragment</a:t>
            </a:r>
            <a:r>
              <a:rPr lang="en-IE" sz="2400" i="1" dirty="0"/>
              <a:t> </a:t>
            </a:r>
            <a:r>
              <a:rPr lang="en-IE" sz="2400" dirty="0"/>
              <a:t>references a particular part of the remote resource. </a:t>
            </a:r>
            <a:endParaRPr lang="en-IE" sz="2400" dirty="0" smtClean="0"/>
          </a:p>
          <a:p>
            <a:r>
              <a:rPr lang="en-IE" sz="2400" dirty="0" smtClean="0"/>
              <a:t>If </a:t>
            </a:r>
            <a:r>
              <a:rPr lang="en-IE" sz="2400" dirty="0"/>
              <a:t>the </a:t>
            </a:r>
            <a:r>
              <a:rPr lang="en-IE" sz="2400" dirty="0" smtClean="0"/>
              <a:t>remote resource </a:t>
            </a:r>
            <a:r>
              <a:rPr lang="en-IE" sz="2400" dirty="0"/>
              <a:t>is HTML, the </a:t>
            </a:r>
            <a:r>
              <a:rPr lang="en-IE" sz="2400" dirty="0">
                <a:solidFill>
                  <a:schemeClr val="tx2"/>
                </a:solidFill>
              </a:rPr>
              <a:t>fragment identifier names an anchor in the HTML document</a:t>
            </a:r>
            <a:r>
              <a:rPr lang="en-IE" sz="2400" dirty="0" smtClean="0"/>
              <a:t>.</a:t>
            </a:r>
          </a:p>
          <a:p>
            <a:r>
              <a:rPr lang="en-IE" sz="2400" dirty="0"/>
              <a:t>If the remote resource is </a:t>
            </a:r>
            <a:r>
              <a:rPr lang="en-IE" sz="2400" dirty="0">
                <a:solidFill>
                  <a:schemeClr val="tx2"/>
                </a:solidFill>
              </a:rPr>
              <a:t>XML</a:t>
            </a:r>
            <a:r>
              <a:rPr lang="en-IE" sz="2400" dirty="0"/>
              <a:t>, the fragment identifier is an </a:t>
            </a:r>
            <a:r>
              <a:rPr lang="en-IE" sz="2400" dirty="0">
                <a:solidFill>
                  <a:schemeClr val="tx2"/>
                </a:solidFill>
              </a:rPr>
              <a:t>XPointer</a:t>
            </a:r>
            <a:r>
              <a:rPr lang="en-IE" sz="2400" dirty="0"/>
              <a:t>. </a:t>
            </a:r>
            <a:endParaRPr lang="en-IE" sz="2400" dirty="0" smtClean="0"/>
          </a:p>
          <a:p>
            <a:r>
              <a:rPr lang="en-IE" sz="2400" dirty="0" smtClean="0"/>
              <a:t>Fragment </a:t>
            </a:r>
            <a:r>
              <a:rPr lang="en-IE" sz="2400" dirty="0"/>
              <a:t>identifier targets are created in an </a:t>
            </a:r>
            <a:r>
              <a:rPr lang="en-IE" sz="2400" dirty="0" smtClean="0"/>
              <a:t>HTML document </a:t>
            </a:r>
            <a:r>
              <a:rPr lang="en-IE" sz="2400" dirty="0"/>
              <a:t>with an </a:t>
            </a:r>
            <a:r>
              <a:rPr lang="en-IE" sz="2400" i="1" dirty="0"/>
              <a:t>id </a:t>
            </a:r>
            <a:r>
              <a:rPr lang="en-IE" sz="2400" dirty="0"/>
              <a:t>attribute, like this</a:t>
            </a:r>
            <a:r>
              <a:rPr lang="en-IE" sz="2400" dirty="0" smtClean="0"/>
              <a:t>: </a:t>
            </a:r>
            <a:endParaRPr lang="en-IE" sz="2400" dirty="0"/>
          </a:p>
          <a:p>
            <a:r>
              <a:rPr lang="pt-BR" sz="2400" dirty="0"/>
              <a:t>&lt;h3 </a:t>
            </a:r>
            <a:r>
              <a:rPr lang="pt-BR" sz="2400" dirty="0">
                <a:solidFill>
                  <a:schemeClr val="tx2"/>
                </a:solidFill>
              </a:rPr>
              <a:t>id="xtocid1902914</a:t>
            </a:r>
            <a:r>
              <a:rPr lang="pt-BR" sz="2400" dirty="0"/>
              <a:t>"&gt;Comments&lt;/h3&gt;</a:t>
            </a:r>
          </a:p>
          <a:p>
            <a:r>
              <a:rPr lang="en-IE" sz="2400" dirty="0"/>
              <a:t>This tag identifies a particular point in a document. </a:t>
            </a:r>
            <a:endParaRPr lang="en-IE" sz="2400" dirty="0" smtClean="0"/>
          </a:p>
          <a:p>
            <a:r>
              <a:rPr lang="en-IE" sz="2400" dirty="0" smtClean="0"/>
              <a:t>To </a:t>
            </a:r>
            <a:r>
              <a:rPr lang="en-IE" sz="2400" dirty="0"/>
              <a:t>refer to this point, a URL </a:t>
            </a:r>
            <a:r>
              <a:rPr lang="en-IE" sz="2400" dirty="0" smtClean="0"/>
              <a:t>includes not </a:t>
            </a:r>
            <a:r>
              <a:rPr lang="en-IE" sz="2400" dirty="0"/>
              <a:t>only the document’s filename but the fragment identifier separated from the rest </a:t>
            </a:r>
            <a:r>
              <a:rPr lang="en-IE" sz="2400" dirty="0" smtClean="0"/>
              <a:t>of the </a:t>
            </a:r>
            <a:r>
              <a:rPr lang="en-IE" sz="2400" dirty="0"/>
              <a:t>URL by a #:</a:t>
            </a:r>
          </a:p>
          <a:p>
            <a:pPr lvl="1"/>
            <a:r>
              <a:rPr lang="en-IE" sz="2000" dirty="0"/>
              <a:t>http://www.cafeaulait.org/javafaq.html</a:t>
            </a:r>
            <a:r>
              <a:rPr lang="en-IE" sz="2000" dirty="0">
                <a:solidFill>
                  <a:schemeClr val="tx2"/>
                </a:solidFill>
              </a:rPr>
              <a:t>#xtocid1902914</a:t>
            </a:r>
            <a:endParaRPr lang="en-IE" sz="2000" dirty="0" smtClean="0">
              <a:solidFill>
                <a:schemeClr val="tx2"/>
              </a:solidFill>
            </a:endParaRPr>
          </a:p>
        </p:txBody>
      </p:sp>
    </p:spTree>
    <p:extLst>
      <p:ext uri="{BB962C8B-B14F-4D97-AF65-F5344CB8AC3E}">
        <p14:creationId xmlns:p14="http://schemas.microsoft.com/office/powerpoint/2010/main" val="132586571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fontScale="90000"/>
          </a:bodyPr>
          <a:lstStyle/>
          <a:p>
            <a:r>
              <a:rPr lang="en-US" dirty="0" smtClean="0"/>
              <a:t>Relative URL</a:t>
            </a:r>
            <a:endParaRPr lang="en-IE" dirty="0"/>
          </a:p>
        </p:txBody>
      </p:sp>
      <p:sp>
        <p:nvSpPr>
          <p:cNvPr id="3" name="Content Placeholder 2"/>
          <p:cNvSpPr>
            <a:spLocks noGrp="1"/>
          </p:cNvSpPr>
          <p:nvPr>
            <p:ph idx="1"/>
          </p:nvPr>
        </p:nvSpPr>
        <p:spPr>
          <a:xfrm>
            <a:off x="0" y="609600"/>
            <a:ext cx="9144000" cy="6248400"/>
          </a:xfrm>
        </p:spPr>
        <p:txBody>
          <a:bodyPr>
            <a:noAutofit/>
          </a:bodyPr>
          <a:lstStyle/>
          <a:p>
            <a:r>
              <a:rPr lang="en-IE" sz="2000" dirty="0"/>
              <a:t>A URL tells a web browser a lot about a document: the protocol used to retrieve </a:t>
            </a:r>
            <a:r>
              <a:rPr lang="en-IE" sz="2000" dirty="0" smtClean="0"/>
              <a:t>the document</a:t>
            </a:r>
            <a:r>
              <a:rPr lang="en-IE" sz="2000" dirty="0"/>
              <a:t>, the host where the document lives, and the path to the document on </a:t>
            </a:r>
            <a:r>
              <a:rPr lang="en-IE" sz="2000" dirty="0" smtClean="0"/>
              <a:t>that host</a:t>
            </a:r>
            <a:r>
              <a:rPr lang="en-IE" sz="2000" dirty="0"/>
              <a:t>. </a:t>
            </a:r>
            <a:endParaRPr lang="en-IE" sz="2000" dirty="0" smtClean="0"/>
          </a:p>
          <a:p>
            <a:r>
              <a:rPr lang="en-IE" sz="2000" dirty="0" smtClean="0"/>
              <a:t>Most </a:t>
            </a:r>
            <a:r>
              <a:rPr lang="en-IE" sz="2000" dirty="0"/>
              <a:t>of this information is likely to be the same for other URLs that are </a:t>
            </a:r>
            <a:r>
              <a:rPr lang="en-IE" sz="2000" dirty="0" smtClean="0"/>
              <a:t>referenced in </a:t>
            </a:r>
            <a:r>
              <a:rPr lang="en-IE" sz="2000" dirty="0"/>
              <a:t>the document. Therefore, rather than requiring each URL to be specified in its entirety</a:t>
            </a:r>
            <a:r>
              <a:rPr lang="en-IE" sz="2000" dirty="0" smtClean="0"/>
              <a:t>, a </a:t>
            </a:r>
            <a:r>
              <a:rPr lang="en-IE" sz="2000" dirty="0"/>
              <a:t>URL may inherit the protocol, hostname, and path of its parent document (i.e</a:t>
            </a:r>
            <a:r>
              <a:rPr lang="en-IE" sz="2000" dirty="0" smtClean="0"/>
              <a:t>., the </a:t>
            </a:r>
            <a:r>
              <a:rPr lang="en-IE" sz="2000" dirty="0"/>
              <a:t>document in which it appears). </a:t>
            </a:r>
            <a:endParaRPr lang="en-IE" sz="2000" dirty="0" smtClean="0"/>
          </a:p>
          <a:p>
            <a:r>
              <a:rPr lang="en-IE" sz="2000" dirty="0" smtClean="0">
                <a:solidFill>
                  <a:schemeClr val="tx2"/>
                </a:solidFill>
              </a:rPr>
              <a:t>URLs </a:t>
            </a:r>
            <a:r>
              <a:rPr lang="en-IE" sz="2000" dirty="0">
                <a:solidFill>
                  <a:schemeClr val="tx2"/>
                </a:solidFill>
              </a:rPr>
              <a:t>that aren’t complete but inherit pieces </a:t>
            </a:r>
            <a:r>
              <a:rPr lang="en-IE" sz="2000" dirty="0" smtClean="0">
                <a:solidFill>
                  <a:schemeClr val="tx2"/>
                </a:solidFill>
              </a:rPr>
              <a:t>from their </a:t>
            </a:r>
            <a:r>
              <a:rPr lang="en-IE" sz="2000" dirty="0">
                <a:solidFill>
                  <a:schemeClr val="tx2"/>
                </a:solidFill>
              </a:rPr>
              <a:t>parent are called </a:t>
            </a:r>
            <a:r>
              <a:rPr lang="en-IE" sz="2000" i="1" dirty="0">
                <a:solidFill>
                  <a:schemeClr val="tx2"/>
                </a:solidFill>
              </a:rPr>
              <a:t>relative </a:t>
            </a:r>
            <a:r>
              <a:rPr lang="en-IE" sz="2000" dirty="0">
                <a:solidFill>
                  <a:schemeClr val="tx2"/>
                </a:solidFill>
              </a:rPr>
              <a:t>URLs. </a:t>
            </a:r>
            <a:endParaRPr lang="en-IE" sz="2000" dirty="0" smtClean="0">
              <a:solidFill>
                <a:schemeClr val="tx2"/>
              </a:solidFill>
            </a:endParaRPr>
          </a:p>
          <a:p>
            <a:r>
              <a:rPr lang="en-IE" sz="2000" dirty="0" smtClean="0"/>
              <a:t>In </a:t>
            </a:r>
            <a:r>
              <a:rPr lang="en-IE" sz="2000" dirty="0"/>
              <a:t>contrast, a completely specified URL is </a:t>
            </a:r>
            <a:r>
              <a:rPr lang="en-IE" sz="2000" dirty="0" smtClean="0"/>
              <a:t>called an </a:t>
            </a:r>
            <a:r>
              <a:rPr lang="en-IE" sz="2000" i="1" dirty="0"/>
              <a:t>absolute URL</a:t>
            </a:r>
            <a:r>
              <a:rPr lang="en-IE" sz="2000" dirty="0"/>
              <a:t>. In a relative URL, any pieces that are missing are assumed to be </a:t>
            </a:r>
            <a:r>
              <a:rPr lang="en-IE" sz="2000" dirty="0" smtClean="0"/>
              <a:t>the same </a:t>
            </a:r>
            <a:r>
              <a:rPr lang="en-IE" sz="2000" dirty="0"/>
              <a:t>as the corresponding pieces from the URL of the document in which the URL </a:t>
            </a:r>
            <a:r>
              <a:rPr lang="en-IE" sz="2000" dirty="0" smtClean="0"/>
              <a:t>is found</a:t>
            </a:r>
            <a:r>
              <a:rPr lang="en-IE" sz="2000" dirty="0"/>
              <a:t>. </a:t>
            </a:r>
            <a:endParaRPr lang="en-IE" sz="2000" dirty="0" smtClean="0"/>
          </a:p>
          <a:p>
            <a:r>
              <a:rPr lang="en-IE" sz="2000" dirty="0" smtClean="0"/>
              <a:t>For </a:t>
            </a:r>
            <a:r>
              <a:rPr lang="en-IE" sz="2000" dirty="0"/>
              <a:t>example, suppose that while </a:t>
            </a:r>
            <a:r>
              <a:rPr lang="en-IE" sz="2000" dirty="0" smtClean="0"/>
              <a:t>browsing </a:t>
            </a:r>
            <a:r>
              <a:rPr lang="en-IE" sz="2000" i="1" dirty="0" smtClean="0">
                <a:solidFill>
                  <a:schemeClr val="tx2"/>
                </a:solidFill>
              </a:rPr>
              <a:t>http</a:t>
            </a:r>
            <a:r>
              <a:rPr lang="en-IE" sz="2000" i="1" dirty="0">
                <a:solidFill>
                  <a:schemeClr val="tx2"/>
                </a:solidFill>
              </a:rPr>
              <a:t>://</a:t>
            </a:r>
            <a:r>
              <a:rPr lang="en-IE" sz="2000" i="1" dirty="0" smtClean="0">
                <a:solidFill>
                  <a:schemeClr val="tx2"/>
                </a:solidFill>
              </a:rPr>
              <a:t>www.ibiblio.org/javafaq/javatutorial.html </a:t>
            </a:r>
            <a:r>
              <a:rPr lang="en-IE" sz="2000" dirty="0"/>
              <a:t>you click on this hyperlink:</a:t>
            </a:r>
          </a:p>
          <a:p>
            <a:r>
              <a:rPr lang="en-IE" sz="2000" dirty="0">
                <a:solidFill>
                  <a:schemeClr val="tx2"/>
                </a:solidFill>
              </a:rPr>
              <a:t>&lt;a </a:t>
            </a:r>
            <a:r>
              <a:rPr lang="en-IE" sz="2000" dirty="0" err="1">
                <a:solidFill>
                  <a:schemeClr val="tx2"/>
                </a:solidFill>
              </a:rPr>
              <a:t>href</a:t>
            </a:r>
            <a:r>
              <a:rPr lang="en-IE" sz="2000" dirty="0">
                <a:solidFill>
                  <a:schemeClr val="tx2"/>
                </a:solidFill>
              </a:rPr>
              <a:t>="javafaq.html"&gt;</a:t>
            </a:r>
          </a:p>
          <a:p>
            <a:r>
              <a:rPr lang="en-IE" sz="2000" dirty="0"/>
              <a:t>The browser cuts </a:t>
            </a:r>
            <a:r>
              <a:rPr lang="en-IE" sz="2000" i="1" dirty="0"/>
              <a:t>javatutorial.html </a:t>
            </a:r>
            <a:r>
              <a:rPr lang="en-IE" sz="2000" dirty="0"/>
              <a:t>off the end of </a:t>
            </a:r>
            <a:r>
              <a:rPr lang="en-IE" sz="2000" i="1" dirty="0"/>
              <a:t>http://</a:t>
            </a:r>
            <a:r>
              <a:rPr lang="en-IE" sz="2000" i="1" dirty="0" smtClean="0"/>
              <a:t>www.ibiblio.org/javafaq/javatutorial.html </a:t>
            </a:r>
            <a:r>
              <a:rPr lang="en-IE" sz="2000" dirty="0"/>
              <a:t>to get </a:t>
            </a:r>
            <a:r>
              <a:rPr lang="en-IE" sz="2000" i="1" dirty="0"/>
              <a:t>http://www.ibiblio.org/javafaq/</a:t>
            </a:r>
            <a:r>
              <a:rPr lang="en-IE" sz="2000" dirty="0"/>
              <a:t>. Then it attaches </a:t>
            </a:r>
            <a:r>
              <a:rPr lang="en-IE" sz="2000" i="1" dirty="0"/>
              <a:t>javafaq.html </a:t>
            </a:r>
            <a:r>
              <a:rPr lang="en-IE" sz="2000" dirty="0" smtClean="0"/>
              <a:t>onto the end</a:t>
            </a:r>
            <a:r>
              <a:rPr lang="en-IE" sz="2000" i="1" dirty="0" smtClean="0"/>
              <a:t> </a:t>
            </a:r>
            <a:r>
              <a:rPr lang="en-IE" sz="2000" dirty="0"/>
              <a:t>to get </a:t>
            </a:r>
            <a:r>
              <a:rPr lang="en-IE" sz="2000" i="1" dirty="0"/>
              <a:t>http://</a:t>
            </a:r>
            <a:r>
              <a:rPr lang="en-IE" sz="2000" i="1" dirty="0" smtClean="0"/>
              <a:t>www.ibiblio.org/javafaq/javafaq.html</a:t>
            </a:r>
            <a:r>
              <a:rPr lang="en-IE" sz="2000" dirty="0"/>
              <a:t>. </a:t>
            </a:r>
            <a:endParaRPr lang="en-IE" sz="2000" dirty="0" smtClean="0"/>
          </a:p>
        </p:txBody>
      </p:sp>
    </p:spTree>
    <p:extLst>
      <p:ext uri="{BB962C8B-B14F-4D97-AF65-F5344CB8AC3E}">
        <p14:creationId xmlns:p14="http://schemas.microsoft.com/office/powerpoint/2010/main" val="3477280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fontScale="90000"/>
          </a:bodyPr>
          <a:lstStyle/>
          <a:p>
            <a:r>
              <a:rPr lang="en-US" dirty="0" smtClean="0"/>
              <a:t>URL Class</a:t>
            </a:r>
            <a:endParaRPr lang="en-IE" dirty="0"/>
          </a:p>
        </p:txBody>
      </p:sp>
      <p:sp>
        <p:nvSpPr>
          <p:cNvPr id="3" name="Content Placeholder 2"/>
          <p:cNvSpPr>
            <a:spLocks noGrp="1"/>
          </p:cNvSpPr>
          <p:nvPr>
            <p:ph idx="1"/>
          </p:nvPr>
        </p:nvSpPr>
        <p:spPr>
          <a:xfrm>
            <a:off x="0" y="609600"/>
            <a:ext cx="9144000" cy="6248400"/>
          </a:xfrm>
        </p:spPr>
        <p:txBody>
          <a:bodyPr>
            <a:noAutofit/>
          </a:bodyPr>
          <a:lstStyle/>
          <a:p>
            <a:r>
              <a:rPr lang="en-IE" sz="2000" dirty="0"/>
              <a:t>The j</a:t>
            </a:r>
            <a:r>
              <a:rPr lang="en-IE" sz="2000" dirty="0">
                <a:solidFill>
                  <a:schemeClr val="tx2"/>
                </a:solidFill>
              </a:rPr>
              <a:t>ava.net.URL</a:t>
            </a:r>
            <a:r>
              <a:rPr lang="en-IE" sz="2000" dirty="0"/>
              <a:t> class is an abstraction of a Uniform Resource Locator such as </a:t>
            </a:r>
            <a:r>
              <a:rPr lang="en-IE" sz="2000" i="1" dirty="0">
                <a:solidFill>
                  <a:srgbClr val="FF9900"/>
                </a:solidFill>
              </a:rPr>
              <a:t>http</a:t>
            </a:r>
            <a:r>
              <a:rPr lang="en-IE" sz="2000" i="1" dirty="0" smtClean="0">
                <a:solidFill>
                  <a:srgbClr val="FF9900"/>
                </a:solidFill>
              </a:rPr>
              <a:t>://www.lolcats.com</a:t>
            </a:r>
            <a:r>
              <a:rPr lang="en-IE" sz="2000" i="1" dirty="0">
                <a:solidFill>
                  <a:srgbClr val="FF9900"/>
                </a:solidFill>
              </a:rPr>
              <a:t>/</a:t>
            </a:r>
            <a:r>
              <a:rPr lang="en-IE" sz="2000" i="1" dirty="0"/>
              <a:t> </a:t>
            </a:r>
            <a:r>
              <a:rPr lang="en-IE" sz="2000" dirty="0"/>
              <a:t>or </a:t>
            </a:r>
            <a:r>
              <a:rPr lang="en-IE" sz="2000" i="1" dirty="0">
                <a:solidFill>
                  <a:srgbClr val="FF9900"/>
                </a:solidFill>
              </a:rPr>
              <a:t>ftp://ftp.redhat.com/pub</a:t>
            </a:r>
            <a:r>
              <a:rPr lang="en-IE" sz="2000" i="1" dirty="0"/>
              <a:t>/</a:t>
            </a:r>
            <a:r>
              <a:rPr lang="en-IE" sz="2000" dirty="0"/>
              <a:t>. </a:t>
            </a:r>
            <a:endParaRPr lang="en-IE" sz="2000" dirty="0" smtClean="0"/>
          </a:p>
          <a:p>
            <a:r>
              <a:rPr lang="en-IE" sz="2000" dirty="0" smtClean="0"/>
              <a:t>It </a:t>
            </a:r>
            <a:r>
              <a:rPr lang="en-IE" sz="2000" dirty="0"/>
              <a:t>extends </a:t>
            </a:r>
            <a:r>
              <a:rPr lang="en-IE" sz="2000" dirty="0" err="1">
                <a:solidFill>
                  <a:schemeClr val="tx2"/>
                </a:solidFill>
              </a:rPr>
              <a:t>java.lang.Object</a:t>
            </a:r>
            <a:r>
              <a:rPr lang="en-IE" sz="2000" dirty="0"/>
              <a:t>, and it is </a:t>
            </a:r>
            <a:r>
              <a:rPr lang="en-IE" sz="2000" dirty="0" smtClean="0"/>
              <a:t>a </a:t>
            </a:r>
            <a:r>
              <a:rPr lang="en-IE" sz="2000" dirty="0" smtClean="0">
                <a:solidFill>
                  <a:schemeClr val="tx2"/>
                </a:solidFill>
              </a:rPr>
              <a:t>final </a:t>
            </a:r>
            <a:r>
              <a:rPr lang="en-IE" sz="2000" dirty="0">
                <a:solidFill>
                  <a:schemeClr val="tx2"/>
                </a:solidFill>
              </a:rPr>
              <a:t>class that cannot be </a:t>
            </a:r>
            <a:r>
              <a:rPr lang="en-IE" sz="2000" dirty="0" err="1">
                <a:solidFill>
                  <a:schemeClr val="tx2"/>
                </a:solidFill>
              </a:rPr>
              <a:t>subclassed</a:t>
            </a:r>
            <a:r>
              <a:rPr lang="en-IE" sz="2000" dirty="0"/>
              <a:t>. Rather than relying on inheritance to </a:t>
            </a:r>
            <a:r>
              <a:rPr lang="en-IE" sz="2000" dirty="0" smtClean="0"/>
              <a:t>configure instances </a:t>
            </a:r>
            <a:r>
              <a:rPr lang="en-IE" sz="2000" dirty="0"/>
              <a:t>for different kinds of URLs, it uses the </a:t>
            </a:r>
            <a:r>
              <a:rPr lang="en-IE" sz="2000" dirty="0">
                <a:solidFill>
                  <a:schemeClr val="tx2"/>
                </a:solidFill>
              </a:rPr>
              <a:t>strategy design pattern</a:t>
            </a:r>
            <a:r>
              <a:rPr lang="en-IE" sz="2000" dirty="0"/>
              <a:t>. </a:t>
            </a:r>
            <a:endParaRPr lang="en-IE" sz="2000" dirty="0" smtClean="0"/>
          </a:p>
          <a:p>
            <a:r>
              <a:rPr lang="en-IE" sz="2000" dirty="0" smtClean="0">
                <a:solidFill>
                  <a:schemeClr val="tx2"/>
                </a:solidFill>
              </a:rPr>
              <a:t>Protocol handlers are </a:t>
            </a:r>
            <a:r>
              <a:rPr lang="en-IE" sz="2000" dirty="0">
                <a:solidFill>
                  <a:schemeClr val="tx2"/>
                </a:solidFill>
              </a:rPr>
              <a:t>the strategies</a:t>
            </a:r>
            <a:r>
              <a:rPr lang="en-IE" sz="2000" dirty="0"/>
              <a:t>, and the </a:t>
            </a:r>
            <a:r>
              <a:rPr lang="en-IE" sz="2000" dirty="0">
                <a:solidFill>
                  <a:schemeClr val="tx2"/>
                </a:solidFill>
              </a:rPr>
              <a:t>URL class itself forms the context through which </a:t>
            </a:r>
            <a:r>
              <a:rPr lang="en-IE" sz="2000" dirty="0" smtClean="0">
                <a:solidFill>
                  <a:schemeClr val="tx2"/>
                </a:solidFill>
              </a:rPr>
              <a:t>the different </a:t>
            </a:r>
            <a:r>
              <a:rPr lang="en-IE" sz="2000" dirty="0">
                <a:solidFill>
                  <a:schemeClr val="tx2"/>
                </a:solidFill>
              </a:rPr>
              <a:t>strategies are selected</a:t>
            </a:r>
            <a:r>
              <a:rPr lang="en-IE" sz="2000" dirty="0"/>
              <a:t>.</a:t>
            </a:r>
          </a:p>
          <a:p>
            <a:r>
              <a:rPr lang="en-IE" sz="2000" dirty="0"/>
              <a:t>Although storing a URL as a string would be trivial, it is helpful to think of URLs </a:t>
            </a:r>
            <a:r>
              <a:rPr lang="en-IE" sz="2000" dirty="0" smtClean="0"/>
              <a:t>as objects </a:t>
            </a:r>
            <a:r>
              <a:rPr lang="en-IE" sz="2000" dirty="0"/>
              <a:t>with fields that include the scheme (a.k.a. the protocol), hostname, port, path</a:t>
            </a:r>
            <a:r>
              <a:rPr lang="en-IE" sz="2000" dirty="0" smtClean="0"/>
              <a:t>, query </a:t>
            </a:r>
            <a:r>
              <a:rPr lang="en-IE" sz="2000" dirty="0"/>
              <a:t>string, and fragment identifier (a.k.a. the ref), each of which may be set independently</a:t>
            </a:r>
            <a:r>
              <a:rPr lang="en-IE" sz="2000" dirty="0" smtClean="0"/>
              <a:t>. </a:t>
            </a:r>
            <a:endParaRPr lang="en-IE" sz="2000" dirty="0"/>
          </a:p>
          <a:p>
            <a:r>
              <a:rPr lang="en-IE" sz="2000" dirty="0"/>
              <a:t>Indeed, this is almost exactly how the java.net.URL class is organized</a:t>
            </a:r>
            <a:r>
              <a:rPr lang="en-IE" sz="2000" dirty="0" smtClean="0"/>
              <a:t>, though </a:t>
            </a:r>
            <a:r>
              <a:rPr lang="en-IE" sz="2000" dirty="0"/>
              <a:t>the details vary a little between different versions of Java</a:t>
            </a:r>
            <a:r>
              <a:rPr lang="en-IE" sz="2000" dirty="0" smtClean="0"/>
              <a:t>. </a:t>
            </a:r>
            <a:endParaRPr lang="en-IE" sz="2000" dirty="0"/>
          </a:p>
          <a:p>
            <a:r>
              <a:rPr lang="en-IE" sz="2000" dirty="0">
                <a:solidFill>
                  <a:schemeClr val="tx2"/>
                </a:solidFill>
              </a:rPr>
              <a:t>URLs are immutable</a:t>
            </a:r>
            <a:r>
              <a:rPr lang="en-IE" sz="2000" dirty="0"/>
              <a:t>. After a URL object has been constructed, its fields do not change</a:t>
            </a:r>
            <a:r>
              <a:rPr lang="en-IE" sz="2000" dirty="0" smtClean="0"/>
              <a:t>. </a:t>
            </a:r>
            <a:endParaRPr lang="en-IE" sz="2000" dirty="0"/>
          </a:p>
          <a:p>
            <a:r>
              <a:rPr lang="en-IE" sz="2000" dirty="0"/>
              <a:t>This has the side effect of making them thread safe.</a:t>
            </a:r>
            <a:endParaRPr lang="en-IE" sz="2000" dirty="0" smtClean="0"/>
          </a:p>
        </p:txBody>
      </p:sp>
    </p:spTree>
    <p:extLst>
      <p:ext uri="{BB962C8B-B14F-4D97-AF65-F5344CB8AC3E}">
        <p14:creationId xmlns:p14="http://schemas.microsoft.com/office/powerpoint/2010/main" val="56726347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fontScale="90000"/>
          </a:bodyPr>
          <a:lstStyle/>
          <a:p>
            <a:r>
              <a:rPr lang="en-US" dirty="0" smtClean="0"/>
              <a:t>Creating new URLs</a:t>
            </a:r>
            <a:endParaRPr lang="en-IE" dirty="0"/>
          </a:p>
        </p:txBody>
      </p:sp>
      <p:sp>
        <p:nvSpPr>
          <p:cNvPr id="3" name="Content Placeholder 2"/>
          <p:cNvSpPr>
            <a:spLocks noGrp="1"/>
          </p:cNvSpPr>
          <p:nvPr>
            <p:ph idx="1"/>
          </p:nvPr>
        </p:nvSpPr>
        <p:spPr>
          <a:xfrm>
            <a:off x="0" y="609600"/>
            <a:ext cx="9144000" cy="6248400"/>
          </a:xfrm>
        </p:spPr>
        <p:txBody>
          <a:bodyPr>
            <a:noAutofit/>
          </a:bodyPr>
          <a:lstStyle/>
          <a:p>
            <a:r>
              <a:rPr lang="en-US" sz="2000" b="1" smtClean="0">
                <a:latin typeface="UbuntuMono-Bold"/>
              </a:rPr>
              <a:t>Constructors</a:t>
            </a:r>
            <a:endParaRPr lang="en-IE" sz="2000" b="1" dirty="0" smtClean="0">
              <a:latin typeface="UbuntuMono-Bold"/>
            </a:endParaRPr>
          </a:p>
          <a:p>
            <a:r>
              <a:rPr lang="en-IE" sz="2000" b="1" dirty="0" smtClean="0">
                <a:solidFill>
                  <a:srgbClr val="00669A"/>
                </a:solidFill>
                <a:latin typeface="UbuntuMono-Bold"/>
              </a:rPr>
              <a:t>public </a:t>
            </a:r>
            <a:r>
              <a:rPr lang="en-IE" sz="2000" dirty="0">
                <a:solidFill>
                  <a:srgbClr val="CD00FF"/>
                </a:solidFill>
                <a:latin typeface="UbuntuMono-Regular"/>
              </a:rPr>
              <a:t>URL</a:t>
            </a:r>
            <a:r>
              <a:rPr lang="en-IE" sz="2000" dirty="0">
                <a:solidFill>
                  <a:srgbClr val="555555"/>
                </a:solidFill>
                <a:latin typeface="UbuntuMono-Regular"/>
              </a:rPr>
              <a:t>(</a:t>
            </a:r>
            <a:r>
              <a:rPr lang="en-IE" sz="2000" dirty="0">
                <a:solidFill>
                  <a:srgbClr val="000089"/>
                </a:solidFill>
                <a:latin typeface="UbuntuMono-Regular"/>
              </a:rPr>
              <a:t>String </a:t>
            </a:r>
            <a:r>
              <a:rPr lang="en-IE" sz="2000" dirty="0" err="1">
                <a:solidFill>
                  <a:srgbClr val="000089"/>
                </a:solidFill>
                <a:latin typeface="UbuntuMono-Regular"/>
              </a:rPr>
              <a:t>url</a:t>
            </a:r>
            <a:r>
              <a:rPr lang="en-IE" sz="2000" dirty="0">
                <a:solidFill>
                  <a:srgbClr val="555555"/>
                </a:solidFill>
                <a:latin typeface="UbuntuMono-Regular"/>
              </a:rPr>
              <a:t>) </a:t>
            </a:r>
            <a:r>
              <a:rPr lang="en-IE" sz="2000" b="1" dirty="0">
                <a:solidFill>
                  <a:srgbClr val="00669A"/>
                </a:solidFill>
                <a:latin typeface="UbuntuMono-Bold"/>
              </a:rPr>
              <a:t>throws </a:t>
            </a:r>
            <a:r>
              <a:rPr lang="en-IE" sz="2000" dirty="0" err="1">
                <a:solidFill>
                  <a:srgbClr val="000089"/>
                </a:solidFill>
                <a:latin typeface="UbuntuMono-Regular"/>
              </a:rPr>
              <a:t>MalformedURLException</a:t>
            </a:r>
            <a:endParaRPr lang="en-IE" sz="2000" dirty="0">
              <a:solidFill>
                <a:srgbClr val="000089"/>
              </a:solidFill>
              <a:latin typeface="UbuntuMono-Regular"/>
            </a:endParaRPr>
          </a:p>
          <a:p>
            <a:r>
              <a:rPr lang="en-IE" sz="2000" b="1" dirty="0">
                <a:solidFill>
                  <a:srgbClr val="00669A"/>
                </a:solidFill>
                <a:latin typeface="UbuntuMono-Bold"/>
              </a:rPr>
              <a:t>public </a:t>
            </a:r>
            <a:r>
              <a:rPr lang="en-IE" sz="2000" dirty="0">
                <a:solidFill>
                  <a:srgbClr val="CD00FF"/>
                </a:solidFill>
                <a:latin typeface="UbuntuMono-Regular"/>
              </a:rPr>
              <a:t>URL</a:t>
            </a:r>
            <a:r>
              <a:rPr lang="en-IE" sz="2000" dirty="0">
                <a:solidFill>
                  <a:srgbClr val="555555"/>
                </a:solidFill>
                <a:latin typeface="UbuntuMono-Regular"/>
              </a:rPr>
              <a:t>(</a:t>
            </a:r>
            <a:r>
              <a:rPr lang="en-IE" sz="2000" dirty="0">
                <a:solidFill>
                  <a:srgbClr val="000089"/>
                </a:solidFill>
                <a:latin typeface="UbuntuMono-Regular"/>
              </a:rPr>
              <a:t>String protocol</a:t>
            </a:r>
            <a:r>
              <a:rPr lang="en-IE" sz="2000" dirty="0">
                <a:solidFill>
                  <a:srgbClr val="555555"/>
                </a:solidFill>
                <a:latin typeface="UbuntuMono-Regular"/>
              </a:rPr>
              <a:t>, </a:t>
            </a:r>
            <a:r>
              <a:rPr lang="en-IE" sz="2000" dirty="0">
                <a:solidFill>
                  <a:srgbClr val="000089"/>
                </a:solidFill>
                <a:latin typeface="UbuntuMono-Regular"/>
              </a:rPr>
              <a:t>String hostname</a:t>
            </a:r>
            <a:r>
              <a:rPr lang="en-IE" sz="2000" dirty="0">
                <a:solidFill>
                  <a:srgbClr val="555555"/>
                </a:solidFill>
                <a:latin typeface="UbuntuMono-Regular"/>
              </a:rPr>
              <a:t>, </a:t>
            </a:r>
            <a:r>
              <a:rPr lang="en-IE" sz="2000" dirty="0">
                <a:solidFill>
                  <a:srgbClr val="000089"/>
                </a:solidFill>
                <a:latin typeface="UbuntuMono-Regular"/>
              </a:rPr>
              <a:t>String file</a:t>
            </a:r>
            <a:r>
              <a:rPr lang="en-IE" sz="2000" dirty="0" smtClean="0">
                <a:solidFill>
                  <a:srgbClr val="555555"/>
                </a:solidFill>
                <a:latin typeface="UbuntuMono-Regular"/>
              </a:rPr>
              <a:t>) </a:t>
            </a:r>
            <a:r>
              <a:rPr lang="en-IE" sz="2000" b="1" dirty="0" smtClean="0">
                <a:solidFill>
                  <a:srgbClr val="00669A"/>
                </a:solidFill>
                <a:latin typeface="UbuntuMono-Bold"/>
              </a:rPr>
              <a:t>throws </a:t>
            </a:r>
            <a:r>
              <a:rPr lang="en-IE" sz="2000" dirty="0" err="1">
                <a:solidFill>
                  <a:srgbClr val="000089"/>
                </a:solidFill>
                <a:latin typeface="UbuntuMono-Regular"/>
              </a:rPr>
              <a:t>MalformedURLException</a:t>
            </a:r>
            <a:endParaRPr lang="en-IE" sz="2000" dirty="0">
              <a:solidFill>
                <a:srgbClr val="000089"/>
              </a:solidFill>
              <a:latin typeface="UbuntuMono-Regular"/>
            </a:endParaRPr>
          </a:p>
          <a:p>
            <a:r>
              <a:rPr lang="en-IE" sz="2000" b="1" dirty="0">
                <a:solidFill>
                  <a:srgbClr val="00669A"/>
                </a:solidFill>
                <a:latin typeface="UbuntuMono-Bold"/>
              </a:rPr>
              <a:t>public </a:t>
            </a:r>
            <a:r>
              <a:rPr lang="en-IE" sz="2000" dirty="0">
                <a:solidFill>
                  <a:srgbClr val="CD00FF"/>
                </a:solidFill>
                <a:latin typeface="UbuntuMono-Regular"/>
              </a:rPr>
              <a:t>URL</a:t>
            </a:r>
            <a:r>
              <a:rPr lang="en-IE" sz="2000" dirty="0">
                <a:solidFill>
                  <a:srgbClr val="555555"/>
                </a:solidFill>
                <a:latin typeface="UbuntuMono-Regular"/>
              </a:rPr>
              <a:t>(</a:t>
            </a:r>
            <a:r>
              <a:rPr lang="en-IE" sz="2000" dirty="0">
                <a:solidFill>
                  <a:srgbClr val="000089"/>
                </a:solidFill>
                <a:latin typeface="UbuntuMono-Regular"/>
              </a:rPr>
              <a:t>String protocol</a:t>
            </a:r>
            <a:r>
              <a:rPr lang="en-IE" sz="2000" dirty="0">
                <a:solidFill>
                  <a:srgbClr val="555555"/>
                </a:solidFill>
                <a:latin typeface="UbuntuMono-Regular"/>
              </a:rPr>
              <a:t>, </a:t>
            </a:r>
            <a:r>
              <a:rPr lang="en-IE" sz="2000" dirty="0">
                <a:solidFill>
                  <a:srgbClr val="000089"/>
                </a:solidFill>
                <a:latin typeface="UbuntuMono-Regular"/>
              </a:rPr>
              <a:t>String host</a:t>
            </a:r>
            <a:r>
              <a:rPr lang="en-IE" sz="2000" dirty="0">
                <a:solidFill>
                  <a:srgbClr val="555555"/>
                </a:solidFill>
                <a:latin typeface="UbuntuMono-Regular"/>
              </a:rPr>
              <a:t>, </a:t>
            </a:r>
            <a:r>
              <a:rPr lang="en-IE" sz="2000" b="1" dirty="0" err="1">
                <a:solidFill>
                  <a:srgbClr val="007789"/>
                </a:solidFill>
                <a:latin typeface="UbuntuMono-Bold"/>
              </a:rPr>
              <a:t>int</a:t>
            </a:r>
            <a:r>
              <a:rPr lang="en-IE" sz="2000" b="1" dirty="0">
                <a:solidFill>
                  <a:srgbClr val="007789"/>
                </a:solidFill>
                <a:latin typeface="UbuntuMono-Bold"/>
              </a:rPr>
              <a:t> </a:t>
            </a:r>
            <a:r>
              <a:rPr lang="en-IE" sz="2000" dirty="0">
                <a:solidFill>
                  <a:srgbClr val="000089"/>
                </a:solidFill>
                <a:latin typeface="UbuntuMono-Regular"/>
              </a:rPr>
              <a:t>port</a:t>
            </a:r>
            <a:r>
              <a:rPr lang="en-IE" sz="2000" dirty="0">
                <a:solidFill>
                  <a:srgbClr val="555555"/>
                </a:solidFill>
                <a:latin typeface="UbuntuMono-Regular"/>
              </a:rPr>
              <a:t>, </a:t>
            </a:r>
            <a:r>
              <a:rPr lang="en-IE" sz="2000" dirty="0">
                <a:solidFill>
                  <a:srgbClr val="000089"/>
                </a:solidFill>
                <a:latin typeface="UbuntuMono-Regular"/>
              </a:rPr>
              <a:t>String file</a:t>
            </a:r>
            <a:r>
              <a:rPr lang="en-IE" sz="2000" dirty="0" smtClean="0">
                <a:solidFill>
                  <a:srgbClr val="555555"/>
                </a:solidFill>
                <a:latin typeface="UbuntuMono-Regular"/>
              </a:rPr>
              <a:t>) </a:t>
            </a:r>
            <a:r>
              <a:rPr lang="en-IE" sz="2000" b="1" dirty="0" smtClean="0">
                <a:solidFill>
                  <a:srgbClr val="00669A"/>
                </a:solidFill>
                <a:latin typeface="UbuntuMono-Bold"/>
              </a:rPr>
              <a:t>throws </a:t>
            </a:r>
            <a:r>
              <a:rPr lang="en-IE" sz="2000" dirty="0" err="1">
                <a:solidFill>
                  <a:srgbClr val="000089"/>
                </a:solidFill>
                <a:latin typeface="UbuntuMono-Regular"/>
              </a:rPr>
              <a:t>MalformedURLException</a:t>
            </a:r>
            <a:endParaRPr lang="en-IE" sz="2000" dirty="0">
              <a:solidFill>
                <a:srgbClr val="000089"/>
              </a:solidFill>
              <a:latin typeface="UbuntuMono-Regular"/>
            </a:endParaRPr>
          </a:p>
          <a:p>
            <a:r>
              <a:rPr lang="en-IE" sz="2000" b="1" dirty="0">
                <a:solidFill>
                  <a:srgbClr val="00669A"/>
                </a:solidFill>
                <a:latin typeface="UbuntuMono-Bold"/>
              </a:rPr>
              <a:t>public </a:t>
            </a:r>
            <a:r>
              <a:rPr lang="en-IE" sz="2000" dirty="0">
                <a:solidFill>
                  <a:srgbClr val="CD00FF"/>
                </a:solidFill>
                <a:latin typeface="UbuntuMono-Regular"/>
              </a:rPr>
              <a:t>URL</a:t>
            </a:r>
            <a:r>
              <a:rPr lang="en-IE" sz="2000" dirty="0">
                <a:solidFill>
                  <a:srgbClr val="555555"/>
                </a:solidFill>
                <a:latin typeface="UbuntuMono-Regular"/>
              </a:rPr>
              <a:t>(</a:t>
            </a:r>
            <a:r>
              <a:rPr lang="en-IE" sz="2000" dirty="0">
                <a:solidFill>
                  <a:srgbClr val="000089"/>
                </a:solidFill>
                <a:latin typeface="UbuntuMono-Regular"/>
              </a:rPr>
              <a:t>URL base</a:t>
            </a:r>
            <a:r>
              <a:rPr lang="en-IE" sz="2000" dirty="0">
                <a:solidFill>
                  <a:srgbClr val="555555"/>
                </a:solidFill>
                <a:latin typeface="UbuntuMono-Regular"/>
              </a:rPr>
              <a:t>, </a:t>
            </a:r>
            <a:r>
              <a:rPr lang="en-IE" sz="2000" dirty="0">
                <a:solidFill>
                  <a:srgbClr val="000089"/>
                </a:solidFill>
                <a:latin typeface="UbuntuMono-Regular"/>
              </a:rPr>
              <a:t>String relative</a:t>
            </a:r>
            <a:r>
              <a:rPr lang="en-IE" sz="2000" dirty="0">
                <a:solidFill>
                  <a:srgbClr val="555555"/>
                </a:solidFill>
                <a:latin typeface="UbuntuMono-Regular"/>
              </a:rPr>
              <a:t>) </a:t>
            </a:r>
            <a:r>
              <a:rPr lang="en-IE" sz="2000" b="1" dirty="0">
                <a:solidFill>
                  <a:srgbClr val="00669A"/>
                </a:solidFill>
                <a:latin typeface="UbuntuMono-Bold"/>
              </a:rPr>
              <a:t>throws </a:t>
            </a:r>
            <a:r>
              <a:rPr lang="en-IE" sz="2000" dirty="0" err="1" smtClean="0">
                <a:solidFill>
                  <a:srgbClr val="000089"/>
                </a:solidFill>
                <a:latin typeface="UbuntuMono-Regular"/>
              </a:rPr>
              <a:t>MalformedURLException</a:t>
            </a:r>
            <a:endParaRPr lang="en-IE" sz="2000" dirty="0" smtClean="0">
              <a:solidFill>
                <a:srgbClr val="000089"/>
              </a:solidFill>
              <a:latin typeface="UbuntuMono-Regular"/>
            </a:endParaRPr>
          </a:p>
          <a:p>
            <a:endParaRPr lang="en-US" sz="2000" dirty="0">
              <a:solidFill>
                <a:srgbClr val="000089"/>
              </a:solidFill>
              <a:latin typeface="UbuntuMono-Regular"/>
            </a:endParaRPr>
          </a:p>
          <a:p>
            <a:r>
              <a:rPr lang="en-IE" sz="2000" dirty="0">
                <a:solidFill>
                  <a:schemeClr val="tx2"/>
                </a:solidFill>
              </a:rPr>
              <a:t>Java does not check the </a:t>
            </a:r>
            <a:r>
              <a:rPr lang="en-IE" sz="2000" dirty="0" smtClean="0">
                <a:solidFill>
                  <a:schemeClr val="tx2"/>
                </a:solidFill>
              </a:rPr>
              <a:t>correctness of </a:t>
            </a:r>
            <a:r>
              <a:rPr lang="en-IE" sz="2000" dirty="0">
                <a:solidFill>
                  <a:schemeClr val="tx2"/>
                </a:solidFill>
              </a:rPr>
              <a:t>the URLs it constructs. </a:t>
            </a:r>
            <a:endParaRPr lang="en-IE" sz="2000" dirty="0" smtClean="0">
              <a:solidFill>
                <a:schemeClr val="tx2"/>
              </a:solidFill>
            </a:endParaRPr>
          </a:p>
          <a:p>
            <a:r>
              <a:rPr lang="en-IE" sz="2000" dirty="0" smtClean="0">
                <a:solidFill>
                  <a:schemeClr val="tx2"/>
                </a:solidFill>
              </a:rPr>
              <a:t>The </a:t>
            </a:r>
            <a:r>
              <a:rPr lang="en-IE" sz="2000" dirty="0">
                <a:solidFill>
                  <a:schemeClr val="tx2"/>
                </a:solidFill>
              </a:rPr>
              <a:t>programmer is responsible for making sure </a:t>
            </a:r>
            <a:r>
              <a:rPr lang="en-IE" sz="2000" dirty="0" smtClean="0">
                <a:solidFill>
                  <a:schemeClr val="tx2"/>
                </a:solidFill>
              </a:rPr>
              <a:t>that URLs </a:t>
            </a:r>
            <a:r>
              <a:rPr lang="en-IE" sz="2000" dirty="0">
                <a:solidFill>
                  <a:schemeClr val="tx2"/>
                </a:solidFill>
              </a:rPr>
              <a:t>created are valid. </a:t>
            </a:r>
            <a:endParaRPr lang="en-IE" sz="2000" dirty="0" smtClean="0">
              <a:solidFill>
                <a:schemeClr val="tx2"/>
              </a:solidFill>
            </a:endParaRPr>
          </a:p>
          <a:p>
            <a:r>
              <a:rPr lang="en-IE" sz="2000" dirty="0" smtClean="0"/>
              <a:t>For </a:t>
            </a:r>
            <a:r>
              <a:rPr lang="en-IE" sz="2000" dirty="0"/>
              <a:t>instance, Java does not check that the hostname in an </a:t>
            </a:r>
            <a:r>
              <a:rPr lang="en-IE" sz="2000" dirty="0" smtClean="0"/>
              <a:t>HTTP URL </a:t>
            </a:r>
            <a:r>
              <a:rPr lang="en-IE" sz="2000" dirty="0"/>
              <a:t>does not contain spaces or that the query string is x-www-form-URL-encoded. </a:t>
            </a:r>
            <a:endParaRPr lang="en-IE" sz="2000" dirty="0" smtClean="0"/>
          </a:p>
          <a:p>
            <a:r>
              <a:rPr lang="en-IE" sz="2000" dirty="0" smtClean="0"/>
              <a:t>It does </a:t>
            </a:r>
            <a:r>
              <a:rPr lang="en-IE" sz="2000" dirty="0"/>
              <a:t>not check that a mailto URL actually contains an email address. </a:t>
            </a:r>
            <a:endParaRPr lang="en-IE" sz="2000" dirty="0" smtClean="0"/>
          </a:p>
          <a:p>
            <a:r>
              <a:rPr lang="en-IE" sz="2000" dirty="0" smtClean="0"/>
              <a:t>You </a:t>
            </a:r>
            <a:r>
              <a:rPr lang="en-IE" sz="2000" dirty="0"/>
              <a:t>can </a:t>
            </a:r>
            <a:r>
              <a:rPr lang="en-IE" sz="2000" dirty="0" smtClean="0"/>
              <a:t>create URLs </a:t>
            </a:r>
            <a:r>
              <a:rPr lang="en-IE" sz="2000" dirty="0"/>
              <a:t>for hosts that don’t exist and for hosts that do exist but that you won’t be </a:t>
            </a:r>
            <a:r>
              <a:rPr lang="en-IE" sz="2000" dirty="0" smtClean="0"/>
              <a:t>allowed to </a:t>
            </a:r>
            <a:r>
              <a:rPr lang="en-IE" sz="2000" dirty="0"/>
              <a:t>connect to.</a:t>
            </a:r>
            <a:endParaRPr lang="en-IE" sz="2000" dirty="0" smtClean="0"/>
          </a:p>
        </p:txBody>
      </p:sp>
    </p:spTree>
    <p:extLst>
      <p:ext uri="{BB962C8B-B14F-4D97-AF65-F5344CB8AC3E}">
        <p14:creationId xmlns:p14="http://schemas.microsoft.com/office/powerpoint/2010/main" val="118721093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fontScale="90000"/>
          </a:bodyPr>
          <a:lstStyle/>
          <a:p>
            <a:r>
              <a:rPr lang="en-US" dirty="0" smtClean="0"/>
              <a:t>Constructing a URL from string</a:t>
            </a:r>
            <a:endParaRPr lang="en-IE" dirty="0"/>
          </a:p>
        </p:txBody>
      </p:sp>
      <p:sp>
        <p:nvSpPr>
          <p:cNvPr id="3" name="Content Placeholder 2"/>
          <p:cNvSpPr>
            <a:spLocks noGrp="1"/>
          </p:cNvSpPr>
          <p:nvPr>
            <p:ph idx="1"/>
          </p:nvPr>
        </p:nvSpPr>
        <p:spPr>
          <a:xfrm>
            <a:off x="0" y="609600"/>
            <a:ext cx="9144000" cy="6248400"/>
          </a:xfrm>
        </p:spPr>
        <p:txBody>
          <a:bodyPr>
            <a:noAutofit/>
          </a:bodyPr>
          <a:lstStyle/>
          <a:p>
            <a:r>
              <a:rPr lang="en-IE" sz="2000" dirty="0"/>
              <a:t>The simplest URL constructor just takes an absolute URL in string form as its single</a:t>
            </a:r>
          </a:p>
          <a:p>
            <a:r>
              <a:rPr lang="en-IE" sz="2000" dirty="0"/>
              <a:t>argument:</a:t>
            </a:r>
          </a:p>
          <a:p>
            <a:pPr lvl="1"/>
            <a:r>
              <a:rPr lang="en-IE" sz="1800" b="1" dirty="0"/>
              <a:t>public </a:t>
            </a:r>
            <a:r>
              <a:rPr lang="en-IE" sz="1800" dirty="0"/>
              <a:t>URL(String </a:t>
            </a:r>
            <a:r>
              <a:rPr lang="en-IE" sz="1800" dirty="0" err="1"/>
              <a:t>url</a:t>
            </a:r>
            <a:r>
              <a:rPr lang="en-IE" sz="1800" dirty="0"/>
              <a:t>) </a:t>
            </a:r>
            <a:r>
              <a:rPr lang="en-IE" sz="1800" b="1" dirty="0"/>
              <a:t>throws </a:t>
            </a:r>
            <a:r>
              <a:rPr lang="en-IE" sz="1800" dirty="0" err="1"/>
              <a:t>MalformedURLException</a:t>
            </a:r>
            <a:endParaRPr lang="en-IE" sz="1800" dirty="0"/>
          </a:p>
          <a:p>
            <a:r>
              <a:rPr lang="en-IE" sz="2000" dirty="0"/>
              <a:t>Like all constructors, this may only be called after the new operator, and like all </a:t>
            </a:r>
            <a:r>
              <a:rPr lang="en-IE" sz="2000" dirty="0" smtClean="0"/>
              <a:t>URL constructors</a:t>
            </a:r>
            <a:r>
              <a:rPr lang="en-IE" sz="2000" dirty="0"/>
              <a:t>, it can throw a </a:t>
            </a:r>
            <a:r>
              <a:rPr lang="en-IE" sz="2000" dirty="0" err="1"/>
              <a:t>MalformedURLException</a:t>
            </a:r>
            <a:r>
              <a:rPr lang="en-IE" sz="2000" dirty="0"/>
              <a:t>. </a:t>
            </a:r>
            <a:endParaRPr lang="en-IE" sz="2000" dirty="0" smtClean="0"/>
          </a:p>
          <a:p>
            <a:r>
              <a:rPr lang="en-IE" sz="2000" dirty="0" smtClean="0"/>
              <a:t>The </a:t>
            </a:r>
            <a:r>
              <a:rPr lang="en-IE" sz="2000" dirty="0"/>
              <a:t>following code constructs </a:t>
            </a:r>
            <a:r>
              <a:rPr lang="en-IE" sz="2000" dirty="0" smtClean="0"/>
              <a:t>a URL </a:t>
            </a:r>
            <a:r>
              <a:rPr lang="en-IE" sz="2000" dirty="0"/>
              <a:t>object from a String, catching the exception that might be thrown</a:t>
            </a:r>
            <a:r>
              <a:rPr lang="en-IE" sz="2000" dirty="0" smtClean="0"/>
              <a:t>: </a:t>
            </a:r>
          </a:p>
          <a:p>
            <a:r>
              <a:rPr lang="en-IE" sz="2000" b="1" dirty="0">
                <a:solidFill>
                  <a:srgbClr val="00669A"/>
                </a:solidFill>
                <a:latin typeface="UbuntuMono-Bold"/>
              </a:rPr>
              <a:t>try </a:t>
            </a:r>
            <a:r>
              <a:rPr lang="en-IE" sz="2000" dirty="0">
                <a:solidFill>
                  <a:srgbClr val="555555"/>
                </a:solidFill>
                <a:latin typeface="UbuntuMono-Regular"/>
              </a:rPr>
              <a:t>{</a:t>
            </a:r>
          </a:p>
          <a:p>
            <a:r>
              <a:rPr lang="pl-PL" sz="2000" dirty="0">
                <a:solidFill>
                  <a:srgbClr val="000089"/>
                </a:solidFill>
                <a:latin typeface="UbuntuMono-Regular"/>
              </a:rPr>
              <a:t>URL u </a:t>
            </a:r>
            <a:r>
              <a:rPr lang="pl-PL" sz="2000" dirty="0">
                <a:solidFill>
                  <a:srgbClr val="555555"/>
                </a:solidFill>
                <a:latin typeface="UbuntuMono-Regular"/>
              </a:rPr>
              <a:t>= </a:t>
            </a:r>
            <a:r>
              <a:rPr lang="pl-PL" sz="2000" b="1" dirty="0">
                <a:solidFill>
                  <a:srgbClr val="00669A"/>
                </a:solidFill>
                <a:latin typeface="UbuntuMono-Bold"/>
              </a:rPr>
              <a:t>new </a:t>
            </a:r>
            <a:r>
              <a:rPr lang="pl-PL" sz="2000" dirty="0">
                <a:solidFill>
                  <a:srgbClr val="000089"/>
                </a:solidFill>
                <a:latin typeface="UbuntuMono-Regular"/>
              </a:rPr>
              <a:t>URL</a:t>
            </a:r>
            <a:r>
              <a:rPr lang="pl-PL" sz="2000" dirty="0">
                <a:solidFill>
                  <a:srgbClr val="555555"/>
                </a:solidFill>
                <a:latin typeface="UbuntuMono-Regular"/>
              </a:rPr>
              <a:t>(</a:t>
            </a:r>
            <a:r>
              <a:rPr lang="pl-PL" sz="2000" dirty="0">
                <a:solidFill>
                  <a:srgbClr val="CD3300"/>
                </a:solidFill>
                <a:latin typeface="UbuntuMono-Regular"/>
              </a:rPr>
              <a:t>"http://</a:t>
            </a:r>
            <a:r>
              <a:rPr lang="pl-PL" sz="2000" dirty="0" smtClean="0">
                <a:solidFill>
                  <a:srgbClr val="CD3300"/>
                </a:solidFill>
                <a:latin typeface="UbuntuMono-Regular"/>
              </a:rPr>
              <a:t>www</a:t>
            </a:r>
            <a:r>
              <a:rPr lang="en-US" sz="2000" dirty="0" smtClean="0">
                <a:solidFill>
                  <a:srgbClr val="CD3300"/>
                </a:solidFill>
                <a:latin typeface="UbuntuMono-Regular"/>
              </a:rPr>
              <a:t>.google.com</a:t>
            </a:r>
            <a:r>
              <a:rPr lang="pl-PL" sz="2000" dirty="0" smtClean="0">
                <a:solidFill>
                  <a:srgbClr val="CD3300"/>
                </a:solidFill>
                <a:latin typeface="UbuntuMono-Regular"/>
              </a:rPr>
              <a:t>/"</a:t>
            </a:r>
            <a:r>
              <a:rPr lang="pl-PL" sz="2000" dirty="0" smtClean="0">
                <a:solidFill>
                  <a:srgbClr val="555555"/>
                </a:solidFill>
                <a:latin typeface="UbuntuMono-Regular"/>
              </a:rPr>
              <a:t>);</a:t>
            </a:r>
            <a:endParaRPr lang="pl-PL" sz="2000" dirty="0">
              <a:solidFill>
                <a:srgbClr val="555555"/>
              </a:solidFill>
              <a:latin typeface="UbuntuMono-Regular"/>
            </a:endParaRPr>
          </a:p>
          <a:p>
            <a:r>
              <a:rPr lang="en-IE" sz="2000" dirty="0">
                <a:solidFill>
                  <a:srgbClr val="555555"/>
                </a:solidFill>
                <a:latin typeface="UbuntuMono-Regular"/>
              </a:rPr>
              <a:t>} </a:t>
            </a:r>
            <a:r>
              <a:rPr lang="en-IE" sz="2000" b="1" dirty="0">
                <a:solidFill>
                  <a:srgbClr val="00669A"/>
                </a:solidFill>
                <a:latin typeface="UbuntuMono-Bold"/>
              </a:rPr>
              <a:t>catch </a:t>
            </a:r>
            <a:r>
              <a:rPr lang="en-IE" sz="2000" dirty="0">
                <a:solidFill>
                  <a:srgbClr val="555555"/>
                </a:solidFill>
                <a:latin typeface="UbuntuMono-Regular"/>
              </a:rPr>
              <a:t>(</a:t>
            </a:r>
            <a:r>
              <a:rPr lang="en-IE" sz="2000" dirty="0" err="1">
                <a:solidFill>
                  <a:srgbClr val="000089"/>
                </a:solidFill>
                <a:latin typeface="UbuntuMono-Regular"/>
              </a:rPr>
              <a:t>MalformedURLException</a:t>
            </a:r>
            <a:r>
              <a:rPr lang="en-IE" sz="2000" dirty="0">
                <a:solidFill>
                  <a:srgbClr val="000089"/>
                </a:solidFill>
                <a:latin typeface="UbuntuMono-Regular"/>
              </a:rPr>
              <a:t> ex</a:t>
            </a:r>
            <a:r>
              <a:rPr lang="en-IE" sz="2000" dirty="0">
                <a:solidFill>
                  <a:srgbClr val="555555"/>
                </a:solidFill>
                <a:latin typeface="UbuntuMono-Regular"/>
              </a:rPr>
              <a:t>) {</a:t>
            </a:r>
          </a:p>
          <a:p>
            <a:r>
              <a:rPr lang="en-IE" sz="2000" dirty="0" err="1">
                <a:solidFill>
                  <a:srgbClr val="000089"/>
                </a:solidFill>
                <a:latin typeface="UbuntuMono-Regular"/>
              </a:rPr>
              <a:t>System</a:t>
            </a:r>
            <a:r>
              <a:rPr lang="en-IE" sz="2000" dirty="0" err="1">
                <a:solidFill>
                  <a:srgbClr val="555555"/>
                </a:solidFill>
                <a:latin typeface="UbuntuMono-Regular"/>
              </a:rPr>
              <a:t>.</a:t>
            </a:r>
            <a:r>
              <a:rPr lang="en-IE" sz="2000" dirty="0" err="1">
                <a:solidFill>
                  <a:srgbClr val="33009A"/>
                </a:solidFill>
                <a:latin typeface="UbuntuMono-Regular"/>
              </a:rPr>
              <a:t>err</a:t>
            </a:r>
            <a:r>
              <a:rPr lang="en-IE" sz="2000" dirty="0" err="1">
                <a:solidFill>
                  <a:srgbClr val="555555"/>
                </a:solidFill>
                <a:latin typeface="UbuntuMono-Regular"/>
              </a:rPr>
              <a:t>.</a:t>
            </a:r>
            <a:r>
              <a:rPr lang="en-IE" sz="2000" dirty="0" err="1">
                <a:solidFill>
                  <a:srgbClr val="33009A"/>
                </a:solidFill>
                <a:latin typeface="UbuntuMono-Regular"/>
              </a:rPr>
              <a:t>println</a:t>
            </a:r>
            <a:r>
              <a:rPr lang="en-IE" sz="2000" dirty="0">
                <a:solidFill>
                  <a:srgbClr val="555555"/>
                </a:solidFill>
                <a:latin typeface="UbuntuMono-Regular"/>
              </a:rPr>
              <a:t>(</a:t>
            </a:r>
            <a:r>
              <a:rPr lang="en-IE" sz="2000" dirty="0">
                <a:solidFill>
                  <a:srgbClr val="000089"/>
                </a:solidFill>
                <a:latin typeface="UbuntuMono-Regular"/>
              </a:rPr>
              <a:t>ex</a:t>
            </a:r>
            <a:r>
              <a:rPr lang="en-IE" sz="2000" dirty="0">
                <a:solidFill>
                  <a:srgbClr val="555555"/>
                </a:solidFill>
                <a:latin typeface="UbuntuMono-Regular"/>
              </a:rPr>
              <a:t>);</a:t>
            </a:r>
          </a:p>
          <a:p>
            <a:r>
              <a:rPr lang="en-IE" sz="2000" dirty="0">
                <a:solidFill>
                  <a:srgbClr val="555555"/>
                </a:solidFill>
                <a:latin typeface="UbuntuMono-Regular"/>
              </a:rPr>
              <a:t>}</a:t>
            </a:r>
            <a:endParaRPr lang="en-IE" sz="2000" dirty="0"/>
          </a:p>
        </p:txBody>
      </p:sp>
    </p:spTree>
    <p:extLst>
      <p:ext uri="{BB962C8B-B14F-4D97-AF65-F5344CB8AC3E}">
        <p14:creationId xmlns:p14="http://schemas.microsoft.com/office/powerpoint/2010/main" val="242133267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fontScale="90000"/>
          </a:bodyPr>
          <a:lstStyle/>
          <a:p>
            <a:r>
              <a:rPr lang="en-US" dirty="0" smtClean="0"/>
              <a:t>Protocol Tester</a:t>
            </a:r>
            <a:endParaRPr lang="en-IE" dirty="0"/>
          </a:p>
        </p:txBody>
      </p:sp>
      <p:sp>
        <p:nvSpPr>
          <p:cNvPr id="3" name="Content Placeholder 2"/>
          <p:cNvSpPr>
            <a:spLocks noGrp="1"/>
          </p:cNvSpPr>
          <p:nvPr>
            <p:ph idx="1"/>
          </p:nvPr>
        </p:nvSpPr>
        <p:spPr>
          <a:xfrm>
            <a:off x="0" y="609600"/>
            <a:ext cx="9144000" cy="6248400"/>
          </a:xfrm>
        </p:spPr>
        <p:txBody>
          <a:bodyPr>
            <a:noAutofit/>
          </a:bodyPr>
          <a:lstStyle/>
          <a:p>
            <a:pPr marL="0" indent="0">
              <a:buNone/>
            </a:pPr>
            <a:r>
              <a:rPr lang="en-IE" sz="1600" b="1" dirty="0">
                <a:solidFill>
                  <a:srgbClr val="00669A"/>
                </a:solidFill>
                <a:latin typeface="UbuntuMono-Bold"/>
              </a:rPr>
              <a:t>import </a:t>
            </a:r>
            <a:r>
              <a:rPr lang="en-IE" sz="1600" b="1" dirty="0">
                <a:solidFill>
                  <a:srgbClr val="00CDFF"/>
                </a:solidFill>
                <a:latin typeface="UbuntuMono-Bold"/>
              </a:rPr>
              <a:t>java.net.*</a:t>
            </a:r>
            <a:r>
              <a:rPr lang="en-IE" sz="1600" dirty="0">
                <a:solidFill>
                  <a:srgbClr val="555555"/>
                </a:solidFill>
                <a:latin typeface="UbuntuMono-Regular"/>
              </a:rPr>
              <a:t>;</a:t>
            </a:r>
          </a:p>
          <a:p>
            <a:pPr marL="0" indent="0">
              <a:buNone/>
            </a:pPr>
            <a:r>
              <a:rPr lang="en-IE" sz="1600" b="1" dirty="0">
                <a:solidFill>
                  <a:srgbClr val="00669A"/>
                </a:solidFill>
                <a:latin typeface="UbuntuMono-Bold"/>
              </a:rPr>
              <a:t>public class </a:t>
            </a:r>
            <a:r>
              <a:rPr lang="en-IE" sz="1600" b="1" dirty="0" err="1">
                <a:solidFill>
                  <a:srgbClr val="00AB89"/>
                </a:solidFill>
                <a:latin typeface="UbuntuMono-Bold"/>
              </a:rPr>
              <a:t>ProtocolTester</a:t>
            </a:r>
            <a:r>
              <a:rPr lang="en-IE" sz="1600" b="1" dirty="0">
                <a:solidFill>
                  <a:srgbClr val="00AB89"/>
                </a:solidFill>
                <a:latin typeface="UbuntuMono-Bold"/>
              </a:rPr>
              <a:t> </a:t>
            </a:r>
            <a:r>
              <a:rPr lang="en-IE" sz="1600" dirty="0">
                <a:solidFill>
                  <a:srgbClr val="555555"/>
                </a:solidFill>
                <a:latin typeface="UbuntuMono-Regular"/>
              </a:rPr>
              <a:t>{</a:t>
            </a:r>
          </a:p>
          <a:p>
            <a:pPr marL="0" indent="0">
              <a:buNone/>
            </a:pPr>
            <a:r>
              <a:rPr lang="en-IE" sz="1600" b="1" dirty="0">
                <a:solidFill>
                  <a:srgbClr val="00669A"/>
                </a:solidFill>
                <a:latin typeface="UbuntuMono-Bold"/>
              </a:rPr>
              <a:t>public static </a:t>
            </a:r>
            <a:r>
              <a:rPr lang="en-IE" sz="1600" b="1" dirty="0">
                <a:solidFill>
                  <a:srgbClr val="007789"/>
                </a:solidFill>
                <a:latin typeface="UbuntuMono-Bold"/>
              </a:rPr>
              <a:t>void </a:t>
            </a:r>
            <a:r>
              <a:rPr lang="en-IE" sz="1600" dirty="0">
                <a:solidFill>
                  <a:srgbClr val="CD00FF"/>
                </a:solidFill>
                <a:latin typeface="UbuntuMono-Regular"/>
              </a:rPr>
              <a:t>main</a:t>
            </a:r>
            <a:r>
              <a:rPr lang="en-IE" sz="1600" dirty="0">
                <a:solidFill>
                  <a:srgbClr val="555555"/>
                </a:solidFill>
                <a:latin typeface="UbuntuMono-Regular"/>
              </a:rPr>
              <a:t>(</a:t>
            </a:r>
            <a:r>
              <a:rPr lang="en-IE" sz="1600" dirty="0">
                <a:solidFill>
                  <a:srgbClr val="000089"/>
                </a:solidFill>
                <a:latin typeface="UbuntuMono-Regular"/>
              </a:rPr>
              <a:t>String</a:t>
            </a:r>
            <a:r>
              <a:rPr lang="en-IE" sz="1600" dirty="0">
                <a:solidFill>
                  <a:srgbClr val="555555"/>
                </a:solidFill>
                <a:latin typeface="UbuntuMono-Regular"/>
              </a:rPr>
              <a:t>[] </a:t>
            </a:r>
            <a:r>
              <a:rPr lang="en-IE" sz="1600" dirty="0" err="1">
                <a:solidFill>
                  <a:srgbClr val="000089"/>
                </a:solidFill>
                <a:latin typeface="UbuntuMono-Regular"/>
              </a:rPr>
              <a:t>args</a:t>
            </a:r>
            <a:r>
              <a:rPr lang="en-IE" sz="1600" dirty="0">
                <a:solidFill>
                  <a:srgbClr val="555555"/>
                </a:solidFill>
                <a:latin typeface="UbuntuMono-Regular"/>
              </a:rPr>
              <a:t>) {</a:t>
            </a:r>
          </a:p>
          <a:p>
            <a:pPr marL="0" indent="0">
              <a:buNone/>
            </a:pPr>
            <a:r>
              <a:rPr lang="en-IE" sz="1600" i="1" dirty="0" smtClean="0">
                <a:solidFill>
                  <a:srgbClr val="35586C"/>
                </a:solidFill>
                <a:latin typeface="UbuntuMono-Italic"/>
              </a:rPr>
              <a:t>// hypertext transfer protocol</a:t>
            </a:r>
          </a:p>
          <a:p>
            <a:pPr marL="0" indent="0">
              <a:buNone/>
            </a:pPr>
            <a:r>
              <a:rPr lang="en-IE" sz="1600" dirty="0" err="1" smtClean="0">
                <a:solidFill>
                  <a:srgbClr val="000089"/>
                </a:solidFill>
                <a:latin typeface="UbuntuMono-Regular"/>
              </a:rPr>
              <a:t>testProtocol</a:t>
            </a:r>
            <a:r>
              <a:rPr lang="en-IE" sz="1600" dirty="0">
                <a:solidFill>
                  <a:srgbClr val="555555"/>
                </a:solidFill>
                <a:latin typeface="UbuntuMono-Regular"/>
              </a:rPr>
              <a:t>(</a:t>
            </a:r>
            <a:r>
              <a:rPr lang="en-IE" sz="1600" dirty="0">
                <a:solidFill>
                  <a:srgbClr val="CD3300"/>
                </a:solidFill>
                <a:latin typeface="UbuntuMono-Regular"/>
              </a:rPr>
              <a:t>"http://www.adc.org</a:t>
            </a:r>
            <a:r>
              <a:rPr lang="en-IE" sz="1600" dirty="0" smtClean="0">
                <a:solidFill>
                  <a:srgbClr val="CD3300"/>
                </a:solidFill>
                <a:latin typeface="UbuntuMono-Regular"/>
              </a:rPr>
              <a:t>"</a:t>
            </a:r>
            <a:r>
              <a:rPr lang="en-IE" sz="1600" dirty="0" smtClean="0">
                <a:solidFill>
                  <a:srgbClr val="555555"/>
                </a:solidFill>
                <a:latin typeface="UbuntuMono-Regular"/>
              </a:rPr>
              <a:t>);</a:t>
            </a:r>
          </a:p>
          <a:p>
            <a:pPr marL="0" indent="0">
              <a:buNone/>
            </a:pPr>
            <a:r>
              <a:rPr lang="en-IE" sz="1600" i="1" dirty="0" smtClean="0">
                <a:solidFill>
                  <a:srgbClr val="35586C"/>
                </a:solidFill>
                <a:latin typeface="UbuntuMono-Italic"/>
              </a:rPr>
              <a:t>// secure http</a:t>
            </a:r>
          </a:p>
          <a:p>
            <a:pPr marL="0" indent="0">
              <a:buNone/>
            </a:pPr>
            <a:r>
              <a:rPr lang="en-IE" sz="1600" dirty="0" err="1" smtClean="0">
                <a:solidFill>
                  <a:srgbClr val="000089"/>
                </a:solidFill>
                <a:latin typeface="UbuntuMono-Regular"/>
              </a:rPr>
              <a:t>testProtocol</a:t>
            </a:r>
            <a:r>
              <a:rPr lang="en-IE" sz="1600" dirty="0">
                <a:solidFill>
                  <a:srgbClr val="555555"/>
                </a:solidFill>
                <a:latin typeface="UbuntuMono-Regular"/>
              </a:rPr>
              <a:t>(</a:t>
            </a:r>
            <a:r>
              <a:rPr lang="en-IE" sz="1600" dirty="0">
                <a:solidFill>
                  <a:srgbClr val="CD3300"/>
                </a:solidFill>
                <a:latin typeface="UbuntuMono-Regular"/>
              </a:rPr>
              <a:t>"https://www.amazon.com/exec/obidos/order2/"</a:t>
            </a:r>
            <a:r>
              <a:rPr lang="en-IE" sz="1600" dirty="0">
                <a:solidFill>
                  <a:srgbClr val="555555"/>
                </a:solidFill>
                <a:latin typeface="UbuntuMono-Regular"/>
              </a:rPr>
              <a:t>);</a:t>
            </a:r>
          </a:p>
          <a:p>
            <a:pPr marL="0" indent="0">
              <a:buNone/>
            </a:pPr>
            <a:r>
              <a:rPr lang="en-IE" sz="1600" i="1" dirty="0" smtClean="0">
                <a:solidFill>
                  <a:srgbClr val="35586C"/>
                </a:solidFill>
                <a:latin typeface="UbuntuMono-Italic"/>
              </a:rPr>
              <a:t>// file transfer protocol</a:t>
            </a:r>
          </a:p>
          <a:p>
            <a:pPr marL="0" indent="0">
              <a:buNone/>
            </a:pPr>
            <a:r>
              <a:rPr lang="en-IE" sz="1600" dirty="0" err="1" smtClean="0">
                <a:solidFill>
                  <a:srgbClr val="000089"/>
                </a:solidFill>
                <a:latin typeface="UbuntuMono-Regular"/>
              </a:rPr>
              <a:t>testProtocol</a:t>
            </a:r>
            <a:r>
              <a:rPr lang="en-IE" sz="1600" dirty="0">
                <a:solidFill>
                  <a:srgbClr val="555555"/>
                </a:solidFill>
                <a:latin typeface="UbuntuMono-Regular"/>
              </a:rPr>
              <a:t>(</a:t>
            </a:r>
            <a:r>
              <a:rPr lang="en-IE" sz="1600" dirty="0">
                <a:solidFill>
                  <a:srgbClr val="CD3300"/>
                </a:solidFill>
                <a:latin typeface="UbuntuMono-Regular"/>
              </a:rPr>
              <a:t>"ftp://ibiblio.org/pub/languages/java/</a:t>
            </a:r>
            <a:r>
              <a:rPr lang="en-IE" sz="1600" dirty="0" err="1">
                <a:solidFill>
                  <a:srgbClr val="CD3300"/>
                </a:solidFill>
                <a:latin typeface="UbuntuMono-Regular"/>
              </a:rPr>
              <a:t>javafaq</a:t>
            </a:r>
            <a:r>
              <a:rPr lang="en-IE" sz="1600" dirty="0">
                <a:solidFill>
                  <a:srgbClr val="CD3300"/>
                </a:solidFill>
                <a:latin typeface="UbuntuMono-Regular"/>
              </a:rPr>
              <a:t>/"</a:t>
            </a:r>
            <a:r>
              <a:rPr lang="en-IE" sz="1600" dirty="0">
                <a:solidFill>
                  <a:srgbClr val="555555"/>
                </a:solidFill>
                <a:latin typeface="UbuntuMono-Regular"/>
              </a:rPr>
              <a:t>);</a:t>
            </a:r>
          </a:p>
          <a:p>
            <a:pPr marL="0" indent="0">
              <a:buNone/>
            </a:pPr>
            <a:r>
              <a:rPr lang="en-IE" sz="1600" i="1" dirty="0" smtClean="0">
                <a:solidFill>
                  <a:srgbClr val="35586C"/>
                </a:solidFill>
                <a:latin typeface="UbuntuMono-Italic"/>
              </a:rPr>
              <a:t>// Simple Mail Transfer Protocol</a:t>
            </a:r>
          </a:p>
          <a:p>
            <a:pPr marL="0" indent="0">
              <a:buNone/>
            </a:pPr>
            <a:r>
              <a:rPr lang="en-IE" sz="1600" dirty="0" err="1" smtClean="0">
                <a:solidFill>
                  <a:srgbClr val="000089"/>
                </a:solidFill>
                <a:latin typeface="UbuntuMono-Regular"/>
              </a:rPr>
              <a:t>testProtocol</a:t>
            </a:r>
            <a:r>
              <a:rPr lang="en-IE" sz="1600" dirty="0">
                <a:solidFill>
                  <a:srgbClr val="555555"/>
                </a:solidFill>
                <a:latin typeface="UbuntuMono-Regular"/>
              </a:rPr>
              <a:t>(</a:t>
            </a:r>
            <a:r>
              <a:rPr lang="en-IE" sz="1600" dirty="0">
                <a:solidFill>
                  <a:srgbClr val="CD3300"/>
                </a:solidFill>
                <a:latin typeface="UbuntuMono-Regular"/>
              </a:rPr>
              <a:t>"mailto:elharo@ibiblio.org"</a:t>
            </a:r>
            <a:r>
              <a:rPr lang="en-IE" sz="1600" dirty="0">
                <a:solidFill>
                  <a:srgbClr val="555555"/>
                </a:solidFill>
                <a:latin typeface="UbuntuMono-Regular"/>
              </a:rPr>
              <a:t>);</a:t>
            </a:r>
          </a:p>
          <a:p>
            <a:pPr marL="0" indent="0">
              <a:buNone/>
            </a:pPr>
            <a:r>
              <a:rPr lang="en-IE" sz="1600" i="1" dirty="0" smtClean="0">
                <a:solidFill>
                  <a:srgbClr val="35586C"/>
                </a:solidFill>
                <a:latin typeface="UbuntuMono-Italic"/>
              </a:rPr>
              <a:t>// telnet</a:t>
            </a:r>
          </a:p>
          <a:p>
            <a:pPr marL="0" indent="0">
              <a:buNone/>
            </a:pPr>
            <a:r>
              <a:rPr lang="en-IE" sz="1600" dirty="0" err="1" smtClean="0">
                <a:solidFill>
                  <a:srgbClr val="000089"/>
                </a:solidFill>
                <a:latin typeface="UbuntuMono-Regular"/>
              </a:rPr>
              <a:t>testProtocol</a:t>
            </a:r>
            <a:r>
              <a:rPr lang="en-IE" sz="1600" dirty="0">
                <a:solidFill>
                  <a:srgbClr val="555555"/>
                </a:solidFill>
                <a:latin typeface="UbuntuMono-Regular"/>
              </a:rPr>
              <a:t>(</a:t>
            </a:r>
            <a:r>
              <a:rPr lang="en-IE" sz="1600" dirty="0">
                <a:solidFill>
                  <a:srgbClr val="CD3300"/>
                </a:solidFill>
                <a:latin typeface="UbuntuMono-Regular"/>
              </a:rPr>
              <a:t>"telnet://dibner.poly.edu/"</a:t>
            </a:r>
            <a:r>
              <a:rPr lang="en-IE" sz="1600" dirty="0">
                <a:solidFill>
                  <a:srgbClr val="555555"/>
                </a:solidFill>
                <a:latin typeface="UbuntuMono-Regular"/>
              </a:rPr>
              <a:t>);</a:t>
            </a:r>
          </a:p>
          <a:p>
            <a:pPr marL="0" indent="0">
              <a:buNone/>
            </a:pPr>
            <a:r>
              <a:rPr lang="en-IE" sz="1600" i="1" dirty="0" smtClean="0">
                <a:solidFill>
                  <a:srgbClr val="35586C"/>
                </a:solidFill>
                <a:latin typeface="UbuntuMono-Italic"/>
              </a:rPr>
              <a:t>// local file access</a:t>
            </a:r>
          </a:p>
          <a:p>
            <a:pPr marL="0" indent="0">
              <a:buNone/>
            </a:pPr>
            <a:r>
              <a:rPr lang="en-IE" sz="1600" dirty="0" err="1" smtClean="0">
                <a:solidFill>
                  <a:srgbClr val="000089"/>
                </a:solidFill>
                <a:latin typeface="UbuntuMono-Regular"/>
              </a:rPr>
              <a:t>testProtocol</a:t>
            </a:r>
            <a:r>
              <a:rPr lang="en-IE" sz="1600" dirty="0">
                <a:solidFill>
                  <a:srgbClr val="555555"/>
                </a:solidFill>
                <a:latin typeface="UbuntuMono-Regular"/>
              </a:rPr>
              <a:t>(</a:t>
            </a:r>
            <a:r>
              <a:rPr lang="en-IE" sz="1600" dirty="0">
                <a:solidFill>
                  <a:srgbClr val="CD3300"/>
                </a:solidFill>
                <a:latin typeface="UbuntuMono-Regular"/>
              </a:rPr>
              <a:t>"file:///etc/passwd"</a:t>
            </a:r>
            <a:r>
              <a:rPr lang="en-IE" sz="1600" dirty="0">
                <a:solidFill>
                  <a:srgbClr val="555555"/>
                </a:solidFill>
                <a:latin typeface="UbuntuMono-Regular"/>
              </a:rPr>
              <a:t>);</a:t>
            </a:r>
          </a:p>
          <a:p>
            <a:pPr marL="0" indent="0">
              <a:buNone/>
            </a:pPr>
            <a:r>
              <a:rPr lang="en-IE" sz="1600" i="1" dirty="0" smtClean="0">
                <a:solidFill>
                  <a:srgbClr val="35586C"/>
                </a:solidFill>
                <a:latin typeface="UbuntuMono-Italic"/>
              </a:rPr>
              <a:t>// gopher</a:t>
            </a:r>
          </a:p>
          <a:p>
            <a:pPr marL="0" indent="0">
              <a:buNone/>
            </a:pPr>
            <a:r>
              <a:rPr lang="en-IE" sz="1600" dirty="0" err="1" smtClean="0">
                <a:solidFill>
                  <a:srgbClr val="000089"/>
                </a:solidFill>
                <a:latin typeface="UbuntuMono-Regular"/>
              </a:rPr>
              <a:t>testProtocol</a:t>
            </a:r>
            <a:r>
              <a:rPr lang="en-IE" sz="1600" dirty="0">
                <a:solidFill>
                  <a:srgbClr val="555555"/>
                </a:solidFill>
                <a:latin typeface="UbuntuMono-Regular"/>
              </a:rPr>
              <a:t>(</a:t>
            </a:r>
            <a:r>
              <a:rPr lang="en-IE" sz="1600" dirty="0">
                <a:solidFill>
                  <a:srgbClr val="CD3300"/>
                </a:solidFill>
                <a:latin typeface="UbuntuMono-Regular"/>
              </a:rPr>
              <a:t>"gopher://gopher.anc.org.za/"</a:t>
            </a:r>
            <a:r>
              <a:rPr lang="en-IE" sz="1600" dirty="0">
                <a:solidFill>
                  <a:srgbClr val="555555"/>
                </a:solidFill>
                <a:latin typeface="UbuntuMono-Regular"/>
              </a:rPr>
              <a:t>);</a:t>
            </a:r>
          </a:p>
          <a:p>
            <a:pPr marL="0" indent="0">
              <a:buNone/>
            </a:pPr>
            <a:r>
              <a:rPr lang="en-IE" sz="1600" i="1" dirty="0" smtClean="0">
                <a:solidFill>
                  <a:srgbClr val="35586C"/>
                </a:solidFill>
                <a:latin typeface="UbuntuMono-Italic"/>
              </a:rPr>
              <a:t>// Lightweight Directory Access Protocol</a:t>
            </a:r>
          </a:p>
          <a:p>
            <a:pPr marL="0" indent="0">
              <a:buNone/>
            </a:pPr>
            <a:r>
              <a:rPr lang="en-IE" sz="1600" dirty="0" err="1" smtClean="0">
                <a:solidFill>
                  <a:srgbClr val="000089"/>
                </a:solidFill>
                <a:latin typeface="UbuntuMono-Regular"/>
              </a:rPr>
              <a:t>testProtocol</a:t>
            </a:r>
            <a:r>
              <a:rPr lang="en-IE" sz="1600" dirty="0" smtClean="0">
                <a:solidFill>
                  <a:srgbClr val="555555"/>
                </a:solidFill>
                <a:latin typeface="UbuntuMono-Regular"/>
              </a:rPr>
              <a:t>(</a:t>
            </a:r>
            <a:r>
              <a:rPr lang="en-IE" sz="1600" dirty="0" smtClean="0">
                <a:solidFill>
                  <a:srgbClr val="CD3300"/>
                </a:solidFill>
                <a:latin typeface="UbuntuMono-Regular"/>
              </a:rPr>
              <a:t>"</a:t>
            </a:r>
            <a:r>
              <a:rPr lang="en-IE" sz="1600" dirty="0" err="1" smtClean="0">
                <a:solidFill>
                  <a:srgbClr val="CD3300"/>
                </a:solidFill>
                <a:latin typeface="UbuntuMono-Regular"/>
              </a:rPr>
              <a:t>ldap</a:t>
            </a:r>
            <a:r>
              <a:rPr lang="en-IE" sz="1600" dirty="0" smtClean="0">
                <a:solidFill>
                  <a:srgbClr val="CD3300"/>
                </a:solidFill>
                <a:latin typeface="UbuntuMono-Regular"/>
              </a:rPr>
              <a:t>://ldap.itd.umich.edu/o=University%20of%20Michigan,c=</a:t>
            </a:r>
            <a:r>
              <a:rPr lang="en-IE" sz="1600" dirty="0" err="1" smtClean="0">
                <a:solidFill>
                  <a:srgbClr val="CD3300"/>
                </a:solidFill>
                <a:latin typeface="UbuntuMono-Regular"/>
              </a:rPr>
              <a:t>US?postalAddress</a:t>
            </a:r>
            <a:r>
              <a:rPr lang="en-IE" sz="1600" dirty="0" smtClean="0">
                <a:solidFill>
                  <a:srgbClr val="CD3300"/>
                </a:solidFill>
                <a:latin typeface="UbuntuMono-Regular"/>
              </a:rPr>
              <a:t>"</a:t>
            </a:r>
            <a:r>
              <a:rPr lang="en-IE" sz="1600" dirty="0" smtClean="0">
                <a:solidFill>
                  <a:srgbClr val="555555"/>
                </a:solidFill>
                <a:latin typeface="UbuntuMono-Regular"/>
              </a:rPr>
              <a:t>);</a:t>
            </a:r>
          </a:p>
        </p:txBody>
      </p:sp>
    </p:spTree>
    <p:extLst>
      <p:ext uri="{BB962C8B-B14F-4D97-AF65-F5344CB8AC3E}">
        <p14:creationId xmlns:p14="http://schemas.microsoft.com/office/powerpoint/2010/main" val="372173328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fontScale="90000"/>
          </a:bodyPr>
          <a:lstStyle/>
          <a:p>
            <a:r>
              <a:rPr lang="en-US" dirty="0"/>
              <a:t>Protocol Tester</a:t>
            </a:r>
            <a:endParaRPr lang="en-IE" dirty="0"/>
          </a:p>
        </p:txBody>
      </p:sp>
      <p:sp>
        <p:nvSpPr>
          <p:cNvPr id="3" name="Content Placeholder 2"/>
          <p:cNvSpPr>
            <a:spLocks noGrp="1"/>
          </p:cNvSpPr>
          <p:nvPr>
            <p:ph idx="1"/>
          </p:nvPr>
        </p:nvSpPr>
        <p:spPr>
          <a:xfrm>
            <a:off x="0" y="609600"/>
            <a:ext cx="9144000" cy="6248400"/>
          </a:xfrm>
        </p:spPr>
        <p:txBody>
          <a:bodyPr>
            <a:noAutofit/>
          </a:bodyPr>
          <a:lstStyle/>
          <a:p>
            <a:pPr marL="0" lvl="0" indent="0">
              <a:buNone/>
            </a:pPr>
            <a:r>
              <a:rPr lang="en-IE" sz="1400" i="1" dirty="0">
                <a:solidFill>
                  <a:srgbClr val="35586C"/>
                </a:solidFill>
                <a:latin typeface="UbuntuMono-Italic"/>
              </a:rPr>
              <a:t>// JAR</a:t>
            </a:r>
          </a:p>
          <a:p>
            <a:pPr marL="0" lvl="0" indent="0">
              <a:buNone/>
            </a:pPr>
            <a:r>
              <a:rPr lang="en-IE" sz="1400" dirty="0" err="1">
                <a:solidFill>
                  <a:srgbClr val="000089"/>
                </a:solidFill>
                <a:latin typeface="UbuntuMono-Regular"/>
              </a:rPr>
              <a:t>testProtocol</a:t>
            </a:r>
            <a:r>
              <a:rPr lang="en-IE" sz="1400" dirty="0" smtClean="0">
                <a:solidFill>
                  <a:srgbClr val="555555"/>
                </a:solidFill>
                <a:latin typeface="UbuntuMono-Regular"/>
              </a:rPr>
              <a:t>(</a:t>
            </a:r>
            <a:r>
              <a:rPr lang="en-IE" sz="1400" dirty="0" smtClean="0">
                <a:solidFill>
                  <a:srgbClr val="CD3300"/>
                </a:solidFill>
                <a:latin typeface="UbuntuMono-Regular"/>
              </a:rPr>
              <a:t>"</a:t>
            </a:r>
            <a:r>
              <a:rPr lang="en-IE" sz="1400" dirty="0" err="1">
                <a:solidFill>
                  <a:srgbClr val="CD3300"/>
                </a:solidFill>
                <a:latin typeface="UbuntuMono-Regular"/>
              </a:rPr>
              <a:t>jar:http</a:t>
            </a:r>
            <a:r>
              <a:rPr lang="en-IE" sz="1400" dirty="0">
                <a:solidFill>
                  <a:srgbClr val="CD3300"/>
                </a:solidFill>
                <a:latin typeface="UbuntuMono-Regular"/>
              </a:rPr>
              <a:t>://cafeaulait.org/books/</a:t>
            </a:r>
            <a:r>
              <a:rPr lang="en-IE" sz="1400" dirty="0" err="1">
                <a:solidFill>
                  <a:srgbClr val="CD3300"/>
                </a:solidFill>
                <a:latin typeface="UbuntuMono-Regular"/>
              </a:rPr>
              <a:t>javaio</a:t>
            </a:r>
            <a:r>
              <a:rPr lang="en-IE" sz="1400" dirty="0">
                <a:solidFill>
                  <a:srgbClr val="CD3300"/>
                </a:solidFill>
                <a:latin typeface="UbuntuMono-Regular"/>
              </a:rPr>
              <a:t>/</a:t>
            </a:r>
            <a:r>
              <a:rPr lang="en-IE" sz="1400" dirty="0" err="1">
                <a:solidFill>
                  <a:srgbClr val="CD3300"/>
                </a:solidFill>
                <a:latin typeface="UbuntuMono-Regular"/>
              </a:rPr>
              <a:t>ioexamples</a:t>
            </a:r>
            <a:r>
              <a:rPr lang="en-IE" sz="1400" dirty="0">
                <a:solidFill>
                  <a:srgbClr val="CD3300"/>
                </a:solidFill>
                <a:latin typeface="UbuntuMono-Regular"/>
              </a:rPr>
              <a:t>/javaio.jar!"</a:t>
            </a:r>
          </a:p>
          <a:p>
            <a:pPr marL="0" lvl="0" indent="0">
              <a:buNone/>
            </a:pPr>
            <a:r>
              <a:rPr lang="en-IE" sz="1400" dirty="0">
                <a:solidFill>
                  <a:srgbClr val="555555"/>
                </a:solidFill>
                <a:latin typeface="UbuntuMono-Regular"/>
              </a:rPr>
              <a:t>+ </a:t>
            </a:r>
            <a:r>
              <a:rPr lang="en-IE" sz="1400" dirty="0">
                <a:solidFill>
                  <a:srgbClr val="CD3300"/>
                </a:solidFill>
                <a:latin typeface="UbuntuMono-Regular"/>
              </a:rPr>
              <a:t>"/com/</a:t>
            </a:r>
            <a:r>
              <a:rPr lang="en-IE" sz="1400" dirty="0" err="1">
                <a:solidFill>
                  <a:srgbClr val="CD3300"/>
                </a:solidFill>
                <a:latin typeface="UbuntuMono-Regular"/>
              </a:rPr>
              <a:t>macfaq</a:t>
            </a:r>
            <a:r>
              <a:rPr lang="en-IE" sz="1400" dirty="0">
                <a:solidFill>
                  <a:srgbClr val="CD3300"/>
                </a:solidFill>
                <a:latin typeface="UbuntuMono-Regular"/>
              </a:rPr>
              <a:t>/</a:t>
            </a:r>
            <a:r>
              <a:rPr lang="en-IE" sz="1400" dirty="0" err="1">
                <a:solidFill>
                  <a:srgbClr val="CD3300"/>
                </a:solidFill>
                <a:latin typeface="UbuntuMono-Regular"/>
              </a:rPr>
              <a:t>io</a:t>
            </a:r>
            <a:r>
              <a:rPr lang="en-IE" sz="1400" dirty="0">
                <a:solidFill>
                  <a:srgbClr val="CD3300"/>
                </a:solidFill>
                <a:latin typeface="UbuntuMono-Regular"/>
              </a:rPr>
              <a:t>/</a:t>
            </a:r>
            <a:r>
              <a:rPr lang="en-IE" sz="1400" dirty="0" err="1">
                <a:solidFill>
                  <a:srgbClr val="CD3300"/>
                </a:solidFill>
                <a:latin typeface="UbuntuMono-Regular"/>
              </a:rPr>
              <a:t>StreamCopier.class</a:t>
            </a:r>
            <a:r>
              <a:rPr lang="en-IE" sz="1400" dirty="0">
                <a:solidFill>
                  <a:srgbClr val="CD3300"/>
                </a:solidFill>
                <a:latin typeface="UbuntuMono-Regular"/>
              </a:rPr>
              <a:t>"</a:t>
            </a:r>
            <a:r>
              <a:rPr lang="en-IE" sz="1400" dirty="0">
                <a:solidFill>
                  <a:srgbClr val="555555"/>
                </a:solidFill>
                <a:latin typeface="UbuntuMono-Regular"/>
              </a:rPr>
              <a:t>);</a:t>
            </a:r>
          </a:p>
          <a:p>
            <a:pPr marL="0" lvl="0" indent="0">
              <a:buNone/>
            </a:pPr>
            <a:r>
              <a:rPr lang="en-IE" sz="1400" i="1" dirty="0">
                <a:solidFill>
                  <a:srgbClr val="35586C"/>
                </a:solidFill>
                <a:latin typeface="UbuntuMono-Italic"/>
              </a:rPr>
              <a:t>// NFS, Network File System</a:t>
            </a:r>
          </a:p>
          <a:p>
            <a:pPr marL="0" lvl="0" indent="0">
              <a:buNone/>
            </a:pPr>
            <a:r>
              <a:rPr lang="en-IE" sz="1400" dirty="0" err="1">
                <a:solidFill>
                  <a:srgbClr val="000089"/>
                </a:solidFill>
                <a:latin typeface="UbuntuMono-Regular"/>
              </a:rPr>
              <a:t>testProtocol</a:t>
            </a:r>
            <a:r>
              <a:rPr lang="en-IE" sz="1400" dirty="0">
                <a:solidFill>
                  <a:srgbClr val="555555"/>
                </a:solidFill>
                <a:latin typeface="UbuntuMono-Regular"/>
              </a:rPr>
              <a:t>(</a:t>
            </a:r>
            <a:r>
              <a:rPr lang="en-IE" sz="1400" dirty="0">
                <a:solidFill>
                  <a:srgbClr val="CD3300"/>
                </a:solidFill>
                <a:latin typeface="UbuntuMono-Regular"/>
              </a:rPr>
              <a:t>"</a:t>
            </a:r>
            <a:r>
              <a:rPr lang="en-IE" sz="1400" dirty="0" err="1">
                <a:solidFill>
                  <a:srgbClr val="CD3300"/>
                </a:solidFill>
                <a:latin typeface="UbuntuMono-Regular"/>
              </a:rPr>
              <a:t>nfs</a:t>
            </a:r>
            <a:r>
              <a:rPr lang="en-IE" sz="1400" dirty="0">
                <a:solidFill>
                  <a:srgbClr val="CD3300"/>
                </a:solidFill>
                <a:latin typeface="UbuntuMono-Regular"/>
              </a:rPr>
              <a:t>://utopia.poly.edu/</a:t>
            </a:r>
            <a:r>
              <a:rPr lang="en-IE" sz="1400" dirty="0" err="1">
                <a:solidFill>
                  <a:srgbClr val="CD3300"/>
                </a:solidFill>
                <a:latin typeface="UbuntuMono-Regular"/>
              </a:rPr>
              <a:t>usr</a:t>
            </a:r>
            <a:r>
              <a:rPr lang="en-IE" sz="1400" dirty="0">
                <a:solidFill>
                  <a:srgbClr val="CD3300"/>
                </a:solidFill>
                <a:latin typeface="UbuntuMono-Regular"/>
              </a:rPr>
              <a:t>/</a:t>
            </a:r>
            <a:r>
              <a:rPr lang="en-IE" sz="1400" dirty="0" err="1">
                <a:solidFill>
                  <a:srgbClr val="CD3300"/>
                </a:solidFill>
                <a:latin typeface="UbuntuMono-Regular"/>
              </a:rPr>
              <a:t>tmp</a:t>
            </a:r>
            <a:r>
              <a:rPr lang="en-IE" sz="1400" dirty="0">
                <a:solidFill>
                  <a:srgbClr val="CD3300"/>
                </a:solidFill>
                <a:latin typeface="UbuntuMono-Regular"/>
              </a:rPr>
              <a:t>/"</a:t>
            </a:r>
            <a:r>
              <a:rPr lang="en-IE" sz="1400" dirty="0">
                <a:solidFill>
                  <a:srgbClr val="555555"/>
                </a:solidFill>
                <a:latin typeface="UbuntuMono-Regular"/>
              </a:rPr>
              <a:t>);</a:t>
            </a:r>
          </a:p>
          <a:p>
            <a:pPr marL="0" lvl="0" indent="0">
              <a:buNone/>
            </a:pPr>
            <a:r>
              <a:rPr lang="pt-BR" sz="1400" i="1" dirty="0">
                <a:solidFill>
                  <a:srgbClr val="35586C"/>
                </a:solidFill>
                <a:latin typeface="UbuntuMono-Italic"/>
              </a:rPr>
              <a:t>// a custom protocol for JDBC</a:t>
            </a:r>
          </a:p>
          <a:p>
            <a:pPr marL="0" lvl="0" indent="0">
              <a:buNone/>
            </a:pPr>
            <a:r>
              <a:rPr lang="en-IE" sz="1400" dirty="0" err="1">
                <a:solidFill>
                  <a:srgbClr val="000089"/>
                </a:solidFill>
                <a:latin typeface="UbuntuMono-Regular"/>
              </a:rPr>
              <a:t>testProtocol</a:t>
            </a:r>
            <a:r>
              <a:rPr lang="en-IE" sz="1400" dirty="0">
                <a:solidFill>
                  <a:srgbClr val="555555"/>
                </a:solidFill>
                <a:latin typeface="UbuntuMono-Regular"/>
              </a:rPr>
              <a:t>(</a:t>
            </a:r>
            <a:r>
              <a:rPr lang="en-IE" sz="1400" dirty="0">
                <a:solidFill>
                  <a:srgbClr val="CD3300"/>
                </a:solidFill>
                <a:latin typeface="UbuntuMono-Regular"/>
              </a:rPr>
              <a:t>"</a:t>
            </a:r>
            <a:r>
              <a:rPr lang="en-IE" sz="1400" dirty="0" err="1">
                <a:solidFill>
                  <a:srgbClr val="CD3300"/>
                </a:solidFill>
                <a:latin typeface="UbuntuMono-Regular"/>
              </a:rPr>
              <a:t>jdbc:mysql</a:t>
            </a:r>
            <a:r>
              <a:rPr lang="en-IE" sz="1400" dirty="0">
                <a:solidFill>
                  <a:srgbClr val="CD3300"/>
                </a:solidFill>
                <a:latin typeface="UbuntuMono-Regular"/>
              </a:rPr>
              <a:t>://luna.ibiblio.org:3306/NEWS"</a:t>
            </a:r>
            <a:r>
              <a:rPr lang="en-IE" sz="1400" dirty="0">
                <a:solidFill>
                  <a:srgbClr val="555555"/>
                </a:solidFill>
                <a:latin typeface="UbuntuMono-Regular"/>
              </a:rPr>
              <a:t>);</a:t>
            </a:r>
          </a:p>
          <a:p>
            <a:pPr marL="0" lvl="0" indent="0">
              <a:buNone/>
            </a:pPr>
            <a:r>
              <a:rPr lang="en-IE" sz="1400" i="1" dirty="0">
                <a:solidFill>
                  <a:srgbClr val="35586C"/>
                </a:solidFill>
                <a:latin typeface="UbuntuMono-Italic"/>
              </a:rPr>
              <a:t>// </a:t>
            </a:r>
            <a:r>
              <a:rPr lang="en-IE" sz="1400" i="1" dirty="0" err="1">
                <a:solidFill>
                  <a:srgbClr val="35586C"/>
                </a:solidFill>
                <a:latin typeface="UbuntuMono-Italic"/>
              </a:rPr>
              <a:t>rmi</a:t>
            </a:r>
            <a:r>
              <a:rPr lang="en-IE" sz="1400" i="1" dirty="0">
                <a:solidFill>
                  <a:srgbClr val="35586C"/>
                </a:solidFill>
                <a:latin typeface="UbuntuMono-Italic"/>
              </a:rPr>
              <a:t>, a custom protocol for remote method invocation</a:t>
            </a:r>
          </a:p>
          <a:p>
            <a:pPr marL="0" lvl="0" indent="0">
              <a:buNone/>
            </a:pPr>
            <a:r>
              <a:rPr lang="en-IE" sz="1400" dirty="0" err="1">
                <a:solidFill>
                  <a:srgbClr val="000089"/>
                </a:solidFill>
                <a:latin typeface="UbuntuMono-Regular"/>
              </a:rPr>
              <a:t>testProtocol</a:t>
            </a:r>
            <a:r>
              <a:rPr lang="en-IE" sz="1400" dirty="0">
                <a:solidFill>
                  <a:srgbClr val="555555"/>
                </a:solidFill>
                <a:latin typeface="UbuntuMono-Regular"/>
              </a:rPr>
              <a:t>(</a:t>
            </a:r>
            <a:r>
              <a:rPr lang="en-IE" sz="1400" dirty="0">
                <a:solidFill>
                  <a:srgbClr val="CD3300"/>
                </a:solidFill>
                <a:latin typeface="UbuntuMono-Regular"/>
              </a:rPr>
              <a:t>"</a:t>
            </a:r>
            <a:r>
              <a:rPr lang="en-IE" sz="1400" dirty="0" err="1">
                <a:solidFill>
                  <a:srgbClr val="CD3300"/>
                </a:solidFill>
                <a:latin typeface="UbuntuMono-Regular"/>
              </a:rPr>
              <a:t>rmi</a:t>
            </a:r>
            <a:r>
              <a:rPr lang="en-IE" sz="1400" dirty="0">
                <a:solidFill>
                  <a:srgbClr val="CD3300"/>
                </a:solidFill>
                <a:latin typeface="UbuntuMono-Regular"/>
              </a:rPr>
              <a:t>://ibiblio.org/</a:t>
            </a:r>
            <a:r>
              <a:rPr lang="en-IE" sz="1400" dirty="0" err="1">
                <a:solidFill>
                  <a:srgbClr val="CD3300"/>
                </a:solidFill>
                <a:latin typeface="UbuntuMono-Regular"/>
              </a:rPr>
              <a:t>RenderEngine</a:t>
            </a:r>
            <a:r>
              <a:rPr lang="en-IE" sz="1400" dirty="0">
                <a:solidFill>
                  <a:srgbClr val="CD3300"/>
                </a:solidFill>
                <a:latin typeface="UbuntuMono-Regular"/>
              </a:rPr>
              <a:t>"</a:t>
            </a:r>
            <a:r>
              <a:rPr lang="en-IE" sz="1400" dirty="0">
                <a:solidFill>
                  <a:srgbClr val="555555"/>
                </a:solidFill>
                <a:latin typeface="UbuntuMono-Regular"/>
              </a:rPr>
              <a:t>);</a:t>
            </a:r>
          </a:p>
          <a:p>
            <a:pPr marL="0" lvl="0" indent="0">
              <a:buNone/>
            </a:pPr>
            <a:r>
              <a:rPr lang="en-IE" sz="1400" i="1" dirty="0">
                <a:solidFill>
                  <a:srgbClr val="35586C"/>
                </a:solidFill>
                <a:latin typeface="UbuntuMono-Italic"/>
              </a:rPr>
              <a:t>// custom protocols for </a:t>
            </a:r>
            <a:r>
              <a:rPr lang="en-IE" sz="1400" i="1" dirty="0" err="1">
                <a:solidFill>
                  <a:srgbClr val="35586C"/>
                </a:solidFill>
                <a:latin typeface="UbuntuMono-Italic"/>
              </a:rPr>
              <a:t>HotJava</a:t>
            </a:r>
            <a:endParaRPr lang="en-IE" sz="1400" i="1" dirty="0">
              <a:solidFill>
                <a:srgbClr val="35586C"/>
              </a:solidFill>
              <a:latin typeface="UbuntuMono-Italic"/>
            </a:endParaRPr>
          </a:p>
          <a:p>
            <a:pPr marL="0" lvl="0" indent="0">
              <a:buNone/>
            </a:pPr>
            <a:r>
              <a:rPr lang="en-IE" sz="1400" dirty="0" err="1">
                <a:solidFill>
                  <a:srgbClr val="000089"/>
                </a:solidFill>
                <a:latin typeface="UbuntuMono-Regular"/>
              </a:rPr>
              <a:t>testProtocol</a:t>
            </a:r>
            <a:r>
              <a:rPr lang="en-IE" sz="1400" dirty="0">
                <a:solidFill>
                  <a:srgbClr val="555555"/>
                </a:solidFill>
                <a:latin typeface="UbuntuMono-Regular"/>
              </a:rPr>
              <a:t>(</a:t>
            </a:r>
            <a:r>
              <a:rPr lang="en-IE" sz="1400" dirty="0">
                <a:solidFill>
                  <a:srgbClr val="CD3300"/>
                </a:solidFill>
                <a:latin typeface="UbuntuMono-Regular"/>
              </a:rPr>
              <a:t>"doc:/</a:t>
            </a:r>
            <a:r>
              <a:rPr lang="en-IE" sz="1400" dirty="0" err="1">
                <a:solidFill>
                  <a:srgbClr val="CD3300"/>
                </a:solidFill>
                <a:latin typeface="UbuntuMono-Regular"/>
              </a:rPr>
              <a:t>UsersGuide</a:t>
            </a:r>
            <a:r>
              <a:rPr lang="en-IE" sz="1400" dirty="0">
                <a:solidFill>
                  <a:srgbClr val="CD3300"/>
                </a:solidFill>
                <a:latin typeface="UbuntuMono-Regular"/>
              </a:rPr>
              <a:t>/release.html"</a:t>
            </a:r>
            <a:r>
              <a:rPr lang="en-IE" sz="1400" dirty="0">
                <a:solidFill>
                  <a:srgbClr val="555555"/>
                </a:solidFill>
                <a:latin typeface="UbuntuMono-Regular"/>
              </a:rPr>
              <a:t>);</a:t>
            </a:r>
          </a:p>
          <a:p>
            <a:pPr marL="0" lvl="0" indent="0">
              <a:buNone/>
            </a:pPr>
            <a:r>
              <a:rPr lang="en-IE" sz="1400" dirty="0" err="1">
                <a:solidFill>
                  <a:srgbClr val="000089"/>
                </a:solidFill>
                <a:latin typeface="UbuntuMono-Regular"/>
              </a:rPr>
              <a:t>testProtocol</a:t>
            </a:r>
            <a:r>
              <a:rPr lang="en-IE" sz="1400" dirty="0">
                <a:solidFill>
                  <a:srgbClr val="555555"/>
                </a:solidFill>
                <a:latin typeface="UbuntuMono-Regular"/>
              </a:rPr>
              <a:t>(</a:t>
            </a:r>
            <a:r>
              <a:rPr lang="en-IE" sz="1400" dirty="0">
                <a:solidFill>
                  <a:srgbClr val="CD3300"/>
                </a:solidFill>
                <a:latin typeface="UbuntuMono-Regular"/>
              </a:rPr>
              <a:t>"</a:t>
            </a:r>
            <a:r>
              <a:rPr lang="en-IE" sz="1400" dirty="0" err="1">
                <a:solidFill>
                  <a:srgbClr val="CD3300"/>
                </a:solidFill>
                <a:latin typeface="UbuntuMono-Regular"/>
              </a:rPr>
              <a:t>netdoc</a:t>
            </a:r>
            <a:r>
              <a:rPr lang="en-IE" sz="1400" dirty="0">
                <a:solidFill>
                  <a:srgbClr val="CD3300"/>
                </a:solidFill>
                <a:latin typeface="UbuntuMono-Regular"/>
              </a:rPr>
              <a:t>:/</a:t>
            </a:r>
            <a:r>
              <a:rPr lang="en-IE" sz="1400" dirty="0" err="1">
                <a:solidFill>
                  <a:srgbClr val="CD3300"/>
                </a:solidFill>
                <a:latin typeface="UbuntuMono-Regular"/>
              </a:rPr>
              <a:t>UsersGuide</a:t>
            </a:r>
            <a:r>
              <a:rPr lang="en-IE" sz="1400" dirty="0">
                <a:solidFill>
                  <a:srgbClr val="CD3300"/>
                </a:solidFill>
                <a:latin typeface="UbuntuMono-Regular"/>
              </a:rPr>
              <a:t>/release.html"</a:t>
            </a:r>
            <a:r>
              <a:rPr lang="en-IE" sz="1400" dirty="0">
                <a:solidFill>
                  <a:srgbClr val="555555"/>
                </a:solidFill>
                <a:latin typeface="UbuntuMono-Regular"/>
              </a:rPr>
              <a:t>);</a:t>
            </a:r>
          </a:p>
          <a:p>
            <a:pPr marL="0" lvl="0" indent="0">
              <a:buNone/>
            </a:pPr>
            <a:r>
              <a:rPr lang="en-IE" sz="1400" dirty="0" err="1">
                <a:solidFill>
                  <a:srgbClr val="000089"/>
                </a:solidFill>
                <a:latin typeface="UbuntuMono-Regular"/>
              </a:rPr>
              <a:t>testProtocol</a:t>
            </a:r>
            <a:r>
              <a:rPr lang="en-IE" sz="1400" dirty="0">
                <a:solidFill>
                  <a:srgbClr val="555555"/>
                </a:solidFill>
                <a:latin typeface="UbuntuMono-Regular"/>
              </a:rPr>
              <a:t>(</a:t>
            </a:r>
            <a:r>
              <a:rPr lang="en-IE" sz="1400" dirty="0">
                <a:solidFill>
                  <a:srgbClr val="CD3300"/>
                </a:solidFill>
                <a:latin typeface="UbuntuMono-Regular"/>
              </a:rPr>
              <a:t>"</a:t>
            </a:r>
            <a:r>
              <a:rPr lang="en-IE" sz="1400" dirty="0" err="1">
                <a:solidFill>
                  <a:srgbClr val="CD3300"/>
                </a:solidFill>
                <a:latin typeface="UbuntuMono-Regular"/>
              </a:rPr>
              <a:t>systemresource</a:t>
            </a:r>
            <a:r>
              <a:rPr lang="en-IE" sz="1400" dirty="0">
                <a:solidFill>
                  <a:srgbClr val="CD3300"/>
                </a:solidFill>
                <a:latin typeface="UbuntuMono-Regular"/>
              </a:rPr>
              <a:t>://www.adc.org/+/index.html"</a:t>
            </a:r>
            <a:r>
              <a:rPr lang="en-IE" sz="1400" dirty="0">
                <a:solidFill>
                  <a:srgbClr val="555555"/>
                </a:solidFill>
                <a:latin typeface="UbuntuMono-Regular"/>
              </a:rPr>
              <a:t>);</a:t>
            </a:r>
          </a:p>
          <a:p>
            <a:pPr marL="0" lvl="0" indent="0">
              <a:buNone/>
            </a:pPr>
            <a:r>
              <a:rPr lang="en-IE" sz="1400" dirty="0" err="1">
                <a:solidFill>
                  <a:srgbClr val="000089"/>
                </a:solidFill>
                <a:latin typeface="UbuntuMono-Regular"/>
              </a:rPr>
              <a:t>testProtocol</a:t>
            </a:r>
            <a:r>
              <a:rPr lang="en-IE" sz="1400" dirty="0">
                <a:solidFill>
                  <a:srgbClr val="555555"/>
                </a:solidFill>
                <a:latin typeface="UbuntuMono-Regular"/>
              </a:rPr>
              <a:t>(</a:t>
            </a:r>
            <a:r>
              <a:rPr lang="en-IE" sz="1400" dirty="0">
                <a:solidFill>
                  <a:srgbClr val="CD3300"/>
                </a:solidFill>
                <a:latin typeface="UbuntuMono-Regular"/>
              </a:rPr>
              <a:t>"</a:t>
            </a:r>
            <a:r>
              <a:rPr lang="en-IE" sz="1400" dirty="0" err="1">
                <a:solidFill>
                  <a:srgbClr val="CD3300"/>
                </a:solidFill>
                <a:latin typeface="UbuntuMono-Regular"/>
              </a:rPr>
              <a:t>verbatim:http</a:t>
            </a:r>
            <a:r>
              <a:rPr lang="en-IE" sz="1400" dirty="0">
                <a:solidFill>
                  <a:srgbClr val="CD3300"/>
                </a:solidFill>
                <a:latin typeface="UbuntuMono-Regular"/>
              </a:rPr>
              <a:t>://www.adc.org/"</a:t>
            </a:r>
            <a:r>
              <a:rPr lang="en-IE" sz="1400" dirty="0">
                <a:solidFill>
                  <a:srgbClr val="555555"/>
                </a:solidFill>
                <a:latin typeface="UbuntuMono-Regular"/>
              </a:rPr>
              <a:t>);</a:t>
            </a:r>
          </a:p>
          <a:p>
            <a:pPr marL="0" lvl="0" indent="0">
              <a:buNone/>
            </a:pPr>
            <a:r>
              <a:rPr lang="en-IE" sz="1400" dirty="0">
                <a:solidFill>
                  <a:srgbClr val="555555"/>
                </a:solidFill>
                <a:latin typeface="UbuntuMono-Regular"/>
              </a:rPr>
              <a:t>}</a:t>
            </a:r>
          </a:p>
          <a:p>
            <a:pPr marL="0" lvl="0" indent="0">
              <a:buNone/>
            </a:pPr>
            <a:r>
              <a:rPr lang="en-IE" sz="1400" b="1" dirty="0">
                <a:solidFill>
                  <a:srgbClr val="00669A"/>
                </a:solidFill>
                <a:latin typeface="UbuntuMono-Bold"/>
              </a:rPr>
              <a:t>private static </a:t>
            </a:r>
            <a:r>
              <a:rPr lang="en-IE" sz="1400" b="1" dirty="0">
                <a:solidFill>
                  <a:srgbClr val="007789"/>
                </a:solidFill>
                <a:latin typeface="UbuntuMono-Bold"/>
              </a:rPr>
              <a:t>void </a:t>
            </a:r>
            <a:r>
              <a:rPr lang="en-IE" sz="1400" dirty="0" err="1">
                <a:solidFill>
                  <a:srgbClr val="CD00FF"/>
                </a:solidFill>
                <a:latin typeface="UbuntuMono-Regular"/>
              </a:rPr>
              <a:t>testProtocol</a:t>
            </a:r>
            <a:r>
              <a:rPr lang="en-IE" sz="1400" dirty="0">
                <a:solidFill>
                  <a:srgbClr val="555555"/>
                </a:solidFill>
                <a:latin typeface="UbuntuMono-Regular"/>
              </a:rPr>
              <a:t>(</a:t>
            </a:r>
            <a:r>
              <a:rPr lang="en-IE" sz="1400" dirty="0">
                <a:solidFill>
                  <a:srgbClr val="000089"/>
                </a:solidFill>
                <a:latin typeface="UbuntuMono-Regular"/>
              </a:rPr>
              <a:t>String </a:t>
            </a:r>
            <a:r>
              <a:rPr lang="en-IE" sz="1400" dirty="0" err="1">
                <a:solidFill>
                  <a:srgbClr val="000089"/>
                </a:solidFill>
                <a:latin typeface="UbuntuMono-Regular"/>
              </a:rPr>
              <a:t>url</a:t>
            </a:r>
            <a:r>
              <a:rPr lang="en-IE" sz="1400" dirty="0">
                <a:solidFill>
                  <a:srgbClr val="555555"/>
                </a:solidFill>
                <a:latin typeface="UbuntuMono-Regular"/>
              </a:rPr>
              <a:t>) {</a:t>
            </a:r>
          </a:p>
          <a:p>
            <a:pPr marL="0" lvl="0" indent="0">
              <a:buNone/>
            </a:pPr>
            <a:r>
              <a:rPr lang="en-IE" sz="1400" b="1" dirty="0">
                <a:solidFill>
                  <a:srgbClr val="00669A"/>
                </a:solidFill>
                <a:latin typeface="UbuntuMono-Bold"/>
              </a:rPr>
              <a:t>try </a:t>
            </a:r>
            <a:r>
              <a:rPr lang="en-IE" sz="1400" dirty="0">
                <a:solidFill>
                  <a:srgbClr val="555555"/>
                </a:solidFill>
                <a:latin typeface="UbuntuMono-Regular"/>
              </a:rPr>
              <a:t>{</a:t>
            </a:r>
          </a:p>
          <a:p>
            <a:pPr marL="0" lvl="0" indent="0">
              <a:buNone/>
            </a:pPr>
            <a:r>
              <a:rPr lang="en-IE" sz="1400" dirty="0">
                <a:solidFill>
                  <a:srgbClr val="000089"/>
                </a:solidFill>
                <a:latin typeface="UbuntuMono-Regular"/>
              </a:rPr>
              <a:t>URL u </a:t>
            </a:r>
            <a:r>
              <a:rPr lang="en-IE" sz="1400" dirty="0">
                <a:solidFill>
                  <a:srgbClr val="555555"/>
                </a:solidFill>
                <a:latin typeface="UbuntuMono-Regular"/>
              </a:rPr>
              <a:t>= </a:t>
            </a:r>
            <a:r>
              <a:rPr lang="en-IE" sz="1400" b="1" dirty="0">
                <a:solidFill>
                  <a:srgbClr val="00669A"/>
                </a:solidFill>
                <a:latin typeface="UbuntuMono-Bold"/>
              </a:rPr>
              <a:t>new </a:t>
            </a:r>
            <a:r>
              <a:rPr lang="en-IE" sz="1400" dirty="0">
                <a:solidFill>
                  <a:srgbClr val="000089"/>
                </a:solidFill>
                <a:latin typeface="UbuntuMono-Regular"/>
              </a:rPr>
              <a:t>URL</a:t>
            </a:r>
            <a:r>
              <a:rPr lang="en-IE" sz="1400" dirty="0">
                <a:solidFill>
                  <a:srgbClr val="555555"/>
                </a:solidFill>
                <a:latin typeface="UbuntuMono-Regular"/>
              </a:rPr>
              <a:t>(</a:t>
            </a:r>
            <a:r>
              <a:rPr lang="en-IE" sz="1400" dirty="0" err="1">
                <a:solidFill>
                  <a:srgbClr val="000089"/>
                </a:solidFill>
                <a:latin typeface="UbuntuMono-Regular"/>
              </a:rPr>
              <a:t>url</a:t>
            </a:r>
            <a:r>
              <a:rPr lang="en-IE" sz="1400" dirty="0">
                <a:solidFill>
                  <a:srgbClr val="555555"/>
                </a:solidFill>
                <a:latin typeface="UbuntuMono-Regular"/>
              </a:rPr>
              <a:t>);</a:t>
            </a:r>
          </a:p>
          <a:p>
            <a:pPr marL="0" lvl="0" indent="0">
              <a:buNone/>
            </a:pPr>
            <a:r>
              <a:rPr lang="en-IE" sz="1400" dirty="0" err="1">
                <a:solidFill>
                  <a:srgbClr val="000089"/>
                </a:solidFill>
                <a:latin typeface="UbuntuMono-Regular"/>
              </a:rPr>
              <a:t>System</a:t>
            </a:r>
            <a:r>
              <a:rPr lang="en-IE" sz="1400" dirty="0" err="1">
                <a:solidFill>
                  <a:srgbClr val="555555"/>
                </a:solidFill>
                <a:latin typeface="UbuntuMono-Regular"/>
              </a:rPr>
              <a:t>.</a:t>
            </a:r>
            <a:r>
              <a:rPr lang="en-IE" sz="1400" dirty="0" err="1">
                <a:solidFill>
                  <a:srgbClr val="33009A"/>
                </a:solidFill>
                <a:latin typeface="UbuntuMono-Regular"/>
              </a:rPr>
              <a:t>out</a:t>
            </a:r>
            <a:r>
              <a:rPr lang="en-IE" sz="1400" dirty="0" err="1">
                <a:solidFill>
                  <a:srgbClr val="555555"/>
                </a:solidFill>
                <a:latin typeface="UbuntuMono-Regular"/>
              </a:rPr>
              <a:t>.</a:t>
            </a:r>
            <a:r>
              <a:rPr lang="en-IE" sz="1400" dirty="0" err="1">
                <a:solidFill>
                  <a:srgbClr val="33009A"/>
                </a:solidFill>
                <a:latin typeface="UbuntuMono-Regular"/>
              </a:rPr>
              <a:t>println</a:t>
            </a:r>
            <a:r>
              <a:rPr lang="en-IE" sz="1400" dirty="0">
                <a:solidFill>
                  <a:srgbClr val="555555"/>
                </a:solidFill>
                <a:latin typeface="UbuntuMono-Regular"/>
              </a:rPr>
              <a:t>(</a:t>
            </a:r>
            <a:r>
              <a:rPr lang="en-IE" sz="1400" dirty="0" err="1">
                <a:solidFill>
                  <a:srgbClr val="000089"/>
                </a:solidFill>
                <a:latin typeface="UbuntuMono-Regular"/>
              </a:rPr>
              <a:t>u</a:t>
            </a:r>
            <a:r>
              <a:rPr lang="en-IE" sz="1400" dirty="0" err="1">
                <a:solidFill>
                  <a:srgbClr val="555555"/>
                </a:solidFill>
                <a:latin typeface="UbuntuMono-Regular"/>
              </a:rPr>
              <a:t>.</a:t>
            </a:r>
            <a:r>
              <a:rPr lang="en-IE" sz="1400" dirty="0" err="1">
                <a:solidFill>
                  <a:srgbClr val="33009A"/>
                </a:solidFill>
                <a:latin typeface="UbuntuMono-Regular"/>
              </a:rPr>
              <a:t>getProtocol</a:t>
            </a:r>
            <a:r>
              <a:rPr lang="en-IE" sz="1400" dirty="0">
                <a:solidFill>
                  <a:srgbClr val="555555"/>
                </a:solidFill>
                <a:latin typeface="UbuntuMono-Regular"/>
              </a:rPr>
              <a:t>() + </a:t>
            </a:r>
            <a:r>
              <a:rPr lang="en-IE" sz="1400" dirty="0">
                <a:solidFill>
                  <a:srgbClr val="CD3300"/>
                </a:solidFill>
                <a:latin typeface="UbuntuMono-Regular"/>
              </a:rPr>
              <a:t>" is supported"</a:t>
            </a:r>
            <a:r>
              <a:rPr lang="en-IE" sz="1400" dirty="0">
                <a:solidFill>
                  <a:srgbClr val="555555"/>
                </a:solidFill>
                <a:latin typeface="UbuntuMono-Regular"/>
              </a:rPr>
              <a:t>);</a:t>
            </a:r>
          </a:p>
          <a:p>
            <a:pPr marL="0" lvl="0" indent="0">
              <a:buNone/>
            </a:pPr>
            <a:r>
              <a:rPr lang="en-IE" sz="1400" dirty="0">
                <a:solidFill>
                  <a:srgbClr val="555555"/>
                </a:solidFill>
                <a:latin typeface="UbuntuMono-Regular"/>
              </a:rPr>
              <a:t>} </a:t>
            </a:r>
            <a:r>
              <a:rPr lang="en-IE" sz="1400" b="1" dirty="0">
                <a:solidFill>
                  <a:srgbClr val="00669A"/>
                </a:solidFill>
                <a:latin typeface="UbuntuMono-Bold"/>
              </a:rPr>
              <a:t>catch </a:t>
            </a:r>
            <a:r>
              <a:rPr lang="en-IE" sz="1400" dirty="0">
                <a:solidFill>
                  <a:srgbClr val="555555"/>
                </a:solidFill>
                <a:latin typeface="UbuntuMono-Regular"/>
              </a:rPr>
              <a:t>(</a:t>
            </a:r>
            <a:r>
              <a:rPr lang="en-IE" sz="1400" dirty="0" err="1">
                <a:solidFill>
                  <a:srgbClr val="000089"/>
                </a:solidFill>
                <a:latin typeface="UbuntuMono-Regular"/>
              </a:rPr>
              <a:t>MalformedURLException</a:t>
            </a:r>
            <a:r>
              <a:rPr lang="en-IE" sz="1400" dirty="0">
                <a:solidFill>
                  <a:srgbClr val="000089"/>
                </a:solidFill>
                <a:latin typeface="UbuntuMono-Regular"/>
              </a:rPr>
              <a:t> ex</a:t>
            </a:r>
            <a:r>
              <a:rPr lang="en-IE" sz="1400" dirty="0">
                <a:solidFill>
                  <a:srgbClr val="555555"/>
                </a:solidFill>
                <a:latin typeface="UbuntuMono-Regular"/>
              </a:rPr>
              <a:t>) {</a:t>
            </a:r>
          </a:p>
          <a:p>
            <a:pPr marL="0" lvl="0" indent="0">
              <a:buNone/>
            </a:pPr>
            <a:r>
              <a:rPr lang="en-IE" sz="1400" dirty="0">
                <a:solidFill>
                  <a:srgbClr val="000089"/>
                </a:solidFill>
                <a:latin typeface="UbuntuMono-Regular"/>
              </a:rPr>
              <a:t>String protocol </a:t>
            </a:r>
            <a:r>
              <a:rPr lang="en-IE" sz="1400" dirty="0">
                <a:solidFill>
                  <a:srgbClr val="555555"/>
                </a:solidFill>
                <a:latin typeface="UbuntuMono-Regular"/>
              </a:rPr>
              <a:t>= </a:t>
            </a:r>
            <a:r>
              <a:rPr lang="en-IE" sz="1400" dirty="0" err="1">
                <a:solidFill>
                  <a:srgbClr val="000089"/>
                </a:solidFill>
                <a:latin typeface="UbuntuMono-Regular"/>
              </a:rPr>
              <a:t>url</a:t>
            </a:r>
            <a:r>
              <a:rPr lang="en-IE" sz="1400" dirty="0" err="1">
                <a:solidFill>
                  <a:srgbClr val="555555"/>
                </a:solidFill>
                <a:latin typeface="UbuntuMono-Regular"/>
              </a:rPr>
              <a:t>.</a:t>
            </a:r>
            <a:r>
              <a:rPr lang="en-IE" sz="1400" dirty="0" err="1">
                <a:solidFill>
                  <a:srgbClr val="33009A"/>
                </a:solidFill>
                <a:latin typeface="UbuntuMono-Regular"/>
              </a:rPr>
              <a:t>substring</a:t>
            </a:r>
            <a:r>
              <a:rPr lang="en-IE" sz="1400" dirty="0">
                <a:solidFill>
                  <a:srgbClr val="555555"/>
                </a:solidFill>
                <a:latin typeface="UbuntuMono-Regular"/>
              </a:rPr>
              <a:t>(</a:t>
            </a:r>
            <a:r>
              <a:rPr lang="en-IE" sz="1400" dirty="0">
                <a:solidFill>
                  <a:srgbClr val="FF6600"/>
                </a:solidFill>
                <a:latin typeface="UbuntuMono-Regular"/>
              </a:rPr>
              <a:t>0</a:t>
            </a:r>
            <a:r>
              <a:rPr lang="en-IE" sz="1400" dirty="0">
                <a:solidFill>
                  <a:srgbClr val="555555"/>
                </a:solidFill>
                <a:latin typeface="UbuntuMono-Regular"/>
              </a:rPr>
              <a:t>, </a:t>
            </a:r>
            <a:r>
              <a:rPr lang="en-IE" sz="1400" dirty="0" err="1">
                <a:solidFill>
                  <a:srgbClr val="000089"/>
                </a:solidFill>
                <a:latin typeface="UbuntuMono-Regular"/>
              </a:rPr>
              <a:t>url</a:t>
            </a:r>
            <a:r>
              <a:rPr lang="en-IE" sz="1400" dirty="0" err="1">
                <a:solidFill>
                  <a:srgbClr val="555555"/>
                </a:solidFill>
                <a:latin typeface="UbuntuMono-Regular"/>
              </a:rPr>
              <a:t>.</a:t>
            </a:r>
            <a:r>
              <a:rPr lang="en-IE" sz="1400" dirty="0" err="1">
                <a:solidFill>
                  <a:srgbClr val="33009A"/>
                </a:solidFill>
                <a:latin typeface="UbuntuMono-Regular"/>
              </a:rPr>
              <a:t>indexOf</a:t>
            </a:r>
            <a:r>
              <a:rPr lang="en-IE" sz="1400" dirty="0">
                <a:solidFill>
                  <a:srgbClr val="555555"/>
                </a:solidFill>
                <a:latin typeface="UbuntuMono-Regular"/>
              </a:rPr>
              <a:t>(</a:t>
            </a:r>
            <a:r>
              <a:rPr lang="en-IE" sz="1400" dirty="0">
                <a:solidFill>
                  <a:srgbClr val="CD3300"/>
                </a:solidFill>
                <a:latin typeface="UbuntuMono-Regular"/>
              </a:rPr>
              <a:t>':'</a:t>
            </a:r>
            <a:r>
              <a:rPr lang="en-IE" sz="1400" dirty="0">
                <a:solidFill>
                  <a:srgbClr val="555555"/>
                </a:solidFill>
                <a:latin typeface="UbuntuMono-Regular"/>
              </a:rPr>
              <a:t>));</a:t>
            </a:r>
          </a:p>
          <a:p>
            <a:pPr marL="0" lvl="0" indent="0">
              <a:buNone/>
            </a:pPr>
            <a:r>
              <a:rPr lang="en-IE" sz="1400" dirty="0" err="1">
                <a:solidFill>
                  <a:srgbClr val="000089"/>
                </a:solidFill>
                <a:latin typeface="UbuntuMono-Regular"/>
              </a:rPr>
              <a:t>System</a:t>
            </a:r>
            <a:r>
              <a:rPr lang="en-IE" sz="1400" dirty="0" err="1">
                <a:solidFill>
                  <a:srgbClr val="555555"/>
                </a:solidFill>
                <a:latin typeface="UbuntuMono-Regular"/>
              </a:rPr>
              <a:t>.</a:t>
            </a:r>
            <a:r>
              <a:rPr lang="en-IE" sz="1400" dirty="0" err="1">
                <a:solidFill>
                  <a:srgbClr val="33009A"/>
                </a:solidFill>
                <a:latin typeface="UbuntuMono-Regular"/>
              </a:rPr>
              <a:t>out</a:t>
            </a:r>
            <a:r>
              <a:rPr lang="en-IE" sz="1400" dirty="0" err="1">
                <a:solidFill>
                  <a:srgbClr val="555555"/>
                </a:solidFill>
                <a:latin typeface="UbuntuMono-Regular"/>
              </a:rPr>
              <a:t>.</a:t>
            </a:r>
            <a:r>
              <a:rPr lang="en-IE" sz="1400" dirty="0" err="1">
                <a:solidFill>
                  <a:srgbClr val="33009A"/>
                </a:solidFill>
                <a:latin typeface="UbuntuMono-Regular"/>
              </a:rPr>
              <a:t>println</a:t>
            </a:r>
            <a:r>
              <a:rPr lang="en-IE" sz="1400" dirty="0">
                <a:solidFill>
                  <a:srgbClr val="555555"/>
                </a:solidFill>
                <a:latin typeface="UbuntuMono-Regular"/>
              </a:rPr>
              <a:t>(</a:t>
            </a:r>
            <a:r>
              <a:rPr lang="en-IE" sz="1400" dirty="0">
                <a:solidFill>
                  <a:srgbClr val="000089"/>
                </a:solidFill>
                <a:latin typeface="UbuntuMono-Regular"/>
              </a:rPr>
              <a:t>protocol </a:t>
            </a:r>
            <a:r>
              <a:rPr lang="en-IE" sz="1400" dirty="0">
                <a:solidFill>
                  <a:srgbClr val="555555"/>
                </a:solidFill>
                <a:latin typeface="UbuntuMono-Regular"/>
              </a:rPr>
              <a:t>+ </a:t>
            </a:r>
            <a:r>
              <a:rPr lang="en-IE" sz="1400" dirty="0">
                <a:solidFill>
                  <a:srgbClr val="CD3300"/>
                </a:solidFill>
                <a:latin typeface="UbuntuMono-Regular"/>
              </a:rPr>
              <a:t>" is not supported"</a:t>
            </a:r>
            <a:r>
              <a:rPr lang="en-IE" sz="1400" dirty="0">
                <a:solidFill>
                  <a:srgbClr val="555555"/>
                </a:solidFill>
                <a:latin typeface="UbuntuMono-Regular"/>
              </a:rPr>
              <a:t>);</a:t>
            </a:r>
          </a:p>
          <a:p>
            <a:pPr marL="0" lvl="0" indent="0">
              <a:buNone/>
            </a:pPr>
            <a:r>
              <a:rPr lang="en-IE" sz="1400" dirty="0" smtClean="0">
                <a:solidFill>
                  <a:srgbClr val="555555"/>
                </a:solidFill>
                <a:latin typeface="UbuntuMono-Regular"/>
              </a:rPr>
              <a:t>}}}</a:t>
            </a:r>
            <a:endParaRPr lang="en-IE" sz="1400" dirty="0"/>
          </a:p>
        </p:txBody>
      </p:sp>
    </p:spTree>
    <p:extLst>
      <p:ext uri="{BB962C8B-B14F-4D97-AF65-F5344CB8AC3E}">
        <p14:creationId xmlns:p14="http://schemas.microsoft.com/office/powerpoint/2010/main" val="142995458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39762"/>
          </a:xfrm>
        </p:spPr>
        <p:txBody>
          <a:bodyPr>
            <a:noAutofit/>
          </a:bodyPr>
          <a:lstStyle/>
          <a:p>
            <a:r>
              <a:rPr lang="en-IE" sz="3600" dirty="0"/>
              <a:t>Constructing a URL from its component parts</a:t>
            </a:r>
            <a:endParaRPr lang="en-IE" sz="3600" b="1" dirty="0"/>
          </a:p>
        </p:txBody>
      </p:sp>
      <p:sp>
        <p:nvSpPr>
          <p:cNvPr id="3" name="Content Placeholder 2"/>
          <p:cNvSpPr>
            <a:spLocks noGrp="1"/>
          </p:cNvSpPr>
          <p:nvPr>
            <p:ph idx="1"/>
          </p:nvPr>
        </p:nvSpPr>
        <p:spPr>
          <a:xfrm>
            <a:off x="0" y="609600"/>
            <a:ext cx="9144000" cy="6248400"/>
          </a:xfrm>
        </p:spPr>
        <p:txBody>
          <a:bodyPr>
            <a:noAutofit/>
          </a:bodyPr>
          <a:lstStyle/>
          <a:p>
            <a:r>
              <a:rPr lang="en-IE" sz="1800" b="1" dirty="0">
                <a:solidFill>
                  <a:srgbClr val="00669A"/>
                </a:solidFill>
                <a:latin typeface="UbuntuMono-Bold"/>
              </a:rPr>
              <a:t>public </a:t>
            </a:r>
            <a:r>
              <a:rPr lang="en-IE" sz="1800" dirty="0">
                <a:solidFill>
                  <a:srgbClr val="CD00FF"/>
                </a:solidFill>
                <a:latin typeface="UbuntuMono-Regular"/>
              </a:rPr>
              <a:t>URL</a:t>
            </a:r>
            <a:r>
              <a:rPr lang="en-IE" sz="1800" dirty="0">
                <a:solidFill>
                  <a:srgbClr val="555555"/>
                </a:solidFill>
                <a:latin typeface="UbuntuMono-Regular"/>
              </a:rPr>
              <a:t>(</a:t>
            </a:r>
            <a:r>
              <a:rPr lang="en-IE" sz="1800" dirty="0">
                <a:solidFill>
                  <a:srgbClr val="000089"/>
                </a:solidFill>
                <a:latin typeface="UbuntuMono-Regular"/>
              </a:rPr>
              <a:t>String protocol</a:t>
            </a:r>
            <a:r>
              <a:rPr lang="en-IE" sz="1800" dirty="0">
                <a:solidFill>
                  <a:srgbClr val="555555"/>
                </a:solidFill>
                <a:latin typeface="UbuntuMono-Regular"/>
              </a:rPr>
              <a:t>, </a:t>
            </a:r>
            <a:r>
              <a:rPr lang="en-IE" sz="1800" dirty="0">
                <a:solidFill>
                  <a:srgbClr val="000089"/>
                </a:solidFill>
                <a:latin typeface="UbuntuMono-Regular"/>
              </a:rPr>
              <a:t>String hostname</a:t>
            </a:r>
            <a:r>
              <a:rPr lang="en-IE" sz="1800" dirty="0">
                <a:solidFill>
                  <a:srgbClr val="555555"/>
                </a:solidFill>
                <a:latin typeface="UbuntuMono-Regular"/>
              </a:rPr>
              <a:t>, </a:t>
            </a:r>
            <a:r>
              <a:rPr lang="en-IE" sz="1800" dirty="0">
                <a:solidFill>
                  <a:srgbClr val="000089"/>
                </a:solidFill>
                <a:latin typeface="UbuntuMono-Regular"/>
              </a:rPr>
              <a:t>String </a:t>
            </a:r>
            <a:r>
              <a:rPr lang="en-IE" sz="1800" dirty="0" smtClean="0">
                <a:solidFill>
                  <a:srgbClr val="000089"/>
                </a:solidFill>
                <a:latin typeface="UbuntuMono-Regular"/>
              </a:rPr>
              <a:t>file</a:t>
            </a:r>
            <a:r>
              <a:rPr lang="en-IE" sz="1800" dirty="0" smtClean="0">
                <a:solidFill>
                  <a:srgbClr val="555555"/>
                </a:solidFill>
                <a:latin typeface="UbuntuMono-Regular"/>
              </a:rPr>
              <a:t>) </a:t>
            </a:r>
            <a:r>
              <a:rPr lang="en-IE" sz="1800" b="1" dirty="0" smtClean="0">
                <a:solidFill>
                  <a:srgbClr val="00669A"/>
                </a:solidFill>
                <a:latin typeface="UbuntuMono-Bold"/>
              </a:rPr>
              <a:t>throws </a:t>
            </a:r>
            <a:r>
              <a:rPr lang="en-IE" sz="1800" dirty="0" err="1" smtClean="0">
                <a:solidFill>
                  <a:srgbClr val="000089"/>
                </a:solidFill>
                <a:latin typeface="UbuntuMono-Regular"/>
              </a:rPr>
              <a:t>MalformedURLException</a:t>
            </a:r>
            <a:endParaRPr lang="en-IE" sz="1800" dirty="0" smtClean="0">
              <a:solidFill>
                <a:srgbClr val="000089"/>
              </a:solidFill>
              <a:latin typeface="UbuntuMono-Regular"/>
            </a:endParaRPr>
          </a:p>
          <a:p>
            <a:r>
              <a:rPr lang="en-IE" sz="1800" dirty="0">
                <a:solidFill>
                  <a:srgbClr val="000000"/>
                </a:solidFill>
                <a:latin typeface="MinionPro-Regular"/>
              </a:rPr>
              <a:t>This constructor sets the port to -1 so the default port for the protocol will be used. </a:t>
            </a:r>
            <a:r>
              <a:rPr lang="en-IE" sz="1800" dirty="0" smtClean="0">
                <a:solidFill>
                  <a:srgbClr val="000000"/>
                </a:solidFill>
                <a:latin typeface="MinionPro-Regular"/>
              </a:rPr>
              <a:t>The </a:t>
            </a:r>
            <a:r>
              <a:rPr lang="en-IE" sz="1800" dirty="0" smtClean="0">
                <a:solidFill>
                  <a:srgbClr val="000000"/>
                </a:solidFill>
                <a:latin typeface="UbuntuMono-Regular"/>
              </a:rPr>
              <a:t>file </a:t>
            </a:r>
            <a:r>
              <a:rPr lang="en-IE" sz="1800" dirty="0">
                <a:solidFill>
                  <a:srgbClr val="000000"/>
                </a:solidFill>
                <a:latin typeface="MinionPro-Regular"/>
              </a:rPr>
              <a:t>argument should begin with a slash and include a path, a filename, and </a:t>
            </a:r>
            <a:r>
              <a:rPr lang="en-IE" sz="1800" dirty="0" smtClean="0">
                <a:solidFill>
                  <a:srgbClr val="000000"/>
                </a:solidFill>
                <a:latin typeface="MinionPro-Regular"/>
              </a:rPr>
              <a:t>optionally a </a:t>
            </a:r>
            <a:r>
              <a:rPr lang="en-IE" sz="1800" dirty="0">
                <a:solidFill>
                  <a:srgbClr val="000000"/>
                </a:solidFill>
                <a:latin typeface="MinionPro-Regular"/>
              </a:rPr>
              <a:t>fragment identifier. </a:t>
            </a:r>
            <a:endParaRPr lang="en-IE" sz="1800" dirty="0" smtClean="0">
              <a:solidFill>
                <a:srgbClr val="000000"/>
              </a:solidFill>
              <a:latin typeface="MinionPro-Regular"/>
            </a:endParaRPr>
          </a:p>
          <a:p>
            <a:r>
              <a:rPr lang="en-IE" sz="1400" b="1" dirty="0" smtClean="0">
                <a:solidFill>
                  <a:srgbClr val="00669A"/>
                </a:solidFill>
                <a:latin typeface="UbuntuMono-Bold"/>
              </a:rPr>
              <a:t>try </a:t>
            </a:r>
            <a:r>
              <a:rPr lang="en-IE" sz="1400" dirty="0">
                <a:solidFill>
                  <a:srgbClr val="555555"/>
                </a:solidFill>
                <a:latin typeface="UbuntuMono-Regular"/>
              </a:rPr>
              <a:t>{</a:t>
            </a:r>
          </a:p>
          <a:p>
            <a:r>
              <a:rPr lang="en-IE" sz="1400" dirty="0">
                <a:solidFill>
                  <a:srgbClr val="000089"/>
                </a:solidFill>
                <a:latin typeface="UbuntuMono-Regular"/>
              </a:rPr>
              <a:t>URL u </a:t>
            </a:r>
            <a:r>
              <a:rPr lang="en-IE" sz="1400" dirty="0">
                <a:solidFill>
                  <a:srgbClr val="555555"/>
                </a:solidFill>
                <a:latin typeface="UbuntuMono-Regular"/>
              </a:rPr>
              <a:t>= </a:t>
            </a:r>
            <a:r>
              <a:rPr lang="en-IE" sz="1400" b="1" dirty="0">
                <a:solidFill>
                  <a:srgbClr val="00669A"/>
                </a:solidFill>
                <a:latin typeface="UbuntuMono-Bold"/>
              </a:rPr>
              <a:t>new </a:t>
            </a:r>
            <a:r>
              <a:rPr lang="en-IE" sz="1400" dirty="0">
                <a:solidFill>
                  <a:srgbClr val="000089"/>
                </a:solidFill>
                <a:latin typeface="UbuntuMono-Regular"/>
              </a:rPr>
              <a:t>URL</a:t>
            </a:r>
            <a:r>
              <a:rPr lang="en-IE" sz="1400" dirty="0">
                <a:solidFill>
                  <a:srgbClr val="555555"/>
                </a:solidFill>
                <a:latin typeface="UbuntuMono-Regular"/>
              </a:rPr>
              <a:t>(</a:t>
            </a:r>
            <a:r>
              <a:rPr lang="en-IE" sz="1400" dirty="0">
                <a:solidFill>
                  <a:srgbClr val="CD3300"/>
                </a:solidFill>
                <a:latin typeface="UbuntuMono-Regular"/>
              </a:rPr>
              <a:t>"http"</a:t>
            </a:r>
            <a:r>
              <a:rPr lang="en-IE" sz="1400" dirty="0">
                <a:solidFill>
                  <a:srgbClr val="555555"/>
                </a:solidFill>
                <a:latin typeface="UbuntuMono-Regular"/>
              </a:rPr>
              <a:t>, </a:t>
            </a:r>
            <a:r>
              <a:rPr lang="en-IE" sz="1400" dirty="0">
                <a:solidFill>
                  <a:srgbClr val="CD3300"/>
                </a:solidFill>
                <a:latin typeface="UbuntuMono-Regular"/>
              </a:rPr>
              <a:t>"www.eff.org"</a:t>
            </a:r>
            <a:r>
              <a:rPr lang="en-IE" sz="1400" dirty="0">
                <a:solidFill>
                  <a:srgbClr val="555555"/>
                </a:solidFill>
                <a:latin typeface="UbuntuMono-Regular"/>
              </a:rPr>
              <a:t>, </a:t>
            </a:r>
            <a:r>
              <a:rPr lang="en-IE" sz="1400" dirty="0">
                <a:solidFill>
                  <a:srgbClr val="CD3300"/>
                </a:solidFill>
                <a:latin typeface="UbuntuMono-Regular"/>
              </a:rPr>
              <a:t>"/</a:t>
            </a:r>
            <a:r>
              <a:rPr lang="en-IE" sz="1400" dirty="0" err="1">
                <a:solidFill>
                  <a:srgbClr val="CD3300"/>
                </a:solidFill>
                <a:latin typeface="UbuntuMono-Regular"/>
              </a:rPr>
              <a:t>blueribbon.html#intro</a:t>
            </a:r>
            <a:r>
              <a:rPr lang="en-IE" sz="1400" dirty="0">
                <a:solidFill>
                  <a:srgbClr val="CD3300"/>
                </a:solidFill>
                <a:latin typeface="UbuntuMono-Regular"/>
              </a:rPr>
              <a:t>"</a:t>
            </a:r>
            <a:r>
              <a:rPr lang="en-IE" sz="1400" dirty="0">
                <a:solidFill>
                  <a:srgbClr val="555555"/>
                </a:solidFill>
                <a:latin typeface="UbuntuMono-Regular"/>
              </a:rPr>
              <a:t>);</a:t>
            </a:r>
          </a:p>
          <a:p>
            <a:r>
              <a:rPr lang="en-IE" sz="1400" dirty="0">
                <a:solidFill>
                  <a:srgbClr val="555555"/>
                </a:solidFill>
                <a:latin typeface="UbuntuMono-Regular"/>
              </a:rPr>
              <a:t>} </a:t>
            </a:r>
            <a:r>
              <a:rPr lang="en-IE" sz="1400" b="1" dirty="0">
                <a:solidFill>
                  <a:srgbClr val="00669A"/>
                </a:solidFill>
                <a:latin typeface="UbuntuMono-Bold"/>
              </a:rPr>
              <a:t>catch </a:t>
            </a:r>
            <a:r>
              <a:rPr lang="en-IE" sz="1400" dirty="0">
                <a:solidFill>
                  <a:srgbClr val="555555"/>
                </a:solidFill>
                <a:latin typeface="UbuntuMono-Regular"/>
              </a:rPr>
              <a:t>(</a:t>
            </a:r>
            <a:r>
              <a:rPr lang="en-IE" sz="1400" dirty="0" err="1">
                <a:solidFill>
                  <a:srgbClr val="000089"/>
                </a:solidFill>
                <a:latin typeface="UbuntuMono-Regular"/>
              </a:rPr>
              <a:t>MalformedURLException</a:t>
            </a:r>
            <a:r>
              <a:rPr lang="en-IE" sz="1400" dirty="0">
                <a:solidFill>
                  <a:srgbClr val="000089"/>
                </a:solidFill>
                <a:latin typeface="UbuntuMono-Regular"/>
              </a:rPr>
              <a:t> ex</a:t>
            </a:r>
            <a:r>
              <a:rPr lang="en-IE" sz="1400" dirty="0">
                <a:solidFill>
                  <a:srgbClr val="555555"/>
                </a:solidFill>
                <a:latin typeface="UbuntuMono-Regular"/>
              </a:rPr>
              <a:t>) </a:t>
            </a:r>
            <a:r>
              <a:rPr lang="en-IE" sz="1400" dirty="0" smtClean="0">
                <a:solidFill>
                  <a:srgbClr val="555555"/>
                </a:solidFill>
                <a:latin typeface="UbuntuMono-Regular"/>
              </a:rPr>
              <a:t>{</a:t>
            </a:r>
          </a:p>
          <a:p>
            <a:r>
              <a:rPr lang="en-IE" sz="1400" b="1" dirty="0">
                <a:solidFill>
                  <a:srgbClr val="00669A"/>
                </a:solidFill>
                <a:latin typeface="UbuntuMono-Bold"/>
              </a:rPr>
              <a:t>throw new </a:t>
            </a:r>
            <a:r>
              <a:rPr lang="en-IE" sz="1400" dirty="0" err="1">
                <a:solidFill>
                  <a:srgbClr val="CD00FF"/>
                </a:solidFill>
                <a:latin typeface="UbuntuMono-Regular"/>
              </a:rPr>
              <a:t>RuntimeException</a:t>
            </a:r>
            <a:r>
              <a:rPr lang="en-IE" sz="1400" dirty="0">
                <a:solidFill>
                  <a:srgbClr val="555555"/>
                </a:solidFill>
                <a:latin typeface="UbuntuMono-Regular"/>
              </a:rPr>
              <a:t>(</a:t>
            </a:r>
            <a:r>
              <a:rPr lang="en-IE" sz="1400" dirty="0">
                <a:solidFill>
                  <a:srgbClr val="CD3300"/>
                </a:solidFill>
                <a:latin typeface="UbuntuMono-Regular"/>
              </a:rPr>
              <a:t>"shouldn't happen; all VMs recognize http"</a:t>
            </a:r>
            <a:r>
              <a:rPr lang="en-IE" sz="1400" dirty="0">
                <a:solidFill>
                  <a:srgbClr val="555555"/>
                </a:solidFill>
                <a:latin typeface="UbuntuMono-Regular"/>
              </a:rPr>
              <a:t>);</a:t>
            </a:r>
          </a:p>
          <a:p>
            <a:r>
              <a:rPr lang="en-IE" sz="1400" dirty="0">
                <a:solidFill>
                  <a:srgbClr val="555555"/>
                </a:solidFill>
                <a:latin typeface="UbuntuMono-Regular"/>
              </a:rPr>
              <a:t>}</a:t>
            </a:r>
          </a:p>
          <a:p>
            <a:r>
              <a:rPr lang="en-IE" sz="1800" dirty="0">
                <a:solidFill>
                  <a:srgbClr val="000000"/>
                </a:solidFill>
                <a:latin typeface="MinionPro-Regular"/>
              </a:rPr>
              <a:t>This creates a </a:t>
            </a:r>
            <a:r>
              <a:rPr lang="en-IE" sz="1800" dirty="0">
                <a:solidFill>
                  <a:srgbClr val="000000"/>
                </a:solidFill>
                <a:latin typeface="UbuntuMono-Regular"/>
              </a:rPr>
              <a:t>URL </a:t>
            </a:r>
            <a:r>
              <a:rPr lang="en-IE" sz="1800" dirty="0">
                <a:solidFill>
                  <a:srgbClr val="000000"/>
                </a:solidFill>
                <a:latin typeface="MinionPro-Regular"/>
              </a:rPr>
              <a:t>object that points to </a:t>
            </a:r>
            <a:r>
              <a:rPr lang="en-IE" sz="1800" i="1" dirty="0">
                <a:solidFill>
                  <a:srgbClr val="000000"/>
                </a:solidFill>
                <a:latin typeface="MinionPro-Italic"/>
              </a:rPr>
              <a:t>http://www.eff.org/blueribbon.html#intro</a:t>
            </a:r>
            <a:r>
              <a:rPr lang="en-IE" sz="1800" dirty="0">
                <a:solidFill>
                  <a:srgbClr val="000000"/>
                </a:solidFill>
                <a:latin typeface="MinionPro-Regular"/>
              </a:rPr>
              <a:t>, </a:t>
            </a:r>
            <a:r>
              <a:rPr lang="en-IE" sz="1800" dirty="0" smtClean="0">
                <a:solidFill>
                  <a:srgbClr val="000000"/>
                </a:solidFill>
                <a:latin typeface="MinionPro-Regular"/>
              </a:rPr>
              <a:t>using the </a:t>
            </a:r>
            <a:r>
              <a:rPr lang="en-IE" sz="1800" dirty="0">
                <a:solidFill>
                  <a:srgbClr val="000000"/>
                </a:solidFill>
                <a:latin typeface="MinionPro-Regular"/>
              </a:rPr>
              <a:t>default port for the HTTP protocol (port 80</a:t>
            </a:r>
            <a:r>
              <a:rPr lang="en-IE" sz="1800" dirty="0" smtClean="0">
                <a:solidFill>
                  <a:srgbClr val="000000"/>
                </a:solidFill>
                <a:latin typeface="MinionPro-Regular"/>
              </a:rPr>
              <a:t>). </a:t>
            </a:r>
          </a:p>
          <a:p>
            <a:r>
              <a:rPr lang="en-IE" sz="1800" dirty="0" smtClean="0">
                <a:solidFill>
                  <a:srgbClr val="000000"/>
                </a:solidFill>
                <a:latin typeface="MinionPro-Regular"/>
              </a:rPr>
              <a:t>For </a:t>
            </a:r>
            <a:r>
              <a:rPr lang="en-IE" sz="1800" dirty="0">
                <a:solidFill>
                  <a:srgbClr val="000000"/>
                </a:solidFill>
                <a:latin typeface="MinionPro-Regular"/>
              </a:rPr>
              <a:t>the rare occasions when the default port isn’t correct, the next constructor lets </a:t>
            </a:r>
            <a:r>
              <a:rPr lang="en-IE" sz="1800" dirty="0" smtClean="0">
                <a:solidFill>
                  <a:srgbClr val="000000"/>
                </a:solidFill>
                <a:latin typeface="MinionPro-Regular"/>
              </a:rPr>
              <a:t>you specify </a:t>
            </a:r>
            <a:r>
              <a:rPr lang="en-IE" sz="1800" dirty="0">
                <a:solidFill>
                  <a:srgbClr val="000000"/>
                </a:solidFill>
                <a:latin typeface="MinionPro-Regular"/>
              </a:rPr>
              <a:t>the port explicitly as an </a:t>
            </a:r>
            <a:r>
              <a:rPr lang="en-IE" sz="1800" dirty="0">
                <a:solidFill>
                  <a:srgbClr val="000000"/>
                </a:solidFill>
                <a:latin typeface="UbuntuMono-Regular"/>
              </a:rPr>
              <a:t>int</a:t>
            </a:r>
            <a:r>
              <a:rPr lang="en-IE" sz="1800" dirty="0">
                <a:solidFill>
                  <a:srgbClr val="000000"/>
                </a:solidFill>
                <a:latin typeface="MinionPro-Regular"/>
              </a:rPr>
              <a:t>. The other arguments are the same. </a:t>
            </a:r>
            <a:endParaRPr lang="en-IE" sz="1800" dirty="0" smtClean="0">
              <a:solidFill>
                <a:srgbClr val="000000"/>
              </a:solidFill>
              <a:latin typeface="MinionPro-Regular"/>
            </a:endParaRPr>
          </a:p>
          <a:p>
            <a:r>
              <a:rPr lang="en-IE" sz="1800" dirty="0" smtClean="0">
                <a:solidFill>
                  <a:srgbClr val="000000"/>
                </a:solidFill>
                <a:latin typeface="MinionPro-Regular"/>
              </a:rPr>
              <a:t>For </a:t>
            </a:r>
            <a:r>
              <a:rPr lang="en-IE" sz="1800" dirty="0">
                <a:solidFill>
                  <a:srgbClr val="000000"/>
                </a:solidFill>
                <a:latin typeface="MinionPro-Regular"/>
              </a:rPr>
              <a:t>example</a:t>
            </a:r>
            <a:r>
              <a:rPr lang="en-IE" sz="1800" dirty="0" smtClean="0">
                <a:solidFill>
                  <a:srgbClr val="000000"/>
                </a:solidFill>
                <a:latin typeface="MinionPro-Regular"/>
              </a:rPr>
              <a:t>, this </a:t>
            </a:r>
            <a:r>
              <a:rPr lang="en-IE" sz="1800" dirty="0">
                <a:solidFill>
                  <a:srgbClr val="000000"/>
                </a:solidFill>
                <a:latin typeface="MinionPro-Regular"/>
              </a:rPr>
              <a:t>code fragment creates a </a:t>
            </a:r>
            <a:r>
              <a:rPr lang="en-IE" sz="1800" dirty="0">
                <a:solidFill>
                  <a:srgbClr val="000000"/>
                </a:solidFill>
                <a:latin typeface="UbuntuMono-Regular"/>
              </a:rPr>
              <a:t>URL </a:t>
            </a:r>
            <a:r>
              <a:rPr lang="en-IE" sz="1800" dirty="0">
                <a:solidFill>
                  <a:srgbClr val="000000"/>
                </a:solidFill>
                <a:latin typeface="MinionPro-Regular"/>
              </a:rPr>
              <a:t>object that points to </a:t>
            </a:r>
            <a:r>
              <a:rPr lang="en-IE" sz="1800" i="1" dirty="0">
                <a:solidFill>
                  <a:srgbClr val="000000"/>
                </a:solidFill>
                <a:latin typeface="MinionPro-Italic"/>
              </a:rPr>
              <a:t>http://fourier.dur.ac.uk:8000</a:t>
            </a:r>
            <a:r>
              <a:rPr lang="en-IE" sz="1800" i="1" dirty="0" smtClean="0">
                <a:solidFill>
                  <a:srgbClr val="000000"/>
                </a:solidFill>
                <a:latin typeface="MinionPro-Italic"/>
              </a:rPr>
              <a:t>/~</a:t>
            </a:r>
            <a:r>
              <a:rPr lang="en-IE" sz="1800" i="1" dirty="0">
                <a:solidFill>
                  <a:srgbClr val="000000"/>
                </a:solidFill>
                <a:latin typeface="MinionPro-Italic"/>
              </a:rPr>
              <a:t>dma3mjh/jsci/</a:t>
            </a:r>
            <a:r>
              <a:rPr lang="en-IE" sz="1800" dirty="0">
                <a:solidFill>
                  <a:srgbClr val="000000"/>
                </a:solidFill>
                <a:latin typeface="MinionPro-Regular"/>
              </a:rPr>
              <a:t>, specifying port 8000 explicitly:</a:t>
            </a:r>
          </a:p>
          <a:p>
            <a:r>
              <a:rPr lang="en-IE" sz="1400" b="1" dirty="0">
                <a:solidFill>
                  <a:srgbClr val="00669A"/>
                </a:solidFill>
                <a:latin typeface="UbuntuMono-Bold"/>
              </a:rPr>
              <a:t>try </a:t>
            </a:r>
            <a:r>
              <a:rPr lang="en-IE" sz="1400" dirty="0">
                <a:solidFill>
                  <a:srgbClr val="555555"/>
                </a:solidFill>
                <a:latin typeface="UbuntuMono-Regular"/>
              </a:rPr>
              <a:t>{</a:t>
            </a:r>
          </a:p>
          <a:p>
            <a:r>
              <a:rPr lang="en-IE" sz="1400" dirty="0">
                <a:solidFill>
                  <a:srgbClr val="000089"/>
                </a:solidFill>
                <a:latin typeface="UbuntuMono-Regular"/>
              </a:rPr>
              <a:t>URL u </a:t>
            </a:r>
            <a:r>
              <a:rPr lang="en-IE" sz="1400" dirty="0">
                <a:solidFill>
                  <a:srgbClr val="555555"/>
                </a:solidFill>
                <a:latin typeface="UbuntuMono-Regular"/>
              </a:rPr>
              <a:t>= </a:t>
            </a:r>
            <a:r>
              <a:rPr lang="en-IE" sz="1400" b="1" dirty="0">
                <a:solidFill>
                  <a:srgbClr val="00669A"/>
                </a:solidFill>
                <a:latin typeface="UbuntuMono-Bold"/>
              </a:rPr>
              <a:t>new </a:t>
            </a:r>
            <a:r>
              <a:rPr lang="en-IE" sz="1400" dirty="0">
                <a:solidFill>
                  <a:srgbClr val="000089"/>
                </a:solidFill>
                <a:latin typeface="UbuntuMono-Regular"/>
              </a:rPr>
              <a:t>URL</a:t>
            </a:r>
            <a:r>
              <a:rPr lang="en-IE" sz="1400" dirty="0">
                <a:solidFill>
                  <a:srgbClr val="555555"/>
                </a:solidFill>
                <a:latin typeface="UbuntuMono-Regular"/>
              </a:rPr>
              <a:t>(</a:t>
            </a:r>
            <a:r>
              <a:rPr lang="en-IE" sz="1400" dirty="0">
                <a:solidFill>
                  <a:srgbClr val="CD3300"/>
                </a:solidFill>
                <a:latin typeface="UbuntuMono-Regular"/>
              </a:rPr>
              <a:t>"http"</a:t>
            </a:r>
            <a:r>
              <a:rPr lang="en-IE" sz="1400" dirty="0">
                <a:solidFill>
                  <a:srgbClr val="555555"/>
                </a:solidFill>
                <a:latin typeface="UbuntuMono-Regular"/>
              </a:rPr>
              <a:t>, </a:t>
            </a:r>
            <a:r>
              <a:rPr lang="en-IE" sz="1400" dirty="0">
                <a:solidFill>
                  <a:srgbClr val="CD3300"/>
                </a:solidFill>
                <a:latin typeface="UbuntuMono-Regular"/>
              </a:rPr>
              <a:t>"fourier.dur.ac.uk"</a:t>
            </a:r>
            <a:r>
              <a:rPr lang="en-IE" sz="1400" dirty="0">
                <a:solidFill>
                  <a:srgbClr val="555555"/>
                </a:solidFill>
                <a:latin typeface="UbuntuMono-Regular"/>
              </a:rPr>
              <a:t>, </a:t>
            </a:r>
            <a:r>
              <a:rPr lang="en-IE" sz="1400" dirty="0">
                <a:solidFill>
                  <a:srgbClr val="FF6600"/>
                </a:solidFill>
                <a:latin typeface="UbuntuMono-Regular"/>
              </a:rPr>
              <a:t>8000</a:t>
            </a:r>
            <a:r>
              <a:rPr lang="en-IE" sz="1400" dirty="0">
                <a:solidFill>
                  <a:srgbClr val="555555"/>
                </a:solidFill>
                <a:latin typeface="UbuntuMono-Regular"/>
              </a:rPr>
              <a:t>, </a:t>
            </a:r>
            <a:r>
              <a:rPr lang="en-IE" sz="1400" dirty="0">
                <a:solidFill>
                  <a:srgbClr val="CD3300"/>
                </a:solidFill>
                <a:latin typeface="UbuntuMono-Regular"/>
              </a:rPr>
              <a:t>"/~dma3mjh/</a:t>
            </a:r>
            <a:r>
              <a:rPr lang="en-IE" sz="1400" dirty="0" err="1">
                <a:solidFill>
                  <a:srgbClr val="CD3300"/>
                </a:solidFill>
                <a:latin typeface="UbuntuMono-Regular"/>
              </a:rPr>
              <a:t>jsci</a:t>
            </a:r>
            <a:r>
              <a:rPr lang="en-IE" sz="1400" dirty="0">
                <a:solidFill>
                  <a:srgbClr val="CD3300"/>
                </a:solidFill>
                <a:latin typeface="UbuntuMono-Regular"/>
              </a:rPr>
              <a:t>/"</a:t>
            </a:r>
            <a:r>
              <a:rPr lang="en-IE" sz="1400" dirty="0">
                <a:solidFill>
                  <a:srgbClr val="555555"/>
                </a:solidFill>
                <a:latin typeface="UbuntuMono-Regular"/>
              </a:rPr>
              <a:t>);</a:t>
            </a:r>
          </a:p>
          <a:p>
            <a:r>
              <a:rPr lang="en-IE" sz="1400" dirty="0">
                <a:solidFill>
                  <a:srgbClr val="555555"/>
                </a:solidFill>
                <a:latin typeface="UbuntuMono-Regular"/>
              </a:rPr>
              <a:t>} </a:t>
            </a:r>
            <a:r>
              <a:rPr lang="en-IE" sz="1400" b="1" dirty="0">
                <a:solidFill>
                  <a:srgbClr val="00669A"/>
                </a:solidFill>
                <a:latin typeface="UbuntuMono-Bold"/>
              </a:rPr>
              <a:t>catch </a:t>
            </a:r>
            <a:r>
              <a:rPr lang="en-IE" sz="1400" dirty="0">
                <a:solidFill>
                  <a:srgbClr val="555555"/>
                </a:solidFill>
                <a:latin typeface="UbuntuMono-Regular"/>
              </a:rPr>
              <a:t>(</a:t>
            </a:r>
            <a:r>
              <a:rPr lang="en-IE" sz="1400" dirty="0" err="1">
                <a:solidFill>
                  <a:srgbClr val="000089"/>
                </a:solidFill>
                <a:latin typeface="UbuntuMono-Regular"/>
              </a:rPr>
              <a:t>MalformedURLException</a:t>
            </a:r>
            <a:r>
              <a:rPr lang="en-IE" sz="1400" dirty="0">
                <a:solidFill>
                  <a:srgbClr val="000089"/>
                </a:solidFill>
                <a:latin typeface="UbuntuMono-Regular"/>
              </a:rPr>
              <a:t> ex</a:t>
            </a:r>
            <a:r>
              <a:rPr lang="en-IE" sz="1400" dirty="0">
                <a:solidFill>
                  <a:srgbClr val="555555"/>
                </a:solidFill>
                <a:latin typeface="UbuntuMono-Regular"/>
              </a:rPr>
              <a:t>) {</a:t>
            </a:r>
          </a:p>
          <a:p>
            <a:r>
              <a:rPr lang="en-IE" sz="1400" b="1" dirty="0">
                <a:solidFill>
                  <a:srgbClr val="00669A"/>
                </a:solidFill>
                <a:latin typeface="UbuntuMono-Bold"/>
              </a:rPr>
              <a:t>throw new </a:t>
            </a:r>
            <a:r>
              <a:rPr lang="en-IE" sz="1400" dirty="0" err="1">
                <a:solidFill>
                  <a:srgbClr val="CD00FF"/>
                </a:solidFill>
                <a:latin typeface="UbuntuMono-Regular"/>
              </a:rPr>
              <a:t>RuntimeException</a:t>
            </a:r>
            <a:r>
              <a:rPr lang="en-IE" sz="1400" dirty="0">
                <a:solidFill>
                  <a:srgbClr val="555555"/>
                </a:solidFill>
                <a:latin typeface="UbuntuMono-Regular"/>
              </a:rPr>
              <a:t>(</a:t>
            </a:r>
            <a:r>
              <a:rPr lang="en-IE" sz="1400" dirty="0">
                <a:solidFill>
                  <a:srgbClr val="CD3300"/>
                </a:solidFill>
                <a:latin typeface="UbuntuMono-Regular"/>
              </a:rPr>
              <a:t>"shouldn't happen; all VMs recognize http"</a:t>
            </a:r>
            <a:r>
              <a:rPr lang="en-IE" sz="1400" dirty="0">
                <a:solidFill>
                  <a:srgbClr val="555555"/>
                </a:solidFill>
                <a:latin typeface="UbuntuMono-Regular"/>
              </a:rPr>
              <a:t>);</a:t>
            </a:r>
          </a:p>
          <a:p>
            <a:r>
              <a:rPr lang="en-IE" sz="1400" dirty="0">
                <a:solidFill>
                  <a:srgbClr val="555555"/>
                </a:solidFill>
                <a:latin typeface="UbuntuMono-Regular"/>
              </a:rPr>
              <a:t>}</a:t>
            </a:r>
            <a:endParaRPr lang="en-IE" sz="1800" dirty="0"/>
          </a:p>
        </p:txBody>
      </p:sp>
    </p:spTree>
    <p:extLst>
      <p:ext uri="{BB962C8B-B14F-4D97-AF65-F5344CB8AC3E}">
        <p14:creationId xmlns:p14="http://schemas.microsoft.com/office/powerpoint/2010/main" val="358440683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39762"/>
          </a:xfrm>
        </p:spPr>
        <p:txBody>
          <a:bodyPr>
            <a:noAutofit/>
          </a:bodyPr>
          <a:lstStyle/>
          <a:p>
            <a:r>
              <a:rPr lang="en-IE" sz="3600" dirty="0"/>
              <a:t>Constructing </a:t>
            </a:r>
            <a:r>
              <a:rPr lang="en-IE" sz="3600" dirty="0" smtClean="0"/>
              <a:t>Relative URLs</a:t>
            </a:r>
            <a:endParaRPr lang="en-IE" sz="3600" b="1" dirty="0"/>
          </a:p>
        </p:txBody>
      </p:sp>
      <p:sp>
        <p:nvSpPr>
          <p:cNvPr id="3" name="Content Placeholder 2"/>
          <p:cNvSpPr>
            <a:spLocks noGrp="1"/>
          </p:cNvSpPr>
          <p:nvPr>
            <p:ph idx="1"/>
          </p:nvPr>
        </p:nvSpPr>
        <p:spPr>
          <a:xfrm>
            <a:off x="0" y="609600"/>
            <a:ext cx="9144000" cy="6248400"/>
          </a:xfrm>
        </p:spPr>
        <p:txBody>
          <a:bodyPr>
            <a:noAutofit/>
          </a:bodyPr>
          <a:lstStyle/>
          <a:p>
            <a:r>
              <a:rPr lang="en-IE" sz="1800" dirty="0">
                <a:solidFill>
                  <a:srgbClr val="000000"/>
                </a:solidFill>
                <a:latin typeface="MinionPro-Regular"/>
              </a:rPr>
              <a:t>This constructor builds an absolute </a:t>
            </a:r>
            <a:r>
              <a:rPr lang="en-IE" sz="1800" dirty="0">
                <a:solidFill>
                  <a:srgbClr val="000000"/>
                </a:solidFill>
                <a:latin typeface="UbuntuMono-Regular"/>
              </a:rPr>
              <a:t>URL </a:t>
            </a:r>
            <a:r>
              <a:rPr lang="en-IE" sz="1800" dirty="0">
                <a:solidFill>
                  <a:srgbClr val="000000"/>
                </a:solidFill>
                <a:latin typeface="MinionPro-Regular"/>
              </a:rPr>
              <a:t>from a relative </a:t>
            </a:r>
            <a:r>
              <a:rPr lang="en-IE" sz="1800" dirty="0">
                <a:solidFill>
                  <a:srgbClr val="000000"/>
                </a:solidFill>
                <a:latin typeface="UbuntuMono-Regular"/>
              </a:rPr>
              <a:t>URL </a:t>
            </a:r>
            <a:r>
              <a:rPr lang="en-IE" sz="1800" dirty="0">
                <a:solidFill>
                  <a:srgbClr val="000000"/>
                </a:solidFill>
                <a:latin typeface="MinionPro-Regular"/>
              </a:rPr>
              <a:t>and a base </a:t>
            </a:r>
            <a:r>
              <a:rPr lang="en-IE" sz="1800" dirty="0">
                <a:solidFill>
                  <a:srgbClr val="000000"/>
                </a:solidFill>
                <a:latin typeface="UbuntuMono-Regular"/>
              </a:rPr>
              <a:t>URL</a:t>
            </a:r>
            <a:r>
              <a:rPr lang="en-IE" sz="1800" dirty="0">
                <a:solidFill>
                  <a:srgbClr val="000000"/>
                </a:solidFill>
                <a:latin typeface="MinionPro-Regular"/>
              </a:rPr>
              <a:t>:</a:t>
            </a:r>
          </a:p>
          <a:p>
            <a:r>
              <a:rPr lang="en-IE" sz="1400" b="1" dirty="0">
                <a:solidFill>
                  <a:srgbClr val="00669A"/>
                </a:solidFill>
                <a:latin typeface="UbuntuMono-Bold"/>
              </a:rPr>
              <a:t>public </a:t>
            </a:r>
            <a:r>
              <a:rPr lang="en-IE" sz="1400" dirty="0">
                <a:solidFill>
                  <a:srgbClr val="CD00FF"/>
                </a:solidFill>
                <a:latin typeface="UbuntuMono-Regular"/>
              </a:rPr>
              <a:t>URL</a:t>
            </a:r>
            <a:r>
              <a:rPr lang="en-IE" sz="1400" dirty="0">
                <a:solidFill>
                  <a:srgbClr val="555555"/>
                </a:solidFill>
                <a:latin typeface="UbuntuMono-Regular"/>
              </a:rPr>
              <a:t>(</a:t>
            </a:r>
            <a:r>
              <a:rPr lang="en-IE" sz="1400" dirty="0">
                <a:solidFill>
                  <a:srgbClr val="000089"/>
                </a:solidFill>
                <a:latin typeface="UbuntuMono-Regular"/>
              </a:rPr>
              <a:t>URL base</a:t>
            </a:r>
            <a:r>
              <a:rPr lang="en-IE" sz="1400" dirty="0">
                <a:solidFill>
                  <a:srgbClr val="555555"/>
                </a:solidFill>
                <a:latin typeface="UbuntuMono-Regular"/>
              </a:rPr>
              <a:t>, </a:t>
            </a:r>
            <a:r>
              <a:rPr lang="en-IE" sz="1400" dirty="0">
                <a:solidFill>
                  <a:srgbClr val="000089"/>
                </a:solidFill>
                <a:latin typeface="UbuntuMono-Regular"/>
              </a:rPr>
              <a:t>String relative</a:t>
            </a:r>
            <a:r>
              <a:rPr lang="en-IE" sz="1400" dirty="0">
                <a:solidFill>
                  <a:srgbClr val="555555"/>
                </a:solidFill>
                <a:latin typeface="UbuntuMono-Regular"/>
              </a:rPr>
              <a:t>) </a:t>
            </a:r>
            <a:r>
              <a:rPr lang="en-IE" sz="1400" b="1" dirty="0">
                <a:solidFill>
                  <a:srgbClr val="00669A"/>
                </a:solidFill>
                <a:latin typeface="UbuntuMono-Bold"/>
              </a:rPr>
              <a:t>throws </a:t>
            </a:r>
            <a:r>
              <a:rPr lang="en-IE" sz="1400" dirty="0" err="1">
                <a:solidFill>
                  <a:srgbClr val="000089"/>
                </a:solidFill>
                <a:latin typeface="UbuntuMono-Regular"/>
              </a:rPr>
              <a:t>MalformedURLException</a:t>
            </a:r>
            <a:endParaRPr lang="en-IE" sz="1400" dirty="0">
              <a:solidFill>
                <a:srgbClr val="000089"/>
              </a:solidFill>
              <a:latin typeface="UbuntuMono-Regular"/>
            </a:endParaRPr>
          </a:p>
          <a:p>
            <a:r>
              <a:rPr lang="en-IE" sz="1800" dirty="0">
                <a:solidFill>
                  <a:srgbClr val="000000"/>
                </a:solidFill>
                <a:latin typeface="MinionPro-Regular"/>
              </a:rPr>
              <a:t>For instance, you may be parsing an HTML document at </a:t>
            </a:r>
            <a:r>
              <a:rPr lang="en-IE" sz="1800" i="1" dirty="0">
                <a:solidFill>
                  <a:srgbClr val="000000"/>
                </a:solidFill>
                <a:latin typeface="MinionPro-Italic"/>
              </a:rPr>
              <a:t>http://</a:t>
            </a:r>
            <a:r>
              <a:rPr lang="en-IE" sz="1800" i="1" dirty="0" smtClean="0">
                <a:solidFill>
                  <a:srgbClr val="000000"/>
                </a:solidFill>
                <a:latin typeface="MinionPro-Italic"/>
              </a:rPr>
              <a:t>www.ibiblio.org/javafaq/index.html </a:t>
            </a:r>
            <a:r>
              <a:rPr lang="en-IE" sz="1800" dirty="0">
                <a:solidFill>
                  <a:srgbClr val="000000"/>
                </a:solidFill>
                <a:latin typeface="MinionPro-Regular"/>
              </a:rPr>
              <a:t>and encounter a link to a file called </a:t>
            </a:r>
            <a:r>
              <a:rPr lang="en-IE" sz="1800" i="1" dirty="0">
                <a:solidFill>
                  <a:srgbClr val="000000"/>
                </a:solidFill>
                <a:latin typeface="MinionPro-Italic"/>
              </a:rPr>
              <a:t>mailinglists.html </a:t>
            </a:r>
            <a:r>
              <a:rPr lang="en-IE" sz="1800" dirty="0">
                <a:solidFill>
                  <a:srgbClr val="000000"/>
                </a:solidFill>
                <a:latin typeface="MinionPro-Regular"/>
              </a:rPr>
              <a:t>with no further </a:t>
            </a:r>
            <a:r>
              <a:rPr lang="en-IE" sz="1800" dirty="0" smtClean="0">
                <a:solidFill>
                  <a:srgbClr val="000000"/>
                </a:solidFill>
                <a:latin typeface="MinionPro-Regular"/>
              </a:rPr>
              <a:t>qualifying information</a:t>
            </a:r>
            <a:r>
              <a:rPr lang="en-IE" sz="1800" dirty="0">
                <a:solidFill>
                  <a:srgbClr val="000000"/>
                </a:solidFill>
                <a:latin typeface="MinionPro-Regular"/>
              </a:rPr>
              <a:t>. </a:t>
            </a:r>
            <a:endParaRPr lang="en-IE" sz="1800" dirty="0" smtClean="0">
              <a:solidFill>
                <a:srgbClr val="000000"/>
              </a:solidFill>
              <a:latin typeface="MinionPro-Regular"/>
            </a:endParaRPr>
          </a:p>
          <a:p>
            <a:r>
              <a:rPr lang="en-IE" sz="1800" dirty="0" smtClean="0">
                <a:solidFill>
                  <a:srgbClr val="000000"/>
                </a:solidFill>
                <a:latin typeface="MinionPro-Regular"/>
              </a:rPr>
              <a:t>In </a:t>
            </a:r>
            <a:r>
              <a:rPr lang="en-IE" sz="1800" dirty="0">
                <a:solidFill>
                  <a:srgbClr val="000000"/>
                </a:solidFill>
                <a:latin typeface="MinionPro-Regular"/>
              </a:rPr>
              <a:t>this case, you use the URL to the document that contains the </a:t>
            </a:r>
            <a:r>
              <a:rPr lang="en-IE" sz="1800" dirty="0" smtClean="0">
                <a:solidFill>
                  <a:srgbClr val="000000"/>
                </a:solidFill>
                <a:latin typeface="MinionPro-Regular"/>
              </a:rPr>
              <a:t>link to </a:t>
            </a:r>
            <a:r>
              <a:rPr lang="en-IE" sz="1800" dirty="0">
                <a:solidFill>
                  <a:srgbClr val="000000"/>
                </a:solidFill>
                <a:latin typeface="MinionPro-Regular"/>
              </a:rPr>
              <a:t>provide the missing information. </a:t>
            </a:r>
            <a:endParaRPr lang="en-IE" sz="1800" dirty="0" smtClean="0">
              <a:solidFill>
                <a:srgbClr val="000000"/>
              </a:solidFill>
              <a:latin typeface="MinionPro-Regular"/>
            </a:endParaRPr>
          </a:p>
          <a:p>
            <a:r>
              <a:rPr lang="en-IE" sz="1800" dirty="0" smtClean="0">
                <a:solidFill>
                  <a:srgbClr val="000000"/>
                </a:solidFill>
                <a:latin typeface="MinionPro-Regular"/>
              </a:rPr>
              <a:t>The </a:t>
            </a:r>
            <a:r>
              <a:rPr lang="en-IE" sz="1800" dirty="0">
                <a:solidFill>
                  <a:srgbClr val="000000"/>
                </a:solidFill>
                <a:latin typeface="MinionPro-Regular"/>
              </a:rPr>
              <a:t>constructor computes the new </a:t>
            </a:r>
            <a:r>
              <a:rPr lang="en-IE" sz="1800" dirty="0">
                <a:solidFill>
                  <a:srgbClr val="000000"/>
                </a:solidFill>
                <a:latin typeface="UbuntuMono-Regular"/>
              </a:rPr>
              <a:t>URL </a:t>
            </a:r>
            <a:r>
              <a:rPr lang="en-IE" sz="1800" dirty="0">
                <a:solidFill>
                  <a:srgbClr val="000000"/>
                </a:solidFill>
                <a:latin typeface="MinionPro-Regular"/>
              </a:rPr>
              <a:t>as </a:t>
            </a:r>
            <a:r>
              <a:rPr lang="en-IE" sz="1800" i="1" dirty="0">
                <a:solidFill>
                  <a:srgbClr val="000000"/>
                </a:solidFill>
                <a:latin typeface="MinionPro-Italic"/>
              </a:rPr>
              <a:t>http</a:t>
            </a:r>
            <a:r>
              <a:rPr lang="en-IE" sz="1800" i="1" dirty="0" smtClean="0">
                <a:solidFill>
                  <a:srgbClr val="000000"/>
                </a:solidFill>
                <a:latin typeface="MinionPro-Italic"/>
              </a:rPr>
              <a:t>://www.ibiblio.org/javafaq/mailinglists.html</a:t>
            </a:r>
            <a:r>
              <a:rPr lang="en-IE" sz="1800" dirty="0">
                <a:solidFill>
                  <a:srgbClr val="000000"/>
                </a:solidFill>
                <a:latin typeface="MinionPro-Regular"/>
              </a:rPr>
              <a:t>. For example:</a:t>
            </a:r>
          </a:p>
          <a:p>
            <a:r>
              <a:rPr lang="en-IE" sz="1400" b="1" dirty="0">
                <a:solidFill>
                  <a:srgbClr val="00669A"/>
                </a:solidFill>
                <a:latin typeface="UbuntuMono-Bold"/>
              </a:rPr>
              <a:t>try </a:t>
            </a:r>
            <a:r>
              <a:rPr lang="en-IE" sz="1400" dirty="0">
                <a:solidFill>
                  <a:srgbClr val="555555"/>
                </a:solidFill>
                <a:latin typeface="UbuntuMono-Regular"/>
              </a:rPr>
              <a:t>{</a:t>
            </a:r>
          </a:p>
          <a:p>
            <a:r>
              <a:rPr lang="pl-PL" sz="1400" dirty="0">
                <a:solidFill>
                  <a:srgbClr val="000089"/>
                </a:solidFill>
                <a:latin typeface="UbuntuMono-Regular"/>
              </a:rPr>
              <a:t>URL u1 </a:t>
            </a:r>
            <a:r>
              <a:rPr lang="pl-PL" sz="1400" dirty="0">
                <a:solidFill>
                  <a:srgbClr val="555555"/>
                </a:solidFill>
                <a:latin typeface="UbuntuMono-Regular"/>
              </a:rPr>
              <a:t>= </a:t>
            </a:r>
            <a:r>
              <a:rPr lang="pl-PL" sz="1400" b="1" dirty="0">
                <a:solidFill>
                  <a:srgbClr val="00669A"/>
                </a:solidFill>
                <a:latin typeface="UbuntuMono-Bold"/>
              </a:rPr>
              <a:t>new </a:t>
            </a:r>
            <a:r>
              <a:rPr lang="pl-PL" sz="1400" dirty="0">
                <a:solidFill>
                  <a:srgbClr val="000089"/>
                </a:solidFill>
                <a:latin typeface="UbuntuMono-Regular"/>
              </a:rPr>
              <a:t>URL</a:t>
            </a:r>
            <a:r>
              <a:rPr lang="pl-PL" sz="1400" dirty="0">
                <a:solidFill>
                  <a:srgbClr val="555555"/>
                </a:solidFill>
                <a:latin typeface="UbuntuMono-Regular"/>
              </a:rPr>
              <a:t>(</a:t>
            </a:r>
            <a:r>
              <a:rPr lang="pl-PL" sz="1400" dirty="0">
                <a:solidFill>
                  <a:srgbClr val="CD3300"/>
                </a:solidFill>
                <a:latin typeface="UbuntuMono-Regular"/>
              </a:rPr>
              <a:t>"http://www.ibiblio.org/javafaq/index.html"</a:t>
            </a:r>
            <a:r>
              <a:rPr lang="pl-PL" sz="1400" dirty="0">
                <a:solidFill>
                  <a:srgbClr val="555555"/>
                </a:solidFill>
                <a:latin typeface="UbuntuMono-Regular"/>
              </a:rPr>
              <a:t>);</a:t>
            </a:r>
          </a:p>
          <a:p>
            <a:r>
              <a:rPr lang="en-IE" sz="1400" dirty="0">
                <a:solidFill>
                  <a:srgbClr val="000089"/>
                </a:solidFill>
                <a:latin typeface="UbuntuMono-Regular"/>
              </a:rPr>
              <a:t>URL u2 </a:t>
            </a:r>
            <a:r>
              <a:rPr lang="en-IE" sz="1400" dirty="0">
                <a:solidFill>
                  <a:srgbClr val="555555"/>
                </a:solidFill>
                <a:latin typeface="UbuntuMono-Regular"/>
              </a:rPr>
              <a:t>= </a:t>
            </a:r>
            <a:r>
              <a:rPr lang="en-IE" sz="1400" b="1" dirty="0">
                <a:solidFill>
                  <a:srgbClr val="00669A"/>
                </a:solidFill>
                <a:latin typeface="UbuntuMono-Bold"/>
              </a:rPr>
              <a:t>new </a:t>
            </a:r>
            <a:r>
              <a:rPr lang="en-IE" sz="1400" dirty="0">
                <a:solidFill>
                  <a:srgbClr val="000089"/>
                </a:solidFill>
                <a:latin typeface="UbuntuMono-Regular"/>
              </a:rPr>
              <a:t>URL </a:t>
            </a:r>
            <a:r>
              <a:rPr lang="en-IE" sz="1400" dirty="0">
                <a:solidFill>
                  <a:srgbClr val="555555"/>
                </a:solidFill>
                <a:latin typeface="UbuntuMono-Regular"/>
              </a:rPr>
              <a:t>(</a:t>
            </a:r>
            <a:r>
              <a:rPr lang="en-IE" sz="1400" dirty="0">
                <a:solidFill>
                  <a:srgbClr val="000089"/>
                </a:solidFill>
                <a:latin typeface="UbuntuMono-Regular"/>
              </a:rPr>
              <a:t>u1</a:t>
            </a:r>
            <a:r>
              <a:rPr lang="en-IE" sz="1400" dirty="0">
                <a:solidFill>
                  <a:srgbClr val="555555"/>
                </a:solidFill>
                <a:latin typeface="UbuntuMono-Regular"/>
              </a:rPr>
              <a:t>, </a:t>
            </a:r>
            <a:r>
              <a:rPr lang="en-IE" sz="1400" dirty="0">
                <a:solidFill>
                  <a:srgbClr val="CD3300"/>
                </a:solidFill>
                <a:latin typeface="UbuntuMono-Regular"/>
              </a:rPr>
              <a:t>"mailinglists.html"</a:t>
            </a:r>
            <a:r>
              <a:rPr lang="en-IE" sz="1400" dirty="0">
                <a:solidFill>
                  <a:srgbClr val="555555"/>
                </a:solidFill>
                <a:latin typeface="UbuntuMono-Regular"/>
              </a:rPr>
              <a:t>);</a:t>
            </a:r>
          </a:p>
          <a:p>
            <a:r>
              <a:rPr lang="en-IE" sz="1400" dirty="0">
                <a:solidFill>
                  <a:srgbClr val="555555"/>
                </a:solidFill>
                <a:latin typeface="UbuntuMono-Regular"/>
              </a:rPr>
              <a:t>} </a:t>
            </a:r>
            <a:r>
              <a:rPr lang="en-IE" sz="1400" b="1" dirty="0">
                <a:solidFill>
                  <a:srgbClr val="00669A"/>
                </a:solidFill>
                <a:latin typeface="UbuntuMono-Bold"/>
              </a:rPr>
              <a:t>catch </a:t>
            </a:r>
            <a:r>
              <a:rPr lang="en-IE" sz="1400" dirty="0">
                <a:solidFill>
                  <a:srgbClr val="555555"/>
                </a:solidFill>
                <a:latin typeface="UbuntuMono-Regular"/>
              </a:rPr>
              <a:t>(</a:t>
            </a:r>
            <a:r>
              <a:rPr lang="en-IE" sz="1400" dirty="0" err="1">
                <a:solidFill>
                  <a:srgbClr val="000089"/>
                </a:solidFill>
                <a:latin typeface="UbuntuMono-Regular"/>
              </a:rPr>
              <a:t>MalformedURLException</a:t>
            </a:r>
            <a:r>
              <a:rPr lang="en-IE" sz="1400" dirty="0">
                <a:solidFill>
                  <a:srgbClr val="000089"/>
                </a:solidFill>
                <a:latin typeface="UbuntuMono-Regular"/>
              </a:rPr>
              <a:t> ex</a:t>
            </a:r>
            <a:r>
              <a:rPr lang="en-IE" sz="1400" dirty="0">
                <a:solidFill>
                  <a:srgbClr val="555555"/>
                </a:solidFill>
                <a:latin typeface="UbuntuMono-Regular"/>
              </a:rPr>
              <a:t>) {</a:t>
            </a:r>
          </a:p>
          <a:p>
            <a:r>
              <a:rPr lang="en-IE" sz="1400" dirty="0" err="1">
                <a:solidFill>
                  <a:srgbClr val="000089"/>
                </a:solidFill>
                <a:latin typeface="UbuntuMono-Regular"/>
              </a:rPr>
              <a:t>System</a:t>
            </a:r>
            <a:r>
              <a:rPr lang="en-IE" sz="1400" dirty="0" err="1">
                <a:solidFill>
                  <a:srgbClr val="555555"/>
                </a:solidFill>
                <a:latin typeface="UbuntuMono-Regular"/>
              </a:rPr>
              <a:t>.</a:t>
            </a:r>
            <a:r>
              <a:rPr lang="en-IE" sz="1400" dirty="0" err="1">
                <a:solidFill>
                  <a:srgbClr val="33009A"/>
                </a:solidFill>
                <a:latin typeface="UbuntuMono-Regular"/>
              </a:rPr>
              <a:t>err</a:t>
            </a:r>
            <a:r>
              <a:rPr lang="en-IE" sz="1400" dirty="0" err="1">
                <a:solidFill>
                  <a:srgbClr val="555555"/>
                </a:solidFill>
                <a:latin typeface="UbuntuMono-Regular"/>
              </a:rPr>
              <a:t>.</a:t>
            </a:r>
            <a:r>
              <a:rPr lang="en-IE" sz="1400" dirty="0" err="1">
                <a:solidFill>
                  <a:srgbClr val="33009A"/>
                </a:solidFill>
                <a:latin typeface="UbuntuMono-Regular"/>
              </a:rPr>
              <a:t>println</a:t>
            </a:r>
            <a:r>
              <a:rPr lang="en-IE" sz="1400" dirty="0">
                <a:solidFill>
                  <a:srgbClr val="555555"/>
                </a:solidFill>
                <a:latin typeface="UbuntuMono-Regular"/>
              </a:rPr>
              <a:t>(</a:t>
            </a:r>
            <a:r>
              <a:rPr lang="en-IE" sz="1400" dirty="0">
                <a:solidFill>
                  <a:srgbClr val="000089"/>
                </a:solidFill>
                <a:latin typeface="UbuntuMono-Regular"/>
              </a:rPr>
              <a:t>ex</a:t>
            </a:r>
            <a:r>
              <a:rPr lang="en-IE" sz="1400" dirty="0">
                <a:solidFill>
                  <a:srgbClr val="555555"/>
                </a:solidFill>
                <a:latin typeface="UbuntuMono-Regular"/>
              </a:rPr>
              <a:t>);</a:t>
            </a:r>
          </a:p>
          <a:p>
            <a:r>
              <a:rPr lang="en-IE" sz="1400" dirty="0">
                <a:solidFill>
                  <a:srgbClr val="555555"/>
                </a:solidFill>
                <a:latin typeface="UbuntuMono-Regular"/>
              </a:rPr>
              <a:t>}</a:t>
            </a:r>
          </a:p>
          <a:p>
            <a:r>
              <a:rPr lang="en-IE" sz="1800" dirty="0">
                <a:solidFill>
                  <a:srgbClr val="000000"/>
                </a:solidFill>
                <a:latin typeface="MinionPro-Regular"/>
              </a:rPr>
              <a:t>The filename is removed from the path of </a:t>
            </a:r>
            <a:r>
              <a:rPr lang="en-IE" sz="1800" dirty="0">
                <a:solidFill>
                  <a:srgbClr val="000000"/>
                </a:solidFill>
                <a:latin typeface="UbuntuMono-Regular"/>
              </a:rPr>
              <a:t>u1 </a:t>
            </a:r>
            <a:r>
              <a:rPr lang="en-IE" sz="1800" dirty="0">
                <a:solidFill>
                  <a:srgbClr val="000000"/>
                </a:solidFill>
                <a:latin typeface="MinionPro-Regular"/>
              </a:rPr>
              <a:t>and the new filename </a:t>
            </a:r>
            <a:r>
              <a:rPr lang="en-IE" sz="1800" i="1" dirty="0">
                <a:solidFill>
                  <a:srgbClr val="000000"/>
                </a:solidFill>
                <a:latin typeface="MinionPro-Italic"/>
              </a:rPr>
              <a:t>mailinglists.html </a:t>
            </a:r>
            <a:r>
              <a:rPr lang="en-IE" sz="1800" dirty="0" smtClean="0">
                <a:solidFill>
                  <a:srgbClr val="000000"/>
                </a:solidFill>
                <a:latin typeface="MinionPro-Regular"/>
              </a:rPr>
              <a:t>is appended </a:t>
            </a:r>
            <a:r>
              <a:rPr lang="en-IE" sz="1800" dirty="0">
                <a:solidFill>
                  <a:srgbClr val="000000"/>
                </a:solidFill>
                <a:latin typeface="MinionPro-Regular"/>
              </a:rPr>
              <a:t>to make </a:t>
            </a:r>
            <a:r>
              <a:rPr lang="en-IE" sz="1800" dirty="0">
                <a:solidFill>
                  <a:srgbClr val="000000"/>
                </a:solidFill>
                <a:latin typeface="UbuntuMono-Regular"/>
              </a:rPr>
              <a:t>u2</a:t>
            </a:r>
            <a:r>
              <a:rPr lang="en-IE" sz="1800" dirty="0">
                <a:solidFill>
                  <a:srgbClr val="000000"/>
                </a:solidFill>
                <a:latin typeface="MinionPro-Regular"/>
              </a:rPr>
              <a:t>. </a:t>
            </a:r>
            <a:endParaRPr lang="en-IE" sz="1800" dirty="0" smtClean="0">
              <a:solidFill>
                <a:srgbClr val="000000"/>
              </a:solidFill>
              <a:latin typeface="MinionPro-Regular"/>
            </a:endParaRPr>
          </a:p>
          <a:p>
            <a:r>
              <a:rPr lang="en-IE" sz="1800" dirty="0" smtClean="0">
                <a:solidFill>
                  <a:schemeClr val="tx2"/>
                </a:solidFill>
                <a:latin typeface="MinionPro-Regular"/>
              </a:rPr>
              <a:t>This </a:t>
            </a:r>
            <a:r>
              <a:rPr lang="en-IE" sz="1800" dirty="0">
                <a:solidFill>
                  <a:schemeClr val="tx2"/>
                </a:solidFill>
                <a:latin typeface="MinionPro-Regular"/>
              </a:rPr>
              <a:t>constructor is particularly useful when you want to </a:t>
            </a:r>
            <a:r>
              <a:rPr lang="en-IE" sz="1800" dirty="0" smtClean="0">
                <a:solidFill>
                  <a:schemeClr val="tx2"/>
                </a:solidFill>
                <a:latin typeface="MinionPro-Regular"/>
              </a:rPr>
              <a:t>loop through </a:t>
            </a:r>
            <a:r>
              <a:rPr lang="en-IE" sz="1800" dirty="0">
                <a:solidFill>
                  <a:schemeClr val="tx2"/>
                </a:solidFill>
                <a:latin typeface="MinionPro-Regular"/>
              </a:rPr>
              <a:t>a list of files that are all in the same directory. </a:t>
            </a:r>
            <a:endParaRPr lang="en-IE" sz="1800" dirty="0" smtClean="0">
              <a:solidFill>
                <a:schemeClr val="tx2"/>
              </a:solidFill>
              <a:latin typeface="MinionPro-Regular"/>
            </a:endParaRPr>
          </a:p>
          <a:p>
            <a:r>
              <a:rPr lang="en-IE" sz="1800" dirty="0" smtClean="0">
                <a:solidFill>
                  <a:srgbClr val="000000"/>
                </a:solidFill>
                <a:latin typeface="MinionPro-Regular"/>
              </a:rPr>
              <a:t>You </a:t>
            </a:r>
            <a:r>
              <a:rPr lang="en-IE" sz="1800" dirty="0">
                <a:solidFill>
                  <a:srgbClr val="000000"/>
                </a:solidFill>
                <a:latin typeface="MinionPro-Regular"/>
              </a:rPr>
              <a:t>can create a URL for the </a:t>
            </a:r>
            <a:r>
              <a:rPr lang="en-IE" sz="1800" dirty="0" smtClean="0">
                <a:solidFill>
                  <a:srgbClr val="000000"/>
                </a:solidFill>
                <a:latin typeface="MinionPro-Regular"/>
              </a:rPr>
              <a:t>first file </a:t>
            </a:r>
            <a:r>
              <a:rPr lang="en-IE" sz="1800" dirty="0">
                <a:solidFill>
                  <a:srgbClr val="000000"/>
                </a:solidFill>
                <a:latin typeface="MinionPro-Regular"/>
              </a:rPr>
              <a:t>and then use this initial URL to create </a:t>
            </a:r>
            <a:r>
              <a:rPr lang="en-IE" sz="1800" dirty="0">
                <a:solidFill>
                  <a:srgbClr val="000000"/>
                </a:solidFill>
                <a:latin typeface="UbuntuMono-Regular"/>
              </a:rPr>
              <a:t>URL </a:t>
            </a:r>
            <a:r>
              <a:rPr lang="en-IE" sz="1800" dirty="0">
                <a:solidFill>
                  <a:srgbClr val="000000"/>
                </a:solidFill>
                <a:latin typeface="MinionPro-Regular"/>
              </a:rPr>
              <a:t>objects for the other files by </a:t>
            </a:r>
            <a:r>
              <a:rPr lang="en-IE" sz="1800" dirty="0" smtClean="0">
                <a:solidFill>
                  <a:srgbClr val="000000"/>
                </a:solidFill>
                <a:latin typeface="MinionPro-Regular"/>
              </a:rPr>
              <a:t>substituting their </a:t>
            </a:r>
            <a:r>
              <a:rPr lang="en-IE" sz="1800" dirty="0">
                <a:solidFill>
                  <a:srgbClr val="000000"/>
                </a:solidFill>
                <a:latin typeface="MinionPro-Regular"/>
              </a:rPr>
              <a:t>filenames.</a:t>
            </a:r>
            <a:endParaRPr lang="en-IE" sz="1800" dirty="0"/>
          </a:p>
        </p:txBody>
      </p:sp>
    </p:spTree>
    <p:extLst>
      <p:ext uri="{BB962C8B-B14F-4D97-AF65-F5344CB8AC3E}">
        <p14:creationId xmlns:p14="http://schemas.microsoft.com/office/powerpoint/2010/main" val="253798661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39762"/>
          </a:xfrm>
        </p:spPr>
        <p:txBody>
          <a:bodyPr>
            <a:noAutofit/>
          </a:bodyPr>
          <a:lstStyle/>
          <a:p>
            <a:r>
              <a:rPr lang="en-IE" sz="3600" dirty="0" smtClean="0"/>
              <a:t>Retrieving data from URL</a:t>
            </a:r>
            <a:endParaRPr lang="en-IE" sz="3600" b="1" dirty="0"/>
          </a:p>
        </p:txBody>
      </p:sp>
      <p:sp>
        <p:nvSpPr>
          <p:cNvPr id="3" name="Content Placeholder 2"/>
          <p:cNvSpPr>
            <a:spLocks noGrp="1"/>
          </p:cNvSpPr>
          <p:nvPr>
            <p:ph idx="1"/>
          </p:nvPr>
        </p:nvSpPr>
        <p:spPr>
          <a:xfrm>
            <a:off x="0" y="609600"/>
            <a:ext cx="9144000" cy="6248400"/>
          </a:xfrm>
        </p:spPr>
        <p:txBody>
          <a:bodyPr>
            <a:noAutofit/>
          </a:bodyPr>
          <a:lstStyle/>
          <a:p>
            <a:r>
              <a:rPr lang="en-IE" sz="2400" dirty="0">
                <a:solidFill>
                  <a:srgbClr val="000000"/>
                </a:solidFill>
                <a:latin typeface="MinionPro-Regular"/>
              </a:rPr>
              <a:t>Naked URLs aren’t very exciting. What’s interesting is the data contained in the </a:t>
            </a:r>
            <a:r>
              <a:rPr lang="en-IE" sz="2400" dirty="0" smtClean="0">
                <a:solidFill>
                  <a:srgbClr val="000000"/>
                </a:solidFill>
                <a:latin typeface="MinionPro-Regular"/>
              </a:rPr>
              <a:t>documents they </a:t>
            </a:r>
            <a:r>
              <a:rPr lang="en-IE" sz="2400" dirty="0">
                <a:solidFill>
                  <a:srgbClr val="000000"/>
                </a:solidFill>
                <a:latin typeface="MinionPro-Regular"/>
              </a:rPr>
              <a:t>point to. The </a:t>
            </a:r>
            <a:r>
              <a:rPr lang="en-IE" sz="2400" dirty="0">
                <a:solidFill>
                  <a:srgbClr val="000000"/>
                </a:solidFill>
                <a:latin typeface="UbuntuMono-Regular"/>
              </a:rPr>
              <a:t>URL </a:t>
            </a:r>
            <a:r>
              <a:rPr lang="en-IE" sz="2400" dirty="0">
                <a:solidFill>
                  <a:srgbClr val="000000"/>
                </a:solidFill>
                <a:latin typeface="MinionPro-Regular"/>
              </a:rPr>
              <a:t>class has several methods that retrieve data from a URL:</a:t>
            </a:r>
          </a:p>
          <a:p>
            <a:r>
              <a:rPr lang="en-IE" sz="1800" b="1" dirty="0">
                <a:solidFill>
                  <a:srgbClr val="00669A"/>
                </a:solidFill>
                <a:latin typeface="UbuntuMono-Bold"/>
              </a:rPr>
              <a:t>public </a:t>
            </a:r>
            <a:r>
              <a:rPr lang="en-IE" sz="1800" dirty="0" err="1">
                <a:solidFill>
                  <a:srgbClr val="000089"/>
                </a:solidFill>
                <a:latin typeface="UbuntuMono-Regular"/>
              </a:rPr>
              <a:t>InputStream</a:t>
            </a:r>
            <a:r>
              <a:rPr lang="en-IE" sz="1800" dirty="0">
                <a:solidFill>
                  <a:srgbClr val="000089"/>
                </a:solidFill>
                <a:latin typeface="UbuntuMono-Regular"/>
              </a:rPr>
              <a:t> </a:t>
            </a:r>
            <a:r>
              <a:rPr lang="en-IE" sz="1800" dirty="0" err="1">
                <a:solidFill>
                  <a:srgbClr val="CD00FF"/>
                </a:solidFill>
                <a:latin typeface="UbuntuMono-Regular"/>
              </a:rPr>
              <a:t>openStream</a:t>
            </a:r>
            <a:r>
              <a:rPr lang="en-IE" sz="1800" dirty="0">
                <a:solidFill>
                  <a:srgbClr val="555555"/>
                </a:solidFill>
                <a:latin typeface="UbuntuMono-Regular"/>
              </a:rPr>
              <a:t>() </a:t>
            </a:r>
            <a:r>
              <a:rPr lang="en-IE" sz="1800" b="1" dirty="0">
                <a:solidFill>
                  <a:srgbClr val="00669A"/>
                </a:solidFill>
                <a:latin typeface="UbuntuMono-Bold"/>
              </a:rPr>
              <a:t>throws </a:t>
            </a:r>
            <a:r>
              <a:rPr lang="en-IE" sz="1800" dirty="0" err="1">
                <a:solidFill>
                  <a:srgbClr val="000089"/>
                </a:solidFill>
                <a:latin typeface="UbuntuMono-Regular"/>
              </a:rPr>
              <a:t>IOException</a:t>
            </a:r>
            <a:endParaRPr lang="en-IE" sz="1800" dirty="0">
              <a:solidFill>
                <a:srgbClr val="000089"/>
              </a:solidFill>
              <a:latin typeface="UbuntuMono-Regular"/>
            </a:endParaRPr>
          </a:p>
          <a:p>
            <a:r>
              <a:rPr lang="en-IE" sz="1800" b="1" dirty="0">
                <a:solidFill>
                  <a:srgbClr val="00669A"/>
                </a:solidFill>
                <a:latin typeface="UbuntuMono-Bold"/>
              </a:rPr>
              <a:t>public </a:t>
            </a:r>
            <a:r>
              <a:rPr lang="en-IE" sz="1800" dirty="0" err="1">
                <a:solidFill>
                  <a:srgbClr val="000089"/>
                </a:solidFill>
                <a:latin typeface="UbuntuMono-Regular"/>
              </a:rPr>
              <a:t>URLConnection</a:t>
            </a:r>
            <a:r>
              <a:rPr lang="en-IE" sz="1800" dirty="0">
                <a:solidFill>
                  <a:srgbClr val="000089"/>
                </a:solidFill>
                <a:latin typeface="UbuntuMono-Regular"/>
              </a:rPr>
              <a:t> </a:t>
            </a:r>
            <a:r>
              <a:rPr lang="en-IE" sz="1800" dirty="0" err="1">
                <a:solidFill>
                  <a:srgbClr val="CD00FF"/>
                </a:solidFill>
                <a:latin typeface="UbuntuMono-Regular"/>
              </a:rPr>
              <a:t>openConnection</a:t>
            </a:r>
            <a:r>
              <a:rPr lang="en-IE" sz="1800" dirty="0">
                <a:solidFill>
                  <a:srgbClr val="555555"/>
                </a:solidFill>
                <a:latin typeface="UbuntuMono-Regular"/>
              </a:rPr>
              <a:t>() </a:t>
            </a:r>
            <a:r>
              <a:rPr lang="en-IE" sz="1800" b="1" dirty="0">
                <a:solidFill>
                  <a:srgbClr val="00669A"/>
                </a:solidFill>
                <a:latin typeface="UbuntuMono-Bold"/>
              </a:rPr>
              <a:t>throws </a:t>
            </a:r>
            <a:r>
              <a:rPr lang="en-IE" sz="1800" dirty="0" err="1">
                <a:solidFill>
                  <a:srgbClr val="000089"/>
                </a:solidFill>
                <a:latin typeface="UbuntuMono-Regular"/>
              </a:rPr>
              <a:t>IOException</a:t>
            </a:r>
            <a:endParaRPr lang="en-IE" sz="1800" dirty="0">
              <a:solidFill>
                <a:srgbClr val="000089"/>
              </a:solidFill>
              <a:latin typeface="UbuntuMono-Regular"/>
            </a:endParaRPr>
          </a:p>
          <a:p>
            <a:r>
              <a:rPr lang="en-IE" sz="1800" b="1" dirty="0">
                <a:solidFill>
                  <a:srgbClr val="00669A"/>
                </a:solidFill>
                <a:latin typeface="UbuntuMono-Bold"/>
              </a:rPr>
              <a:t>public </a:t>
            </a:r>
            <a:r>
              <a:rPr lang="en-IE" sz="1800" dirty="0" err="1">
                <a:solidFill>
                  <a:srgbClr val="000089"/>
                </a:solidFill>
                <a:latin typeface="UbuntuMono-Regular"/>
              </a:rPr>
              <a:t>URLConnection</a:t>
            </a:r>
            <a:r>
              <a:rPr lang="en-IE" sz="1800" dirty="0">
                <a:solidFill>
                  <a:srgbClr val="000089"/>
                </a:solidFill>
                <a:latin typeface="UbuntuMono-Regular"/>
              </a:rPr>
              <a:t> </a:t>
            </a:r>
            <a:r>
              <a:rPr lang="en-IE" sz="1800" dirty="0" err="1">
                <a:solidFill>
                  <a:srgbClr val="CD00FF"/>
                </a:solidFill>
                <a:latin typeface="UbuntuMono-Regular"/>
              </a:rPr>
              <a:t>openConnection</a:t>
            </a:r>
            <a:r>
              <a:rPr lang="en-IE" sz="1800" dirty="0">
                <a:solidFill>
                  <a:srgbClr val="555555"/>
                </a:solidFill>
                <a:latin typeface="UbuntuMono-Regular"/>
              </a:rPr>
              <a:t>(</a:t>
            </a:r>
            <a:r>
              <a:rPr lang="en-IE" sz="1800" dirty="0">
                <a:solidFill>
                  <a:srgbClr val="000089"/>
                </a:solidFill>
                <a:latin typeface="UbuntuMono-Regular"/>
              </a:rPr>
              <a:t>Proxy proxy</a:t>
            </a:r>
            <a:r>
              <a:rPr lang="en-IE" sz="1800" dirty="0">
                <a:solidFill>
                  <a:srgbClr val="555555"/>
                </a:solidFill>
                <a:latin typeface="UbuntuMono-Regular"/>
              </a:rPr>
              <a:t>) </a:t>
            </a:r>
            <a:r>
              <a:rPr lang="en-IE" sz="1800" b="1" dirty="0">
                <a:solidFill>
                  <a:srgbClr val="00669A"/>
                </a:solidFill>
                <a:latin typeface="UbuntuMono-Bold"/>
              </a:rPr>
              <a:t>throws </a:t>
            </a:r>
            <a:r>
              <a:rPr lang="en-IE" sz="1800" dirty="0" err="1">
                <a:solidFill>
                  <a:srgbClr val="000089"/>
                </a:solidFill>
                <a:latin typeface="UbuntuMono-Regular"/>
              </a:rPr>
              <a:t>IOException</a:t>
            </a:r>
            <a:endParaRPr lang="en-IE" sz="1800" dirty="0">
              <a:solidFill>
                <a:srgbClr val="000089"/>
              </a:solidFill>
              <a:latin typeface="UbuntuMono-Regular"/>
            </a:endParaRPr>
          </a:p>
          <a:p>
            <a:r>
              <a:rPr lang="en-IE" sz="1800" b="1" dirty="0">
                <a:solidFill>
                  <a:srgbClr val="00669A"/>
                </a:solidFill>
                <a:latin typeface="UbuntuMono-Bold"/>
              </a:rPr>
              <a:t>public </a:t>
            </a:r>
            <a:r>
              <a:rPr lang="en-IE" sz="1800" dirty="0">
                <a:solidFill>
                  <a:srgbClr val="000089"/>
                </a:solidFill>
                <a:latin typeface="UbuntuMono-Regular"/>
              </a:rPr>
              <a:t>Object </a:t>
            </a:r>
            <a:r>
              <a:rPr lang="en-IE" sz="1800" dirty="0" err="1">
                <a:solidFill>
                  <a:srgbClr val="CD00FF"/>
                </a:solidFill>
                <a:latin typeface="UbuntuMono-Regular"/>
              </a:rPr>
              <a:t>getContent</a:t>
            </a:r>
            <a:r>
              <a:rPr lang="en-IE" sz="1800" dirty="0">
                <a:solidFill>
                  <a:srgbClr val="555555"/>
                </a:solidFill>
                <a:latin typeface="UbuntuMono-Regular"/>
              </a:rPr>
              <a:t>() </a:t>
            </a:r>
            <a:r>
              <a:rPr lang="en-IE" sz="1800" b="1" dirty="0">
                <a:solidFill>
                  <a:srgbClr val="00669A"/>
                </a:solidFill>
                <a:latin typeface="UbuntuMono-Bold"/>
              </a:rPr>
              <a:t>throws </a:t>
            </a:r>
            <a:r>
              <a:rPr lang="en-IE" sz="1800" dirty="0" err="1">
                <a:solidFill>
                  <a:srgbClr val="000089"/>
                </a:solidFill>
                <a:latin typeface="UbuntuMono-Regular"/>
              </a:rPr>
              <a:t>IOException</a:t>
            </a:r>
            <a:endParaRPr lang="en-IE" sz="1800" dirty="0">
              <a:solidFill>
                <a:srgbClr val="000089"/>
              </a:solidFill>
              <a:latin typeface="UbuntuMono-Regular"/>
            </a:endParaRPr>
          </a:p>
          <a:p>
            <a:r>
              <a:rPr lang="en-IE" sz="1800" b="1" dirty="0">
                <a:solidFill>
                  <a:srgbClr val="00669A"/>
                </a:solidFill>
                <a:latin typeface="UbuntuMono-Bold"/>
              </a:rPr>
              <a:t>public </a:t>
            </a:r>
            <a:r>
              <a:rPr lang="en-IE" sz="1800" dirty="0">
                <a:solidFill>
                  <a:srgbClr val="000089"/>
                </a:solidFill>
                <a:latin typeface="UbuntuMono-Regular"/>
              </a:rPr>
              <a:t>Object </a:t>
            </a:r>
            <a:r>
              <a:rPr lang="en-IE" sz="1800" dirty="0" err="1">
                <a:solidFill>
                  <a:srgbClr val="CD00FF"/>
                </a:solidFill>
                <a:latin typeface="UbuntuMono-Regular"/>
              </a:rPr>
              <a:t>getContent</a:t>
            </a:r>
            <a:r>
              <a:rPr lang="en-IE" sz="1800" dirty="0">
                <a:solidFill>
                  <a:srgbClr val="555555"/>
                </a:solidFill>
                <a:latin typeface="UbuntuMono-Regular"/>
              </a:rPr>
              <a:t>(</a:t>
            </a:r>
            <a:r>
              <a:rPr lang="en-IE" sz="1800" dirty="0">
                <a:solidFill>
                  <a:srgbClr val="000089"/>
                </a:solidFill>
                <a:latin typeface="UbuntuMono-Regular"/>
              </a:rPr>
              <a:t>Class</a:t>
            </a:r>
            <a:r>
              <a:rPr lang="en-IE" sz="1800" dirty="0">
                <a:solidFill>
                  <a:srgbClr val="555555"/>
                </a:solidFill>
                <a:latin typeface="UbuntuMono-Regular"/>
              </a:rPr>
              <a:t>[] </a:t>
            </a:r>
            <a:r>
              <a:rPr lang="en-IE" sz="1800" dirty="0">
                <a:solidFill>
                  <a:srgbClr val="000089"/>
                </a:solidFill>
                <a:latin typeface="UbuntuMono-Regular"/>
              </a:rPr>
              <a:t>classes</a:t>
            </a:r>
            <a:r>
              <a:rPr lang="en-IE" sz="1800" dirty="0">
                <a:solidFill>
                  <a:srgbClr val="555555"/>
                </a:solidFill>
                <a:latin typeface="UbuntuMono-Regular"/>
              </a:rPr>
              <a:t>) </a:t>
            </a:r>
            <a:r>
              <a:rPr lang="en-IE" sz="1800" b="1" dirty="0">
                <a:solidFill>
                  <a:srgbClr val="00669A"/>
                </a:solidFill>
                <a:latin typeface="UbuntuMono-Bold"/>
              </a:rPr>
              <a:t>throws </a:t>
            </a:r>
            <a:r>
              <a:rPr lang="en-IE" sz="1800" dirty="0" err="1">
                <a:solidFill>
                  <a:srgbClr val="000089"/>
                </a:solidFill>
                <a:latin typeface="UbuntuMono-Regular"/>
              </a:rPr>
              <a:t>IOException</a:t>
            </a:r>
            <a:endParaRPr lang="en-IE" sz="1800" dirty="0">
              <a:solidFill>
                <a:srgbClr val="000089"/>
              </a:solidFill>
              <a:latin typeface="UbuntuMono-Regular"/>
            </a:endParaRPr>
          </a:p>
          <a:p>
            <a:r>
              <a:rPr lang="en-IE" sz="2400" dirty="0">
                <a:solidFill>
                  <a:srgbClr val="000000"/>
                </a:solidFill>
                <a:latin typeface="MinionPro-Regular"/>
              </a:rPr>
              <a:t>The most basic and most commonly used of these methods is </a:t>
            </a:r>
            <a:r>
              <a:rPr lang="en-IE" sz="2400" dirty="0" err="1">
                <a:solidFill>
                  <a:schemeClr val="tx2"/>
                </a:solidFill>
                <a:latin typeface="UbuntuMono-Regular"/>
              </a:rPr>
              <a:t>openStream</a:t>
            </a:r>
            <a:r>
              <a:rPr lang="en-IE" sz="2400" dirty="0">
                <a:solidFill>
                  <a:srgbClr val="000000"/>
                </a:solidFill>
                <a:latin typeface="UbuntuMono-Regular"/>
              </a:rPr>
              <a:t>()</a:t>
            </a:r>
            <a:r>
              <a:rPr lang="en-IE" sz="2400" dirty="0">
                <a:solidFill>
                  <a:srgbClr val="000000"/>
                </a:solidFill>
                <a:latin typeface="MinionPro-Regular"/>
              </a:rPr>
              <a:t>, </a:t>
            </a:r>
            <a:r>
              <a:rPr lang="en-IE" sz="2400" dirty="0" smtClean="0">
                <a:solidFill>
                  <a:srgbClr val="000000"/>
                </a:solidFill>
                <a:latin typeface="MinionPro-Regular"/>
              </a:rPr>
              <a:t>which returns </a:t>
            </a:r>
            <a:r>
              <a:rPr lang="en-IE" sz="2400" dirty="0">
                <a:solidFill>
                  <a:srgbClr val="000000"/>
                </a:solidFill>
                <a:latin typeface="MinionPro-Regular"/>
              </a:rPr>
              <a:t>an </a:t>
            </a:r>
            <a:r>
              <a:rPr lang="en-IE" sz="2400" dirty="0" err="1">
                <a:solidFill>
                  <a:schemeClr val="tx2"/>
                </a:solidFill>
                <a:latin typeface="UbuntuMono-Regular"/>
              </a:rPr>
              <a:t>InputStream</a:t>
            </a:r>
            <a:r>
              <a:rPr lang="en-IE" sz="2400" dirty="0">
                <a:solidFill>
                  <a:schemeClr val="tx2"/>
                </a:solidFill>
                <a:latin typeface="UbuntuMono-Regular"/>
              </a:rPr>
              <a:t> </a:t>
            </a:r>
            <a:r>
              <a:rPr lang="en-IE" sz="2400" dirty="0">
                <a:solidFill>
                  <a:srgbClr val="000000"/>
                </a:solidFill>
                <a:latin typeface="MinionPro-Regular"/>
              </a:rPr>
              <a:t>from which you can read the data. </a:t>
            </a:r>
            <a:endParaRPr lang="en-IE" sz="2400" dirty="0" smtClean="0">
              <a:solidFill>
                <a:srgbClr val="000000"/>
              </a:solidFill>
              <a:latin typeface="MinionPro-Regular"/>
            </a:endParaRPr>
          </a:p>
          <a:p>
            <a:r>
              <a:rPr lang="en-IE" sz="2400" dirty="0" smtClean="0">
                <a:solidFill>
                  <a:srgbClr val="000000"/>
                </a:solidFill>
                <a:latin typeface="MinionPro-Regular"/>
              </a:rPr>
              <a:t>If </a:t>
            </a:r>
            <a:r>
              <a:rPr lang="en-IE" sz="2400" dirty="0">
                <a:solidFill>
                  <a:srgbClr val="000000"/>
                </a:solidFill>
                <a:latin typeface="MinionPro-Regular"/>
              </a:rPr>
              <a:t>you need more </a:t>
            </a:r>
            <a:r>
              <a:rPr lang="en-IE" sz="2400" dirty="0" smtClean="0">
                <a:solidFill>
                  <a:srgbClr val="000000"/>
                </a:solidFill>
                <a:latin typeface="MinionPro-Regular"/>
              </a:rPr>
              <a:t>control over </a:t>
            </a:r>
            <a:r>
              <a:rPr lang="en-IE" sz="2400" dirty="0">
                <a:solidFill>
                  <a:srgbClr val="000000"/>
                </a:solidFill>
                <a:latin typeface="MinionPro-Regular"/>
              </a:rPr>
              <a:t>the download process, call </a:t>
            </a:r>
            <a:r>
              <a:rPr lang="en-IE" sz="2400" dirty="0" err="1">
                <a:solidFill>
                  <a:schemeClr val="tx2"/>
                </a:solidFill>
                <a:latin typeface="UbuntuMono-Regular"/>
              </a:rPr>
              <a:t>openConnection</a:t>
            </a:r>
            <a:r>
              <a:rPr lang="en-IE" sz="2400" dirty="0">
                <a:solidFill>
                  <a:srgbClr val="000000"/>
                </a:solidFill>
                <a:latin typeface="UbuntuMono-Regular"/>
              </a:rPr>
              <a:t>() </a:t>
            </a:r>
            <a:r>
              <a:rPr lang="en-IE" sz="2400" dirty="0">
                <a:solidFill>
                  <a:srgbClr val="000000"/>
                </a:solidFill>
                <a:latin typeface="MinionPro-Regular"/>
              </a:rPr>
              <a:t>instead, which gives you a </a:t>
            </a:r>
            <a:r>
              <a:rPr lang="en-IE" sz="2400" dirty="0" err="1" smtClean="0">
                <a:solidFill>
                  <a:schemeClr val="tx2"/>
                </a:solidFill>
                <a:latin typeface="UbuntuMono-Regular"/>
              </a:rPr>
              <a:t>URLConnection</a:t>
            </a:r>
            <a:r>
              <a:rPr lang="en-IE" sz="2400" dirty="0" smtClean="0">
                <a:solidFill>
                  <a:schemeClr val="tx2"/>
                </a:solidFill>
                <a:latin typeface="UbuntuMono-Regular"/>
              </a:rPr>
              <a:t> </a:t>
            </a:r>
            <a:r>
              <a:rPr lang="en-IE" sz="2400" dirty="0">
                <a:solidFill>
                  <a:srgbClr val="000000"/>
                </a:solidFill>
                <a:latin typeface="MinionPro-Regular"/>
              </a:rPr>
              <a:t>which you can configure, and then get an </a:t>
            </a:r>
            <a:r>
              <a:rPr lang="en-IE" sz="2400" dirty="0" err="1">
                <a:solidFill>
                  <a:schemeClr val="tx2"/>
                </a:solidFill>
                <a:latin typeface="UbuntuMono-Regular"/>
              </a:rPr>
              <a:t>InputStream</a:t>
            </a:r>
            <a:r>
              <a:rPr lang="en-IE" sz="2400" dirty="0">
                <a:solidFill>
                  <a:schemeClr val="tx2"/>
                </a:solidFill>
                <a:latin typeface="UbuntuMono-Regular"/>
              </a:rPr>
              <a:t> </a:t>
            </a:r>
            <a:r>
              <a:rPr lang="en-IE" sz="2400" dirty="0">
                <a:solidFill>
                  <a:srgbClr val="000000"/>
                </a:solidFill>
                <a:latin typeface="MinionPro-Regular"/>
              </a:rPr>
              <a:t>from it. </a:t>
            </a:r>
            <a:endParaRPr lang="en-IE" sz="2400" dirty="0" smtClean="0">
              <a:solidFill>
                <a:srgbClr val="000000"/>
              </a:solidFill>
              <a:latin typeface="MinionPro-Regular"/>
            </a:endParaRPr>
          </a:p>
          <a:p>
            <a:r>
              <a:rPr lang="en-IE" sz="2400" dirty="0" smtClean="0">
                <a:solidFill>
                  <a:srgbClr val="000000"/>
                </a:solidFill>
                <a:latin typeface="MinionPro-Regular"/>
              </a:rPr>
              <a:t>Finally</a:t>
            </a:r>
            <a:r>
              <a:rPr lang="en-IE" sz="2400" dirty="0">
                <a:solidFill>
                  <a:srgbClr val="000000"/>
                </a:solidFill>
                <a:latin typeface="MinionPro-Regular"/>
              </a:rPr>
              <a:t>, you can ask the </a:t>
            </a:r>
            <a:r>
              <a:rPr lang="en-IE" sz="2400" dirty="0">
                <a:solidFill>
                  <a:srgbClr val="000000"/>
                </a:solidFill>
                <a:latin typeface="UbuntuMono-Regular"/>
              </a:rPr>
              <a:t>URL </a:t>
            </a:r>
            <a:r>
              <a:rPr lang="en-IE" sz="2400" dirty="0">
                <a:solidFill>
                  <a:srgbClr val="000000"/>
                </a:solidFill>
                <a:latin typeface="MinionPro-Regular"/>
              </a:rPr>
              <a:t>for its content with </a:t>
            </a:r>
            <a:r>
              <a:rPr lang="en-IE" sz="2400" dirty="0" err="1">
                <a:solidFill>
                  <a:schemeClr val="tx2"/>
                </a:solidFill>
                <a:latin typeface="UbuntuMono-Regular"/>
              </a:rPr>
              <a:t>getContent</a:t>
            </a:r>
            <a:r>
              <a:rPr lang="en-IE" sz="2400" dirty="0">
                <a:solidFill>
                  <a:srgbClr val="000000"/>
                </a:solidFill>
                <a:latin typeface="UbuntuMono-Regular"/>
              </a:rPr>
              <a:t>() </a:t>
            </a:r>
            <a:r>
              <a:rPr lang="en-IE" sz="2400" dirty="0" smtClean="0">
                <a:solidFill>
                  <a:srgbClr val="000000"/>
                </a:solidFill>
                <a:latin typeface="MinionPro-Regular"/>
              </a:rPr>
              <a:t>which may </a:t>
            </a:r>
            <a:r>
              <a:rPr lang="en-IE" sz="2400" dirty="0">
                <a:solidFill>
                  <a:srgbClr val="000000"/>
                </a:solidFill>
                <a:latin typeface="MinionPro-Regular"/>
              </a:rPr>
              <a:t>give you a more complete object such as </a:t>
            </a:r>
            <a:r>
              <a:rPr lang="en-IE" sz="2400" dirty="0">
                <a:solidFill>
                  <a:srgbClr val="000000"/>
                </a:solidFill>
                <a:latin typeface="UbuntuMono-Regular"/>
              </a:rPr>
              <a:t>String </a:t>
            </a:r>
            <a:r>
              <a:rPr lang="en-IE" sz="2400" dirty="0">
                <a:solidFill>
                  <a:srgbClr val="000000"/>
                </a:solidFill>
                <a:latin typeface="MinionPro-Regular"/>
              </a:rPr>
              <a:t>or an </a:t>
            </a:r>
            <a:r>
              <a:rPr lang="en-IE" sz="2400" dirty="0">
                <a:solidFill>
                  <a:srgbClr val="000000"/>
                </a:solidFill>
                <a:latin typeface="UbuntuMono-Regular"/>
              </a:rPr>
              <a:t>Image</a:t>
            </a:r>
            <a:r>
              <a:rPr lang="en-IE" sz="2400" dirty="0">
                <a:solidFill>
                  <a:srgbClr val="000000"/>
                </a:solidFill>
                <a:latin typeface="MinionPro-Regular"/>
              </a:rPr>
              <a:t>. </a:t>
            </a:r>
            <a:endParaRPr lang="en-IE" sz="2400" dirty="0" smtClean="0">
              <a:solidFill>
                <a:srgbClr val="000000"/>
              </a:solidFill>
              <a:latin typeface="MinionPro-Regular"/>
            </a:endParaRPr>
          </a:p>
        </p:txBody>
      </p:sp>
    </p:spTree>
    <p:extLst>
      <p:ext uri="{BB962C8B-B14F-4D97-AF65-F5344CB8AC3E}">
        <p14:creationId xmlns:p14="http://schemas.microsoft.com/office/powerpoint/2010/main" val="143911007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39762"/>
          </a:xfrm>
        </p:spPr>
        <p:txBody>
          <a:bodyPr>
            <a:noAutofit/>
          </a:bodyPr>
          <a:lstStyle/>
          <a:p>
            <a:r>
              <a:rPr lang="en-IE" sz="3600" dirty="0" smtClean="0"/>
              <a:t>Retrieving data from URL</a:t>
            </a:r>
            <a:endParaRPr lang="en-IE" sz="3600" b="1" dirty="0"/>
          </a:p>
        </p:txBody>
      </p:sp>
      <p:sp>
        <p:nvSpPr>
          <p:cNvPr id="3" name="Content Placeholder 2"/>
          <p:cNvSpPr>
            <a:spLocks noGrp="1"/>
          </p:cNvSpPr>
          <p:nvPr>
            <p:ph idx="1"/>
          </p:nvPr>
        </p:nvSpPr>
        <p:spPr>
          <a:xfrm>
            <a:off x="0" y="609600"/>
            <a:ext cx="9144000" cy="6248400"/>
          </a:xfrm>
        </p:spPr>
        <p:txBody>
          <a:bodyPr>
            <a:noAutofit/>
          </a:bodyPr>
          <a:lstStyle/>
          <a:p>
            <a:r>
              <a:rPr lang="en-IE" sz="2400" dirty="0">
                <a:solidFill>
                  <a:srgbClr val="000000"/>
                </a:solidFill>
                <a:latin typeface="MinionPro-Regular"/>
              </a:rPr>
              <a:t>The </a:t>
            </a:r>
            <a:r>
              <a:rPr lang="en-IE" sz="2400" dirty="0" err="1">
                <a:solidFill>
                  <a:schemeClr val="tx2"/>
                </a:solidFill>
                <a:latin typeface="UbuntuMono-Regular"/>
              </a:rPr>
              <a:t>openStream</a:t>
            </a:r>
            <a:r>
              <a:rPr lang="en-IE" sz="2400" dirty="0">
                <a:solidFill>
                  <a:srgbClr val="000000"/>
                </a:solidFill>
                <a:latin typeface="UbuntuMono-Regular"/>
              </a:rPr>
              <a:t>() </a:t>
            </a:r>
            <a:r>
              <a:rPr lang="en-IE" sz="2400" dirty="0">
                <a:solidFill>
                  <a:srgbClr val="000000"/>
                </a:solidFill>
                <a:latin typeface="MinionPro-Regular"/>
              </a:rPr>
              <a:t>method connects to the resource referenced by the </a:t>
            </a:r>
            <a:r>
              <a:rPr lang="en-IE" sz="2400" dirty="0">
                <a:solidFill>
                  <a:srgbClr val="000000"/>
                </a:solidFill>
                <a:latin typeface="UbuntuMono-Regular"/>
              </a:rPr>
              <a:t>URL</a:t>
            </a:r>
            <a:r>
              <a:rPr lang="en-IE" sz="2400" dirty="0">
                <a:solidFill>
                  <a:srgbClr val="000000"/>
                </a:solidFill>
                <a:latin typeface="MinionPro-Regular"/>
              </a:rPr>
              <a:t>, </a:t>
            </a:r>
            <a:r>
              <a:rPr lang="en-IE" sz="2400" dirty="0" smtClean="0">
                <a:solidFill>
                  <a:srgbClr val="000000"/>
                </a:solidFill>
                <a:latin typeface="MinionPro-Regular"/>
              </a:rPr>
              <a:t>performs any </a:t>
            </a:r>
            <a:r>
              <a:rPr lang="en-IE" sz="2400" dirty="0">
                <a:solidFill>
                  <a:srgbClr val="000000"/>
                </a:solidFill>
                <a:latin typeface="MinionPro-Regular"/>
              </a:rPr>
              <a:t>necessary handshaking between the client and the server, and returns an </a:t>
            </a:r>
            <a:r>
              <a:rPr lang="en-IE" sz="2400" dirty="0" smtClean="0">
                <a:solidFill>
                  <a:srgbClr val="000000"/>
                </a:solidFill>
                <a:latin typeface="UbuntuMono-Regular"/>
              </a:rPr>
              <a:t>Input Stream </a:t>
            </a:r>
            <a:r>
              <a:rPr lang="en-IE" sz="2400" dirty="0">
                <a:solidFill>
                  <a:srgbClr val="000000"/>
                </a:solidFill>
                <a:latin typeface="MinionPro-Regular"/>
              </a:rPr>
              <a:t>from which data can be read. </a:t>
            </a:r>
            <a:endParaRPr lang="en-IE" sz="2400" dirty="0" smtClean="0">
              <a:solidFill>
                <a:srgbClr val="000000"/>
              </a:solidFill>
              <a:latin typeface="MinionPro-Regular"/>
            </a:endParaRPr>
          </a:p>
          <a:p>
            <a:r>
              <a:rPr lang="en-IE" sz="2400" dirty="0" smtClean="0">
                <a:solidFill>
                  <a:schemeClr val="tx2"/>
                </a:solidFill>
                <a:latin typeface="MinionPro-Regular"/>
              </a:rPr>
              <a:t>The </a:t>
            </a:r>
            <a:r>
              <a:rPr lang="en-IE" sz="2400" dirty="0">
                <a:solidFill>
                  <a:schemeClr val="tx2"/>
                </a:solidFill>
                <a:latin typeface="MinionPro-Regular"/>
              </a:rPr>
              <a:t>data you get from this </a:t>
            </a:r>
            <a:r>
              <a:rPr lang="en-IE" sz="2400" dirty="0" err="1">
                <a:solidFill>
                  <a:schemeClr val="tx2"/>
                </a:solidFill>
                <a:latin typeface="UbuntuMono-Regular"/>
              </a:rPr>
              <a:t>InputStream</a:t>
            </a:r>
            <a:r>
              <a:rPr lang="en-IE" sz="2400" dirty="0">
                <a:solidFill>
                  <a:schemeClr val="tx2"/>
                </a:solidFill>
                <a:latin typeface="UbuntuMono-Regular"/>
              </a:rPr>
              <a:t> </a:t>
            </a:r>
            <a:r>
              <a:rPr lang="en-IE" sz="2400" dirty="0">
                <a:solidFill>
                  <a:schemeClr val="tx2"/>
                </a:solidFill>
                <a:latin typeface="MinionPro-Regular"/>
              </a:rPr>
              <a:t>is the </a:t>
            </a:r>
            <a:r>
              <a:rPr lang="en-IE" sz="2400" dirty="0" smtClean="0">
                <a:solidFill>
                  <a:schemeClr val="tx2"/>
                </a:solidFill>
                <a:latin typeface="MinionPro-Regular"/>
              </a:rPr>
              <a:t>raw (</a:t>
            </a:r>
            <a:r>
              <a:rPr lang="en-IE" sz="2400" dirty="0">
                <a:solidFill>
                  <a:schemeClr val="tx2"/>
                </a:solidFill>
                <a:latin typeface="MinionPro-Regular"/>
              </a:rPr>
              <a:t>i.e., </a:t>
            </a:r>
            <a:r>
              <a:rPr lang="en-IE" sz="2400" dirty="0" err="1">
                <a:solidFill>
                  <a:schemeClr val="tx2"/>
                </a:solidFill>
                <a:latin typeface="MinionPro-Regular"/>
              </a:rPr>
              <a:t>uninterpreted</a:t>
            </a:r>
            <a:r>
              <a:rPr lang="en-IE" sz="2400" dirty="0">
                <a:solidFill>
                  <a:schemeClr val="tx2"/>
                </a:solidFill>
                <a:latin typeface="MinionPro-Regular"/>
              </a:rPr>
              <a:t>) content the </a:t>
            </a:r>
            <a:r>
              <a:rPr lang="en-IE" sz="2400" dirty="0">
                <a:solidFill>
                  <a:schemeClr val="tx2"/>
                </a:solidFill>
                <a:latin typeface="UbuntuMono-Regular"/>
              </a:rPr>
              <a:t>URL </a:t>
            </a:r>
            <a:r>
              <a:rPr lang="en-IE" sz="2400" dirty="0">
                <a:solidFill>
                  <a:schemeClr val="tx2"/>
                </a:solidFill>
                <a:latin typeface="MinionPro-Regular"/>
              </a:rPr>
              <a:t>references:</a:t>
            </a:r>
            <a:r>
              <a:rPr lang="en-IE" sz="2400" dirty="0">
                <a:solidFill>
                  <a:srgbClr val="000000"/>
                </a:solidFill>
                <a:latin typeface="MinionPro-Regular"/>
              </a:rPr>
              <a:t> </a:t>
            </a:r>
            <a:endParaRPr lang="en-IE" sz="2400" dirty="0" smtClean="0">
              <a:solidFill>
                <a:srgbClr val="000000"/>
              </a:solidFill>
              <a:latin typeface="MinionPro-Regular"/>
            </a:endParaRPr>
          </a:p>
          <a:p>
            <a:pPr lvl="1"/>
            <a:r>
              <a:rPr lang="en-IE" sz="2000" dirty="0" smtClean="0">
                <a:solidFill>
                  <a:schemeClr val="tx2"/>
                </a:solidFill>
                <a:latin typeface="MinionPro-Regular"/>
              </a:rPr>
              <a:t>ASCII</a:t>
            </a:r>
            <a:r>
              <a:rPr lang="en-IE" sz="2000" dirty="0" smtClean="0">
                <a:solidFill>
                  <a:srgbClr val="000000"/>
                </a:solidFill>
                <a:latin typeface="MinionPro-Regular"/>
              </a:rPr>
              <a:t> </a:t>
            </a:r>
            <a:r>
              <a:rPr lang="en-IE" sz="2000" dirty="0">
                <a:solidFill>
                  <a:srgbClr val="000000"/>
                </a:solidFill>
                <a:latin typeface="MinionPro-Regular"/>
              </a:rPr>
              <a:t>if you’re reading an ASCII </a:t>
            </a:r>
            <a:r>
              <a:rPr lang="en-IE" sz="2000" dirty="0" smtClean="0">
                <a:solidFill>
                  <a:srgbClr val="000000"/>
                </a:solidFill>
                <a:latin typeface="MinionPro-Regular"/>
              </a:rPr>
              <a:t>text file</a:t>
            </a:r>
            <a:r>
              <a:rPr lang="en-IE" sz="2000" dirty="0">
                <a:solidFill>
                  <a:srgbClr val="000000"/>
                </a:solidFill>
                <a:latin typeface="MinionPro-Regular"/>
              </a:rPr>
              <a:t>, </a:t>
            </a:r>
            <a:endParaRPr lang="en-IE" sz="2000" dirty="0" smtClean="0">
              <a:solidFill>
                <a:srgbClr val="000000"/>
              </a:solidFill>
              <a:latin typeface="MinionPro-Regular"/>
            </a:endParaRPr>
          </a:p>
          <a:p>
            <a:pPr lvl="1"/>
            <a:r>
              <a:rPr lang="en-IE" sz="2000" dirty="0" smtClean="0">
                <a:solidFill>
                  <a:schemeClr val="tx2"/>
                </a:solidFill>
                <a:latin typeface="MinionPro-Regular"/>
              </a:rPr>
              <a:t>raw </a:t>
            </a:r>
            <a:r>
              <a:rPr lang="en-IE" sz="2000" dirty="0">
                <a:solidFill>
                  <a:schemeClr val="tx2"/>
                </a:solidFill>
                <a:latin typeface="MinionPro-Regular"/>
              </a:rPr>
              <a:t>HTML </a:t>
            </a:r>
            <a:r>
              <a:rPr lang="en-IE" sz="2000" dirty="0">
                <a:solidFill>
                  <a:srgbClr val="000000"/>
                </a:solidFill>
                <a:latin typeface="MinionPro-Regular"/>
              </a:rPr>
              <a:t>if you’re reading an HTML file, </a:t>
            </a:r>
            <a:r>
              <a:rPr lang="en-IE" sz="2000" dirty="0">
                <a:solidFill>
                  <a:schemeClr val="tx2"/>
                </a:solidFill>
                <a:latin typeface="MinionPro-Regular"/>
              </a:rPr>
              <a:t>binary image </a:t>
            </a:r>
            <a:r>
              <a:rPr lang="en-IE" sz="2000" dirty="0">
                <a:solidFill>
                  <a:srgbClr val="000000"/>
                </a:solidFill>
                <a:latin typeface="MinionPro-Regular"/>
              </a:rPr>
              <a:t>data if you’re reading </a:t>
            </a:r>
            <a:r>
              <a:rPr lang="en-IE" sz="2000" dirty="0" smtClean="0">
                <a:solidFill>
                  <a:srgbClr val="000000"/>
                </a:solidFill>
                <a:latin typeface="MinionPro-Regular"/>
              </a:rPr>
              <a:t>an image </a:t>
            </a:r>
            <a:r>
              <a:rPr lang="en-IE" sz="2000" dirty="0">
                <a:solidFill>
                  <a:srgbClr val="000000"/>
                </a:solidFill>
                <a:latin typeface="MinionPro-Regular"/>
              </a:rPr>
              <a:t>file, and so forth</a:t>
            </a:r>
            <a:r>
              <a:rPr lang="en-IE" sz="2000" dirty="0" smtClean="0">
                <a:solidFill>
                  <a:srgbClr val="000000"/>
                </a:solidFill>
                <a:latin typeface="MinionPro-Regular"/>
              </a:rPr>
              <a:t>.</a:t>
            </a:r>
          </a:p>
          <a:p>
            <a:r>
              <a:rPr lang="en-IE" sz="1800" b="1" dirty="0" smtClean="0">
                <a:solidFill>
                  <a:srgbClr val="00669A"/>
                </a:solidFill>
                <a:latin typeface="UbuntuMono-Bold"/>
              </a:rPr>
              <a:t>try </a:t>
            </a:r>
            <a:r>
              <a:rPr lang="en-IE" sz="1800" dirty="0">
                <a:solidFill>
                  <a:srgbClr val="555555"/>
                </a:solidFill>
                <a:latin typeface="UbuntuMono-Regular"/>
              </a:rPr>
              <a:t>{</a:t>
            </a:r>
          </a:p>
          <a:p>
            <a:r>
              <a:rPr lang="pl-PL" sz="1800" dirty="0">
                <a:solidFill>
                  <a:srgbClr val="000089"/>
                </a:solidFill>
                <a:latin typeface="UbuntuMono-Regular"/>
              </a:rPr>
              <a:t>URL u </a:t>
            </a:r>
            <a:r>
              <a:rPr lang="pl-PL" sz="1800" dirty="0">
                <a:solidFill>
                  <a:srgbClr val="555555"/>
                </a:solidFill>
                <a:latin typeface="UbuntuMono-Regular"/>
              </a:rPr>
              <a:t>= </a:t>
            </a:r>
            <a:r>
              <a:rPr lang="pl-PL" sz="1800" b="1" dirty="0">
                <a:solidFill>
                  <a:srgbClr val="00669A"/>
                </a:solidFill>
                <a:latin typeface="UbuntuMono-Bold"/>
              </a:rPr>
              <a:t>new </a:t>
            </a:r>
            <a:r>
              <a:rPr lang="pl-PL" sz="1800" dirty="0">
                <a:solidFill>
                  <a:srgbClr val="000089"/>
                </a:solidFill>
                <a:latin typeface="UbuntuMono-Regular"/>
              </a:rPr>
              <a:t>URL</a:t>
            </a:r>
            <a:r>
              <a:rPr lang="pl-PL" sz="1800" dirty="0">
                <a:solidFill>
                  <a:srgbClr val="555555"/>
                </a:solidFill>
                <a:latin typeface="UbuntuMono-Regular"/>
              </a:rPr>
              <a:t>(</a:t>
            </a:r>
            <a:r>
              <a:rPr lang="pl-PL" sz="1800" dirty="0">
                <a:solidFill>
                  <a:srgbClr val="CD3300"/>
                </a:solidFill>
                <a:latin typeface="UbuntuMono-Regular"/>
              </a:rPr>
              <a:t>"http://www.lolcats.com"</a:t>
            </a:r>
            <a:r>
              <a:rPr lang="pl-PL" sz="1800" dirty="0">
                <a:solidFill>
                  <a:srgbClr val="555555"/>
                </a:solidFill>
                <a:latin typeface="UbuntuMono-Regular"/>
              </a:rPr>
              <a:t>);</a:t>
            </a:r>
          </a:p>
          <a:p>
            <a:r>
              <a:rPr lang="en-IE" sz="1800" dirty="0" err="1">
                <a:solidFill>
                  <a:srgbClr val="000089"/>
                </a:solidFill>
                <a:latin typeface="UbuntuMono-Regular"/>
              </a:rPr>
              <a:t>InputStream</a:t>
            </a:r>
            <a:r>
              <a:rPr lang="en-IE" sz="1800" dirty="0">
                <a:solidFill>
                  <a:srgbClr val="000089"/>
                </a:solidFill>
                <a:latin typeface="UbuntuMono-Regular"/>
              </a:rPr>
              <a:t> in </a:t>
            </a:r>
            <a:r>
              <a:rPr lang="en-IE" sz="1800" dirty="0">
                <a:solidFill>
                  <a:srgbClr val="555555"/>
                </a:solidFill>
                <a:latin typeface="UbuntuMono-Regular"/>
              </a:rPr>
              <a:t>= </a:t>
            </a:r>
            <a:r>
              <a:rPr lang="en-IE" sz="1800" dirty="0" err="1">
                <a:solidFill>
                  <a:srgbClr val="000089"/>
                </a:solidFill>
                <a:latin typeface="UbuntuMono-Regular"/>
              </a:rPr>
              <a:t>u</a:t>
            </a:r>
            <a:r>
              <a:rPr lang="en-IE" sz="1800" dirty="0" err="1">
                <a:solidFill>
                  <a:srgbClr val="555555"/>
                </a:solidFill>
                <a:latin typeface="UbuntuMono-Regular"/>
              </a:rPr>
              <a:t>.</a:t>
            </a:r>
            <a:r>
              <a:rPr lang="en-IE" sz="1800" dirty="0" err="1">
                <a:solidFill>
                  <a:srgbClr val="33009A"/>
                </a:solidFill>
                <a:latin typeface="UbuntuMono-Regular"/>
              </a:rPr>
              <a:t>openStream</a:t>
            </a:r>
            <a:r>
              <a:rPr lang="en-IE" sz="1800" dirty="0">
                <a:solidFill>
                  <a:srgbClr val="555555"/>
                </a:solidFill>
                <a:latin typeface="UbuntuMono-Regular"/>
              </a:rPr>
              <a:t>();</a:t>
            </a:r>
          </a:p>
          <a:p>
            <a:r>
              <a:rPr lang="en-IE" sz="1800" b="1" dirty="0" err="1">
                <a:solidFill>
                  <a:srgbClr val="007789"/>
                </a:solidFill>
                <a:latin typeface="UbuntuMono-Bold"/>
              </a:rPr>
              <a:t>int</a:t>
            </a:r>
            <a:r>
              <a:rPr lang="en-IE" sz="1800" b="1" dirty="0">
                <a:solidFill>
                  <a:srgbClr val="007789"/>
                </a:solidFill>
                <a:latin typeface="UbuntuMono-Bold"/>
              </a:rPr>
              <a:t> </a:t>
            </a:r>
            <a:r>
              <a:rPr lang="en-IE" sz="1800" dirty="0">
                <a:solidFill>
                  <a:srgbClr val="000089"/>
                </a:solidFill>
                <a:latin typeface="UbuntuMono-Regular"/>
              </a:rPr>
              <a:t>c</a:t>
            </a:r>
            <a:r>
              <a:rPr lang="en-IE" sz="1800" dirty="0">
                <a:solidFill>
                  <a:srgbClr val="555555"/>
                </a:solidFill>
                <a:latin typeface="UbuntuMono-Regular"/>
              </a:rPr>
              <a:t>;</a:t>
            </a:r>
          </a:p>
          <a:p>
            <a:r>
              <a:rPr lang="en-IE" sz="1800" b="1" dirty="0">
                <a:solidFill>
                  <a:srgbClr val="00669A"/>
                </a:solidFill>
                <a:latin typeface="UbuntuMono-Bold"/>
              </a:rPr>
              <a:t>while </a:t>
            </a:r>
            <a:r>
              <a:rPr lang="en-IE" sz="1800" dirty="0">
                <a:solidFill>
                  <a:srgbClr val="555555"/>
                </a:solidFill>
                <a:latin typeface="UbuntuMono-Regular"/>
              </a:rPr>
              <a:t>((</a:t>
            </a:r>
            <a:r>
              <a:rPr lang="en-IE" sz="1800" dirty="0">
                <a:solidFill>
                  <a:srgbClr val="000089"/>
                </a:solidFill>
                <a:latin typeface="UbuntuMono-Regular"/>
              </a:rPr>
              <a:t>c </a:t>
            </a:r>
            <a:r>
              <a:rPr lang="en-IE" sz="1800" dirty="0">
                <a:solidFill>
                  <a:srgbClr val="555555"/>
                </a:solidFill>
                <a:latin typeface="UbuntuMono-Regular"/>
              </a:rPr>
              <a:t>= </a:t>
            </a:r>
            <a:r>
              <a:rPr lang="en-IE" sz="1800" dirty="0" err="1">
                <a:solidFill>
                  <a:srgbClr val="000089"/>
                </a:solidFill>
                <a:latin typeface="UbuntuMono-Regular"/>
              </a:rPr>
              <a:t>in</a:t>
            </a:r>
            <a:r>
              <a:rPr lang="en-IE" sz="1800" dirty="0" err="1">
                <a:solidFill>
                  <a:srgbClr val="555555"/>
                </a:solidFill>
                <a:latin typeface="UbuntuMono-Regular"/>
              </a:rPr>
              <a:t>.</a:t>
            </a:r>
            <a:r>
              <a:rPr lang="en-IE" sz="1800" dirty="0" err="1">
                <a:solidFill>
                  <a:srgbClr val="33009A"/>
                </a:solidFill>
                <a:latin typeface="UbuntuMono-Regular"/>
              </a:rPr>
              <a:t>read</a:t>
            </a:r>
            <a:r>
              <a:rPr lang="en-IE" sz="1800" dirty="0">
                <a:solidFill>
                  <a:srgbClr val="555555"/>
                </a:solidFill>
                <a:latin typeface="UbuntuMono-Regular"/>
              </a:rPr>
              <a:t>()) != -</a:t>
            </a:r>
            <a:r>
              <a:rPr lang="en-IE" sz="1800" dirty="0">
                <a:solidFill>
                  <a:srgbClr val="FF6600"/>
                </a:solidFill>
                <a:latin typeface="UbuntuMono-Regular"/>
              </a:rPr>
              <a:t>1</a:t>
            </a:r>
            <a:r>
              <a:rPr lang="en-IE" sz="1800" dirty="0">
                <a:solidFill>
                  <a:srgbClr val="555555"/>
                </a:solidFill>
                <a:latin typeface="UbuntuMono-Regular"/>
              </a:rPr>
              <a:t>) </a:t>
            </a:r>
            <a:r>
              <a:rPr lang="en-IE" sz="1800" dirty="0" err="1">
                <a:solidFill>
                  <a:srgbClr val="000089"/>
                </a:solidFill>
                <a:latin typeface="UbuntuMono-Regular"/>
              </a:rPr>
              <a:t>System</a:t>
            </a:r>
            <a:r>
              <a:rPr lang="en-IE" sz="1800" dirty="0" err="1">
                <a:solidFill>
                  <a:srgbClr val="555555"/>
                </a:solidFill>
                <a:latin typeface="UbuntuMono-Regular"/>
              </a:rPr>
              <a:t>.</a:t>
            </a:r>
            <a:r>
              <a:rPr lang="en-IE" sz="1800" dirty="0" err="1">
                <a:solidFill>
                  <a:srgbClr val="33009A"/>
                </a:solidFill>
                <a:latin typeface="UbuntuMono-Regular"/>
              </a:rPr>
              <a:t>out</a:t>
            </a:r>
            <a:r>
              <a:rPr lang="en-IE" sz="1800" dirty="0" err="1">
                <a:solidFill>
                  <a:srgbClr val="555555"/>
                </a:solidFill>
                <a:latin typeface="UbuntuMono-Regular"/>
              </a:rPr>
              <a:t>.</a:t>
            </a:r>
            <a:r>
              <a:rPr lang="en-IE" sz="1800" dirty="0" err="1">
                <a:solidFill>
                  <a:srgbClr val="33009A"/>
                </a:solidFill>
                <a:latin typeface="UbuntuMono-Regular"/>
              </a:rPr>
              <a:t>write</a:t>
            </a:r>
            <a:r>
              <a:rPr lang="en-IE" sz="1800" dirty="0">
                <a:solidFill>
                  <a:srgbClr val="555555"/>
                </a:solidFill>
                <a:latin typeface="UbuntuMono-Regular"/>
              </a:rPr>
              <a:t>(</a:t>
            </a:r>
            <a:r>
              <a:rPr lang="en-IE" sz="1800" dirty="0">
                <a:solidFill>
                  <a:srgbClr val="000089"/>
                </a:solidFill>
                <a:latin typeface="UbuntuMono-Regular"/>
              </a:rPr>
              <a:t>c</a:t>
            </a:r>
            <a:r>
              <a:rPr lang="en-IE" sz="1800" dirty="0">
                <a:solidFill>
                  <a:srgbClr val="555555"/>
                </a:solidFill>
                <a:latin typeface="UbuntuMono-Regular"/>
              </a:rPr>
              <a:t>);</a:t>
            </a:r>
          </a:p>
          <a:p>
            <a:r>
              <a:rPr lang="en-IE" sz="1800" dirty="0" err="1">
                <a:solidFill>
                  <a:srgbClr val="000089"/>
                </a:solidFill>
                <a:latin typeface="UbuntuMono-Regular"/>
              </a:rPr>
              <a:t>in</a:t>
            </a:r>
            <a:r>
              <a:rPr lang="en-IE" sz="1800" dirty="0" err="1">
                <a:solidFill>
                  <a:srgbClr val="555555"/>
                </a:solidFill>
                <a:latin typeface="UbuntuMono-Regular"/>
              </a:rPr>
              <a:t>.</a:t>
            </a:r>
            <a:r>
              <a:rPr lang="en-IE" sz="1800" dirty="0" err="1">
                <a:solidFill>
                  <a:srgbClr val="33009A"/>
                </a:solidFill>
                <a:latin typeface="UbuntuMono-Regular"/>
              </a:rPr>
              <a:t>close</a:t>
            </a:r>
            <a:r>
              <a:rPr lang="en-IE" sz="1800" dirty="0">
                <a:solidFill>
                  <a:srgbClr val="555555"/>
                </a:solidFill>
                <a:latin typeface="UbuntuMono-Regular"/>
              </a:rPr>
              <a:t>();</a:t>
            </a:r>
          </a:p>
          <a:p>
            <a:r>
              <a:rPr lang="en-IE" sz="1800" dirty="0">
                <a:solidFill>
                  <a:srgbClr val="555555"/>
                </a:solidFill>
                <a:latin typeface="UbuntuMono-Regular"/>
              </a:rPr>
              <a:t>} </a:t>
            </a:r>
            <a:r>
              <a:rPr lang="en-IE" sz="1800" b="1" dirty="0">
                <a:solidFill>
                  <a:srgbClr val="00669A"/>
                </a:solidFill>
                <a:latin typeface="UbuntuMono-Bold"/>
              </a:rPr>
              <a:t>catch </a:t>
            </a:r>
            <a:r>
              <a:rPr lang="en-IE" sz="1800" dirty="0">
                <a:solidFill>
                  <a:srgbClr val="555555"/>
                </a:solidFill>
                <a:latin typeface="UbuntuMono-Regular"/>
              </a:rPr>
              <a:t>(</a:t>
            </a:r>
            <a:r>
              <a:rPr lang="en-IE" sz="1800" dirty="0" err="1">
                <a:solidFill>
                  <a:srgbClr val="000089"/>
                </a:solidFill>
                <a:latin typeface="UbuntuMono-Regular"/>
              </a:rPr>
              <a:t>IOException</a:t>
            </a:r>
            <a:r>
              <a:rPr lang="en-IE" sz="1800" dirty="0">
                <a:solidFill>
                  <a:srgbClr val="000089"/>
                </a:solidFill>
                <a:latin typeface="UbuntuMono-Regular"/>
              </a:rPr>
              <a:t> ex</a:t>
            </a:r>
            <a:r>
              <a:rPr lang="en-IE" sz="1800" dirty="0">
                <a:solidFill>
                  <a:srgbClr val="555555"/>
                </a:solidFill>
                <a:latin typeface="UbuntuMono-Regular"/>
              </a:rPr>
              <a:t>) {</a:t>
            </a:r>
          </a:p>
          <a:p>
            <a:r>
              <a:rPr lang="en-IE" sz="1800" dirty="0" err="1">
                <a:solidFill>
                  <a:srgbClr val="000089"/>
                </a:solidFill>
                <a:latin typeface="UbuntuMono-Regular"/>
              </a:rPr>
              <a:t>System</a:t>
            </a:r>
            <a:r>
              <a:rPr lang="en-IE" sz="1800" dirty="0" err="1">
                <a:solidFill>
                  <a:srgbClr val="555555"/>
                </a:solidFill>
                <a:latin typeface="UbuntuMono-Regular"/>
              </a:rPr>
              <a:t>.</a:t>
            </a:r>
            <a:r>
              <a:rPr lang="en-IE" sz="1800" dirty="0" err="1">
                <a:solidFill>
                  <a:srgbClr val="33009A"/>
                </a:solidFill>
                <a:latin typeface="UbuntuMono-Regular"/>
              </a:rPr>
              <a:t>err</a:t>
            </a:r>
            <a:r>
              <a:rPr lang="en-IE" sz="1800" dirty="0" err="1">
                <a:solidFill>
                  <a:srgbClr val="555555"/>
                </a:solidFill>
                <a:latin typeface="UbuntuMono-Regular"/>
              </a:rPr>
              <a:t>.</a:t>
            </a:r>
            <a:r>
              <a:rPr lang="en-IE" sz="1800" dirty="0" err="1">
                <a:solidFill>
                  <a:srgbClr val="33009A"/>
                </a:solidFill>
                <a:latin typeface="UbuntuMono-Regular"/>
              </a:rPr>
              <a:t>println</a:t>
            </a:r>
            <a:r>
              <a:rPr lang="en-IE" sz="1800" dirty="0">
                <a:solidFill>
                  <a:srgbClr val="555555"/>
                </a:solidFill>
                <a:latin typeface="UbuntuMono-Regular"/>
              </a:rPr>
              <a:t>(</a:t>
            </a:r>
            <a:r>
              <a:rPr lang="en-IE" sz="1800" dirty="0">
                <a:solidFill>
                  <a:srgbClr val="000089"/>
                </a:solidFill>
                <a:latin typeface="UbuntuMono-Regular"/>
              </a:rPr>
              <a:t>ex</a:t>
            </a:r>
            <a:r>
              <a:rPr lang="en-IE" sz="1800" dirty="0">
                <a:solidFill>
                  <a:srgbClr val="555555"/>
                </a:solidFill>
                <a:latin typeface="UbuntuMono-Regular"/>
              </a:rPr>
              <a:t>);</a:t>
            </a:r>
          </a:p>
          <a:p>
            <a:r>
              <a:rPr lang="en-IE" sz="1800" dirty="0" smtClean="0">
                <a:solidFill>
                  <a:srgbClr val="555555"/>
                </a:solidFill>
                <a:latin typeface="UbuntuMono-Regular"/>
              </a:rPr>
              <a:t>}</a:t>
            </a:r>
            <a:endParaRPr lang="en-IE" sz="1800" dirty="0">
              <a:solidFill>
                <a:srgbClr val="555555"/>
              </a:solidFill>
              <a:latin typeface="UbuntuMono-Regular"/>
            </a:endParaRPr>
          </a:p>
        </p:txBody>
      </p:sp>
    </p:spTree>
    <p:extLst>
      <p:ext uri="{BB962C8B-B14F-4D97-AF65-F5344CB8AC3E}">
        <p14:creationId xmlns:p14="http://schemas.microsoft.com/office/powerpoint/2010/main" val="394641692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39762"/>
          </a:xfrm>
        </p:spPr>
        <p:txBody>
          <a:bodyPr>
            <a:noAutofit/>
          </a:bodyPr>
          <a:lstStyle/>
          <a:p>
            <a:r>
              <a:rPr lang="en-IE" sz="3600" dirty="0" smtClean="0"/>
              <a:t>Download a webpage</a:t>
            </a:r>
            <a:endParaRPr lang="en-IE" sz="3600" b="1" dirty="0"/>
          </a:p>
        </p:txBody>
      </p:sp>
      <p:sp>
        <p:nvSpPr>
          <p:cNvPr id="3" name="Content Placeholder 2"/>
          <p:cNvSpPr>
            <a:spLocks noGrp="1"/>
          </p:cNvSpPr>
          <p:nvPr>
            <p:ph idx="1"/>
          </p:nvPr>
        </p:nvSpPr>
        <p:spPr>
          <a:xfrm>
            <a:off x="0" y="609600"/>
            <a:ext cx="9144000" cy="6248400"/>
          </a:xfrm>
        </p:spPr>
        <p:txBody>
          <a:bodyPr>
            <a:noAutofit/>
          </a:bodyPr>
          <a:lstStyle/>
          <a:p>
            <a:pPr marL="0" indent="0">
              <a:buNone/>
            </a:pPr>
            <a:r>
              <a:rPr lang="en-IE" sz="1400" b="1" dirty="0">
                <a:solidFill>
                  <a:srgbClr val="00669A"/>
                </a:solidFill>
                <a:latin typeface="UbuntuMono-Bold"/>
              </a:rPr>
              <a:t>import </a:t>
            </a:r>
            <a:r>
              <a:rPr lang="en-IE" sz="1400" b="1" dirty="0">
                <a:solidFill>
                  <a:srgbClr val="00CDFF"/>
                </a:solidFill>
                <a:latin typeface="UbuntuMono-Bold"/>
              </a:rPr>
              <a:t>java.io</a:t>
            </a:r>
            <a:r>
              <a:rPr lang="en-IE" sz="1400" b="1" dirty="0" smtClean="0">
                <a:solidFill>
                  <a:srgbClr val="00CDFF"/>
                </a:solidFill>
                <a:latin typeface="UbuntuMono-Bold"/>
              </a:rPr>
              <a:t>.*</a:t>
            </a:r>
            <a:r>
              <a:rPr lang="en-IE" sz="1400" dirty="0" smtClean="0">
                <a:solidFill>
                  <a:srgbClr val="555555"/>
                </a:solidFill>
                <a:latin typeface="UbuntuMono-Regular"/>
              </a:rPr>
              <a:t>; </a:t>
            </a:r>
            <a:r>
              <a:rPr lang="en-IE" sz="1400" b="1" dirty="0" smtClean="0">
                <a:solidFill>
                  <a:srgbClr val="00669A"/>
                </a:solidFill>
                <a:latin typeface="UbuntuMono-Bold"/>
              </a:rPr>
              <a:t>import </a:t>
            </a:r>
            <a:r>
              <a:rPr lang="en-IE" sz="1400" b="1" dirty="0">
                <a:solidFill>
                  <a:srgbClr val="00CDFF"/>
                </a:solidFill>
                <a:latin typeface="UbuntuMono-Bold"/>
              </a:rPr>
              <a:t>java.net.*</a:t>
            </a:r>
            <a:r>
              <a:rPr lang="en-IE" sz="1400" dirty="0">
                <a:solidFill>
                  <a:srgbClr val="555555"/>
                </a:solidFill>
                <a:latin typeface="UbuntuMono-Regular"/>
              </a:rPr>
              <a:t>;</a:t>
            </a:r>
          </a:p>
          <a:p>
            <a:pPr marL="0" indent="0">
              <a:buNone/>
            </a:pPr>
            <a:r>
              <a:rPr lang="en-IE" sz="1400" b="1" dirty="0">
                <a:solidFill>
                  <a:srgbClr val="00669A"/>
                </a:solidFill>
                <a:latin typeface="UbuntuMono-Bold"/>
              </a:rPr>
              <a:t>public class </a:t>
            </a:r>
            <a:r>
              <a:rPr lang="en-IE" sz="1400" b="1" dirty="0" err="1">
                <a:solidFill>
                  <a:srgbClr val="00AB89"/>
                </a:solidFill>
                <a:latin typeface="UbuntuMono-Bold"/>
              </a:rPr>
              <a:t>SourceViewer</a:t>
            </a:r>
            <a:r>
              <a:rPr lang="en-IE" sz="1400" b="1" dirty="0">
                <a:solidFill>
                  <a:srgbClr val="00AB89"/>
                </a:solidFill>
                <a:latin typeface="UbuntuMono-Bold"/>
              </a:rPr>
              <a:t> </a:t>
            </a:r>
            <a:r>
              <a:rPr lang="en-IE" sz="1400" dirty="0">
                <a:solidFill>
                  <a:srgbClr val="555555"/>
                </a:solidFill>
                <a:latin typeface="UbuntuMono-Regular"/>
              </a:rPr>
              <a:t>{</a:t>
            </a:r>
          </a:p>
          <a:p>
            <a:pPr marL="0" indent="0">
              <a:buNone/>
            </a:pPr>
            <a:r>
              <a:rPr lang="en-IE" sz="1400" b="1" dirty="0">
                <a:solidFill>
                  <a:srgbClr val="00669A"/>
                </a:solidFill>
                <a:latin typeface="UbuntuMono-Bold"/>
              </a:rPr>
              <a:t>public static </a:t>
            </a:r>
            <a:r>
              <a:rPr lang="en-IE" sz="1400" b="1" dirty="0">
                <a:solidFill>
                  <a:srgbClr val="007789"/>
                </a:solidFill>
                <a:latin typeface="UbuntuMono-Bold"/>
              </a:rPr>
              <a:t>void </a:t>
            </a:r>
            <a:r>
              <a:rPr lang="en-IE" sz="1400" dirty="0">
                <a:solidFill>
                  <a:srgbClr val="CD00FF"/>
                </a:solidFill>
                <a:latin typeface="UbuntuMono-Regular"/>
              </a:rPr>
              <a:t>main </a:t>
            </a:r>
            <a:r>
              <a:rPr lang="en-IE" sz="1400" dirty="0">
                <a:solidFill>
                  <a:srgbClr val="555555"/>
                </a:solidFill>
                <a:latin typeface="UbuntuMono-Regular"/>
              </a:rPr>
              <a:t>(</a:t>
            </a:r>
            <a:r>
              <a:rPr lang="en-IE" sz="1400" dirty="0">
                <a:solidFill>
                  <a:srgbClr val="000089"/>
                </a:solidFill>
                <a:latin typeface="UbuntuMono-Regular"/>
              </a:rPr>
              <a:t>String</a:t>
            </a:r>
            <a:r>
              <a:rPr lang="en-IE" sz="1400" dirty="0">
                <a:solidFill>
                  <a:srgbClr val="555555"/>
                </a:solidFill>
                <a:latin typeface="UbuntuMono-Regular"/>
              </a:rPr>
              <a:t>[] </a:t>
            </a:r>
            <a:r>
              <a:rPr lang="en-IE" sz="1400" dirty="0" err="1">
                <a:solidFill>
                  <a:srgbClr val="000089"/>
                </a:solidFill>
                <a:latin typeface="UbuntuMono-Regular"/>
              </a:rPr>
              <a:t>args</a:t>
            </a:r>
            <a:r>
              <a:rPr lang="en-IE" sz="1400" dirty="0">
                <a:solidFill>
                  <a:srgbClr val="555555"/>
                </a:solidFill>
                <a:latin typeface="UbuntuMono-Regular"/>
              </a:rPr>
              <a:t>) {</a:t>
            </a:r>
          </a:p>
          <a:p>
            <a:pPr marL="0" indent="0">
              <a:buNone/>
            </a:pPr>
            <a:r>
              <a:rPr lang="en-IE" sz="1400" b="1" dirty="0" smtClean="0">
                <a:solidFill>
                  <a:srgbClr val="00669A"/>
                </a:solidFill>
                <a:latin typeface="UbuntuMono-Bold"/>
              </a:rPr>
              <a:t>	if </a:t>
            </a:r>
            <a:r>
              <a:rPr lang="en-IE" sz="1400" dirty="0">
                <a:solidFill>
                  <a:srgbClr val="555555"/>
                </a:solidFill>
                <a:latin typeface="UbuntuMono-Regular"/>
              </a:rPr>
              <a:t>(</a:t>
            </a:r>
            <a:r>
              <a:rPr lang="en-IE" sz="1400" dirty="0" err="1">
                <a:solidFill>
                  <a:srgbClr val="000089"/>
                </a:solidFill>
                <a:latin typeface="UbuntuMono-Regular"/>
              </a:rPr>
              <a:t>args</a:t>
            </a:r>
            <a:r>
              <a:rPr lang="en-IE" sz="1400" dirty="0" err="1">
                <a:solidFill>
                  <a:srgbClr val="555555"/>
                </a:solidFill>
                <a:latin typeface="UbuntuMono-Regular"/>
              </a:rPr>
              <a:t>.</a:t>
            </a:r>
            <a:r>
              <a:rPr lang="en-IE" sz="1400" dirty="0" err="1">
                <a:solidFill>
                  <a:srgbClr val="33009A"/>
                </a:solidFill>
                <a:latin typeface="UbuntuMono-Regular"/>
              </a:rPr>
              <a:t>length</a:t>
            </a:r>
            <a:r>
              <a:rPr lang="en-IE" sz="1400" dirty="0">
                <a:solidFill>
                  <a:srgbClr val="33009A"/>
                </a:solidFill>
                <a:latin typeface="UbuntuMono-Regular"/>
              </a:rPr>
              <a:t> </a:t>
            </a:r>
            <a:r>
              <a:rPr lang="en-IE" sz="1400" dirty="0">
                <a:solidFill>
                  <a:srgbClr val="555555"/>
                </a:solidFill>
                <a:latin typeface="UbuntuMono-Regular"/>
              </a:rPr>
              <a:t>&gt; </a:t>
            </a:r>
            <a:r>
              <a:rPr lang="en-IE" sz="1400" dirty="0">
                <a:solidFill>
                  <a:srgbClr val="FF6600"/>
                </a:solidFill>
                <a:latin typeface="UbuntuMono-Regular"/>
              </a:rPr>
              <a:t>0</a:t>
            </a:r>
            <a:r>
              <a:rPr lang="en-IE" sz="1400" dirty="0">
                <a:solidFill>
                  <a:srgbClr val="555555"/>
                </a:solidFill>
                <a:latin typeface="UbuntuMono-Regular"/>
              </a:rPr>
              <a:t>) {</a:t>
            </a:r>
          </a:p>
          <a:p>
            <a:pPr marL="0" indent="0">
              <a:buNone/>
            </a:pPr>
            <a:r>
              <a:rPr lang="en-IE" sz="1400" dirty="0" smtClean="0">
                <a:solidFill>
                  <a:srgbClr val="000089"/>
                </a:solidFill>
                <a:latin typeface="UbuntuMono-Regular"/>
              </a:rPr>
              <a:t>	</a:t>
            </a:r>
            <a:r>
              <a:rPr lang="en-IE" sz="1400" dirty="0" err="1" smtClean="0">
                <a:solidFill>
                  <a:srgbClr val="000089"/>
                </a:solidFill>
                <a:latin typeface="UbuntuMono-Regular"/>
              </a:rPr>
              <a:t>InputStream</a:t>
            </a:r>
            <a:r>
              <a:rPr lang="en-IE" sz="1400" dirty="0" smtClean="0">
                <a:solidFill>
                  <a:srgbClr val="000089"/>
                </a:solidFill>
                <a:latin typeface="UbuntuMono-Regular"/>
              </a:rPr>
              <a:t> </a:t>
            </a:r>
            <a:r>
              <a:rPr lang="en-IE" sz="1400" dirty="0">
                <a:solidFill>
                  <a:srgbClr val="000089"/>
                </a:solidFill>
                <a:latin typeface="UbuntuMono-Regular"/>
              </a:rPr>
              <a:t>in </a:t>
            </a:r>
            <a:r>
              <a:rPr lang="en-IE" sz="1400" dirty="0">
                <a:solidFill>
                  <a:srgbClr val="555555"/>
                </a:solidFill>
                <a:latin typeface="UbuntuMono-Regular"/>
              </a:rPr>
              <a:t>= </a:t>
            </a:r>
            <a:r>
              <a:rPr lang="en-IE" sz="1400" b="1" dirty="0">
                <a:solidFill>
                  <a:srgbClr val="00669A"/>
                </a:solidFill>
                <a:latin typeface="UbuntuMono-Bold"/>
              </a:rPr>
              <a:t>null</a:t>
            </a:r>
            <a:r>
              <a:rPr lang="en-IE" sz="1400" dirty="0">
                <a:solidFill>
                  <a:srgbClr val="555555"/>
                </a:solidFill>
                <a:latin typeface="UbuntuMono-Regular"/>
              </a:rPr>
              <a:t>;</a:t>
            </a:r>
          </a:p>
          <a:p>
            <a:pPr marL="0" indent="0">
              <a:buNone/>
            </a:pPr>
            <a:r>
              <a:rPr lang="en-IE" sz="1400" b="1" dirty="0" smtClean="0">
                <a:solidFill>
                  <a:srgbClr val="00669A"/>
                </a:solidFill>
                <a:latin typeface="UbuntuMono-Bold"/>
              </a:rPr>
              <a:t>	try </a:t>
            </a:r>
            <a:r>
              <a:rPr lang="en-IE" sz="1400" dirty="0">
                <a:solidFill>
                  <a:srgbClr val="555555"/>
                </a:solidFill>
                <a:latin typeface="UbuntuMono-Regular"/>
              </a:rPr>
              <a:t>{</a:t>
            </a:r>
          </a:p>
          <a:p>
            <a:pPr marL="0" indent="0">
              <a:buNone/>
            </a:pPr>
            <a:r>
              <a:rPr lang="en-IE" sz="1400" dirty="0" smtClean="0">
                <a:solidFill>
                  <a:srgbClr val="000089"/>
                </a:solidFill>
                <a:latin typeface="UbuntuMono-Regular"/>
              </a:rPr>
              <a:t>		URL </a:t>
            </a:r>
            <a:r>
              <a:rPr lang="en-IE" sz="1400" dirty="0">
                <a:solidFill>
                  <a:srgbClr val="000089"/>
                </a:solidFill>
                <a:latin typeface="UbuntuMono-Regular"/>
              </a:rPr>
              <a:t>u </a:t>
            </a:r>
            <a:r>
              <a:rPr lang="en-IE" sz="1400" dirty="0">
                <a:solidFill>
                  <a:srgbClr val="555555"/>
                </a:solidFill>
                <a:latin typeface="UbuntuMono-Regular"/>
              </a:rPr>
              <a:t>= </a:t>
            </a:r>
            <a:r>
              <a:rPr lang="en-IE" sz="1400" b="1" dirty="0">
                <a:solidFill>
                  <a:srgbClr val="00669A"/>
                </a:solidFill>
                <a:latin typeface="UbuntuMono-Bold"/>
              </a:rPr>
              <a:t>new </a:t>
            </a:r>
            <a:r>
              <a:rPr lang="en-IE" sz="1400" dirty="0">
                <a:solidFill>
                  <a:srgbClr val="000089"/>
                </a:solidFill>
                <a:latin typeface="UbuntuMono-Regular"/>
              </a:rPr>
              <a:t>URL</a:t>
            </a:r>
            <a:r>
              <a:rPr lang="en-IE" sz="1400" dirty="0">
                <a:solidFill>
                  <a:srgbClr val="555555"/>
                </a:solidFill>
                <a:latin typeface="UbuntuMono-Regular"/>
              </a:rPr>
              <a:t>(</a:t>
            </a:r>
            <a:r>
              <a:rPr lang="en-IE" sz="1400" dirty="0" err="1">
                <a:solidFill>
                  <a:srgbClr val="000089"/>
                </a:solidFill>
                <a:latin typeface="UbuntuMono-Regular"/>
              </a:rPr>
              <a:t>args</a:t>
            </a:r>
            <a:r>
              <a:rPr lang="en-IE" sz="1400" dirty="0">
                <a:solidFill>
                  <a:srgbClr val="555555"/>
                </a:solidFill>
                <a:latin typeface="UbuntuMono-Regular"/>
              </a:rPr>
              <a:t>[</a:t>
            </a:r>
            <a:r>
              <a:rPr lang="en-IE" sz="1400" dirty="0">
                <a:solidFill>
                  <a:srgbClr val="FF6600"/>
                </a:solidFill>
                <a:latin typeface="UbuntuMono-Regular"/>
              </a:rPr>
              <a:t>0</a:t>
            </a:r>
            <a:r>
              <a:rPr lang="en-IE" sz="1400" dirty="0">
                <a:solidFill>
                  <a:srgbClr val="555555"/>
                </a:solidFill>
                <a:latin typeface="UbuntuMono-Regular"/>
              </a:rPr>
              <a:t>]);</a:t>
            </a:r>
          </a:p>
          <a:p>
            <a:pPr marL="0" indent="0">
              <a:buNone/>
            </a:pPr>
            <a:r>
              <a:rPr lang="en-IE" sz="1400" dirty="0" smtClean="0">
                <a:solidFill>
                  <a:srgbClr val="000089"/>
                </a:solidFill>
                <a:latin typeface="UbuntuMono-Regular"/>
              </a:rPr>
              <a:t>		in </a:t>
            </a:r>
            <a:r>
              <a:rPr lang="en-IE" sz="1400" dirty="0">
                <a:solidFill>
                  <a:srgbClr val="555555"/>
                </a:solidFill>
                <a:latin typeface="UbuntuMono-Regular"/>
              </a:rPr>
              <a:t>= </a:t>
            </a:r>
            <a:r>
              <a:rPr lang="en-IE" sz="1400" dirty="0" err="1">
                <a:solidFill>
                  <a:srgbClr val="000089"/>
                </a:solidFill>
                <a:latin typeface="UbuntuMono-Regular"/>
              </a:rPr>
              <a:t>u</a:t>
            </a:r>
            <a:r>
              <a:rPr lang="en-IE" sz="1400" dirty="0" err="1">
                <a:solidFill>
                  <a:srgbClr val="555555"/>
                </a:solidFill>
                <a:latin typeface="UbuntuMono-Regular"/>
              </a:rPr>
              <a:t>.</a:t>
            </a:r>
            <a:r>
              <a:rPr lang="en-IE" sz="1400" dirty="0" err="1">
                <a:solidFill>
                  <a:srgbClr val="33009A"/>
                </a:solidFill>
                <a:latin typeface="UbuntuMono-Regular"/>
              </a:rPr>
              <a:t>openStream</a:t>
            </a:r>
            <a:r>
              <a:rPr lang="en-IE" sz="1400" dirty="0">
                <a:solidFill>
                  <a:srgbClr val="555555"/>
                </a:solidFill>
                <a:latin typeface="UbuntuMono-Regular"/>
              </a:rPr>
              <a:t>();</a:t>
            </a:r>
          </a:p>
          <a:p>
            <a:pPr marL="0" indent="0">
              <a:buNone/>
            </a:pPr>
            <a:r>
              <a:rPr lang="en-IE" sz="1400" dirty="0" smtClean="0">
                <a:solidFill>
                  <a:srgbClr val="000089"/>
                </a:solidFill>
                <a:latin typeface="UbuntuMono-Regular"/>
              </a:rPr>
              <a:t>		in </a:t>
            </a:r>
            <a:r>
              <a:rPr lang="en-IE" sz="1400" dirty="0">
                <a:solidFill>
                  <a:srgbClr val="555555"/>
                </a:solidFill>
                <a:latin typeface="UbuntuMono-Regular"/>
              </a:rPr>
              <a:t>= </a:t>
            </a:r>
            <a:r>
              <a:rPr lang="en-IE" sz="1400" b="1" dirty="0">
                <a:solidFill>
                  <a:srgbClr val="00669A"/>
                </a:solidFill>
                <a:latin typeface="UbuntuMono-Bold"/>
              </a:rPr>
              <a:t>new </a:t>
            </a:r>
            <a:r>
              <a:rPr lang="en-IE" sz="1400" dirty="0" err="1">
                <a:solidFill>
                  <a:srgbClr val="000089"/>
                </a:solidFill>
                <a:latin typeface="UbuntuMono-Regular"/>
              </a:rPr>
              <a:t>BufferedInputStream</a:t>
            </a:r>
            <a:r>
              <a:rPr lang="en-IE" sz="1400" dirty="0">
                <a:solidFill>
                  <a:srgbClr val="555555"/>
                </a:solidFill>
                <a:latin typeface="UbuntuMono-Regular"/>
              </a:rPr>
              <a:t>(</a:t>
            </a:r>
            <a:r>
              <a:rPr lang="en-IE" sz="1400" dirty="0">
                <a:solidFill>
                  <a:srgbClr val="000089"/>
                </a:solidFill>
                <a:latin typeface="UbuntuMono-Regular"/>
              </a:rPr>
              <a:t>in</a:t>
            </a:r>
            <a:r>
              <a:rPr lang="en-IE" sz="1400" dirty="0">
                <a:solidFill>
                  <a:srgbClr val="555555"/>
                </a:solidFill>
                <a:latin typeface="UbuntuMono-Regular"/>
              </a:rPr>
              <a:t>);</a:t>
            </a:r>
          </a:p>
          <a:p>
            <a:pPr marL="0" indent="0">
              <a:buNone/>
            </a:pPr>
            <a:r>
              <a:rPr lang="en-IE" sz="1400" dirty="0" smtClean="0">
                <a:solidFill>
                  <a:srgbClr val="000089"/>
                </a:solidFill>
                <a:latin typeface="UbuntuMono-Regular"/>
              </a:rPr>
              <a:t>		Reader </a:t>
            </a:r>
            <a:r>
              <a:rPr lang="en-IE" sz="1400" dirty="0">
                <a:solidFill>
                  <a:srgbClr val="000089"/>
                </a:solidFill>
                <a:latin typeface="UbuntuMono-Regular"/>
              </a:rPr>
              <a:t>r </a:t>
            </a:r>
            <a:r>
              <a:rPr lang="en-IE" sz="1400" dirty="0">
                <a:solidFill>
                  <a:srgbClr val="555555"/>
                </a:solidFill>
                <a:latin typeface="UbuntuMono-Regular"/>
              </a:rPr>
              <a:t>= </a:t>
            </a:r>
            <a:r>
              <a:rPr lang="en-IE" sz="1400" b="1" dirty="0">
                <a:solidFill>
                  <a:srgbClr val="00669A"/>
                </a:solidFill>
                <a:latin typeface="UbuntuMono-Bold"/>
              </a:rPr>
              <a:t>new </a:t>
            </a:r>
            <a:r>
              <a:rPr lang="en-IE" sz="1400" dirty="0" err="1">
                <a:solidFill>
                  <a:srgbClr val="000089"/>
                </a:solidFill>
                <a:latin typeface="UbuntuMono-Regular"/>
              </a:rPr>
              <a:t>InputStreamReader</a:t>
            </a:r>
            <a:r>
              <a:rPr lang="en-IE" sz="1400" dirty="0">
                <a:solidFill>
                  <a:srgbClr val="555555"/>
                </a:solidFill>
                <a:latin typeface="UbuntuMono-Regular"/>
              </a:rPr>
              <a:t>(</a:t>
            </a:r>
            <a:r>
              <a:rPr lang="en-IE" sz="1400" dirty="0">
                <a:solidFill>
                  <a:srgbClr val="000089"/>
                </a:solidFill>
                <a:latin typeface="UbuntuMono-Regular"/>
              </a:rPr>
              <a:t>in</a:t>
            </a:r>
            <a:r>
              <a:rPr lang="en-IE" sz="1400" dirty="0">
                <a:solidFill>
                  <a:srgbClr val="555555"/>
                </a:solidFill>
                <a:latin typeface="UbuntuMono-Regular"/>
              </a:rPr>
              <a:t>);</a:t>
            </a:r>
          </a:p>
          <a:p>
            <a:pPr marL="0" indent="0">
              <a:buNone/>
            </a:pPr>
            <a:r>
              <a:rPr lang="en-IE" sz="1400" b="1" dirty="0" smtClean="0">
                <a:solidFill>
                  <a:srgbClr val="007789"/>
                </a:solidFill>
                <a:latin typeface="UbuntuMono-Bold"/>
              </a:rPr>
              <a:t>		</a:t>
            </a:r>
            <a:r>
              <a:rPr lang="en-IE" sz="1400" b="1" dirty="0" err="1" smtClean="0">
                <a:solidFill>
                  <a:srgbClr val="007789"/>
                </a:solidFill>
                <a:latin typeface="UbuntuMono-Bold"/>
              </a:rPr>
              <a:t>int</a:t>
            </a:r>
            <a:r>
              <a:rPr lang="en-IE" sz="1400" b="1" dirty="0" smtClean="0">
                <a:solidFill>
                  <a:srgbClr val="007789"/>
                </a:solidFill>
                <a:latin typeface="UbuntuMono-Bold"/>
              </a:rPr>
              <a:t> </a:t>
            </a:r>
            <a:r>
              <a:rPr lang="en-IE" sz="1400" dirty="0">
                <a:solidFill>
                  <a:srgbClr val="000089"/>
                </a:solidFill>
                <a:latin typeface="UbuntuMono-Regular"/>
              </a:rPr>
              <a:t>c</a:t>
            </a:r>
            <a:r>
              <a:rPr lang="en-IE" sz="1400" dirty="0">
                <a:solidFill>
                  <a:srgbClr val="555555"/>
                </a:solidFill>
                <a:latin typeface="UbuntuMono-Regular"/>
              </a:rPr>
              <a:t>;</a:t>
            </a:r>
          </a:p>
          <a:p>
            <a:pPr marL="0" indent="0">
              <a:buNone/>
            </a:pPr>
            <a:r>
              <a:rPr lang="en-IE" sz="1400" b="1" dirty="0" smtClean="0">
                <a:solidFill>
                  <a:srgbClr val="00669A"/>
                </a:solidFill>
                <a:latin typeface="UbuntuMono-Bold"/>
              </a:rPr>
              <a:t>		while </a:t>
            </a:r>
            <a:r>
              <a:rPr lang="en-IE" sz="1400" dirty="0">
                <a:solidFill>
                  <a:srgbClr val="555555"/>
                </a:solidFill>
                <a:latin typeface="UbuntuMono-Regular"/>
              </a:rPr>
              <a:t>((</a:t>
            </a:r>
            <a:r>
              <a:rPr lang="en-IE" sz="1400" dirty="0">
                <a:solidFill>
                  <a:srgbClr val="000089"/>
                </a:solidFill>
                <a:latin typeface="UbuntuMono-Regular"/>
              </a:rPr>
              <a:t>c </a:t>
            </a:r>
            <a:r>
              <a:rPr lang="en-IE" sz="1400" dirty="0">
                <a:solidFill>
                  <a:srgbClr val="555555"/>
                </a:solidFill>
                <a:latin typeface="UbuntuMono-Regular"/>
              </a:rPr>
              <a:t>= </a:t>
            </a:r>
            <a:r>
              <a:rPr lang="en-IE" sz="1400" dirty="0" err="1">
                <a:solidFill>
                  <a:srgbClr val="000089"/>
                </a:solidFill>
                <a:latin typeface="UbuntuMono-Regular"/>
              </a:rPr>
              <a:t>r</a:t>
            </a:r>
            <a:r>
              <a:rPr lang="en-IE" sz="1400" dirty="0" err="1">
                <a:solidFill>
                  <a:srgbClr val="555555"/>
                </a:solidFill>
                <a:latin typeface="UbuntuMono-Regular"/>
              </a:rPr>
              <a:t>.</a:t>
            </a:r>
            <a:r>
              <a:rPr lang="en-IE" sz="1400" dirty="0" err="1">
                <a:solidFill>
                  <a:srgbClr val="33009A"/>
                </a:solidFill>
                <a:latin typeface="UbuntuMono-Regular"/>
              </a:rPr>
              <a:t>read</a:t>
            </a:r>
            <a:r>
              <a:rPr lang="en-IE" sz="1400" dirty="0">
                <a:solidFill>
                  <a:srgbClr val="555555"/>
                </a:solidFill>
                <a:latin typeface="UbuntuMono-Regular"/>
              </a:rPr>
              <a:t>()) != -</a:t>
            </a:r>
            <a:r>
              <a:rPr lang="en-IE" sz="1400" dirty="0">
                <a:solidFill>
                  <a:srgbClr val="FF6600"/>
                </a:solidFill>
                <a:latin typeface="UbuntuMono-Regular"/>
              </a:rPr>
              <a:t>1</a:t>
            </a:r>
            <a:r>
              <a:rPr lang="en-IE" sz="1400" dirty="0">
                <a:solidFill>
                  <a:srgbClr val="555555"/>
                </a:solidFill>
                <a:latin typeface="UbuntuMono-Regular"/>
              </a:rPr>
              <a:t>) {</a:t>
            </a:r>
          </a:p>
          <a:p>
            <a:pPr marL="0" indent="0">
              <a:buNone/>
            </a:pPr>
            <a:r>
              <a:rPr lang="en-IE" sz="1400" dirty="0" smtClean="0">
                <a:solidFill>
                  <a:srgbClr val="000089"/>
                </a:solidFill>
                <a:latin typeface="UbuntuMono-Regular"/>
              </a:rPr>
              <a:t>			</a:t>
            </a:r>
            <a:r>
              <a:rPr lang="en-IE" sz="1400" dirty="0" err="1" smtClean="0">
                <a:solidFill>
                  <a:srgbClr val="000089"/>
                </a:solidFill>
                <a:latin typeface="UbuntuMono-Regular"/>
              </a:rPr>
              <a:t>System</a:t>
            </a:r>
            <a:r>
              <a:rPr lang="en-IE" sz="1400" dirty="0" err="1" smtClean="0">
                <a:solidFill>
                  <a:srgbClr val="555555"/>
                </a:solidFill>
                <a:latin typeface="UbuntuMono-Regular"/>
              </a:rPr>
              <a:t>.</a:t>
            </a:r>
            <a:r>
              <a:rPr lang="en-IE" sz="1400" dirty="0" err="1" smtClean="0">
                <a:solidFill>
                  <a:srgbClr val="33009A"/>
                </a:solidFill>
                <a:latin typeface="UbuntuMono-Regular"/>
              </a:rPr>
              <a:t>out</a:t>
            </a:r>
            <a:r>
              <a:rPr lang="en-IE" sz="1400" dirty="0" err="1" smtClean="0">
                <a:solidFill>
                  <a:srgbClr val="555555"/>
                </a:solidFill>
                <a:latin typeface="UbuntuMono-Regular"/>
              </a:rPr>
              <a:t>.</a:t>
            </a:r>
            <a:r>
              <a:rPr lang="en-IE" sz="1400" dirty="0" err="1" smtClean="0">
                <a:solidFill>
                  <a:srgbClr val="33009A"/>
                </a:solidFill>
                <a:latin typeface="UbuntuMono-Regular"/>
              </a:rPr>
              <a:t>print</a:t>
            </a:r>
            <a:r>
              <a:rPr lang="en-IE" sz="1400" dirty="0">
                <a:solidFill>
                  <a:srgbClr val="555555"/>
                </a:solidFill>
                <a:latin typeface="UbuntuMono-Regular"/>
              </a:rPr>
              <a:t>((</a:t>
            </a:r>
            <a:r>
              <a:rPr lang="en-IE" sz="1400" b="1" dirty="0">
                <a:solidFill>
                  <a:srgbClr val="007789"/>
                </a:solidFill>
                <a:latin typeface="UbuntuMono-Bold"/>
              </a:rPr>
              <a:t>char</a:t>
            </a:r>
            <a:r>
              <a:rPr lang="en-IE" sz="1400" dirty="0">
                <a:solidFill>
                  <a:srgbClr val="555555"/>
                </a:solidFill>
                <a:latin typeface="UbuntuMono-Regular"/>
              </a:rPr>
              <a:t>) </a:t>
            </a:r>
            <a:r>
              <a:rPr lang="en-IE" sz="1400" dirty="0">
                <a:solidFill>
                  <a:srgbClr val="000089"/>
                </a:solidFill>
                <a:latin typeface="UbuntuMono-Regular"/>
              </a:rPr>
              <a:t>c</a:t>
            </a:r>
            <a:r>
              <a:rPr lang="en-IE" sz="1400" dirty="0">
                <a:solidFill>
                  <a:srgbClr val="555555"/>
                </a:solidFill>
                <a:latin typeface="UbuntuMono-Regular"/>
              </a:rPr>
              <a:t>);</a:t>
            </a:r>
          </a:p>
          <a:p>
            <a:pPr marL="0" indent="0">
              <a:buNone/>
            </a:pPr>
            <a:r>
              <a:rPr lang="en-IE" sz="1400" dirty="0" smtClean="0">
                <a:solidFill>
                  <a:srgbClr val="555555"/>
                </a:solidFill>
                <a:latin typeface="UbuntuMono-Regular"/>
              </a:rPr>
              <a:t>		}</a:t>
            </a:r>
            <a:endParaRPr lang="en-IE" sz="1400" dirty="0">
              <a:solidFill>
                <a:srgbClr val="555555"/>
              </a:solidFill>
              <a:latin typeface="UbuntuMono-Regular"/>
            </a:endParaRPr>
          </a:p>
          <a:p>
            <a:pPr marL="0" indent="0">
              <a:buNone/>
            </a:pPr>
            <a:r>
              <a:rPr lang="en-IE" sz="1400" dirty="0" smtClean="0">
                <a:solidFill>
                  <a:srgbClr val="555555"/>
                </a:solidFill>
                <a:latin typeface="UbuntuMono-Regular"/>
              </a:rPr>
              <a:t>	} </a:t>
            </a:r>
            <a:r>
              <a:rPr lang="en-IE" sz="1400" b="1" dirty="0">
                <a:solidFill>
                  <a:srgbClr val="00669A"/>
                </a:solidFill>
                <a:latin typeface="UbuntuMono-Bold"/>
              </a:rPr>
              <a:t>catch </a:t>
            </a:r>
            <a:r>
              <a:rPr lang="en-IE" sz="1400" dirty="0">
                <a:solidFill>
                  <a:srgbClr val="555555"/>
                </a:solidFill>
                <a:latin typeface="UbuntuMono-Regular"/>
              </a:rPr>
              <a:t>(</a:t>
            </a:r>
            <a:r>
              <a:rPr lang="en-IE" sz="1400" dirty="0" err="1">
                <a:solidFill>
                  <a:srgbClr val="000089"/>
                </a:solidFill>
                <a:latin typeface="UbuntuMono-Regular"/>
              </a:rPr>
              <a:t>MalformedURLException</a:t>
            </a:r>
            <a:r>
              <a:rPr lang="en-IE" sz="1400" dirty="0">
                <a:solidFill>
                  <a:srgbClr val="000089"/>
                </a:solidFill>
                <a:latin typeface="UbuntuMono-Regular"/>
              </a:rPr>
              <a:t> ex</a:t>
            </a:r>
            <a:r>
              <a:rPr lang="en-IE" sz="1400" dirty="0">
                <a:solidFill>
                  <a:srgbClr val="555555"/>
                </a:solidFill>
                <a:latin typeface="UbuntuMono-Regular"/>
              </a:rPr>
              <a:t>) {</a:t>
            </a:r>
          </a:p>
          <a:p>
            <a:pPr marL="0" indent="0">
              <a:buNone/>
            </a:pPr>
            <a:r>
              <a:rPr lang="en-IE" sz="1400" dirty="0" smtClean="0">
                <a:solidFill>
                  <a:srgbClr val="000089"/>
                </a:solidFill>
                <a:latin typeface="UbuntuMono-Regular"/>
              </a:rPr>
              <a:t>	</a:t>
            </a:r>
            <a:r>
              <a:rPr lang="en-IE" sz="1400" dirty="0">
                <a:solidFill>
                  <a:srgbClr val="000089"/>
                </a:solidFill>
                <a:latin typeface="UbuntuMono-Regular"/>
              </a:rPr>
              <a:t>	</a:t>
            </a:r>
            <a:r>
              <a:rPr lang="en-IE" sz="1400" dirty="0" err="1" smtClean="0">
                <a:solidFill>
                  <a:srgbClr val="000089"/>
                </a:solidFill>
                <a:latin typeface="UbuntuMono-Regular"/>
              </a:rPr>
              <a:t>System</a:t>
            </a:r>
            <a:r>
              <a:rPr lang="en-IE" sz="1400" dirty="0" err="1" smtClean="0">
                <a:solidFill>
                  <a:srgbClr val="555555"/>
                </a:solidFill>
                <a:latin typeface="UbuntuMono-Regular"/>
              </a:rPr>
              <a:t>.</a:t>
            </a:r>
            <a:r>
              <a:rPr lang="en-IE" sz="1400" dirty="0" err="1" smtClean="0">
                <a:solidFill>
                  <a:srgbClr val="33009A"/>
                </a:solidFill>
                <a:latin typeface="UbuntuMono-Regular"/>
              </a:rPr>
              <a:t>err</a:t>
            </a:r>
            <a:r>
              <a:rPr lang="en-IE" sz="1400" dirty="0" err="1" smtClean="0">
                <a:solidFill>
                  <a:srgbClr val="555555"/>
                </a:solidFill>
                <a:latin typeface="UbuntuMono-Regular"/>
              </a:rPr>
              <a:t>.</a:t>
            </a:r>
            <a:r>
              <a:rPr lang="en-IE" sz="1400" dirty="0" err="1" smtClean="0">
                <a:solidFill>
                  <a:srgbClr val="33009A"/>
                </a:solidFill>
                <a:latin typeface="UbuntuMono-Regular"/>
              </a:rPr>
              <a:t>println</a:t>
            </a:r>
            <a:r>
              <a:rPr lang="en-IE" sz="1400" dirty="0" smtClean="0">
                <a:solidFill>
                  <a:srgbClr val="555555"/>
                </a:solidFill>
                <a:latin typeface="UbuntuMono-Regular"/>
              </a:rPr>
              <a:t>(</a:t>
            </a:r>
            <a:r>
              <a:rPr lang="en-IE" sz="1400" dirty="0" err="1" smtClean="0">
                <a:solidFill>
                  <a:srgbClr val="000089"/>
                </a:solidFill>
                <a:latin typeface="UbuntuMono-Regular"/>
              </a:rPr>
              <a:t>args</a:t>
            </a:r>
            <a:r>
              <a:rPr lang="en-IE" sz="1400" dirty="0" smtClean="0">
                <a:solidFill>
                  <a:srgbClr val="555555"/>
                </a:solidFill>
                <a:latin typeface="UbuntuMono-Regular"/>
              </a:rPr>
              <a:t>[</a:t>
            </a:r>
            <a:r>
              <a:rPr lang="en-IE" sz="1400" dirty="0" smtClean="0">
                <a:solidFill>
                  <a:srgbClr val="FF6600"/>
                </a:solidFill>
                <a:latin typeface="UbuntuMono-Regular"/>
              </a:rPr>
              <a:t>0</a:t>
            </a:r>
            <a:r>
              <a:rPr lang="en-IE" sz="1400" dirty="0">
                <a:solidFill>
                  <a:srgbClr val="555555"/>
                </a:solidFill>
                <a:latin typeface="UbuntuMono-Regular"/>
              </a:rPr>
              <a:t>] + </a:t>
            </a:r>
            <a:r>
              <a:rPr lang="en-IE" sz="1400" dirty="0">
                <a:solidFill>
                  <a:srgbClr val="CD3300"/>
                </a:solidFill>
                <a:latin typeface="UbuntuMono-Regular"/>
              </a:rPr>
              <a:t>" is not a </a:t>
            </a:r>
            <a:r>
              <a:rPr lang="en-IE" sz="1400" dirty="0" err="1">
                <a:solidFill>
                  <a:srgbClr val="CD3300"/>
                </a:solidFill>
                <a:latin typeface="UbuntuMono-Regular"/>
              </a:rPr>
              <a:t>parseable</a:t>
            </a:r>
            <a:r>
              <a:rPr lang="en-IE" sz="1400" dirty="0">
                <a:solidFill>
                  <a:srgbClr val="CD3300"/>
                </a:solidFill>
                <a:latin typeface="UbuntuMono-Regular"/>
              </a:rPr>
              <a:t> URL"</a:t>
            </a:r>
            <a:r>
              <a:rPr lang="en-IE" sz="1400" dirty="0">
                <a:solidFill>
                  <a:srgbClr val="555555"/>
                </a:solidFill>
                <a:latin typeface="UbuntuMono-Regular"/>
              </a:rPr>
              <a:t>);</a:t>
            </a:r>
          </a:p>
          <a:p>
            <a:pPr marL="0" indent="0">
              <a:buNone/>
            </a:pPr>
            <a:r>
              <a:rPr lang="en-IE" sz="1400" dirty="0" smtClean="0">
                <a:solidFill>
                  <a:srgbClr val="555555"/>
                </a:solidFill>
                <a:latin typeface="UbuntuMono-Regular"/>
              </a:rPr>
              <a:t>	} </a:t>
            </a:r>
            <a:r>
              <a:rPr lang="en-IE" sz="1400" b="1" dirty="0">
                <a:solidFill>
                  <a:srgbClr val="00669A"/>
                </a:solidFill>
                <a:latin typeface="UbuntuMono-Bold"/>
              </a:rPr>
              <a:t>catch </a:t>
            </a:r>
            <a:r>
              <a:rPr lang="en-IE" sz="1400" dirty="0">
                <a:solidFill>
                  <a:srgbClr val="555555"/>
                </a:solidFill>
                <a:latin typeface="UbuntuMono-Regular"/>
              </a:rPr>
              <a:t>(</a:t>
            </a:r>
            <a:r>
              <a:rPr lang="en-IE" sz="1400" dirty="0" err="1">
                <a:solidFill>
                  <a:srgbClr val="000089"/>
                </a:solidFill>
                <a:latin typeface="UbuntuMono-Regular"/>
              </a:rPr>
              <a:t>IOException</a:t>
            </a:r>
            <a:r>
              <a:rPr lang="en-IE" sz="1400" dirty="0">
                <a:solidFill>
                  <a:srgbClr val="000089"/>
                </a:solidFill>
                <a:latin typeface="UbuntuMono-Regular"/>
              </a:rPr>
              <a:t> ex</a:t>
            </a:r>
            <a:r>
              <a:rPr lang="en-IE" sz="1400" dirty="0">
                <a:solidFill>
                  <a:srgbClr val="555555"/>
                </a:solidFill>
                <a:latin typeface="UbuntuMono-Regular"/>
              </a:rPr>
              <a:t>) {</a:t>
            </a:r>
          </a:p>
          <a:p>
            <a:pPr marL="0" indent="0">
              <a:buNone/>
            </a:pPr>
            <a:r>
              <a:rPr lang="en-IE" sz="1400" dirty="0" smtClean="0">
                <a:solidFill>
                  <a:srgbClr val="000089"/>
                </a:solidFill>
                <a:latin typeface="UbuntuMono-Regular"/>
              </a:rPr>
              <a:t>		</a:t>
            </a:r>
            <a:r>
              <a:rPr lang="en-IE" sz="1400" dirty="0" err="1" smtClean="0">
                <a:solidFill>
                  <a:srgbClr val="000089"/>
                </a:solidFill>
                <a:latin typeface="UbuntuMono-Regular"/>
              </a:rPr>
              <a:t>System</a:t>
            </a:r>
            <a:r>
              <a:rPr lang="en-IE" sz="1400" dirty="0" err="1" smtClean="0">
                <a:solidFill>
                  <a:srgbClr val="555555"/>
                </a:solidFill>
                <a:latin typeface="UbuntuMono-Regular"/>
              </a:rPr>
              <a:t>.</a:t>
            </a:r>
            <a:r>
              <a:rPr lang="en-IE" sz="1400" dirty="0" err="1" smtClean="0">
                <a:solidFill>
                  <a:srgbClr val="33009A"/>
                </a:solidFill>
                <a:latin typeface="UbuntuMono-Regular"/>
              </a:rPr>
              <a:t>err</a:t>
            </a:r>
            <a:r>
              <a:rPr lang="en-IE" sz="1400" dirty="0" err="1" smtClean="0">
                <a:solidFill>
                  <a:srgbClr val="555555"/>
                </a:solidFill>
                <a:latin typeface="UbuntuMono-Regular"/>
              </a:rPr>
              <a:t>.</a:t>
            </a:r>
            <a:r>
              <a:rPr lang="en-IE" sz="1400" dirty="0" err="1" smtClean="0">
                <a:solidFill>
                  <a:srgbClr val="33009A"/>
                </a:solidFill>
                <a:latin typeface="UbuntuMono-Regular"/>
              </a:rPr>
              <a:t>println</a:t>
            </a:r>
            <a:r>
              <a:rPr lang="en-IE" sz="1400" dirty="0" smtClean="0">
                <a:solidFill>
                  <a:srgbClr val="555555"/>
                </a:solidFill>
                <a:latin typeface="UbuntuMono-Regular"/>
              </a:rPr>
              <a:t>(</a:t>
            </a:r>
            <a:r>
              <a:rPr lang="en-IE" sz="1400" dirty="0" smtClean="0">
                <a:solidFill>
                  <a:srgbClr val="000089"/>
                </a:solidFill>
                <a:latin typeface="UbuntuMono-Regular"/>
              </a:rPr>
              <a:t>ex</a:t>
            </a:r>
            <a:r>
              <a:rPr lang="en-IE" sz="1400" dirty="0">
                <a:solidFill>
                  <a:srgbClr val="555555"/>
                </a:solidFill>
                <a:latin typeface="UbuntuMono-Regular"/>
              </a:rPr>
              <a:t>);</a:t>
            </a:r>
          </a:p>
          <a:p>
            <a:pPr marL="0" indent="0">
              <a:buNone/>
            </a:pPr>
            <a:r>
              <a:rPr lang="en-IE" sz="1400" dirty="0" smtClean="0">
                <a:solidFill>
                  <a:srgbClr val="555555"/>
                </a:solidFill>
                <a:latin typeface="UbuntuMono-Regular"/>
              </a:rPr>
              <a:t>	} </a:t>
            </a:r>
            <a:r>
              <a:rPr lang="en-IE" sz="1400" b="1" dirty="0">
                <a:solidFill>
                  <a:srgbClr val="00669A"/>
                </a:solidFill>
                <a:latin typeface="UbuntuMono-Bold"/>
              </a:rPr>
              <a:t>finally </a:t>
            </a:r>
            <a:r>
              <a:rPr lang="en-IE" sz="1400" dirty="0">
                <a:solidFill>
                  <a:srgbClr val="555555"/>
                </a:solidFill>
                <a:latin typeface="UbuntuMono-Regular"/>
              </a:rPr>
              <a:t>{</a:t>
            </a:r>
          </a:p>
          <a:p>
            <a:pPr marL="0" indent="0">
              <a:buNone/>
            </a:pPr>
            <a:r>
              <a:rPr lang="en-IE" sz="1400" b="1" dirty="0" smtClean="0">
                <a:solidFill>
                  <a:srgbClr val="00669A"/>
                </a:solidFill>
                <a:latin typeface="UbuntuMono-Bold"/>
              </a:rPr>
              <a:t>	if </a:t>
            </a:r>
            <a:r>
              <a:rPr lang="en-IE" sz="1400" dirty="0">
                <a:solidFill>
                  <a:srgbClr val="555555"/>
                </a:solidFill>
                <a:latin typeface="UbuntuMono-Regular"/>
              </a:rPr>
              <a:t>(</a:t>
            </a:r>
            <a:r>
              <a:rPr lang="en-IE" sz="1400" dirty="0">
                <a:solidFill>
                  <a:srgbClr val="000089"/>
                </a:solidFill>
                <a:latin typeface="UbuntuMono-Regular"/>
              </a:rPr>
              <a:t>in </a:t>
            </a:r>
            <a:r>
              <a:rPr lang="en-IE" sz="1400" dirty="0">
                <a:solidFill>
                  <a:srgbClr val="555555"/>
                </a:solidFill>
                <a:latin typeface="UbuntuMono-Regular"/>
              </a:rPr>
              <a:t>!= </a:t>
            </a:r>
            <a:r>
              <a:rPr lang="en-IE" sz="1400" b="1" dirty="0">
                <a:solidFill>
                  <a:srgbClr val="00669A"/>
                </a:solidFill>
                <a:latin typeface="UbuntuMono-Bold"/>
              </a:rPr>
              <a:t>null</a:t>
            </a:r>
            <a:r>
              <a:rPr lang="en-IE" sz="1400" dirty="0">
                <a:solidFill>
                  <a:srgbClr val="555555"/>
                </a:solidFill>
                <a:latin typeface="UbuntuMono-Regular"/>
              </a:rPr>
              <a:t>) {</a:t>
            </a:r>
          </a:p>
          <a:p>
            <a:pPr marL="0" indent="0">
              <a:buNone/>
            </a:pPr>
            <a:r>
              <a:rPr lang="en-IE" sz="1400" b="1" dirty="0" smtClean="0">
                <a:solidFill>
                  <a:srgbClr val="00669A"/>
                </a:solidFill>
                <a:latin typeface="UbuntuMono-Bold"/>
              </a:rPr>
              <a:t>	try </a:t>
            </a:r>
            <a:r>
              <a:rPr lang="en-IE" sz="1400" dirty="0">
                <a:solidFill>
                  <a:srgbClr val="555555"/>
                </a:solidFill>
                <a:latin typeface="UbuntuMono-Regular"/>
              </a:rPr>
              <a:t>{</a:t>
            </a:r>
          </a:p>
          <a:p>
            <a:pPr marL="0" indent="0">
              <a:buNone/>
            </a:pPr>
            <a:r>
              <a:rPr lang="en-IE" sz="1400" dirty="0" smtClean="0">
                <a:solidFill>
                  <a:srgbClr val="000089"/>
                </a:solidFill>
                <a:latin typeface="UbuntuMono-Regular"/>
              </a:rPr>
              <a:t>		</a:t>
            </a:r>
            <a:r>
              <a:rPr lang="en-IE" sz="1400" dirty="0" err="1" smtClean="0">
                <a:solidFill>
                  <a:srgbClr val="000089"/>
                </a:solidFill>
                <a:latin typeface="UbuntuMono-Regular"/>
              </a:rPr>
              <a:t>in</a:t>
            </a:r>
            <a:r>
              <a:rPr lang="en-IE" sz="1400" dirty="0" err="1" smtClean="0">
                <a:solidFill>
                  <a:srgbClr val="555555"/>
                </a:solidFill>
                <a:latin typeface="UbuntuMono-Regular"/>
              </a:rPr>
              <a:t>.</a:t>
            </a:r>
            <a:r>
              <a:rPr lang="en-IE" sz="1400" dirty="0" err="1" smtClean="0">
                <a:solidFill>
                  <a:srgbClr val="33009A"/>
                </a:solidFill>
                <a:latin typeface="UbuntuMono-Regular"/>
              </a:rPr>
              <a:t>close</a:t>
            </a:r>
            <a:r>
              <a:rPr lang="en-IE" sz="1400" dirty="0">
                <a:solidFill>
                  <a:srgbClr val="555555"/>
                </a:solidFill>
                <a:latin typeface="UbuntuMono-Regular"/>
              </a:rPr>
              <a:t>();</a:t>
            </a:r>
          </a:p>
          <a:p>
            <a:pPr marL="0" indent="0">
              <a:buNone/>
            </a:pPr>
            <a:r>
              <a:rPr lang="en-IE" sz="1400" dirty="0" smtClean="0">
                <a:solidFill>
                  <a:srgbClr val="555555"/>
                </a:solidFill>
                <a:latin typeface="UbuntuMono-Regular"/>
              </a:rPr>
              <a:t>	} </a:t>
            </a:r>
            <a:r>
              <a:rPr lang="en-IE" sz="1400" b="1" dirty="0">
                <a:solidFill>
                  <a:srgbClr val="00669A"/>
                </a:solidFill>
                <a:latin typeface="UbuntuMono-Bold"/>
              </a:rPr>
              <a:t>catch </a:t>
            </a:r>
            <a:r>
              <a:rPr lang="en-IE" sz="1400" dirty="0">
                <a:solidFill>
                  <a:srgbClr val="555555"/>
                </a:solidFill>
                <a:latin typeface="UbuntuMono-Regular"/>
              </a:rPr>
              <a:t>(</a:t>
            </a:r>
            <a:r>
              <a:rPr lang="en-IE" sz="1400" dirty="0" err="1">
                <a:solidFill>
                  <a:srgbClr val="000089"/>
                </a:solidFill>
                <a:latin typeface="UbuntuMono-Regular"/>
              </a:rPr>
              <a:t>IOException</a:t>
            </a:r>
            <a:r>
              <a:rPr lang="en-IE" sz="1400" dirty="0">
                <a:solidFill>
                  <a:srgbClr val="000089"/>
                </a:solidFill>
                <a:latin typeface="UbuntuMono-Regular"/>
              </a:rPr>
              <a:t> e</a:t>
            </a:r>
            <a:r>
              <a:rPr lang="en-IE" sz="1400" dirty="0">
                <a:solidFill>
                  <a:srgbClr val="555555"/>
                </a:solidFill>
                <a:latin typeface="UbuntuMono-Regular"/>
              </a:rPr>
              <a:t>) {</a:t>
            </a:r>
          </a:p>
          <a:p>
            <a:pPr marL="0" indent="0">
              <a:buNone/>
            </a:pPr>
            <a:r>
              <a:rPr lang="en-IE" sz="1400" dirty="0" smtClean="0">
                <a:solidFill>
                  <a:srgbClr val="555555"/>
                </a:solidFill>
                <a:latin typeface="UbuntuMono-Regular"/>
              </a:rPr>
              <a:t>}}}}}}</a:t>
            </a:r>
            <a:endParaRPr lang="en-IE" sz="1400" dirty="0">
              <a:solidFill>
                <a:srgbClr val="555555"/>
              </a:solidFill>
              <a:latin typeface="UbuntuMono-Regular"/>
            </a:endParaRPr>
          </a:p>
        </p:txBody>
      </p:sp>
    </p:spTree>
    <p:extLst>
      <p:ext uri="{BB962C8B-B14F-4D97-AF65-F5344CB8AC3E}">
        <p14:creationId xmlns:p14="http://schemas.microsoft.com/office/powerpoint/2010/main" val="109842874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39762"/>
          </a:xfrm>
        </p:spPr>
        <p:txBody>
          <a:bodyPr>
            <a:noAutofit/>
          </a:bodyPr>
          <a:lstStyle/>
          <a:p>
            <a:r>
              <a:rPr lang="en-IE" sz="2800" dirty="0"/>
              <a:t>public </a:t>
            </a:r>
            <a:r>
              <a:rPr lang="en-IE" sz="2800" dirty="0" err="1"/>
              <a:t>URLConnection</a:t>
            </a:r>
            <a:r>
              <a:rPr lang="en-IE" sz="2800" dirty="0"/>
              <a:t> </a:t>
            </a:r>
            <a:r>
              <a:rPr lang="en-IE" sz="2800" dirty="0" err="1"/>
              <a:t>openConnection</a:t>
            </a:r>
            <a:r>
              <a:rPr lang="en-IE" sz="2800" dirty="0"/>
              <a:t>() throws </a:t>
            </a:r>
            <a:r>
              <a:rPr lang="en-IE" sz="2800" dirty="0" err="1"/>
              <a:t>IOException</a:t>
            </a:r>
            <a:endParaRPr lang="en-IE" sz="2800" b="1" dirty="0"/>
          </a:p>
        </p:txBody>
      </p:sp>
      <p:sp>
        <p:nvSpPr>
          <p:cNvPr id="3" name="Content Placeholder 2"/>
          <p:cNvSpPr>
            <a:spLocks noGrp="1"/>
          </p:cNvSpPr>
          <p:nvPr>
            <p:ph idx="1"/>
          </p:nvPr>
        </p:nvSpPr>
        <p:spPr>
          <a:xfrm>
            <a:off x="0" y="609600"/>
            <a:ext cx="9144000" cy="6248400"/>
          </a:xfrm>
        </p:spPr>
        <p:txBody>
          <a:bodyPr>
            <a:noAutofit/>
          </a:bodyPr>
          <a:lstStyle/>
          <a:p>
            <a:r>
              <a:rPr lang="en-IE" sz="1800" dirty="0">
                <a:solidFill>
                  <a:srgbClr val="000000"/>
                </a:solidFill>
                <a:latin typeface="MinionPro-Regular"/>
              </a:rPr>
              <a:t>The </a:t>
            </a:r>
            <a:r>
              <a:rPr lang="en-IE" sz="1800" dirty="0" err="1">
                <a:solidFill>
                  <a:schemeClr val="tx2"/>
                </a:solidFill>
                <a:latin typeface="UbuntuMono-Regular"/>
              </a:rPr>
              <a:t>openConnection</a:t>
            </a:r>
            <a:r>
              <a:rPr lang="en-IE" sz="1800" dirty="0">
                <a:solidFill>
                  <a:srgbClr val="000000"/>
                </a:solidFill>
                <a:latin typeface="UbuntuMono-Regular"/>
              </a:rPr>
              <a:t>() </a:t>
            </a:r>
            <a:r>
              <a:rPr lang="en-IE" sz="1800" dirty="0">
                <a:solidFill>
                  <a:srgbClr val="000000"/>
                </a:solidFill>
                <a:latin typeface="MinionPro-Regular"/>
              </a:rPr>
              <a:t>method </a:t>
            </a:r>
            <a:r>
              <a:rPr lang="en-IE" sz="1800" dirty="0">
                <a:solidFill>
                  <a:schemeClr val="tx2"/>
                </a:solidFill>
                <a:latin typeface="MinionPro-Regular"/>
              </a:rPr>
              <a:t>opens a socket to the specified URL </a:t>
            </a:r>
            <a:r>
              <a:rPr lang="en-IE" sz="1800" dirty="0">
                <a:solidFill>
                  <a:srgbClr val="000000"/>
                </a:solidFill>
                <a:latin typeface="MinionPro-Regular"/>
              </a:rPr>
              <a:t>and returns </a:t>
            </a:r>
            <a:r>
              <a:rPr lang="en-IE" sz="1800" dirty="0" smtClean="0">
                <a:solidFill>
                  <a:srgbClr val="000000"/>
                </a:solidFill>
                <a:latin typeface="MinionPro-Regular"/>
              </a:rPr>
              <a:t>a </a:t>
            </a:r>
            <a:r>
              <a:rPr lang="en-IE" sz="1800" dirty="0" err="1" smtClean="0">
                <a:solidFill>
                  <a:schemeClr val="tx2"/>
                </a:solidFill>
                <a:latin typeface="UbuntuMono-Regular"/>
              </a:rPr>
              <a:t>URLConnection</a:t>
            </a:r>
            <a:r>
              <a:rPr lang="en-IE" sz="1800" dirty="0" smtClean="0">
                <a:solidFill>
                  <a:schemeClr val="tx2"/>
                </a:solidFill>
                <a:latin typeface="UbuntuMono-Regular"/>
              </a:rPr>
              <a:t> </a:t>
            </a:r>
            <a:r>
              <a:rPr lang="en-IE" sz="1800" dirty="0">
                <a:solidFill>
                  <a:schemeClr val="tx2"/>
                </a:solidFill>
                <a:latin typeface="MinionPro-Regular"/>
              </a:rPr>
              <a:t>object</a:t>
            </a:r>
            <a:r>
              <a:rPr lang="en-IE" sz="1800" dirty="0">
                <a:solidFill>
                  <a:srgbClr val="000000"/>
                </a:solidFill>
                <a:latin typeface="MinionPro-Regular"/>
              </a:rPr>
              <a:t>. A </a:t>
            </a:r>
            <a:r>
              <a:rPr lang="en-IE" sz="1800" dirty="0" err="1">
                <a:solidFill>
                  <a:srgbClr val="000000"/>
                </a:solidFill>
                <a:latin typeface="UbuntuMono-Regular"/>
              </a:rPr>
              <a:t>URLConnection</a:t>
            </a:r>
            <a:r>
              <a:rPr lang="en-IE" sz="1800" dirty="0">
                <a:solidFill>
                  <a:srgbClr val="000000"/>
                </a:solidFill>
                <a:latin typeface="UbuntuMono-Regular"/>
              </a:rPr>
              <a:t> </a:t>
            </a:r>
            <a:r>
              <a:rPr lang="en-IE" sz="1800" dirty="0">
                <a:solidFill>
                  <a:srgbClr val="000000"/>
                </a:solidFill>
                <a:latin typeface="MinionPro-Regular"/>
              </a:rPr>
              <a:t>represents an open connection to a </a:t>
            </a:r>
            <a:r>
              <a:rPr lang="en-IE" sz="1800" dirty="0" smtClean="0">
                <a:solidFill>
                  <a:srgbClr val="000000"/>
                </a:solidFill>
                <a:latin typeface="MinionPro-Regular"/>
              </a:rPr>
              <a:t>network resource</a:t>
            </a:r>
            <a:r>
              <a:rPr lang="en-IE" sz="1800" dirty="0">
                <a:solidFill>
                  <a:srgbClr val="000000"/>
                </a:solidFill>
                <a:latin typeface="MinionPro-Regular"/>
              </a:rPr>
              <a:t>. </a:t>
            </a:r>
            <a:endParaRPr lang="en-IE" sz="1800" dirty="0" smtClean="0">
              <a:solidFill>
                <a:srgbClr val="000000"/>
              </a:solidFill>
              <a:latin typeface="MinionPro-Regular"/>
            </a:endParaRPr>
          </a:p>
          <a:p>
            <a:r>
              <a:rPr lang="en-IE" sz="1800" dirty="0" smtClean="0">
                <a:solidFill>
                  <a:srgbClr val="000000"/>
                </a:solidFill>
                <a:latin typeface="MinionPro-Regular"/>
              </a:rPr>
              <a:t>If </a:t>
            </a:r>
            <a:r>
              <a:rPr lang="en-IE" sz="1800" dirty="0">
                <a:solidFill>
                  <a:srgbClr val="000000"/>
                </a:solidFill>
                <a:latin typeface="MinionPro-Regular"/>
              </a:rPr>
              <a:t>the call fails, </a:t>
            </a:r>
            <a:r>
              <a:rPr lang="en-IE" sz="1800" dirty="0" err="1">
                <a:solidFill>
                  <a:srgbClr val="000000"/>
                </a:solidFill>
                <a:latin typeface="UbuntuMono-Regular"/>
              </a:rPr>
              <a:t>openConnection</a:t>
            </a:r>
            <a:r>
              <a:rPr lang="en-IE" sz="1800" dirty="0">
                <a:solidFill>
                  <a:srgbClr val="000000"/>
                </a:solidFill>
                <a:latin typeface="UbuntuMono-Regular"/>
              </a:rPr>
              <a:t>() </a:t>
            </a:r>
            <a:r>
              <a:rPr lang="en-IE" sz="1800" dirty="0">
                <a:solidFill>
                  <a:srgbClr val="000000"/>
                </a:solidFill>
                <a:latin typeface="MinionPro-Regular"/>
              </a:rPr>
              <a:t>throws an </a:t>
            </a:r>
            <a:r>
              <a:rPr lang="en-IE" sz="1800" dirty="0" err="1">
                <a:solidFill>
                  <a:srgbClr val="000000"/>
                </a:solidFill>
                <a:latin typeface="UbuntuMono-Regular"/>
              </a:rPr>
              <a:t>IOException</a:t>
            </a:r>
            <a:r>
              <a:rPr lang="en-IE" sz="1800" dirty="0">
                <a:solidFill>
                  <a:srgbClr val="000000"/>
                </a:solidFill>
                <a:latin typeface="MinionPro-Regular"/>
              </a:rPr>
              <a:t>. For example:</a:t>
            </a:r>
          </a:p>
          <a:p>
            <a:r>
              <a:rPr lang="en-IE" sz="1400" b="1" dirty="0">
                <a:solidFill>
                  <a:srgbClr val="00669A"/>
                </a:solidFill>
                <a:latin typeface="UbuntuMono-Bold"/>
              </a:rPr>
              <a:t>try </a:t>
            </a:r>
            <a:r>
              <a:rPr lang="en-IE" sz="1400" dirty="0">
                <a:solidFill>
                  <a:srgbClr val="555555"/>
                </a:solidFill>
                <a:latin typeface="UbuntuMono-Regular"/>
              </a:rPr>
              <a:t>{</a:t>
            </a:r>
          </a:p>
          <a:p>
            <a:r>
              <a:rPr lang="pl-PL" sz="1400" dirty="0">
                <a:solidFill>
                  <a:srgbClr val="000089"/>
                </a:solidFill>
                <a:latin typeface="UbuntuMono-Regular"/>
              </a:rPr>
              <a:t>URL u </a:t>
            </a:r>
            <a:r>
              <a:rPr lang="pl-PL" sz="1400" dirty="0">
                <a:solidFill>
                  <a:srgbClr val="555555"/>
                </a:solidFill>
                <a:latin typeface="UbuntuMono-Regular"/>
              </a:rPr>
              <a:t>= </a:t>
            </a:r>
            <a:r>
              <a:rPr lang="pl-PL" sz="1400" b="1" dirty="0">
                <a:solidFill>
                  <a:srgbClr val="00669A"/>
                </a:solidFill>
                <a:latin typeface="UbuntuMono-Bold"/>
              </a:rPr>
              <a:t>new </a:t>
            </a:r>
            <a:r>
              <a:rPr lang="pl-PL" sz="1400" dirty="0">
                <a:solidFill>
                  <a:srgbClr val="000089"/>
                </a:solidFill>
                <a:latin typeface="UbuntuMono-Regular"/>
              </a:rPr>
              <a:t>URL</a:t>
            </a:r>
            <a:r>
              <a:rPr lang="pl-PL" sz="1400" dirty="0">
                <a:solidFill>
                  <a:srgbClr val="555555"/>
                </a:solidFill>
                <a:latin typeface="UbuntuMono-Regular"/>
              </a:rPr>
              <a:t>(</a:t>
            </a:r>
            <a:r>
              <a:rPr lang="pl-PL" sz="1400" dirty="0">
                <a:solidFill>
                  <a:srgbClr val="CD3300"/>
                </a:solidFill>
                <a:latin typeface="UbuntuMono-Regular"/>
              </a:rPr>
              <a:t>"https://news.ycombinator.com/"</a:t>
            </a:r>
            <a:r>
              <a:rPr lang="pl-PL" sz="1400" dirty="0">
                <a:solidFill>
                  <a:srgbClr val="555555"/>
                </a:solidFill>
                <a:latin typeface="UbuntuMono-Regular"/>
              </a:rPr>
              <a:t>);</a:t>
            </a:r>
          </a:p>
          <a:p>
            <a:r>
              <a:rPr lang="en-IE" sz="1400" b="1" dirty="0">
                <a:solidFill>
                  <a:srgbClr val="00669A"/>
                </a:solidFill>
                <a:latin typeface="UbuntuMono-Bold"/>
              </a:rPr>
              <a:t>try </a:t>
            </a:r>
            <a:r>
              <a:rPr lang="en-IE" sz="1400" dirty="0">
                <a:solidFill>
                  <a:srgbClr val="555555"/>
                </a:solidFill>
                <a:latin typeface="UbuntuMono-Regular"/>
              </a:rPr>
              <a:t>{</a:t>
            </a:r>
          </a:p>
          <a:p>
            <a:r>
              <a:rPr lang="en-IE" sz="1400" dirty="0" err="1">
                <a:solidFill>
                  <a:srgbClr val="000089"/>
                </a:solidFill>
                <a:latin typeface="UbuntuMono-Regular"/>
              </a:rPr>
              <a:t>URLConnection</a:t>
            </a:r>
            <a:r>
              <a:rPr lang="en-IE" sz="1400" dirty="0">
                <a:solidFill>
                  <a:srgbClr val="000089"/>
                </a:solidFill>
                <a:latin typeface="UbuntuMono-Regular"/>
              </a:rPr>
              <a:t> </a:t>
            </a:r>
            <a:r>
              <a:rPr lang="en-IE" sz="1400" dirty="0" err="1">
                <a:solidFill>
                  <a:srgbClr val="000089"/>
                </a:solidFill>
                <a:latin typeface="UbuntuMono-Regular"/>
              </a:rPr>
              <a:t>uc</a:t>
            </a:r>
            <a:r>
              <a:rPr lang="en-IE" sz="1400" dirty="0">
                <a:solidFill>
                  <a:srgbClr val="000089"/>
                </a:solidFill>
                <a:latin typeface="UbuntuMono-Regular"/>
              </a:rPr>
              <a:t> </a:t>
            </a:r>
            <a:r>
              <a:rPr lang="en-IE" sz="1400" dirty="0">
                <a:solidFill>
                  <a:srgbClr val="555555"/>
                </a:solidFill>
                <a:latin typeface="UbuntuMono-Regular"/>
              </a:rPr>
              <a:t>= </a:t>
            </a:r>
            <a:r>
              <a:rPr lang="en-IE" sz="1400" dirty="0" err="1">
                <a:solidFill>
                  <a:srgbClr val="000089"/>
                </a:solidFill>
                <a:latin typeface="UbuntuMono-Regular"/>
              </a:rPr>
              <a:t>u</a:t>
            </a:r>
            <a:r>
              <a:rPr lang="en-IE" sz="1400" dirty="0" err="1">
                <a:solidFill>
                  <a:srgbClr val="555555"/>
                </a:solidFill>
                <a:latin typeface="UbuntuMono-Regular"/>
              </a:rPr>
              <a:t>.</a:t>
            </a:r>
            <a:r>
              <a:rPr lang="en-IE" sz="1400" dirty="0" err="1">
                <a:solidFill>
                  <a:srgbClr val="33009A"/>
                </a:solidFill>
                <a:latin typeface="UbuntuMono-Regular"/>
              </a:rPr>
              <a:t>openConnection</a:t>
            </a:r>
            <a:r>
              <a:rPr lang="en-IE" sz="1400" dirty="0">
                <a:solidFill>
                  <a:srgbClr val="555555"/>
                </a:solidFill>
                <a:latin typeface="UbuntuMono-Regular"/>
              </a:rPr>
              <a:t>();</a:t>
            </a:r>
          </a:p>
          <a:p>
            <a:r>
              <a:rPr lang="en-IE" sz="1400" dirty="0" err="1">
                <a:solidFill>
                  <a:srgbClr val="000089"/>
                </a:solidFill>
                <a:latin typeface="UbuntuMono-Regular"/>
              </a:rPr>
              <a:t>InputStream</a:t>
            </a:r>
            <a:r>
              <a:rPr lang="en-IE" sz="1400" dirty="0">
                <a:solidFill>
                  <a:srgbClr val="000089"/>
                </a:solidFill>
                <a:latin typeface="UbuntuMono-Regular"/>
              </a:rPr>
              <a:t> in </a:t>
            </a:r>
            <a:r>
              <a:rPr lang="en-IE" sz="1400" dirty="0">
                <a:solidFill>
                  <a:srgbClr val="555555"/>
                </a:solidFill>
                <a:latin typeface="UbuntuMono-Regular"/>
              </a:rPr>
              <a:t>= </a:t>
            </a:r>
            <a:r>
              <a:rPr lang="en-IE" sz="1400" dirty="0" err="1">
                <a:solidFill>
                  <a:srgbClr val="000089"/>
                </a:solidFill>
                <a:latin typeface="UbuntuMono-Regular"/>
              </a:rPr>
              <a:t>uc</a:t>
            </a:r>
            <a:r>
              <a:rPr lang="en-IE" sz="1400" dirty="0" err="1">
                <a:solidFill>
                  <a:srgbClr val="555555"/>
                </a:solidFill>
                <a:latin typeface="UbuntuMono-Regular"/>
              </a:rPr>
              <a:t>.</a:t>
            </a:r>
            <a:r>
              <a:rPr lang="en-IE" sz="1400" dirty="0" err="1">
                <a:solidFill>
                  <a:srgbClr val="33009A"/>
                </a:solidFill>
                <a:latin typeface="UbuntuMono-Regular"/>
              </a:rPr>
              <a:t>getInputStream</a:t>
            </a:r>
            <a:r>
              <a:rPr lang="en-IE" sz="1400" dirty="0">
                <a:solidFill>
                  <a:srgbClr val="555555"/>
                </a:solidFill>
                <a:latin typeface="UbuntuMono-Regular"/>
              </a:rPr>
              <a:t>();</a:t>
            </a:r>
          </a:p>
          <a:p>
            <a:r>
              <a:rPr lang="en-IE" sz="1400" i="1" dirty="0">
                <a:solidFill>
                  <a:srgbClr val="35586C"/>
                </a:solidFill>
                <a:latin typeface="UbuntuMono-Italic"/>
              </a:rPr>
              <a:t>// read from the connection...</a:t>
            </a:r>
          </a:p>
          <a:p>
            <a:r>
              <a:rPr lang="en-IE" sz="1400" dirty="0">
                <a:solidFill>
                  <a:srgbClr val="555555"/>
                </a:solidFill>
                <a:latin typeface="UbuntuMono-Regular"/>
              </a:rPr>
              <a:t>} </a:t>
            </a:r>
            <a:r>
              <a:rPr lang="en-IE" sz="1400" b="1" dirty="0">
                <a:solidFill>
                  <a:srgbClr val="00669A"/>
                </a:solidFill>
                <a:latin typeface="UbuntuMono-Bold"/>
              </a:rPr>
              <a:t>catch </a:t>
            </a:r>
            <a:r>
              <a:rPr lang="en-IE" sz="1400" dirty="0">
                <a:solidFill>
                  <a:srgbClr val="555555"/>
                </a:solidFill>
                <a:latin typeface="UbuntuMono-Regular"/>
              </a:rPr>
              <a:t>(</a:t>
            </a:r>
            <a:r>
              <a:rPr lang="en-IE" sz="1400" dirty="0" err="1">
                <a:solidFill>
                  <a:srgbClr val="000089"/>
                </a:solidFill>
                <a:latin typeface="UbuntuMono-Regular"/>
              </a:rPr>
              <a:t>IOException</a:t>
            </a:r>
            <a:r>
              <a:rPr lang="en-IE" sz="1400" dirty="0">
                <a:solidFill>
                  <a:srgbClr val="000089"/>
                </a:solidFill>
                <a:latin typeface="UbuntuMono-Regular"/>
              </a:rPr>
              <a:t> ex</a:t>
            </a:r>
            <a:r>
              <a:rPr lang="en-IE" sz="1400" dirty="0">
                <a:solidFill>
                  <a:srgbClr val="555555"/>
                </a:solidFill>
                <a:latin typeface="UbuntuMono-Regular"/>
              </a:rPr>
              <a:t>) {</a:t>
            </a:r>
          </a:p>
          <a:p>
            <a:r>
              <a:rPr lang="en-IE" sz="1400" dirty="0" err="1">
                <a:solidFill>
                  <a:srgbClr val="000089"/>
                </a:solidFill>
                <a:latin typeface="UbuntuMono-Regular"/>
              </a:rPr>
              <a:t>System</a:t>
            </a:r>
            <a:r>
              <a:rPr lang="en-IE" sz="1400" dirty="0" err="1">
                <a:solidFill>
                  <a:srgbClr val="555555"/>
                </a:solidFill>
                <a:latin typeface="UbuntuMono-Regular"/>
              </a:rPr>
              <a:t>.</a:t>
            </a:r>
            <a:r>
              <a:rPr lang="en-IE" sz="1400" dirty="0" err="1">
                <a:solidFill>
                  <a:srgbClr val="33009A"/>
                </a:solidFill>
                <a:latin typeface="UbuntuMono-Regular"/>
              </a:rPr>
              <a:t>err</a:t>
            </a:r>
            <a:r>
              <a:rPr lang="en-IE" sz="1400" dirty="0" err="1">
                <a:solidFill>
                  <a:srgbClr val="555555"/>
                </a:solidFill>
                <a:latin typeface="UbuntuMono-Regular"/>
              </a:rPr>
              <a:t>.</a:t>
            </a:r>
            <a:r>
              <a:rPr lang="en-IE" sz="1400" dirty="0" err="1">
                <a:solidFill>
                  <a:srgbClr val="33009A"/>
                </a:solidFill>
                <a:latin typeface="UbuntuMono-Regular"/>
              </a:rPr>
              <a:t>println</a:t>
            </a:r>
            <a:r>
              <a:rPr lang="en-IE" sz="1400" dirty="0">
                <a:solidFill>
                  <a:srgbClr val="555555"/>
                </a:solidFill>
                <a:latin typeface="UbuntuMono-Regular"/>
              </a:rPr>
              <a:t>(</a:t>
            </a:r>
            <a:r>
              <a:rPr lang="en-IE" sz="1400" dirty="0">
                <a:solidFill>
                  <a:srgbClr val="000089"/>
                </a:solidFill>
                <a:latin typeface="UbuntuMono-Regular"/>
              </a:rPr>
              <a:t>ex</a:t>
            </a:r>
            <a:r>
              <a:rPr lang="en-IE" sz="1400" dirty="0">
                <a:solidFill>
                  <a:srgbClr val="555555"/>
                </a:solidFill>
                <a:latin typeface="UbuntuMono-Regular"/>
              </a:rPr>
              <a:t>);</a:t>
            </a:r>
          </a:p>
          <a:p>
            <a:r>
              <a:rPr lang="en-IE" sz="1400" dirty="0">
                <a:solidFill>
                  <a:srgbClr val="555555"/>
                </a:solidFill>
                <a:latin typeface="UbuntuMono-Regular"/>
              </a:rPr>
              <a:t>}</a:t>
            </a:r>
          </a:p>
          <a:p>
            <a:r>
              <a:rPr lang="en-IE" sz="1400" dirty="0">
                <a:solidFill>
                  <a:srgbClr val="555555"/>
                </a:solidFill>
                <a:latin typeface="UbuntuMono-Regular"/>
              </a:rPr>
              <a:t>} </a:t>
            </a:r>
            <a:r>
              <a:rPr lang="en-IE" sz="1400" b="1" dirty="0">
                <a:solidFill>
                  <a:srgbClr val="00669A"/>
                </a:solidFill>
                <a:latin typeface="UbuntuMono-Bold"/>
              </a:rPr>
              <a:t>catch </a:t>
            </a:r>
            <a:r>
              <a:rPr lang="en-IE" sz="1400" dirty="0">
                <a:solidFill>
                  <a:srgbClr val="555555"/>
                </a:solidFill>
                <a:latin typeface="UbuntuMono-Regular"/>
              </a:rPr>
              <a:t>(</a:t>
            </a:r>
            <a:r>
              <a:rPr lang="en-IE" sz="1400" dirty="0" err="1">
                <a:solidFill>
                  <a:srgbClr val="000089"/>
                </a:solidFill>
                <a:latin typeface="UbuntuMono-Regular"/>
              </a:rPr>
              <a:t>MalformedURLException</a:t>
            </a:r>
            <a:r>
              <a:rPr lang="en-IE" sz="1400" dirty="0">
                <a:solidFill>
                  <a:srgbClr val="000089"/>
                </a:solidFill>
                <a:latin typeface="UbuntuMono-Regular"/>
              </a:rPr>
              <a:t> ex</a:t>
            </a:r>
            <a:r>
              <a:rPr lang="en-IE" sz="1400" dirty="0">
                <a:solidFill>
                  <a:srgbClr val="555555"/>
                </a:solidFill>
                <a:latin typeface="UbuntuMono-Regular"/>
              </a:rPr>
              <a:t>) {</a:t>
            </a:r>
          </a:p>
          <a:p>
            <a:r>
              <a:rPr lang="en-IE" sz="1400" dirty="0" err="1">
                <a:solidFill>
                  <a:srgbClr val="000089"/>
                </a:solidFill>
                <a:latin typeface="UbuntuMono-Regular"/>
              </a:rPr>
              <a:t>System</a:t>
            </a:r>
            <a:r>
              <a:rPr lang="en-IE" sz="1400" dirty="0" err="1">
                <a:solidFill>
                  <a:srgbClr val="555555"/>
                </a:solidFill>
                <a:latin typeface="UbuntuMono-Regular"/>
              </a:rPr>
              <a:t>.</a:t>
            </a:r>
            <a:r>
              <a:rPr lang="en-IE" sz="1400" dirty="0" err="1">
                <a:solidFill>
                  <a:srgbClr val="33009A"/>
                </a:solidFill>
                <a:latin typeface="UbuntuMono-Regular"/>
              </a:rPr>
              <a:t>err</a:t>
            </a:r>
            <a:r>
              <a:rPr lang="en-IE" sz="1400" dirty="0" err="1">
                <a:solidFill>
                  <a:srgbClr val="555555"/>
                </a:solidFill>
                <a:latin typeface="UbuntuMono-Regular"/>
              </a:rPr>
              <a:t>.</a:t>
            </a:r>
            <a:r>
              <a:rPr lang="en-IE" sz="1400" dirty="0" err="1">
                <a:solidFill>
                  <a:srgbClr val="33009A"/>
                </a:solidFill>
                <a:latin typeface="UbuntuMono-Regular"/>
              </a:rPr>
              <a:t>println</a:t>
            </a:r>
            <a:r>
              <a:rPr lang="en-IE" sz="1400" dirty="0">
                <a:solidFill>
                  <a:srgbClr val="555555"/>
                </a:solidFill>
                <a:latin typeface="UbuntuMono-Regular"/>
              </a:rPr>
              <a:t>(</a:t>
            </a:r>
            <a:r>
              <a:rPr lang="en-IE" sz="1400" dirty="0">
                <a:solidFill>
                  <a:srgbClr val="000089"/>
                </a:solidFill>
                <a:latin typeface="UbuntuMono-Regular"/>
              </a:rPr>
              <a:t>ex</a:t>
            </a:r>
            <a:r>
              <a:rPr lang="en-IE" sz="1400" dirty="0">
                <a:solidFill>
                  <a:srgbClr val="555555"/>
                </a:solidFill>
                <a:latin typeface="UbuntuMono-Regular"/>
              </a:rPr>
              <a:t>);</a:t>
            </a:r>
          </a:p>
          <a:p>
            <a:r>
              <a:rPr lang="en-IE" sz="1400" dirty="0" smtClean="0">
                <a:solidFill>
                  <a:srgbClr val="555555"/>
                </a:solidFill>
                <a:latin typeface="UbuntuMono-Regular"/>
              </a:rPr>
              <a:t>}</a:t>
            </a:r>
          </a:p>
          <a:p>
            <a:r>
              <a:rPr lang="en-IE" sz="1800" dirty="0"/>
              <a:t>You should use this method when you want to </a:t>
            </a:r>
            <a:r>
              <a:rPr lang="en-IE" sz="1800" dirty="0">
                <a:solidFill>
                  <a:schemeClr val="tx2"/>
                </a:solidFill>
              </a:rPr>
              <a:t>communicate directly with the server</a:t>
            </a:r>
            <a:r>
              <a:rPr lang="en-IE" sz="1800" dirty="0" smtClean="0"/>
              <a:t>. </a:t>
            </a:r>
          </a:p>
          <a:p>
            <a:r>
              <a:rPr lang="en-IE" sz="1800" dirty="0" smtClean="0"/>
              <a:t>The </a:t>
            </a:r>
            <a:r>
              <a:rPr lang="en-IE" sz="1800" dirty="0" err="1"/>
              <a:t>URLConnection</a:t>
            </a:r>
            <a:r>
              <a:rPr lang="en-IE" sz="1800" dirty="0"/>
              <a:t> gives you access to everything sent by the server: in addition to </a:t>
            </a:r>
            <a:r>
              <a:rPr lang="en-IE" sz="1800" dirty="0" smtClean="0"/>
              <a:t>the document </a:t>
            </a:r>
            <a:r>
              <a:rPr lang="en-IE" sz="1800" dirty="0"/>
              <a:t>itself in its raw form (e.g., HTML, plain text, binary image data), you </a:t>
            </a:r>
            <a:r>
              <a:rPr lang="en-IE" sz="1800" dirty="0" smtClean="0"/>
              <a:t>can access </a:t>
            </a:r>
            <a:r>
              <a:rPr lang="en-IE" sz="1800" dirty="0"/>
              <a:t>all the metadata specified by the protocol.</a:t>
            </a:r>
            <a:endParaRPr lang="en-IE" sz="1800" dirty="0">
              <a:solidFill>
                <a:srgbClr val="555555"/>
              </a:solidFill>
              <a:latin typeface="UbuntuMono-Regular"/>
            </a:endParaRPr>
          </a:p>
        </p:txBody>
      </p:sp>
    </p:spTree>
    <p:extLst>
      <p:ext uri="{BB962C8B-B14F-4D97-AF65-F5344CB8AC3E}">
        <p14:creationId xmlns:p14="http://schemas.microsoft.com/office/powerpoint/2010/main" val="305065798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39762"/>
          </a:xfrm>
        </p:spPr>
        <p:txBody>
          <a:bodyPr>
            <a:noAutofit/>
          </a:bodyPr>
          <a:lstStyle/>
          <a:p>
            <a:r>
              <a:rPr lang="en-IE" sz="2800" dirty="0"/>
              <a:t>public final Object </a:t>
            </a:r>
            <a:r>
              <a:rPr lang="en-IE" sz="2800" dirty="0" err="1"/>
              <a:t>getContent</a:t>
            </a:r>
            <a:r>
              <a:rPr lang="en-IE" sz="2800" dirty="0"/>
              <a:t>() throws </a:t>
            </a:r>
            <a:r>
              <a:rPr lang="en-IE" sz="2800" dirty="0" err="1"/>
              <a:t>IOException</a:t>
            </a:r>
            <a:endParaRPr lang="en-IE" sz="2800" b="1" dirty="0"/>
          </a:p>
        </p:txBody>
      </p:sp>
      <p:sp>
        <p:nvSpPr>
          <p:cNvPr id="3" name="Content Placeholder 2"/>
          <p:cNvSpPr>
            <a:spLocks noGrp="1"/>
          </p:cNvSpPr>
          <p:nvPr>
            <p:ph idx="1"/>
          </p:nvPr>
        </p:nvSpPr>
        <p:spPr>
          <a:xfrm>
            <a:off x="0" y="609600"/>
            <a:ext cx="9144000" cy="6248400"/>
          </a:xfrm>
        </p:spPr>
        <p:txBody>
          <a:bodyPr>
            <a:noAutofit/>
          </a:bodyPr>
          <a:lstStyle/>
          <a:p>
            <a:r>
              <a:rPr lang="en-IE" sz="1800" dirty="0"/>
              <a:t>The </a:t>
            </a:r>
            <a:r>
              <a:rPr lang="en-IE" sz="1800" dirty="0" err="1">
                <a:solidFill>
                  <a:schemeClr val="tx2"/>
                </a:solidFill>
              </a:rPr>
              <a:t>getContent</a:t>
            </a:r>
            <a:r>
              <a:rPr lang="en-IE" sz="1800" dirty="0"/>
              <a:t>() method is the third way to download data referenced by a URL. </a:t>
            </a:r>
            <a:endParaRPr lang="en-IE" sz="1800" dirty="0" smtClean="0"/>
          </a:p>
          <a:p>
            <a:r>
              <a:rPr lang="en-IE" sz="1800" dirty="0" smtClean="0"/>
              <a:t>The </a:t>
            </a:r>
            <a:r>
              <a:rPr lang="en-IE" sz="1800" dirty="0" err="1" smtClean="0">
                <a:solidFill>
                  <a:schemeClr val="tx2"/>
                </a:solidFill>
              </a:rPr>
              <a:t>getContent</a:t>
            </a:r>
            <a:r>
              <a:rPr lang="en-IE" sz="1800" dirty="0"/>
              <a:t>() method retrieves the data referenced by the URL and tries to make it </a:t>
            </a:r>
            <a:r>
              <a:rPr lang="en-IE" sz="1800" dirty="0" smtClean="0"/>
              <a:t>into some </a:t>
            </a:r>
            <a:r>
              <a:rPr lang="en-IE" sz="1800" dirty="0"/>
              <a:t>type of object. </a:t>
            </a:r>
            <a:endParaRPr lang="en-IE" sz="1800" dirty="0" smtClean="0"/>
          </a:p>
          <a:p>
            <a:r>
              <a:rPr lang="en-IE" sz="1800" dirty="0" smtClean="0"/>
              <a:t>If </a:t>
            </a:r>
            <a:r>
              <a:rPr lang="en-IE" sz="1800" dirty="0"/>
              <a:t>the URL refers to some kind of text such as an </a:t>
            </a:r>
            <a:r>
              <a:rPr lang="en-IE" sz="1800" dirty="0">
                <a:solidFill>
                  <a:schemeClr val="tx2"/>
                </a:solidFill>
              </a:rPr>
              <a:t>ASCII</a:t>
            </a:r>
            <a:r>
              <a:rPr lang="en-IE" sz="1800" dirty="0"/>
              <a:t> or </a:t>
            </a:r>
            <a:r>
              <a:rPr lang="en-IE" sz="1800" dirty="0" smtClean="0">
                <a:solidFill>
                  <a:schemeClr val="tx2"/>
                </a:solidFill>
              </a:rPr>
              <a:t>HTML</a:t>
            </a:r>
            <a:r>
              <a:rPr lang="en-IE" sz="1800" dirty="0" smtClean="0"/>
              <a:t> file</a:t>
            </a:r>
            <a:r>
              <a:rPr lang="en-IE" sz="1800" dirty="0"/>
              <a:t>, the object returned is usually some sort of </a:t>
            </a:r>
            <a:r>
              <a:rPr lang="en-IE" sz="1800" dirty="0" err="1">
                <a:solidFill>
                  <a:schemeClr val="tx2"/>
                </a:solidFill>
              </a:rPr>
              <a:t>InputStream</a:t>
            </a:r>
            <a:r>
              <a:rPr lang="en-IE" sz="1800" dirty="0"/>
              <a:t>. </a:t>
            </a:r>
            <a:endParaRPr lang="en-IE" sz="1800" dirty="0" smtClean="0"/>
          </a:p>
          <a:p>
            <a:r>
              <a:rPr lang="en-IE" sz="1800" dirty="0" smtClean="0"/>
              <a:t>If </a:t>
            </a:r>
            <a:r>
              <a:rPr lang="en-IE" sz="1800" dirty="0"/>
              <a:t>the URL refers to </a:t>
            </a:r>
            <a:r>
              <a:rPr lang="en-IE" sz="1800" dirty="0" smtClean="0"/>
              <a:t>an image </a:t>
            </a:r>
            <a:r>
              <a:rPr lang="en-IE" sz="1800" dirty="0"/>
              <a:t>such as a </a:t>
            </a:r>
            <a:r>
              <a:rPr lang="en-IE" sz="1800" dirty="0">
                <a:solidFill>
                  <a:schemeClr val="tx2"/>
                </a:solidFill>
              </a:rPr>
              <a:t>GIF </a:t>
            </a:r>
            <a:r>
              <a:rPr lang="en-IE" sz="1800" dirty="0"/>
              <a:t>or a </a:t>
            </a:r>
            <a:r>
              <a:rPr lang="en-IE" sz="1800" dirty="0">
                <a:solidFill>
                  <a:schemeClr val="tx2"/>
                </a:solidFill>
              </a:rPr>
              <a:t>JPEG </a:t>
            </a:r>
            <a:r>
              <a:rPr lang="en-IE" sz="1800" dirty="0"/>
              <a:t>file, </a:t>
            </a:r>
            <a:r>
              <a:rPr lang="en-IE" sz="1800" dirty="0" err="1">
                <a:solidFill>
                  <a:schemeClr val="tx2"/>
                </a:solidFill>
              </a:rPr>
              <a:t>getContent</a:t>
            </a:r>
            <a:r>
              <a:rPr lang="en-IE" sz="1800" dirty="0"/>
              <a:t>() usually returns a </a:t>
            </a:r>
            <a:r>
              <a:rPr lang="en-IE" sz="1800" dirty="0" err="1" smtClean="0">
                <a:solidFill>
                  <a:schemeClr val="tx2"/>
                </a:solidFill>
              </a:rPr>
              <a:t>java.awt.Image</a:t>
            </a:r>
            <a:r>
              <a:rPr lang="en-IE" sz="1800" dirty="0" smtClean="0"/>
              <a:t> Producer</a:t>
            </a:r>
            <a:r>
              <a:rPr lang="en-IE" sz="1800" dirty="0"/>
              <a:t>. What unifies these two disparate classes is that they are not the thing </a:t>
            </a:r>
            <a:r>
              <a:rPr lang="en-IE" sz="1800" dirty="0" smtClean="0"/>
              <a:t>itself but </a:t>
            </a:r>
            <a:r>
              <a:rPr lang="en-IE" sz="1800" dirty="0"/>
              <a:t>a means by which a program can construct the </a:t>
            </a:r>
            <a:r>
              <a:rPr lang="en-IE" sz="1800" dirty="0" smtClean="0"/>
              <a:t>thing:</a:t>
            </a:r>
          </a:p>
          <a:p>
            <a:r>
              <a:rPr lang="pl-PL" sz="1400" dirty="0" smtClean="0">
                <a:solidFill>
                  <a:srgbClr val="000089"/>
                </a:solidFill>
                <a:latin typeface="UbuntuMono-Regular"/>
              </a:rPr>
              <a:t>URL </a:t>
            </a:r>
            <a:r>
              <a:rPr lang="pl-PL" sz="1400" dirty="0">
                <a:solidFill>
                  <a:srgbClr val="000089"/>
                </a:solidFill>
                <a:latin typeface="UbuntuMono-Regular"/>
              </a:rPr>
              <a:t>u </a:t>
            </a:r>
            <a:r>
              <a:rPr lang="pl-PL" sz="1400" dirty="0">
                <a:solidFill>
                  <a:srgbClr val="555555"/>
                </a:solidFill>
                <a:latin typeface="UbuntuMono-Regular"/>
              </a:rPr>
              <a:t>= </a:t>
            </a:r>
            <a:r>
              <a:rPr lang="pl-PL" sz="1400" b="1" dirty="0">
                <a:solidFill>
                  <a:srgbClr val="00669A"/>
                </a:solidFill>
                <a:latin typeface="UbuntuMono-Bold"/>
              </a:rPr>
              <a:t>new </a:t>
            </a:r>
            <a:r>
              <a:rPr lang="pl-PL" sz="1400" dirty="0">
                <a:solidFill>
                  <a:srgbClr val="000089"/>
                </a:solidFill>
                <a:latin typeface="UbuntuMono-Regular"/>
              </a:rPr>
              <a:t>URL</a:t>
            </a:r>
            <a:r>
              <a:rPr lang="pl-PL" sz="1400" dirty="0">
                <a:solidFill>
                  <a:srgbClr val="555555"/>
                </a:solidFill>
                <a:latin typeface="UbuntuMono-Regular"/>
              </a:rPr>
              <a:t>(</a:t>
            </a:r>
            <a:r>
              <a:rPr lang="pl-PL" sz="1400" dirty="0">
                <a:solidFill>
                  <a:srgbClr val="CD3300"/>
                </a:solidFill>
                <a:latin typeface="UbuntuMono-Regular"/>
              </a:rPr>
              <a:t>"http://mesola.obspm.fr/"</a:t>
            </a:r>
            <a:r>
              <a:rPr lang="pl-PL" sz="1400" dirty="0">
                <a:solidFill>
                  <a:srgbClr val="555555"/>
                </a:solidFill>
                <a:latin typeface="UbuntuMono-Regular"/>
              </a:rPr>
              <a:t>);</a:t>
            </a:r>
          </a:p>
          <a:p>
            <a:r>
              <a:rPr lang="en-IE" sz="1400" dirty="0">
                <a:solidFill>
                  <a:srgbClr val="000089"/>
                </a:solidFill>
                <a:latin typeface="UbuntuMono-Regular"/>
              </a:rPr>
              <a:t>Object o </a:t>
            </a:r>
            <a:r>
              <a:rPr lang="en-IE" sz="1400" dirty="0">
                <a:solidFill>
                  <a:srgbClr val="555555"/>
                </a:solidFill>
                <a:latin typeface="UbuntuMono-Regular"/>
              </a:rPr>
              <a:t>= </a:t>
            </a:r>
            <a:r>
              <a:rPr lang="en-IE" sz="1400" dirty="0" err="1">
                <a:solidFill>
                  <a:srgbClr val="000089"/>
                </a:solidFill>
                <a:latin typeface="UbuntuMono-Regular"/>
              </a:rPr>
              <a:t>u</a:t>
            </a:r>
            <a:r>
              <a:rPr lang="en-IE" sz="1400" dirty="0" err="1">
                <a:solidFill>
                  <a:srgbClr val="555555"/>
                </a:solidFill>
                <a:latin typeface="UbuntuMono-Regular"/>
              </a:rPr>
              <a:t>.</a:t>
            </a:r>
            <a:r>
              <a:rPr lang="en-IE" sz="1400" dirty="0" err="1">
                <a:solidFill>
                  <a:srgbClr val="33009A"/>
                </a:solidFill>
                <a:latin typeface="UbuntuMono-Regular"/>
              </a:rPr>
              <a:t>getContent</a:t>
            </a:r>
            <a:r>
              <a:rPr lang="en-IE" sz="1400" dirty="0">
                <a:solidFill>
                  <a:srgbClr val="555555"/>
                </a:solidFill>
                <a:latin typeface="UbuntuMono-Regular"/>
              </a:rPr>
              <a:t>();</a:t>
            </a:r>
          </a:p>
          <a:p>
            <a:r>
              <a:rPr lang="en-IE" sz="1400" i="1" dirty="0">
                <a:solidFill>
                  <a:srgbClr val="35586C"/>
                </a:solidFill>
                <a:latin typeface="UbuntuMono-Italic"/>
              </a:rPr>
              <a:t>// cast the Object to the appropriate type</a:t>
            </a:r>
          </a:p>
          <a:p>
            <a:r>
              <a:rPr lang="en-IE" sz="1400" i="1" dirty="0">
                <a:solidFill>
                  <a:srgbClr val="35586C"/>
                </a:solidFill>
                <a:latin typeface="UbuntuMono-Italic"/>
              </a:rPr>
              <a:t>// work with the Object...</a:t>
            </a:r>
          </a:p>
          <a:p>
            <a:r>
              <a:rPr lang="en-IE" sz="1800" dirty="0" err="1">
                <a:solidFill>
                  <a:schemeClr val="tx2"/>
                </a:solidFill>
                <a:latin typeface="UbuntuMono-Regular"/>
              </a:rPr>
              <a:t>getContent</a:t>
            </a:r>
            <a:r>
              <a:rPr lang="en-IE" sz="1800" dirty="0">
                <a:solidFill>
                  <a:srgbClr val="000000"/>
                </a:solidFill>
                <a:latin typeface="UbuntuMono-Regular"/>
              </a:rPr>
              <a:t>() </a:t>
            </a:r>
            <a:r>
              <a:rPr lang="en-IE" sz="1800" dirty="0">
                <a:solidFill>
                  <a:srgbClr val="000000"/>
                </a:solidFill>
                <a:latin typeface="MinionPro-Regular"/>
              </a:rPr>
              <a:t>operates by looking at the </a:t>
            </a:r>
            <a:r>
              <a:rPr lang="en-IE" sz="1800" dirty="0">
                <a:solidFill>
                  <a:srgbClr val="000000"/>
                </a:solidFill>
                <a:latin typeface="UbuntuMono-Regular"/>
              </a:rPr>
              <a:t>Content-type </a:t>
            </a:r>
            <a:r>
              <a:rPr lang="en-IE" sz="1800" dirty="0">
                <a:solidFill>
                  <a:srgbClr val="000000"/>
                </a:solidFill>
                <a:latin typeface="MinionPro-Regular"/>
              </a:rPr>
              <a:t>field in the header of the </a:t>
            </a:r>
            <a:r>
              <a:rPr lang="en-IE" sz="1800" dirty="0" smtClean="0">
                <a:solidFill>
                  <a:srgbClr val="000000"/>
                </a:solidFill>
                <a:latin typeface="MinionPro-Regular"/>
              </a:rPr>
              <a:t>data it </a:t>
            </a:r>
            <a:r>
              <a:rPr lang="en-IE" sz="1800" dirty="0">
                <a:solidFill>
                  <a:srgbClr val="000000"/>
                </a:solidFill>
                <a:latin typeface="MinionPro-Regular"/>
              </a:rPr>
              <a:t>gets from the server. </a:t>
            </a:r>
            <a:endParaRPr lang="en-IE" sz="1800" dirty="0" smtClean="0">
              <a:solidFill>
                <a:srgbClr val="000000"/>
              </a:solidFill>
              <a:latin typeface="MinionPro-Regular"/>
            </a:endParaRPr>
          </a:p>
          <a:p>
            <a:r>
              <a:rPr lang="en-IE" sz="1800" dirty="0" smtClean="0">
                <a:solidFill>
                  <a:schemeClr val="tx2"/>
                </a:solidFill>
                <a:latin typeface="MinionPro-Regular"/>
              </a:rPr>
              <a:t>If </a:t>
            </a:r>
            <a:r>
              <a:rPr lang="en-IE" sz="1800" dirty="0">
                <a:solidFill>
                  <a:schemeClr val="tx2"/>
                </a:solidFill>
                <a:latin typeface="MinionPro-Regular"/>
              </a:rPr>
              <a:t>the server does not use MIME headers or sends an </a:t>
            </a:r>
            <a:r>
              <a:rPr lang="en-IE" sz="1800" dirty="0" smtClean="0">
                <a:solidFill>
                  <a:schemeClr val="tx2"/>
                </a:solidFill>
                <a:latin typeface="MinionPro-Regular"/>
              </a:rPr>
              <a:t>unfamiliar </a:t>
            </a:r>
            <a:r>
              <a:rPr lang="en-IE" sz="1800" dirty="0" smtClean="0">
                <a:solidFill>
                  <a:schemeClr val="tx2"/>
                </a:solidFill>
                <a:latin typeface="UbuntuMono-Regular"/>
              </a:rPr>
              <a:t>Content-type</a:t>
            </a:r>
            <a:r>
              <a:rPr lang="en-IE" sz="1800" dirty="0">
                <a:solidFill>
                  <a:schemeClr val="tx2"/>
                </a:solidFill>
                <a:latin typeface="MinionPro-Regular"/>
              </a:rPr>
              <a:t>, </a:t>
            </a:r>
            <a:r>
              <a:rPr lang="en-IE" sz="1800" dirty="0" err="1">
                <a:solidFill>
                  <a:schemeClr val="tx2"/>
                </a:solidFill>
                <a:latin typeface="UbuntuMono-Regular"/>
              </a:rPr>
              <a:t>getContent</a:t>
            </a:r>
            <a:r>
              <a:rPr lang="en-IE" sz="1800" dirty="0">
                <a:solidFill>
                  <a:schemeClr val="tx2"/>
                </a:solidFill>
                <a:latin typeface="UbuntuMono-Regular"/>
              </a:rPr>
              <a:t>() </a:t>
            </a:r>
            <a:r>
              <a:rPr lang="en-IE" sz="1800" dirty="0">
                <a:solidFill>
                  <a:schemeClr val="tx2"/>
                </a:solidFill>
                <a:latin typeface="MinionPro-Regular"/>
              </a:rPr>
              <a:t>returns some sort of </a:t>
            </a:r>
            <a:r>
              <a:rPr lang="en-IE" sz="1800" dirty="0" err="1">
                <a:solidFill>
                  <a:schemeClr val="tx2"/>
                </a:solidFill>
                <a:latin typeface="UbuntuMono-Regular"/>
              </a:rPr>
              <a:t>InputStream</a:t>
            </a:r>
            <a:r>
              <a:rPr lang="en-IE" sz="1800" dirty="0">
                <a:solidFill>
                  <a:schemeClr val="tx2"/>
                </a:solidFill>
                <a:latin typeface="UbuntuMono-Regular"/>
              </a:rPr>
              <a:t> </a:t>
            </a:r>
            <a:r>
              <a:rPr lang="en-IE" sz="1800" dirty="0">
                <a:solidFill>
                  <a:schemeClr val="tx2"/>
                </a:solidFill>
                <a:latin typeface="MinionPro-Regular"/>
              </a:rPr>
              <a:t>with which the </a:t>
            </a:r>
            <a:r>
              <a:rPr lang="en-IE" sz="1800" dirty="0" smtClean="0">
                <a:solidFill>
                  <a:schemeClr val="tx2"/>
                </a:solidFill>
                <a:latin typeface="MinionPro-Regular"/>
              </a:rPr>
              <a:t>data can </a:t>
            </a:r>
            <a:r>
              <a:rPr lang="en-IE" sz="1800" dirty="0">
                <a:solidFill>
                  <a:schemeClr val="tx2"/>
                </a:solidFill>
                <a:latin typeface="MinionPro-Regular"/>
              </a:rPr>
              <a:t>be read. An </a:t>
            </a:r>
            <a:r>
              <a:rPr lang="en-IE" sz="1800" dirty="0" err="1">
                <a:solidFill>
                  <a:schemeClr val="tx2"/>
                </a:solidFill>
                <a:latin typeface="UbuntuMono-Regular"/>
              </a:rPr>
              <a:t>IOException</a:t>
            </a:r>
            <a:r>
              <a:rPr lang="en-IE" sz="1800" dirty="0">
                <a:solidFill>
                  <a:schemeClr val="tx2"/>
                </a:solidFill>
                <a:latin typeface="UbuntuMono-Regular"/>
              </a:rPr>
              <a:t> </a:t>
            </a:r>
            <a:r>
              <a:rPr lang="en-IE" sz="1800" dirty="0">
                <a:solidFill>
                  <a:schemeClr val="tx2"/>
                </a:solidFill>
                <a:latin typeface="MinionPro-Regular"/>
              </a:rPr>
              <a:t>is thrown if the object can’t be retrieved. </a:t>
            </a:r>
            <a:endParaRPr lang="en-IE" sz="1800" dirty="0">
              <a:solidFill>
                <a:schemeClr val="tx2"/>
              </a:solidFill>
              <a:latin typeface="UbuntuMono-Regular"/>
            </a:endParaRPr>
          </a:p>
        </p:txBody>
      </p:sp>
    </p:spTree>
    <p:extLst>
      <p:ext uri="{BB962C8B-B14F-4D97-AF65-F5344CB8AC3E}">
        <p14:creationId xmlns:p14="http://schemas.microsoft.com/office/powerpoint/2010/main" val="218738164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39762"/>
          </a:xfrm>
        </p:spPr>
        <p:txBody>
          <a:bodyPr>
            <a:noAutofit/>
          </a:bodyPr>
          <a:lstStyle/>
          <a:p>
            <a:r>
              <a:rPr lang="en-IE" sz="2800" dirty="0"/>
              <a:t>public final Object </a:t>
            </a:r>
            <a:r>
              <a:rPr lang="en-IE" sz="2800" dirty="0" err="1"/>
              <a:t>getContent</a:t>
            </a:r>
            <a:r>
              <a:rPr lang="en-IE" sz="2800" dirty="0"/>
              <a:t>() throws </a:t>
            </a:r>
            <a:r>
              <a:rPr lang="en-IE" sz="2800" dirty="0" err="1"/>
              <a:t>IOException</a:t>
            </a:r>
            <a:endParaRPr lang="en-IE" sz="2800" b="1" dirty="0"/>
          </a:p>
        </p:txBody>
      </p:sp>
      <p:sp>
        <p:nvSpPr>
          <p:cNvPr id="3" name="Content Placeholder 2"/>
          <p:cNvSpPr>
            <a:spLocks noGrp="1"/>
          </p:cNvSpPr>
          <p:nvPr>
            <p:ph idx="1"/>
          </p:nvPr>
        </p:nvSpPr>
        <p:spPr>
          <a:xfrm>
            <a:off x="0" y="609600"/>
            <a:ext cx="9144000" cy="6248400"/>
          </a:xfrm>
        </p:spPr>
        <p:txBody>
          <a:bodyPr>
            <a:noAutofit/>
          </a:bodyPr>
          <a:lstStyle/>
          <a:p>
            <a:r>
              <a:rPr lang="en-IE" sz="1800" b="1" dirty="0">
                <a:solidFill>
                  <a:srgbClr val="00669A"/>
                </a:solidFill>
                <a:latin typeface="UbuntuMono-Bold"/>
              </a:rPr>
              <a:t>import </a:t>
            </a:r>
            <a:r>
              <a:rPr lang="en-IE" sz="1800" b="1" dirty="0">
                <a:solidFill>
                  <a:srgbClr val="00CDFF"/>
                </a:solidFill>
                <a:latin typeface="UbuntuMono-Bold"/>
              </a:rPr>
              <a:t>java.io.*</a:t>
            </a:r>
            <a:r>
              <a:rPr lang="en-IE" sz="1800" dirty="0">
                <a:solidFill>
                  <a:srgbClr val="555555"/>
                </a:solidFill>
                <a:latin typeface="UbuntuMono-Regular"/>
              </a:rPr>
              <a:t>;</a:t>
            </a:r>
          </a:p>
          <a:p>
            <a:r>
              <a:rPr lang="en-IE" sz="1800" b="1" dirty="0">
                <a:solidFill>
                  <a:srgbClr val="00669A"/>
                </a:solidFill>
                <a:latin typeface="UbuntuMono-Bold"/>
              </a:rPr>
              <a:t>import </a:t>
            </a:r>
            <a:r>
              <a:rPr lang="en-IE" sz="1800" b="1" dirty="0">
                <a:solidFill>
                  <a:srgbClr val="00CDFF"/>
                </a:solidFill>
                <a:latin typeface="UbuntuMono-Bold"/>
              </a:rPr>
              <a:t>java.net.*</a:t>
            </a:r>
            <a:r>
              <a:rPr lang="en-IE" sz="1800" dirty="0">
                <a:solidFill>
                  <a:srgbClr val="555555"/>
                </a:solidFill>
                <a:latin typeface="UbuntuMono-Regular"/>
              </a:rPr>
              <a:t>;</a:t>
            </a:r>
          </a:p>
          <a:p>
            <a:r>
              <a:rPr lang="en-IE" sz="1800" b="1" dirty="0">
                <a:solidFill>
                  <a:srgbClr val="00669A"/>
                </a:solidFill>
                <a:latin typeface="UbuntuMono-Bold"/>
              </a:rPr>
              <a:t>public class </a:t>
            </a:r>
            <a:r>
              <a:rPr lang="en-IE" sz="1800" b="1" dirty="0" err="1">
                <a:solidFill>
                  <a:srgbClr val="00AB89"/>
                </a:solidFill>
                <a:latin typeface="UbuntuMono-Bold"/>
              </a:rPr>
              <a:t>ContentGetter</a:t>
            </a:r>
            <a:r>
              <a:rPr lang="en-IE" sz="1800" b="1" dirty="0">
                <a:solidFill>
                  <a:srgbClr val="00AB89"/>
                </a:solidFill>
                <a:latin typeface="UbuntuMono-Bold"/>
              </a:rPr>
              <a:t> </a:t>
            </a:r>
            <a:r>
              <a:rPr lang="en-IE" sz="1800" dirty="0">
                <a:solidFill>
                  <a:srgbClr val="555555"/>
                </a:solidFill>
                <a:latin typeface="UbuntuMono-Regular"/>
              </a:rPr>
              <a:t>{</a:t>
            </a:r>
          </a:p>
          <a:p>
            <a:r>
              <a:rPr lang="en-IE" sz="1800" b="1" dirty="0">
                <a:solidFill>
                  <a:srgbClr val="00669A"/>
                </a:solidFill>
                <a:latin typeface="UbuntuMono-Bold"/>
              </a:rPr>
              <a:t>public static </a:t>
            </a:r>
            <a:r>
              <a:rPr lang="en-IE" sz="1800" b="1" dirty="0">
                <a:solidFill>
                  <a:srgbClr val="007789"/>
                </a:solidFill>
                <a:latin typeface="UbuntuMono-Bold"/>
              </a:rPr>
              <a:t>void </a:t>
            </a:r>
            <a:r>
              <a:rPr lang="en-IE" sz="1800" dirty="0">
                <a:solidFill>
                  <a:srgbClr val="CD00FF"/>
                </a:solidFill>
                <a:latin typeface="UbuntuMono-Regular"/>
              </a:rPr>
              <a:t>main </a:t>
            </a:r>
            <a:r>
              <a:rPr lang="en-IE" sz="1800" dirty="0">
                <a:solidFill>
                  <a:srgbClr val="555555"/>
                </a:solidFill>
                <a:latin typeface="UbuntuMono-Regular"/>
              </a:rPr>
              <a:t>(</a:t>
            </a:r>
            <a:r>
              <a:rPr lang="en-IE" sz="1800" dirty="0">
                <a:solidFill>
                  <a:srgbClr val="000089"/>
                </a:solidFill>
                <a:latin typeface="UbuntuMono-Regular"/>
              </a:rPr>
              <a:t>String</a:t>
            </a:r>
            <a:r>
              <a:rPr lang="en-IE" sz="1800" dirty="0">
                <a:solidFill>
                  <a:srgbClr val="555555"/>
                </a:solidFill>
                <a:latin typeface="UbuntuMono-Regular"/>
              </a:rPr>
              <a:t>[] </a:t>
            </a:r>
            <a:r>
              <a:rPr lang="en-IE" sz="1800" dirty="0" err="1">
                <a:solidFill>
                  <a:srgbClr val="000089"/>
                </a:solidFill>
                <a:latin typeface="UbuntuMono-Regular"/>
              </a:rPr>
              <a:t>args</a:t>
            </a:r>
            <a:r>
              <a:rPr lang="en-IE" sz="1800" dirty="0">
                <a:solidFill>
                  <a:srgbClr val="555555"/>
                </a:solidFill>
                <a:latin typeface="UbuntuMono-Regular"/>
              </a:rPr>
              <a:t>) {</a:t>
            </a:r>
          </a:p>
          <a:p>
            <a:r>
              <a:rPr lang="en-IE" sz="1800" b="1" dirty="0">
                <a:solidFill>
                  <a:srgbClr val="00669A"/>
                </a:solidFill>
                <a:latin typeface="UbuntuMono-Bold"/>
              </a:rPr>
              <a:t>if </a:t>
            </a:r>
            <a:r>
              <a:rPr lang="en-IE" sz="1800" dirty="0">
                <a:solidFill>
                  <a:srgbClr val="555555"/>
                </a:solidFill>
                <a:latin typeface="UbuntuMono-Regular"/>
              </a:rPr>
              <a:t>(</a:t>
            </a:r>
            <a:r>
              <a:rPr lang="en-IE" sz="1800" dirty="0" err="1">
                <a:solidFill>
                  <a:srgbClr val="000089"/>
                </a:solidFill>
                <a:latin typeface="UbuntuMono-Regular"/>
              </a:rPr>
              <a:t>args</a:t>
            </a:r>
            <a:r>
              <a:rPr lang="en-IE" sz="1800" dirty="0" err="1">
                <a:solidFill>
                  <a:srgbClr val="555555"/>
                </a:solidFill>
                <a:latin typeface="UbuntuMono-Regular"/>
              </a:rPr>
              <a:t>.</a:t>
            </a:r>
            <a:r>
              <a:rPr lang="en-IE" sz="1800" dirty="0" err="1">
                <a:solidFill>
                  <a:srgbClr val="33009A"/>
                </a:solidFill>
                <a:latin typeface="UbuntuMono-Regular"/>
              </a:rPr>
              <a:t>length</a:t>
            </a:r>
            <a:r>
              <a:rPr lang="en-IE" sz="1800" dirty="0">
                <a:solidFill>
                  <a:srgbClr val="33009A"/>
                </a:solidFill>
                <a:latin typeface="UbuntuMono-Regular"/>
              </a:rPr>
              <a:t> </a:t>
            </a:r>
            <a:r>
              <a:rPr lang="en-IE" sz="1800" dirty="0">
                <a:solidFill>
                  <a:srgbClr val="555555"/>
                </a:solidFill>
                <a:latin typeface="UbuntuMono-Regular"/>
              </a:rPr>
              <a:t>&gt; </a:t>
            </a:r>
            <a:r>
              <a:rPr lang="en-IE" sz="1800" dirty="0">
                <a:solidFill>
                  <a:srgbClr val="FF6600"/>
                </a:solidFill>
                <a:latin typeface="UbuntuMono-Regular"/>
              </a:rPr>
              <a:t>0</a:t>
            </a:r>
            <a:r>
              <a:rPr lang="en-IE" sz="1800" dirty="0">
                <a:solidFill>
                  <a:srgbClr val="555555"/>
                </a:solidFill>
                <a:latin typeface="UbuntuMono-Regular"/>
              </a:rPr>
              <a:t>) {</a:t>
            </a:r>
          </a:p>
          <a:p>
            <a:r>
              <a:rPr lang="en-IE" sz="1800" i="1" dirty="0">
                <a:solidFill>
                  <a:srgbClr val="35586C"/>
                </a:solidFill>
                <a:latin typeface="UbuntuMono-Italic"/>
              </a:rPr>
              <a:t>// Open the URL for reading</a:t>
            </a:r>
          </a:p>
          <a:p>
            <a:r>
              <a:rPr lang="en-IE" sz="1800" b="1" dirty="0">
                <a:solidFill>
                  <a:srgbClr val="00669A"/>
                </a:solidFill>
                <a:latin typeface="UbuntuMono-Bold"/>
              </a:rPr>
              <a:t>try </a:t>
            </a:r>
            <a:r>
              <a:rPr lang="en-IE" sz="1800" dirty="0">
                <a:solidFill>
                  <a:srgbClr val="555555"/>
                </a:solidFill>
                <a:latin typeface="UbuntuMono-Regular"/>
              </a:rPr>
              <a:t>{</a:t>
            </a:r>
          </a:p>
          <a:p>
            <a:r>
              <a:rPr lang="en-IE" sz="1800" dirty="0">
                <a:solidFill>
                  <a:srgbClr val="000089"/>
                </a:solidFill>
                <a:latin typeface="UbuntuMono-Regular"/>
              </a:rPr>
              <a:t>URL u </a:t>
            </a:r>
            <a:r>
              <a:rPr lang="en-IE" sz="1800" dirty="0">
                <a:solidFill>
                  <a:srgbClr val="555555"/>
                </a:solidFill>
                <a:latin typeface="UbuntuMono-Regular"/>
              </a:rPr>
              <a:t>= </a:t>
            </a:r>
            <a:r>
              <a:rPr lang="en-IE" sz="1800" b="1" dirty="0">
                <a:solidFill>
                  <a:srgbClr val="00669A"/>
                </a:solidFill>
                <a:latin typeface="UbuntuMono-Bold"/>
              </a:rPr>
              <a:t>new </a:t>
            </a:r>
            <a:r>
              <a:rPr lang="en-IE" sz="1800" dirty="0">
                <a:solidFill>
                  <a:srgbClr val="000089"/>
                </a:solidFill>
                <a:latin typeface="UbuntuMono-Regular"/>
              </a:rPr>
              <a:t>URL</a:t>
            </a:r>
            <a:r>
              <a:rPr lang="en-IE" sz="1800" dirty="0">
                <a:solidFill>
                  <a:srgbClr val="555555"/>
                </a:solidFill>
                <a:latin typeface="UbuntuMono-Regular"/>
              </a:rPr>
              <a:t>(</a:t>
            </a:r>
            <a:r>
              <a:rPr lang="en-IE" sz="1800" dirty="0" err="1">
                <a:solidFill>
                  <a:srgbClr val="000089"/>
                </a:solidFill>
                <a:latin typeface="UbuntuMono-Regular"/>
              </a:rPr>
              <a:t>args</a:t>
            </a:r>
            <a:r>
              <a:rPr lang="en-IE" sz="1800" dirty="0">
                <a:solidFill>
                  <a:srgbClr val="555555"/>
                </a:solidFill>
                <a:latin typeface="UbuntuMono-Regular"/>
              </a:rPr>
              <a:t>[</a:t>
            </a:r>
            <a:r>
              <a:rPr lang="en-IE" sz="1800" dirty="0">
                <a:solidFill>
                  <a:srgbClr val="FF6600"/>
                </a:solidFill>
                <a:latin typeface="UbuntuMono-Regular"/>
              </a:rPr>
              <a:t>0</a:t>
            </a:r>
            <a:r>
              <a:rPr lang="en-IE" sz="1800" dirty="0">
                <a:solidFill>
                  <a:srgbClr val="555555"/>
                </a:solidFill>
                <a:latin typeface="UbuntuMono-Regular"/>
              </a:rPr>
              <a:t>]);</a:t>
            </a:r>
          </a:p>
          <a:p>
            <a:r>
              <a:rPr lang="en-IE" sz="1800" dirty="0">
                <a:solidFill>
                  <a:srgbClr val="000089"/>
                </a:solidFill>
                <a:latin typeface="UbuntuMono-Regular"/>
              </a:rPr>
              <a:t>Object o </a:t>
            </a:r>
            <a:r>
              <a:rPr lang="en-IE" sz="1800" dirty="0">
                <a:solidFill>
                  <a:srgbClr val="555555"/>
                </a:solidFill>
                <a:latin typeface="UbuntuMono-Regular"/>
              </a:rPr>
              <a:t>= </a:t>
            </a:r>
            <a:r>
              <a:rPr lang="en-IE" sz="1800" dirty="0" err="1">
                <a:solidFill>
                  <a:srgbClr val="000089"/>
                </a:solidFill>
                <a:latin typeface="UbuntuMono-Regular"/>
              </a:rPr>
              <a:t>u</a:t>
            </a:r>
            <a:r>
              <a:rPr lang="en-IE" sz="1800" dirty="0" err="1">
                <a:solidFill>
                  <a:srgbClr val="555555"/>
                </a:solidFill>
                <a:latin typeface="UbuntuMono-Regular"/>
              </a:rPr>
              <a:t>.</a:t>
            </a:r>
            <a:r>
              <a:rPr lang="en-IE" sz="1800" dirty="0" err="1">
                <a:solidFill>
                  <a:srgbClr val="33009A"/>
                </a:solidFill>
                <a:latin typeface="UbuntuMono-Regular"/>
              </a:rPr>
              <a:t>getContent</a:t>
            </a:r>
            <a:r>
              <a:rPr lang="en-IE" sz="1800" dirty="0">
                <a:solidFill>
                  <a:srgbClr val="555555"/>
                </a:solidFill>
                <a:latin typeface="UbuntuMono-Regular"/>
              </a:rPr>
              <a:t>();</a:t>
            </a:r>
          </a:p>
          <a:p>
            <a:r>
              <a:rPr lang="en-IE" sz="1800" dirty="0" err="1">
                <a:solidFill>
                  <a:srgbClr val="000089"/>
                </a:solidFill>
                <a:latin typeface="UbuntuMono-Regular"/>
              </a:rPr>
              <a:t>System</a:t>
            </a:r>
            <a:r>
              <a:rPr lang="en-IE" sz="1800" dirty="0" err="1">
                <a:solidFill>
                  <a:srgbClr val="555555"/>
                </a:solidFill>
                <a:latin typeface="UbuntuMono-Regular"/>
              </a:rPr>
              <a:t>.</a:t>
            </a:r>
            <a:r>
              <a:rPr lang="en-IE" sz="1800" dirty="0" err="1">
                <a:solidFill>
                  <a:srgbClr val="33009A"/>
                </a:solidFill>
                <a:latin typeface="UbuntuMono-Regular"/>
              </a:rPr>
              <a:t>out</a:t>
            </a:r>
            <a:r>
              <a:rPr lang="en-IE" sz="1800" dirty="0" err="1">
                <a:solidFill>
                  <a:srgbClr val="555555"/>
                </a:solidFill>
                <a:latin typeface="UbuntuMono-Regular"/>
              </a:rPr>
              <a:t>.</a:t>
            </a:r>
            <a:r>
              <a:rPr lang="en-IE" sz="1800" dirty="0" err="1">
                <a:solidFill>
                  <a:srgbClr val="33009A"/>
                </a:solidFill>
                <a:latin typeface="UbuntuMono-Regular"/>
              </a:rPr>
              <a:t>println</a:t>
            </a:r>
            <a:r>
              <a:rPr lang="en-IE" sz="1800" dirty="0">
                <a:solidFill>
                  <a:srgbClr val="555555"/>
                </a:solidFill>
                <a:latin typeface="UbuntuMono-Regular"/>
              </a:rPr>
              <a:t>(</a:t>
            </a:r>
            <a:r>
              <a:rPr lang="en-IE" sz="1800" dirty="0">
                <a:solidFill>
                  <a:srgbClr val="CD3300"/>
                </a:solidFill>
                <a:latin typeface="UbuntuMono-Regular"/>
              </a:rPr>
              <a:t>"I got a " </a:t>
            </a:r>
            <a:r>
              <a:rPr lang="en-IE" sz="1800" dirty="0">
                <a:solidFill>
                  <a:srgbClr val="555555"/>
                </a:solidFill>
                <a:latin typeface="UbuntuMono-Regular"/>
              </a:rPr>
              <a:t>+ </a:t>
            </a:r>
            <a:r>
              <a:rPr lang="en-IE" sz="1800" dirty="0" err="1">
                <a:solidFill>
                  <a:srgbClr val="000089"/>
                </a:solidFill>
                <a:latin typeface="UbuntuMono-Regular"/>
              </a:rPr>
              <a:t>o</a:t>
            </a:r>
            <a:r>
              <a:rPr lang="en-IE" sz="1800" dirty="0" err="1">
                <a:solidFill>
                  <a:srgbClr val="555555"/>
                </a:solidFill>
                <a:latin typeface="UbuntuMono-Regular"/>
              </a:rPr>
              <a:t>.</a:t>
            </a:r>
            <a:r>
              <a:rPr lang="en-IE" sz="1800" dirty="0" err="1">
                <a:solidFill>
                  <a:srgbClr val="33009A"/>
                </a:solidFill>
                <a:latin typeface="UbuntuMono-Regular"/>
              </a:rPr>
              <a:t>getClass</a:t>
            </a:r>
            <a:r>
              <a:rPr lang="en-IE" sz="1800" dirty="0">
                <a:solidFill>
                  <a:srgbClr val="555555"/>
                </a:solidFill>
                <a:latin typeface="UbuntuMono-Regular"/>
              </a:rPr>
              <a:t>().</a:t>
            </a:r>
            <a:r>
              <a:rPr lang="en-IE" sz="1800" dirty="0" err="1">
                <a:solidFill>
                  <a:srgbClr val="33009A"/>
                </a:solidFill>
                <a:latin typeface="UbuntuMono-Regular"/>
              </a:rPr>
              <a:t>getName</a:t>
            </a:r>
            <a:r>
              <a:rPr lang="en-IE" sz="1800" dirty="0">
                <a:solidFill>
                  <a:srgbClr val="555555"/>
                </a:solidFill>
                <a:latin typeface="UbuntuMono-Regular"/>
              </a:rPr>
              <a:t>());</a:t>
            </a:r>
          </a:p>
          <a:p>
            <a:r>
              <a:rPr lang="en-IE" sz="1800" dirty="0">
                <a:solidFill>
                  <a:srgbClr val="555555"/>
                </a:solidFill>
                <a:latin typeface="UbuntuMono-Regular"/>
              </a:rPr>
              <a:t>} </a:t>
            </a:r>
            <a:r>
              <a:rPr lang="en-IE" sz="1800" b="1" dirty="0">
                <a:solidFill>
                  <a:srgbClr val="00669A"/>
                </a:solidFill>
                <a:latin typeface="UbuntuMono-Bold"/>
              </a:rPr>
              <a:t>catch </a:t>
            </a:r>
            <a:r>
              <a:rPr lang="en-IE" sz="1800" dirty="0">
                <a:solidFill>
                  <a:srgbClr val="555555"/>
                </a:solidFill>
                <a:latin typeface="UbuntuMono-Regular"/>
              </a:rPr>
              <a:t>(</a:t>
            </a:r>
            <a:r>
              <a:rPr lang="en-IE" sz="1800" dirty="0" err="1">
                <a:solidFill>
                  <a:srgbClr val="000089"/>
                </a:solidFill>
                <a:latin typeface="UbuntuMono-Regular"/>
              </a:rPr>
              <a:t>MalformedURLException</a:t>
            </a:r>
            <a:r>
              <a:rPr lang="en-IE" sz="1800" dirty="0">
                <a:solidFill>
                  <a:srgbClr val="000089"/>
                </a:solidFill>
                <a:latin typeface="UbuntuMono-Regular"/>
              </a:rPr>
              <a:t> ex</a:t>
            </a:r>
            <a:r>
              <a:rPr lang="en-IE" sz="1800" dirty="0">
                <a:solidFill>
                  <a:srgbClr val="555555"/>
                </a:solidFill>
                <a:latin typeface="UbuntuMono-Regular"/>
              </a:rPr>
              <a:t>) {</a:t>
            </a:r>
          </a:p>
          <a:p>
            <a:r>
              <a:rPr lang="en-IE" sz="1800" dirty="0" err="1">
                <a:solidFill>
                  <a:srgbClr val="000089"/>
                </a:solidFill>
                <a:latin typeface="UbuntuMono-Regular"/>
              </a:rPr>
              <a:t>System</a:t>
            </a:r>
            <a:r>
              <a:rPr lang="en-IE" sz="1800" dirty="0" err="1">
                <a:solidFill>
                  <a:srgbClr val="555555"/>
                </a:solidFill>
                <a:latin typeface="UbuntuMono-Regular"/>
              </a:rPr>
              <a:t>.</a:t>
            </a:r>
            <a:r>
              <a:rPr lang="en-IE" sz="1800" dirty="0" err="1">
                <a:solidFill>
                  <a:srgbClr val="33009A"/>
                </a:solidFill>
                <a:latin typeface="UbuntuMono-Regular"/>
              </a:rPr>
              <a:t>err</a:t>
            </a:r>
            <a:r>
              <a:rPr lang="en-IE" sz="1800" dirty="0" err="1">
                <a:solidFill>
                  <a:srgbClr val="555555"/>
                </a:solidFill>
                <a:latin typeface="UbuntuMono-Regular"/>
              </a:rPr>
              <a:t>.</a:t>
            </a:r>
            <a:r>
              <a:rPr lang="en-IE" sz="1800" dirty="0" err="1">
                <a:solidFill>
                  <a:srgbClr val="33009A"/>
                </a:solidFill>
                <a:latin typeface="UbuntuMono-Regular"/>
              </a:rPr>
              <a:t>println</a:t>
            </a:r>
            <a:r>
              <a:rPr lang="en-IE" sz="1800" dirty="0">
                <a:solidFill>
                  <a:srgbClr val="555555"/>
                </a:solidFill>
                <a:latin typeface="UbuntuMono-Regular"/>
              </a:rPr>
              <a:t>(</a:t>
            </a:r>
            <a:r>
              <a:rPr lang="en-IE" sz="1800" dirty="0" err="1">
                <a:solidFill>
                  <a:srgbClr val="000089"/>
                </a:solidFill>
                <a:latin typeface="UbuntuMono-Regular"/>
              </a:rPr>
              <a:t>args</a:t>
            </a:r>
            <a:r>
              <a:rPr lang="en-IE" sz="1800" dirty="0">
                <a:solidFill>
                  <a:srgbClr val="555555"/>
                </a:solidFill>
                <a:latin typeface="UbuntuMono-Regular"/>
              </a:rPr>
              <a:t>[</a:t>
            </a:r>
            <a:r>
              <a:rPr lang="en-IE" sz="1800" dirty="0">
                <a:solidFill>
                  <a:srgbClr val="FF6600"/>
                </a:solidFill>
                <a:latin typeface="UbuntuMono-Regular"/>
              </a:rPr>
              <a:t>0</a:t>
            </a:r>
            <a:r>
              <a:rPr lang="en-IE" sz="1800" dirty="0">
                <a:solidFill>
                  <a:srgbClr val="555555"/>
                </a:solidFill>
                <a:latin typeface="UbuntuMono-Regular"/>
              </a:rPr>
              <a:t>] + </a:t>
            </a:r>
            <a:r>
              <a:rPr lang="en-IE" sz="1800" dirty="0">
                <a:solidFill>
                  <a:srgbClr val="CD3300"/>
                </a:solidFill>
                <a:latin typeface="UbuntuMono-Regular"/>
              </a:rPr>
              <a:t>" is not a </a:t>
            </a:r>
            <a:r>
              <a:rPr lang="en-IE" sz="1800" dirty="0" err="1">
                <a:solidFill>
                  <a:srgbClr val="CD3300"/>
                </a:solidFill>
                <a:latin typeface="UbuntuMono-Regular"/>
              </a:rPr>
              <a:t>parseable</a:t>
            </a:r>
            <a:r>
              <a:rPr lang="en-IE" sz="1800" dirty="0">
                <a:solidFill>
                  <a:srgbClr val="CD3300"/>
                </a:solidFill>
                <a:latin typeface="UbuntuMono-Regular"/>
              </a:rPr>
              <a:t> URL"</a:t>
            </a:r>
            <a:r>
              <a:rPr lang="en-IE" sz="1800" dirty="0">
                <a:solidFill>
                  <a:srgbClr val="555555"/>
                </a:solidFill>
                <a:latin typeface="UbuntuMono-Regular"/>
              </a:rPr>
              <a:t>);</a:t>
            </a:r>
          </a:p>
          <a:p>
            <a:r>
              <a:rPr lang="en-IE" sz="1800" dirty="0">
                <a:solidFill>
                  <a:srgbClr val="555555"/>
                </a:solidFill>
                <a:latin typeface="UbuntuMono-Regular"/>
              </a:rPr>
              <a:t>} </a:t>
            </a:r>
            <a:r>
              <a:rPr lang="en-IE" sz="1800" b="1" dirty="0">
                <a:solidFill>
                  <a:srgbClr val="00669A"/>
                </a:solidFill>
                <a:latin typeface="UbuntuMono-Bold"/>
              </a:rPr>
              <a:t>catch </a:t>
            </a:r>
            <a:r>
              <a:rPr lang="en-IE" sz="1800" dirty="0">
                <a:solidFill>
                  <a:srgbClr val="555555"/>
                </a:solidFill>
                <a:latin typeface="UbuntuMono-Regular"/>
              </a:rPr>
              <a:t>(</a:t>
            </a:r>
            <a:r>
              <a:rPr lang="en-IE" sz="1800" dirty="0" err="1">
                <a:solidFill>
                  <a:srgbClr val="000089"/>
                </a:solidFill>
                <a:latin typeface="UbuntuMono-Regular"/>
              </a:rPr>
              <a:t>IOException</a:t>
            </a:r>
            <a:r>
              <a:rPr lang="en-IE" sz="1800" dirty="0">
                <a:solidFill>
                  <a:srgbClr val="000089"/>
                </a:solidFill>
                <a:latin typeface="UbuntuMono-Regular"/>
              </a:rPr>
              <a:t> ex</a:t>
            </a:r>
            <a:r>
              <a:rPr lang="en-IE" sz="1800" dirty="0">
                <a:solidFill>
                  <a:srgbClr val="555555"/>
                </a:solidFill>
                <a:latin typeface="UbuntuMono-Regular"/>
              </a:rPr>
              <a:t>) {</a:t>
            </a:r>
          </a:p>
          <a:p>
            <a:r>
              <a:rPr lang="en-IE" sz="1800" dirty="0" err="1">
                <a:solidFill>
                  <a:srgbClr val="000089"/>
                </a:solidFill>
                <a:latin typeface="UbuntuMono-Regular"/>
              </a:rPr>
              <a:t>System</a:t>
            </a:r>
            <a:r>
              <a:rPr lang="en-IE" sz="1800" dirty="0" err="1">
                <a:solidFill>
                  <a:srgbClr val="555555"/>
                </a:solidFill>
                <a:latin typeface="UbuntuMono-Regular"/>
              </a:rPr>
              <a:t>.</a:t>
            </a:r>
            <a:r>
              <a:rPr lang="en-IE" sz="1800" dirty="0" err="1">
                <a:solidFill>
                  <a:srgbClr val="33009A"/>
                </a:solidFill>
                <a:latin typeface="UbuntuMono-Regular"/>
              </a:rPr>
              <a:t>err</a:t>
            </a:r>
            <a:r>
              <a:rPr lang="en-IE" sz="1800" dirty="0" err="1">
                <a:solidFill>
                  <a:srgbClr val="555555"/>
                </a:solidFill>
                <a:latin typeface="UbuntuMono-Regular"/>
              </a:rPr>
              <a:t>.</a:t>
            </a:r>
            <a:r>
              <a:rPr lang="en-IE" sz="1800" dirty="0" err="1">
                <a:solidFill>
                  <a:srgbClr val="33009A"/>
                </a:solidFill>
                <a:latin typeface="UbuntuMono-Regular"/>
              </a:rPr>
              <a:t>println</a:t>
            </a:r>
            <a:r>
              <a:rPr lang="en-IE" sz="1800" dirty="0">
                <a:solidFill>
                  <a:srgbClr val="555555"/>
                </a:solidFill>
                <a:latin typeface="UbuntuMono-Regular"/>
              </a:rPr>
              <a:t>(</a:t>
            </a:r>
            <a:r>
              <a:rPr lang="en-IE" sz="1800" dirty="0">
                <a:solidFill>
                  <a:srgbClr val="000089"/>
                </a:solidFill>
                <a:latin typeface="UbuntuMono-Regular"/>
              </a:rPr>
              <a:t>ex</a:t>
            </a:r>
            <a:r>
              <a:rPr lang="en-IE" sz="1800" dirty="0">
                <a:solidFill>
                  <a:srgbClr val="555555"/>
                </a:solidFill>
                <a:latin typeface="UbuntuMono-Regular"/>
              </a:rPr>
              <a:t>);</a:t>
            </a:r>
          </a:p>
          <a:p>
            <a:r>
              <a:rPr lang="en-IE" sz="1800" dirty="0">
                <a:solidFill>
                  <a:srgbClr val="555555"/>
                </a:solidFill>
                <a:latin typeface="UbuntuMono-Regular"/>
              </a:rPr>
              <a:t>}</a:t>
            </a:r>
          </a:p>
          <a:p>
            <a:r>
              <a:rPr lang="en-IE" sz="1800" dirty="0">
                <a:solidFill>
                  <a:srgbClr val="555555"/>
                </a:solidFill>
                <a:latin typeface="UbuntuMono-Regular"/>
              </a:rPr>
              <a:t>}</a:t>
            </a:r>
          </a:p>
          <a:p>
            <a:r>
              <a:rPr lang="en-IE" sz="1800" dirty="0">
                <a:solidFill>
                  <a:srgbClr val="555555"/>
                </a:solidFill>
                <a:latin typeface="UbuntuMono-Regular"/>
              </a:rPr>
              <a:t>}</a:t>
            </a:r>
          </a:p>
          <a:p>
            <a:r>
              <a:rPr lang="en-IE" sz="1800" dirty="0">
                <a:solidFill>
                  <a:srgbClr val="555555"/>
                </a:solidFill>
                <a:latin typeface="UbuntuMono-Regular"/>
              </a:rPr>
              <a:t>}</a:t>
            </a:r>
          </a:p>
        </p:txBody>
      </p:sp>
    </p:spTree>
    <p:extLst>
      <p:ext uri="{BB962C8B-B14F-4D97-AF65-F5344CB8AC3E}">
        <p14:creationId xmlns:p14="http://schemas.microsoft.com/office/powerpoint/2010/main" val="48684782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39762"/>
          </a:xfrm>
        </p:spPr>
        <p:txBody>
          <a:bodyPr>
            <a:noAutofit/>
          </a:bodyPr>
          <a:lstStyle/>
          <a:p>
            <a:r>
              <a:rPr lang="en-IE" sz="2800" i="1" dirty="0"/>
              <a:t>The parts of a URL</a:t>
            </a:r>
            <a:endParaRPr lang="en-IE" sz="2800" b="1" dirty="0"/>
          </a:p>
        </p:txBody>
      </p:sp>
      <p:sp>
        <p:nvSpPr>
          <p:cNvPr id="3" name="Content Placeholder 2"/>
          <p:cNvSpPr>
            <a:spLocks noGrp="1"/>
          </p:cNvSpPr>
          <p:nvPr>
            <p:ph idx="1"/>
          </p:nvPr>
        </p:nvSpPr>
        <p:spPr>
          <a:xfrm>
            <a:off x="0" y="609600"/>
            <a:ext cx="9144000" cy="6248400"/>
          </a:xfrm>
        </p:spPr>
        <p:txBody>
          <a:bodyPr>
            <a:noAutofit/>
          </a:bodyPr>
          <a:lstStyle/>
          <a:p>
            <a:pPr marL="0" indent="0">
              <a:buNone/>
            </a:pPr>
            <a:r>
              <a:rPr lang="en-IE" sz="1200" b="1" dirty="0">
                <a:solidFill>
                  <a:srgbClr val="00669A"/>
                </a:solidFill>
                <a:latin typeface="UbuntuMono-Bold"/>
              </a:rPr>
              <a:t>import </a:t>
            </a:r>
            <a:r>
              <a:rPr lang="en-IE" sz="1200" b="1" dirty="0">
                <a:solidFill>
                  <a:srgbClr val="00CDFF"/>
                </a:solidFill>
                <a:latin typeface="UbuntuMono-Bold"/>
              </a:rPr>
              <a:t>java.net.*</a:t>
            </a:r>
            <a:r>
              <a:rPr lang="en-IE" sz="1200" b="1" dirty="0">
                <a:solidFill>
                  <a:srgbClr val="555555"/>
                </a:solidFill>
                <a:latin typeface="UbuntuMono-Regular"/>
              </a:rPr>
              <a:t>;</a:t>
            </a:r>
          </a:p>
          <a:p>
            <a:pPr marL="0" indent="0">
              <a:buNone/>
            </a:pPr>
            <a:r>
              <a:rPr lang="en-IE" sz="1200" b="1" dirty="0">
                <a:solidFill>
                  <a:srgbClr val="00669A"/>
                </a:solidFill>
                <a:latin typeface="UbuntuMono-Bold"/>
              </a:rPr>
              <a:t>public class </a:t>
            </a:r>
            <a:r>
              <a:rPr lang="en-IE" sz="1200" b="1" dirty="0" err="1">
                <a:solidFill>
                  <a:srgbClr val="00AB89"/>
                </a:solidFill>
                <a:latin typeface="UbuntuMono-Bold"/>
              </a:rPr>
              <a:t>URLSplitter</a:t>
            </a:r>
            <a:r>
              <a:rPr lang="en-IE" sz="1200" b="1" dirty="0">
                <a:solidFill>
                  <a:srgbClr val="00AB89"/>
                </a:solidFill>
                <a:latin typeface="UbuntuMono-Bold"/>
              </a:rPr>
              <a:t> </a:t>
            </a:r>
            <a:r>
              <a:rPr lang="en-IE" sz="1200" b="1" dirty="0">
                <a:solidFill>
                  <a:srgbClr val="555555"/>
                </a:solidFill>
                <a:latin typeface="UbuntuMono-Regular"/>
              </a:rPr>
              <a:t>{</a:t>
            </a:r>
          </a:p>
          <a:p>
            <a:pPr marL="0" indent="0">
              <a:buNone/>
            </a:pPr>
            <a:r>
              <a:rPr lang="en-IE" sz="1200" b="1" dirty="0">
                <a:solidFill>
                  <a:srgbClr val="00669A"/>
                </a:solidFill>
                <a:latin typeface="UbuntuMono-Bold"/>
              </a:rPr>
              <a:t>public static </a:t>
            </a:r>
            <a:r>
              <a:rPr lang="en-IE" sz="1200" b="1" dirty="0">
                <a:solidFill>
                  <a:srgbClr val="007789"/>
                </a:solidFill>
                <a:latin typeface="UbuntuMono-Bold"/>
              </a:rPr>
              <a:t>void </a:t>
            </a:r>
            <a:r>
              <a:rPr lang="en-IE" sz="1200" b="1" dirty="0">
                <a:solidFill>
                  <a:srgbClr val="CD00FF"/>
                </a:solidFill>
                <a:latin typeface="UbuntuMono-Regular"/>
              </a:rPr>
              <a:t>main</a:t>
            </a:r>
            <a:r>
              <a:rPr lang="en-IE" sz="1200" b="1" dirty="0">
                <a:solidFill>
                  <a:srgbClr val="555555"/>
                </a:solidFill>
                <a:latin typeface="UbuntuMono-Regular"/>
              </a:rPr>
              <a:t>(</a:t>
            </a:r>
            <a:r>
              <a:rPr lang="en-IE" sz="1200" b="1" dirty="0">
                <a:solidFill>
                  <a:srgbClr val="000089"/>
                </a:solidFill>
                <a:latin typeface="UbuntuMono-Regular"/>
              </a:rPr>
              <a:t>String </a:t>
            </a:r>
            <a:r>
              <a:rPr lang="en-IE" sz="1200" b="1" dirty="0" err="1">
                <a:solidFill>
                  <a:srgbClr val="000089"/>
                </a:solidFill>
                <a:latin typeface="UbuntuMono-Regular"/>
              </a:rPr>
              <a:t>args</a:t>
            </a:r>
            <a:r>
              <a:rPr lang="en-IE" sz="1200" b="1" dirty="0">
                <a:solidFill>
                  <a:srgbClr val="555555"/>
                </a:solidFill>
                <a:latin typeface="UbuntuMono-Regular"/>
              </a:rPr>
              <a:t>[]) {</a:t>
            </a:r>
          </a:p>
          <a:p>
            <a:pPr marL="0" indent="0">
              <a:buNone/>
            </a:pPr>
            <a:r>
              <a:rPr lang="en-IE" sz="1200" b="1" dirty="0" smtClean="0">
                <a:solidFill>
                  <a:srgbClr val="00669A"/>
                </a:solidFill>
                <a:latin typeface="UbuntuMono-Bold"/>
              </a:rPr>
              <a:t>	for </a:t>
            </a:r>
            <a:r>
              <a:rPr lang="en-IE" sz="1200" b="1" dirty="0">
                <a:solidFill>
                  <a:srgbClr val="555555"/>
                </a:solidFill>
                <a:latin typeface="UbuntuMono-Regular"/>
              </a:rPr>
              <a:t>(</a:t>
            </a:r>
            <a:r>
              <a:rPr lang="en-IE" sz="1200" b="1" dirty="0" err="1">
                <a:solidFill>
                  <a:srgbClr val="007789"/>
                </a:solidFill>
                <a:latin typeface="UbuntuMono-Bold"/>
              </a:rPr>
              <a:t>int</a:t>
            </a:r>
            <a:r>
              <a:rPr lang="en-IE" sz="1200" b="1" dirty="0">
                <a:solidFill>
                  <a:srgbClr val="007789"/>
                </a:solidFill>
                <a:latin typeface="UbuntuMono-Bold"/>
              </a:rPr>
              <a:t> </a:t>
            </a:r>
            <a:r>
              <a:rPr lang="en-IE" sz="1200" b="1" dirty="0" err="1">
                <a:solidFill>
                  <a:srgbClr val="000089"/>
                </a:solidFill>
                <a:latin typeface="UbuntuMono-Regular"/>
              </a:rPr>
              <a:t>i</a:t>
            </a:r>
            <a:r>
              <a:rPr lang="en-IE" sz="1200" b="1" dirty="0">
                <a:solidFill>
                  <a:srgbClr val="000089"/>
                </a:solidFill>
                <a:latin typeface="UbuntuMono-Regular"/>
              </a:rPr>
              <a:t> </a:t>
            </a:r>
            <a:r>
              <a:rPr lang="en-IE" sz="1200" b="1" dirty="0">
                <a:solidFill>
                  <a:srgbClr val="555555"/>
                </a:solidFill>
                <a:latin typeface="UbuntuMono-Regular"/>
              </a:rPr>
              <a:t>= </a:t>
            </a:r>
            <a:r>
              <a:rPr lang="en-IE" sz="1200" b="1" dirty="0">
                <a:solidFill>
                  <a:srgbClr val="FF6600"/>
                </a:solidFill>
                <a:latin typeface="UbuntuMono-Regular"/>
              </a:rPr>
              <a:t>0</a:t>
            </a:r>
            <a:r>
              <a:rPr lang="en-IE" sz="1200" b="1" dirty="0">
                <a:solidFill>
                  <a:srgbClr val="555555"/>
                </a:solidFill>
                <a:latin typeface="UbuntuMono-Regular"/>
              </a:rPr>
              <a:t>; </a:t>
            </a:r>
            <a:r>
              <a:rPr lang="en-IE" sz="1200" b="1" dirty="0" err="1">
                <a:solidFill>
                  <a:srgbClr val="000089"/>
                </a:solidFill>
                <a:latin typeface="UbuntuMono-Regular"/>
              </a:rPr>
              <a:t>i</a:t>
            </a:r>
            <a:r>
              <a:rPr lang="en-IE" sz="1200" b="1" dirty="0">
                <a:solidFill>
                  <a:srgbClr val="000089"/>
                </a:solidFill>
                <a:latin typeface="UbuntuMono-Regular"/>
              </a:rPr>
              <a:t> </a:t>
            </a:r>
            <a:r>
              <a:rPr lang="en-IE" sz="1200" b="1" dirty="0">
                <a:solidFill>
                  <a:srgbClr val="555555"/>
                </a:solidFill>
                <a:latin typeface="UbuntuMono-Regular"/>
              </a:rPr>
              <a:t>&lt; </a:t>
            </a:r>
            <a:r>
              <a:rPr lang="en-IE" sz="1200" b="1" dirty="0" err="1">
                <a:solidFill>
                  <a:srgbClr val="000089"/>
                </a:solidFill>
                <a:latin typeface="UbuntuMono-Regular"/>
              </a:rPr>
              <a:t>args</a:t>
            </a:r>
            <a:r>
              <a:rPr lang="en-IE" sz="1200" b="1" dirty="0" err="1">
                <a:solidFill>
                  <a:srgbClr val="555555"/>
                </a:solidFill>
                <a:latin typeface="UbuntuMono-Regular"/>
              </a:rPr>
              <a:t>.</a:t>
            </a:r>
            <a:r>
              <a:rPr lang="en-IE" sz="1200" b="1" dirty="0" err="1">
                <a:solidFill>
                  <a:srgbClr val="33009A"/>
                </a:solidFill>
                <a:latin typeface="UbuntuMono-Regular"/>
              </a:rPr>
              <a:t>length</a:t>
            </a:r>
            <a:r>
              <a:rPr lang="en-IE" sz="1200" b="1" dirty="0">
                <a:solidFill>
                  <a:srgbClr val="555555"/>
                </a:solidFill>
                <a:latin typeface="UbuntuMono-Regular"/>
              </a:rPr>
              <a:t>; </a:t>
            </a:r>
            <a:r>
              <a:rPr lang="en-IE" sz="1200" b="1" dirty="0" err="1">
                <a:solidFill>
                  <a:srgbClr val="000089"/>
                </a:solidFill>
                <a:latin typeface="UbuntuMono-Regular"/>
              </a:rPr>
              <a:t>i</a:t>
            </a:r>
            <a:r>
              <a:rPr lang="en-IE" sz="1200" b="1" dirty="0">
                <a:solidFill>
                  <a:srgbClr val="555555"/>
                </a:solidFill>
                <a:latin typeface="UbuntuMono-Regular"/>
              </a:rPr>
              <a:t>++) {</a:t>
            </a:r>
          </a:p>
          <a:p>
            <a:pPr marL="0" indent="0">
              <a:buNone/>
            </a:pPr>
            <a:r>
              <a:rPr lang="en-IE" sz="1200" b="1" dirty="0" smtClean="0">
                <a:solidFill>
                  <a:srgbClr val="00669A"/>
                </a:solidFill>
                <a:latin typeface="UbuntuMono-Bold"/>
              </a:rPr>
              <a:t>	try </a:t>
            </a:r>
            <a:r>
              <a:rPr lang="en-IE" sz="1200" b="1" dirty="0">
                <a:solidFill>
                  <a:srgbClr val="555555"/>
                </a:solidFill>
                <a:latin typeface="UbuntuMono-Regular"/>
              </a:rPr>
              <a:t>{</a:t>
            </a:r>
          </a:p>
          <a:p>
            <a:pPr marL="0" indent="0">
              <a:buNone/>
            </a:pPr>
            <a:r>
              <a:rPr lang="en-IE" sz="1200" b="1" dirty="0" smtClean="0">
                <a:solidFill>
                  <a:srgbClr val="000089"/>
                </a:solidFill>
                <a:latin typeface="UbuntuMono-Regular"/>
              </a:rPr>
              <a:t>		URL </a:t>
            </a:r>
            <a:r>
              <a:rPr lang="en-IE" sz="1200" b="1" dirty="0">
                <a:solidFill>
                  <a:srgbClr val="000089"/>
                </a:solidFill>
                <a:latin typeface="UbuntuMono-Regular"/>
              </a:rPr>
              <a:t>u </a:t>
            </a:r>
            <a:r>
              <a:rPr lang="en-IE" sz="1200" b="1" dirty="0">
                <a:solidFill>
                  <a:srgbClr val="555555"/>
                </a:solidFill>
                <a:latin typeface="UbuntuMono-Regular"/>
              </a:rPr>
              <a:t>= </a:t>
            </a:r>
            <a:r>
              <a:rPr lang="en-IE" sz="1200" b="1" dirty="0">
                <a:solidFill>
                  <a:srgbClr val="00669A"/>
                </a:solidFill>
                <a:latin typeface="UbuntuMono-Bold"/>
              </a:rPr>
              <a:t>new </a:t>
            </a:r>
            <a:r>
              <a:rPr lang="en-IE" sz="1200" b="1" dirty="0">
                <a:solidFill>
                  <a:srgbClr val="000089"/>
                </a:solidFill>
                <a:latin typeface="UbuntuMono-Regular"/>
              </a:rPr>
              <a:t>URL</a:t>
            </a:r>
            <a:r>
              <a:rPr lang="en-IE" sz="1200" b="1" dirty="0">
                <a:solidFill>
                  <a:srgbClr val="555555"/>
                </a:solidFill>
                <a:latin typeface="UbuntuMono-Regular"/>
              </a:rPr>
              <a:t>(</a:t>
            </a:r>
            <a:r>
              <a:rPr lang="en-IE" sz="1200" b="1" dirty="0" err="1">
                <a:solidFill>
                  <a:srgbClr val="000089"/>
                </a:solidFill>
                <a:latin typeface="UbuntuMono-Regular"/>
              </a:rPr>
              <a:t>args</a:t>
            </a:r>
            <a:r>
              <a:rPr lang="en-IE" sz="1200" b="1" dirty="0">
                <a:solidFill>
                  <a:srgbClr val="555555"/>
                </a:solidFill>
                <a:latin typeface="UbuntuMono-Regular"/>
              </a:rPr>
              <a:t>[</a:t>
            </a:r>
            <a:r>
              <a:rPr lang="en-IE" sz="1200" b="1" dirty="0" err="1">
                <a:solidFill>
                  <a:srgbClr val="000089"/>
                </a:solidFill>
                <a:latin typeface="UbuntuMono-Regular"/>
              </a:rPr>
              <a:t>i</a:t>
            </a:r>
            <a:r>
              <a:rPr lang="en-IE" sz="1200" b="1" dirty="0">
                <a:solidFill>
                  <a:srgbClr val="555555"/>
                </a:solidFill>
                <a:latin typeface="UbuntuMono-Regular"/>
              </a:rPr>
              <a:t>]);</a:t>
            </a:r>
          </a:p>
          <a:p>
            <a:pPr marL="0" indent="0">
              <a:buNone/>
            </a:pPr>
            <a:r>
              <a:rPr lang="en-IE" sz="1200" b="1" dirty="0" smtClean="0">
                <a:solidFill>
                  <a:srgbClr val="000089"/>
                </a:solidFill>
                <a:latin typeface="UbuntuMono-Regular"/>
              </a:rPr>
              <a:t>		</a:t>
            </a:r>
            <a:r>
              <a:rPr lang="en-IE" sz="1200" b="1" dirty="0" err="1" smtClean="0">
                <a:solidFill>
                  <a:srgbClr val="000089"/>
                </a:solidFill>
                <a:latin typeface="UbuntuMono-Regular"/>
              </a:rPr>
              <a:t>System</a:t>
            </a:r>
            <a:r>
              <a:rPr lang="en-IE" sz="1200" b="1" dirty="0" err="1" smtClean="0">
                <a:solidFill>
                  <a:srgbClr val="555555"/>
                </a:solidFill>
                <a:latin typeface="UbuntuMono-Regular"/>
              </a:rPr>
              <a:t>.</a:t>
            </a:r>
            <a:r>
              <a:rPr lang="en-IE" sz="1200" b="1" dirty="0" err="1" smtClean="0">
                <a:solidFill>
                  <a:srgbClr val="33009A"/>
                </a:solidFill>
                <a:latin typeface="UbuntuMono-Regular"/>
              </a:rPr>
              <a:t>out</a:t>
            </a:r>
            <a:r>
              <a:rPr lang="en-IE" sz="1200" b="1" dirty="0" err="1" smtClean="0">
                <a:solidFill>
                  <a:srgbClr val="555555"/>
                </a:solidFill>
                <a:latin typeface="UbuntuMono-Regular"/>
              </a:rPr>
              <a:t>.</a:t>
            </a:r>
            <a:r>
              <a:rPr lang="en-IE" sz="1200" b="1" dirty="0" err="1" smtClean="0">
                <a:solidFill>
                  <a:srgbClr val="33009A"/>
                </a:solidFill>
                <a:latin typeface="UbuntuMono-Regular"/>
              </a:rPr>
              <a:t>println</a:t>
            </a:r>
            <a:r>
              <a:rPr lang="en-IE" sz="1200" b="1" dirty="0">
                <a:solidFill>
                  <a:srgbClr val="555555"/>
                </a:solidFill>
                <a:latin typeface="UbuntuMono-Regular"/>
              </a:rPr>
              <a:t>(</a:t>
            </a:r>
            <a:r>
              <a:rPr lang="en-IE" sz="1200" b="1" dirty="0">
                <a:solidFill>
                  <a:srgbClr val="CD3300"/>
                </a:solidFill>
                <a:latin typeface="UbuntuMono-Regular"/>
              </a:rPr>
              <a:t>"The URL is " </a:t>
            </a:r>
            <a:r>
              <a:rPr lang="en-IE" sz="1200" b="1" dirty="0">
                <a:solidFill>
                  <a:srgbClr val="555555"/>
                </a:solidFill>
                <a:latin typeface="UbuntuMono-Regular"/>
              </a:rPr>
              <a:t>+ </a:t>
            </a:r>
            <a:r>
              <a:rPr lang="en-IE" sz="1200" b="1" dirty="0">
                <a:solidFill>
                  <a:srgbClr val="000089"/>
                </a:solidFill>
                <a:latin typeface="UbuntuMono-Regular"/>
              </a:rPr>
              <a:t>u</a:t>
            </a:r>
            <a:r>
              <a:rPr lang="en-IE" sz="1200" b="1" dirty="0">
                <a:solidFill>
                  <a:srgbClr val="555555"/>
                </a:solidFill>
                <a:latin typeface="UbuntuMono-Regular"/>
              </a:rPr>
              <a:t>);</a:t>
            </a:r>
          </a:p>
          <a:p>
            <a:pPr marL="0" indent="0">
              <a:buNone/>
            </a:pPr>
            <a:r>
              <a:rPr lang="en-IE" sz="1200" b="1" dirty="0" smtClean="0">
                <a:solidFill>
                  <a:srgbClr val="000089"/>
                </a:solidFill>
                <a:latin typeface="UbuntuMono-Regular"/>
              </a:rPr>
              <a:t>		</a:t>
            </a:r>
            <a:r>
              <a:rPr lang="en-IE" sz="1200" b="1" dirty="0" err="1" smtClean="0">
                <a:solidFill>
                  <a:srgbClr val="000089"/>
                </a:solidFill>
                <a:latin typeface="UbuntuMono-Regular"/>
              </a:rPr>
              <a:t>System</a:t>
            </a:r>
            <a:r>
              <a:rPr lang="en-IE" sz="1200" b="1" dirty="0" err="1" smtClean="0">
                <a:solidFill>
                  <a:srgbClr val="555555"/>
                </a:solidFill>
                <a:latin typeface="UbuntuMono-Regular"/>
              </a:rPr>
              <a:t>.</a:t>
            </a:r>
            <a:r>
              <a:rPr lang="en-IE" sz="1200" b="1" dirty="0" err="1" smtClean="0">
                <a:solidFill>
                  <a:srgbClr val="33009A"/>
                </a:solidFill>
                <a:latin typeface="UbuntuMono-Regular"/>
              </a:rPr>
              <a:t>out</a:t>
            </a:r>
            <a:r>
              <a:rPr lang="en-IE" sz="1200" b="1" dirty="0" err="1" smtClean="0">
                <a:solidFill>
                  <a:srgbClr val="555555"/>
                </a:solidFill>
                <a:latin typeface="UbuntuMono-Regular"/>
              </a:rPr>
              <a:t>.</a:t>
            </a:r>
            <a:r>
              <a:rPr lang="en-IE" sz="1200" b="1" dirty="0" err="1" smtClean="0">
                <a:solidFill>
                  <a:srgbClr val="33009A"/>
                </a:solidFill>
                <a:latin typeface="UbuntuMono-Regular"/>
              </a:rPr>
              <a:t>println</a:t>
            </a:r>
            <a:r>
              <a:rPr lang="en-IE" sz="1200" b="1" dirty="0">
                <a:solidFill>
                  <a:srgbClr val="555555"/>
                </a:solidFill>
                <a:latin typeface="UbuntuMono-Regular"/>
              </a:rPr>
              <a:t>(</a:t>
            </a:r>
            <a:r>
              <a:rPr lang="en-IE" sz="1200" b="1" dirty="0">
                <a:solidFill>
                  <a:srgbClr val="CD3300"/>
                </a:solidFill>
                <a:latin typeface="UbuntuMono-Regular"/>
              </a:rPr>
              <a:t>"The scheme is " </a:t>
            </a:r>
            <a:r>
              <a:rPr lang="en-IE" sz="1200" b="1" dirty="0">
                <a:solidFill>
                  <a:srgbClr val="555555"/>
                </a:solidFill>
                <a:latin typeface="UbuntuMono-Regular"/>
              </a:rPr>
              <a:t>+ </a:t>
            </a:r>
            <a:r>
              <a:rPr lang="en-IE" sz="1200" b="1" dirty="0" err="1">
                <a:solidFill>
                  <a:srgbClr val="000089"/>
                </a:solidFill>
                <a:latin typeface="UbuntuMono-Regular"/>
              </a:rPr>
              <a:t>u</a:t>
            </a:r>
            <a:r>
              <a:rPr lang="en-IE" sz="1200" b="1" dirty="0" err="1">
                <a:solidFill>
                  <a:srgbClr val="555555"/>
                </a:solidFill>
                <a:latin typeface="UbuntuMono-Regular"/>
              </a:rPr>
              <a:t>.</a:t>
            </a:r>
            <a:r>
              <a:rPr lang="en-IE" sz="1200" b="1" dirty="0" err="1">
                <a:solidFill>
                  <a:srgbClr val="33009A"/>
                </a:solidFill>
                <a:latin typeface="UbuntuMono-Regular"/>
              </a:rPr>
              <a:t>getProtocol</a:t>
            </a:r>
            <a:r>
              <a:rPr lang="en-IE" sz="1200" b="1" dirty="0">
                <a:solidFill>
                  <a:srgbClr val="555555"/>
                </a:solidFill>
                <a:latin typeface="UbuntuMono-Regular"/>
              </a:rPr>
              <a:t>());</a:t>
            </a:r>
          </a:p>
          <a:p>
            <a:pPr marL="0" indent="0">
              <a:buNone/>
            </a:pPr>
            <a:r>
              <a:rPr lang="en-IE" sz="1200" b="1" dirty="0" smtClean="0">
                <a:solidFill>
                  <a:srgbClr val="000089"/>
                </a:solidFill>
                <a:latin typeface="UbuntuMono-Regular"/>
              </a:rPr>
              <a:t>		</a:t>
            </a:r>
            <a:r>
              <a:rPr lang="en-IE" sz="1200" b="1" dirty="0" err="1" smtClean="0">
                <a:solidFill>
                  <a:srgbClr val="000089"/>
                </a:solidFill>
                <a:latin typeface="UbuntuMono-Regular"/>
              </a:rPr>
              <a:t>System</a:t>
            </a:r>
            <a:r>
              <a:rPr lang="en-IE" sz="1200" b="1" dirty="0" err="1" smtClean="0">
                <a:solidFill>
                  <a:srgbClr val="555555"/>
                </a:solidFill>
                <a:latin typeface="UbuntuMono-Regular"/>
              </a:rPr>
              <a:t>.</a:t>
            </a:r>
            <a:r>
              <a:rPr lang="en-IE" sz="1200" b="1" dirty="0" err="1" smtClean="0">
                <a:solidFill>
                  <a:srgbClr val="33009A"/>
                </a:solidFill>
                <a:latin typeface="UbuntuMono-Regular"/>
              </a:rPr>
              <a:t>out</a:t>
            </a:r>
            <a:r>
              <a:rPr lang="en-IE" sz="1200" b="1" dirty="0" err="1" smtClean="0">
                <a:solidFill>
                  <a:srgbClr val="555555"/>
                </a:solidFill>
                <a:latin typeface="UbuntuMono-Regular"/>
              </a:rPr>
              <a:t>.</a:t>
            </a:r>
            <a:r>
              <a:rPr lang="en-IE" sz="1200" b="1" dirty="0" err="1" smtClean="0">
                <a:solidFill>
                  <a:srgbClr val="33009A"/>
                </a:solidFill>
                <a:latin typeface="UbuntuMono-Regular"/>
              </a:rPr>
              <a:t>println</a:t>
            </a:r>
            <a:r>
              <a:rPr lang="en-IE" sz="1200" b="1" dirty="0">
                <a:solidFill>
                  <a:srgbClr val="555555"/>
                </a:solidFill>
                <a:latin typeface="UbuntuMono-Regular"/>
              </a:rPr>
              <a:t>(</a:t>
            </a:r>
            <a:r>
              <a:rPr lang="en-IE" sz="1200" b="1" dirty="0">
                <a:solidFill>
                  <a:srgbClr val="CD3300"/>
                </a:solidFill>
                <a:latin typeface="UbuntuMono-Regular"/>
              </a:rPr>
              <a:t>"The user info is " </a:t>
            </a:r>
            <a:r>
              <a:rPr lang="en-IE" sz="1200" b="1" dirty="0">
                <a:solidFill>
                  <a:srgbClr val="555555"/>
                </a:solidFill>
                <a:latin typeface="UbuntuMono-Regular"/>
              </a:rPr>
              <a:t>+ </a:t>
            </a:r>
            <a:r>
              <a:rPr lang="en-IE" sz="1200" b="1" dirty="0" err="1">
                <a:solidFill>
                  <a:srgbClr val="000089"/>
                </a:solidFill>
                <a:latin typeface="UbuntuMono-Regular"/>
              </a:rPr>
              <a:t>u</a:t>
            </a:r>
            <a:r>
              <a:rPr lang="en-IE" sz="1200" b="1" dirty="0" err="1">
                <a:solidFill>
                  <a:srgbClr val="555555"/>
                </a:solidFill>
                <a:latin typeface="UbuntuMono-Regular"/>
              </a:rPr>
              <a:t>.</a:t>
            </a:r>
            <a:r>
              <a:rPr lang="en-IE" sz="1200" b="1" dirty="0" err="1">
                <a:solidFill>
                  <a:srgbClr val="33009A"/>
                </a:solidFill>
                <a:latin typeface="UbuntuMono-Regular"/>
              </a:rPr>
              <a:t>getUserInfo</a:t>
            </a:r>
            <a:r>
              <a:rPr lang="en-IE" sz="1200" b="1" dirty="0">
                <a:solidFill>
                  <a:srgbClr val="555555"/>
                </a:solidFill>
                <a:latin typeface="UbuntuMono-Regular"/>
              </a:rPr>
              <a:t>());</a:t>
            </a:r>
          </a:p>
          <a:p>
            <a:pPr marL="0" indent="0">
              <a:buNone/>
            </a:pPr>
            <a:r>
              <a:rPr lang="en-IE" sz="1200" b="1" dirty="0" smtClean="0">
                <a:solidFill>
                  <a:srgbClr val="000089"/>
                </a:solidFill>
                <a:latin typeface="UbuntuMono-Regular"/>
              </a:rPr>
              <a:t>		String </a:t>
            </a:r>
            <a:r>
              <a:rPr lang="en-IE" sz="1200" b="1" dirty="0">
                <a:solidFill>
                  <a:srgbClr val="000089"/>
                </a:solidFill>
                <a:latin typeface="UbuntuMono-Regular"/>
              </a:rPr>
              <a:t>host </a:t>
            </a:r>
            <a:r>
              <a:rPr lang="en-IE" sz="1200" b="1" dirty="0">
                <a:solidFill>
                  <a:srgbClr val="555555"/>
                </a:solidFill>
                <a:latin typeface="UbuntuMono-Regular"/>
              </a:rPr>
              <a:t>= </a:t>
            </a:r>
            <a:r>
              <a:rPr lang="en-IE" sz="1200" b="1" dirty="0" err="1">
                <a:solidFill>
                  <a:srgbClr val="000089"/>
                </a:solidFill>
                <a:latin typeface="UbuntuMono-Regular"/>
              </a:rPr>
              <a:t>u</a:t>
            </a:r>
            <a:r>
              <a:rPr lang="en-IE" sz="1200" b="1" dirty="0" err="1">
                <a:solidFill>
                  <a:srgbClr val="555555"/>
                </a:solidFill>
                <a:latin typeface="UbuntuMono-Regular"/>
              </a:rPr>
              <a:t>.</a:t>
            </a:r>
            <a:r>
              <a:rPr lang="en-IE" sz="1200" b="1" dirty="0" err="1">
                <a:solidFill>
                  <a:srgbClr val="33009A"/>
                </a:solidFill>
                <a:latin typeface="UbuntuMono-Regular"/>
              </a:rPr>
              <a:t>getHost</a:t>
            </a:r>
            <a:r>
              <a:rPr lang="en-IE" sz="1200" b="1" dirty="0">
                <a:solidFill>
                  <a:srgbClr val="555555"/>
                </a:solidFill>
                <a:latin typeface="UbuntuMono-Regular"/>
              </a:rPr>
              <a:t>();</a:t>
            </a:r>
          </a:p>
          <a:p>
            <a:pPr marL="0" indent="0">
              <a:buNone/>
            </a:pPr>
            <a:r>
              <a:rPr lang="en-IE" sz="1200" b="1" dirty="0" smtClean="0">
                <a:solidFill>
                  <a:srgbClr val="00669A"/>
                </a:solidFill>
                <a:latin typeface="UbuntuMono-Bold"/>
              </a:rPr>
              <a:t>		if </a:t>
            </a:r>
            <a:r>
              <a:rPr lang="en-IE" sz="1200" b="1" dirty="0">
                <a:solidFill>
                  <a:srgbClr val="555555"/>
                </a:solidFill>
                <a:latin typeface="UbuntuMono-Regular"/>
              </a:rPr>
              <a:t>(</a:t>
            </a:r>
            <a:r>
              <a:rPr lang="en-IE" sz="1200" b="1" dirty="0">
                <a:solidFill>
                  <a:srgbClr val="000089"/>
                </a:solidFill>
                <a:latin typeface="UbuntuMono-Regular"/>
              </a:rPr>
              <a:t>host </a:t>
            </a:r>
            <a:r>
              <a:rPr lang="en-IE" sz="1200" b="1" dirty="0">
                <a:solidFill>
                  <a:srgbClr val="555555"/>
                </a:solidFill>
                <a:latin typeface="UbuntuMono-Regular"/>
              </a:rPr>
              <a:t>!= </a:t>
            </a:r>
            <a:r>
              <a:rPr lang="en-IE" sz="1200" b="1" dirty="0">
                <a:solidFill>
                  <a:srgbClr val="00669A"/>
                </a:solidFill>
                <a:latin typeface="UbuntuMono-Bold"/>
              </a:rPr>
              <a:t>null</a:t>
            </a:r>
            <a:r>
              <a:rPr lang="en-IE" sz="1200" b="1" dirty="0">
                <a:solidFill>
                  <a:srgbClr val="555555"/>
                </a:solidFill>
                <a:latin typeface="UbuntuMono-Regular"/>
              </a:rPr>
              <a:t>) {</a:t>
            </a:r>
          </a:p>
          <a:p>
            <a:pPr marL="0" indent="0">
              <a:buNone/>
            </a:pPr>
            <a:r>
              <a:rPr lang="en-IE" sz="1200" b="1" dirty="0" smtClean="0">
                <a:solidFill>
                  <a:srgbClr val="007789"/>
                </a:solidFill>
                <a:latin typeface="UbuntuMono-Bold"/>
              </a:rPr>
              <a:t>			</a:t>
            </a:r>
            <a:r>
              <a:rPr lang="en-IE" sz="1200" b="1" dirty="0" err="1" smtClean="0">
                <a:solidFill>
                  <a:srgbClr val="007789"/>
                </a:solidFill>
                <a:latin typeface="UbuntuMono-Bold"/>
              </a:rPr>
              <a:t>int</a:t>
            </a:r>
            <a:r>
              <a:rPr lang="en-IE" sz="1200" b="1" dirty="0" smtClean="0">
                <a:solidFill>
                  <a:srgbClr val="007789"/>
                </a:solidFill>
                <a:latin typeface="UbuntuMono-Bold"/>
              </a:rPr>
              <a:t> </a:t>
            </a:r>
            <a:r>
              <a:rPr lang="en-IE" sz="1200" b="1" dirty="0" err="1">
                <a:solidFill>
                  <a:srgbClr val="000089"/>
                </a:solidFill>
                <a:latin typeface="UbuntuMono-Regular"/>
              </a:rPr>
              <a:t>atSign</a:t>
            </a:r>
            <a:r>
              <a:rPr lang="en-IE" sz="1200" b="1" dirty="0">
                <a:solidFill>
                  <a:srgbClr val="000089"/>
                </a:solidFill>
                <a:latin typeface="UbuntuMono-Regular"/>
              </a:rPr>
              <a:t> </a:t>
            </a:r>
            <a:r>
              <a:rPr lang="en-IE" sz="1200" b="1" dirty="0">
                <a:solidFill>
                  <a:srgbClr val="555555"/>
                </a:solidFill>
                <a:latin typeface="UbuntuMono-Regular"/>
              </a:rPr>
              <a:t>= </a:t>
            </a:r>
            <a:r>
              <a:rPr lang="en-IE" sz="1200" b="1" dirty="0" err="1">
                <a:solidFill>
                  <a:srgbClr val="000089"/>
                </a:solidFill>
                <a:latin typeface="UbuntuMono-Regular"/>
              </a:rPr>
              <a:t>host</a:t>
            </a:r>
            <a:r>
              <a:rPr lang="en-IE" sz="1200" b="1" dirty="0" err="1">
                <a:solidFill>
                  <a:srgbClr val="555555"/>
                </a:solidFill>
                <a:latin typeface="UbuntuMono-Regular"/>
              </a:rPr>
              <a:t>.</a:t>
            </a:r>
            <a:r>
              <a:rPr lang="en-IE" sz="1200" b="1" dirty="0" err="1">
                <a:solidFill>
                  <a:srgbClr val="33009A"/>
                </a:solidFill>
                <a:latin typeface="UbuntuMono-Regular"/>
              </a:rPr>
              <a:t>indexOf</a:t>
            </a:r>
            <a:r>
              <a:rPr lang="en-IE" sz="1200" b="1" dirty="0">
                <a:solidFill>
                  <a:srgbClr val="555555"/>
                </a:solidFill>
                <a:latin typeface="UbuntuMono-Regular"/>
              </a:rPr>
              <a:t>(</a:t>
            </a:r>
            <a:r>
              <a:rPr lang="en-IE" sz="1200" b="1" dirty="0">
                <a:solidFill>
                  <a:srgbClr val="CD3300"/>
                </a:solidFill>
                <a:latin typeface="UbuntuMono-Regular"/>
              </a:rPr>
              <a:t>'@'</a:t>
            </a:r>
            <a:r>
              <a:rPr lang="en-IE" sz="1200" b="1" dirty="0">
                <a:solidFill>
                  <a:srgbClr val="555555"/>
                </a:solidFill>
                <a:latin typeface="UbuntuMono-Regular"/>
              </a:rPr>
              <a:t>);</a:t>
            </a:r>
          </a:p>
          <a:p>
            <a:pPr marL="0" indent="0">
              <a:buNone/>
            </a:pPr>
            <a:r>
              <a:rPr lang="en-IE" sz="1200" b="1" dirty="0" smtClean="0">
                <a:solidFill>
                  <a:srgbClr val="00669A"/>
                </a:solidFill>
                <a:latin typeface="UbuntuMono-Bold"/>
              </a:rPr>
              <a:t>			if </a:t>
            </a:r>
            <a:r>
              <a:rPr lang="en-IE" sz="1200" b="1" dirty="0">
                <a:solidFill>
                  <a:srgbClr val="555555"/>
                </a:solidFill>
                <a:latin typeface="UbuntuMono-Regular"/>
              </a:rPr>
              <a:t>(</a:t>
            </a:r>
            <a:r>
              <a:rPr lang="en-IE" sz="1200" b="1" dirty="0" err="1">
                <a:solidFill>
                  <a:srgbClr val="000089"/>
                </a:solidFill>
                <a:latin typeface="UbuntuMono-Regular"/>
              </a:rPr>
              <a:t>atSign</a:t>
            </a:r>
            <a:r>
              <a:rPr lang="en-IE" sz="1200" b="1" dirty="0">
                <a:solidFill>
                  <a:srgbClr val="000089"/>
                </a:solidFill>
                <a:latin typeface="UbuntuMono-Regular"/>
              </a:rPr>
              <a:t> </a:t>
            </a:r>
            <a:r>
              <a:rPr lang="en-IE" sz="1200" b="1" dirty="0">
                <a:solidFill>
                  <a:srgbClr val="555555"/>
                </a:solidFill>
                <a:latin typeface="UbuntuMono-Regular"/>
              </a:rPr>
              <a:t>!= -</a:t>
            </a:r>
            <a:r>
              <a:rPr lang="en-IE" sz="1200" b="1" dirty="0">
                <a:solidFill>
                  <a:srgbClr val="FF6600"/>
                </a:solidFill>
                <a:latin typeface="UbuntuMono-Regular"/>
              </a:rPr>
              <a:t>1</a:t>
            </a:r>
            <a:r>
              <a:rPr lang="en-IE" sz="1200" b="1" dirty="0">
                <a:solidFill>
                  <a:srgbClr val="555555"/>
                </a:solidFill>
                <a:latin typeface="UbuntuMono-Regular"/>
              </a:rPr>
              <a:t>) </a:t>
            </a:r>
            <a:endParaRPr lang="en-IE" sz="1200" b="1" dirty="0" smtClean="0">
              <a:solidFill>
                <a:srgbClr val="555555"/>
              </a:solidFill>
              <a:latin typeface="UbuntuMono-Regular"/>
            </a:endParaRPr>
          </a:p>
          <a:p>
            <a:pPr marL="0" indent="0">
              <a:buNone/>
            </a:pPr>
            <a:r>
              <a:rPr lang="en-IE" sz="1200" b="1" dirty="0">
                <a:solidFill>
                  <a:srgbClr val="555555"/>
                </a:solidFill>
                <a:latin typeface="UbuntuMono-Regular"/>
              </a:rPr>
              <a:t>	</a:t>
            </a:r>
            <a:r>
              <a:rPr lang="en-IE" sz="1200" b="1" dirty="0" smtClean="0">
                <a:solidFill>
                  <a:srgbClr val="555555"/>
                </a:solidFill>
                <a:latin typeface="UbuntuMono-Regular"/>
              </a:rPr>
              <a:t>			</a:t>
            </a:r>
            <a:r>
              <a:rPr lang="en-IE" sz="1200" b="1" dirty="0" smtClean="0">
                <a:solidFill>
                  <a:srgbClr val="000089"/>
                </a:solidFill>
                <a:latin typeface="UbuntuMono-Regular"/>
              </a:rPr>
              <a:t>host </a:t>
            </a:r>
            <a:r>
              <a:rPr lang="en-IE" sz="1200" b="1" dirty="0">
                <a:solidFill>
                  <a:srgbClr val="555555"/>
                </a:solidFill>
                <a:latin typeface="UbuntuMono-Regular"/>
              </a:rPr>
              <a:t>= </a:t>
            </a:r>
            <a:r>
              <a:rPr lang="en-IE" sz="1200" b="1" dirty="0" err="1">
                <a:solidFill>
                  <a:srgbClr val="000089"/>
                </a:solidFill>
                <a:latin typeface="UbuntuMono-Regular"/>
              </a:rPr>
              <a:t>host</a:t>
            </a:r>
            <a:r>
              <a:rPr lang="en-IE" sz="1200" b="1" dirty="0" err="1">
                <a:solidFill>
                  <a:srgbClr val="555555"/>
                </a:solidFill>
                <a:latin typeface="UbuntuMono-Regular"/>
              </a:rPr>
              <a:t>.</a:t>
            </a:r>
            <a:r>
              <a:rPr lang="en-IE" sz="1200" b="1" dirty="0" err="1">
                <a:solidFill>
                  <a:srgbClr val="33009A"/>
                </a:solidFill>
                <a:latin typeface="UbuntuMono-Regular"/>
              </a:rPr>
              <a:t>substring</a:t>
            </a:r>
            <a:r>
              <a:rPr lang="en-IE" sz="1200" b="1" dirty="0">
                <a:solidFill>
                  <a:srgbClr val="555555"/>
                </a:solidFill>
                <a:latin typeface="UbuntuMono-Regular"/>
              </a:rPr>
              <a:t>(</a:t>
            </a:r>
            <a:r>
              <a:rPr lang="en-IE" sz="1200" b="1" dirty="0">
                <a:solidFill>
                  <a:srgbClr val="000089"/>
                </a:solidFill>
                <a:latin typeface="UbuntuMono-Regular"/>
              </a:rPr>
              <a:t>atSign</a:t>
            </a:r>
            <a:r>
              <a:rPr lang="en-IE" sz="1200" b="1" dirty="0">
                <a:solidFill>
                  <a:srgbClr val="555555"/>
                </a:solidFill>
                <a:latin typeface="UbuntuMono-Regular"/>
              </a:rPr>
              <a:t>+</a:t>
            </a:r>
            <a:r>
              <a:rPr lang="en-IE" sz="1200" b="1" dirty="0">
                <a:solidFill>
                  <a:srgbClr val="FF6600"/>
                </a:solidFill>
                <a:latin typeface="UbuntuMono-Regular"/>
              </a:rPr>
              <a:t>1</a:t>
            </a:r>
            <a:r>
              <a:rPr lang="en-IE" sz="1200" b="1" dirty="0">
                <a:solidFill>
                  <a:srgbClr val="555555"/>
                </a:solidFill>
                <a:latin typeface="UbuntuMono-Regular"/>
              </a:rPr>
              <a:t>);</a:t>
            </a:r>
          </a:p>
          <a:p>
            <a:pPr marL="0" indent="0">
              <a:buNone/>
            </a:pPr>
            <a:r>
              <a:rPr lang="en-IE" sz="1200" b="1" dirty="0" smtClean="0">
                <a:solidFill>
                  <a:srgbClr val="000089"/>
                </a:solidFill>
                <a:latin typeface="UbuntuMono-Regular"/>
              </a:rPr>
              <a:t>			</a:t>
            </a:r>
            <a:r>
              <a:rPr lang="en-IE" sz="1200" b="1" dirty="0" err="1" smtClean="0">
                <a:solidFill>
                  <a:srgbClr val="000089"/>
                </a:solidFill>
                <a:latin typeface="UbuntuMono-Regular"/>
              </a:rPr>
              <a:t>System</a:t>
            </a:r>
            <a:r>
              <a:rPr lang="en-IE" sz="1200" b="1" dirty="0" err="1" smtClean="0">
                <a:solidFill>
                  <a:srgbClr val="555555"/>
                </a:solidFill>
                <a:latin typeface="UbuntuMono-Regular"/>
              </a:rPr>
              <a:t>.</a:t>
            </a:r>
            <a:r>
              <a:rPr lang="en-IE" sz="1200" b="1" dirty="0" err="1" smtClean="0">
                <a:solidFill>
                  <a:srgbClr val="33009A"/>
                </a:solidFill>
                <a:latin typeface="UbuntuMono-Regular"/>
              </a:rPr>
              <a:t>out</a:t>
            </a:r>
            <a:r>
              <a:rPr lang="en-IE" sz="1200" b="1" dirty="0" err="1" smtClean="0">
                <a:solidFill>
                  <a:srgbClr val="555555"/>
                </a:solidFill>
                <a:latin typeface="UbuntuMono-Regular"/>
              </a:rPr>
              <a:t>.</a:t>
            </a:r>
            <a:r>
              <a:rPr lang="en-IE" sz="1200" b="1" dirty="0" err="1" smtClean="0">
                <a:solidFill>
                  <a:srgbClr val="33009A"/>
                </a:solidFill>
                <a:latin typeface="UbuntuMono-Regular"/>
              </a:rPr>
              <a:t>println</a:t>
            </a:r>
            <a:r>
              <a:rPr lang="en-IE" sz="1200" b="1" dirty="0">
                <a:solidFill>
                  <a:srgbClr val="555555"/>
                </a:solidFill>
                <a:latin typeface="UbuntuMono-Regular"/>
              </a:rPr>
              <a:t>(</a:t>
            </a:r>
            <a:r>
              <a:rPr lang="en-IE" sz="1200" b="1" dirty="0">
                <a:solidFill>
                  <a:srgbClr val="CD3300"/>
                </a:solidFill>
                <a:latin typeface="UbuntuMono-Regular"/>
              </a:rPr>
              <a:t>"The host is " </a:t>
            </a:r>
            <a:r>
              <a:rPr lang="en-IE" sz="1200" b="1" dirty="0">
                <a:solidFill>
                  <a:srgbClr val="555555"/>
                </a:solidFill>
                <a:latin typeface="UbuntuMono-Regular"/>
              </a:rPr>
              <a:t>+ </a:t>
            </a:r>
            <a:r>
              <a:rPr lang="en-IE" sz="1200" b="1" dirty="0">
                <a:solidFill>
                  <a:srgbClr val="000089"/>
                </a:solidFill>
                <a:latin typeface="UbuntuMono-Regular"/>
              </a:rPr>
              <a:t>host</a:t>
            </a:r>
            <a:r>
              <a:rPr lang="en-IE" sz="1200" b="1" dirty="0">
                <a:solidFill>
                  <a:srgbClr val="555555"/>
                </a:solidFill>
                <a:latin typeface="UbuntuMono-Regular"/>
              </a:rPr>
              <a:t>);</a:t>
            </a:r>
          </a:p>
          <a:p>
            <a:pPr marL="0" indent="0">
              <a:buNone/>
            </a:pPr>
            <a:r>
              <a:rPr lang="en-IE" sz="1200" b="1" dirty="0" smtClean="0">
                <a:solidFill>
                  <a:srgbClr val="555555"/>
                </a:solidFill>
                <a:latin typeface="UbuntuMono-Regular"/>
              </a:rPr>
              <a:t>		} </a:t>
            </a:r>
            <a:r>
              <a:rPr lang="en-IE" sz="1200" b="1" dirty="0">
                <a:solidFill>
                  <a:srgbClr val="00669A"/>
                </a:solidFill>
                <a:latin typeface="UbuntuMono-Bold"/>
              </a:rPr>
              <a:t>else </a:t>
            </a:r>
            <a:r>
              <a:rPr lang="en-IE" sz="1200" b="1" dirty="0">
                <a:solidFill>
                  <a:srgbClr val="555555"/>
                </a:solidFill>
                <a:latin typeface="UbuntuMono-Regular"/>
              </a:rPr>
              <a:t>{</a:t>
            </a:r>
          </a:p>
          <a:p>
            <a:pPr marL="0" indent="0">
              <a:buNone/>
            </a:pPr>
            <a:r>
              <a:rPr lang="en-IE" sz="1200" b="1" dirty="0" smtClean="0">
                <a:solidFill>
                  <a:srgbClr val="000089"/>
                </a:solidFill>
                <a:latin typeface="UbuntuMono-Regular"/>
              </a:rPr>
              <a:t>			</a:t>
            </a:r>
            <a:r>
              <a:rPr lang="en-IE" sz="1200" b="1" dirty="0" err="1" smtClean="0">
                <a:solidFill>
                  <a:srgbClr val="000089"/>
                </a:solidFill>
                <a:latin typeface="UbuntuMono-Regular"/>
              </a:rPr>
              <a:t>System</a:t>
            </a:r>
            <a:r>
              <a:rPr lang="en-IE" sz="1200" b="1" dirty="0" err="1" smtClean="0">
                <a:solidFill>
                  <a:srgbClr val="555555"/>
                </a:solidFill>
                <a:latin typeface="UbuntuMono-Regular"/>
              </a:rPr>
              <a:t>.</a:t>
            </a:r>
            <a:r>
              <a:rPr lang="en-IE" sz="1200" b="1" dirty="0" err="1" smtClean="0">
                <a:solidFill>
                  <a:srgbClr val="33009A"/>
                </a:solidFill>
                <a:latin typeface="UbuntuMono-Regular"/>
              </a:rPr>
              <a:t>out</a:t>
            </a:r>
            <a:r>
              <a:rPr lang="en-IE" sz="1200" b="1" dirty="0" err="1" smtClean="0">
                <a:solidFill>
                  <a:srgbClr val="555555"/>
                </a:solidFill>
                <a:latin typeface="UbuntuMono-Regular"/>
              </a:rPr>
              <a:t>.</a:t>
            </a:r>
            <a:r>
              <a:rPr lang="en-IE" sz="1200" b="1" dirty="0" err="1" smtClean="0">
                <a:solidFill>
                  <a:srgbClr val="33009A"/>
                </a:solidFill>
                <a:latin typeface="UbuntuMono-Regular"/>
              </a:rPr>
              <a:t>println</a:t>
            </a:r>
            <a:r>
              <a:rPr lang="en-IE" sz="1200" b="1" dirty="0">
                <a:solidFill>
                  <a:srgbClr val="555555"/>
                </a:solidFill>
                <a:latin typeface="UbuntuMono-Regular"/>
              </a:rPr>
              <a:t>(</a:t>
            </a:r>
            <a:r>
              <a:rPr lang="en-IE" sz="1200" b="1" dirty="0">
                <a:solidFill>
                  <a:srgbClr val="CD3300"/>
                </a:solidFill>
                <a:latin typeface="UbuntuMono-Regular"/>
              </a:rPr>
              <a:t>"The host is null."</a:t>
            </a:r>
            <a:r>
              <a:rPr lang="en-IE" sz="1200" b="1" dirty="0">
                <a:solidFill>
                  <a:srgbClr val="555555"/>
                </a:solidFill>
                <a:latin typeface="UbuntuMono-Regular"/>
              </a:rPr>
              <a:t>);</a:t>
            </a:r>
          </a:p>
          <a:p>
            <a:pPr marL="0" indent="0">
              <a:buNone/>
            </a:pPr>
            <a:r>
              <a:rPr lang="en-IE" sz="1200" b="1" dirty="0" smtClean="0">
                <a:solidFill>
                  <a:srgbClr val="555555"/>
                </a:solidFill>
                <a:latin typeface="UbuntuMono-Regular"/>
              </a:rPr>
              <a:t>		}</a:t>
            </a:r>
            <a:endParaRPr lang="en-IE" sz="1200" b="1" dirty="0">
              <a:solidFill>
                <a:srgbClr val="555555"/>
              </a:solidFill>
              <a:latin typeface="UbuntuMono-Regular"/>
            </a:endParaRPr>
          </a:p>
          <a:p>
            <a:pPr marL="0" indent="0">
              <a:buNone/>
            </a:pPr>
            <a:r>
              <a:rPr lang="en-IE" sz="1200" b="1" dirty="0" smtClean="0">
                <a:solidFill>
                  <a:srgbClr val="000089"/>
                </a:solidFill>
                <a:latin typeface="UbuntuMono-Regular"/>
              </a:rPr>
              <a:t>		</a:t>
            </a:r>
            <a:r>
              <a:rPr lang="en-IE" sz="1200" b="1" dirty="0" err="1" smtClean="0">
                <a:solidFill>
                  <a:srgbClr val="000089"/>
                </a:solidFill>
                <a:latin typeface="UbuntuMono-Regular"/>
              </a:rPr>
              <a:t>System</a:t>
            </a:r>
            <a:r>
              <a:rPr lang="en-IE" sz="1200" b="1" dirty="0" err="1" smtClean="0">
                <a:solidFill>
                  <a:srgbClr val="555555"/>
                </a:solidFill>
                <a:latin typeface="UbuntuMono-Regular"/>
              </a:rPr>
              <a:t>.</a:t>
            </a:r>
            <a:r>
              <a:rPr lang="en-IE" sz="1200" b="1" dirty="0" err="1" smtClean="0">
                <a:solidFill>
                  <a:srgbClr val="33009A"/>
                </a:solidFill>
                <a:latin typeface="UbuntuMono-Regular"/>
              </a:rPr>
              <a:t>out</a:t>
            </a:r>
            <a:r>
              <a:rPr lang="en-IE" sz="1200" b="1" dirty="0" err="1" smtClean="0">
                <a:solidFill>
                  <a:srgbClr val="555555"/>
                </a:solidFill>
                <a:latin typeface="UbuntuMono-Regular"/>
              </a:rPr>
              <a:t>.</a:t>
            </a:r>
            <a:r>
              <a:rPr lang="en-IE" sz="1200" b="1" dirty="0" err="1" smtClean="0">
                <a:solidFill>
                  <a:srgbClr val="33009A"/>
                </a:solidFill>
                <a:latin typeface="UbuntuMono-Regular"/>
              </a:rPr>
              <a:t>println</a:t>
            </a:r>
            <a:r>
              <a:rPr lang="en-IE" sz="1200" b="1" dirty="0">
                <a:solidFill>
                  <a:srgbClr val="555555"/>
                </a:solidFill>
                <a:latin typeface="UbuntuMono-Regular"/>
              </a:rPr>
              <a:t>(</a:t>
            </a:r>
            <a:r>
              <a:rPr lang="en-IE" sz="1200" b="1" dirty="0">
                <a:solidFill>
                  <a:srgbClr val="CD3300"/>
                </a:solidFill>
                <a:latin typeface="UbuntuMono-Regular"/>
              </a:rPr>
              <a:t>"The port is " </a:t>
            </a:r>
            <a:r>
              <a:rPr lang="en-IE" sz="1200" b="1" dirty="0">
                <a:solidFill>
                  <a:srgbClr val="555555"/>
                </a:solidFill>
                <a:latin typeface="UbuntuMono-Regular"/>
              </a:rPr>
              <a:t>+ </a:t>
            </a:r>
            <a:r>
              <a:rPr lang="en-IE" sz="1200" b="1" dirty="0" err="1">
                <a:solidFill>
                  <a:srgbClr val="000089"/>
                </a:solidFill>
                <a:latin typeface="UbuntuMono-Regular"/>
              </a:rPr>
              <a:t>u</a:t>
            </a:r>
            <a:r>
              <a:rPr lang="en-IE" sz="1200" b="1" dirty="0" err="1">
                <a:solidFill>
                  <a:srgbClr val="555555"/>
                </a:solidFill>
                <a:latin typeface="UbuntuMono-Regular"/>
              </a:rPr>
              <a:t>.</a:t>
            </a:r>
            <a:r>
              <a:rPr lang="en-IE" sz="1200" b="1" dirty="0" err="1">
                <a:solidFill>
                  <a:srgbClr val="33009A"/>
                </a:solidFill>
                <a:latin typeface="UbuntuMono-Regular"/>
              </a:rPr>
              <a:t>getPort</a:t>
            </a:r>
            <a:r>
              <a:rPr lang="en-IE" sz="1200" b="1" dirty="0">
                <a:solidFill>
                  <a:srgbClr val="555555"/>
                </a:solidFill>
                <a:latin typeface="UbuntuMono-Regular"/>
              </a:rPr>
              <a:t>());</a:t>
            </a:r>
          </a:p>
          <a:p>
            <a:pPr marL="0" indent="0">
              <a:buNone/>
            </a:pPr>
            <a:r>
              <a:rPr lang="en-IE" sz="1200" b="1" dirty="0" smtClean="0">
                <a:solidFill>
                  <a:srgbClr val="000089"/>
                </a:solidFill>
                <a:latin typeface="UbuntuMono-Regular"/>
              </a:rPr>
              <a:t>		</a:t>
            </a:r>
            <a:r>
              <a:rPr lang="en-IE" sz="1200" b="1" dirty="0" err="1" smtClean="0">
                <a:solidFill>
                  <a:srgbClr val="000089"/>
                </a:solidFill>
                <a:latin typeface="UbuntuMono-Regular"/>
              </a:rPr>
              <a:t>System</a:t>
            </a:r>
            <a:r>
              <a:rPr lang="en-IE" sz="1200" b="1" dirty="0" err="1" smtClean="0">
                <a:solidFill>
                  <a:srgbClr val="555555"/>
                </a:solidFill>
                <a:latin typeface="UbuntuMono-Regular"/>
              </a:rPr>
              <a:t>.</a:t>
            </a:r>
            <a:r>
              <a:rPr lang="en-IE" sz="1200" b="1" dirty="0" err="1" smtClean="0">
                <a:solidFill>
                  <a:srgbClr val="33009A"/>
                </a:solidFill>
                <a:latin typeface="UbuntuMono-Regular"/>
              </a:rPr>
              <a:t>out</a:t>
            </a:r>
            <a:r>
              <a:rPr lang="en-IE" sz="1200" b="1" dirty="0" err="1" smtClean="0">
                <a:solidFill>
                  <a:srgbClr val="555555"/>
                </a:solidFill>
                <a:latin typeface="UbuntuMono-Regular"/>
              </a:rPr>
              <a:t>.</a:t>
            </a:r>
            <a:r>
              <a:rPr lang="en-IE" sz="1200" b="1" dirty="0" err="1" smtClean="0">
                <a:solidFill>
                  <a:srgbClr val="33009A"/>
                </a:solidFill>
                <a:latin typeface="UbuntuMono-Regular"/>
              </a:rPr>
              <a:t>println</a:t>
            </a:r>
            <a:r>
              <a:rPr lang="en-IE" sz="1200" b="1" dirty="0">
                <a:solidFill>
                  <a:srgbClr val="555555"/>
                </a:solidFill>
                <a:latin typeface="UbuntuMono-Regular"/>
              </a:rPr>
              <a:t>(</a:t>
            </a:r>
            <a:r>
              <a:rPr lang="en-IE" sz="1200" b="1" dirty="0">
                <a:solidFill>
                  <a:srgbClr val="CD3300"/>
                </a:solidFill>
                <a:latin typeface="UbuntuMono-Regular"/>
              </a:rPr>
              <a:t>"The path is " </a:t>
            </a:r>
            <a:r>
              <a:rPr lang="en-IE" sz="1200" b="1" dirty="0">
                <a:solidFill>
                  <a:srgbClr val="555555"/>
                </a:solidFill>
                <a:latin typeface="UbuntuMono-Regular"/>
              </a:rPr>
              <a:t>+ </a:t>
            </a:r>
            <a:r>
              <a:rPr lang="en-IE" sz="1200" b="1" dirty="0" err="1">
                <a:solidFill>
                  <a:srgbClr val="000089"/>
                </a:solidFill>
                <a:latin typeface="UbuntuMono-Regular"/>
              </a:rPr>
              <a:t>u</a:t>
            </a:r>
            <a:r>
              <a:rPr lang="en-IE" sz="1200" b="1" dirty="0" err="1">
                <a:solidFill>
                  <a:srgbClr val="555555"/>
                </a:solidFill>
                <a:latin typeface="UbuntuMono-Regular"/>
              </a:rPr>
              <a:t>.</a:t>
            </a:r>
            <a:r>
              <a:rPr lang="en-IE" sz="1200" b="1" dirty="0" err="1">
                <a:solidFill>
                  <a:srgbClr val="33009A"/>
                </a:solidFill>
                <a:latin typeface="UbuntuMono-Regular"/>
              </a:rPr>
              <a:t>getPath</a:t>
            </a:r>
            <a:r>
              <a:rPr lang="en-IE" sz="1200" b="1" dirty="0">
                <a:solidFill>
                  <a:srgbClr val="555555"/>
                </a:solidFill>
                <a:latin typeface="UbuntuMono-Regular"/>
              </a:rPr>
              <a:t>());</a:t>
            </a:r>
          </a:p>
          <a:p>
            <a:pPr marL="0" indent="0">
              <a:buNone/>
            </a:pPr>
            <a:r>
              <a:rPr lang="en-IE" sz="1200" b="1" dirty="0" smtClean="0">
                <a:solidFill>
                  <a:srgbClr val="000089"/>
                </a:solidFill>
                <a:latin typeface="UbuntuMono-Regular"/>
              </a:rPr>
              <a:t>		</a:t>
            </a:r>
            <a:r>
              <a:rPr lang="en-IE" sz="1200" b="1" dirty="0" err="1" smtClean="0">
                <a:solidFill>
                  <a:srgbClr val="000089"/>
                </a:solidFill>
                <a:latin typeface="UbuntuMono-Regular"/>
              </a:rPr>
              <a:t>System</a:t>
            </a:r>
            <a:r>
              <a:rPr lang="en-IE" sz="1200" b="1" dirty="0" err="1" smtClean="0">
                <a:solidFill>
                  <a:srgbClr val="555555"/>
                </a:solidFill>
                <a:latin typeface="UbuntuMono-Regular"/>
              </a:rPr>
              <a:t>.</a:t>
            </a:r>
            <a:r>
              <a:rPr lang="en-IE" sz="1200" b="1" dirty="0" err="1" smtClean="0">
                <a:solidFill>
                  <a:srgbClr val="33009A"/>
                </a:solidFill>
                <a:latin typeface="UbuntuMono-Regular"/>
              </a:rPr>
              <a:t>out</a:t>
            </a:r>
            <a:r>
              <a:rPr lang="en-IE" sz="1200" b="1" dirty="0" err="1" smtClean="0">
                <a:solidFill>
                  <a:srgbClr val="555555"/>
                </a:solidFill>
                <a:latin typeface="UbuntuMono-Regular"/>
              </a:rPr>
              <a:t>.</a:t>
            </a:r>
            <a:r>
              <a:rPr lang="en-IE" sz="1200" b="1" dirty="0" err="1" smtClean="0">
                <a:solidFill>
                  <a:srgbClr val="33009A"/>
                </a:solidFill>
                <a:latin typeface="UbuntuMono-Regular"/>
              </a:rPr>
              <a:t>println</a:t>
            </a:r>
            <a:r>
              <a:rPr lang="en-IE" sz="1200" b="1" dirty="0">
                <a:solidFill>
                  <a:srgbClr val="555555"/>
                </a:solidFill>
                <a:latin typeface="UbuntuMono-Regular"/>
              </a:rPr>
              <a:t>(</a:t>
            </a:r>
            <a:r>
              <a:rPr lang="en-IE" sz="1200" b="1" dirty="0">
                <a:solidFill>
                  <a:srgbClr val="CD3300"/>
                </a:solidFill>
                <a:latin typeface="UbuntuMono-Regular"/>
              </a:rPr>
              <a:t>"The ref is " </a:t>
            </a:r>
            <a:r>
              <a:rPr lang="en-IE" sz="1200" b="1" dirty="0">
                <a:solidFill>
                  <a:srgbClr val="555555"/>
                </a:solidFill>
                <a:latin typeface="UbuntuMono-Regular"/>
              </a:rPr>
              <a:t>+ </a:t>
            </a:r>
            <a:r>
              <a:rPr lang="en-IE" sz="1200" b="1" dirty="0" err="1">
                <a:solidFill>
                  <a:srgbClr val="000089"/>
                </a:solidFill>
                <a:latin typeface="UbuntuMono-Regular"/>
              </a:rPr>
              <a:t>u</a:t>
            </a:r>
            <a:r>
              <a:rPr lang="en-IE" sz="1200" b="1" dirty="0" err="1">
                <a:solidFill>
                  <a:srgbClr val="555555"/>
                </a:solidFill>
                <a:latin typeface="UbuntuMono-Regular"/>
              </a:rPr>
              <a:t>.</a:t>
            </a:r>
            <a:r>
              <a:rPr lang="en-IE" sz="1200" b="1" dirty="0" err="1">
                <a:solidFill>
                  <a:srgbClr val="33009A"/>
                </a:solidFill>
                <a:latin typeface="UbuntuMono-Regular"/>
              </a:rPr>
              <a:t>getRef</a:t>
            </a:r>
            <a:r>
              <a:rPr lang="en-IE" sz="1200" b="1" dirty="0">
                <a:solidFill>
                  <a:srgbClr val="555555"/>
                </a:solidFill>
                <a:latin typeface="UbuntuMono-Regular"/>
              </a:rPr>
              <a:t>());</a:t>
            </a:r>
          </a:p>
          <a:p>
            <a:pPr marL="0" indent="0">
              <a:buNone/>
            </a:pPr>
            <a:r>
              <a:rPr lang="en-IE" sz="1200" b="1" dirty="0" smtClean="0">
                <a:solidFill>
                  <a:srgbClr val="000089"/>
                </a:solidFill>
                <a:latin typeface="UbuntuMono-Regular"/>
              </a:rPr>
              <a:t>		</a:t>
            </a:r>
            <a:r>
              <a:rPr lang="en-IE" sz="1200" b="1" dirty="0" err="1" smtClean="0">
                <a:solidFill>
                  <a:srgbClr val="000089"/>
                </a:solidFill>
                <a:latin typeface="UbuntuMono-Regular"/>
              </a:rPr>
              <a:t>System</a:t>
            </a:r>
            <a:r>
              <a:rPr lang="en-IE" sz="1200" b="1" dirty="0" err="1" smtClean="0">
                <a:solidFill>
                  <a:srgbClr val="555555"/>
                </a:solidFill>
                <a:latin typeface="UbuntuMono-Regular"/>
              </a:rPr>
              <a:t>.</a:t>
            </a:r>
            <a:r>
              <a:rPr lang="en-IE" sz="1200" b="1" dirty="0" err="1" smtClean="0">
                <a:solidFill>
                  <a:srgbClr val="33009A"/>
                </a:solidFill>
                <a:latin typeface="UbuntuMono-Regular"/>
              </a:rPr>
              <a:t>out</a:t>
            </a:r>
            <a:r>
              <a:rPr lang="en-IE" sz="1200" b="1" dirty="0" err="1" smtClean="0">
                <a:solidFill>
                  <a:srgbClr val="555555"/>
                </a:solidFill>
                <a:latin typeface="UbuntuMono-Regular"/>
              </a:rPr>
              <a:t>.</a:t>
            </a:r>
            <a:r>
              <a:rPr lang="en-IE" sz="1200" b="1" dirty="0" err="1" smtClean="0">
                <a:solidFill>
                  <a:srgbClr val="33009A"/>
                </a:solidFill>
                <a:latin typeface="UbuntuMono-Regular"/>
              </a:rPr>
              <a:t>println</a:t>
            </a:r>
            <a:r>
              <a:rPr lang="en-IE" sz="1200" b="1" dirty="0">
                <a:solidFill>
                  <a:srgbClr val="555555"/>
                </a:solidFill>
                <a:latin typeface="UbuntuMono-Regular"/>
              </a:rPr>
              <a:t>(</a:t>
            </a:r>
            <a:r>
              <a:rPr lang="en-IE" sz="1200" b="1" dirty="0">
                <a:solidFill>
                  <a:srgbClr val="CD3300"/>
                </a:solidFill>
                <a:latin typeface="UbuntuMono-Regular"/>
              </a:rPr>
              <a:t>"The query string is " </a:t>
            </a:r>
            <a:r>
              <a:rPr lang="en-IE" sz="1200" b="1" dirty="0">
                <a:solidFill>
                  <a:srgbClr val="555555"/>
                </a:solidFill>
                <a:latin typeface="UbuntuMono-Regular"/>
              </a:rPr>
              <a:t>+ </a:t>
            </a:r>
            <a:r>
              <a:rPr lang="en-IE" sz="1200" b="1" dirty="0" err="1">
                <a:solidFill>
                  <a:srgbClr val="000089"/>
                </a:solidFill>
                <a:latin typeface="UbuntuMono-Regular"/>
              </a:rPr>
              <a:t>u</a:t>
            </a:r>
            <a:r>
              <a:rPr lang="en-IE" sz="1200" b="1" dirty="0" err="1">
                <a:solidFill>
                  <a:srgbClr val="555555"/>
                </a:solidFill>
                <a:latin typeface="UbuntuMono-Regular"/>
              </a:rPr>
              <a:t>.</a:t>
            </a:r>
            <a:r>
              <a:rPr lang="en-IE" sz="1200" b="1" dirty="0" err="1">
                <a:solidFill>
                  <a:srgbClr val="33009A"/>
                </a:solidFill>
                <a:latin typeface="UbuntuMono-Regular"/>
              </a:rPr>
              <a:t>getQuery</a:t>
            </a:r>
            <a:r>
              <a:rPr lang="en-IE" sz="1200" b="1" dirty="0">
                <a:solidFill>
                  <a:srgbClr val="555555"/>
                </a:solidFill>
                <a:latin typeface="UbuntuMono-Regular"/>
              </a:rPr>
              <a:t>());</a:t>
            </a:r>
          </a:p>
          <a:p>
            <a:pPr marL="0" indent="0">
              <a:buNone/>
            </a:pPr>
            <a:r>
              <a:rPr lang="en-IE" sz="1200" b="1" dirty="0" smtClean="0">
                <a:solidFill>
                  <a:srgbClr val="555555"/>
                </a:solidFill>
                <a:latin typeface="UbuntuMono-Regular"/>
              </a:rPr>
              <a:t>	} </a:t>
            </a:r>
            <a:r>
              <a:rPr lang="en-IE" sz="1200" b="1" dirty="0">
                <a:solidFill>
                  <a:srgbClr val="00669A"/>
                </a:solidFill>
                <a:latin typeface="UbuntuMono-Bold"/>
              </a:rPr>
              <a:t>catch </a:t>
            </a:r>
            <a:r>
              <a:rPr lang="en-IE" sz="1200" b="1" dirty="0">
                <a:solidFill>
                  <a:srgbClr val="555555"/>
                </a:solidFill>
                <a:latin typeface="UbuntuMono-Regular"/>
              </a:rPr>
              <a:t>(</a:t>
            </a:r>
            <a:r>
              <a:rPr lang="en-IE" sz="1200" b="1" dirty="0" err="1">
                <a:solidFill>
                  <a:srgbClr val="000089"/>
                </a:solidFill>
                <a:latin typeface="UbuntuMono-Regular"/>
              </a:rPr>
              <a:t>MalformedURLException</a:t>
            </a:r>
            <a:r>
              <a:rPr lang="en-IE" sz="1200" b="1" dirty="0">
                <a:solidFill>
                  <a:srgbClr val="000089"/>
                </a:solidFill>
                <a:latin typeface="UbuntuMono-Regular"/>
              </a:rPr>
              <a:t> ex</a:t>
            </a:r>
            <a:r>
              <a:rPr lang="en-IE" sz="1200" b="1" dirty="0">
                <a:solidFill>
                  <a:srgbClr val="555555"/>
                </a:solidFill>
                <a:latin typeface="UbuntuMono-Regular"/>
              </a:rPr>
              <a:t>) {</a:t>
            </a:r>
          </a:p>
          <a:p>
            <a:pPr marL="0" indent="0">
              <a:buNone/>
            </a:pPr>
            <a:r>
              <a:rPr lang="en-IE" sz="1200" b="1" dirty="0" smtClean="0">
                <a:solidFill>
                  <a:srgbClr val="000089"/>
                </a:solidFill>
                <a:latin typeface="UbuntuMono-Regular"/>
              </a:rPr>
              <a:t>		</a:t>
            </a:r>
            <a:r>
              <a:rPr lang="en-IE" sz="1200" b="1" dirty="0" err="1" smtClean="0">
                <a:solidFill>
                  <a:srgbClr val="000089"/>
                </a:solidFill>
                <a:latin typeface="UbuntuMono-Regular"/>
              </a:rPr>
              <a:t>System</a:t>
            </a:r>
            <a:r>
              <a:rPr lang="en-IE" sz="1200" b="1" dirty="0" err="1" smtClean="0">
                <a:solidFill>
                  <a:srgbClr val="555555"/>
                </a:solidFill>
                <a:latin typeface="UbuntuMono-Regular"/>
              </a:rPr>
              <a:t>.</a:t>
            </a:r>
            <a:r>
              <a:rPr lang="en-IE" sz="1200" b="1" dirty="0" err="1" smtClean="0">
                <a:solidFill>
                  <a:srgbClr val="33009A"/>
                </a:solidFill>
                <a:latin typeface="UbuntuMono-Regular"/>
              </a:rPr>
              <a:t>err</a:t>
            </a:r>
            <a:r>
              <a:rPr lang="en-IE" sz="1200" b="1" dirty="0" err="1" smtClean="0">
                <a:solidFill>
                  <a:srgbClr val="555555"/>
                </a:solidFill>
                <a:latin typeface="UbuntuMono-Regular"/>
              </a:rPr>
              <a:t>.</a:t>
            </a:r>
            <a:r>
              <a:rPr lang="en-IE" sz="1200" b="1" dirty="0" err="1" smtClean="0">
                <a:solidFill>
                  <a:srgbClr val="33009A"/>
                </a:solidFill>
                <a:latin typeface="UbuntuMono-Regular"/>
              </a:rPr>
              <a:t>println</a:t>
            </a:r>
            <a:r>
              <a:rPr lang="en-IE" sz="1200" b="1" dirty="0" smtClean="0">
                <a:solidFill>
                  <a:srgbClr val="555555"/>
                </a:solidFill>
                <a:latin typeface="UbuntuMono-Regular"/>
              </a:rPr>
              <a:t>(</a:t>
            </a:r>
            <a:r>
              <a:rPr lang="en-IE" sz="1200" b="1" dirty="0" err="1" smtClean="0">
                <a:solidFill>
                  <a:srgbClr val="000089"/>
                </a:solidFill>
                <a:latin typeface="UbuntuMono-Regular"/>
              </a:rPr>
              <a:t>args</a:t>
            </a:r>
            <a:r>
              <a:rPr lang="en-IE" sz="1200" b="1" dirty="0" smtClean="0">
                <a:solidFill>
                  <a:srgbClr val="555555"/>
                </a:solidFill>
                <a:latin typeface="UbuntuMono-Regular"/>
              </a:rPr>
              <a:t>[</a:t>
            </a:r>
            <a:r>
              <a:rPr lang="en-IE" sz="1200" b="1" dirty="0" err="1" smtClean="0">
                <a:solidFill>
                  <a:srgbClr val="000089"/>
                </a:solidFill>
                <a:latin typeface="UbuntuMono-Regular"/>
              </a:rPr>
              <a:t>i</a:t>
            </a:r>
            <a:r>
              <a:rPr lang="en-IE" sz="1200" b="1" dirty="0">
                <a:solidFill>
                  <a:srgbClr val="555555"/>
                </a:solidFill>
                <a:latin typeface="UbuntuMono-Regular"/>
              </a:rPr>
              <a:t>] + </a:t>
            </a:r>
            <a:r>
              <a:rPr lang="en-IE" sz="1200" b="1" dirty="0">
                <a:solidFill>
                  <a:srgbClr val="CD3300"/>
                </a:solidFill>
                <a:latin typeface="UbuntuMono-Regular"/>
              </a:rPr>
              <a:t>" is not a URL I understand."</a:t>
            </a:r>
            <a:r>
              <a:rPr lang="en-IE" sz="1200" b="1" dirty="0">
                <a:solidFill>
                  <a:srgbClr val="555555"/>
                </a:solidFill>
                <a:latin typeface="UbuntuMono-Regular"/>
              </a:rPr>
              <a:t>);</a:t>
            </a:r>
          </a:p>
          <a:p>
            <a:pPr marL="0" indent="0">
              <a:buNone/>
            </a:pPr>
            <a:r>
              <a:rPr lang="en-IE" sz="1200" b="1" dirty="0" smtClean="0">
                <a:solidFill>
                  <a:srgbClr val="555555"/>
                </a:solidFill>
                <a:latin typeface="UbuntuMono-Regular"/>
              </a:rPr>
              <a:t>	}</a:t>
            </a:r>
            <a:endParaRPr lang="en-IE" sz="1200" b="1" dirty="0">
              <a:solidFill>
                <a:srgbClr val="555555"/>
              </a:solidFill>
              <a:latin typeface="UbuntuMono-Regular"/>
            </a:endParaRPr>
          </a:p>
          <a:p>
            <a:pPr marL="0" indent="0">
              <a:buNone/>
            </a:pPr>
            <a:r>
              <a:rPr lang="en-IE" sz="1200" b="1" dirty="0" smtClean="0">
                <a:solidFill>
                  <a:srgbClr val="000089"/>
                </a:solidFill>
                <a:latin typeface="UbuntuMono-Regular"/>
              </a:rPr>
              <a:t>	</a:t>
            </a:r>
            <a:r>
              <a:rPr lang="en-IE" sz="1200" b="1" dirty="0" err="1" smtClean="0">
                <a:solidFill>
                  <a:srgbClr val="000089"/>
                </a:solidFill>
                <a:latin typeface="UbuntuMono-Regular"/>
              </a:rPr>
              <a:t>System</a:t>
            </a:r>
            <a:r>
              <a:rPr lang="en-IE" sz="1200" b="1" dirty="0" err="1" smtClean="0">
                <a:solidFill>
                  <a:srgbClr val="555555"/>
                </a:solidFill>
                <a:latin typeface="UbuntuMono-Regular"/>
              </a:rPr>
              <a:t>.</a:t>
            </a:r>
            <a:r>
              <a:rPr lang="en-IE" sz="1200" b="1" dirty="0" err="1" smtClean="0">
                <a:solidFill>
                  <a:srgbClr val="33009A"/>
                </a:solidFill>
                <a:latin typeface="UbuntuMono-Regular"/>
              </a:rPr>
              <a:t>out</a:t>
            </a:r>
            <a:r>
              <a:rPr lang="en-IE" sz="1200" b="1" dirty="0" err="1" smtClean="0">
                <a:solidFill>
                  <a:srgbClr val="555555"/>
                </a:solidFill>
                <a:latin typeface="UbuntuMono-Regular"/>
              </a:rPr>
              <a:t>.</a:t>
            </a:r>
            <a:r>
              <a:rPr lang="en-IE" sz="1200" b="1" dirty="0" err="1" smtClean="0">
                <a:solidFill>
                  <a:srgbClr val="33009A"/>
                </a:solidFill>
                <a:latin typeface="UbuntuMono-Regular"/>
              </a:rPr>
              <a:t>println</a:t>
            </a:r>
            <a:r>
              <a:rPr lang="en-IE" sz="1200" b="1" dirty="0">
                <a:solidFill>
                  <a:srgbClr val="555555"/>
                </a:solidFill>
                <a:latin typeface="UbuntuMono-Regular"/>
              </a:rPr>
              <a:t>();</a:t>
            </a:r>
          </a:p>
          <a:p>
            <a:pPr marL="0" indent="0">
              <a:buNone/>
            </a:pPr>
            <a:r>
              <a:rPr lang="en-IE" sz="1200" b="1" dirty="0" smtClean="0">
                <a:solidFill>
                  <a:srgbClr val="555555"/>
                </a:solidFill>
                <a:latin typeface="UbuntuMono-Regular"/>
              </a:rPr>
              <a:t>}}}</a:t>
            </a:r>
            <a:endParaRPr lang="en-IE" sz="1200" b="1" dirty="0">
              <a:solidFill>
                <a:srgbClr val="555555"/>
              </a:solidFill>
              <a:latin typeface="UbuntuMono-Regular"/>
            </a:endParaRPr>
          </a:p>
        </p:txBody>
      </p:sp>
    </p:spTree>
    <p:extLst>
      <p:ext uri="{BB962C8B-B14F-4D97-AF65-F5344CB8AC3E}">
        <p14:creationId xmlns:p14="http://schemas.microsoft.com/office/powerpoint/2010/main" val="178926473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39762"/>
          </a:xfrm>
        </p:spPr>
        <p:txBody>
          <a:bodyPr>
            <a:noAutofit/>
          </a:bodyPr>
          <a:lstStyle/>
          <a:p>
            <a:r>
              <a:rPr lang="en-IE" sz="2800" i="1" dirty="0"/>
              <a:t>The parts of a URL</a:t>
            </a:r>
            <a:endParaRPr lang="en-IE" sz="2800" b="1" dirty="0"/>
          </a:p>
        </p:txBody>
      </p:sp>
      <p:sp>
        <p:nvSpPr>
          <p:cNvPr id="3" name="Content Placeholder 2"/>
          <p:cNvSpPr>
            <a:spLocks noGrp="1"/>
          </p:cNvSpPr>
          <p:nvPr>
            <p:ph idx="1"/>
          </p:nvPr>
        </p:nvSpPr>
        <p:spPr>
          <a:xfrm>
            <a:off x="0" y="609600"/>
            <a:ext cx="9144000" cy="6248400"/>
          </a:xfrm>
        </p:spPr>
        <p:txBody>
          <a:bodyPr>
            <a:noAutofit/>
          </a:bodyPr>
          <a:lstStyle/>
          <a:p>
            <a:r>
              <a:rPr lang="en-IE" sz="2400" dirty="0"/>
              <a:t>URL has three methods that convert an instance to another form: </a:t>
            </a:r>
            <a:endParaRPr lang="en-IE" sz="2400" dirty="0" smtClean="0"/>
          </a:p>
          <a:p>
            <a:pPr lvl="1"/>
            <a:r>
              <a:rPr lang="en-IE" dirty="0" err="1" smtClean="0"/>
              <a:t>toString</a:t>
            </a:r>
            <a:r>
              <a:rPr lang="en-IE" dirty="0" smtClean="0"/>
              <a:t>(), </a:t>
            </a:r>
          </a:p>
          <a:p>
            <a:pPr lvl="1"/>
            <a:r>
              <a:rPr lang="en-IE" dirty="0" err="1" smtClean="0"/>
              <a:t>toExternalForm</a:t>
            </a:r>
            <a:r>
              <a:rPr lang="en-IE" dirty="0"/>
              <a:t>(), </a:t>
            </a:r>
            <a:endParaRPr lang="en-IE" dirty="0" smtClean="0"/>
          </a:p>
          <a:p>
            <a:pPr lvl="1"/>
            <a:r>
              <a:rPr lang="en-IE" dirty="0" smtClean="0"/>
              <a:t>and </a:t>
            </a:r>
            <a:r>
              <a:rPr lang="en-IE" dirty="0" err="1"/>
              <a:t>toURI</a:t>
            </a:r>
            <a:r>
              <a:rPr lang="en-IE" dirty="0"/>
              <a:t>().</a:t>
            </a:r>
          </a:p>
          <a:p>
            <a:r>
              <a:rPr lang="en-IE" sz="2400" dirty="0" smtClean="0"/>
              <a:t>The </a:t>
            </a:r>
            <a:r>
              <a:rPr lang="en-IE" sz="2400" dirty="0"/>
              <a:t>String </a:t>
            </a:r>
            <a:r>
              <a:rPr lang="en-IE" sz="2400" dirty="0" smtClean="0"/>
              <a:t>produced by </a:t>
            </a:r>
            <a:r>
              <a:rPr lang="en-IE" sz="2400" dirty="0" err="1">
                <a:solidFill>
                  <a:schemeClr val="tx2"/>
                </a:solidFill>
              </a:rPr>
              <a:t>toString</a:t>
            </a:r>
            <a:r>
              <a:rPr lang="en-IE" sz="2400" dirty="0"/>
              <a:t>() is always an </a:t>
            </a:r>
            <a:r>
              <a:rPr lang="en-IE" sz="2400" dirty="0">
                <a:solidFill>
                  <a:schemeClr val="tx2"/>
                </a:solidFill>
              </a:rPr>
              <a:t>absolute URL</a:t>
            </a:r>
            <a:r>
              <a:rPr lang="en-IE" sz="2400" dirty="0"/>
              <a:t>, such as </a:t>
            </a:r>
            <a:r>
              <a:rPr lang="en-IE" sz="2400" i="1" dirty="0"/>
              <a:t>http://</a:t>
            </a:r>
            <a:r>
              <a:rPr lang="en-IE" sz="2400" i="1" dirty="0" smtClean="0"/>
              <a:t>www.cafeaulait.org/javatutorial.html</a:t>
            </a:r>
            <a:r>
              <a:rPr lang="en-IE" sz="2400" dirty="0"/>
              <a:t>. </a:t>
            </a:r>
            <a:endParaRPr lang="en-IE" sz="2400" dirty="0" smtClean="0"/>
          </a:p>
          <a:p>
            <a:r>
              <a:rPr lang="en-IE" sz="2400" dirty="0" smtClean="0"/>
              <a:t>Print </a:t>
            </a:r>
            <a:r>
              <a:rPr lang="en-IE" sz="2400" dirty="0"/>
              <a:t>statements call </a:t>
            </a:r>
            <a:r>
              <a:rPr lang="en-IE" sz="2400" dirty="0" smtClean="0"/>
              <a:t>to String</a:t>
            </a:r>
            <a:r>
              <a:rPr lang="en-IE" sz="2400" dirty="0"/>
              <a:t>() implicitly. Outside of print statements, it’s more proper to use </a:t>
            </a:r>
            <a:r>
              <a:rPr lang="en-IE" sz="2400" dirty="0" err="1" smtClean="0">
                <a:solidFill>
                  <a:schemeClr val="tx2"/>
                </a:solidFill>
              </a:rPr>
              <a:t>toExternal</a:t>
            </a:r>
            <a:r>
              <a:rPr lang="en-IE" sz="2400" dirty="0" smtClean="0">
                <a:solidFill>
                  <a:schemeClr val="tx2"/>
                </a:solidFill>
              </a:rPr>
              <a:t> Form</a:t>
            </a:r>
            <a:r>
              <a:rPr lang="en-IE" sz="2400" dirty="0">
                <a:solidFill>
                  <a:schemeClr val="tx2"/>
                </a:solidFill>
              </a:rPr>
              <a:t>()</a:t>
            </a:r>
            <a:r>
              <a:rPr lang="en-IE" sz="2400" dirty="0"/>
              <a:t> </a:t>
            </a:r>
            <a:r>
              <a:rPr lang="en-IE" sz="2400" dirty="0" smtClean="0"/>
              <a:t>instead: </a:t>
            </a:r>
          </a:p>
          <a:p>
            <a:pPr lvl="1"/>
            <a:r>
              <a:rPr lang="en-IE" b="1" dirty="0" smtClean="0"/>
              <a:t>public </a:t>
            </a:r>
            <a:r>
              <a:rPr lang="en-IE" dirty="0" smtClean="0"/>
              <a:t>String </a:t>
            </a:r>
            <a:r>
              <a:rPr lang="en-IE" dirty="0" err="1"/>
              <a:t>toExternalForm</a:t>
            </a:r>
            <a:r>
              <a:rPr lang="en-IE" dirty="0" smtClean="0"/>
              <a:t>() </a:t>
            </a:r>
          </a:p>
          <a:p>
            <a:r>
              <a:rPr lang="en-IE" sz="2400" dirty="0" smtClean="0"/>
              <a:t>The </a:t>
            </a:r>
            <a:r>
              <a:rPr lang="en-IE" sz="2400" dirty="0" err="1" smtClean="0">
                <a:solidFill>
                  <a:schemeClr val="tx2"/>
                </a:solidFill>
              </a:rPr>
              <a:t>toExternalForm</a:t>
            </a:r>
            <a:r>
              <a:rPr lang="en-IE" sz="2400" dirty="0" smtClean="0"/>
              <a:t>() method returns a human-readable String representing the URL. It is identical to the </a:t>
            </a:r>
            <a:r>
              <a:rPr lang="en-IE" sz="2400" dirty="0" err="1" smtClean="0">
                <a:solidFill>
                  <a:schemeClr val="tx2"/>
                </a:solidFill>
              </a:rPr>
              <a:t>toString</a:t>
            </a:r>
            <a:r>
              <a:rPr lang="en-IE" sz="2400" dirty="0" smtClean="0"/>
              <a:t>() method. </a:t>
            </a:r>
          </a:p>
          <a:p>
            <a:r>
              <a:rPr lang="en-IE" sz="2400" dirty="0" smtClean="0"/>
              <a:t>Finally</a:t>
            </a:r>
            <a:r>
              <a:rPr lang="en-IE" sz="2400" dirty="0"/>
              <a:t>, the </a:t>
            </a:r>
            <a:r>
              <a:rPr lang="en-IE" sz="2400" dirty="0" err="1">
                <a:solidFill>
                  <a:schemeClr val="tx2"/>
                </a:solidFill>
              </a:rPr>
              <a:t>toURI</a:t>
            </a:r>
            <a:r>
              <a:rPr lang="en-IE" sz="2400" dirty="0"/>
              <a:t>() method converts a URL object to an equivalent URI object:</a:t>
            </a:r>
          </a:p>
          <a:p>
            <a:pPr lvl="1"/>
            <a:r>
              <a:rPr lang="en-IE" sz="2000" b="1" dirty="0"/>
              <a:t>public </a:t>
            </a:r>
            <a:r>
              <a:rPr lang="en-IE" sz="2000" dirty="0"/>
              <a:t>URI </a:t>
            </a:r>
            <a:r>
              <a:rPr lang="en-IE" sz="2000" dirty="0" err="1"/>
              <a:t>toURI</a:t>
            </a:r>
            <a:r>
              <a:rPr lang="en-IE" sz="2000" dirty="0"/>
              <a:t>() </a:t>
            </a:r>
            <a:r>
              <a:rPr lang="en-IE" sz="2000" b="1" dirty="0"/>
              <a:t>throws </a:t>
            </a:r>
            <a:r>
              <a:rPr lang="en-IE" sz="2000" dirty="0" err="1" smtClean="0"/>
              <a:t>URISyntaxException</a:t>
            </a:r>
            <a:endParaRPr lang="en-IE" sz="2000" dirty="0"/>
          </a:p>
        </p:txBody>
      </p:sp>
    </p:spTree>
    <p:extLst>
      <p:ext uri="{BB962C8B-B14F-4D97-AF65-F5344CB8AC3E}">
        <p14:creationId xmlns:p14="http://schemas.microsoft.com/office/powerpoint/2010/main" val="251892609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39762"/>
          </a:xfrm>
        </p:spPr>
        <p:txBody>
          <a:bodyPr>
            <a:noAutofit/>
          </a:bodyPr>
          <a:lstStyle/>
          <a:p>
            <a:r>
              <a:rPr lang="en-IE" sz="2800" i="1" dirty="0" smtClean="0"/>
              <a:t>URI</a:t>
            </a:r>
            <a:endParaRPr lang="en-IE" sz="2800" b="1" dirty="0"/>
          </a:p>
        </p:txBody>
      </p:sp>
      <p:sp>
        <p:nvSpPr>
          <p:cNvPr id="3" name="Content Placeholder 2"/>
          <p:cNvSpPr>
            <a:spLocks noGrp="1"/>
          </p:cNvSpPr>
          <p:nvPr>
            <p:ph idx="1"/>
          </p:nvPr>
        </p:nvSpPr>
        <p:spPr>
          <a:xfrm>
            <a:off x="0" y="609600"/>
            <a:ext cx="9144000" cy="6248400"/>
          </a:xfrm>
        </p:spPr>
        <p:txBody>
          <a:bodyPr>
            <a:noAutofit/>
          </a:bodyPr>
          <a:lstStyle/>
          <a:p>
            <a:r>
              <a:rPr lang="en-IE" sz="2000" dirty="0" smtClean="0"/>
              <a:t>In </a:t>
            </a:r>
            <a:r>
              <a:rPr lang="en-IE" sz="2000" dirty="0"/>
              <a:t>Java, URIs are represented by the </a:t>
            </a:r>
            <a:r>
              <a:rPr lang="en-IE" sz="2000" dirty="0" err="1">
                <a:solidFill>
                  <a:schemeClr val="tx2"/>
                </a:solidFill>
              </a:rPr>
              <a:t>java.net.URI</a:t>
            </a:r>
            <a:r>
              <a:rPr lang="en-IE" sz="2000" dirty="0">
                <a:solidFill>
                  <a:schemeClr val="tx2"/>
                </a:solidFill>
              </a:rPr>
              <a:t> class. </a:t>
            </a:r>
            <a:r>
              <a:rPr lang="en-IE" sz="2000" dirty="0"/>
              <a:t>This class differs from the java.net.URL class in three important ways:</a:t>
            </a:r>
          </a:p>
          <a:p>
            <a:pPr lvl="1"/>
            <a:r>
              <a:rPr lang="en-IE" sz="2000" dirty="0"/>
              <a:t>The URI class is purely about </a:t>
            </a:r>
            <a:r>
              <a:rPr lang="en-IE" sz="2000" dirty="0">
                <a:solidFill>
                  <a:srgbClr val="FF0000"/>
                </a:solidFill>
              </a:rPr>
              <a:t>identification of resources and parsing of URIs.  </a:t>
            </a:r>
            <a:r>
              <a:rPr lang="en-IE" sz="2000" dirty="0"/>
              <a:t>It provides </a:t>
            </a:r>
            <a:r>
              <a:rPr lang="en-IE" sz="2000" dirty="0">
                <a:solidFill>
                  <a:srgbClr val="FF0000"/>
                </a:solidFill>
              </a:rPr>
              <a:t>no methods to retrieve </a:t>
            </a:r>
            <a:r>
              <a:rPr lang="en-IE" sz="2000" dirty="0"/>
              <a:t>a representation of the resource identified by its URI.</a:t>
            </a:r>
          </a:p>
          <a:p>
            <a:pPr lvl="1"/>
            <a:r>
              <a:rPr lang="en-IE" sz="2000" dirty="0"/>
              <a:t>The URI class is more conformant to the relevant </a:t>
            </a:r>
            <a:r>
              <a:rPr lang="en-IE" sz="2000" dirty="0">
                <a:solidFill>
                  <a:srgbClr val="FF0000"/>
                </a:solidFill>
              </a:rPr>
              <a:t>specifications</a:t>
            </a:r>
            <a:r>
              <a:rPr lang="en-IE" sz="2000" dirty="0"/>
              <a:t> than the URL class.</a:t>
            </a:r>
          </a:p>
          <a:p>
            <a:pPr lvl="1"/>
            <a:r>
              <a:rPr lang="en-IE" sz="2000" dirty="0"/>
              <a:t>A URI object can represent a </a:t>
            </a:r>
            <a:r>
              <a:rPr lang="en-IE" sz="2000" dirty="0">
                <a:solidFill>
                  <a:srgbClr val="FF0000"/>
                </a:solidFill>
              </a:rPr>
              <a:t>relative URI</a:t>
            </a:r>
            <a:r>
              <a:rPr lang="en-IE" sz="2000" dirty="0"/>
              <a:t>. The URL class absolutizes all URIs before storing them</a:t>
            </a:r>
            <a:r>
              <a:rPr lang="en-IE" sz="2000" dirty="0" smtClean="0"/>
              <a:t>.</a:t>
            </a:r>
          </a:p>
          <a:p>
            <a:r>
              <a:rPr lang="en-IE" sz="2000" dirty="0" smtClean="0"/>
              <a:t>In </a:t>
            </a:r>
            <a:r>
              <a:rPr lang="en-IE" sz="2000" dirty="0"/>
              <a:t>brief, a URL object is a representation of an application layer protocol for </a:t>
            </a:r>
            <a:r>
              <a:rPr lang="en-IE" sz="2000" dirty="0" smtClean="0"/>
              <a:t>network retrieval</a:t>
            </a:r>
            <a:r>
              <a:rPr lang="en-IE" sz="2000" dirty="0"/>
              <a:t>, whereas a URI object is purely for string parsing and manipulation. </a:t>
            </a:r>
            <a:endParaRPr lang="en-IE" sz="2000" dirty="0" smtClean="0"/>
          </a:p>
          <a:p>
            <a:r>
              <a:rPr lang="en-IE" sz="2000" dirty="0">
                <a:solidFill>
                  <a:schemeClr val="tx2"/>
                </a:solidFill>
              </a:rPr>
              <a:t>The URI class has no network retrieval capabilities</a:t>
            </a:r>
            <a:r>
              <a:rPr lang="en-IE" sz="2000" dirty="0" smtClean="0"/>
              <a:t>.</a:t>
            </a:r>
          </a:p>
          <a:p>
            <a:r>
              <a:rPr lang="en-IE" sz="2000" dirty="0" smtClean="0">
                <a:solidFill>
                  <a:schemeClr val="tx2"/>
                </a:solidFill>
              </a:rPr>
              <a:t>Normally</a:t>
            </a:r>
            <a:r>
              <a:rPr lang="en-IE" sz="2000" dirty="0">
                <a:solidFill>
                  <a:schemeClr val="tx2"/>
                </a:solidFill>
              </a:rPr>
              <a:t>, you should </a:t>
            </a:r>
            <a:r>
              <a:rPr lang="en-IE" sz="2000" dirty="0" smtClean="0">
                <a:solidFill>
                  <a:schemeClr val="tx2"/>
                </a:solidFill>
              </a:rPr>
              <a:t>use the </a:t>
            </a:r>
            <a:r>
              <a:rPr lang="en-IE" sz="2000" dirty="0">
                <a:solidFill>
                  <a:schemeClr val="tx2"/>
                </a:solidFill>
              </a:rPr>
              <a:t>URL class when you want to download the content at a URL and the URI class </a:t>
            </a:r>
            <a:r>
              <a:rPr lang="en-IE" sz="2000" dirty="0" smtClean="0">
                <a:solidFill>
                  <a:schemeClr val="tx2"/>
                </a:solidFill>
              </a:rPr>
              <a:t>when you </a:t>
            </a:r>
            <a:r>
              <a:rPr lang="en-IE" sz="2000" dirty="0">
                <a:solidFill>
                  <a:schemeClr val="tx2"/>
                </a:solidFill>
              </a:rPr>
              <a:t>want to use the URL for identification rather than </a:t>
            </a:r>
            <a:r>
              <a:rPr lang="en-IE" sz="2000" dirty="0" smtClean="0">
                <a:solidFill>
                  <a:schemeClr val="tx2"/>
                </a:solidFill>
              </a:rPr>
              <a:t>retrieval</a:t>
            </a:r>
          </a:p>
          <a:p>
            <a:r>
              <a:rPr lang="en-IE" sz="2000" dirty="0" smtClean="0"/>
              <a:t>When </a:t>
            </a:r>
            <a:r>
              <a:rPr lang="en-IE" sz="2000" dirty="0"/>
              <a:t>you need to do both, you may convert from a URI to a </a:t>
            </a:r>
            <a:r>
              <a:rPr lang="en-IE" sz="2000" dirty="0" smtClean="0"/>
              <a:t>URL with </a:t>
            </a:r>
            <a:r>
              <a:rPr lang="en-IE" sz="2000" dirty="0"/>
              <a:t>the </a:t>
            </a:r>
            <a:r>
              <a:rPr lang="en-IE" sz="2000" dirty="0" err="1"/>
              <a:t>toURL</a:t>
            </a:r>
            <a:r>
              <a:rPr lang="en-IE" sz="2000" dirty="0"/>
              <a:t>() method, and from a URL to a URI using the </a:t>
            </a:r>
            <a:r>
              <a:rPr lang="en-IE" sz="2000" dirty="0" err="1"/>
              <a:t>toURI</a:t>
            </a:r>
            <a:r>
              <a:rPr lang="en-IE" sz="2000" dirty="0"/>
              <a:t>() method.</a:t>
            </a:r>
          </a:p>
        </p:txBody>
      </p:sp>
    </p:spTree>
    <p:extLst>
      <p:ext uri="{BB962C8B-B14F-4D97-AF65-F5344CB8AC3E}">
        <p14:creationId xmlns:p14="http://schemas.microsoft.com/office/powerpoint/2010/main" val="215309513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39762"/>
          </a:xfrm>
        </p:spPr>
        <p:txBody>
          <a:bodyPr>
            <a:noAutofit/>
          </a:bodyPr>
          <a:lstStyle/>
          <a:p>
            <a:r>
              <a:rPr lang="en-IE" sz="2800" i="1" dirty="0" smtClean="0"/>
              <a:t>Constructing a URI</a:t>
            </a:r>
            <a:endParaRPr lang="en-IE" sz="2800" b="1" dirty="0"/>
          </a:p>
        </p:txBody>
      </p:sp>
      <p:sp>
        <p:nvSpPr>
          <p:cNvPr id="3" name="Content Placeholder 2"/>
          <p:cNvSpPr>
            <a:spLocks noGrp="1"/>
          </p:cNvSpPr>
          <p:nvPr>
            <p:ph idx="1"/>
          </p:nvPr>
        </p:nvSpPr>
        <p:spPr>
          <a:xfrm>
            <a:off x="0" y="609600"/>
            <a:ext cx="9144000" cy="6248400"/>
          </a:xfrm>
        </p:spPr>
        <p:txBody>
          <a:bodyPr>
            <a:noAutofit/>
          </a:bodyPr>
          <a:lstStyle/>
          <a:p>
            <a:r>
              <a:rPr lang="en-IE" sz="2400" dirty="0">
                <a:solidFill>
                  <a:srgbClr val="000000"/>
                </a:solidFill>
                <a:latin typeface="MinionPro-Regular"/>
              </a:rPr>
              <a:t>URIs are built from strings. You can either pass the entire URI to the constructor in </a:t>
            </a:r>
            <a:r>
              <a:rPr lang="en-IE" sz="2400" dirty="0" smtClean="0">
                <a:solidFill>
                  <a:srgbClr val="000000"/>
                </a:solidFill>
                <a:latin typeface="MinionPro-Regular"/>
              </a:rPr>
              <a:t>a single </a:t>
            </a:r>
            <a:r>
              <a:rPr lang="en-IE" sz="2400" dirty="0">
                <a:solidFill>
                  <a:srgbClr val="000000"/>
                </a:solidFill>
                <a:latin typeface="MinionPro-Regular"/>
              </a:rPr>
              <a:t>string, or the individual pieces:</a:t>
            </a:r>
          </a:p>
          <a:p>
            <a:r>
              <a:rPr lang="en-IE" sz="1800" b="1" dirty="0">
                <a:solidFill>
                  <a:srgbClr val="00669A"/>
                </a:solidFill>
                <a:latin typeface="UbuntuMono-Bold"/>
              </a:rPr>
              <a:t>public </a:t>
            </a:r>
            <a:r>
              <a:rPr lang="en-IE" sz="1800" dirty="0">
                <a:solidFill>
                  <a:srgbClr val="CD00FF"/>
                </a:solidFill>
                <a:latin typeface="UbuntuMono-Regular"/>
              </a:rPr>
              <a:t>URI</a:t>
            </a:r>
            <a:r>
              <a:rPr lang="en-IE" sz="1800" dirty="0">
                <a:solidFill>
                  <a:srgbClr val="555555"/>
                </a:solidFill>
                <a:latin typeface="UbuntuMono-Regular"/>
              </a:rPr>
              <a:t>(</a:t>
            </a:r>
            <a:r>
              <a:rPr lang="en-IE" sz="1800" dirty="0">
                <a:solidFill>
                  <a:srgbClr val="000089"/>
                </a:solidFill>
                <a:latin typeface="UbuntuMono-Regular"/>
              </a:rPr>
              <a:t>String </a:t>
            </a:r>
            <a:r>
              <a:rPr lang="en-IE" sz="1800" dirty="0" err="1">
                <a:solidFill>
                  <a:srgbClr val="000089"/>
                </a:solidFill>
                <a:latin typeface="UbuntuMono-Regular"/>
              </a:rPr>
              <a:t>uri</a:t>
            </a:r>
            <a:r>
              <a:rPr lang="en-IE" sz="1800" dirty="0">
                <a:solidFill>
                  <a:srgbClr val="555555"/>
                </a:solidFill>
                <a:latin typeface="UbuntuMono-Regular"/>
              </a:rPr>
              <a:t>) </a:t>
            </a:r>
            <a:r>
              <a:rPr lang="en-IE" sz="1800" b="1" dirty="0">
                <a:solidFill>
                  <a:srgbClr val="00669A"/>
                </a:solidFill>
                <a:latin typeface="UbuntuMono-Bold"/>
              </a:rPr>
              <a:t>throws </a:t>
            </a:r>
            <a:r>
              <a:rPr lang="en-IE" sz="1800" dirty="0" err="1">
                <a:solidFill>
                  <a:srgbClr val="000089"/>
                </a:solidFill>
                <a:latin typeface="UbuntuMono-Regular"/>
              </a:rPr>
              <a:t>URISyntaxException</a:t>
            </a:r>
            <a:endParaRPr lang="en-IE" sz="1800" dirty="0">
              <a:solidFill>
                <a:srgbClr val="000089"/>
              </a:solidFill>
              <a:latin typeface="UbuntuMono-Regular"/>
            </a:endParaRPr>
          </a:p>
          <a:p>
            <a:r>
              <a:rPr lang="en-IE" sz="1800" b="1" dirty="0">
                <a:solidFill>
                  <a:srgbClr val="00669A"/>
                </a:solidFill>
                <a:latin typeface="UbuntuMono-Bold"/>
              </a:rPr>
              <a:t>public </a:t>
            </a:r>
            <a:r>
              <a:rPr lang="en-IE" sz="1800" dirty="0">
                <a:solidFill>
                  <a:srgbClr val="CD00FF"/>
                </a:solidFill>
                <a:latin typeface="UbuntuMono-Regular"/>
              </a:rPr>
              <a:t>URI</a:t>
            </a:r>
            <a:r>
              <a:rPr lang="en-IE" sz="1800" dirty="0">
                <a:solidFill>
                  <a:srgbClr val="555555"/>
                </a:solidFill>
                <a:latin typeface="UbuntuMono-Regular"/>
              </a:rPr>
              <a:t>(</a:t>
            </a:r>
            <a:r>
              <a:rPr lang="en-IE" sz="1800" dirty="0">
                <a:solidFill>
                  <a:srgbClr val="000089"/>
                </a:solidFill>
                <a:latin typeface="UbuntuMono-Regular"/>
              </a:rPr>
              <a:t>String scheme</a:t>
            </a:r>
            <a:r>
              <a:rPr lang="en-IE" sz="1800" dirty="0">
                <a:solidFill>
                  <a:srgbClr val="555555"/>
                </a:solidFill>
                <a:latin typeface="UbuntuMono-Regular"/>
              </a:rPr>
              <a:t>, </a:t>
            </a:r>
            <a:r>
              <a:rPr lang="en-IE" sz="1800" dirty="0">
                <a:solidFill>
                  <a:srgbClr val="000089"/>
                </a:solidFill>
                <a:latin typeface="UbuntuMono-Regular"/>
              </a:rPr>
              <a:t>String </a:t>
            </a:r>
            <a:r>
              <a:rPr lang="en-IE" sz="1800" dirty="0" err="1">
                <a:solidFill>
                  <a:srgbClr val="000089"/>
                </a:solidFill>
                <a:latin typeface="UbuntuMono-Regular"/>
              </a:rPr>
              <a:t>schemeSpecificPart</a:t>
            </a:r>
            <a:r>
              <a:rPr lang="en-IE" sz="1800" dirty="0">
                <a:solidFill>
                  <a:srgbClr val="555555"/>
                </a:solidFill>
                <a:latin typeface="UbuntuMono-Regular"/>
              </a:rPr>
              <a:t>, </a:t>
            </a:r>
            <a:r>
              <a:rPr lang="en-IE" sz="1800" dirty="0">
                <a:solidFill>
                  <a:srgbClr val="000089"/>
                </a:solidFill>
                <a:latin typeface="UbuntuMono-Regular"/>
              </a:rPr>
              <a:t>String </a:t>
            </a:r>
            <a:r>
              <a:rPr lang="en-IE" sz="1800" dirty="0" smtClean="0">
                <a:solidFill>
                  <a:srgbClr val="000089"/>
                </a:solidFill>
                <a:latin typeface="UbuntuMono-Regular"/>
              </a:rPr>
              <a:t>fragment</a:t>
            </a:r>
            <a:r>
              <a:rPr lang="en-IE" sz="1800" dirty="0" smtClean="0">
                <a:solidFill>
                  <a:srgbClr val="555555"/>
                </a:solidFill>
                <a:latin typeface="UbuntuMono-Regular"/>
              </a:rPr>
              <a:t>) </a:t>
            </a:r>
            <a:r>
              <a:rPr lang="en-IE" sz="1800" b="1" dirty="0" smtClean="0">
                <a:solidFill>
                  <a:srgbClr val="00669A"/>
                </a:solidFill>
                <a:latin typeface="UbuntuMono-Bold"/>
              </a:rPr>
              <a:t>throws </a:t>
            </a:r>
            <a:r>
              <a:rPr lang="en-IE" sz="1800" dirty="0" err="1">
                <a:solidFill>
                  <a:srgbClr val="000089"/>
                </a:solidFill>
                <a:latin typeface="UbuntuMono-Regular"/>
              </a:rPr>
              <a:t>URISyntaxException</a:t>
            </a:r>
            <a:endParaRPr lang="en-IE" sz="1800" dirty="0">
              <a:solidFill>
                <a:srgbClr val="000089"/>
              </a:solidFill>
              <a:latin typeface="UbuntuMono-Regular"/>
            </a:endParaRPr>
          </a:p>
          <a:p>
            <a:r>
              <a:rPr lang="en-IE" sz="1800" b="1" dirty="0">
                <a:solidFill>
                  <a:srgbClr val="00669A"/>
                </a:solidFill>
                <a:latin typeface="UbuntuMono-Bold"/>
              </a:rPr>
              <a:t>public </a:t>
            </a:r>
            <a:r>
              <a:rPr lang="en-IE" sz="1800" dirty="0">
                <a:solidFill>
                  <a:srgbClr val="CD00FF"/>
                </a:solidFill>
                <a:latin typeface="UbuntuMono-Regular"/>
              </a:rPr>
              <a:t>URI</a:t>
            </a:r>
            <a:r>
              <a:rPr lang="en-IE" sz="1800" dirty="0">
                <a:solidFill>
                  <a:srgbClr val="555555"/>
                </a:solidFill>
                <a:latin typeface="UbuntuMono-Regular"/>
              </a:rPr>
              <a:t>(</a:t>
            </a:r>
            <a:r>
              <a:rPr lang="en-IE" sz="1800" dirty="0">
                <a:solidFill>
                  <a:srgbClr val="000089"/>
                </a:solidFill>
                <a:latin typeface="UbuntuMono-Regular"/>
              </a:rPr>
              <a:t>String scheme</a:t>
            </a:r>
            <a:r>
              <a:rPr lang="en-IE" sz="1800" dirty="0">
                <a:solidFill>
                  <a:srgbClr val="555555"/>
                </a:solidFill>
                <a:latin typeface="UbuntuMono-Regular"/>
              </a:rPr>
              <a:t>, </a:t>
            </a:r>
            <a:r>
              <a:rPr lang="en-IE" sz="1800" dirty="0">
                <a:solidFill>
                  <a:srgbClr val="000089"/>
                </a:solidFill>
                <a:latin typeface="UbuntuMono-Regular"/>
              </a:rPr>
              <a:t>String host</a:t>
            </a:r>
            <a:r>
              <a:rPr lang="en-IE" sz="1800" dirty="0">
                <a:solidFill>
                  <a:srgbClr val="555555"/>
                </a:solidFill>
                <a:latin typeface="UbuntuMono-Regular"/>
              </a:rPr>
              <a:t>, </a:t>
            </a:r>
            <a:r>
              <a:rPr lang="en-IE" sz="1800" dirty="0">
                <a:solidFill>
                  <a:srgbClr val="000089"/>
                </a:solidFill>
                <a:latin typeface="UbuntuMono-Regular"/>
              </a:rPr>
              <a:t>String path</a:t>
            </a:r>
            <a:r>
              <a:rPr lang="en-IE" sz="1800" dirty="0">
                <a:solidFill>
                  <a:srgbClr val="555555"/>
                </a:solidFill>
                <a:latin typeface="UbuntuMono-Regular"/>
              </a:rPr>
              <a:t>, </a:t>
            </a:r>
            <a:r>
              <a:rPr lang="en-IE" sz="1800" dirty="0">
                <a:solidFill>
                  <a:srgbClr val="000089"/>
                </a:solidFill>
                <a:latin typeface="UbuntuMono-Regular"/>
              </a:rPr>
              <a:t>String </a:t>
            </a:r>
            <a:r>
              <a:rPr lang="en-IE" sz="1800" dirty="0" smtClean="0">
                <a:solidFill>
                  <a:srgbClr val="000089"/>
                </a:solidFill>
                <a:latin typeface="UbuntuMono-Regular"/>
              </a:rPr>
              <a:t>fragment</a:t>
            </a:r>
            <a:r>
              <a:rPr lang="en-IE" sz="1800" dirty="0" smtClean="0">
                <a:solidFill>
                  <a:srgbClr val="555555"/>
                </a:solidFill>
                <a:latin typeface="UbuntuMono-Regular"/>
              </a:rPr>
              <a:t>) </a:t>
            </a:r>
            <a:r>
              <a:rPr lang="en-IE" sz="1800" b="1" dirty="0" smtClean="0">
                <a:solidFill>
                  <a:srgbClr val="00669A"/>
                </a:solidFill>
                <a:latin typeface="UbuntuMono-Bold"/>
              </a:rPr>
              <a:t>throws </a:t>
            </a:r>
            <a:r>
              <a:rPr lang="en-IE" sz="1800" dirty="0" err="1">
                <a:solidFill>
                  <a:srgbClr val="000089"/>
                </a:solidFill>
                <a:latin typeface="UbuntuMono-Regular"/>
              </a:rPr>
              <a:t>URISyntaxException</a:t>
            </a:r>
            <a:endParaRPr lang="en-IE" sz="1800" dirty="0">
              <a:solidFill>
                <a:srgbClr val="000089"/>
              </a:solidFill>
              <a:latin typeface="UbuntuMono-Regular"/>
            </a:endParaRPr>
          </a:p>
          <a:p>
            <a:r>
              <a:rPr lang="en-IE" sz="1800" b="1" dirty="0">
                <a:solidFill>
                  <a:srgbClr val="00669A"/>
                </a:solidFill>
                <a:latin typeface="UbuntuMono-Bold"/>
              </a:rPr>
              <a:t>public </a:t>
            </a:r>
            <a:r>
              <a:rPr lang="en-IE" sz="1800" dirty="0">
                <a:solidFill>
                  <a:srgbClr val="CD00FF"/>
                </a:solidFill>
                <a:latin typeface="UbuntuMono-Regular"/>
              </a:rPr>
              <a:t>URI</a:t>
            </a:r>
            <a:r>
              <a:rPr lang="en-IE" sz="1800" dirty="0">
                <a:solidFill>
                  <a:srgbClr val="555555"/>
                </a:solidFill>
                <a:latin typeface="UbuntuMono-Regular"/>
              </a:rPr>
              <a:t>(</a:t>
            </a:r>
            <a:r>
              <a:rPr lang="en-IE" sz="1800" dirty="0">
                <a:solidFill>
                  <a:srgbClr val="000089"/>
                </a:solidFill>
                <a:latin typeface="UbuntuMono-Regular"/>
              </a:rPr>
              <a:t>String scheme</a:t>
            </a:r>
            <a:r>
              <a:rPr lang="en-IE" sz="1800" dirty="0">
                <a:solidFill>
                  <a:srgbClr val="555555"/>
                </a:solidFill>
                <a:latin typeface="UbuntuMono-Regular"/>
              </a:rPr>
              <a:t>, </a:t>
            </a:r>
            <a:r>
              <a:rPr lang="en-IE" sz="1800" dirty="0">
                <a:solidFill>
                  <a:srgbClr val="000089"/>
                </a:solidFill>
                <a:latin typeface="UbuntuMono-Regular"/>
              </a:rPr>
              <a:t>String authority</a:t>
            </a:r>
            <a:r>
              <a:rPr lang="en-IE" sz="1800" dirty="0">
                <a:solidFill>
                  <a:srgbClr val="555555"/>
                </a:solidFill>
                <a:latin typeface="UbuntuMono-Regular"/>
              </a:rPr>
              <a:t>, </a:t>
            </a:r>
            <a:r>
              <a:rPr lang="en-IE" sz="1800" dirty="0">
                <a:solidFill>
                  <a:srgbClr val="000089"/>
                </a:solidFill>
                <a:latin typeface="UbuntuMono-Regular"/>
              </a:rPr>
              <a:t>String path</a:t>
            </a:r>
            <a:r>
              <a:rPr lang="en-IE" sz="1800" dirty="0">
                <a:solidFill>
                  <a:srgbClr val="555555"/>
                </a:solidFill>
                <a:latin typeface="UbuntuMono-Regular"/>
              </a:rPr>
              <a:t>, </a:t>
            </a:r>
            <a:r>
              <a:rPr lang="en-IE" sz="1800" dirty="0">
                <a:solidFill>
                  <a:srgbClr val="000089"/>
                </a:solidFill>
                <a:latin typeface="UbuntuMono-Regular"/>
              </a:rPr>
              <a:t>String </a:t>
            </a:r>
            <a:r>
              <a:rPr lang="en-IE" sz="1800" dirty="0" smtClean="0">
                <a:solidFill>
                  <a:srgbClr val="000089"/>
                </a:solidFill>
                <a:latin typeface="UbuntuMono-Regular"/>
              </a:rPr>
              <a:t>query</a:t>
            </a:r>
            <a:r>
              <a:rPr lang="en-IE" sz="1800" dirty="0" smtClean="0">
                <a:solidFill>
                  <a:srgbClr val="555555"/>
                </a:solidFill>
                <a:latin typeface="UbuntuMono-Regular"/>
              </a:rPr>
              <a:t>, </a:t>
            </a:r>
            <a:r>
              <a:rPr lang="en-IE" sz="1800" dirty="0" smtClean="0">
                <a:solidFill>
                  <a:srgbClr val="000089"/>
                </a:solidFill>
                <a:latin typeface="UbuntuMono-Regular"/>
              </a:rPr>
              <a:t>String </a:t>
            </a:r>
            <a:r>
              <a:rPr lang="en-IE" sz="1800" dirty="0">
                <a:solidFill>
                  <a:srgbClr val="000089"/>
                </a:solidFill>
                <a:latin typeface="UbuntuMono-Regular"/>
              </a:rPr>
              <a:t>fragment</a:t>
            </a:r>
            <a:r>
              <a:rPr lang="en-IE" sz="1800" dirty="0">
                <a:solidFill>
                  <a:srgbClr val="555555"/>
                </a:solidFill>
                <a:latin typeface="UbuntuMono-Regular"/>
              </a:rPr>
              <a:t>) </a:t>
            </a:r>
            <a:r>
              <a:rPr lang="en-IE" sz="1800" b="1" dirty="0">
                <a:solidFill>
                  <a:srgbClr val="00669A"/>
                </a:solidFill>
                <a:latin typeface="UbuntuMono-Bold"/>
              </a:rPr>
              <a:t>throws </a:t>
            </a:r>
            <a:r>
              <a:rPr lang="en-IE" sz="1800" dirty="0" err="1">
                <a:solidFill>
                  <a:srgbClr val="000089"/>
                </a:solidFill>
                <a:latin typeface="UbuntuMono-Regular"/>
              </a:rPr>
              <a:t>URISyntaxException</a:t>
            </a:r>
            <a:endParaRPr lang="en-IE" sz="1800" dirty="0">
              <a:solidFill>
                <a:srgbClr val="000089"/>
              </a:solidFill>
              <a:latin typeface="UbuntuMono-Regular"/>
            </a:endParaRPr>
          </a:p>
          <a:p>
            <a:r>
              <a:rPr lang="en-IE" sz="1800" b="1" dirty="0">
                <a:solidFill>
                  <a:srgbClr val="00669A"/>
                </a:solidFill>
                <a:latin typeface="UbuntuMono-Bold"/>
              </a:rPr>
              <a:t>public </a:t>
            </a:r>
            <a:r>
              <a:rPr lang="en-IE" sz="1800" dirty="0">
                <a:solidFill>
                  <a:srgbClr val="CD00FF"/>
                </a:solidFill>
                <a:latin typeface="UbuntuMono-Regular"/>
              </a:rPr>
              <a:t>URI</a:t>
            </a:r>
            <a:r>
              <a:rPr lang="en-IE" sz="1800" dirty="0">
                <a:solidFill>
                  <a:srgbClr val="555555"/>
                </a:solidFill>
                <a:latin typeface="UbuntuMono-Regular"/>
              </a:rPr>
              <a:t>(</a:t>
            </a:r>
            <a:r>
              <a:rPr lang="en-IE" sz="1800" dirty="0">
                <a:solidFill>
                  <a:srgbClr val="000089"/>
                </a:solidFill>
                <a:latin typeface="UbuntuMono-Regular"/>
              </a:rPr>
              <a:t>String scheme</a:t>
            </a:r>
            <a:r>
              <a:rPr lang="en-IE" sz="1800" dirty="0">
                <a:solidFill>
                  <a:srgbClr val="555555"/>
                </a:solidFill>
                <a:latin typeface="UbuntuMono-Regular"/>
              </a:rPr>
              <a:t>, </a:t>
            </a:r>
            <a:r>
              <a:rPr lang="en-IE" sz="1800" dirty="0">
                <a:solidFill>
                  <a:srgbClr val="000089"/>
                </a:solidFill>
                <a:latin typeface="UbuntuMono-Regular"/>
              </a:rPr>
              <a:t>String </a:t>
            </a:r>
            <a:r>
              <a:rPr lang="en-IE" sz="1800" dirty="0" err="1">
                <a:solidFill>
                  <a:srgbClr val="000089"/>
                </a:solidFill>
                <a:latin typeface="UbuntuMono-Regular"/>
              </a:rPr>
              <a:t>userInfo</a:t>
            </a:r>
            <a:r>
              <a:rPr lang="en-IE" sz="1800" dirty="0">
                <a:solidFill>
                  <a:srgbClr val="555555"/>
                </a:solidFill>
                <a:latin typeface="UbuntuMono-Regular"/>
              </a:rPr>
              <a:t>, </a:t>
            </a:r>
            <a:r>
              <a:rPr lang="en-IE" sz="1800" dirty="0">
                <a:solidFill>
                  <a:srgbClr val="000089"/>
                </a:solidFill>
                <a:latin typeface="UbuntuMono-Regular"/>
              </a:rPr>
              <a:t>String host</a:t>
            </a:r>
            <a:r>
              <a:rPr lang="en-IE" sz="1800" dirty="0">
                <a:solidFill>
                  <a:srgbClr val="555555"/>
                </a:solidFill>
                <a:latin typeface="UbuntuMono-Regular"/>
              </a:rPr>
              <a:t>, </a:t>
            </a:r>
            <a:r>
              <a:rPr lang="en-IE" sz="1800" b="1" dirty="0" err="1">
                <a:solidFill>
                  <a:srgbClr val="007789"/>
                </a:solidFill>
                <a:latin typeface="UbuntuMono-Bold"/>
              </a:rPr>
              <a:t>int</a:t>
            </a:r>
            <a:r>
              <a:rPr lang="en-IE" sz="1800" b="1" dirty="0">
                <a:solidFill>
                  <a:srgbClr val="007789"/>
                </a:solidFill>
                <a:latin typeface="UbuntuMono-Bold"/>
              </a:rPr>
              <a:t> </a:t>
            </a:r>
            <a:r>
              <a:rPr lang="en-IE" sz="1800" dirty="0" smtClean="0">
                <a:solidFill>
                  <a:srgbClr val="000089"/>
                </a:solidFill>
                <a:latin typeface="UbuntuMono-Regular"/>
              </a:rPr>
              <a:t>port</a:t>
            </a:r>
            <a:r>
              <a:rPr lang="en-IE" sz="1800" dirty="0" smtClean="0">
                <a:solidFill>
                  <a:srgbClr val="555555"/>
                </a:solidFill>
                <a:latin typeface="UbuntuMono-Regular"/>
              </a:rPr>
              <a:t>, </a:t>
            </a:r>
            <a:r>
              <a:rPr lang="en-IE" sz="1800" dirty="0" smtClean="0">
                <a:solidFill>
                  <a:srgbClr val="000089"/>
                </a:solidFill>
                <a:latin typeface="UbuntuMono-Regular"/>
              </a:rPr>
              <a:t>String </a:t>
            </a:r>
            <a:r>
              <a:rPr lang="en-IE" sz="1800" dirty="0">
                <a:solidFill>
                  <a:srgbClr val="000089"/>
                </a:solidFill>
                <a:latin typeface="UbuntuMono-Regular"/>
              </a:rPr>
              <a:t>path</a:t>
            </a:r>
            <a:r>
              <a:rPr lang="en-IE" sz="1800" dirty="0">
                <a:solidFill>
                  <a:srgbClr val="555555"/>
                </a:solidFill>
                <a:latin typeface="UbuntuMono-Regular"/>
              </a:rPr>
              <a:t>, </a:t>
            </a:r>
            <a:r>
              <a:rPr lang="en-IE" sz="1800" dirty="0">
                <a:solidFill>
                  <a:srgbClr val="000089"/>
                </a:solidFill>
                <a:latin typeface="UbuntuMono-Regular"/>
              </a:rPr>
              <a:t>String query</a:t>
            </a:r>
            <a:r>
              <a:rPr lang="en-IE" sz="1800" dirty="0">
                <a:solidFill>
                  <a:srgbClr val="555555"/>
                </a:solidFill>
                <a:latin typeface="UbuntuMono-Regular"/>
              </a:rPr>
              <a:t>, </a:t>
            </a:r>
            <a:r>
              <a:rPr lang="en-IE" sz="1800" dirty="0">
                <a:solidFill>
                  <a:srgbClr val="000089"/>
                </a:solidFill>
                <a:latin typeface="UbuntuMono-Regular"/>
              </a:rPr>
              <a:t>String fragment</a:t>
            </a:r>
            <a:r>
              <a:rPr lang="en-IE" sz="1800" dirty="0">
                <a:solidFill>
                  <a:srgbClr val="555555"/>
                </a:solidFill>
                <a:latin typeface="UbuntuMono-Regular"/>
              </a:rPr>
              <a:t>) </a:t>
            </a:r>
            <a:r>
              <a:rPr lang="en-IE" sz="1800" b="1" dirty="0">
                <a:solidFill>
                  <a:srgbClr val="00669A"/>
                </a:solidFill>
                <a:latin typeface="UbuntuMono-Bold"/>
              </a:rPr>
              <a:t>throws </a:t>
            </a:r>
            <a:r>
              <a:rPr lang="en-IE" sz="1800" dirty="0" err="1" smtClean="0">
                <a:solidFill>
                  <a:srgbClr val="000089"/>
                </a:solidFill>
                <a:latin typeface="UbuntuMono-Regular"/>
              </a:rPr>
              <a:t>URISyntaxException</a:t>
            </a:r>
            <a:endParaRPr lang="en-IE" sz="1800" dirty="0" smtClean="0">
              <a:solidFill>
                <a:srgbClr val="000089"/>
              </a:solidFill>
              <a:latin typeface="UbuntuMono-Regular"/>
            </a:endParaRPr>
          </a:p>
          <a:p>
            <a:r>
              <a:rPr lang="en-IE" sz="2000" dirty="0"/>
              <a:t>Unlike the URL class, the URI class </a:t>
            </a:r>
            <a:r>
              <a:rPr lang="en-IE" sz="2000" dirty="0">
                <a:solidFill>
                  <a:schemeClr val="tx1"/>
                </a:solidFill>
              </a:rPr>
              <a:t>does not depend on an underlying protocol handle</a:t>
            </a:r>
            <a:r>
              <a:rPr lang="en-IE" sz="2000" dirty="0"/>
              <a:t>r.</a:t>
            </a:r>
          </a:p>
          <a:p>
            <a:r>
              <a:rPr lang="en-IE" sz="2000" dirty="0"/>
              <a:t>As long as the URI is syntactically correct, </a:t>
            </a:r>
            <a:r>
              <a:rPr lang="en-IE" sz="2000" dirty="0">
                <a:solidFill>
                  <a:schemeClr val="tx1"/>
                </a:solidFill>
              </a:rPr>
              <a:t>Java does not need to understand its </a:t>
            </a:r>
            <a:r>
              <a:rPr lang="en-IE" sz="2000" dirty="0" smtClean="0">
                <a:solidFill>
                  <a:schemeClr val="tx1"/>
                </a:solidFill>
              </a:rPr>
              <a:t>protocol</a:t>
            </a:r>
            <a:r>
              <a:rPr lang="en-IE" sz="2000" dirty="0" smtClean="0"/>
              <a:t> in </a:t>
            </a:r>
            <a:r>
              <a:rPr lang="en-IE" sz="2000" dirty="0"/>
              <a:t>order to create a representative URI object. </a:t>
            </a:r>
            <a:endParaRPr lang="en-IE" sz="2000" dirty="0" smtClean="0"/>
          </a:p>
          <a:p>
            <a:r>
              <a:rPr lang="en-IE" sz="2000" dirty="0" smtClean="0"/>
              <a:t>Thus</a:t>
            </a:r>
            <a:r>
              <a:rPr lang="en-IE" sz="2000" dirty="0"/>
              <a:t>, unlike the URL class, the URI </a:t>
            </a:r>
            <a:r>
              <a:rPr lang="en-IE" sz="2000" dirty="0" smtClean="0"/>
              <a:t>class can </a:t>
            </a:r>
            <a:r>
              <a:rPr lang="en-IE" sz="2000" dirty="0"/>
              <a:t>be used for new and experimental URI schemes.</a:t>
            </a:r>
          </a:p>
        </p:txBody>
      </p:sp>
    </p:spTree>
    <p:extLst>
      <p:ext uri="{BB962C8B-B14F-4D97-AF65-F5344CB8AC3E}">
        <p14:creationId xmlns:p14="http://schemas.microsoft.com/office/powerpoint/2010/main" val="214055934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39762"/>
          </a:xfrm>
        </p:spPr>
        <p:txBody>
          <a:bodyPr>
            <a:noAutofit/>
          </a:bodyPr>
          <a:lstStyle/>
          <a:p>
            <a:r>
              <a:rPr lang="en-IE" sz="2800" i="1" dirty="0" smtClean="0"/>
              <a:t>Constructing a URI</a:t>
            </a:r>
            <a:endParaRPr lang="en-IE" sz="2800" b="1" dirty="0"/>
          </a:p>
        </p:txBody>
      </p:sp>
      <p:sp>
        <p:nvSpPr>
          <p:cNvPr id="3" name="Content Placeholder 2"/>
          <p:cNvSpPr>
            <a:spLocks noGrp="1"/>
          </p:cNvSpPr>
          <p:nvPr>
            <p:ph idx="1"/>
          </p:nvPr>
        </p:nvSpPr>
        <p:spPr>
          <a:xfrm>
            <a:off x="0" y="609600"/>
            <a:ext cx="9144000" cy="6248400"/>
          </a:xfrm>
        </p:spPr>
        <p:txBody>
          <a:bodyPr>
            <a:noAutofit/>
          </a:bodyPr>
          <a:lstStyle/>
          <a:p>
            <a:r>
              <a:rPr lang="en-IE" sz="2400" dirty="0">
                <a:solidFill>
                  <a:srgbClr val="000000"/>
                </a:solidFill>
                <a:latin typeface="MinionPro-Regular"/>
              </a:rPr>
              <a:t>The </a:t>
            </a:r>
            <a:r>
              <a:rPr lang="en-IE" sz="2400" dirty="0">
                <a:latin typeface="MinionPro-Regular"/>
              </a:rPr>
              <a:t>first constructor </a:t>
            </a:r>
            <a:r>
              <a:rPr lang="en-IE" sz="2400" dirty="0">
                <a:solidFill>
                  <a:srgbClr val="000000"/>
                </a:solidFill>
                <a:latin typeface="MinionPro-Regular"/>
              </a:rPr>
              <a:t>creates a new </a:t>
            </a:r>
            <a:r>
              <a:rPr lang="en-IE" sz="2400" dirty="0">
                <a:solidFill>
                  <a:srgbClr val="000000"/>
                </a:solidFill>
                <a:latin typeface="UbuntuMono-Regular"/>
              </a:rPr>
              <a:t>URI </a:t>
            </a:r>
            <a:r>
              <a:rPr lang="en-IE" sz="2400" dirty="0">
                <a:solidFill>
                  <a:srgbClr val="000000"/>
                </a:solidFill>
                <a:latin typeface="MinionPro-Regular"/>
              </a:rPr>
              <a:t>object from any convenient string. For example:</a:t>
            </a:r>
          </a:p>
          <a:p>
            <a:r>
              <a:rPr lang="en-IE" sz="1800" dirty="0">
                <a:solidFill>
                  <a:srgbClr val="000089"/>
                </a:solidFill>
                <a:latin typeface="UbuntuMono-Regular"/>
              </a:rPr>
              <a:t>URI voice </a:t>
            </a:r>
            <a:r>
              <a:rPr lang="en-IE" sz="1800" dirty="0">
                <a:solidFill>
                  <a:srgbClr val="555555"/>
                </a:solidFill>
                <a:latin typeface="UbuntuMono-Regular"/>
              </a:rPr>
              <a:t>= </a:t>
            </a:r>
            <a:r>
              <a:rPr lang="en-IE" sz="1800" b="1" dirty="0">
                <a:solidFill>
                  <a:srgbClr val="00669A"/>
                </a:solidFill>
                <a:latin typeface="UbuntuMono-Bold"/>
              </a:rPr>
              <a:t>new </a:t>
            </a:r>
            <a:r>
              <a:rPr lang="en-IE" sz="1800" dirty="0">
                <a:solidFill>
                  <a:srgbClr val="000089"/>
                </a:solidFill>
                <a:latin typeface="UbuntuMono-Regular"/>
              </a:rPr>
              <a:t>URI</a:t>
            </a:r>
            <a:r>
              <a:rPr lang="en-IE" sz="1800" dirty="0">
                <a:solidFill>
                  <a:srgbClr val="555555"/>
                </a:solidFill>
                <a:latin typeface="UbuntuMono-Regular"/>
              </a:rPr>
              <a:t>(</a:t>
            </a:r>
            <a:r>
              <a:rPr lang="en-IE" sz="1800" dirty="0">
                <a:solidFill>
                  <a:srgbClr val="CD3300"/>
                </a:solidFill>
                <a:latin typeface="UbuntuMono-Regular"/>
              </a:rPr>
              <a:t>"</a:t>
            </a:r>
            <a:r>
              <a:rPr lang="en-IE" sz="1800" dirty="0" err="1">
                <a:solidFill>
                  <a:srgbClr val="CD3300"/>
                </a:solidFill>
                <a:latin typeface="UbuntuMono-Regular"/>
              </a:rPr>
              <a:t>tel</a:t>
            </a:r>
            <a:r>
              <a:rPr lang="en-IE" sz="1800" dirty="0">
                <a:solidFill>
                  <a:srgbClr val="CD3300"/>
                </a:solidFill>
                <a:latin typeface="UbuntuMono-Regular"/>
              </a:rPr>
              <a:t>:+1-800-9988-9938"</a:t>
            </a:r>
            <a:r>
              <a:rPr lang="en-IE" sz="1800" dirty="0">
                <a:solidFill>
                  <a:srgbClr val="555555"/>
                </a:solidFill>
                <a:latin typeface="UbuntuMono-Regular"/>
              </a:rPr>
              <a:t>);</a:t>
            </a:r>
          </a:p>
          <a:p>
            <a:r>
              <a:rPr lang="en-IE" sz="1800" dirty="0">
                <a:solidFill>
                  <a:srgbClr val="000089"/>
                </a:solidFill>
                <a:latin typeface="UbuntuMono-Regular"/>
              </a:rPr>
              <a:t>URI web </a:t>
            </a:r>
            <a:r>
              <a:rPr lang="en-IE" sz="1800" dirty="0">
                <a:solidFill>
                  <a:srgbClr val="555555"/>
                </a:solidFill>
                <a:latin typeface="UbuntuMono-Regular"/>
              </a:rPr>
              <a:t>= </a:t>
            </a:r>
            <a:r>
              <a:rPr lang="en-IE" sz="1800" b="1" dirty="0">
                <a:solidFill>
                  <a:srgbClr val="00669A"/>
                </a:solidFill>
                <a:latin typeface="UbuntuMono-Bold"/>
              </a:rPr>
              <a:t>new </a:t>
            </a:r>
            <a:r>
              <a:rPr lang="en-IE" sz="1800" dirty="0">
                <a:solidFill>
                  <a:srgbClr val="000089"/>
                </a:solidFill>
                <a:latin typeface="UbuntuMono-Regular"/>
              </a:rPr>
              <a:t>URI</a:t>
            </a:r>
            <a:r>
              <a:rPr lang="en-IE" sz="1800" dirty="0">
                <a:solidFill>
                  <a:srgbClr val="555555"/>
                </a:solidFill>
                <a:latin typeface="UbuntuMono-Regular"/>
              </a:rPr>
              <a:t>(</a:t>
            </a:r>
            <a:r>
              <a:rPr lang="en-IE" sz="1800" dirty="0">
                <a:solidFill>
                  <a:srgbClr val="CD3300"/>
                </a:solidFill>
                <a:latin typeface="UbuntuMono-Regular"/>
              </a:rPr>
              <a:t>"http://www.xml.com/pub/a/2003/09/17/stax.html#id=_hbc"</a:t>
            </a:r>
            <a:r>
              <a:rPr lang="en-IE" sz="1800" dirty="0">
                <a:solidFill>
                  <a:srgbClr val="555555"/>
                </a:solidFill>
                <a:latin typeface="UbuntuMono-Regular"/>
              </a:rPr>
              <a:t>);</a:t>
            </a:r>
          </a:p>
          <a:p>
            <a:r>
              <a:rPr lang="en-IE" sz="1800" dirty="0">
                <a:solidFill>
                  <a:srgbClr val="000089"/>
                </a:solidFill>
                <a:latin typeface="UbuntuMono-Regular"/>
              </a:rPr>
              <a:t>URI book </a:t>
            </a:r>
            <a:r>
              <a:rPr lang="en-IE" sz="1800" dirty="0">
                <a:solidFill>
                  <a:srgbClr val="555555"/>
                </a:solidFill>
                <a:latin typeface="UbuntuMono-Regular"/>
              </a:rPr>
              <a:t>= </a:t>
            </a:r>
            <a:r>
              <a:rPr lang="en-IE" sz="1800" b="1" dirty="0">
                <a:solidFill>
                  <a:srgbClr val="00669A"/>
                </a:solidFill>
                <a:latin typeface="UbuntuMono-Bold"/>
              </a:rPr>
              <a:t>new </a:t>
            </a:r>
            <a:r>
              <a:rPr lang="en-IE" sz="1800" dirty="0">
                <a:solidFill>
                  <a:srgbClr val="000089"/>
                </a:solidFill>
                <a:latin typeface="UbuntuMono-Regular"/>
              </a:rPr>
              <a:t>URI</a:t>
            </a:r>
            <a:r>
              <a:rPr lang="en-IE" sz="1800" dirty="0">
                <a:solidFill>
                  <a:srgbClr val="555555"/>
                </a:solidFill>
                <a:latin typeface="UbuntuMono-Regular"/>
              </a:rPr>
              <a:t>(</a:t>
            </a:r>
            <a:r>
              <a:rPr lang="en-IE" sz="1800" dirty="0">
                <a:solidFill>
                  <a:srgbClr val="CD3300"/>
                </a:solidFill>
                <a:latin typeface="UbuntuMono-Regular"/>
              </a:rPr>
              <a:t>"urn:isbn:1-565-92870-9</a:t>
            </a:r>
            <a:r>
              <a:rPr lang="en-IE" sz="1800" dirty="0" smtClean="0">
                <a:solidFill>
                  <a:srgbClr val="CD3300"/>
                </a:solidFill>
                <a:latin typeface="UbuntuMono-Regular"/>
              </a:rPr>
              <a:t>"</a:t>
            </a:r>
            <a:r>
              <a:rPr lang="en-IE" sz="1800" dirty="0" smtClean="0">
                <a:solidFill>
                  <a:srgbClr val="555555"/>
                </a:solidFill>
                <a:latin typeface="UbuntuMono-Regular"/>
              </a:rPr>
              <a:t>);</a:t>
            </a:r>
          </a:p>
          <a:p>
            <a:r>
              <a:rPr lang="en-IE" sz="1800" dirty="0">
                <a:solidFill>
                  <a:srgbClr val="000000"/>
                </a:solidFill>
                <a:latin typeface="MinionPro-Regular"/>
              </a:rPr>
              <a:t>The </a:t>
            </a:r>
            <a:r>
              <a:rPr lang="en-IE" sz="1800" dirty="0">
                <a:latin typeface="MinionPro-Regular"/>
              </a:rPr>
              <a:t>second constructor </a:t>
            </a:r>
            <a:r>
              <a:rPr lang="en-IE" sz="1800" dirty="0">
                <a:solidFill>
                  <a:srgbClr val="000000"/>
                </a:solidFill>
                <a:latin typeface="MinionPro-Regular"/>
              </a:rPr>
              <a:t>that takes a scheme specific part is mostly used for </a:t>
            </a:r>
            <a:r>
              <a:rPr lang="en-IE" sz="1800" dirty="0" err="1" smtClean="0">
                <a:solidFill>
                  <a:srgbClr val="000000"/>
                </a:solidFill>
                <a:latin typeface="MinionPro-Regular"/>
              </a:rPr>
              <a:t>nonhierarchical</a:t>
            </a:r>
            <a:r>
              <a:rPr lang="en-IE" sz="1800" dirty="0" smtClean="0">
                <a:solidFill>
                  <a:srgbClr val="000000"/>
                </a:solidFill>
                <a:latin typeface="MinionPro-Regular"/>
              </a:rPr>
              <a:t> URIs</a:t>
            </a:r>
            <a:r>
              <a:rPr lang="en-IE" sz="1800" dirty="0">
                <a:solidFill>
                  <a:srgbClr val="000000"/>
                </a:solidFill>
                <a:latin typeface="MinionPro-Regular"/>
              </a:rPr>
              <a:t>. The scheme is the URI’s protocol, such as http, urn, </a:t>
            </a:r>
            <a:r>
              <a:rPr lang="en-IE" sz="1800" dirty="0" err="1">
                <a:solidFill>
                  <a:srgbClr val="000000"/>
                </a:solidFill>
                <a:latin typeface="MinionPro-Regular"/>
              </a:rPr>
              <a:t>tel</a:t>
            </a:r>
            <a:r>
              <a:rPr lang="en-IE" sz="1800" dirty="0">
                <a:solidFill>
                  <a:srgbClr val="000000"/>
                </a:solidFill>
                <a:latin typeface="MinionPro-Regular"/>
              </a:rPr>
              <a:t>, and so forth. </a:t>
            </a:r>
            <a:r>
              <a:rPr lang="en-IE" sz="1800" dirty="0" smtClean="0">
                <a:solidFill>
                  <a:srgbClr val="000000"/>
                </a:solidFill>
                <a:latin typeface="MinionPro-Regular"/>
              </a:rPr>
              <a:t>Passing null for this argument omits the scheme, thus creating a relative URI. For example:</a:t>
            </a:r>
          </a:p>
          <a:p>
            <a:r>
              <a:rPr lang="de-DE" sz="1400" dirty="0" smtClean="0">
                <a:solidFill>
                  <a:srgbClr val="000089"/>
                </a:solidFill>
                <a:latin typeface="UbuntuMono-Regular"/>
              </a:rPr>
              <a:t>URI </a:t>
            </a:r>
            <a:r>
              <a:rPr lang="de-DE" sz="1400" dirty="0">
                <a:solidFill>
                  <a:srgbClr val="000089"/>
                </a:solidFill>
                <a:latin typeface="UbuntuMono-Regular"/>
              </a:rPr>
              <a:t>absolute </a:t>
            </a:r>
            <a:r>
              <a:rPr lang="de-DE" sz="1400" dirty="0">
                <a:solidFill>
                  <a:srgbClr val="555555"/>
                </a:solidFill>
                <a:latin typeface="UbuntuMono-Regular"/>
              </a:rPr>
              <a:t>= </a:t>
            </a:r>
            <a:r>
              <a:rPr lang="de-DE" sz="1400" b="1" dirty="0">
                <a:solidFill>
                  <a:srgbClr val="00669A"/>
                </a:solidFill>
                <a:latin typeface="UbuntuMono-Bold"/>
              </a:rPr>
              <a:t>new </a:t>
            </a:r>
            <a:r>
              <a:rPr lang="de-DE" sz="1400" dirty="0">
                <a:solidFill>
                  <a:srgbClr val="000089"/>
                </a:solidFill>
                <a:latin typeface="UbuntuMono-Regular"/>
              </a:rPr>
              <a:t>URI</a:t>
            </a:r>
            <a:r>
              <a:rPr lang="de-DE" sz="1400" dirty="0">
                <a:solidFill>
                  <a:srgbClr val="555555"/>
                </a:solidFill>
                <a:latin typeface="UbuntuMono-Regular"/>
              </a:rPr>
              <a:t>(</a:t>
            </a:r>
            <a:r>
              <a:rPr lang="de-DE" sz="1400" dirty="0">
                <a:solidFill>
                  <a:srgbClr val="CD3300"/>
                </a:solidFill>
                <a:latin typeface="UbuntuMono-Regular"/>
              </a:rPr>
              <a:t>"http"</a:t>
            </a:r>
            <a:r>
              <a:rPr lang="de-DE" sz="1400" dirty="0">
                <a:solidFill>
                  <a:srgbClr val="555555"/>
                </a:solidFill>
                <a:latin typeface="UbuntuMono-Regular"/>
              </a:rPr>
              <a:t>, </a:t>
            </a:r>
            <a:r>
              <a:rPr lang="de-DE" sz="1400" dirty="0">
                <a:solidFill>
                  <a:srgbClr val="CD3300"/>
                </a:solidFill>
                <a:latin typeface="UbuntuMono-Regular"/>
              </a:rPr>
              <a:t>"//www.ibiblio.org" </a:t>
            </a:r>
            <a:r>
              <a:rPr lang="de-DE" sz="1400" dirty="0">
                <a:solidFill>
                  <a:srgbClr val="555555"/>
                </a:solidFill>
                <a:latin typeface="UbuntuMono-Regular"/>
              </a:rPr>
              <a:t>, </a:t>
            </a:r>
            <a:r>
              <a:rPr lang="de-DE" sz="1400" b="1" dirty="0">
                <a:solidFill>
                  <a:srgbClr val="00669A"/>
                </a:solidFill>
                <a:latin typeface="UbuntuMono-Bold"/>
              </a:rPr>
              <a:t>null</a:t>
            </a:r>
            <a:r>
              <a:rPr lang="de-DE" sz="1400" dirty="0">
                <a:solidFill>
                  <a:srgbClr val="555555"/>
                </a:solidFill>
                <a:latin typeface="UbuntuMono-Regular"/>
              </a:rPr>
              <a:t>);</a:t>
            </a:r>
          </a:p>
          <a:p>
            <a:r>
              <a:rPr lang="en-IE" sz="1400" dirty="0">
                <a:solidFill>
                  <a:srgbClr val="000089"/>
                </a:solidFill>
                <a:latin typeface="UbuntuMono-Regular"/>
              </a:rPr>
              <a:t>URI relative </a:t>
            </a:r>
            <a:r>
              <a:rPr lang="en-IE" sz="1400" dirty="0">
                <a:solidFill>
                  <a:srgbClr val="555555"/>
                </a:solidFill>
                <a:latin typeface="UbuntuMono-Regular"/>
              </a:rPr>
              <a:t>= </a:t>
            </a:r>
            <a:r>
              <a:rPr lang="en-IE" sz="1400" b="1" dirty="0">
                <a:solidFill>
                  <a:srgbClr val="00669A"/>
                </a:solidFill>
                <a:latin typeface="UbuntuMono-Bold"/>
              </a:rPr>
              <a:t>new </a:t>
            </a:r>
            <a:r>
              <a:rPr lang="en-IE" sz="1400" dirty="0">
                <a:solidFill>
                  <a:srgbClr val="000089"/>
                </a:solidFill>
                <a:latin typeface="UbuntuMono-Regular"/>
              </a:rPr>
              <a:t>URI</a:t>
            </a:r>
            <a:r>
              <a:rPr lang="en-IE" sz="1400" dirty="0">
                <a:solidFill>
                  <a:srgbClr val="555555"/>
                </a:solidFill>
                <a:latin typeface="UbuntuMono-Regular"/>
              </a:rPr>
              <a:t>(</a:t>
            </a:r>
            <a:r>
              <a:rPr lang="en-IE" sz="1400" b="1" dirty="0">
                <a:solidFill>
                  <a:srgbClr val="00669A"/>
                </a:solidFill>
                <a:latin typeface="UbuntuMono-Bold"/>
              </a:rPr>
              <a:t>null</a:t>
            </a:r>
            <a:r>
              <a:rPr lang="en-IE" sz="1400" dirty="0">
                <a:solidFill>
                  <a:srgbClr val="555555"/>
                </a:solidFill>
                <a:latin typeface="UbuntuMono-Regular"/>
              </a:rPr>
              <a:t>, </a:t>
            </a:r>
            <a:r>
              <a:rPr lang="en-IE" sz="1400" dirty="0">
                <a:solidFill>
                  <a:srgbClr val="CD3300"/>
                </a:solidFill>
                <a:latin typeface="UbuntuMono-Regular"/>
              </a:rPr>
              <a:t>"/</a:t>
            </a:r>
            <a:r>
              <a:rPr lang="en-IE" sz="1400" dirty="0" err="1">
                <a:solidFill>
                  <a:srgbClr val="CD3300"/>
                </a:solidFill>
                <a:latin typeface="UbuntuMono-Regular"/>
              </a:rPr>
              <a:t>javafaq</a:t>
            </a:r>
            <a:r>
              <a:rPr lang="en-IE" sz="1400" dirty="0">
                <a:solidFill>
                  <a:srgbClr val="CD3300"/>
                </a:solidFill>
                <a:latin typeface="UbuntuMono-Regular"/>
              </a:rPr>
              <a:t>/index.shtml"</a:t>
            </a:r>
            <a:r>
              <a:rPr lang="en-IE" sz="1400" dirty="0">
                <a:solidFill>
                  <a:srgbClr val="555555"/>
                </a:solidFill>
                <a:latin typeface="UbuntuMono-Regular"/>
              </a:rPr>
              <a:t>, </a:t>
            </a:r>
            <a:r>
              <a:rPr lang="en-IE" sz="1400" dirty="0">
                <a:solidFill>
                  <a:srgbClr val="CD3300"/>
                </a:solidFill>
                <a:latin typeface="UbuntuMono-Regular"/>
              </a:rPr>
              <a:t>"today</a:t>
            </a:r>
            <a:r>
              <a:rPr lang="en-IE" sz="1400" dirty="0" smtClean="0">
                <a:solidFill>
                  <a:srgbClr val="CD3300"/>
                </a:solidFill>
                <a:latin typeface="UbuntuMono-Regular"/>
              </a:rPr>
              <a:t>"</a:t>
            </a:r>
            <a:r>
              <a:rPr lang="en-IE" sz="1400" dirty="0" smtClean="0">
                <a:solidFill>
                  <a:srgbClr val="555555"/>
                </a:solidFill>
                <a:latin typeface="UbuntuMono-Regular"/>
              </a:rPr>
              <a:t>);</a:t>
            </a:r>
          </a:p>
          <a:p>
            <a:r>
              <a:rPr lang="en-IE" sz="1800" dirty="0">
                <a:solidFill>
                  <a:srgbClr val="000000"/>
                </a:solidFill>
                <a:latin typeface="MinionPro-Regular"/>
              </a:rPr>
              <a:t>The </a:t>
            </a:r>
            <a:r>
              <a:rPr lang="en-IE" sz="1800" dirty="0">
                <a:latin typeface="MinionPro-Regular"/>
              </a:rPr>
              <a:t>third constructor </a:t>
            </a:r>
            <a:r>
              <a:rPr lang="en-IE" sz="1800" dirty="0">
                <a:solidFill>
                  <a:srgbClr val="000000"/>
                </a:solidFill>
                <a:latin typeface="MinionPro-Regular"/>
              </a:rPr>
              <a:t>is used for hierarchical URIs such as http and ftp URLs. The </a:t>
            </a:r>
            <a:r>
              <a:rPr lang="en-IE" sz="1800" dirty="0" smtClean="0">
                <a:solidFill>
                  <a:srgbClr val="000000"/>
                </a:solidFill>
                <a:latin typeface="MinionPro-Regular"/>
              </a:rPr>
              <a:t>host and </a:t>
            </a:r>
            <a:r>
              <a:rPr lang="en-IE" sz="1800" dirty="0">
                <a:solidFill>
                  <a:srgbClr val="000000"/>
                </a:solidFill>
                <a:latin typeface="MinionPro-Regular"/>
              </a:rPr>
              <a:t>path together (separated by a /) form the scheme-specific part for this URI. </a:t>
            </a:r>
            <a:r>
              <a:rPr lang="en-IE" sz="1800" dirty="0" smtClean="0">
                <a:solidFill>
                  <a:srgbClr val="000000"/>
                </a:solidFill>
                <a:latin typeface="MinionPro-Regular"/>
              </a:rPr>
              <a:t>For example</a:t>
            </a:r>
            <a:r>
              <a:rPr lang="en-IE" sz="1800" dirty="0">
                <a:solidFill>
                  <a:srgbClr val="000000"/>
                </a:solidFill>
                <a:latin typeface="MinionPro-Regular"/>
              </a:rPr>
              <a:t>:</a:t>
            </a:r>
          </a:p>
          <a:p>
            <a:r>
              <a:rPr lang="en-IE" sz="1400" dirty="0">
                <a:solidFill>
                  <a:srgbClr val="000089"/>
                </a:solidFill>
                <a:latin typeface="UbuntuMono-Regular"/>
              </a:rPr>
              <a:t>URI today</a:t>
            </a:r>
            <a:r>
              <a:rPr lang="en-IE" sz="1400" dirty="0">
                <a:solidFill>
                  <a:srgbClr val="555555"/>
                </a:solidFill>
                <a:latin typeface="UbuntuMono-Regular"/>
              </a:rPr>
              <a:t>= </a:t>
            </a:r>
            <a:r>
              <a:rPr lang="en-IE" sz="1400" b="1" dirty="0">
                <a:solidFill>
                  <a:srgbClr val="00669A"/>
                </a:solidFill>
                <a:latin typeface="UbuntuMono-Bold"/>
              </a:rPr>
              <a:t>new </a:t>
            </a:r>
            <a:r>
              <a:rPr lang="en-IE" sz="1400" dirty="0">
                <a:solidFill>
                  <a:srgbClr val="000089"/>
                </a:solidFill>
                <a:latin typeface="UbuntuMono-Regular"/>
              </a:rPr>
              <a:t>URI</a:t>
            </a:r>
            <a:r>
              <a:rPr lang="en-IE" sz="1400" dirty="0">
                <a:solidFill>
                  <a:srgbClr val="555555"/>
                </a:solidFill>
                <a:latin typeface="UbuntuMono-Regular"/>
              </a:rPr>
              <a:t>(</a:t>
            </a:r>
            <a:r>
              <a:rPr lang="en-IE" sz="1400" dirty="0">
                <a:solidFill>
                  <a:srgbClr val="CD3300"/>
                </a:solidFill>
                <a:latin typeface="UbuntuMono-Regular"/>
              </a:rPr>
              <a:t>"http"</a:t>
            </a:r>
            <a:r>
              <a:rPr lang="en-IE" sz="1400" dirty="0">
                <a:solidFill>
                  <a:srgbClr val="555555"/>
                </a:solidFill>
                <a:latin typeface="UbuntuMono-Regular"/>
              </a:rPr>
              <a:t>, </a:t>
            </a:r>
            <a:r>
              <a:rPr lang="en-IE" sz="1400" dirty="0">
                <a:solidFill>
                  <a:srgbClr val="CD3300"/>
                </a:solidFill>
                <a:latin typeface="UbuntuMono-Regular"/>
              </a:rPr>
              <a:t>"www.ibiblio.org"</a:t>
            </a:r>
            <a:r>
              <a:rPr lang="en-IE" sz="1400" dirty="0">
                <a:solidFill>
                  <a:srgbClr val="555555"/>
                </a:solidFill>
                <a:latin typeface="UbuntuMono-Regular"/>
              </a:rPr>
              <a:t>, </a:t>
            </a:r>
            <a:r>
              <a:rPr lang="en-IE" sz="1400" dirty="0">
                <a:solidFill>
                  <a:srgbClr val="CD3300"/>
                </a:solidFill>
                <a:latin typeface="UbuntuMono-Regular"/>
              </a:rPr>
              <a:t>"/</a:t>
            </a:r>
            <a:r>
              <a:rPr lang="en-IE" sz="1400" dirty="0" err="1">
                <a:solidFill>
                  <a:srgbClr val="CD3300"/>
                </a:solidFill>
                <a:latin typeface="UbuntuMono-Regular"/>
              </a:rPr>
              <a:t>javafaq</a:t>
            </a:r>
            <a:r>
              <a:rPr lang="en-IE" sz="1400" dirty="0">
                <a:solidFill>
                  <a:srgbClr val="CD3300"/>
                </a:solidFill>
                <a:latin typeface="UbuntuMono-Regular"/>
              </a:rPr>
              <a:t>/index.html"</a:t>
            </a:r>
            <a:r>
              <a:rPr lang="en-IE" sz="1400" dirty="0">
                <a:solidFill>
                  <a:srgbClr val="555555"/>
                </a:solidFill>
                <a:latin typeface="UbuntuMono-Regular"/>
              </a:rPr>
              <a:t>, </a:t>
            </a:r>
            <a:r>
              <a:rPr lang="en-IE" sz="1400" dirty="0">
                <a:solidFill>
                  <a:srgbClr val="CD3300"/>
                </a:solidFill>
                <a:latin typeface="UbuntuMono-Regular"/>
              </a:rPr>
              <a:t>"today"</a:t>
            </a:r>
            <a:r>
              <a:rPr lang="en-IE" sz="1400" dirty="0">
                <a:solidFill>
                  <a:srgbClr val="555555"/>
                </a:solidFill>
                <a:latin typeface="UbuntuMono-Regular"/>
              </a:rPr>
              <a:t>);</a:t>
            </a:r>
          </a:p>
          <a:p>
            <a:r>
              <a:rPr lang="en-IE" sz="1800" dirty="0">
                <a:solidFill>
                  <a:srgbClr val="000000"/>
                </a:solidFill>
                <a:latin typeface="MinionPro-Regular"/>
              </a:rPr>
              <a:t>This produces the URI </a:t>
            </a:r>
            <a:r>
              <a:rPr lang="en-IE" sz="1800" i="1" dirty="0">
                <a:solidFill>
                  <a:srgbClr val="000000"/>
                </a:solidFill>
                <a:latin typeface="MinionPro-Italic"/>
                <a:hlinkClick r:id="rId2"/>
              </a:rPr>
              <a:t>http://www.ibiblio.org/javafaq/index.html#today</a:t>
            </a:r>
            <a:r>
              <a:rPr lang="en-IE" sz="1800" dirty="0" smtClean="0">
                <a:solidFill>
                  <a:srgbClr val="000000"/>
                </a:solidFill>
                <a:latin typeface="MinionPro-Regular"/>
              </a:rPr>
              <a:t>.</a:t>
            </a:r>
          </a:p>
          <a:p>
            <a:r>
              <a:rPr lang="en-IE" sz="1800" dirty="0">
                <a:solidFill>
                  <a:srgbClr val="000000"/>
                </a:solidFill>
                <a:latin typeface="MinionPro-Regular"/>
              </a:rPr>
              <a:t>The fourth constructor is basically the same as the third, with the addition of a query string. For example:</a:t>
            </a:r>
          </a:p>
          <a:p>
            <a:r>
              <a:rPr lang="en-IE" sz="1800" dirty="0">
                <a:solidFill>
                  <a:srgbClr val="000089"/>
                </a:solidFill>
                <a:latin typeface="UbuntuMono-Regular"/>
              </a:rPr>
              <a:t>URI today </a:t>
            </a:r>
            <a:r>
              <a:rPr lang="en-IE" sz="1800" dirty="0">
                <a:solidFill>
                  <a:srgbClr val="555555"/>
                </a:solidFill>
                <a:latin typeface="UbuntuMono-Regular"/>
              </a:rPr>
              <a:t>= </a:t>
            </a:r>
            <a:r>
              <a:rPr lang="en-IE" sz="1800" b="1" dirty="0">
                <a:solidFill>
                  <a:srgbClr val="00669A"/>
                </a:solidFill>
                <a:latin typeface="UbuntuMono-Bold"/>
              </a:rPr>
              <a:t>new </a:t>
            </a:r>
            <a:r>
              <a:rPr lang="en-IE" sz="1800" dirty="0">
                <a:solidFill>
                  <a:srgbClr val="000089"/>
                </a:solidFill>
                <a:latin typeface="UbuntuMono-Regular"/>
              </a:rPr>
              <a:t>URI</a:t>
            </a:r>
            <a:r>
              <a:rPr lang="en-IE" sz="1800" dirty="0">
                <a:solidFill>
                  <a:srgbClr val="555555"/>
                </a:solidFill>
                <a:latin typeface="UbuntuMono-Regular"/>
              </a:rPr>
              <a:t>(</a:t>
            </a:r>
            <a:r>
              <a:rPr lang="en-IE" sz="1800" dirty="0">
                <a:solidFill>
                  <a:srgbClr val="CD3300"/>
                </a:solidFill>
                <a:latin typeface="UbuntuMono-Regular"/>
              </a:rPr>
              <a:t>"http"</a:t>
            </a:r>
            <a:r>
              <a:rPr lang="en-IE" sz="1800" dirty="0">
                <a:solidFill>
                  <a:srgbClr val="555555"/>
                </a:solidFill>
                <a:latin typeface="UbuntuMono-Regular"/>
              </a:rPr>
              <a:t>, </a:t>
            </a:r>
            <a:r>
              <a:rPr lang="en-IE" sz="1800" dirty="0">
                <a:solidFill>
                  <a:srgbClr val="CD3300"/>
                </a:solidFill>
                <a:latin typeface="UbuntuMono-Regular"/>
              </a:rPr>
              <a:t>"www.ibiblio.org"</a:t>
            </a:r>
            <a:r>
              <a:rPr lang="en-IE" sz="1800" dirty="0">
                <a:solidFill>
                  <a:srgbClr val="555555"/>
                </a:solidFill>
                <a:latin typeface="UbuntuMono-Regular"/>
              </a:rPr>
              <a:t>, </a:t>
            </a:r>
            <a:r>
              <a:rPr lang="en-IE" sz="1800" dirty="0">
                <a:solidFill>
                  <a:srgbClr val="CD3300"/>
                </a:solidFill>
                <a:latin typeface="UbuntuMono-Regular"/>
              </a:rPr>
              <a:t>"/</a:t>
            </a:r>
            <a:r>
              <a:rPr lang="en-IE" sz="1800" dirty="0" err="1">
                <a:solidFill>
                  <a:srgbClr val="CD3300"/>
                </a:solidFill>
                <a:latin typeface="UbuntuMono-Regular"/>
              </a:rPr>
              <a:t>javafaq</a:t>
            </a:r>
            <a:r>
              <a:rPr lang="en-IE" sz="1800" dirty="0">
                <a:solidFill>
                  <a:srgbClr val="CD3300"/>
                </a:solidFill>
                <a:latin typeface="UbuntuMono-Regular"/>
              </a:rPr>
              <a:t>/index.html"</a:t>
            </a:r>
            <a:r>
              <a:rPr lang="en-IE" sz="1800" dirty="0">
                <a:solidFill>
                  <a:srgbClr val="555555"/>
                </a:solidFill>
                <a:latin typeface="UbuntuMono-Regular"/>
              </a:rPr>
              <a:t>,</a:t>
            </a:r>
          </a:p>
          <a:p>
            <a:r>
              <a:rPr lang="en-IE" sz="1800" dirty="0">
                <a:solidFill>
                  <a:srgbClr val="CD3300"/>
                </a:solidFill>
                <a:latin typeface="UbuntuMono-Regular"/>
              </a:rPr>
              <a:t>"referrer=</a:t>
            </a:r>
            <a:r>
              <a:rPr lang="en-IE" sz="1800" dirty="0" err="1">
                <a:solidFill>
                  <a:srgbClr val="CD3300"/>
                </a:solidFill>
                <a:latin typeface="UbuntuMono-Regular"/>
              </a:rPr>
              <a:t>cnet&amp;date</a:t>
            </a:r>
            <a:r>
              <a:rPr lang="en-IE" sz="1800" dirty="0">
                <a:solidFill>
                  <a:srgbClr val="CD3300"/>
                </a:solidFill>
                <a:latin typeface="UbuntuMono-Regular"/>
              </a:rPr>
              <a:t>=2014-02-23"</a:t>
            </a:r>
            <a:r>
              <a:rPr lang="en-IE" sz="1800" dirty="0">
                <a:solidFill>
                  <a:srgbClr val="555555"/>
                </a:solidFill>
                <a:latin typeface="UbuntuMono-Regular"/>
              </a:rPr>
              <a:t>, </a:t>
            </a:r>
            <a:r>
              <a:rPr lang="en-IE" sz="1800" dirty="0">
                <a:solidFill>
                  <a:srgbClr val="CD3300"/>
                </a:solidFill>
                <a:latin typeface="UbuntuMono-Regular"/>
              </a:rPr>
              <a:t>"today"</a:t>
            </a:r>
            <a:r>
              <a:rPr lang="en-IE" sz="1800" dirty="0">
                <a:solidFill>
                  <a:srgbClr val="555555"/>
                </a:solidFill>
                <a:latin typeface="UbuntuMono-Regular"/>
              </a:rPr>
              <a:t>);</a:t>
            </a:r>
            <a:endParaRPr lang="en-IE" sz="1800" dirty="0"/>
          </a:p>
        </p:txBody>
      </p:sp>
    </p:spTree>
    <p:extLst>
      <p:ext uri="{BB962C8B-B14F-4D97-AF65-F5344CB8AC3E}">
        <p14:creationId xmlns:p14="http://schemas.microsoft.com/office/powerpoint/2010/main" val="270241346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39762"/>
          </a:xfrm>
        </p:spPr>
        <p:txBody>
          <a:bodyPr>
            <a:noAutofit/>
          </a:bodyPr>
          <a:lstStyle/>
          <a:p>
            <a:r>
              <a:rPr lang="en-IE" sz="2800" i="1" dirty="0" smtClean="0"/>
              <a:t>Constructing a URI</a:t>
            </a:r>
            <a:endParaRPr lang="en-IE" sz="2800" b="1" dirty="0"/>
          </a:p>
        </p:txBody>
      </p:sp>
      <p:sp>
        <p:nvSpPr>
          <p:cNvPr id="3" name="Content Placeholder 2"/>
          <p:cNvSpPr>
            <a:spLocks noGrp="1"/>
          </p:cNvSpPr>
          <p:nvPr>
            <p:ph idx="1"/>
          </p:nvPr>
        </p:nvSpPr>
        <p:spPr>
          <a:xfrm>
            <a:off x="0" y="609600"/>
            <a:ext cx="9144000" cy="6248400"/>
          </a:xfrm>
        </p:spPr>
        <p:txBody>
          <a:bodyPr>
            <a:noAutofit/>
          </a:bodyPr>
          <a:lstStyle/>
          <a:p>
            <a:r>
              <a:rPr lang="en-IE" sz="2400" dirty="0">
                <a:latin typeface="MinionPro-Regular"/>
              </a:rPr>
              <a:t>The fifth constructor is the master hierarchical URI constructor that the previous </a:t>
            </a:r>
            <a:r>
              <a:rPr lang="en-IE" sz="2400" dirty="0" smtClean="0">
                <a:latin typeface="MinionPro-Regular"/>
              </a:rPr>
              <a:t>two invoke</a:t>
            </a:r>
            <a:r>
              <a:rPr lang="en-IE" sz="2400" dirty="0">
                <a:latin typeface="MinionPro-Regular"/>
              </a:rPr>
              <a:t>. </a:t>
            </a:r>
            <a:endParaRPr lang="en-IE" sz="2400" dirty="0" smtClean="0">
              <a:latin typeface="MinionPro-Regular"/>
            </a:endParaRPr>
          </a:p>
          <a:p>
            <a:r>
              <a:rPr lang="en-IE" sz="2400" dirty="0" smtClean="0">
                <a:latin typeface="MinionPro-Regular"/>
              </a:rPr>
              <a:t>It </a:t>
            </a:r>
            <a:r>
              <a:rPr lang="en-IE" sz="2400" dirty="0">
                <a:latin typeface="MinionPro-Regular"/>
              </a:rPr>
              <a:t>divides the authority into separate user info, host, and port parts, each of </a:t>
            </a:r>
            <a:r>
              <a:rPr lang="en-IE" sz="2400" dirty="0" smtClean="0">
                <a:latin typeface="MinionPro-Regular"/>
              </a:rPr>
              <a:t>which has </a:t>
            </a:r>
            <a:r>
              <a:rPr lang="en-IE" sz="2400" dirty="0">
                <a:latin typeface="MinionPro-Regular"/>
              </a:rPr>
              <a:t>its own syntax rules. For example</a:t>
            </a:r>
            <a:r>
              <a:rPr lang="en-IE" sz="2400" dirty="0" smtClean="0">
                <a:latin typeface="MinionPro-Regular"/>
              </a:rPr>
              <a:t>: </a:t>
            </a:r>
          </a:p>
          <a:p>
            <a:r>
              <a:rPr lang="en-IE" sz="2400" dirty="0">
                <a:solidFill>
                  <a:srgbClr val="000089"/>
                </a:solidFill>
                <a:latin typeface="UbuntuMono-Regular"/>
              </a:rPr>
              <a:t>URI styles </a:t>
            </a:r>
            <a:r>
              <a:rPr lang="en-IE" sz="2400" dirty="0">
                <a:solidFill>
                  <a:srgbClr val="555555"/>
                </a:solidFill>
                <a:latin typeface="UbuntuMono-Regular"/>
              </a:rPr>
              <a:t>= </a:t>
            </a:r>
            <a:r>
              <a:rPr lang="en-IE" sz="2400" b="1" dirty="0">
                <a:solidFill>
                  <a:srgbClr val="00669A"/>
                </a:solidFill>
                <a:latin typeface="UbuntuMono-Bold"/>
              </a:rPr>
              <a:t>new </a:t>
            </a:r>
            <a:r>
              <a:rPr lang="en-IE" sz="2400" dirty="0">
                <a:solidFill>
                  <a:srgbClr val="000089"/>
                </a:solidFill>
                <a:latin typeface="UbuntuMono-Regular"/>
              </a:rPr>
              <a:t>URI</a:t>
            </a:r>
            <a:r>
              <a:rPr lang="en-IE" sz="2400" dirty="0">
                <a:solidFill>
                  <a:srgbClr val="555555"/>
                </a:solidFill>
                <a:latin typeface="UbuntuMono-Regular"/>
              </a:rPr>
              <a:t>(</a:t>
            </a:r>
            <a:r>
              <a:rPr lang="en-IE" sz="2400" dirty="0">
                <a:solidFill>
                  <a:srgbClr val="CD3300"/>
                </a:solidFill>
                <a:latin typeface="UbuntuMono-Regular"/>
              </a:rPr>
              <a:t>"ftp"</a:t>
            </a:r>
            <a:r>
              <a:rPr lang="en-IE" sz="2400" dirty="0">
                <a:solidFill>
                  <a:srgbClr val="555555"/>
                </a:solidFill>
                <a:latin typeface="UbuntuMono-Regular"/>
              </a:rPr>
              <a:t>, </a:t>
            </a:r>
            <a:r>
              <a:rPr lang="en-IE" sz="2400" dirty="0">
                <a:solidFill>
                  <a:srgbClr val="CD3300"/>
                </a:solidFill>
                <a:latin typeface="UbuntuMono-Regular"/>
              </a:rPr>
              <a:t>"</a:t>
            </a:r>
            <a:r>
              <a:rPr lang="en-IE" sz="2400" dirty="0" err="1">
                <a:solidFill>
                  <a:srgbClr val="CD3300"/>
                </a:solidFill>
                <a:latin typeface="UbuntuMono-Regular"/>
              </a:rPr>
              <a:t>anonymous:elharo@ibiblio.org</a:t>
            </a:r>
            <a:r>
              <a:rPr lang="en-IE" sz="2400" dirty="0" smtClean="0">
                <a:solidFill>
                  <a:srgbClr val="CD3300"/>
                </a:solidFill>
                <a:latin typeface="UbuntuMono-Regular"/>
              </a:rPr>
              <a:t>"</a:t>
            </a:r>
            <a:r>
              <a:rPr lang="en-IE" sz="2400" dirty="0" smtClean="0">
                <a:solidFill>
                  <a:srgbClr val="555555"/>
                </a:solidFill>
                <a:latin typeface="UbuntuMono-Regular"/>
              </a:rPr>
              <a:t>, </a:t>
            </a:r>
            <a:r>
              <a:rPr lang="en-IE" sz="2400" dirty="0">
                <a:solidFill>
                  <a:srgbClr val="FF6600"/>
                </a:solidFill>
                <a:latin typeface="UbuntuMono-Regular"/>
              </a:rPr>
              <a:t>21</a:t>
            </a:r>
            <a:r>
              <a:rPr lang="en-IE" sz="2400" dirty="0">
                <a:solidFill>
                  <a:srgbClr val="555555"/>
                </a:solidFill>
                <a:latin typeface="UbuntuMono-Regular"/>
              </a:rPr>
              <a:t>, </a:t>
            </a:r>
            <a:r>
              <a:rPr lang="en-IE" sz="2400" dirty="0">
                <a:solidFill>
                  <a:srgbClr val="CD3300"/>
                </a:solidFill>
                <a:latin typeface="UbuntuMono-Regular"/>
              </a:rPr>
              <a:t>"/pub/stylesheet"</a:t>
            </a:r>
            <a:r>
              <a:rPr lang="en-IE" sz="2400" dirty="0">
                <a:solidFill>
                  <a:srgbClr val="555555"/>
                </a:solidFill>
                <a:latin typeface="UbuntuMono-Regular"/>
              </a:rPr>
              <a:t>, </a:t>
            </a:r>
            <a:r>
              <a:rPr lang="en-IE" sz="2400" b="1" dirty="0">
                <a:solidFill>
                  <a:srgbClr val="00669A"/>
                </a:solidFill>
                <a:latin typeface="UbuntuMono-Bold"/>
              </a:rPr>
              <a:t>null</a:t>
            </a:r>
            <a:r>
              <a:rPr lang="en-IE" sz="2400" dirty="0">
                <a:solidFill>
                  <a:srgbClr val="555555"/>
                </a:solidFill>
                <a:latin typeface="UbuntuMono-Regular"/>
              </a:rPr>
              <a:t>, </a:t>
            </a:r>
            <a:r>
              <a:rPr lang="en-IE" sz="2400" b="1" dirty="0">
                <a:solidFill>
                  <a:srgbClr val="00669A"/>
                </a:solidFill>
                <a:latin typeface="UbuntuMono-Bold"/>
              </a:rPr>
              <a:t>null</a:t>
            </a:r>
            <a:r>
              <a:rPr lang="en-IE" sz="2400" dirty="0" smtClean="0">
                <a:solidFill>
                  <a:srgbClr val="555555"/>
                </a:solidFill>
                <a:latin typeface="UbuntuMono-Regular"/>
              </a:rPr>
              <a:t>);</a:t>
            </a:r>
            <a:endParaRPr lang="en-IE" sz="2400" dirty="0">
              <a:solidFill>
                <a:srgbClr val="555555"/>
              </a:solidFill>
              <a:latin typeface="UbuntuMono-Regular"/>
            </a:endParaRPr>
          </a:p>
          <a:p>
            <a:r>
              <a:rPr lang="en-IE" sz="2400" dirty="0">
                <a:solidFill>
                  <a:srgbClr val="000000"/>
                </a:solidFill>
                <a:latin typeface="MinionPro-Regular"/>
              </a:rPr>
              <a:t>If you’re sure your URIs are legal and do not violate any of the rules, you can use </a:t>
            </a:r>
            <a:r>
              <a:rPr lang="en-IE" sz="2400" dirty="0" smtClean="0">
                <a:solidFill>
                  <a:srgbClr val="000000"/>
                </a:solidFill>
                <a:latin typeface="MinionPro-Regular"/>
              </a:rPr>
              <a:t>the static </a:t>
            </a:r>
            <a:r>
              <a:rPr lang="en-IE" sz="2400" dirty="0">
                <a:solidFill>
                  <a:srgbClr val="000000"/>
                </a:solidFill>
                <a:latin typeface="MinionPro-Regular"/>
              </a:rPr>
              <a:t>factory </a:t>
            </a:r>
            <a:r>
              <a:rPr lang="en-IE" sz="2400" dirty="0" err="1">
                <a:solidFill>
                  <a:srgbClr val="000000"/>
                </a:solidFill>
                <a:latin typeface="UbuntuMono-Regular"/>
              </a:rPr>
              <a:t>URI.create</a:t>
            </a:r>
            <a:r>
              <a:rPr lang="en-IE" sz="2400" dirty="0">
                <a:solidFill>
                  <a:srgbClr val="000000"/>
                </a:solidFill>
                <a:latin typeface="UbuntuMono-Regular"/>
              </a:rPr>
              <a:t>() </a:t>
            </a:r>
            <a:r>
              <a:rPr lang="en-IE" sz="2400" dirty="0">
                <a:solidFill>
                  <a:srgbClr val="000000"/>
                </a:solidFill>
                <a:latin typeface="MinionPro-Regular"/>
              </a:rPr>
              <a:t>method instead. </a:t>
            </a:r>
            <a:endParaRPr lang="en-IE" sz="2400" dirty="0" smtClean="0">
              <a:solidFill>
                <a:srgbClr val="000000"/>
              </a:solidFill>
              <a:latin typeface="MinionPro-Regular"/>
            </a:endParaRPr>
          </a:p>
          <a:p>
            <a:r>
              <a:rPr lang="en-IE" sz="2400" dirty="0" smtClean="0">
                <a:solidFill>
                  <a:srgbClr val="000000"/>
                </a:solidFill>
                <a:latin typeface="MinionPro-Regular"/>
              </a:rPr>
              <a:t>For </a:t>
            </a:r>
            <a:r>
              <a:rPr lang="en-IE" sz="2400" dirty="0">
                <a:solidFill>
                  <a:srgbClr val="000000"/>
                </a:solidFill>
                <a:latin typeface="MinionPro-Regular"/>
              </a:rPr>
              <a:t>example, this invocation creates a </a:t>
            </a:r>
            <a:r>
              <a:rPr lang="en-IE" sz="2400" dirty="0">
                <a:solidFill>
                  <a:srgbClr val="000000"/>
                </a:solidFill>
                <a:latin typeface="UbuntuMono-Regular"/>
              </a:rPr>
              <a:t>URI </a:t>
            </a:r>
            <a:r>
              <a:rPr lang="en-IE" sz="2400" dirty="0">
                <a:solidFill>
                  <a:srgbClr val="000000"/>
                </a:solidFill>
                <a:latin typeface="MinionPro-Regular"/>
              </a:rPr>
              <a:t>for anonymous </a:t>
            </a:r>
            <a:r>
              <a:rPr lang="en-IE" sz="2400" dirty="0" smtClean="0">
                <a:solidFill>
                  <a:srgbClr val="000000"/>
                </a:solidFill>
                <a:latin typeface="MinionPro-Regular"/>
              </a:rPr>
              <a:t>FTP access </a:t>
            </a:r>
            <a:r>
              <a:rPr lang="en-IE" sz="2400" dirty="0">
                <a:solidFill>
                  <a:srgbClr val="000000"/>
                </a:solidFill>
                <a:latin typeface="MinionPro-Regular"/>
              </a:rPr>
              <a:t>using an email address as password:</a:t>
            </a:r>
          </a:p>
          <a:p>
            <a:r>
              <a:rPr lang="en-IE" sz="1800" dirty="0">
                <a:solidFill>
                  <a:srgbClr val="000089"/>
                </a:solidFill>
                <a:latin typeface="UbuntuMono-Regular"/>
              </a:rPr>
              <a:t>URI styles </a:t>
            </a:r>
            <a:r>
              <a:rPr lang="en-IE" sz="1800" dirty="0">
                <a:solidFill>
                  <a:srgbClr val="555555"/>
                </a:solidFill>
                <a:latin typeface="UbuntuMono-Regular"/>
              </a:rPr>
              <a:t>= </a:t>
            </a:r>
            <a:r>
              <a:rPr lang="en-IE" sz="1800" dirty="0" err="1">
                <a:solidFill>
                  <a:srgbClr val="000089"/>
                </a:solidFill>
                <a:latin typeface="UbuntuMono-Regular"/>
              </a:rPr>
              <a:t>URI</a:t>
            </a:r>
            <a:r>
              <a:rPr lang="en-IE" sz="1800" dirty="0" err="1">
                <a:solidFill>
                  <a:srgbClr val="555555"/>
                </a:solidFill>
                <a:latin typeface="UbuntuMono-Regular"/>
              </a:rPr>
              <a:t>.</a:t>
            </a:r>
            <a:r>
              <a:rPr lang="en-IE" sz="1800" dirty="0" err="1">
                <a:solidFill>
                  <a:srgbClr val="33009A"/>
                </a:solidFill>
                <a:latin typeface="UbuntuMono-Regular"/>
              </a:rPr>
              <a:t>create</a:t>
            </a:r>
            <a:r>
              <a:rPr lang="en-IE" sz="1800" dirty="0" smtClean="0">
                <a:solidFill>
                  <a:srgbClr val="555555"/>
                </a:solidFill>
                <a:latin typeface="UbuntuMono-Regular"/>
              </a:rPr>
              <a:t>(</a:t>
            </a:r>
            <a:r>
              <a:rPr lang="en-IE" sz="1800" dirty="0" smtClean="0">
                <a:solidFill>
                  <a:srgbClr val="CD3300"/>
                </a:solidFill>
                <a:latin typeface="UbuntuMono-Regular"/>
              </a:rPr>
              <a:t>"</a:t>
            </a:r>
            <a:r>
              <a:rPr lang="en-IE" sz="1800" dirty="0">
                <a:solidFill>
                  <a:srgbClr val="CD3300"/>
                </a:solidFill>
                <a:latin typeface="UbuntuMono-Regular"/>
              </a:rPr>
              <a:t>ftp</a:t>
            </a:r>
            <a:r>
              <a:rPr lang="en-IE" sz="1800">
                <a:solidFill>
                  <a:srgbClr val="CD3300"/>
                </a:solidFill>
                <a:latin typeface="UbuntuMono-Regular"/>
              </a:rPr>
              <a:t>://</a:t>
            </a:r>
            <a:r>
              <a:rPr lang="en-IE" sz="1800" smtClean="0">
                <a:solidFill>
                  <a:srgbClr val="CD3300"/>
                </a:solidFill>
                <a:latin typeface="UbuntuMono-Regular"/>
              </a:rPr>
              <a:t>anonymous:elharo%40ibiblio.org:21/pub/stylesheet</a:t>
            </a:r>
            <a:r>
              <a:rPr lang="en-IE" sz="1800" dirty="0">
                <a:solidFill>
                  <a:srgbClr val="CD3300"/>
                </a:solidFill>
                <a:latin typeface="UbuntuMono-Regular"/>
              </a:rPr>
              <a:t>"</a:t>
            </a:r>
            <a:r>
              <a:rPr lang="en-IE" sz="1800" dirty="0">
                <a:solidFill>
                  <a:srgbClr val="555555"/>
                </a:solidFill>
                <a:latin typeface="UbuntuMono-Regular"/>
              </a:rPr>
              <a:t>);</a:t>
            </a:r>
            <a:endParaRPr lang="en-IE" sz="2400" dirty="0"/>
          </a:p>
        </p:txBody>
      </p:sp>
    </p:spTree>
    <p:extLst>
      <p:ext uri="{BB962C8B-B14F-4D97-AF65-F5344CB8AC3E}">
        <p14:creationId xmlns:p14="http://schemas.microsoft.com/office/powerpoint/2010/main" val="294768971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39762"/>
          </a:xfrm>
        </p:spPr>
        <p:txBody>
          <a:bodyPr>
            <a:noAutofit/>
          </a:bodyPr>
          <a:lstStyle/>
          <a:p>
            <a:r>
              <a:rPr lang="en-IE" sz="2800" i="1" dirty="0" smtClean="0"/>
              <a:t>Parts of a URI</a:t>
            </a:r>
            <a:endParaRPr lang="en-IE" sz="2800" b="1" dirty="0"/>
          </a:p>
        </p:txBody>
      </p:sp>
      <p:sp>
        <p:nvSpPr>
          <p:cNvPr id="3" name="Content Placeholder 2"/>
          <p:cNvSpPr>
            <a:spLocks noGrp="1"/>
          </p:cNvSpPr>
          <p:nvPr>
            <p:ph idx="1"/>
          </p:nvPr>
        </p:nvSpPr>
        <p:spPr>
          <a:xfrm>
            <a:off x="0" y="609600"/>
            <a:ext cx="9144000" cy="6248400"/>
          </a:xfrm>
        </p:spPr>
        <p:txBody>
          <a:bodyPr>
            <a:noAutofit/>
          </a:bodyPr>
          <a:lstStyle/>
          <a:p>
            <a:r>
              <a:rPr lang="en-IE" sz="1000" b="1" dirty="0" smtClean="0">
                <a:solidFill>
                  <a:srgbClr val="00669A"/>
                </a:solidFill>
                <a:latin typeface="UbuntuMono-Bold"/>
              </a:rPr>
              <a:t>import </a:t>
            </a:r>
            <a:r>
              <a:rPr lang="en-IE" sz="1000" b="1" dirty="0">
                <a:solidFill>
                  <a:srgbClr val="00CDFF"/>
                </a:solidFill>
                <a:latin typeface="UbuntuMono-Bold"/>
              </a:rPr>
              <a:t>java.net.*</a:t>
            </a:r>
            <a:r>
              <a:rPr lang="en-IE" sz="1000" dirty="0">
                <a:solidFill>
                  <a:srgbClr val="555555"/>
                </a:solidFill>
                <a:latin typeface="UbuntuMono-Regular"/>
              </a:rPr>
              <a:t>;</a:t>
            </a:r>
          </a:p>
          <a:p>
            <a:r>
              <a:rPr lang="en-IE" sz="1000" b="1" dirty="0">
                <a:solidFill>
                  <a:srgbClr val="00669A"/>
                </a:solidFill>
                <a:latin typeface="UbuntuMono-Bold"/>
              </a:rPr>
              <a:t>public class </a:t>
            </a:r>
            <a:r>
              <a:rPr lang="en-IE" sz="1000" b="1" dirty="0" err="1">
                <a:solidFill>
                  <a:srgbClr val="00AB89"/>
                </a:solidFill>
                <a:latin typeface="UbuntuMono-Bold"/>
              </a:rPr>
              <a:t>URISplitter</a:t>
            </a:r>
            <a:r>
              <a:rPr lang="en-IE" sz="1000" b="1" dirty="0">
                <a:solidFill>
                  <a:srgbClr val="00AB89"/>
                </a:solidFill>
                <a:latin typeface="UbuntuMono-Bold"/>
              </a:rPr>
              <a:t> </a:t>
            </a:r>
            <a:r>
              <a:rPr lang="en-IE" sz="1000" dirty="0">
                <a:solidFill>
                  <a:srgbClr val="555555"/>
                </a:solidFill>
                <a:latin typeface="UbuntuMono-Regular"/>
              </a:rPr>
              <a:t>{</a:t>
            </a:r>
          </a:p>
          <a:p>
            <a:r>
              <a:rPr lang="en-IE" sz="1000" b="1" dirty="0">
                <a:solidFill>
                  <a:srgbClr val="00669A"/>
                </a:solidFill>
                <a:latin typeface="UbuntuMono-Bold"/>
              </a:rPr>
              <a:t>public static </a:t>
            </a:r>
            <a:r>
              <a:rPr lang="en-IE" sz="1000" b="1" dirty="0">
                <a:solidFill>
                  <a:srgbClr val="007789"/>
                </a:solidFill>
                <a:latin typeface="UbuntuMono-Bold"/>
              </a:rPr>
              <a:t>void </a:t>
            </a:r>
            <a:r>
              <a:rPr lang="en-IE" sz="1000" dirty="0">
                <a:solidFill>
                  <a:srgbClr val="CD00FF"/>
                </a:solidFill>
                <a:latin typeface="UbuntuMono-Regular"/>
              </a:rPr>
              <a:t>main</a:t>
            </a:r>
            <a:r>
              <a:rPr lang="en-IE" sz="1000" dirty="0">
                <a:solidFill>
                  <a:srgbClr val="555555"/>
                </a:solidFill>
                <a:latin typeface="UbuntuMono-Regular"/>
              </a:rPr>
              <a:t>(</a:t>
            </a:r>
            <a:r>
              <a:rPr lang="en-IE" sz="1000" dirty="0">
                <a:solidFill>
                  <a:srgbClr val="000089"/>
                </a:solidFill>
                <a:latin typeface="UbuntuMono-Regular"/>
              </a:rPr>
              <a:t>String </a:t>
            </a:r>
            <a:r>
              <a:rPr lang="en-IE" sz="1000" dirty="0" err="1">
                <a:solidFill>
                  <a:srgbClr val="000089"/>
                </a:solidFill>
                <a:latin typeface="UbuntuMono-Regular"/>
              </a:rPr>
              <a:t>args</a:t>
            </a:r>
            <a:r>
              <a:rPr lang="en-IE" sz="1000" dirty="0">
                <a:solidFill>
                  <a:srgbClr val="555555"/>
                </a:solidFill>
                <a:latin typeface="UbuntuMono-Regular"/>
              </a:rPr>
              <a:t>[]) {</a:t>
            </a:r>
          </a:p>
          <a:p>
            <a:r>
              <a:rPr lang="en-IE" sz="1000" b="1" dirty="0">
                <a:solidFill>
                  <a:srgbClr val="00669A"/>
                </a:solidFill>
                <a:latin typeface="UbuntuMono-Bold"/>
              </a:rPr>
              <a:t>for </a:t>
            </a:r>
            <a:r>
              <a:rPr lang="en-IE" sz="1000" dirty="0">
                <a:solidFill>
                  <a:srgbClr val="555555"/>
                </a:solidFill>
                <a:latin typeface="UbuntuMono-Regular"/>
              </a:rPr>
              <a:t>(</a:t>
            </a:r>
            <a:r>
              <a:rPr lang="en-IE" sz="1000" b="1" dirty="0" err="1">
                <a:solidFill>
                  <a:srgbClr val="007789"/>
                </a:solidFill>
                <a:latin typeface="UbuntuMono-Bold"/>
              </a:rPr>
              <a:t>int</a:t>
            </a:r>
            <a:r>
              <a:rPr lang="en-IE" sz="1000" b="1" dirty="0">
                <a:solidFill>
                  <a:srgbClr val="007789"/>
                </a:solidFill>
                <a:latin typeface="UbuntuMono-Bold"/>
              </a:rPr>
              <a:t> </a:t>
            </a:r>
            <a:r>
              <a:rPr lang="en-IE" sz="1000" dirty="0" err="1">
                <a:solidFill>
                  <a:srgbClr val="000089"/>
                </a:solidFill>
                <a:latin typeface="UbuntuMono-Regular"/>
              </a:rPr>
              <a:t>i</a:t>
            </a:r>
            <a:r>
              <a:rPr lang="en-IE" sz="1000" dirty="0">
                <a:solidFill>
                  <a:srgbClr val="000089"/>
                </a:solidFill>
                <a:latin typeface="UbuntuMono-Regular"/>
              </a:rPr>
              <a:t> </a:t>
            </a:r>
            <a:r>
              <a:rPr lang="en-IE" sz="1000" dirty="0">
                <a:solidFill>
                  <a:srgbClr val="555555"/>
                </a:solidFill>
                <a:latin typeface="UbuntuMono-Regular"/>
              </a:rPr>
              <a:t>= </a:t>
            </a:r>
            <a:r>
              <a:rPr lang="en-IE" sz="1000" dirty="0">
                <a:solidFill>
                  <a:srgbClr val="FF6600"/>
                </a:solidFill>
                <a:latin typeface="UbuntuMono-Regular"/>
              </a:rPr>
              <a:t>0</a:t>
            </a:r>
            <a:r>
              <a:rPr lang="en-IE" sz="1000" dirty="0">
                <a:solidFill>
                  <a:srgbClr val="555555"/>
                </a:solidFill>
                <a:latin typeface="UbuntuMono-Regular"/>
              </a:rPr>
              <a:t>; </a:t>
            </a:r>
            <a:r>
              <a:rPr lang="en-IE" sz="1000" dirty="0" err="1">
                <a:solidFill>
                  <a:srgbClr val="000089"/>
                </a:solidFill>
                <a:latin typeface="UbuntuMono-Regular"/>
              </a:rPr>
              <a:t>i</a:t>
            </a:r>
            <a:r>
              <a:rPr lang="en-IE" sz="1000" dirty="0">
                <a:solidFill>
                  <a:srgbClr val="000089"/>
                </a:solidFill>
                <a:latin typeface="UbuntuMono-Regular"/>
              </a:rPr>
              <a:t> </a:t>
            </a:r>
            <a:r>
              <a:rPr lang="en-IE" sz="1000" dirty="0">
                <a:solidFill>
                  <a:srgbClr val="555555"/>
                </a:solidFill>
                <a:latin typeface="UbuntuMono-Regular"/>
              </a:rPr>
              <a:t>&lt; </a:t>
            </a:r>
            <a:r>
              <a:rPr lang="en-IE" sz="1000" dirty="0" err="1">
                <a:solidFill>
                  <a:srgbClr val="000089"/>
                </a:solidFill>
                <a:latin typeface="UbuntuMono-Regular"/>
              </a:rPr>
              <a:t>args</a:t>
            </a:r>
            <a:r>
              <a:rPr lang="en-IE" sz="1000" dirty="0" err="1">
                <a:solidFill>
                  <a:srgbClr val="555555"/>
                </a:solidFill>
                <a:latin typeface="UbuntuMono-Regular"/>
              </a:rPr>
              <a:t>.</a:t>
            </a:r>
            <a:r>
              <a:rPr lang="en-IE" sz="1000" dirty="0" err="1">
                <a:solidFill>
                  <a:srgbClr val="33009A"/>
                </a:solidFill>
                <a:latin typeface="UbuntuMono-Regular"/>
              </a:rPr>
              <a:t>length</a:t>
            </a:r>
            <a:r>
              <a:rPr lang="en-IE" sz="1000" dirty="0">
                <a:solidFill>
                  <a:srgbClr val="555555"/>
                </a:solidFill>
                <a:latin typeface="UbuntuMono-Regular"/>
              </a:rPr>
              <a:t>; </a:t>
            </a:r>
            <a:r>
              <a:rPr lang="en-IE" sz="1000" dirty="0" err="1">
                <a:solidFill>
                  <a:srgbClr val="000089"/>
                </a:solidFill>
                <a:latin typeface="UbuntuMono-Regular"/>
              </a:rPr>
              <a:t>i</a:t>
            </a:r>
            <a:r>
              <a:rPr lang="en-IE" sz="1000" dirty="0">
                <a:solidFill>
                  <a:srgbClr val="555555"/>
                </a:solidFill>
                <a:latin typeface="UbuntuMono-Regular"/>
              </a:rPr>
              <a:t>++) {</a:t>
            </a:r>
          </a:p>
          <a:p>
            <a:r>
              <a:rPr lang="en-IE" sz="1000" b="1" dirty="0">
                <a:solidFill>
                  <a:srgbClr val="00669A"/>
                </a:solidFill>
                <a:latin typeface="UbuntuMono-Bold"/>
              </a:rPr>
              <a:t>try </a:t>
            </a:r>
            <a:r>
              <a:rPr lang="en-IE" sz="1000" dirty="0">
                <a:solidFill>
                  <a:srgbClr val="555555"/>
                </a:solidFill>
                <a:latin typeface="UbuntuMono-Regular"/>
              </a:rPr>
              <a:t>{</a:t>
            </a:r>
          </a:p>
          <a:p>
            <a:r>
              <a:rPr lang="en-IE" sz="1000" dirty="0">
                <a:solidFill>
                  <a:srgbClr val="000089"/>
                </a:solidFill>
                <a:latin typeface="UbuntuMono-Regular"/>
              </a:rPr>
              <a:t>URI u </a:t>
            </a:r>
            <a:r>
              <a:rPr lang="en-IE" sz="1000" dirty="0">
                <a:solidFill>
                  <a:srgbClr val="555555"/>
                </a:solidFill>
                <a:latin typeface="UbuntuMono-Regular"/>
              </a:rPr>
              <a:t>= </a:t>
            </a:r>
            <a:r>
              <a:rPr lang="en-IE" sz="1000" b="1" dirty="0">
                <a:solidFill>
                  <a:srgbClr val="00669A"/>
                </a:solidFill>
                <a:latin typeface="UbuntuMono-Bold"/>
              </a:rPr>
              <a:t>new </a:t>
            </a:r>
            <a:r>
              <a:rPr lang="en-IE" sz="1000" dirty="0">
                <a:solidFill>
                  <a:srgbClr val="000089"/>
                </a:solidFill>
                <a:latin typeface="UbuntuMono-Regular"/>
              </a:rPr>
              <a:t>URI</a:t>
            </a:r>
            <a:r>
              <a:rPr lang="en-IE" sz="1000" dirty="0">
                <a:solidFill>
                  <a:srgbClr val="555555"/>
                </a:solidFill>
                <a:latin typeface="UbuntuMono-Regular"/>
              </a:rPr>
              <a:t>(</a:t>
            </a:r>
            <a:r>
              <a:rPr lang="en-IE" sz="1000" dirty="0" err="1">
                <a:solidFill>
                  <a:srgbClr val="000089"/>
                </a:solidFill>
                <a:latin typeface="UbuntuMono-Regular"/>
              </a:rPr>
              <a:t>args</a:t>
            </a:r>
            <a:r>
              <a:rPr lang="en-IE" sz="1000" dirty="0">
                <a:solidFill>
                  <a:srgbClr val="555555"/>
                </a:solidFill>
                <a:latin typeface="UbuntuMono-Regular"/>
              </a:rPr>
              <a:t>[</a:t>
            </a:r>
            <a:r>
              <a:rPr lang="en-IE" sz="1000" dirty="0" err="1">
                <a:solidFill>
                  <a:srgbClr val="000089"/>
                </a:solidFill>
                <a:latin typeface="UbuntuMono-Regular"/>
              </a:rPr>
              <a:t>i</a:t>
            </a:r>
            <a:r>
              <a:rPr lang="en-IE" sz="1000" dirty="0">
                <a:solidFill>
                  <a:srgbClr val="555555"/>
                </a:solidFill>
                <a:latin typeface="UbuntuMono-Regular"/>
              </a:rPr>
              <a:t>]);</a:t>
            </a:r>
          </a:p>
          <a:p>
            <a:r>
              <a:rPr lang="en-IE" sz="1000" dirty="0" err="1">
                <a:solidFill>
                  <a:srgbClr val="000089"/>
                </a:solidFill>
                <a:latin typeface="UbuntuMono-Regular"/>
              </a:rPr>
              <a:t>System</a:t>
            </a:r>
            <a:r>
              <a:rPr lang="en-IE" sz="1000" dirty="0" err="1">
                <a:solidFill>
                  <a:srgbClr val="555555"/>
                </a:solidFill>
                <a:latin typeface="UbuntuMono-Regular"/>
              </a:rPr>
              <a:t>.</a:t>
            </a:r>
            <a:r>
              <a:rPr lang="en-IE" sz="1000" dirty="0" err="1">
                <a:solidFill>
                  <a:srgbClr val="33009A"/>
                </a:solidFill>
                <a:latin typeface="UbuntuMono-Regular"/>
              </a:rPr>
              <a:t>out</a:t>
            </a:r>
            <a:r>
              <a:rPr lang="en-IE" sz="1000" dirty="0" err="1">
                <a:solidFill>
                  <a:srgbClr val="555555"/>
                </a:solidFill>
                <a:latin typeface="UbuntuMono-Regular"/>
              </a:rPr>
              <a:t>.</a:t>
            </a:r>
            <a:r>
              <a:rPr lang="en-IE" sz="1000" dirty="0" err="1">
                <a:solidFill>
                  <a:srgbClr val="33009A"/>
                </a:solidFill>
                <a:latin typeface="UbuntuMono-Regular"/>
              </a:rPr>
              <a:t>println</a:t>
            </a:r>
            <a:r>
              <a:rPr lang="en-IE" sz="1000" dirty="0">
                <a:solidFill>
                  <a:srgbClr val="555555"/>
                </a:solidFill>
                <a:latin typeface="UbuntuMono-Regular"/>
              </a:rPr>
              <a:t>(</a:t>
            </a:r>
            <a:r>
              <a:rPr lang="en-IE" sz="1000" dirty="0">
                <a:solidFill>
                  <a:srgbClr val="CD3300"/>
                </a:solidFill>
                <a:latin typeface="UbuntuMono-Regular"/>
              </a:rPr>
              <a:t>"The URI is " </a:t>
            </a:r>
            <a:r>
              <a:rPr lang="en-IE" sz="1000" dirty="0">
                <a:solidFill>
                  <a:srgbClr val="555555"/>
                </a:solidFill>
                <a:latin typeface="UbuntuMono-Regular"/>
              </a:rPr>
              <a:t>+ </a:t>
            </a:r>
            <a:r>
              <a:rPr lang="en-IE" sz="1000" dirty="0">
                <a:solidFill>
                  <a:srgbClr val="000089"/>
                </a:solidFill>
                <a:latin typeface="UbuntuMono-Regular"/>
              </a:rPr>
              <a:t>u</a:t>
            </a:r>
            <a:r>
              <a:rPr lang="en-IE" sz="1000" dirty="0">
                <a:solidFill>
                  <a:srgbClr val="555555"/>
                </a:solidFill>
                <a:latin typeface="UbuntuMono-Regular"/>
              </a:rPr>
              <a:t>);</a:t>
            </a:r>
          </a:p>
          <a:p>
            <a:r>
              <a:rPr lang="en-IE" sz="1000" b="1" dirty="0">
                <a:solidFill>
                  <a:srgbClr val="00669A"/>
                </a:solidFill>
                <a:latin typeface="UbuntuMono-Bold"/>
              </a:rPr>
              <a:t>if </a:t>
            </a:r>
            <a:r>
              <a:rPr lang="en-IE" sz="1000" dirty="0">
                <a:solidFill>
                  <a:srgbClr val="555555"/>
                </a:solidFill>
                <a:latin typeface="UbuntuMono-Regular"/>
              </a:rPr>
              <a:t>(</a:t>
            </a:r>
            <a:r>
              <a:rPr lang="en-IE" sz="1000" dirty="0" err="1">
                <a:solidFill>
                  <a:srgbClr val="000089"/>
                </a:solidFill>
                <a:latin typeface="UbuntuMono-Regular"/>
              </a:rPr>
              <a:t>u</a:t>
            </a:r>
            <a:r>
              <a:rPr lang="en-IE" sz="1000" dirty="0" err="1">
                <a:solidFill>
                  <a:srgbClr val="555555"/>
                </a:solidFill>
                <a:latin typeface="UbuntuMono-Regular"/>
              </a:rPr>
              <a:t>.</a:t>
            </a:r>
            <a:r>
              <a:rPr lang="en-IE" sz="1000" dirty="0" err="1">
                <a:solidFill>
                  <a:srgbClr val="33009A"/>
                </a:solidFill>
                <a:latin typeface="UbuntuMono-Regular"/>
              </a:rPr>
              <a:t>isOpaque</a:t>
            </a:r>
            <a:r>
              <a:rPr lang="en-IE" sz="1000" dirty="0">
                <a:solidFill>
                  <a:srgbClr val="555555"/>
                </a:solidFill>
                <a:latin typeface="UbuntuMono-Regular"/>
              </a:rPr>
              <a:t>()) {</a:t>
            </a:r>
          </a:p>
          <a:p>
            <a:r>
              <a:rPr lang="en-IE" sz="1000" dirty="0" err="1">
                <a:solidFill>
                  <a:srgbClr val="000089"/>
                </a:solidFill>
                <a:latin typeface="UbuntuMono-Regular"/>
              </a:rPr>
              <a:t>System</a:t>
            </a:r>
            <a:r>
              <a:rPr lang="en-IE" sz="1000" dirty="0" err="1">
                <a:solidFill>
                  <a:srgbClr val="555555"/>
                </a:solidFill>
                <a:latin typeface="UbuntuMono-Regular"/>
              </a:rPr>
              <a:t>.</a:t>
            </a:r>
            <a:r>
              <a:rPr lang="en-IE" sz="1000" dirty="0" err="1">
                <a:solidFill>
                  <a:srgbClr val="33009A"/>
                </a:solidFill>
                <a:latin typeface="UbuntuMono-Regular"/>
              </a:rPr>
              <a:t>out</a:t>
            </a:r>
            <a:r>
              <a:rPr lang="en-IE" sz="1000" dirty="0" err="1">
                <a:solidFill>
                  <a:srgbClr val="555555"/>
                </a:solidFill>
                <a:latin typeface="UbuntuMono-Regular"/>
              </a:rPr>
              <a:t>.</a:t>
            </a:r>
            <a:r>
              <a:rPr lang="en-IE" sz="1000" dirty="0" err="1">
                <a:solidFill>
                  <a:srgbClr val="33009A"/>
                </a:solidFill>
                <a:latin typeface="UbuntuMono-Regular"/>
              </a:rPr>
              <a:t>println</a:t>
            </a:r>
            <a:r>
              <a:rPr lang="en-IE" sz="1000" dirty="0">
                <a:solidFill>
                  <a:srgbClr val="555555"/>
                </a:solidFill>
                <a:latin typeface="UbuntuMono-Regular"/>
              </a:rPr>
              <a:t>(</a:t>
            </a:r>
            <a:r>
              <a:rPr lang="en-IE" sz="1000" dirty="0">
                <a:solidFill>
                  <a:srgbClr val="CD3300"/>
                </a:solidFill>
                <a:latin typeface="UbuntuMono-Regular"/>
              </a:rPr>
              <a:t>"This is an opaque URI."</a:t>
            </a:r>
            <a:r>
              <a:rPr lang="en-IE" sz="1000" dirty="0">
                <a:solidFill>
                  <a:srgbClr val="555555"/>
                </a:solidFill>
                <a:latin typeface="UbuntuMono-Regular"/>
              </a:rPr>
              <a:t>);</a:t>
            </a:r>
          </a:p>
          <a:p>
            <a:r>
              <a:rPr lang="en-IE" sz="1000" dirty="0" err="1">
                <a:solidFill>
                  <a:srgbClr val="000089"/>
                </a:solidFill>
                <a:latin typeface="UbuntuMono-Regular"/>
              </a:rPr>
              <a:t>System</a:t>
            </a:r>
            <a:r>
              <a:rPr lang="en-IE" sz="1000" dirty="0" err="1">
                <a:solidFill>
                  <a:srgbClr val="555555"/>
                </a:solidFill>
                <a:latin typeface="UbuntuMono-Regular"/>
              </a:rPr>
              <a:t>.</a:t>
            </a:r>
            <a:r>
              <a:rPr lang="en-IE" sz="1000" dirty="0" err="1">
                <a:solidFill>
                  <a:srgbClr val="33009A"/>
                </a:solidFill>
                <a:latin typeface="UbuntuMono-Regular"/>
              </a:rPr>
              <a:t>out</a:t>
            </a:r>
            <a:r>
              <a:rPr lang="en-IE" sz="1000" dirty="0" err="1">
                <a:solidFill>
                  <a:srgbClr val="555555"/>
                </a:solidFill>
                <a:latin typeface="UbuntuMono-Regular"/>
              </a:rPr>
              <a:t>.</a:t>
            </a:r>
            <a:r>
              <a:rPr lang="en-IE" sz="1000" dirty="0" err="1">
                <a:solidFill>
                  <a:srgbClr val="33009A"/>
                </a:solidFill>
                <a:latin typeface="UbuntuMono-Regular"/>
              </a:rPr>
              <a:t>println</a:t>
            </a:r>
            <a:r>
              <a:rPr lang="en-IE" sz="1000" dirty="0">
                <a:solidFill>
                  <a:srgbClr val="555555"/>
                </a:solidFill>
                <a:latin typeface="UbuntuMono-Regular"/>
              </a:rPr>
              <a:t>(</a:t>
            </a:r>
            <a:r>
              <a:rPr lang="en-IE" sz="1000" dirty="0">
                <a:solidFill>
                  <a:srgbClr val="CD3300"/>
                </a:solidFill>
                <a:latin typeface="UbuntuMono-Regular"/>
              </a:rPr>
              <a:t>"The scheme is " </a:t>
            </a:r>
            <a:r>
              <a:rPr lang="en-IE" sz="1000" dirty="0">
                <a:solidFill>
                  <a:srgbClr val="555555"/>
                </a:solidFill>
                <a:latin typeface="UbuntuMono-Regular"/>
              </a:rPr>
              <a:t>+ </a:t>
            </a:r>
            <a:r>
              <a:rPr lang="en-IE" sz="1000" dirty="0" err="1">
                <a:solidFill>
                  <a:srgbClr val="000089"/>
                </a:solidFill>
                <a:latin typeface="UbuntuMono-Regular"/>
              </a:rPr>
              <a:t>u</a:t>
            </a:r>
            <a:r>
              <a:rPr lang="en-IE" sz="1000" dirty="0" err="1">
                <a:solidFill>
                  <a:srgbClr val="555555"/>
                </a:solidFill>
                <a:latin typeface="UbuntuMono-Regular"/>
              </a:rPr>
              <a:t>.</a:t>
            </a:r>
            <a:r>
              <a:rPr lang="en-IE" sz="1000" dirty="0" err="1">
                <a:solidFill>
                  <a:srgbClr val="33009A"/>
                </a:solidFill>
                <a:latin typeface="UbuntuMono-Regular"/>
              </a:rPr>
              <a:t>getScheme</a:t>
            </a:r>
            <a:r>
              <a:rPr lang="en-IE" sz="1000" dirty="0">
                <a:solidFill>
                  <a:srgbClr val="555555"/>
                </a:solidFill>
                <a:latin typeface="UbuntuMono-Regular"/>
              </a:rPr>
              <a:t>());</a:t>
            </a:r>
          </a:p>
          <a:p>
            <a:r>
              <a:rPr lang="en-IE" sz="1000" dirty="0" err="1">
                <a:solidFill>
                  <a:srgbClr val="000089"/>
                </a:solidFill>
                <a:latin typeface="UbuntuMono-Regular"/>
              </a:rPr>
              <a:t>System</a:t>
            </a:r>
            <a:r>
              <a:rPr lang="en-IE" sz="1000" dirty="0" err="1">
                <a:solidFill>
                  <a:srgbClr val="555555"/>
                </a:solidFill>
                <a:latin typeface="UbuntuMono-Regular"/>
              </a:rPr>
              <a:t>.</a:t>
            </a:r>
            <a:r>
              <a:rPr lang="en-IE" sz="1000" dirty="0" err="1">
                <a:solidFill>
                  <a:srgbClr val="33009A"/>
                </a:solidFill>
                <a:latin typeface="UbuntuMono-Regular"/>
              </a:rPr>
              <a:t>out</a:t>
            </a:r>
            <a:r>
              <a:rPr lang="en-IE" sz="1000" dirty="0" err="1">
                <a:solidFill>
                  <a:srgbClr val="555555"/>
                </a:solidFill>
                <a:latin typeface="UbuntuMono-Regular"/>
              </a:rPr>
              <a:t>.</a:t>
            </a:r>
            <a:r>
              <a:rPr lang="en-IE" sz="1000" dirty="0" err="1">
                <a:solidFill>
                  <a:srgbClr val="33009A"/>
                </a:solidFill>
                <a:latin typeface="UbuntuMono-Regular"/>
              </a:rPr>
              <a:t>println</a:t>
            </a:r>
            <a:r>
              <a:rPr lang="en-IE" sz="1000" dirty="0">
                <a:solidFill>
                  <a:srgbClr val="555555"/>
                </a:solidFill>
                <a:latin typeface="UbuntuMono-Regular"/>
              </a:rPr>
              <a:t>(</a:t>
            </a:r>
            <a:r>
              <a:rPr lang="en-IE" sz="1000" dirty="0">
                <a:solidFill>
                  <a:srgbClr val="CD3300"/>
                </a:solidFill>
                <a:latin typeface="UbuntuMono-Regular"/>
              </a:rPr>
              <a:t>"The scheme specific part is "</a:t>
            </a:r>
          </a:p>
          <a:p>
            <a:r>
              <a:rPr lang="en-IE" sz="1000" dirty="0">
                <a:solidFill>
                  <a:srgbClr val="555555"/>
                </a:solidFill>
                <a:latin typeface="UbuntuMono-Regular"/>
              </a:rPr>
              <a:t>+ </a:t>
            </a:r>
            <a:r>
              <a:rPr lang="en-IE" sz="1000" dirty="0" err="1">
                <a:solidFill>
                  <a:srgbClr val="000089"/>
                </a:solidFill>
                <a:latin typeface="UbuntuMono-Regular"/>
              </a:rPr>
              <a:t>u</a:t>
            </a:r>
            <a:r>
              <a:rPr lang="en-IE" sz="1000" dirty="0" err="1">
                <a:solidFill>
                  <a:srgbClr val="555555"/>
                </a:solidFill>
                <a:latin typeface="UbuntuMono-Regular"/>
              </a:rPr>
              <a:t>.</a:t>
            </a:r>
            <a:r>
              <a:rPr lang="en-IE" sz="1000" dirty="0" err="1">
                <a:solidFill>
                  <a:srgbClr val="33009A"/>
                </a:solidFill>
                <a:latin typeface="UbuntuMono-Regular"/>
              </a:rPr>
              <a:t>getSchemeSpecificPart</a:t>
            </a:r>
            <a:r>
              <a:rPr lang="en-IE" sz="1000" dirty="0">
                <a:solidFill>
                  <a:srgbClr val="555555"/>
                </a:solidFill>
                <a:latin typeface="UbuntuMono-Regular"/>
              </a:rPr>
              <a:t>());</a:t>
            </a:r>
          </a:p>
          <a:p>
            <a:r>
              <a:rPr lang="en-IE" sz="1000" dirty="0" err="1">
                <a:solidFill>
                  <a:srgbClr val="000089"/>
                </a:solidFill>
                <a:latin typeface="UbuntuMono-Regular"/>
              </a:rPr>
              <a:t>System</a:t>
            </a:r>
            <a:r>
              <a:rPr lang="en-IE" sz="1000" dirty="0" err="1">
                <a:solidFill>
                  <a:srgbClr val="555555"/>
                </a:solidFill>
                <a:latin typeface="UbuntuMono-Regular"/>
              </a:rPr>
              <a:t>.</a:t>
            </a:r>
            <a:r>
              <a:rPr lang="en-IE" sz="1000" dirty="0" err="1">
                <a:solidFill>
                  <a:srgbClr val="33009A"/>
                </a:solidFill>
                <a:latin typeface="UbuntuMono-Regular"/>
              </a:rPr>
              <a:t>out</a:t>
            </a:r>
            <a:r>
              <a:rPr lang="en-IE" sz="1000" dirty="0" err="1">
                <a:solidFill>
                  <a:srgbClr val="555555"/>
                </a:solidFill>
                <a:latin typeface="UbuntuMono-Regular"/>
              </a:rPr>
              <a:t>.</a:t>
            </a:r>
            <a:r>
              <a:rPr lang="en-IE" sz="1000" dirty="0" err="1">
                <a:solidFill>
                  <a:srgbClr val="33009A"/>
                </a:solidFill>
                <a:latin typeface="UbuntuMono-Regular"/>
              </a:rPr>
              <a:t>println</a:t>
            </a:r>
            <a:r>
              <a:rPr lang="en-IE" sz="1000" dirty="0">
                <a:solidFill>
                  <a:srgbClr val="555555"/>
                </a:solidFill>
                <a:latin typeface="UbuntuMono-Regular"/>
              </a:rPr>
              <a:t>(</a:t>
            </a:r>
            <a:r>
              <a:rPr lang="en-IE" sz="1000" dirty="0">
                <a:solidFill>
                  <a:srgbClr val="CD3300"/>
                </a:solidFill>
                <a:latin typeface="UbuntuMono-Regular"/>
              </a:rPr>
              <a:t>"The fragment ID is " </a:t>
            </a:r>
            <a:r>
              <a:rPr lang="en-IE" sz="1000" dirty="0">
                <a:solidFill>
                  <a:srgbClr val="555555"/>
                </a:solidFill>
                <a:latin typeface="UbuntuMono-Regular"/>
              </a:rPr>
              <a:t>+ </a:t>
            </a:r>
            <a:r>
              <a:rPr lang="en-IE" sz="1000" dirty="0" err="1">
                <a:solidFill>
                  <a:srgbClr val="000089"/>
                </a:solidFill>
                <a:latin typeface="UbuntuMono-Regular"/>
              </a:rPr>
              <a:t>u</a:t>
            </a:r>
            <a:r>
              <a:rPr lang="en-IE" sz="1000" dirty="0" err="1">
                <a:solidFill>
                  <a:srgbClr val="555555"/>
                </a:solidFill>
                <a:latin typeface="UbuntuMono-Regular"/>
              </a:rPr>
              <a:t>.</a:t>
            </a:r>
            <a:r>
              <a:rPr lang="en-IE" sz="1000" dirty="0" err="1">
                <a:solidFill>
                  <a:srgbClr val="33009A"/>
                </a:solidFill>
                <a:latin typeface="UbuntuMono-Regular"/>
              </a:rPr>
              <a:t>getFragment</a:t>
            </a:r>
            <a:r>
              <a:rPr lang="en-IE" sz="1000" dirty="0">
                <a:solidFill>
                  <a:srgbClr val="555555"/>
                </a:solidFill>
                <a:latin typeface="UbuntuMono-Regular"/>
              </a:rPr>
              <a:t>());</a:t>
            </a:r>
          </a:p>
          <a:p>
            <a:r>
              <a:rPr lang="en-IE" sz="1000" dirty="0">
                <a:solidFill>
                  <a:srgbClr val="555555"/>
                </a:solidFill>
                <a:latin typeface="UbuntuMono-Regular"/>
              </a:rPr>
              <a:t>} </a:t>
            </a:r>
            <a:r>
              <a:rPr lang="en-IE" sz="1000" b="1" dirty="0">
                <a:solidFill>
                  <a:srgbClr val="00669A"/>
                </a:solidFill>
                <a:latin typeface="UbuntuMono-Bold"/>
              </a:rPr>
              <a:t>else </a:t>
            </a:r>
            <a:r>
              <a:rPr lang="en-IE" sz="1000" dirty="0">
                <a:solidFill>
                  <a:srgbClr val="555555"/>
                </a:solidFill>
                <a:latin typeface="UbuntuMono-Regular"/>
              </a:rPr>
              <a:t>{</a:t>
            </a:r>
          </a:p>
          <a:p>
            <a:r>
              <a:rPr lang="en-IE" sz="1000" dirty="0" err="1">
                <a:solidFill>
                  <a:srgbClr val="000089"/>
                </a:solidFill>
                <a:latin typeface="UbuntuMono-Regular"/>
              </a:rPr>
              <a:t>System</a:t>
            </a:r>
            <a:r>
              <a:rPr lang="en-IE" sz="1000" dirty="0" err="1">
                <a:solidFill>
                  <a:srgbClr val="555555"/>
                </a:solidFill>
                <a:latin typeface="UbuntuMono-Regular"/>
              </a:rPr>
              <a:t>.</a:t>
            </a:r>
            <a:r>
              <a:rPr lang="en-IE" sz="1000" dirty="0" err="1">
                <a:solidFill>
                  <a:srgbClr val="33009A"/>
                </a:solidFill>
                <a:latin typeface="UbuntuMono-Regular"/>
              </a:rPr>
              <a:t>out</a:t>
            </a:r>
            <a:r>
              <a:rPr lang="en-IE" sz="1000" dirty="0" err="1">
                <a:solidFill>
                  <a:srgbClr val="555555"/>
                </a:solidFill>
                <a:latin typeface="UbuntuMono-Regular"/>
              </a:rPr>
              <a:t>.</a:t>
            </a:r>
            <a:r>
              <a:rPr lang="en-IE" sz="1000" dirty="0" err="1">
                <a:solidFill>
                  <a:srgbClr val="33009A"/>
                </a:solidFill>
                <a:latin typeface="UbuntuMono-Regular"/>
              </a:rPr>
              <a:t>println</a:t>
            </a:r>
            <a:r>
              <a:rPr lang="en-IE" sz="1000" dirty="0">
                <a:solidFill>
                  <a:srgbClr val="555555"/>
                </a:solidFill>
                <a:latin typeface="UbuntuMono-Regular"/>
              </a:rPr>
              <a:t>(</a:t>
            </a:r>
            <a:r>
              <a:rPr lang="en-IE" sz="1000" dirty="0">
                <a:solidFill>
                  <a:srgbClr val="CD3300"/>
                </a:solidFill>
                <a:latin typeface="UbuntuMono-Regular"/>
              </a:rPr>
              <a:t>"This is a hierarchical URI."</a:t>
            </a:r>
            <a:r>
              <a:rPr lang="en-IE" sz="1000" dirty="0">
                <a:solidFill>
                  <a:srgbClr val="555555"/>
                </a:solidFill>
                <a:latin typeface="UbuntuMono-Regular"/>
              </a:rPr>
              <a:t>);</a:t>
            </a:r>
          </a:p>
          <a:p>
            <a:r>
              <a:rPr lang="en-IE" sz="1000" dirty="0" err="1">
                <a:solidFill>
                  <a:srgbClr val="000089"/>
                </a:solidFill>
                <a:latin typeface="UbuntuMono-Regular"/>
              </a:rPr>
              <a:t>System</a:t>
            </a:r>
            <a:r>
              <a:rPr lang="en-IE" sz="1000" dirty="0" err="1">
                <a:solidFill>
                  <a:srgbClr val="555555"/>
                </a:solidFill>
                <a:latin typeface="UbuntuMono-Regular"/>
              </a:rPr>
              <a:t>.</a:t>
            </a:r>
            <a:r>
              <a:rPr lang="en-IE" sz="1000" dirty="0" err="1">
                <a:solidFill>
                  <a:srgbClr val="33009A"/>
                </a:solidFill>
                <a:latin typeface="UbuntuMono-Regular"/>
              </a:rPr>
              <a:t>out</a:t>
            </a:r>
            <a:r>
              <a:rPr lang="en-IE" sz="1000" dirty="0" err="1">
                <a:solidFill>
                  <a:srgbClr val="555555"/>
                </a:solidFill>
                <a:latin typeface="UbuntuMono-Regular"/>
              </a:rPr>
              <a:t>.</a:t>
            </a:r>
            <a:r>
              <a:rPr lang="en-IE" sz="1000" dirty="0" err="1">
                <a:solidFill>
                  <a:srgbClr val="33009A"/>
                </a:solidFill>
                <a:latin typeface="UbuntuMono-Regular"/>
              </a:rPr>
              <a:t>println</a:t>
            </a:r>
            <a:r>
              <a:rPr lang="en-IE" sz="1000" dirty="0">
                <a:solidFill>
                  <a:srgbClr val="555555"/>
                </a:solidFill>
                <a:latin typeface="UbuntuMono-Regular"/>
              </a:rPr>
              <a:t>(</a:t>
            </a:r>
            <a:r>
              <a:rPr lang="en-IE" sz="1000" dirty="0">
                <a:solidFill>
                  <a:srgbClr val="CD3300"/>
                </a:solidFill>
                <a:latin typeface="UbuntuMono-Regular"/>
              </a:rPr>
              <a:t>"The scheme is " </a:t>
            </a:r>
            <a:r>
              <a:rPr lang="en-IE" sz="1000" dirty="0">
                <a:solidFill>
                  <a:srgbClr val="555555"/>
                </a:solidFill>
                <a:latin typeface="UbuntuMono-Regular"/>
              </a:rPr>
              <a:t>+ </a:t>
            </a:r>
            <a:r>
              <a:rPr lang="en-IE" sz="1000" dirty="0" err="1">
                <a:solidFill>
                  <a:srgbClr val="000089"/>
                </a:solidFill>
                <a:latin typeface="UbuntuMono-Regular"/>
              </a:rPr>
              <a:t>u</a:t>
            </a:r>
            <a:r>
              <a:rPr lang="en-IE" sz="1000" dirty="0" err="1">
                <a:solidFill>
                  <a:srgbClr val="555555"/>
                </a:solidFill>
                <a:latin typeface="UbuntuMono-Regular"/>
              </a:rPr>
              <a:t>.</a:t>
            </a:r>
            <a:r>
              <a:rPr lang="en-IE" sz="1000" dirty="0" err="1">
                <a:solidFill>
                  <a:srgbClr val="33009A"/>
                </a:solidFill>
                <a:latin typeface="UbuntuMono-Regular"/>
              </a:rPr>
              <a:t>getScheme</a:t>
            </a:r>
            <a:r>
              <a:rPr lang="en-IE" sz="1000" dirty="0">
                <a:solidFill>
                  <a:srgbClr val="555555"/>
                </a:solidFill>
                <a:latin typeface="UbuntuMono-Regular"/>
              </a:rPr>
              <a:t>());</a:t>
            </a:r>
          </a:p>
          <a:p>
            <a:r>
              <a:rPr lang="en-IE" sz="1000" b="1" dirty="0">
                <a:solidFill>
                  <a:srgbClr val="00669A"/>
                </a:solidFill>
                <a:latin typeface="UbuntuMono-Bold"/>
              </a:rPr>
              <a:t>try </a:t>
            </a:r>
            <a:r>
              <a:rPr lang="en-IE" sz="1000" dirty="0">
                <a:solidFill>
                  <a:srgbClr val="555555"/>
                </a:solidFill>
                <a:latin typeface="UbuntuMono-Regular"/>
              </a:rPr>
              <a:t>{</a:t>
            </a:r>
          </a:p>
          <a:p>
            <a:r>
              <a:rPr lang="en-IE" sz="1000" dirty="0">
                <a:solidFill>
                  <a:srgbClr val="000089"/>
                </a:solidFill>
                <a:latin typeface="UbuntuMono-Regular"/>
              </a:rPr>
              <a:t>u </a:t>
            </a:r>
            <a:r>
              <a:rPr lang="en-IE" sz="1000" dirty="0">
                <a:solidFill>
                  <a:srgbClr val="555555"/>
                </a:solidFill>
                <a:latin typeface="UbuntuMono-Regular"/>
              </a:rPr>
              <a:t>= </a:t>
            </a:r>
            <a:r>
              <a:rPr lang="en-IE" sz="1000" dirty="0" err="1">
                <a:solidFill>
                  <a:srgbClr val="000089"/>
                </a:solidFill>
                <a:latin typeface="UbuntuMono-Regular"/>
              </a:rPr>
              <a:t>u</a:t>
            </a:r>
            <a:r>
              <a:rPr lang="en-IE" sz="1000" dirty="0" err="1">
                <a:solidFill>
                  <a:srgbClr val="555555"/>
                </a:solidFill>
                <a:latin typeface="UbuntuMono-Regular"/>
              </a:rPr>
              <a:t>.</a:t>
            </a:r>
            <a:r>
              <a:rPr lang="en-IE" sz="1000" dirty="0" err="1">
                <a:solidFill>
                  <a:srgbClr val="33009A"/>
                </a:solidFill>
                <a:latin typeface="UbuntuMono-Regular"/>
              </a:rPr>
              <a:t>parseServerAuthority</a:t>
            </a:r>
            <a:r>
              <a:rPr lang="en-IE" sz="1000" dirty="0">
                <a:solidFill>
                  <a:srgbClr val="555555"/>
                </a:solidFill>
                <a:latin typeface="UbuntuMono-Regular"/>
              </a:rPr>
              <a:t>();</a:t>
            </a:r>
          </a:p>
          <a:p>
            <a:r>
              <a:rPr lang="en-IE" sz="1000" dirty="0" err="1">
                <a:solidFill>
                  <a:srgbClr val="000089"/>
                </a:solidFill>
                <a:latin typeface="UbuntuMono-Regular"/>
              </a:rPr>
              <a:t>System</a:t>
            </a:r>
            <a:r>
              <a:rPr lang="en-IE" sz="1000" dirty="0" err="1">
                <a:solidFill>
                  <a:srgbClr val="555555"/>
                </a:solidFill>
                <a:latin typeface="UbuntuMono-Regular"/>
              </a:rPr>
              <a:t>.</a:t>
            </a:r>
            <a:r>
              <a:rPr lang="en-IE" sz="1000" dirty="0" err="1">
                <a:solidFill>
                  <a:srgbClr val="33009A"/>
                </a:solidFill>
                <a:latin typeface="UbuntuMono-Regular"/>
              </a:rPr>
              <a:t>out</a:t>
            </a:r>
            <a:r>
              <a:rPr lang="en-IE" sz="1000" dirty="0" err="1">
                <a:solidFill>
                  <a:srgbClr val="555555"/>
                </a:solidFill>
                <a:latin typeface="UbuntuMono-Regular"/>
              </a:rPr>
              <a:t>.</a:t>
            </a:r>
            <a:r>
              <a:rPr lang="en-IE" sz="1000" dirty="0" err="1">
                <a:solidFill>
                  <a:srgbClr val="33009A"/>
                </a:solidFill>
                <a:latin typeface="UbuntuMono-Regular"/>
              </a:rPr>
              <a:t>println</a:t>
            </a:r>
            <a:r>
              <a:rPr lang="en-IE" sz="1000" dirty="0">
                <a:solidFill>
                  <a:srgbClr val="555555"/>
                </a:solidFill>
                <a:latin typeface="UbuntuMono-Regular"/>
              </a:rPr>
              <a:t>(</a:t>
            </a:r>
            <a:r>
              <a:rPr lang="en-IE" sz="1000" dirty="0">
                <a:solidFill>
                  <a:srgbClr val="CD3300"/>
                </a:solidFill>
                <a:latin typeface="UbuntuMono-Regular"/>
              </a:rPr>
              <a:t>"The host is " </a:t>
            </a:r>
            <a:r>
              <a:rPr lang="en-IE" sz="1000" dirty="0">
                <a:solidFill>
                  <a:srgbClr val="555555"/>
                </a:solidFill>
                <a:latin typeface="UbuntuMono-Regular"/>
              </a:rPr>
              <a:t>+ </a:t>
            </a:r>
            <a:r>
              <a:rPr lang="en-IE" sz="1000" dirty="0" err="1">
                <a:solidFill>
                  <a:srgbClr val="000089"/>
                </a:solidFill>
                <a:latin typeface="UbuntuMono-Regular"/>
              </a:rPr>
              <a:t>u</a:t>
            </a:r>
            <a:r>
              <a:rPr lang="en-IE" sz="1000" dirty="0" err="1">
                <a:solidFill>
                  <a:srgbClr val="555555"/>
                </a:solidFill>
                <a:latin typeface="UbuntuMono-Regular"/>
              </a:rPr>
              <a:t>.</a:t>
            </a:r>
            <a:r>
              <a:rPr lang="en-IE" sz="1000" dirty="0" err="1">
                <a:solidFill>
                  <a:srgbClr val="33009A"/>
                </a:solidFill>
                <a:latin typeface="UbuntuMono-Regular"/>
              </a:rPr>
              <a:t>getHost</a:t>
            </a:r>
            <a:r>
              <a:rPr lang="en-IE" sz="1000" dirty="0">
                <a:solidFill>
                  <a:srgbClr val="555555"/>
                </a:solidFill>
                <a:latin typeface="UbuntuMono-Regular"/>
              </a:rPr>
              <a:t>());</a:t>
            </a:r>
          </a:p>
          <a:p>
            <a:r>
              <a:rPr lang="en-IE" sz="1000" dirty="0" err="1">
                <a:solidFill>
                  <a:srgbClr val="000089"/>
                </a:solidFill>
                <a:latin typeface="UbuntuMono-Regular"/>
              </a:rPr>
              <a:t>System</a:t>
            </a:r>
            <a:r>
              <a:rPr lang="en-IE" sz="1000" dirty="0" err="1">
                <a:solidFill>
                  <a:srgbClr val="555555"/>
                </a:solidFill>
                <a:latin typeface="UbuntuMono-Regular"/>
              </a:rPr>
              <a:t>.</a:t>
            </a:r>
            <a:r>
              <a:rPr lang="en-IE" sz="1000" dirty="0" err="1">
                <a:solidFill>
                  <a:srgbClr val="33009A"/>
                </a:solidFill>
                <a:latin typeface="UbuntuMono-Regular"/>
              </a:rPr>
              <a:t>out</a:t>
            </a:r>
            <a:r>
              <a:rPr lang="en-IE" sz="1000" dirty="0" err="1">
                <a:solidFill>
                  <a:srgbClr val="555555"/>
                </a:solidFill>
                <a:latin typeface="UbuntuMono-Regular"/>
              </a:rPr>
              <a:t>.</a:t>
            </a:r>
            <a:r>
              <a:rPr lang="en-IE" sz="1000" dirty="0" err="1">
                <a:solidFill>
                  <a:srgbClr val="33009A"/>
                </a:solidFill>
                <a:latin typeface="UbuntuMono-Regular"/>
              </a:rPr>
              <a:t>println</a:t>
            </a:r>
            <a:r>
              <a:rPr lang="en-IE" sz="1000" dirty="0">
                <a:solidFill>
                  <a:srgbClr val="555555"/>
                </a:solidFill>
                <a:latin typeface="UbuntuMono-Regular"/>
              </a:rPr>
              <a:t>(</a:t>
            </a:r>
            <a:r>
              <a:rPr lang="en-IE" sz="1000" dirty="0">
                <a:solidFill>
                  <a:srgbClr val="CD3300"/>
                </a:solidFill>
                <a:latin typeface="UbuntuMono-Regular"/>
              </a:rPr>
              <a:t>"The user info is " </a:t>
            </a:r>
            <a:r>
              <a:rPr lang="en-IE" sz="1000" dirty="0">
                <a:solidFill>
                  <a:srgbClr val="555555"/>
                </a:solidFill>
                <a:latin typeface="UbuntuMono-Regular"/>
              </a:rPr>
              <a:t>+ </a:t>
            </a:r>
            <a:r>
              <a:rPr lang="en-IE" sz="1000" dirty="0" err="1">
                <a:solidFill>
                  <a:srgbClr val="000089"/>
                </a:solidFill>
                <a:latin typeface="UbuntuMono-Regular"/>
              </a:rPr>
              <a:t>u</a:t>
            </a:r>
            <a:r>
              <a:rPr lang="en-IE" sz="1000" dirty="0" err="1">
                <a:solidFill>
                  <a:srgbClr val="555555"/>
                </a:solidFill>
                <a:latin typeface="UbuntuMono-Regular"/>
              </a:rPr>
              <a:t>.</a:t>
            </a:r>
            <a:r>
              <a:rPr lang="en-IE" sz="1000" dirty="0" err="1">
                <a:solidFill>
                  <a:srgbClr val="33009A"/>
                </a:solidFill>
                <a:latin typeface="UbuntuMono-Regular"/>
              </a:rPr>
              <a:t>getUserInfo</a:t>
            </a:r>
            <a:r>
              <a:rPr lang="en-IE" sz="1000" dirty="0">
                <a:solidFill>
                  <a:srgbClr val="555555"/>
                </a:solidFill>
                <a:latin typeface="UbuntuMono-Regular"/>
              </a:rPr>
              <a:t>());</a:t>
            </a:r>
          </a:p>
          <a:p>
            <a:r>
              <a:rPr lang="en-IE" sz="1000" dirty="0" err="1">
                <a:solidFill>
                  <a:srgbClr val="000089"/>
                </a:solidFill>
                <a:latin typeface="UbuntuMono-Regular"/>
              </a:rPr>
              <a:t>System</a:t>
            </a:r>
            <a:r>
              <a:rPr lang="en-IE" sz="1000" dirty="0" err="1">
                <a:solidFill>
                  <a:srgbClr val="555555"/>
                </a:solidFill>
                <a:latin typeface="UbuntuMono-Regular"/>
              </a:rPr>
              <a:t>.</a:t>
            </a:r>
            <a:r>
              <a:rPr lang="en-IE" sz="1000" dirty="0" err="1">
                <a:solidFill>
                  <a:srgbClr val="33009A"/>
                </a:solidFill>
                <a:latin typeface="UbuntuMono-Regular"/>
              </a:rPr>
              <a:t>out</a:t>
            </a:r>
            <a:r>
              <a:rPr lang="en-IE" sz="1000" dirty="0" err="1">
                <a:solidFill>
                  <a:srgbClr val="555555"/>
                </a:solidFill>
                <a:latin typeface="UbuntuMono-Regular"/>
              </a:rPr>
              <a:t>.</a:t>
            </a:r>
            <a:r>
              <a:rPr lang="en-IE" sz="1000" dirty="0" err="1">
                <a:solidFill>
                  <a:srgbClr val="33009A"/>
                </a:solidFill>
                <a:latin typeface="UbuntuMono-Regular"/>
              </a:rPr>
              <a:t>println</a:t>
            </a:r>
            <a:r>
              <a:rPr lang="en-IE" sz="1000" dirty="0">
                <a:solidFill>
                  <a:srgbClr val="555555"/>
                </a:solidFill>
                <a:latin typeface="UbuntuMono-Regular"/>
              </a:rPr>
              <a:t>(</a:t>
            </a:r>
            <a:r>
              <a:rPr lang="en-IE" sz="1000" dirty="0">
                <a:solidFill>
                  <a:srgbClr val="CD3300"/>
                </a:solidFill>
                <a:latin typeface="UbuntuMono-Regular"/>
              </a:rPr>
              <a:t>"The port is " </a:t>
            </a:r>
            <a:r>
              <a:rPr lang="en-IE" sz="1000" dirty="0">
                <a:solidFill>
                  <a:srgbClr val="555555"/>
                </a:solidFill>
                <a:latin typeface="UbuntuMono-Regular"/>
              </a:rPr>
              <a:t>+ </a:t>
            </a:r>
            <a:r>
              <a:rPr lang="en-IE" sz="1000" dirty="0" err="1">
                <a:solidFill>
                  <a:srgbClr val="000089"/>
                </a:solidFill>
                <a:latin typeface="UbuntuMono-Regular"/>
              </a:rPr>
              <a:t>u</a:t>
            </a:r>
            <a:r>
              <a:rPr lang="en-IE" sz="1000" dirty="0" err="1">
                <a:solidFill>
                  <a:srgbClr val="555555"/>
                </a:solidFill>
                <a:latin typeface="UbuntuMono-Regular"/>
              </a:rPr>
              <a:t>.</a:t>
            </a:r>
            <a:r>
              <a:rPr lang="en-IE" sz="1000" dirty="0" err="1">
                <a:solidFill>
                  <a:srgbClr val="33009A"/>
                </a:solidFill>
                <a:latin typeface="UbuntuMono-Regular"/>
              </a:rPr>
              <a:t>getPort</a:t>
            </a:r>
            <a:r>
              <a:rPr lang="en-IE" sz="1000" dirty="0">
                <a:solidFill>
                  <a:srgbClr val="555555"/>
                </a:solidFill>
                <a:latin typeface="UbuntuMono-Regular"/>
              </a:rPr>
              <a:t>());</a:t>
            </a:r>
          </a:p>
          <a:p>
            <a:r>
              <a:rPr lang="en-IE" sz="1000" dirty="0">
                <a:solidFill>
                  <a:srgbClr val="555555"/>
                </a:solidFill>
                <a:latin typeface="UbuntuMono-Regular"/>
              </a:rPr>
              <a:t>} </a:t>
            </a:r>
            <a:r>
              <a:rPr lang="en-IE" sz="1000" b="1" dirty="0">
                <a:solidFill>
                  <a:srgbClr val="00669A"/>
                </a:solidFill>
                <a:latin typeface="UbuntuMono-Bold"/>
              </a:rPr>
              <a:t>catch </a:t>
            </a:r>
            <a:r>
              <a:rPr lang="en-IE" sz="1000" dirty="0">
                <a:solidFill>
                  <a:srgbClr val="555555"/>
                </a:solidFill>
                <a:latin typeface="UbuntuMono-Regular"/>
              </a:rPr>
              <a:t>(</a:t>
            </a:r>
            <a:r>
              <a:rPr lang="en-IE" sz="1000" dirty="0" err="1">
                <a:solidFill>
                  <a:srgbClr val="000089"/>
                </a:solidFill>
                <a:latin typeface="UbuntuMono-Regular"/>
              </a:rPr>
              <a:t>URISyntaxException</a:t>
            </a:r>
            <a:r>
              <a:rPr lang="en-IE" sz="1000" dirty="0">
                <a:solidFill>
                  <a:srgbClr val="000089"/>
                </a:solidFill>
                <a:latin typeface="UbuntuMono-Regular"/>
              </a:rPr>
              <a:t> ex</a:t>
            </a:r>
            <a:r>
              <a:rPr lang="en-IE" sz="1000" dirty="0">
                <a:solidFill>
                  <a:srgbClr val="555555"/>
                </a:solidFill>
                <a:latin typeface="UbuntuMono-Regular"/>
              </a:rPr>
              <a:t>) {</a:t>
            </a:r>
          </a:p>
          <a:p>
            <a:r>
              <a:rPr lang="en-IE" sz="1000" i="1" dirty="0">
                <a:solidFill>
                  <a:srgbClr val="35586C"/>
                </a:solidFill>
                <a:latin typeface="UbuntuMono-Italic"/>
              </a:rPr>
              <a:t>// Must be a registry based authority</a:t>
            </a:r>
          </a:p>
          <a:p>
            <a:r>
              <a:rPr lang="en-IE" sz="1000" dirty="0" err="1">
                <a:solidFill>
                  <a:srgbClr val="000089"/>
                </a:solidFill>
                <a:latin typeface="UbuntuMono-Regular"/>
              </a:rPr>
              <a:t>System</a:t>
            </a:r>
            <a:r>
              <a:rPr lang="en-IE" sz="1000" dirty="0" err="1">
                <a:solidFill>
                  <a:srgbClr val="555555"/>
                </a:solidFill>
                <a:latin typeface="UbuntuMono-Regular"/>
              </a:rPr>
              <a:t>.</a:t>
            </a:r>
            <a:r>
              <a:rPr lang="en-IE" sz="1000" dirty="0" err="1">
                <a:solidFill>
                  <a:srgbClr val="33009A"/>
                </a:solidFill>
                <a:latin typeface="UbuntuMono-Regular"/>
              </a:rPr>
              <a:t>out</a:t>
            </a:r>
            <a:r>
              <a:rPr lang="en-IE" sz="1000" dirty="0" err="1">
                <a:solidFill>
                  <a:srgbClr val="555555"/>
                </a:solidFill>
                <a:latin typeface="UbuntuMono-Regular"/>
              </a:rPr>
              <a:t>.</a:t>
            </a:r>
            <a:r>
              <a:rPr lang="en-IE" sz="1000" dirty="0" err="1">
                <a:solidFill>
                  <a:srgbClr val="33009A"/>
                </a:solidFill>
                <a:latin typeface="UbuntuMono-Regular"/>
              </a:rPr>
              <a:t>println</a:t>
            </a:r>
            <a:r>
              <a:rPr lang="en-IE" sz="1000" dirty="0">
                <a:solidFill>
                  <a:srgbClr val="555555"/>
                </a:solidFill>
                <a:latin typeface="UbuntuMono-Regular"/>
              </a:rPr>
              <a:t>(</a:t>
            </a:r>
            <a:r>
              <a:rPr lang="en-IE" sz="1000" dirty="0">
                <a:solidFill>
                  <a:srgbClr val="CD3300"/>
                </a:solidFill>
                <a:latin typeface="UbuntuMono-Regular"/>
              </a:rPr>
              <a:t>"The authority is " </a:t>
            </a:r>
            <a:r>
              <a:rPr lang="en-IE" sz="1000" dirty="0">
                <a:solidFill>
                  <a:srgbClr val="555555"/>
                </a:solidFill>
                <a:latin typeface="UbuntuMono-Regular"/>
              </a:rPr>
              <a:t>+ </a:t>
            </a:r>
            <a:r>
              <a:rPr lang="en-IE" sz="1000" dirty="0" err="1">
                <a:solidFill>
                  <a:srgbClr val="000089"/>
                </a:solidFill>
                <a:latin typeface="UbuntuMono-Regular"/>
              </a:rPr>
              <a:t>u</a:t>
            </a:r>
            <a:r>
              <a:rPr lang="en-IE" sz="1000" dirty="0" err="1">
                <a:solidFill>
                  <a:srgbClr val="555555"/>
                </a:solidFill>
                <a:latin typeface="UbuntuMono-Regular"/>
              </a:rPr>
              <a:t>.</a:t>
            </a:r>
            <a:r>
              <a:rPr lang="en-IE" sz="1000" dirty="0" err="1">
                <a:solidFill>
                  <a:srgbClr val="33009A"/>
                </a:solidFill>
                <a:latin typeface="UbuntuMono-Regular"/>
              </a:rPr>
              <a:t>getAuthority</a:t>
            </a:r>
            <a:r>
              <a:rPr lang="en-IE" sz="1000" dirty="0">
                <a:solidFill>
                  <a:srgbClr val="555555"/>
                </a:solidFill>
                <a:latin typeface="UbuntuMono-Regular"/>
              </a:rPr>
              <a:t>());</a:t>
            </a:r>
          </a:p>
          <a:p>
            <a:r>
              <a:rPr lang="en-IE" sz="1000" dirty="0">
                <a:solidFill>
                  <a:srgbClr val="555555"/>
                </a:solidFill>
                <a:latin typeface="UbuntuMono-Regular"/>
              </a:rPr>
              <a:t>}</a:t>
            </a:r>
          </a:p>
          <a:p>
            <a:r>
              <a:rPr lang="en-IE" sz="1000" dirty="0" err="1">
                <a:solidFill>
                  <a:srgbClr val="000089"/>
                </a:solidFill>
                <a:latin typeface="UbuntuMono-Regular"/>
              </a:rPr>
              <a:t>System</a:t>
            </a:r>
            <a:r>
              <a:rPr lang="en-IE" sz="1000" dirty="0" err="1">
                <a:solidFill>
                  <a:srgbClr val="555555"/>
                </a:solidFill>
                <a:latin typeface="UbuntuMono-Regular"/>
              </a:rPr>
              <a:t>.</a:t>
            </a:r>
            <a:r>
              <a:rPr lang="en-IE" sz="1000" dirty="0" err="1">
                <a:solidFill>
                  <a:srgbClr val="33009A"/>
                </a:solidFill>
                <a:latin typeface="UbuntuMono-Regular"/>
              </a:rPr>
              <a:t>out</a:t>
            </a:r>
            <a:r>
              <a:rPr lang="en-IE" sz="1000" dirty="0" err="1">
                <a:solidFill>
                  <a:srgbClr val="555555"/>
                </a:solidFill>
                <a:latin typeface="UbuntuMono-Regular"/>
              </a:rPr>
              <a:t>.</a:t>
            </a:r>
            <a:r>
              <a:rPr lang="en-IE" sz="1000" dirty="0" err="1">
                <a:solidFill>
                  <a:srgbClr val="33009A"/>
                </a:solidFill>
                <a:latin typeface="UbuntuMono-Regular"/>
              </a:rPr>
              <a:t>println</a:t>
            </a:r>
            <a:r>
              <a:rPr lang="en-IE" sz="1000" dirty="0">
                <a:solidFill>
                  <a:srgbClr val="555555"/>
                </a:solidFill>
                <a:latin typeface="UbuntuMono-Regular"/>
              </a:rPr>
              <a:t>(</a:t>
            </a:r>
            <a:r>
              <a:rPr lang="en-IE" sz="1000" dirty="0">
                <a:solidFill>
                  <a:srgbClr val="CD3300"/>
                </a:solidFill>
                <a:latin typeface="UbuntuMono-Regular"/>
              </a:rPr>
              <a:t>"The path is " </a:t>
            </a:r>
            <a:r>
              <a:rPr lang="en-IE" sz="1000" dirty="0">
                <a:solidFill>
                  <a:srgbClr val="555555"/>
                </a:solidFill>
                <a:latin typeface="UbuntuMono-Regular"/>
              </a:rPr>
              <a:t>+ </a:t>
            </a:r>
            <a:r>
              <a:rPr lang="en-IE" sz="1000" dirty="0" err="1">
                <a:solidFill>
                  <a:srgbClr val="000089"/>
                </a:solidFill>
                <a:latin typeface="UbuntuMono-Regular"/>
              </a:rPr>
              <a:t>u</a:t>
            </a:r>
            <a:r>
              <a:rPr lang="en-IE" sz="1000" dirty="0" err="1">
                <a:solidFill>
                  <a:srgbClr val="555555"/>
                </a:solidFill>
                <a:latin typeface="UbuntuMono-Regular"/>
              </a:rPr>
              <a:t>.</a:t>
            </a:r>
            <a:r>
              <a:rPr lang="en-IE" sz="1000" dirty="0" err="1">
                <a:solidFill>
                  <a:srgbClr val="33009A"/>
                </a:solidFill>
                <a:latin typeface="UbuntuMono-Regular"/>
              </a:rPr>
              <a:t>getPath</a:t>
            </a:r>
            <a:r>
              <a:rPr lang="en-IE" sz="1000" dirty="0">
                <a:solidFill>
                  <a:srgbClr val="555555"/>
                </a:solidFill>
                <a:latin typeface="UbuntuMono-Regular"/>
              </a:rPr>
              <a:t>());</a:t>
            </a:r>
          </a:p>
          <a:p>
            <a:r>
              <a:rPr lang="en-IE" sz="1000" dirty="0" err="1">
                <a:solidFill>
                  <a:srgbClr val="000089"/>
                </a:solidFill>
                <a:latin typeface="UbuntuMono-Regular"/>
              </a:rPr>
              <a:t>System</a:t>
            </a:r>
            <a:r>
              <a:rPr lang="en-IE" sz="1000" dirty="0" err="1">
                <a:solidFill>
                  <a:srgbClr val="555555"/>
                </a:solidFill>
                <a:latin typeface="UbuntuMono-Regular"/>
              </a:rPr>
              <a:t>.</a:t>
            </a:r>
            <a:r>
              <a:rPr lang="en-IE" sz="1000" dirty="0" err="1">
                <a:solidFill>
                  <a:srgbClr val="33009A"/>
                </a:solidFill>
                <a:latin typeface="UbuntuMono-Regular"/>
              </a:rPr>
              <a:t>out</a:t>
            </a:r>
            <a:r>
              <a:rPr lang="en-IE" sz="1000" dirty="0" err="1">
                <a:solidFill>
                  <a:srgbClr val="555555"/>
                </a:solidFill>
                <a:latin typeface="UbuntuMono-Regular"/>
              </a:rPr>
              <a:t>.</a:t>
            </a:r>
            <a:r>
              <a:rPr lang="en-IE" sz="1000" dirty="0" err="1">
                <a:solidFill>
                  <a:srgbClr val="33009A"/>
                </a:solidFill>
                <a:latin typeface="UbuntuMono-Regular"/>
              </a:rPr>
              <a:t>println</a:t>
            </a:r>
            <a:r>
              <a:rPr lang="en-IE" sz="1000" dirty="0">
                <a:solidFill>
                  <a:srgbClr val="555555"/>
                </a:solidFill>
                <a:latin typeface="UbuntuMono-Regular"/>
              </a:rPr>
              <a:t>(</a:t>
            </a:r>
            <a:r>
              <a:rPr lang="en-IE" sz="1000" dirty="0">
                <a:solidFill>
                  <a:srgbClr val="CD3300"/>
                </a:solidFill>
                <a:latin typeface="UbuntuMono-Regular"/>
              </a:rPr>
              <a:t>"The query string is " </a:t>
            </a:r>
            <a:r>
              <a:rPr lang="en-IE" sz="1000" dirty="0">
                <a:solidFill>
                  <a:srgbClr val="555555"/>
                </a:solidFill>
                <a:latin typeface="UbuntuMono-Regular"/>
              </a:rPr>
              <a:t>+ </a:t>
            </a:r>
            <a:r>
              <a:rPr lang="en-IE" sz="1000" dirty="0" err="1">
                <a:solidFill>
                  <a:srgbClr val="000089"/>
                </a:solidFill>
                <a:latin typeface="UbuntuMono-Regular"/>
              </a:rPr>
              <a:t>u</a:t>
            </a:r>
            <a:r>
              <a:rPr lang="en-IE" sz="1000" dirty="0" err="1">
                <a:solidFill>
                  <a:srgbClr val="555555"/>
                </a:solidFill>
                <a:latin typeface="UbuntuMono-Regular"/>
              </a:rPr>
              <a:t>.</a:t>
            </a:r>
            <a:r>
              <a:rPr lang="en-IE" sz="1000" dirty="0" err="1">
                <a:solidFill>
                  <a:srgbClr val="33009A"/>
                </a:solidFill>
                <a:latin typeface="UbuntuMono-Regular"/>
              </a:rPr>
              <a:t>getQuery</a:t>
            </a:r>
            <a:r>
              <a:rPr lang="en-IE" sz="1000" dirty="0">
                <a:solidFill>
                  <a:srgbClr val="555555"/>
                </a:solidFill>
                <a:latin typeface="UbuntuMono-Regular"/>
              </a:rPr>
              <a:t>());</a:t>
            </a:r>
          </a:p>
          <a:p>
            <a:r>
              <a:rPr lang="en-IE" sz="1000" dirty="0" err="1">
                <a:solidFill>
                  <a:srgbClr val="000089"/>
                </a:solidFill>
                <a:latin typeface="UbuntuMono-Regular"/>
              </a:rPr>
              <a:t>System</a:t>
            </a:r>
            <a:r>
              <a:rPr lang="en-IE" sz="1000" dirty="0" err="1">
                <a:solidFill>
                  <a:srgbClr val="555555"/>
                </a:solidFill>
                <a:latin typeface="UbuntuMono-Regular"/>
              </a:rPr>
              <a:t>.</a:t>
            </a:r>
            <a:r>
              <a:rPr lang="en-IE" sz="1000" dirty="0" err="1">
                <a:solidFill>
                  <a:srgbClr val="33009A"/>
                </a:solidFill>
                <a:latin typeface="UbuntuMono-Regular"/>
              </a:rPr>
              <a:t>out</a:t>
            </a:r>
            <a:r>
              <a:rPr lang="en-IE" sz="1000" dirty="0" err="1">
                <a:solidFill>
                  <a:srgbClr val="555555"/>
                </a:solidFill>
                <a:latin typeface="UbuntuMono-Regular"/>
              </a:rPr>
              <a:t>.</a:t>
            </a:r>
            <a:r>
              <a:rPr lang="en-IE" sz="1000" dirty="0" err="1">
                <a:solidFill>
                  <a:srgbClr val="33009A"/>
                </a:solidFill>
                <a:latin typeface="UbuntuMono-Regular"/>
              </a:rPr>
              <a:t>println</a:t>
            </a:r>
            <a:r>
              <a:rPr lang="en-IE" sz="1000" dirty="0">
                <a:solidFill>
                  <a:srgbClr val="555555"/>
                </a:solidFill>
                <a:latin typeface="UbuntuMono-Regular"/>
              </a:rPr>
              <a:t>(</a:t>
            </a:r>
            <a:r>
              <a:rPr lang="en-IE" sz="1000" dirty="0">
                <a:solidFill>
                  <a:srgbClr val="CD3300"/>
                </a:solidFill>
                <a:latin typeface="UbuntuMono-Regular"/>
              </a:rPr>
              <a:t>"The fragment ID is " </a:t>
            </a:r>
            <a:r>
              <a:rPr lang="en-IE" sz="1000" dirty="0">
                <a:solidFill>
                  <a:srgbClr val="555555"/>
                </a:solidFill>
                <a:latin typeface="UbuntuMono-Regular"/>
              </a:rPr>
              <a:t>+ </a:t>
            </a:r>
            <a:r>
              <a:rPr lang="en-IE" sz="1000" dirty="0" err="1">
                <a:solidFill>
                  <a:srgbClr val="000089"/>
                </a:solidFill>
                <a:latin typeface="UbuntuMono-Regular"/>
              </a:rPr>
              <a:t>u</a:t>
            </a:r>
            <a:r>
              <a:rPr lang="en-IE" sz="1000" dirty="0" err="1">
                <a:solidFill>
                  <a:srgbClr val="555555"/>
                </a:solidFill>
                <a:latin typeface="UbuntuMono-Regular"/>
              </a:rPr>
              <a:t>.</a:t>
            </a:r>
            <a:r>
              <a:rPr lang="en-IE" sz="1000" dirty="0" err="1">
                <a:solidFill>
                  <a:srgbClr val="33009A"/>
                </a:solidFill>
                <a:latin typeface="UbuntuMono-Regular"/>
              </a:rPr>
              <a:t>getFragment</a:t>
            </a:r>
            <a:r>
              <a:rPr lang="en-IE" sz="1000" dirty="0">
                <a:solidFill>
                  <a:srgbClr val="555555"/>
                </a:solidFill>
                <a:latin typeface="UbuntuMono-Regular"/>
              </a:rPr>
              <a:t>());</a:t>
            </a:r>
          </a:p>
          <a:p>
            <a:r>
              <a:rPr lang="en-IE" sz="1000" dirty="0">
                <a:solidFill>
                  <a:srgbClr val="555555"/>
                </a:solidFill>
                <a:latin typeface="UbuntuMono-Regular"/>
              </a:rPr>
              <a:t>}</a:t>
            </a:r>
          </a:p>
          <a:p>
            <a:r>
              <a:rPr lang="en-IE" sz="1000" dirty="0">
                <a:solidFill>
                  <a:srgbClr val="555555"/>
                </a:solidFill>
                <a:latin typeface="UbuntuMono-Regular"/>
              </a:rPr>
              <a:t>} </a:t>
            </a:r>
            <a:r>
              <a:rPr lang="en-IE" sz="1000" b="1" dirty="0">
                <a:solidFill>
                  <a:srgbClr val="00669A"/>
                </a:solidFill>
                <a:latin typeface="UbuntuMono-Bold"/>
              </a:rPr>
              <a:t>catch </a:t>
            </a:r>
            <a:r>
              <a:rPr lang="en-IE" sz="1000" dirty="0">
                <a:solidFill>
                  <a:srgbClr val="555555"/>
                </a:solidFill>
                <a:latin typeface="UbuntuMono-Regular"/>
              </a:rPr>
              <a:t>(</a:t>
            </a:r>
            <a:r>
              <a:rPr lang="en-IE" sz="1000" dirty="0" err="1">
                <a:solidFill>
                  <a:srgbClr val="000089"/>
                </a:solidFill>
                <a:latin typeface="UbuntuMono-Regular"/>
              </a:rPr>
              <a:t>URISyntaxException</a:t>
            </a:r>
            <a:r>
              <a:rPr lang="en-IE" sz="1000" dirty="0">
                <a:solidFill>
                  <a:srgbClr val="000089"/>
                </a:solidFill>
                <a:latin typeface="UbuntuMono-Regular"/>
              </a:rPr>
              <a:t> ex</a:t>
            </a:r>
            <a:r>
              <a:rPr lang="en-IE" sz="1000" dirty="0">
                <a:solidFill>
                  <a:srgbClr val="555555"/>
                </a:solidFill>
                <a:latin typeface="UbuntuMono-Regular"/>
              </a:rPr>
              <a:t>) </a:t>
            </a:r>
            <a:r>
              <a:rPr lang="en-IE" sz="1000" dirty="0" smtClean="0">
                <a:solidFill>
                  <a:srgbClr val="555555"/>
                </a:solidFill>
                <a:latin typeface="UbuntuMono-Regular"/>
              </a:rPr>
              <a:t>{</a:t>
            </a:r>
          </a:p>
          <a:p>
            <a:r>
              <a:rPr lang="en-IE" sz="1000" dirty="0" err="1">
                <a:solidFill>
                  <a:srgbClr val="000089"/>
                </a:solidFill>
                <a:latin typeface="UbuntuMono-Regular"/>
              </a:rPr>
              <a:t>System</a:t>
            </a:r>
            <a:r>
              <a:rPr lang="en-IE" sz="1000" dirty="0" err="1">
                <a:solidFill>
                  <a:srgbClr val="555555"/>
                </a:solidFill>
                <a:latin typeface="UbuntuMono-Regular"/>
              </a:rPr>
              <a:t>.</a:t>
            </a:r>
            <a:r>
              <a:rPr lang="en-IE" sz="1000" dirty="0" err="1">
                <a:solidFill>
                  <a:srgbClr val="33009A"/>
                </a:solidFill>
                <a:latin typeface="UbuntuMono-Regular"/>
              </a:rPr>
              <a:t>err</a:t>
            </a:r>
            <a:r>
              <a:rPr lang="en-IE" sz="1000" dirty="0" err="1">
                <a:solidFill>
                  <a:srgbClr val="555555"/>
                </a:solidFill>
                <a:latin typeface="UbuntuMono-Regular"/>
              </a:rPr>
              <a:t>.</a:t>
            </a:r>
            <a:r>
              <a:rPr lang="en-IE" sz="1000" dirty="0" err="1">
                <a:solidFill>
                  <a:srgbClr val="33009A"/>
                </a:solidFill>
                <a:latin typeface="UbuntuMono-Regular"/>
              </a:rPr>
              <a:t>println</a:t>
            </a:r>
            <a:r>
              <a:rPr lang="en-IE" sz="1000" dirty="0">
                <a:solidFill>
                  <a:srgbClr val="555555"/>
                </a:solidFill>
                <a:latin typeface="UbuntuMono-Regular"/>
              </a:rPr>
              <a:t>(</a:t>
            </a:r>
            <a:r>
              <a:rPr lang="en-IE" sz="1000" dirty="0" err="1">
                <a:solidFill>
                  <a:srgbClr val="000089"/>
                </a:solidFill>
                <a:latin typeface="UbuntuMono-Regular"/>
              </a:rPr>
              <a:t>args</a:t>
            </a:r>
            <a:r>
              <a:rPr lang="en-IE" sz="1000" dirty="0">
                <a:solidFill>
                  <a:srgbClr val="555555"/>
                </a:solidFill>
                <a:latin typeface="UbuntuMono-Regular"/>
              </a:rPr>
              <a:t>[</a:t>
            </a:r>
            <a:r>
              <a:rPr lang="en-IE" sz="1000" dirty="0" err="1">
                <a:solidFill>
                  <a:srgbClr val="000089"/>
                </a:solidFill>
                <a:latin typeface="UbuntuMono-Regular"/>
              </a:rPr>
              <a:t>i</a:t>
            </a:r>
            <a:r>
              <a:rPr lang="en-IE" sz="1000" dirty="0">
                <a:solidFill>
                  <a:srgbClr val="555555"/>
                </a:solidFill>
                <a:latin typeface="UbuntuMono-Regular"/>
              </a:rPr>
              <a:t>] + </a:t>
            </a:r>
            <a:r>
              <a:rPr lang="en-IE" sz="1000" dirty="0">
                <a:solidFill>
                  <a:srgbClr val="CD3300"/>
                </a:solidFill>
                <a:latin typeface="UbuntuMono-Regular"/>
              </a:rPr>
              <a:t>" does not seem to be a URI."</a:t>
            </a:r>
            <a:r>
              <a:rPr lang="en-IE" sz="1000" dirty="0">
                <a:solidFill>
                  <a:srgbClr val="555555"/>
                </a:solidFill>
                <a:latin typeface="UbuntuMono-Regular"/>
              </a:rPr>
              <a:t>);</a:t>
            </a:r>
          </a:p>
          <a:p>
            <a:r>
              <a:rPr lang="en-IE" sz="1000" dirty="0">
                <a:solidFill>
                  <a:srgbClr val="555555"/>
                </a:solidFill>
                <a:latin typeface="UbuntuMono-Regular"/>
              </a:rPr>
              <a:t>}</a:t>
            </a:r>
          </a:p>
          <a:p>
            <a:r>
              <a:rPr lang="en-IE" sz="1000" dirty="0" err="1">
                <a:solidFill>
                  <a:srgbClr val="000089"/>
                </a:solidFill>
                <a:latin typeface="UbuntuMono-Regular"/>
              </a:rPr>
              <a:t>System</a:t>
            </a:r>
            <a:r>
              <a:rPr lang="en-IE" sz="1000" dirty="0" err="1">
                <a:solidFill>
                  <a:srgbClr val="555555"/>
                </a:solidFill>
                <a:latin typeface="UbuntuMono-Regular"/>
              </a:rPr>
              <a:t>.</a:t>
            </a:r>
            <a:r>
              <a:rPr lang="en-IE" sz="1000" dirty="0" err="1">
                <a:solidFill>
                  <a:srgbClr val="33009A"/>
                </a:solidFill>
                <a:latin typeface="UbuntuMono-Regular"/>
              </a:rPr>
              <a:t>out</a:t>
            </a:r>
            <a:r>
              <a:rPr lang="en-IE" sz="1000" dirty="0" err="1">
                <a:solidFill>
                  <a:srgbClr val="555555"/>
                </a:solidFill>
                <a:latin typeface="UbuntuMono-Regular"/>
              </a:rPr>
              <a:t>.</a:t>
            </a:r>
            <a:r>
              <a:rPr lang="en-IE" sz="1000" dirty="0" err="1">
                <a:solidFill>
                  <a:srgbClr val="33009A"/>
                </a:solidFill>
                <a:latin typeface="UbuntuMono-Regular"/>
              </a:rPr>
              <a:t>println</a:t>
            </a:r>
            <a:r>
              <a:rPr lang="en-IE" sz="1000" dirty="0">
                <a:solidFill>
                  <a:srgbClr val="555555"/>
                </a:solidFill>
                <a:latin typeface="UbuntuMono-Regular"/>
              </a:rPr>
              <a:t>();</a:t>
            </a:r>
          </a:p>
          <a:p>
            <a:r>
              <a:rPr lang="en-IE" sz="1000" dirty="0" smtClean="0">
                <a:solidFill>
                  <a:srgbClr val="555555"/>
                </a:solidFill>
                <a:latin typeface="UbuntuMono-Regular"/>
              </a:rPr>
              <a:t>}}}</a:t>
            </a:r>
            <a:endParaRPr lang="en-IE" sz="1000" b="1" dirty="0">
              <a:solidFill>
                <a:srgbClr val="555555"/>
              </a:solidFill>
              <a:latin typeface="UbuntuMono-Regular"/>
            </a:endParaRPr>
          </a:p>
        </p:txBody>
      </p:sp>
    </p:spTree>
    <p:extLst>
      <p:ext uri="{BB962C8B-B14F-4D97-AF65-F5344CB8AC3E}">
        <p14:creationId xmlns:p14="http://schemas.microsoft.com/office/powerpoint/2010/main" val="154188969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39762"/>
          </a:xfrm>
        </p:spPr>
        <p:txBody>
          <a:bodyPr>
            <a:noAutofit/>
          </a:bodyPr>
          <a:lstStyle/>
          <a:p>
            <a:r>
              <a:rPr lang="en-IE" sz="2800" i="1" dirty="0" smtClean="0"/>
              <a:t>Resolving relative URIs</a:t>
            </a:r>
            <a:endParaRPr lang="en-IE" sz="2800" b="1" dirty="0"/>
          </a:p>
        </p:txBody>
      </p:sp>
      <p:sp>
        <p:nvSpPr>
          <p:cNvPr id="3" name="Content Placeholder 2"/>
          <p:cNvSpPr>
            <a:spLocks noGrp="1"/>
          </p:cNvSpPr>
          <p:nvPr>
            <p:ph idx="1"/>
          </p:nvPr>
        </p:nvSpPr>
        <p:spPr>
          <a:xfrm>
            <a:off x="0" y="609600"/>
            <a:ext cx="9144000" cy="6248400"/>
          </a:xfrm>
        </p:spPr>
        <p:txBody>
          <a:bodyPr>
            <a:noAutofit/>
          </a:bodyPr>
          <a:lstStyle/>
          <a:p>
            <a:r>
              <a:rPr lang="en-IE" sz="1600" dirty="0">
                <a:solidFill>
                  <a:srgbClr val="000000"/>
                </a:solidFill>
                <a:latin typeface="MinionPro-Regular"/>
              </a:rPr>
              <a:t>The </a:t>
            </a:r>
            <a:r>
              <a:rPr lang="en-IE" sz="1600" dirty="0">
                <a:solidFill>
                  <a:srgbClr val="000000"/>
                </a:solidFill>
                <a:latin typeface="UbuntuMono-Regular"/>
              </a:rPr>
              <a:t>URI </a:t>
            </a:r>
            <a:r>
              <a:rPr lang="en-IE" sz="1600" dirty="0">
                <a:solidFill>
                  <a:srgbClr val="000000"/>
                </a:solidFill>
                <a:latin typeface="MinionPro-Regular"/>
              </a:rPr>
              <a:t>class has three methods for converting back and forth between relative </a:t>
            </a:r>
            <a:r>
              <a:rPr lang="en-IE" sz="1600" dirty="0" smtClean="0">
                <a:solidFill>
                  <a:srgbClr val="000000"/>
                </a:solidFill>
                <a:latin typeface="MinionPro-Regular"/>
              </a:rPr>
              <a:t>and absolute </a:t>
            </a:r>
            <a:r>
              <a:rPr lang="en-IE" sz="1600" dirty="0">
                <a:solidFill>
                  <a:srgbClr val="000000"/>
                </a:solidFill>
                <a:latin typeface="MinionPro-Regular"/>
              </a:rPr>
              <a:t>URIs:</a:t>
            </a:r>
          </a:p>
          <a:p>
            <a:r>
              <a:rPr lang="en-IE" sz="1400" b="1" dirty="0">
                <a:solidFill>
                  <a:srgbClr val="00669A"/>
                </a:solidFill>
                <a:latin typeface="UbuntuMono-Bold"/>
              </a:rPr>
              <a:t>public </a:t>
            </a:r>
            <a:r>
              <a:rPr lang="en-IE" sz="1400" dirty="0">
                <a:solidFill>
                  <a:srgbClr val="000089"/>
                </a:solidFill>
                <a:latin typeface="UbuntuMono-Regular"/>
              </a:rPr>
              <a:t>URI </a:t>
            </a:r>
            <a:r>
              <a:rPr lang="en-IE" sz="1400" dirty="0">
                <a:solidFill>
                  <a:srgbClr val="CD00FF"/>
                </a:solidFill>
                <a:latin typeface="UbuntuMono-Regular"/>
              </a:rPr>
              <a:t>resolve</a:t>
            </a:r>
            <a:r>
              <a:rPr lang="en-IE" sz="1400" dirty="0">
                <a:solidFill>
                  <a:srgbClr val="555555"/>
                </a:solidFill>
                <a:latin typeface="UbuntuMono-Regular"/>
              </a:rPr>
              <a:t>(</a:t>
            </a:r>
            <a:r>
              <a:rPr lang="en-IE" sz="1400" dirty="0">
                <a:solidFill>
                  <a:srgbClr val="000089"/>
                </a:solidFill>
                <a:latin typeface="UbuntuMono-Regular"/>
              </a:rPr>
              <a:t>URI </a:t>
            </a:r>
            <a:r>
              <a:rPr lang="en-IE" sz="1400" dirty="0" err="1">
                <a:solidFill>
                  <a:srgbClr val="000089"/>
                </a:solidFill>
                <a:latin typeface="UbuntuMono-Regular"/>
              </a:rPr>
              <a:t>uri</a:t>
            </a:r>
            <a:r>
              <a:rPr lang="en-IE" sz="1400" dirty="0">
                <a:solidFill>
                  <a:srgbClr val="555555"/>
                </a:solidFill>
                <a:latin typeface="UbuntuMono-Regular"/>
              </a:rPr>
              <a:t>)</a:t>
            </a:r>
          </a:p>
          <a:p>
            <a:r>
              <a:rPr lang="en-IE" sz="1400" b="1" dirty="0">
                <a:solidFill>
                  <a:srgbClr val="00669A"/>
                </a:solidFill>
                <a:latin typeface="UbuntuMono-Bold"/>
              </a:rPr>
              <a:t>public </a:t>
            </a:r>
            <a:r>
              <a:rPr lang="en-IE" sz="1400" dirty="0">
                <a:solidFill>
                  <a:srgbClr val="000089"/>
                </a:solidFill>
                <a:latin typeface="UbuntuMono-Regular"/>
              </a:rPr>
              <a:t>URI </a:t>
            </a:r>
            <a:r>
              <a:rPr lang="en-IE" sz="1400" dirty="0">
                <a:solidFill>
                  <a:srgbClr val="CD00FF"/>
                </a:solidFill>
                <a:latin typeface="UbuntuMono-Regular"/>
              </a:rPr>
              <a:t>resolve</a:t>
            </a:r>
            <a:r>
              <a:rPr lang="en-IE" sz="1400" dirty="0">
                <a:solidFill>
                  <a:srgbClr val="555555"/>
                </a:solidFill>
                <a:latin typeface="UbuntuMono-Regular"/>
              </a:rPr>
              <a:t>(</a:t>
            </a:r>
            <a:r>
              <a:rPr lang="en-IE" sz="1400" dirty="0">
                <a:solidFill>
                  <a:srgbClr val="000089"/>
                </a:solidFill>
                <a:latin typeface="UbuntuMono-Regular"/>
              </a:rPr>
              <a:t>String </a:t>
            </a:r>
            <a:r>
              <a:rPr lang="en-IE" sz="1400" dirty="0" err="1">
                <a:solidFill>
                  <a:srgbClr val="000089"/>
                </a:solidFill>
                <a:latin typeface="UbuntuMono-Regular"/>
              </a:rPr>
              <a:t>uri</a:t>
            </a:r>
            <a:r>
              <a:rPr lang="en-IE" sz="1400" dirty="0">
                <a:solidFill>
                  <a:srgbClr val="555555"/>
                </a:solidFill>
                <a:latin typeface="UbuntuMono-Regular"/>
              </a:rPr>
              <a:t>)</a:t>
            </a:r>
          </a:p>
          <a:p>
            <a:r>
              <a:rPr lang="en-IE" sz="1400" b="1" dirty="0">
                <a:solidFill>
                  <a:srgbClr val="00669A"/>
                </a:solidFill>
                <a:latin typeface="UbuntuMono-Bold"/>
              </a:rPr>
              <a:t>public </a:t>
            </a:r>
            <a:r>
              <a:rPr lang="en-IE" sz="1400" dirty="0">
                <a:solidFill>
                  <a:srgbClr val="000089"/>
                </a:solidFill>
                <a:latin typeface="UbuntuMono-Regular"/>
              </a:rPr>
              <a:t>URI </a:t>
            </a:r>
            <a:r>
              <a:rPr lang="en-IE" sz="1400" dirty="0">
                <a:solidFill>
                  <a:srgbClr val="CD00FF"/>
                </a:solidFill>
                <a:latin typeface="UbuntuMono-Regular"/>
              </a:rPr>
              <a:t>relativize</a:t>
            </a:r>
            <a:r>
              <a:rPr lang="en-IE" sz="1400" dirty="0">
                <a:solidFill>
                  <a:srgbClr val="555555"/>
                </a:solidFill>
                <a:latin typeface="UbuntuMono-Regular"/>
              </a:rPr>
              <a:t>(</a:t>
            </a:r>
            <a:r>
              <a:rPr lang="en-IE" sz="1400" dirty="0">
                <a:solidFill>
                  <a:srgbClr val="000089"/>
                </a:solidFill>
                <a:latin typeface="UbuntuMono-Regular"/>
              </a:rPr>
              <a:t>URI </a:t>
            </a:r>
            <a:r>
              <a:rPr lang="en-IE" sz="1400" dirty="0" err="1">
                <a:solidFill>
                  <a:srgbClr val="000089"/>
                </a:solidFill>
                <a:latin typeface="UbuntuMono-Regular"/>
              </a:rPr>
              <a:t>uri</a:t>
            </a:r>
            <a:r>
              <a:rPr lang="en-IE" sz="1400" dirty="0">
                <a:solidFill>
                  <a:srgbClr val="555555"/>
                </a:solidFill>
                <a:latin typeface="UbuntuMono-Regular"/>
              </a:rPr>
              <a:t>)</a:t>
            </a:r>
          </a:p>
          <a:p>
            <a:r>
              <a:rPr lang="en-IE" sz="1600" dirty="0">
                <a:solidFill>
                  <a:srgbClr val="000000"/>
                </a:solidFill>
                <a:latin typeface="MinionPro-Regular"/>
              </a:rPr>
              <a:t>The </a:t>
            </a:r>
            <a:r>
              <a:rPr lang="en-IE" sz="1600" dirty="0">
                <a:solidFill>
                  <a:srgbClr val="000000"/>
                </a:solidFill>
                <a:latin typeface="UbuntuMono-Regular"/>
              </a:rPr>
              <a:t>resolve() </a:t>
            </a:r>
            <a:r>
              <a:rPr lang="en-IE" sz="1600" dirty="0">
                <a:solidFill>
                  <a:srgbClr val="000000"/>
                </a:solidFill>
                <a:latin typeface="MinionPro-Regular"/>
              </a:rPr>
              <a:t>methods compare the </a:t>
            </a:r>
            <a:r>
              <a:rPr lang="en-IE" sz="1600" dirty="0" err="1">
                <a:solidFill>
                  <a:srgbClr val="000000"/>
                </a:solidFill>
                <a:latin typeface="UbuntuMono-Regular"/>
              </a:rPr>
              <a:t>uri</a:t>
            </a:r>
            <a:r>
              <a:rPr lang="en-IE" sz="1600" dirty="0">
                <a:solidFill>
                  <a:srgbClr val="000000"/>
                </a:solidFill>
                <a:latin typeface="UbuntuMono-Regular"/>
              </a:rPr>
              <a:t> </a:t>
            </a:r>
            <a:r>
              <a:rPr lang="en-IE" sz="1600" dirty="0">
                <a:solidFill>
                  <a:srgbClr val="000000"/>
                </a:solidFill>
                <a:latin typeface="MinionPro-Regular"/>
              </a:rPr>
              <a:t>argument to this </a:t>
            </a:r>
            <a:r>
              <a:rPr lang="en-IE" sz="1600" dirty="0">
                <a:solidFill>
                  <a:srgbClr val="000000"/>
                </a:solidFill>
                <a:latin typeface="UbuntuMono-Regular"/>
              </a:rPr>
              <a:t>URI </a:t>
            </a:r>
            <a:r>
              <a:rPr lang="en-IE" sz="1600" dirty="0">
                <a:solidFill>
                  <a:srgbClr val="000000"/>
                </a:solidFill>
                <a:latin typeface="MinionPro-Regular"/>
              </a:rPr>
              <a:t>and use it to </a:t>
            </a:r>
            <a:r>
              <a:rPr lang="en-IE" sz="1600" dirty="0" smtClean="0">
                <a:solidFill>
                  <a:srgbClr val="000000"/>
                </a:solidFill>
                <a:latin typeface="MinionPro-Regular"/>
              </a:rPr>
              <a:t>construct a </a:t>
            </a:r>
            <a:r>
              <a:rPr lang="en-IE" sz="1600" dirty="0">
                <a:solidFill>
                  <a:srgbClr val="000000"/>
                </a:solidFill>
                <a:latin typeface="MinionPro-Regular"/>
              </a:rPr>
              <a:t>new </a:t>
            </a:r>
            <a:r>
              <a:rPr lang="en-IE" sz="1600" dirty="0">
                <a:solidFill>
                  <a:srgbClr val="000000"/>
                </a:solidFill>
                <a:latin typeface="UbuntuMono-Regular"/>
              </a:rPr>
              <a:t>URI </a:t>
            </a:r>
            <a:r>
              <a:rPr lang="en-IE" sz="1600" dirty="0">
                <a:solidFill>
                  <a:srgbClr val="000000"/>
                </a:solidFill>
                <a:latin typeface="MinionPro-Regular"/>
              </a:rPr>
              <a:t>object that wraps an absolute URI. For example, consider these three lines </a:t>
            </a:r>
            <a:r>
              <a:rPr lang="en-IE" sz="1600" dirty="0" smtClean="0">
                <a:solidFill>
                  <a:srgbClr val="000000"/>
                </a:solidFill>
                <a:latin typeface="MinionPro-Regular"/>
              </a:rPr>
              <a:t>of code</a:t>
            </a:r>
            <a:r>
              <a:rPr lang="en-IE" sz="1600" dirty="0">
                <a:solidFill>
                  <a:srgbClr val="000000"/>
                </a:solidFill>
                <a:latin typeface="MinionPro-Regular"/>
              </a:rPr>
              <a:t>:</a:t>
            </a:r>
          </a:p>
          <a:p>
            <a:r>
              <a:rPr lang="en-IE" sz="1400" dirty="0">
                <a:solidFill>
                  <a:srgbClr val="000089"/>
                </a:solidFill>
                <a:latin typeface="UbuntuMono-Regular"/>
              </a:rPr>
              <a:t>URI absolute </a:t>
            </a:r>
            <a:r>
              <a:rPr lang="en-IE" sz="1400" dirty="0">
                <a:solidFill>
                  <a:srgbClr val="555555"/>
                </a:solidFill>
                <a:latin typeface="UbuntuMono-Regular"/>
              </a:rPr>
              <a:t>= </a:t>
            </a:r>
            <a:r>
              <a:rPr lang="en-IE" sz="1400" b="1" dirty="0">
                <a:solidFill>
                  <a:srgbClr val="00669A"/>
                </a:solidFill>
                <a:latin typeface="UbuntuMono-Bold"/>
              </a:rPr>
              <a:t>new </a:t>
            </a:r>
            <a:r>
              <a:rPr lang="en-IE" sz="1400" dirty="0">
                <a:solidFill>
                  <a:srgbClr val="000089"/>
                </a:solidFill>
                <a:latin typeface="UbuntuMono-Regular"/>
              </a:rPr>
              <a:t>URI</a:t>
            </a:r>
            <a:r>
              <a:rPr lang="en-IE" sz="1400" dirty="0">
                <a:solidFill>
                  <a:srgbClr val="555555"/>
                </a:solidFill>
                <a:latin typeface="UbuntuMono-Regular"/>
              </a:rPr>
              <a:t>(</a:t>
            </a:r>
            <a:r>
              <a:rPr lang="en-IE" sz="1400" dirty="0">
                <a:solidFill>
                  <a:srgbClr val="CD3300"/>
                </a:solidFill>
                <a:latin typeface="UbuntuMono-Regular"/>
              </a:rPr>
              <a:t>"http://www.example.com/"</a:t>
            </a:r>
            <a:r>
              <a:rPr lang="en-IE" sz="1400" dirty="0">
                <a:solidFill>
                  <a:srgbClr val="555555"/>
                </a:solidFill>
                <a:latin typeface="UbuntuMono-Regular"/>
              </a:rPr>
              <a:t>);</a:t>
            </a:r>
          </a:p>
          <a:p>
            <a:r>
              <a:rPr lang="fr-FR" sz="1400" dirty="0">
                <a:solidFill>
                  <a:srgbClr val="000089"/>
                </a:solidFill>
                <a:latin typeface="UbuntuMono-Regular"/>
              </a:rPr>
              <a:t>URI relative </a:t>
            </a:r>
            <a:r>
              <a:rPr lang="fr-FR" sz="1400" dirty="0">
                <a:solidFill>
                  <a:srgbClr val="555555"/>
                </a:solidFill>
                <a:latin typeface="UbuntuMono-Regular"/>
              </a:rPr>
              <a:t>= </a:t>
            </a:r>
            <a:r>
              <a:rPr lang="fr-FR" sz="1400" b="1" dirty="0">
                <a:solidFill>
                  <a:srgbClr val="00669A"/>
                </a:solidFill>
                <a:latin typeface="UbuntuMono-Bold"/>
              </a:rPr>
              <a:t>new </a:t>
            </a:r>
            <a:r>
              <a:rPr lang="fr-FR" sz="1400" dirty="0">
                <a:solidFill>
                  <a:srgbClr val="000089"/>
                </a:solidFill>
                <a:latin typeface="UbuntuMono-Regular"/>
              </a:rPr>
              <a:t>URI</a:t>
            </a:r>
            <a:r>
              <a:rPr lang="fr-FR" sz="1400" dirty="0">
                <a:solidFill>
                  <a:srgbClr val="555555"/>
                </a:solidFill>
                <a:latin typeface="UbuntuMono-Regular"/>
              </a:rPr>
              <a:t>(</a:t>
            </a:r>
            <a:r>
              <a:rPr lang="fr-FR" sz="1400" dirty="0">
                <a:solidFill>
                  <a:srgbClr val="CD3300"/>
                </a:solidFill>
                <a:latin typeface="UbuntuMono-Regular"/>
              </a:rPr>
              <a:t>"images/logo.png"</a:t>
            </a:r>
            <a:r>
              <a:rPr lang="fr-FR" sz="1400" dirty="0">
                <a:solidFill>
                  <a:srgbClr val="555555"/>
                </a:solidFill>
                <a:latin typeface="UbuntuMono-Regular"/>
              </a:rPr>
              <a:t>);</a:t>
            </a:r>
          </a:p>
          <a:p>
            <a:r>
              <a:rPr lang="en-IE" sz="1400" dirty="0">
                <a:solidFill>
                  <a:srgbClr val="000089"/>
                </a:solidFill>
                <a:latin typeface="UbuntuMono-Regular"/>
              </a:rPr>
              <a:t>URI resolved </a:t>
            </a:r>
            <a:r>
              <a:rPr lang="en-IE" sz="1400" dirty="0">
                <a:solidFill>
                  <a:srgbClr val="555555"/>
                </a:solidFill>
                <a:latin typeface="UbuntuMono-Regular"/>
              </a:rPr>
              <a:t>= </a:t>
            </a:r>
            <a:r>
              <a:rPr lang="en-IE" sz="1400" dirty="0" err="1">
                <a:solidFill>
                  <a:srgbClr val="000089"/>
                </a:solidFill>
                <a:latin typeface="UbuntuMono-Regular"/>
              </a:rPr>
              <a:t>absolute</a:t>
            </a:r>
            <a:r>
              <a:rPr lang="en-IE" sz="1400" dirty="0" err="1">
                <a:solidFill>
                  <a:srgbClr val="555555"/>
                </a:solidFill>
                <a:latin typeface="UbuntuMono-Regular"/>
              </a:rPr>
              <a:t>.</a:t>
            </a:r>
            <a:r>
              <a:rPr lang="en-IE" sz="1400" dirty="0" err="1">
                <a:solidFill>
                  <a:srgbClr val="33009A"/>
                </a:solidFill>
                <a:latin typeface="UbuntuMono-Regular"/>
              </a:rPr>
              <a:t>resolve</a:t>
            </a:r>
            <a:r>
              <a:rPr lang="en-IE" sz="1400" dirty="0">
                <a:solidFill>
                  <a:srgbClr val="555555"/>
                </a:solidFill>
                <a:latin typeface="UbuntuMono-Regular"/>
              </a:rPr>
              <a:t>(</a:t>
            </a:r>
            <a:r>
              <a:rPr lang="en-IE" sz="1400" dirty="0">
                <a:solidFill>
                  <a:srgbClr val="000089"/>
                </a:solidFill>
                <a:latin typeface="UbuntuMono-Regular"/>
              </a:rPr>
              <a:t>relative</a:t>
            </a:r>
            <a:r>
              <a:rPr lang="en-IE" sz="1400" dirty="0" smtClean="0">
                <a:solidFill>
                  <a:srgbClr val="555555"/>
                </a:solidFill>
                <a:latin typeface="UbuntuMono-Regular"/>
              </a:rPr>
              <a:t>);</a:t>
            </a:r>
          </a:p>
          <a:p>
            <a:r>
              <a:rPr lang="en-IE" sz="1600" dirty="0">
                <a:latin typeface="MinionPro-Regular"/>
              </a:rPr>
              <a:t>After they’ve executed, </a:t>
            </a:r>
            <a:r>
              <a:rPr lang="en-IE" sz="1600" dirty="0">
                <a:latin typeface="UbuntuMono-Regular"/>
              </a:rPr>
              <a:t>resolved </a:t>
            </a:r>
            <a:r>
              <a:rPr lang="en-IE" sz="1600" dirty="0">
                <a:latin typeface="MinionPro-Regular"/>
              </a:rPr>
              <a:t>contains the absolute URI </a:t>
            </a:r>
            <a:r>
              <a:rPr lang="en-IE" sz="1600" i="1" dirty="0">
                <a:latin typeface="MinionPro-Italic"/>
                <a:hlinkClick r:id="rId2"/>
              </a:rPr>
              <a:t>http://</a:t>
            </a:r>
            <a:r>
              <a:rPr lang="en-IE" sz="1600" i="1" dirty="0" smtClean="0">
                <a:latin typeface="MinionPro-Italic"/>
                <a:hlinkClick r:id="rId2"/>
              </a:rPr>
              <a:t>www.example.com/images/logo.png</a:t>
            </a:r>
            <a:r>
              <a:rPr lang="en-IE" sz="1600" dirty="0" smtClean="0">
                <a:latin typeface="MinionPro-Regular"/>
              </a:rPr>
              <a:t>.</a:t>
            </a:r>
          </a:p>
          <a:p>
            <a:r>
              <a:rPr lang="en-IE" sz="1600" dirty="0">
                <a:solidFill>
                  <a:srgbClr val="000000"/>
                </a:solidFill>
                <a:latin typeface="MinionPro-Regular"/>
              </a:rPr>
              <a:t>It’s also possible to reverse this procedure; that is, to go from an absolute URI to a </a:t>
            </a:r>
            <a:r>
              <a:rPr lang="en-IE" sz="1600" dirty="0" smtClean="0">
                <a:solidFill>
                  <a:srgbClr val="000000"/>
                </a:solidFill>
                <a:latin typeface="MinionPro-Regular"/>
              </a:rPr>
              <a:t>relative one</a:t>
            </a:r>
            <a:r>
              <a:rPr lang="en-IE" sz="1600" dirty="0">
                <a:solidFill>
                  <a:srgbClr val="000000"/>
                </a:solidFill>
                <a:latin typeface="MinionPro-Regular"/>
              </a:rPr>
              <a:t>. The </a:t>
            </a:r>
            <a:r>
              <a:rPr lang="en-IE" sz="1600" dirty="0">
                <a:solidFill>
                  <a:srgbClr val="000000"/>
                </a:solidFill>
                <a:latin typeface="UbuntuMono-Regular"/>
              </a:rPr>
              <a:t>relativize() </a:t>
            </a:r>
            <a:r>
              <a:rPr lang="en-IE" sz="1600" dirty="0">
                <a:solidFill>
                  <a:srgbClr val="000000"/>
                </a:solidFill>
                <a:latin typeface="MinionPro-Regular"/>
              </a:rPr>
              <a:t>method creates a new </a:t>
            </a:r>
            <a:r>
              <a:rPr lang="en-IE" sz="1600" dirty="0">
                <a:solidFill>
                  <a:srgbClr val="000000"/>
                </a:solidFill>
                <a:latin typeface="UbuntuMono-Regular"/>
              </a:rPr>
              <a:t>URI </a:t>
            </a:r>
            <a:r>
              <a:rPr lang="en-IE" sz="1600" dirty="0">
                <a:solidFill>
                  <a:srgbClr val="000000"/>
                </a:solidFill>
                <a:latin typeface="MinionPro-Regular"/>
              </a:rPr>
              <a:t>object from the </a:t>
            </a:r>
            <a:r>
              <a:rPr lang="en-IE" sz="1600" dirty="0" err="1">
                <a:solidFill>
                  <a:srgbClr val="000000"/>
                </a:solidFill>
                <a:latin typeface="UbuntuMono-Regular"/>
              </a:rPr>
              <a:t>uri</a:t>
            </a:r>
            <a:r>
              <a:rPr lang="en-IE" sz="1600" dirty="0">
                <a:solidFill>
                  <a:srgbClr val="000000"/>
                </a:solidFill>
                <a:latin typeface="UbuntuMono-Regular"/>
              </a:rPr>
              <a:t> </a:t>
            </a:r>
            <a:r>
              <a:rPr lang="en-IE" sz="1600" dirty="0">
                <a:solidFill>
                  <a:srgbClr val="000000"/>
                </a:solidFill>
                <a:latin typeface="MinionPro-Regular"/>
              </a:rPr>
              <a:t>argument </a:t>
            </a:r>
            <a:r>
              <a:rPr lang="en-IE" sz="1600" dirty="0" smtClean="0">
                <a:solidFill>
                  <a:srgbClr val="000000"/>
                </a:solidFill>
                <a:latin typeface="MinionPro-Regular"/>
              </a:rPr>
              <a:t>that is </a:t>
            </a:r>
            <a:r>
              <a:rPr lang="en-IE" sz="1600" dirty="0">
                <a:solidFill>
                  <a:srgbClr val="000000"/>
                </a:solidFill>
                <a:latin typeface="MinionPro-Regular"/>
              </a:rPr>
              <a:t>relative to the invoking </a:t>
            </a:r>
            <a:r>
              <a:rPr lang="en-IE" sz="1600" dirty="0">
                <a:solidFill>
                  <a:srgbClr val="000000"/>
                </a:solidFill>
                <a:latin typeface="UbuntuMono-Regular"/>
              </a:rPr>
              <a:t>URI</a:t>
            </a:r>
            <a:r>
              <a:rPr lang="en-IE" sz="1600" dirty="0">
                <a:solidFill>
                  <a:srgbClr val="000000"/>
                </a:solidFill>
                <a:latin typeface="MinionPro-Regular"/>
              </a:rPr>
              <a:t>. The argument is not changed. For example:</a:t>
            </a:r>
          </a:p>
          <a:p>
            <a:r>
              <a:rPr lang="en-IE" sz="1400" dirty="0">
                <a:solidFill>
                  <a:srgbClr val="000089"/>
                </a:solidFill>
                <a:latin typeface="UbuntuMono-Regular"/>
              </a:rPr>
              <a:t>URI absolute </a:t>
            </a:r>
            <a:r>
              <a:rPr lang="en-IE" sz="1400" dirty="0">
                <a:solidFill>
                  <a:srgbClr val="555555"/>
                </a:solidFill>
                <a:latin typeface="UbuntuMono-Regular"/>
              </a:rPr>
              <a:t>= </a:t>
            </a:r>
            <a:r>
              <a:rPr lang="en-IE" sz="1400" b="1" dirty="0">
                <a:solidFill>
                  <a:srgbClr val="00669A"/>
                </a:solidFill>
                <a:latin typeface="UbuntuMono-Bold"/>
              </a:rPr>
              <a:t>new </a:t>
            </a:r>
            <a:r>
              <a:rPr lang="en-IE" sz="1400" dirty="0">
                <a:solidFill>
                  <a:srgbClr val="000089"/>
                </a:solidFill>
                <a:latin typeface="UbuntuMono-Regular"/>
              </a:rPr>
              <a:t>URI</a:t>
            </a:r>
            <a:r>
              <a:rPr lang="en-IE" sz="1400" dirty="0">
                <a:solidFill>
                  <a:srgbClr val="555555"/>
                </a:solidFill>
                <a:latin typeface="UbuntuMono-Regular"/>
              </a:rPr>
              <a:t>(</a:t>
            </a:r>
            <a:r>
              <a:rPr lang="en-IE" sz="1400" dirty="0">
                <a:solidFill>
                  <a:srgbClr val="CD3300"/>
                </a:solidFill>
                <a:latin typeface="UbuntuMono-Regular"/>
              </a:rPr>
              <a:t>"http://www.example.com/images/logo.png"</a:t>
            </a:r>
            <a:r>
              <a:rPr lang="en-IE" sz="1400" dirty="0">
                <a:solidFill>
                  <a:srgbClr val="555555"/>
                </a:solidFill>
                <a:latin typeface="UbuntuMono-Regular"/>
              </a:rPr>
              <a:t>);</a:t>
            </a:r>
          </a:p>
          <a:p>
            <a:r>
              <a:rPr lang="en-IE" sz="1400" dirty="0">
                <a:solidFill>
                  <a:srgbClr val="000089"/>
                </a:solidFill>
                <a:latin typeface="UbuntuMono-Regular"/>
              </a:rPr>
              <a:t>URI top </a:t>
            </a:r>
            <a:r>
              <a:rPr lang="en-IE" sz="1400" dirty="0">
                <a:solidFill>
                  <a:srgbClr val="555555"/>
                </a:solidFill>
                <a:latin typeface="UbuntuMono-Regular"/>
              </a:rPr>
              <a:t>= </a:t>
            </a:r>
            <a:r>
              <a:rPr lang="en-IE" sz="1400" b="1" dirty="0">
                <a:solidFill>
                  <a:srgbClr val="00669A"/>
                </a:solidFill>
                <a:latin typeface="UbuntuMono-Bold"/>
              </a:rPr>
              <a:t>new </a:t>
            </a:r>
            <a:r>
              <a:rPr lang="en-IE" sz="1400" dirty="0">
                <a:solidFill>
                  <a:srgbClr val="000089"/>
                </a:solidFill>
                <a:latin typeface="UbuntuMono-Regular"/>
              </a:rPr>
              <a:t>URI</a:t>
            </a:r>
            <a:r>
              <a:rPr lang="en-IE" sz="1400" dirty="0">
                <a:solidFill>
                  <a:srgbClr val="555555"/>
                </a:solidFill>
                <a:latin typeface="UbuntuMono-Regular"/>
              </a:rPr>
              <a:t>(</a:t>
            </a:r>
            <a:r>
              <a:rPr lang="en-IE" sz="1400" dirty="0">
                <a:solidFill>
                  <a:srgbClr val="CD3300"/>
                </a:solidFill>
                <a:latin typeface="UbuntuMono-Regular"/>
              </a:rPr>
              <a:t>"http://www.example.com/"</a:t>
            </a:r>
            <a:r>
              <a:rPr lang="en-IE" sz="1400" dirty="0">
                <a:solidFill>
                  <a:srgbClr val="555555"/>
                </a:solidFill>
                <a:latin typeface="UbuntuMono-Regular"/>
              </a:rPr>
              <a:t>);</a:t>
            </a:r>
          </a:p>
          <a:p>
            <a:r>
              <a:rPr lang="en-IE" sz="1400" dirty="0">
                <a:solidFill>
                  <a:srgbClr val="000089"/>
                </a:solidFill>
                <a:latin typeface="UbuntuMono-Regular"/>
              </a:rPr>
              <a:t>URI relative </a:t>
            </a:r>
            <a:r>
              <a:rPr lang="en-IE" sz="1400" dirty="0">
                <a:solidFill>
                  <a:srgbClr val="555555"/>
                </a:solidFill>
                <a:latin typeface="UbuntuMono-Regular"/>
              </a:rPr>
              <a:t>= </a:t>
            </a:r>
            <a:r>
              <a:rPr lang="en-IE" sz="1400" dirty="0" err="1">
                <a:solidFill>
                  <a:srgbClr val="000089"/>
                </a:solidFill>
                <a:latin typeface="UbuntuMono-Regular"/>
              </a:rPr>
              <a:t>top</a:t>
            </a:r>
            <a:r>
              <a:rPr lang="en-IE" sz="1400" dirty="0" err="1">
                <a:solidFill>
                  <a:srgbClr val="555555"/>
                </a:solidFill>
                <a:latin typeface="UbuntuMono-Regular"/>
              </a:rPr>
              <a:t>.</a:t>
            </a:r>
            <a:r>
              <a:rPr lang="en-IE" sz="1400" dirty="0" err="1">
                <a:solidFill>
                  <a:srgbClr val="33009A"/>
                </a:solidFill>
                <a:latin typeface="UbuntuMono-Regular"/>
              </a:rPr>
              <a:t>relativize</a:t>
            </a:r>
            <a:r>
              <a:rPr lang="en-IE" sz="1400" dirty="0">
                <a:solidFill>
                  <a:srgbClr val="555555"/>
                </a:solidFill>
                <a:latin typeface="UbuntuMono-Regular"/>
              </a:rPr>
              <a:t>(</a:t>
            </a:r>
            <a:r>
              <a:rPr lang="en-IE" sz="1400" dirty="0">
                <a:solidFill>
                  <a:srgbClr val="000089"/>
                </a:solidFill>
                <a:latin typeface="UbuntuMono-Regular"/>
              </a:rPr>
              <a:t>absolute</a:t>
            </a:r>
            <a:r>
              <a:rPr lang="en-IE" sz="1400" dirty="0">
                <a:solidFill>
                  <a:srgbClr val="555555"/>
                </a:solidFill>
                <a:latin typeface="UbuntuMono-Regular"/>
              </a:rPr>
              <a:t>);</a:t>
            </a:r>
          </a:p>
          <a:p>
            <a:r>
              <a:rPr lang="en-IE" sz="1600" dirty="0">
                <a:solidFill>
                  <a:srgbClr val="000000"/>
                </a:solidFill>
                <a:latin typeface="MinionPro-Regular"/>
              </a:rPr>
              <a:t>The </a:t>
            </a:r>
            <a:r>
              <a:rPr lang="en-IE" sz="1600" dirty="0">
                <a:solidFill>
                  <a:srgbClr val="000000"/>
                </a:solidFill>
                <a:latin typeface="UbuntuMono-Regular"/>
              </a:rPr>
              <a:t>URI </a:t>
            </a:r>
            <a:r>
              <a:rPr lang="en-IE" sz="1600" dirty="0">
                <a:solidFill>
                  <a:srgbClr val="000000"/>
                </a:solidFill>
                <a:latin typeface="MinionPro-Regular"/>
              </a:rPr>
              <a:t>object </a:t>
            </a:r>
            <a:r>
              <a:rPr lang="en-IE" sz="1600" dirty="0">
                <a:solidFill>
                  <a:srgbClr val="000000"/>
                </a:solidFill>
                <a:latin typeface="UbuntuMono-Regular"/>
              </a:rPr>
              <a:t>relative </a:t>
            </a:r>
            <a:r>
              <a:rPr lang="en-IE" sz="1600" dirty="0">
                <a:solidFill>
                  <a:srgbClr val="000000"/>
                </a:solidFill>
                <a:latin typeface="MinionPro-Regular"/>
              </a:rPr>
              <a:t>now contains the relative URI </a:t>
            </a:r>
            <a:r>
              <a:rPr lang="en-IE" sz="1600" i="1" dirty="0">
                <a:solidFill>
                  <a:srgbClr val="000000"/>
                </a:solidFill>
                <a:latin typeface="MinionPro-Italic"/>
              </a:rPr>
              <a:t>images/logo.png</a:t>
            </a:r>
            <a:r>
              <a:rPr lang="en-IE" sz="1600" dirty="0">
                <a:solidFill>
                  <a:srgbClr val="000000"/>
                </a:solidFill>
                <a:latin typeface="MinionPro-Regular"/>
              </a:rPr>
              <a:t>.</a:t>
            </a:r>
            <a:endParaRPr lang="en-IE" sz="1600" b="1" dirty="0">
              <a:solidFill>
                <a:srgbClr val="555555"/>
              </a:solidFill>
              <a:latin typeface="UbuntuMono-Regular"/>
            </a:endParaRPr>
          </a:p>
        </p:txBody>
      </p:sp>
    </p:spTree>
    <p:extLst>
      <p:ext uri="{BB962C8B-B14F-4D97-AF65-F5344CB8AC3E}">
        <p14:creationId xmlns:p14="http://schemas.microsoft.com/office/powerpoint/2010/main" val="415153421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39762"/>
          </a:xfrm>
        </p:spPr>
        <p:txBody>
          <a:bodyPr>
            <a:noAutofit/>
          </a:bodyPr>
          <a:lstStyle/>
          <a:p>
            <a:r>
              <a:rPr lang="en-IE" sz="2800" i="1" dirty="0"/>
              <a:t>x-www-form-</a:t>
            </a:r>
            <a:r>
              <a:rPr lang="en-IE" sz="2800" i="1" dirty="0" err="1"/>
              <a:t>urlencoded</a:t>
            </a:r>
            <a:r>
              <a:rPr lang="en-IE" sz="2800" i="1" dirty="0"/>
              <a:t> strings</a:t>
            </a:r>
            <a:endParaRPr lang="en-IE" sz="2800" b="1" dirty="0"/>
          </a:p>
        </p:txBody>
      </p:sp>
      <p:sp>
        <p:nvSpPr>
          <p:cNvPr id="3" name="Content Placeholder 2"/>
          <p:cNvSpPr>
            <a:spLocks noGrp="1"/>
          </p:cNvSpPr>
          <p:nvPr>
            <p:ph idx="1"/>
          </p:nvPr>
        </p:nvSpPr>
        <p:spPr>
          <a:xfrm>
            <a:off x="0" y="609600"/>
            <a:ext cx="9144000" cy="6248400"/>
          </a:xfrm>
        </p:spPr>
        <p:txBody>
          <a:bodyPr>
            <a:noAutofit/>
          </a:bodyPr>
          <a:lstStyle/>
          <a:p>
            <a:r>
              <a:rPr lang="en-IE" sz="1800" dirty="0"/>
              <a:t>One of the challenges faced by the designers of the Web was dealing with the </a:t>
            </a:r>
            <a:r>
              <a:rPr lang="en-IE" sz="1800" dirty="0" smtClean="0"/>
              <a:t>differences between </a:t>
            </a:r>
            <a:r>
              <a:rPr lang="en-IE" sz="1800" dirty="0"/>
              <a:t>operating systems. These differences can cause problems with URLs: </a:t>
            </a:r>
          </a:p>
          <a:p>
            <a:r>
              <a:rPr lang="en-IE" sz="1800" dirty="0" smtClean="0"/>
              <a:t>Some </a:t>
            </a:r>
            <a:r>
              <a:rPr lang="en-IE" sz="1800" dirty="0"/>
              <a:t>operating systems allow spaces in filenames; some don’t. Most </a:t>
            </a:r>
            <a:r>
              <a:rPr lang="en-IE" sz="1800" dirty="0" smtClean="0"/>
              <a:t>operating systems </a:t>
            </a:r>
            <a:r>
              <a:rPr lang="en-IE" sz="1800" dirty="0"/>
              <a:t>won’t complain about a # sign in a filename; but in a URL, a # sign </a:t>
            </a:r>
            <a:r>
              <a:rPr lang="en-IE" sz="1800" dirty="0" smtClean="0"/>
              <a:t>indicates that </a:t>
            </a:r>
            <a:r>
              <a:rPr lang="en-IE" sz="1800" dirty="0"/>
              <a:t>the filename has ended, and a fragment identifier follows. </a:t>
            </a:r>
            <a:endParaRPr lang="en-IE" sz="1800" dirty="0" smtClean="0"/>
          </a:p>
          <a:p>
            <a:r>
              <a:rPr lang="en-IE" sz="1800" dirty="0" smtClean="0"/>
              <a:t>Other </a:t>
            </a:r>
            <a:r>
              <a:rPr lang="en-IE" sz="1800" dirty="0"/>
              <a:t>special characters</a:t>
            </a:r>
            <a:r>
              <a:rPr lang="en-IE" sz="1800" dirty="0" smtClean="0"/>
              <a:t>, </a:t>
            </a:r>
            <a:r>
              <a:rPr lang="en-IE" sz="1800" dirty="0" err="1" smtClean="0"/>
              <a:t>nonalphanumeric</a:t>
            </a:r>
            <a:r>
              <a:rPr lang="en-IE" sz="1800" dirty="0" smtClean="0"/>
              <a:t> </a:t>
            </a:r>
            <a:r>
              <a:rPr lang="en-IE" sz="1800" dirty="0"/>
              <a:t>characters, and so on, all of which may have a special meaning </a:t>
            </a:r>
            <a:r>
              <a:rPr lang="en-IE" sz="1800" dirty="0" smtClean="0"/>
              <a:t>inside a </a:t>
            </a:r>
            <a:r>
              <a:rPr lang="en-IE" sz="1800" dirty="0"/>
              <a:t>URL or on another operating system, present similar problems. </a:t>
            </a:r>
            <a:endParaRPr lang="en-IE" sz="1800" dirty="0" smtClean="0"/>
          </a:p>
          <a:p>
            <a:r>
              <a:rPr lang="en-IE" sz="1800" dirty="0" smtClean="0"/>
              <a:t>To </a:t>
            </a:r>
            <a:r>
              <a:rPr lang="en-IE" sz="1800" dirty="0"/>
              <a:t>solve these problems, characters used in URLs </a:t>
            </a:r>
            <a:r>
              <a:rPr lang="en-IE" sz="1800" dirty="0" smtClean="0"/>
              <a:t>must come </a:t>
            </a:r>
            <a:r>
              <a:rPr lang="en-IE" sz="1800" dirty="0"/>
              <a:t>from a fixed subset of ASCII, specifically</a:t>
            </a:r>
            <a:r>
              <a:rPr lang="en-IE" sz="1800" dirty="0" smtClean="0"/>
              <a:t>: </a:t>
            </a:r>
          </a:p>
          <a:p>
            <a:r>
              <a:rPr lang="en-IE" sz="1800" dirty="0">
                <a:solidFill>
                  <a:schemeClr val="tx2"/>
                </a:solidFill>
              </a:rPr>
              <a:t>The lowercase letters </a:t>
            </a:r>
            <a:r>
              <a:rPr lang="en-IE" sz="1800" dirty="0" smtClean="0">
                <a:solidFill>
                  <a:schemeClr val="tx2"/>
                </a:solidFill>
              </a:rPr>
              <a:t>a–z, the </a:t>
            </a:r>
            <a:r>
              <a:rPr lang="en-IE" sz="1800" dirty="0">
                <a:solidFill>
                  <a:schemeClr val="tx2"/>
                </a:solidFill>
              </a:rPr>
              <a:t>digits </a:t>
            </a:r>
            <a:r>
              <a:rPr lang="en-IE" sz="1800" dirty="0" smtClean="0">
                <a:solidFill>
                  <a:schemeClr val="tx2"/>
                </a:solidFill>
              </a:rPr>
              <a:t>0–9, the </a:t>
            </a:r>
            <a:r>
              <a:rPr lang="en-IE" sz="1800" dirty="0">
                <a:solidFill>
                  <a:schemeClr val="tx2"/>
                </a:solidFill>
              </a:rPr>
              <a:t>punctuation characters - _ . ! ~ * ' (and </a:t>
            </a:r>
            <a:r>
              <a:rPr lang="en-IE" sz="1800" dirty="0" smtClean="0">
                <a:solidFill>
                  <a:schemeClr val="tx2"/>
                </a:solidFill>
              </a:rPr>
              <a:t>,).</a:t>
            </a:r>
            <a:endParaRPr lang="en-IE" sz="1800" dirty="0">
              <a:solidFill>
                <a:schemeClr val="tx2"/>
              </a:solidFill>
            </a:endParaRPr>
          </a:p>
          <a:p>
            <a:r>
              <a:rPr lang="en-IE" sz="1800" dirty="0">
                <a:solidFill>
                  <a:schemeClr val="tx2"/>
                </a:solidFill>
              </a:rPr>
              <a:t>The characters : / &amp; ? @ # ; $ + = and % may also be used, but only for their </a:t>
            </a:r>
            <a:r>
              <a:rPr lang="en-IE" sz="1800" dirty="0" smtClean="0">
                <a:solidFill>
                  <a:schemeClr val="tx2"/>
                </a:solidFill>
              </a:rPr>
              <a:t>specified purposes</a:t>
            </a:r>
            <a:r>
              <a:rPr lang="en-IE" sz="1800" dirty="0">
                <a:solidFill>
                  <a:schemeClr val="tx2"/>
                </a:solidFill>
              </a:rPr>
              <a:t>. </a:t>
            </a:r>
            <a:endParaRPr lang="en-IE" sz="1800" dirty="0" smtClean="0">
              <a:solidFill>
                <a:schemeClr val="tx2"/>
              </a:solidFill>
            </a:endParaRPr>
          </a:p>
          <a:p>
            <a:r>
              <a:rPr lang="en-IE" sz="1800" dirty="0" smtClean="0"/>
              <a:t>If </a:t>
            </a:r>
            <a:r>
              <a:rPr lang="en-IE" sz="1800" dirty="0"/>
              <a:t>these characters occur as part of a path or query string, they and all </a:t>
            </a:r>
            <a:r>
              <a:rPr lang="en-IE" sz="1800" dirty="0" smtClean="0"/>
              <a:t>other  characters </a:t>
            </a:r>
            <a:r>
              <a:rPr lang="en-IE" sz="1800" dirty="0"/>
              <a:t>should be encoded.</a:t>
            </a:r>
          </a:p>
          <a:p>
            <a:r>
              <a:rPr lang="en-IE" sz="1800" dirty="0"/>
              <a:t>The encoding is very simple. Any characters that are not ASCII numerals, letters, or </a:t>
            </a:r>
            <a:r>
              <a:rPr lang="en-IE" sz="1800" dirty="0" smtClean="0"/>
              <a:t>the punctuation </a:t>
            </a:r>
            <a:r>
              <a:rPr lang="en-IE" sz="1800" dirty="0"/>
              <a:t>marks specified earlier are </a:t>
            </a:r>
            <a:r>
              <a:rPr lang="en-IE" sz="1800" dirty="0">
                <a:solidFill>
                  <a:schemeClr val="tx2"/>
                </a:solidFill>
              </a:rPr>
              <a:t>converted into bytes and each byte is written </a:t>
            </a:r>
            <a:r>
              <a:rPr lang="en-IE" sz="1800" dirty="0" smtClean="0">
                <a:solidFill>
                  <a:schemeClr val="tx2"/>
                </a:solidFill>
              </a:rPr>
              <a:t>as a </a:t>
            </a:r>
            <a:r>
              <a:rPr lang="en-IE" sz="1800" dirty="0">
                <a:solidFill>
                  <a:schemeClr val="tx2"/>
                </a:solidFill>
              </a:rPr>
              <a:t>percent sign followed by two hexadecimal digits. </a:t>
            </a:r>
            <a:endParaRPr lang="en-IE" sz="1800" dirty="0" smtClean="0">
              <a:solidFill>
                <a:schemeClr val="tx2"/>
              </a:solidFill>
            </a:endParaRPr>
          </a:p>
          <a:p>
            <a:r>
              <a:rPr lang="en-IE" sz="1800" dirty="0" smtClean="0"/>
              <a:t>Spaces </a:t>
            </a:r>
            <a:r>
              <a:rPr lang="en-IE" sz="1800" dirty="0"/>
              <a:t>are a special case </a:t>
            </a:r>
            <a:r>
              <a:rPr lang="en-IE" sz="1800" dirty="0" smtClean="0"/>
              <a:t>because they’re </a:t>
            </a:r>
            <a:r>
              <a:rPr lang="en-IE" sz="1800" dirty="0"/>
              <a:t>so common. Besides being encoded as %20, they can be encoded as a plus </a:t>
            </a:r>
            <a:r>
              <a:rPr lang="en-IE" sz="1800" dirty="0" smtClean="0"/>
              <a:t>sign (+). </a:t>
            </a:r>
            <a:r>
              <a:rPr lang="en-IE" sz="1800" dirty="0"/>
              <a:t>The plus sign itself is encoded as %2B. The / # = &amp; and ? characters should </a:t>
            </a:r>
            <a:r>
              <a:rPr lang="en-IE" sz="1800" dirty="0" smtClean="0"/>
              <a:t>be encoded </a:t>
            </a:r>
            <a:r>
              <a:rPr lang="en-IE" sz="1800" dirty="0"/>
              <a:t>when they are used as part of a name, and not as a separator between parts </a:t>
            </a:r>
            <a:r>
              <a:rPr lang="en-IE" sz="1800" dirty="0" smtClean="0"/>
              <a:t>of the </a:t>
            </a:r>
            <a:r>
              <a:rPr lang="en-IE" sz="1800" dirty="0"/>
              <a:t>URL.</a:t>
            </a:r>
            <a:endParaRPr lang="en-IE" sz="1800" b="1" dirty="0">
              <a:solidFill>
                <a:srgbClr val="555555"/>
              </a:solidFill>
              <a:latin typeface="UbuntuMono-Regular"/>
            </a:endParaRPr>
          </a:p>
        </p:txBody>
      </p:sp>
    </p:spTree>
    <p:extLst>
      <p:ext uri="{BB962C8B-B14F-4D97-AF65-F5344CB8AC3E}">
        <p14:creationId xmlns:p14="http://schemas.microsoft.com/office/powerpoint/2010/main" val="33467362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39762"/>
          </a:xfrm>
        </p:spPr>
        <p:txBody>
          <a:bodyPr>
            <a:noAutofit/>
          </a:bodyPr>
          <a:lstStyle/>
          <a:p>
            <a:r>
              <a:rPr lang="en-IE" sz="2800" i="1" dirty="0" smtClean="0"/>
              <a:t>URL Encoder</a:t>
            </a:r>
            <a:endParaRPr lang="en-IE" sz="2800" b="1" dirty="0"/>
          </a:p>
        </p:txBody>
      </p:sp>
      <p:sp>
        <p:nvSpPr>
          <p:cNvPr id="3" name="Content Placeholder 2"/>
          <p:cNvSpPr>
            <a:spLocks noGrp="1"/>
          </p:cNvSpPr>
          <p:nvPr>
            <p:ph idx="1"/>
          </p:nvPr>
        </p:nvSpPr>
        <p:spPr>
          <a:xfrm>
            <a:off x="0" y="609600"/>
            <a:ext cx="9144000" cy="6248400"/>
          </a:xfrm>
        </p:spPr>
        <p:txBody>
          <a:bodyPr>
            <a:noAutofit/>
          </a:bodyPr>
          <a:lstStyle/>
          <a:p>
            <a:r>
              <a:rPr lang="en-IE" sz="2000" dirty="0">
                <a:solidFill>
                  <a:srgbClr val="000000"/>
                </a:solidFill>
                <a:latin typeface="MinionPro-Regular"/>
              </a:rPr>
              <a:t>To URL encode a string, pass the string and the character set name to the </a:t>
            </a:r>
            <a:r>
              <a:rPr lang="en-IE" sz="2000" dirty="0" err="1" smtClean="0">
                <a:solidFill>
                  <a:srgbClr val="000000"/>
                </a:solidFill>
                <a:latin typeface="UbuntuMono-Regular"/>
              </a:rPr>
              <a:t>URLEncoder.encode</a:t>
            </a:r>
            <a:r>
              <a:rPr lang="en-IE" sz="2000" dirty="0">
                <a:solidFill>
                  <a:srgbClr val="000000"/>
                </a:solidFill>
                <a:latin typeface="UbuntuMono-Regular"/>
              </a:rPr>
              <a:t>() </a:t>
            </a:r>
            <a:r>
              <a:rPr lang="en-IE" sz="2000" dirty="0">
                <a:solidFill>
                  <a:srgbClr val="000000"/>
                </a:solidFill>
                <a:latin typeface="MinionPro-Regular"/>
              </a:rPr>
              <a:t>method. For example:</a:t>
            </a:r>
          </a:p>
          <a:p>
            <a:r>
              <a:rPr lang="en-IE" sz="2000" dirty="0">
                <a:solidFill>
                  <a:srgbClr val="000089"/>
                </a:solidFill>
                <a:latin typeface="UbuntuMono-Regular"/>
              </a:rPr>
              <a:t>String encoded </a:t>
            </a:r>
            <a:r>
              <a:rPr lang="en-IE" sz="2000" dirty="0">
                <a:solidFill>
                  <a:srgbClr val="555555"/>
                </a:solidFill>
                <a:latin typeface="UbuntuMono-Regular"/>
              </a:rPr>
              <a:t>= </a:t>
            </a:r>
            <a:r>
              <a:rPr lang="en-IE" sz="2000" dirty="0" err="1">
                <a:solidFill>
                  <a:srgbClr val="000089"/>
                </a:solidFill>
                <a:latin typeface="UbuntuMono-Regular"/>
              </a:rPr>
              <a:t>URLEncoder</a:t>
            </a:r>
            <a:r>
              <a:rPr lang="en-IE" sz="2000" dirty="0" err="1">
                <a:solidFill>
                  <a:srgbClr val="555555"/>
                </a:solidFill>
                <a:latin typeface="UbuntuMono-Regular"/>
              </a:rPr>
              <a:t>.</a:t>
            </a:r>
            <a:r>
              <a:rPr lang="en-IE" sz="2000" dirty="0" err="1">
                <a:solidFill>
                  <a:srgbClr val="33009A"/>
                </a:solidFill>
                <a:latin typeface="UbuntuMono-Regular"/>
              </a:rPr>
              <a:t>encode</a:t>
            </a:r>
            <a:r>
              <a:rPr lang="en-IE" sz="2000" dirty="0">
                <a:solidFill>
                  <a:srgbClr val="555555"/>
                </a:solidFill>
                <a:latin typeface="UbuntuMono-Regular"/>
              </a:rPr>
              <a:t>(</a:t>
            </a:r>
            <a:r>
              <a:rPr lang="en-IE" sz="2000" dirty="0">
                <a:solidFill>
                  <a:srgbClr val="CD3300"/>
                </a:solidFill>
                <a:latin typeface="UbuntuMono-Regular"/>
              </a:rPr>
              <a:t>"This*string*has*asterisks"</a:t>
            </a:r>
            <a:r>
              <a:rPr lang="en-IE" sz="2000" dirty="0">
                <a:solidFill>
                  <a:srgbClr val="555555"/>
                </a:solidFill>
                <a:latin typeface="UbuntuMono-Regular"/>
              </a:rPr>
              <a:t>, </a:t>
            </a:r>
            <a:r>
              <a:rPr lang="en-IE" sz="2000" dirty="0">
                <a:solidFill>
                  <a:srgbClr val="CD3300"/>
                </a:solidFill>
                <a:latin typeface="UbuntuMono-Regular"/>
              </a:rPr>
              <a:t>"UTF-8"</a:t>
            </a:r>
            <a:r>
              <a:rPr lang="en-IE" sz="2000" dirty="0">
                <a:solidFill>
                  <a:srgbClr val="555555"/>
                </a:solidFill>
                <a:latin typeface="UbuntuMono-Regular"/>
              </a:rPr>
              <a:t>);</a:t>
            </a:r>
          </a:p>
          <a:p>
            <a:r>
              <a:rPr lang="en-IE" sz="2000" dirty="0" err="1">
                <a:solidFill>
                  <a:srgbClr val="000000"/>
                </a:solidFill>
                <a:latin typeface="UbuntuMono-Regular"/>
              </a:rPr>
              <a:t>URLEncoder.encode</a:t>
            </a:r>
            <a:r>
              <a:rPr lang="en-IE" sz="2000" dirty="0">
                <a:solidFill>
                  <a:srgbClr val="000000"/>
                </a:solidFill>
                <a:latin typeface="UbuntuMono-Regular"/>
              </a:rPr>
              <a:t>() </a:t>
            </a:r>
            <a:r>
              <a:rPr lang="en-IE" sz="2000" dirty="0">
                <a:solidFill>
                  <a:srgbClr val="000000"/>
                </a:solidFill>
                <a:latin typeface="MinionPro-Regular"/>
              </a:rPr>
              <a:t>returns a copy of the input string with a few changes. </a:t>
            </a:r>
            <a:endParaRPr lang="en-IE" sz="2000" dirty="0" smtClean="0">
              <a:solidFill>
                <a:srgbClr val="000000"/>
              </a:solidFill>
              <a:latin typeface="MinionPro-Regular"/>
            </a:endParaRPr>
          </a:p>
          <a:p>
            <a:r>
              <a:rPr lang="en-IE" sz="2000" dirty="0" smtClean="0">
                <a:solidFill>
                  <a:srgbClr val="000000"/>
                </a:solidFill>
                <a:latin typeface="MinionPro-Regular"/>
              </a:rPr>
              <a:t>Any </a:t>
            </a:r>
            <a:r>
              <a:rPr lang="en-IE" sz="2000" dirty="0" err="1" smtClean="0">
                <a:solidFill>
                  <a:srgbClr val="000000"/>
                </a:solidFill>
                <a:latin typeface="MinionPro-Regular"/>
              </a:rPr>
              <a:t>nonalphanumeric</a:t>
            </a:r>
            <a:r>
              <a:rPr lang="en-IE" sz="2000" dirty="0" smtClean="0">
                <a:solidFill>
                  <a:srgbClr val="000000"/>
                </a:solidFill>
                <a:latin typeface="MinionPro-Regular"/>
              </a:rPr>
              <a:t> characters </a:t>
            </a:r>
            <a:r>
              <a:rPr lang="en-IE" sz="2000" dirty="0">
                <a:solidFill>
                  <a:srgbClr val="000000"/>
                </a:solidFill>
                <a:latin typeface="MinionPro-Regular"/>
              </a:rPr>
              <a:t>are converted into % sequences (except the space, </a:t>
            </a:r>
            <a:r>
              <a:rPr lang="en-IE" sz="2000" dirty="0" err="1" smtClean="0">
                <a:solidFill>
                  <a:srgbClr val="000000"/>
                </a:solidFill>
                <a:latin typeface="MinionPro-Regular"/>
              </a:rPr>
              <a:t>underscore,hyphen</a:t>
            </a:r>
            <a:r>
              <a:rPr lang="en-IE" sz="2000" dirty="0">
                <a:solidFill>
                  <a:srgbClr val="000000"/>
                </a:solidFill>
                <a:latin typeface="MinionPro-Regular"/>
              </a:rPr>
              <a:t>, period, and asterisk characters). It also encodes all non-ASCII characters. </a:t>
            </a:r>
            <a:endParaRPr lang="en-IE" sz="2000" dirty="0" smtClean="0">
              <a:solidFill>
                <a:srgbClr val="000000"/>
              </a:solidFill>
              <a:latin typeface="MinionPro-Regular"/>
            </a:endParaRPr>
          </a:p>
          <a:p>
            <a:r>
              <a:rPr lang="en-IE" sz="2000" dirty="0" smtClean="0">
                <a:solidFill>
                  <a:srgbClr val="000000"/>
                </a:solidFill>
                <a:latin typeface="MinionPro-Regular"/>
              </a:rPr>
              <a:t>The space </a:t>
            </a:r>
            <a:r>
              <a:rPr lang="en-IE" sz="2000" dirty="0">
                <a:solidFill>
                  <a:srgbClr val="000000"/>
                </a:solidFill>
                <a:latin typeface="MinionPro-Regular"/>
              </a:rPr>
              <a:t>is converted into a plus sign. </a:t>
            </a:r>
            <a:endParaRPr lang="en-IE" sz="2000" dirty="0" smtClean="0">
              <a:solidFill>
                <a:srgbClr val="000000"/>
              </a:solidFill>
              <a:latin typeface="MinionPro-Regular"/>
            </a:endParaRPr>
          </a:p>
          <a:p>
            <a:r>
              <a:rPr lang="en-IE" sz="2000" dirty="0" smtClean="0">
                <a:solidFill>
                  <a:srgbClr val="000000"/>
                </a:solidFill>
                <a:latin typeface="MinionPro-Regular"/>
              </a:rPr>
              <a:t>This </a:t>
            </a:r>
            <a:r>
              <a:rPr lang="en-IE" sz="2000" dirty="0">
                <a:solidFill>
                  <a:srgbClr val="000000"/>
                </a:solidFill>
                <a:latin typeface="MinionPro-Regular"/>
              </a:rPr>
              <a:t>method is a little overaggressive; it also </a:t>
            </a:r>
            <a:r>
              <a:rPr lang="en-IE" sz="2000" dirty="0" smtClean="0">
                <a:solidFill>
                  <a:srgbClr val="000000"/>
                </a:solidFill>
                <a:latin typeface="MinionPro-Regular"/>
              </a:rPr>
              <a:t>converts tildes</a:t>
            </a:r>
            <a:r>
              <a:rPr lang="en-IE" sz="2000" dirty="0">
                <a:solidFill>
                  <a:srgbClr val="000000"/>
                </a:solidFill>
                <a:latin typeface="MinionPro-Regular"/>
              </a:rPr>
              <a:t>, single quotes, exclamation points, and parentheses to percent escapes, </a:t>
            </a:r>
            <a:r>
              <a:rPr lang="en-IE" sz="2000" dirty="0" smtClean="0">
                <a:solidFill>
                  <a:srgbClr val="000000"/>
                </a:solidFill>
                <a:latin typeface="MinionPro-Regular"/>
              </a:rPr>
              <a:t>even though </a:t>
            </a:r>
            <a:r>
              <a:rPr lang="en-IE" sz="2000" dirty="0">
                <a:solidFill>
                  <a:srgbClr val="000000"/>
                </a:solidFill>
                <a:latin typeface="MinionPro-Regular"/>
              </a:rPr>
              <a:t>they don’t absolutely have to be. </a:t>
            </a:r>
            <a:endParaRPr lang="en-IE" sz="2000" dirty="0" smtClean="0">
              <a:solidFill>
                <a:srgbClr val="000000"/>
              </a:solidFill>
              <a:latin typeface="MinionPro-Regular"/>
            </a:endParaRPr>
          </a:p>
          <a:p>
            <a:r>
              <a:rPr lang="en-IE" sz="2000" dirty="0" smtClean="0">
                <a:solidFill>
                  <a:srgbClr val="000000"/>
                </a:solidFill>
                <a:latin typeface="MinionPro-Regular"/>
              </a:rPr>
              <a:t>However</a:t>
            </a:r>
            <a:r>
              <a:rPr lang="en-IE" sz="2000" dirty="0">
                <a:solidFill>
                  <a:srgbClr val="000000"/>
                </a:solidFill>
                <a:latin typeface="MinionPro-Regular"/>
              </a:rPr>
              <a:t>, this change isn’t forbidden by </a:t>
            </a:r>
            <a:r>
              <a:rPr lang="en-IE" sz="2000" dirty="0" smtClean="0">
                <a:solidFill>
                  <a:srgbClr val="000000"/>
                </a:solidFill>
                <a:latin typeface="MinionPro-Regular"/>
              </a:rPr>
              <a:t>the URL </a:t>
            </a:r>
            <a:r>
              <a:rPr lang="en-IE" sz="2000" dirty="0">
                <a:solidFill>
                  <a:srgbClr val="000000"/>
                </a:solidFill>
                <a:latin typeface="MinionPro-Regular"/>
              </a:rPr>
              <a:t>specification, so web browsers deal reasonably with these excessively </a:t>
            </a:r>
            <a:r>
              <a:rPr lang="en-IE" sz="2000" dirty="0" smtClean="0">
                <a:solidFill>
                  <a:srgbClr val="000000"/>
                </a:solidFill>
                <a:latin typeface="MinionPro-Regular"/>
              </a:rPr>
              <a:t>encoded URLs</a:t>
            </a:r>
            <a:r>
              <a:rPr lang="en-IE" sz="2000" dirty="0">
                <a:solidFill>
                  <a:srgbClr val="000000"/>
                </a:solidFill>
                <a:latin typeface="MinionPro-Regular"/>
              </a:rPr>
              <a:t>.</a:t>
            </a:r>
          </a:p>
          <a:p>
            <a:r>
              <a:rPr lang="en-IE" sz="2000" dirty="0">
                <a:solidFill>
                  <a:srgbClr val="000000"/>
                </a:solidFill>
                <a:latin typeface="MinionPro-Regular"/>
              </a:rPr>
              <a:t>Although this method allows you to specify the character set, the only such </a:t>
            </a:r>
            <a:r>
              <a:rPr lang="en-IE" sz="2000" dirty="0" smtClean="0">
                <a:solidFill>
                  <a:srgbClr val="000000"/>
                </a:solidFill>
                <a:latin typeface="MinionPro-Regular"/>
              </a:rPr>
              <a:t>character set </a:t>
            </a:r>
            <a:r>
              <a:rPr lang="en-IE" sz="2000" dirty="0">
                <a:solidFill>
                  <a:srgbClr val="000000"/>
                </a:solidFill>
                <a:latin typeface="MinionPro-Regular"/>
              </a:rPr>
              <a:t>you should ever pick is UTF-8. UTF-8 is compatible with the IRI specification, </a:t>
            </a:r>
            <a:r>
              <a:rPr lang="en-IE" sz="2000" dirty="0" smtClean="0">
                <a:solidFill>
                  <a:srgbClr val="000000"/>
                </a:solidFill>
                <a:latin typeface="MinionPro-Regular"/>
              </a:rPr>
              <a:t>the </a:t>
            </a:r>
            <a:r>
              <a:rPr lang="en-IE" sz="2000" dirty="0" smtClean="0">
                <a:solidFill>
                  <a:srgbClr val="000000"/>
                </a:solidFill>
                <a:latin typeface="UbuntuMono-Regular"/>
              </a:rPr>
              <a:t>URI </a:t>
            </a:r>
            <a:r>
              <a:rPr lang="en-IE" sz="2000" dirty="0">
                <a:solidFill>
                  <a:srgbClr val="000000"/>
                </a:solidFill>
                <a:latin typeface="MinionPro-Regular"/>
              </a:rPr>
              <a:t>class, modern web browsers, and more additional software than any other </a:t>
            </a:r>
            <a:r>
              <a:rPr lang="en-IE" sz="2000" dirty="0" smtClean="0">
                <a:solidFill>
                  <a:srgbClr val="000000"/>
                </a:solidFill>
                <a:latin typeface="MinionPro-Regular"/>
              </a:rPr>
              <a:t>encoding you </a:t>
            </a:r>
            <a:r>
              <a:rPr lang="en-IE" sz="2000" dirty="0">
                <a:solidFill>
                  <a:srgbClr val="000000"/>
                </a:solidFill>
                <a:latin typeface="MinionPro-Regular"/>
              </a:rPr>
              <a:t>could choose.</a:t>
            </a:r>
            <a:endParaRPr lang="en-IE" sz="2000" b="1" dirty="0">
              <a:solidFill>
                <a:srgbClr val="555555"/>
              </a:solidFill>
              <a:latin typeface="UbuntuMono-Regular"/>
            </a:endParaRPr>
          </a:p>
        </p:txBody>
      </p:sp>
    </p:spTree>
    <p:extLst>
      <p:ext uri="{BB962C8B-B14F-4D97-AF65-F5344CB8AC3E}">
        <p14:creationId xmlns:p14="http://schemas.microsoft.com/office/powerpoint/2010/main" val="324711606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39762"/>
          </a:xfrm>
        </p:spPr>
        <p:txBody>
          <a:bodyPr>
            <a:noAutofit/>
          </a:bodyPr>
          <a:lstStyle/>
          <a:p>
            <a:r>
              <a:rPr lang="en-IE" sz="2800" i="1" dirty="0"/>
              <a:t>x-www-form-</a:t>
            </a:r>
            <a:r>
              <a:rPr lang="en-IE" sz="2800" i="1" dirty="0" err="1"/>
              <a:t>urlencoded</a:t>
            </a:r>
            <a:r>
              <a:rPr lang="en-IE" sz="2800" i="1" dirty="0"/>
              <a:t> strings</a:t>
            </a:r>
            <a:endParaRPr lang="en-IE" sz="2800" b="1" dirty="0"/>
          </a:p>
        </p:txBody>
      </p:sp>
      <p:sp>
        <p:nvSpPr>
          <p:cNvPr id="3" name="Content Placeholder 2"/>
          <p:cNvSpPr>
            <a:spLocks noGrp="1"/>
          </p:cNvSpPr>
          <p:nvPr>
            <p:ph idx="1"/>
          </p:nvPr>
        </p:nvSpPr>
        <p:spPr>
          <a:xfrm>
            <a:off x="0" y="609600"/>
            <a:ext cx="9144000" cy="6248400"/>
          </a:xfrm>
        </p:spPr>
        <p:txBody>
          <a:bodyPr>
            <a:noAutofit/>
          </a:bodyPr>
          <a:lstStyle/>
          <a:p>
            <a:pPr marL="0" indent="0">
              <a:buNone/>
            </a:pPr>
            <a:r>
              <a:rPr lang="en-IE" sz="1600" b="1" dirty="0">
                <a:solidFill>
                  <a:srgbClr val="00669A"/>
                </a:solidFill>
                <a:latin typeface="UbuntuMono-Bold"/>
              </a:rPr>
              <a:t>import </a:t>
            </a:r>
            <a:r>
              <a:rPr lang="en-IE" sz="1600" b="1" dirty="0">
                <a:solidFill>
                  <a:srgbClr val="00CDFF"/>
                </a:solidFill>
                <a:latin typeface="UbuntuMono-Bold"/>
              </a:rPr>
              <a:t>java.io.*</a:t>
            </a:r>
            <a:r>
              <a:rPr lang="en-IE" sz="1600" dirty="0">
                <a:solidFill>
                  <a:srgbClr val="555555"/>
                </a:solidFill>
                <a:latin typeface="UbuntuMono-Regular"/>
              </a:rPr>
              <a:t>;</a:t>
            </a:r>
          </a:p>
          <a:p>
            <a:pPr marL="0" indent="0">
              <a:buNone/>
            </a:pPr>
            <a:r>
              <a:rPr lang="en-IE" sz="1600" b="1" dirty="0">
                <a:solidFill>
                  <a:srgbClr val="00669A"/>
                </a:solidFill>
                <a:latin typeface="UbuntuMono-Bold"/>
              </a:rPr>
              <a:t>import </a:t>
            </a:r>
            <a:r>
              <a:rPr lang="en-IE" sz="1600" b="1" dirty="0">
                <a:solidFill>
                  <a:srgbClr val="00CDFF"/>
                </a:solidFill>
                <a:latin typeface="UbuntuMono-Bold"/>
              </a:rPr>
              <a:t>java.net.*</a:t>
            </a:r>
            <a:r>
              <a:rPr lang="en-IE" sz="1600" dirty="0">
                <a:solidFill>
                  <a:srgbClr val="555555"/>
                </a:solidFill>
                <a:latin typeface="UbuntuMono-Regular"/>
              </a:rPr>
              <a:t>;</a:t>
            </a:r>
          </a:p>
          <a:p>
            <a:pPr marL="0" indent="0">
              <a:buNone/>
            </a:pPr>
            <a:r>
              <a:rPr lang="en-IE" sz="1600" b="1" dirty="0">
                <a:solidFill>
                  <a:srgbClr val="00669A"/>
                </a:solidFill>
                <a:latin typeface="UbuntuMono-Bold"/>
              </a:rPr>
              <a:t>public class </a:t>
            </a:r>
            <a:r>
              <a:rPr lang="en-IE" sz="1600" b="1" dirty="0" err="1">
                <a:solidFill>
                  <a:srgbClr val="00AB89"/>
                </a:solidFill>
                <a:latin typeface="UbuntuMono-Bold"/>
              </a:rPr>
              <a:t>EncoderTest</a:t>
            </a:r>
            <a:r>
              <a:rPr lang="en-IE" sz="1600" b="1" dirty="0">
                <a:solidFill>
                  <a:srgbClr val="00AB89"/>
                </a:solidFill>
                <a:latin typeface="UbuntuMono-Bold"/>
              </a:rPr>
              <a:t> </a:t>
            </a:r>
            <a:r>
              <a:rPr lang="en-IE" sz="1600" dirty="0">
                <a:solidFill>
                  <a:srgbClr val="555555"/>
                </a:solidFill>
                <a:latin typeface="UbuntuMono-Regular"/>
              </a:rPr>
              <a:t>{</a:t>
            </a:r>
          </a:p>
          <a:p>
            <a:pPr marL="0" indent="0">
              <a:buNone/>
            </a:pPr>
            <a:r>
              <a:rPr lang="en-IE" sz="1600" b="1" dirty="0">
                <a:solidFill>
                  <a:srgbClr val="00669A"/>
                </a:solidFill>
                <a:latin typeface="UbuntuMono-Bold"/>
              </a:rPr>
              <a:t>public static </a:t>
            </a:r>
            <a:r>
              <a:rPr lang="en-IE" sz="1600" b="1" dirty="0">
                <a:solidFill>
                  <a:srgbClr val="007789"/>
                </a:solidFill>
                <a:latin typeface="UbuntuMono-Bold"/>
              </a:rPr>
              <a:t>void </a:t>
            </a:r>
            <a:r>
              <a:rPr lang="en-IE" sz="1600" dirty="0">
                <a:solidFill>
                  <a:srgbClr val="CD00FF"/>
                </a:solidFill>
                <a:latin typeface="UbuntuMono-Regular"/>
              </a:rPr>
              <a:t>main</a:t>
            </a:r>
            <a:r>
              <a:rPr lang="en-IE" sz="1600" dirty="0">
                <a:solidFill>
                  <a:srgbClr val="555555"/>
                </a:solidFill>
                <a:latin typeface="UbuntuMono-Regular"/>
              </a:rPr>
              <a:t>(</a:t>
            </a:r>
            <a:r>
              <a:rPr lang="en-IE" sz="1600" dirty="0">
                <a:solidFill>
                  <a:srgbClr val="000089"/>
                </a:solidFill>
                <a:latin typeface="UbuntuMono-Regular"/>
              </a:rPr>
              <a:t>String</a:t>
            </a:r>
            <a:r>
              <a:rPr lang="en-IE" sz="1600" dirty="0">
                <a:solidFill>
                  <a:srgbClr val="555555"/>
                </a:solidFill>
                <a:latin typeface="UbuntuMono-Regular"/>
              </a:rPr>
              <a:t>[] </a:t>
            </a:r>
            <a:r>
              <a:rPr lang="en-IE" sz="1600" dirty="0" err="1">
                <a:solidFill>
                  <a:srgbClr val="000089"/>
                </a:solidFill>
                <a:latin typeface="UbuntuMono-Regular"/>
              </a:rPr>
              <a:t>args</a:t>
            </a:r>
            <a:r>
              <a:rPr lang="en-IE" sz="1600" dirty="0">
                <a:solidFill>
                  <a:srgbClr val="555555"/>
                </a:solidFill>
                <a:latin typeface="UbuntuMono-Regular"/>
              </a:rPr>
              <a:t>) {</a:t>
            </a:r>
          </a:p>
          <a:p>
            <a:pPr marL="0" indent="0">
              <a:buNone/>
            </a:pPr>
            <a:r>
              <a:rPr lang="en-IE" sz="1600" b="1" dirty="0">
                <a:solidFill>
                  <a:srgbClr val="00669A"/>
                </a:solidFill>
                <a:latin typeface="UbuntuMono-Bold"/>
              </a:rPr>
              <a:t>try </a:t>
            </a:r>
            <a:r>
              <a:rPr lang="en-IE" sz="1600" dirty="0">
                <a:solidFill>
                  <a:srgbClr val="555555"/>
                </a:solidFill>
                <a:latin typeface="UbuntuMono-Regular"/>
              </a:rPr>
              <a:t>{</a:t>
            </a:r>
          </a:p>
          <a:p>
            <a:pPr marL="0" indent="0">
              <a:buNone/>
            </a:pPr>
            <a:r>
              <a:rPr lang="en-IE" sz="1600" dirty="0" err="1">
                <a:solidFill>
                  <a:srgbClr val="000089"/>
                </a:solidFill>
                <a:latin typeface="UbuntuMono-Regular"/>
              </a:rPr>
              <a:t>System</a:t>
            </a:r>
            <a:r>
              <a:rPr lang="en-IE" sz="1600" dirty="0" err="1">
                <a:solidFill>
                  <a:srgbClr val="555555"/>
                </a:solidFill>
                <a:latin typeface="UbuntuMono-Regular"/>
              </a:rPr>
              <a:t>.</a:t>
            </a:r>
            <a:r>
              <a:rPr lang="en-IE" sz="1600" dirty="0" err="1">
                <a:solidFill>
                  <a:srgbClr val="33009A"/>
                </a:solidFill>
                <a:latin typeface="UbuntuMono-Regular"/>
              </a:rPr>
              <a:t>out</a:t>
            </a:r>
            <a:r>
              <a:rPr lang="en-IE" sz="1600" dirty="0" err="1">
                <a:solidFill>
                  <a:srgbClr val="555555"/>
                </a:solidFill>
                <a:latin typeface="UbuntuMono-Regular"/>
              </a:rPr>
              <a:t>.</a:t>
            </a:r>
            <a:r>
              <a:rPr lang="en-IE" sz="1600" dirty="0" err="1">
                <a:solidFill>
                  <a:srgbClr val="33009A"/>
                </a:solidFill>
                <a:latin typeface="UbuntuMono-Regular"/>
              </a:rPr>
              <a:t>println</a:t>
            </a:r>
            <a:r>
              <a:rPr lang="en-IE" sz="1600" dirty="0">
                <a:solidFill>
                  <a:srgbClr val="555555"/>
                </a:solidFill>
                <a:latin typeface="UbuntuMono-Regular"/>
              </a:rPr>
              <a:t>(</a:t>
            </a:r>
            <a:r>
              <a:rPr lang="en-IE" sz="1600" dirty="0" err="1">
                <a:solidFill>
                  <a:srgbClr val="000089"/>
                </a:solidFill>
                <a:latin typeface="UbuntuMono-Regular"/>
              </a:rPr>
              <a:t>URLEncoder</a:t>
            </a:r>
            <a:r>
              <a:rPr lang="en-IE" sz="1600" dirty="0" err="1">
                <a:solidFill>
                  <a:srgbClr val="555555"/>
                </a:solidFill>
                <a:latin typeface="UbuntuMono-Regular"/>
              </a:rPr>
              <a:t>.</a:t>
            </a:r>
            <a:r>
              <a:rPr lang="en-IE" sz="1600" dirty="0" err="1">
                <a:solidFill>
                  <a:srgbClr val="33009A"/>
                </a:solidFill>
                <a:latin typeface="UbuntuMono-Regular"/>
              </a:rPr>
              <a:t>encode</a:t>
            </a:r>
            <a:r>
              <a:rPr lang="en-IE" sz="1600" dirty="0">
                <a:solidFill>
                  <a:srgbClr val="555555"/>
                </a:solidFill>
                <a:latin typeface="UbuntuMono-Regular"/>
              </a:rPr>
              <a:t>(</a:t>
            </a:r>
            <a:r>
              <a:rPr lang="en-IE" sz="1600" dirty="0">
                <a:solidFill>
                  <a:srgbClr val="CD3300"/>
                </a:solidFill>
                <a:latin typeface="UbuntuMono-Regular"/>
              </a:rPr>
              <a:t>"This string has spaces</a:t>
            </a:r>
            <a:r>
              <a:rPr lang="en-IE" sz="1600" dirty="0" smtClean="0">
                <a:solidFill>
                  <a:srgbClr val="CD3300"/>
                </a:solidFill>
                <a:latin typeface="UbuntuMono-Regular"/>
              </a:rPr>
              <a:t>"</a:t>
            </a:r>
            <a:r>
              <a:rPr lang="en-IE" sz="1600" dirty="0" smtClean="0">
                <a:solidFill>
                  <a:srgbClr val="555555"/>
                </a:solidFill>
                <a:latin typeface="UbuntuMono-Regular"/>
              </a:rPr>
              <a:t>,</a:t>
            </a:r>
            <a:r>
              <a:rPr lang="en-IE" sz="1600" dirty="0" smtClean="0">
                <a:solidFill>
                  <a:srgbClr val="CD3300"/>
                </a:solidFill>
                <a:latin typeface="UbuntuMono-Regular"/>
              </a:rPr>
              <a:t>"</a:t>
            </a:r>
            <a:r>
              <a:rPr lang="en-IE" sz="1600" dirty="0">
                <a:solidFill>
                  <a:srgbClr val="CD3300"/>
                </a:solidFill>
                <a:latin typeface="UbuntuMono-Regular"/>
              </a:rPr>
              <a:t>UTF-8"</a:t>
            </a:r>
            <a:r>
              <a:rPr lang="en-IE" sz="1600" dirty="0">
                <a:solidFill>
                  <a:srgbClr val="555555"/>
                </a:solidFill>
                <a:latin typeface="UbuntuMono-Regular"/>
              </a:rPr>
              <a:t>));</a:t>
            </a:r>
          </a:p>
          <a:p>
            <a:pPr marL="0" indent="0">
              <a:buNone/>
            </a:pPr>
            <a:r>
              <a:rPr lang="en-IE" sz="1600" dirty="0" err="1">
                <a:solidFill>
                  <a:srgbClr val="000089"/>
                </a:solidFill>
                <a:latin typeface="UbuntuMono-Regular"/>
              </a:rPr>
              <a:t>System</a:t>
            </a:r>
            <a:r>
              <a:rPr lang="en-IE" sz="1600" dirty="0" err="1">
                <a:solidFill>
                  <a:srgbClr val="555555"/>
                </a:solidFill>
                <a:latin typeface="UbuntuMono-Regular"/>
              </a:rPr>
              <a:t>.</a:t>
            </a:r>
            <a:r>
              <a:rPr lang="en-IE" sz="1600" dirty="0" err="1">
                <a:solidFill>
                  <a:srgbClr val="33009A"/>
                </a:solidFill>
                <a:latin typeface="UbuntuMono-Regular"/>
              </a:rPr>
              <a:t>out</a:t>
            </a:r>
            <a:r>
              <a:rPr lang="en-IE" sz="1600" dirty="0" err="1">
                <a:solidFill>
                  <a:srgbClr val="555555"/>
                </a:solidFill>
                <a:latin typeface="UbuntuMono-Regular"/>
              </a:rPr>
              <a:t>.</a:t>
            </a:r>
            <a:r>
              <a:rPr lang="en-IE" sz="1600" dirty="0" err="1">
                <a:solidFill>
                  <a:srgbClr val="33009A"/>
                </a:solidFill>
                <a:latin typeface="UbuntuMono-Regular"/>
              </a:rPr>
              <a:t>println</a:t>
            </a:r>
            <a:r>
              <a:rPr lang="en-IE" sz="1600" dirty="0">
                <a:solidFill>
                  <a:srgbClr val="555555"/>
                </a:solidFill>
                <a:latin typeface="UbuntuMono-Regular"/>
              </a:rPr>
              <a:t>(</a:t>
            </a:r>
            <a:r>
              <a:rPr lang="en-IE" sz="1600" dirty="0" err="1">
                <a:solidFill>
                  <a:srgbClr val="000089"/>
                </a:solidFill>
                <a:latin typeface="UbuntuMono-Regular"/>
              </a:rPr>
              <a:t>URLEncoder</a:t>
            </a:r>
            <a:r>
              <a:rPr lang="en-IE" sz="1600" dirty="0" err="1">
                <a:solidFill>
                  <a:srgbClr val="555555"/>
                </a:solidFill>
                <a:latin typeface="UbuntuMono-Regular"/>
              </a:rPr>
              <a:t>.</a:t>
            </a:r>
            <a:r>
              <a:rPr lang="en-IE" sz="1600" dirty="0" err="1">
                <a:solidFill>
                  <a:srgbClr val="33009A"/>
                </a:solidFill>
                <a:latin typeface="UbuntuMono-Regular"/>
              </a:rPr>
              <a:t>encode</a:t>
            </a:r>
            <a:r>
              <a:rPr lang="en-IE" sz="1600" dirty="0">
                <a:solidFill>
                  <a:srgbClr val="555555"/>
                </a:solidFill>
                <a:latin typeface="UbuntuMono-Regular"/>
              </a:rPr>
              <a:t>(</a:t>
            </a:r>
            <a:r>
              <a:rPr lang="en-IE" sz="1600" dirty="0">
                <a:solidFill>
                  <a:srgbClr val="CD3300"/>
                </a:solidFill>
                <a:latin typeface="UbuntuMono-Regular"/>
              </a:rPr>
              <a:t>"This*string*has*asterisks</a:t>
            </a:r>
            <a:r>
              <a:rPr lang="en-IE" sz="1600" dirty="0" smtClean="0">
                <a:solidFill>
                  <a:srgbClr val="CD3300"/>
                </a:solidFill>
                <a:latin typeface="UbuntuMono-Regular"/>
              </a:rPr>
              <a:t>"</a:t>
            </a:r>
            <a:r>
              <a:rPr lang="en-IE" sz="1600" dirty="0" smtClean="0">
                <a:solidFill>
                  <a:srgbClr val="555555"/>
                </a:solidFill>
                <a:latin typeface="UbuntuMono-Regular"/>
              </a:rPr>
              <a:t>,</a:t>
            </a:r>
            <a:r>
              <a:rPr lang="en-IE" sz="1600" dirty="0" smtClean="0">
                <a:solidFill>
                  <a:srgbClr val="CD3300"/>
                </a:solidFill>
                <a:latin typeface="UbuntuMono-Regular"/>
              </a:rPr>
              <a:t>"</a:t>
            </a:r>
            <a:r>
              <a:rPr lang="en-IE" sz="1600" dirty="0">
                <a:solidFill>
                  <a:srgbClr val="CD3300"/>
                </a:solidFill>
                <a:latin typeface="UbuntuMono-Regular"/>
              </a:rPr>
              <a:t>UTF-8"</a:t>
            </a:r>
            <a:r>
              <a:rPr lang="en-IE" sz="1600" dirty="0">
                <a:solidFill>
                  <a:srgbClr val="555555"/>
                </a:solidFill>
                <a:latin typeface="UbuntuMono-Regular"/>
              </a:rPr>
              <a:t>));</a:t>
            </a:r>
          </a:p>
          <a:p>
            <a:pPr marL="0" indent="0">
              <a:buNone/>
            </a:pPr>
            <a:r>
              <a:rPr lang="en-IE" sz="1600" dirty="0" err="1">
                <a:solidFill>
                  <a:srgbClr val="000089"/>
                </a:solidFill>
                <a:latin typeface="UbuntuMono-Regular"/>
              </a:rPr>
              <a:t>System</a:t>
            </a:r>
            <a:r>
              <a:rPr lang="en-IE" sz="1600" dirty="0" err="1">
                <a:solidFill>
                  <a:srgbClr val="555555"/>
                </a:solidFill>
                <a:latin typeface="UbuntuMono-Regular"/>
              </a:rPr>
              <a:t>.</a:t>
            </a:r>
            <a:r>
              <a:rPr lang="en-IE" sz="1600" dirty="0" err="1">
                <a:solidFill>
                  <a:srgbClr val="33009A"/>
                </a:solidFill>
                <a:latin typeface="UbuntuMono-Regular"/>
              </a:rPr>
              <a:t>out</a:t>
            </a:r>
            <a:r>
              <a:rPr lang="en-IE" sz="1600" dirty="0" err="1">
                <a:solidFill>
                  <a:srgbClr val="555555"/>
                </a:solidFill>
                <a:latin typeface="UbuntuMono-Regular"/>
              </a:rPr>
              <a:t>.</a:t>
            </a:r>
            <a:r>
              <a:rPr lang="en-IE" sz="1600" dirty="0" err="1">
                <a:solidFill>
                  <a:srgbClr val="33009A"/>
                </a:solidFill>
                <a:latin typeface="UbuntuMono-Regular"/>
              </a:rPr>
              <a:t>println</a:t>
            </a:r>
            <a:r>
              <a:rPr lang="en-IE" sz="1600" dirty="0">
                <a:solidFill>
                  <a:srgbClr val="555555"/>
                </a:solidFill>
                <a:latin typeface="UbuntuMono-Regular"/>
              </a:rPr>
              <a:t>(</a:t>
            </a:r>
            <a:r>
              <a:rPr lang="en-IE" sz="1600" dirty="0" err="1">
                <a:solidFill>
                  <a:srgbClr val="000089"/>
                </a:solidFill>
                <a:latin typeface="UbuntuMono-Regular"/>
              </a:rPr>
              <a:t>URLEncoder</a:t>
            </a:r>
            <a:r>
              <a:rPr lang="en-IE" sz="1600" dirty="0" err="1">
                <a:solidFill>
                  <a:srgbClr val="555555"/>
                </a:solidFill>
                <a:latin typeface="UbuntuMono-Regular"/>
              </a:rPr>
              <a:t>.</a:t>
            </a:r>
            <a:r>
              <a:rPr lang="en-IE" sz="1600" dirty="0" err="1">
                <a:solidFill>
                  <a:srgbClr val="33009A"/>
                </a:solidFill>
                <a:latin typeface="UbuntuMono-Regular"/>
              </a:rPr>
              <a:t>encode</a:t>
            </a:r>
            <a:r>
              <a:rPr lang="en-IE" sz="1600" dirty="0">
                <a:solidFill>
                  <a:srgbClr val="555555"/>
                </a:solidFill>
                <a:latin typeface="UbuntuMono-Regular"/>
              </a:rPr>
              <a:t>(</a:t>
            </a:r>
            <a:r>
              <a:rPr lang="en-IE" sz="1600" dirty="0">
                <a:solidFill>
                  <a:srgbClr val="CD3300"/>
                </a:solidFill>
                <a:latin typeface="UbuntuMono-Regular"/>
              </a:rPr>
              <a:t>"This%string%has%percent%signs</a:t>
            </a:r>
            <a:r>
              <a:rPr lang="en-IE" sz="1600" dirty="0" smtClean="0">
                <a:solidFill>
                  <a:srgbClr val="CD3300"/>
                </a:solidFill>
                <a:latin typeface="UbuntuMono-Regular"/>
              </a:rPr>
              <a:t>"</a:t>
            </a:r>
            <a:r>
              <a:rPr lang="en-IE" sz="1600" dirty="0" smtClean="0">
                <a:solidFill>
                  <a:srgbClr val="555555"/>
                </a:solidFill>
                <a:latin typeface="UbuntuMono-Regular"/>
              </a:rPr>
              <a:t>,</a:t>
            </a:r>
            <a:r>
              <a:rPr lang="en-IE" sz="1600" dirty="0" smtClean="0">
                <a:solidFill>
                  <a:srgbClr val="CD3300"/>
                </a:solidFill>
                <a:latin typeface="UbuntuMono-Regular"/>
              </a:rPr>
              <a:t>"</a:t>
            </a:r>
            <a:r>
              <a:rPr lang="en-IE" sz="1600" dirty="0">
                <a:solidFill>
                  <a:srgbClr val="CD3300"/>
                </a:solidFill>
                <a:latin typeface="UbuntuMono-Regular"/>
              </a:rPr>
              <a:t>UTF-8"</a:t>
            </a:r>
            <a:r>
              <a:rPr lang="en-IE" sz="1600" dirty="0">
                <a:solidFill>
                  <a:srgbClr val="555555"/>
                </a:solidFill>
                <a:latin typeface="UbuntuMono-Regular"/>
              </a:rPr>
              <a:t>));</a:t>
            </a:r>
          </a:p>
          <a:p>
            <a:pPr marL="0" indent="0">
              <a:buNone/>
            </a:pPr>
            <a:r>
              <a:rPr lang="en-IE" sz="1600" dirty="0" err="1">
                <a:solidFill>
                  <a:srgbClr val="000089"/>
                </a:solidFill>
                <a:latin typeface="UbuntuMono-Regular"/>
              </a:rPr>
              <a:t>System</a:t>
            </a:r>
            <a:r>
              <a:rPr lang="en-IE" sz="1600" dirty="0" err="1">
                <a:solidFill>
                  <a:srgbClr val="555555"/>
                </a:solidFill>
                <a:latin typeface="UbuntuMono-Regular"/>
              </a:rPr>
              <a:t>.</a:t>
            </a:r>
            <a:r>
              <a:rPr lang="en-IE" sz="1600" dirty="0" err="1">
                <a:solidFill>
                  <a:srgbClr val="33009A"/>
                </a:solidFill>
                <a:latin typeface="UbuntuMono-Regular"/>
              </a:rPr>
              <a:t>out</a:t>
            </a:r>
            <a:r>
              <a:rPr lang="en-IE" sz="1600" dirty="0" err="1">
                <a:solidFill>
                  <a:srgbClr val="555555"/>
                </a:solidFill>
                <a:latin typeface="UbuntuMono-Regular"/>
              </a:rPr>
              <a:t>.</a:t>
            </a:r>
            <a:r>
              <a:rPr lang="en-IE" sz="1600" dirty="0" err="1">
                <a:solidFill>
                  <a:srgbClr val="33009A"/>
                </a:solidFill>
                <a:latin typeface="UbuntuMono-Regular"/>
              </a:rPr>
              <a:t>println</a:t>
            </a:r>
            <a:r>
              <a:rPr lang="en-IE" sz="1600" dirty="0">
                <a:solidFill>
                  <a:srgbClr val="555555"/>
                </a:solidFill>
                <a:latin typeface="UbuntuMono-Regular"/>
              </a:rPr>
              <a:t>(</a:t>
            </a:r>
            <a:r>
              <a:rPr lang="en-IE" sz="1600" dirty="0" err="1">
                <a:solidFill>
                  <a:srgbClr val="000089"/>
                </a:solidFill>
                <a:latin typeface="UbuntuMono-Regular"/>
              </a:rPr>
              <a:t>URLEncoder</a:t>
            </a:r>
            <a:r>
              <a:rPr lang="en-IE" sz="1600" dirty="0" err="1">
                <a:solidFill>
                  <a:srgbClr val="555555"/>
                </a:solidFill>
                <a:latin typeface="UbuntuMono-Regular"/>
              </a:rPr>
              <a:t>.</a:t>
            </a:r>
            <a:r>
              <a:rPr lang="en-IE" sz="1600" dirty="0" err="1">
                <a:solidFill>
                  <a:srgbClr val="33009A"/>
                </a:solidFill>
                <a:latin typeface="UbuntuMono-Regular"/>
              </a:rPr>
              <a:t>encode</a:t>
            </a:r>
            <a:r>
              <a:rPr lang="en-IE" sz="1600" dirty="0">
                <a:solidFill>
                  <a:srgbClr val="555555"/>
                </a:solidFill>
                <a:latin typeface="UbuntuMono-Regular"/>
              </a:rPr>
              <a:t>(</a:t>
            </a:r>
            <a:r>
              <a:rPr lang="en-IE" sz="1600" dirty="0">
                <a:solidFill>
                  <a:srgbClr val="CD3300"/>
                </a:solidFill>
                <a:latin typeface="UbuntuMono-Regular"/>
              </a:rPr>
              <a:t>"This+string+has+pluses</a:t>
            </a:r>
            <a:r>
              <a:rPr lang="en-IE" sz="1600" dirty="0" smtClean="0">
                <a:solidFill>
                  <a:srgbClr val="CD3300"/>
                </a:solidFill>
                <a:latin typeface="UbuntuMono-Regular"/>
              </a:rPr>
              <a:t>"</a:t>
            </a:r>
            <a:r>
              <a:rPr lang="en-IE" sz="1600" dirty="0" smtClean="0">
                <a:solidFill>
                  <a:srgbClr val="555555"/>
                </a:solidFill>
                <a:latin typeface="UbuntuMono-Regular"/>
              </a:rPr>
              <a:t>,</a:t>
            </a:r>
            <a:r>
              <a:rPr lang="en-IE" sz="1600" dirty="0" smtClean="0">
                <a:solidFill>
                  <a:srgbClr val="CD3300"/>
                </a:solidFill>
                <a:latin typeface="UbuntuMono-Regular"/>
              </a:rPr>
              <a:t>"</a:t>
            </a:r>
            <a:r>
              <a:rPr lang="en-IE" sz="1600" dirty="0">
                <a:solidFill>
                  <a:srgbClr val="CD3300"/>
                </a:solidFill>
                <a:latin typeface="UbuntuMono-Regular"/>
              </a:rPr>
              <a:t>UTF-8"</a:t>
            </a:r>
            <a:r>
              <a:rPr lang="en-IE" sz="1600" dirty="0">
                <a:solidFill>
                  <a:srgbClr val="555555"/>
                </a:solidFill>
                <a:latin typeface="UbuntuMono-Regular"/>
              </a:rPr>
              <a:t>));</a:t>
            </a:r>
          </a:p>
          <a:p>
            <a:pPr marL="0" indent="0">
              <a:buNone/>
            </a:pPr>
            <a:r>
              <a:rPr lang="en-IE" sz="1600" dirty="0" err="1">
                <a:solidFill>
                  <a:srgbClr val="000089"/>
                </a:solidFill>
                <a:latin typeface="UbuntuMono-Regular"/>
              </a:rPr>
              <a:t>System</a:t>
            </a:r>
            <a:r>
              <a:rPr lang="en-IE" sz="1600" dirty="0" err="1">
                <a:solidFill>
                  <a:srgbClr val="555555"/>
                </a:solidFill>
                <a:latin typeface="UbuntuMono-Regular"/>
              </a:rPr>
              <a:t>.</a:t>
            </a:r>
            <a:r>
              <a:rPr lang="en-IE" sz="1600" dirty="0" err="1">
                <a:solidFill>
                  <a:srgbClr val="33009A"/>
                </a:solidFill>
                <a:latin typeface="UbuntuMono-Regular"/>
              </a:rPr>
              <a:t>out</a:t>
            </a:r>
            <a:r>
              <a:rPr lang="en-IE" sz="1600" dirty="0" err="1">
                <a:solidFill>
                  <a:srgbClr val="555555"/>
                </a:solidFill>
                <a:latin typeface="UbuntuMono-Regular"/>
              </a:rPr>
              <a:t>.</a:t>
            </a:r>
            <a:r>
              <a:rPr lang="en-IE" sz="1600" dirty="0" err="1">
                <a:solidFill>
                  <a:srgbClr val="33009A"/>
                </a:solidFill>
                <a:latin typeface="UbuntuMono-Regular"/>
              </a:rPr>
              <a:t>println</a:t>
            </a:r>
            <a:r>
              <a:rPr lang="en-IE" sz="1600" dirty="0">
                <a:solidFill>
                  <a:srgbClr val="555555"/>
                </a:solidFill>
                <a:latin typeface="UbuntuMono-Regular"/>
              </a:rPr>
              <a:t>(</a:t>
            </a:r>
            <a:r>
              <a:rPr lang="en-IE" sz="1600" dirty="0" err="1">
                <a:solidFill>
                  <a:srgbClr val="000089"/>
                </a:solidFill>
                <a:latin typeface="UbuntuMono-Regular"/>
              </a:rPr>
              <a:t>URLEncoder</a:t>
            </a:r>
            <a:r>
              <a:rPr lang="en-IE" sz="1600" dirty="0" err="1">
                <a:solidFill>
                  <a:srgbClr val="555555"/>
                </a:solidFill>
                <a:latin typeface="UbuntuMono-Regular"/>
              </a:rPr>
              <a:t>.</a:t>
            </a:r>
            <a:r>
              <a:rPr lang="en-IE" sz="1600" dirty="0" err="1">
                <a:solidFill>
                  <a:srgbClr val="33009A"/>
                </a:solidFill>
                <a:latin typeface="UbuntuMono-Regular"/>
              </a:rPr>
              <a:t>encode</a:t>
            </a:r>
            <a:r>
              <a:rPr lang="en-IE" sz="1600" dirty="0">
                <a:solidFill>
                  <a:srgbClr val="555555"/>
                </a:solidFill>
                <a:latin typeface="UbuntuMono-Regular"/>
              </a:rPr>
              <a:t>(</a:t>
            </a:r>
            <a:r>
              <a:rPr lang="en-IE" sz="1600" dirty="0">
                <a:solidFill>
                  <a:srgbClr val="CD3300"/>
                </a:solidFill>
                <a:latin typeface="UbuntuMono-Regular"/>
              </a:rPr>
              <a:t>"This/string/has/slashes</a:t>
            </a:r>
            <a:r>
              <a:rPr lang="en-IE" sz="1600" dirty="0" smtClean="0">
                <a:solidFill>
                  <a:srgbClr val="CD3300"/>
                </a:solidFill>
                <a:latin typeface="UbuntuMono-Regular"/>
              </a:rPr>
              <a:t>"</a:t>
            </a:r>
            <a:r>
              <a:rPr lang="en-IE" sz="1600" dirty="0" smtClean="0">
                <a:solidFill>
                  <a:srgbClr val="555555"/>
                </a:solidFill>
                <a:latin typeface="UbuntuMono-Regular"/>
              </a:rPr>
              <a:t>,</a:t>
            </a:r>
            <a:r>
              <a:rPr lang="en-IE" sz="1600" dirty="0" smtClean="0">
                <a:solidFill>
                  <a:srgbClr val="CD3300"/>
                </a:solidFill>
                <a:latin typeface="UbuntuMono-Regular"/>
              </a:rPr>
              <a:t>"</a:t>
            </a:r>
            <a:r>
              <a:rPr lang="en-IE" sz="1600" dirty="0">
                <a:solidFill>
                  <a:srgbClr val="CD3300"/>
                </a:solidFill>
                <a:latin typeface="UbuntuMono-Regular"/>
              </a:rPr>
              <a:t>UTF-8"</a:t>
            </a:r>
            <a:r>
              <a:rPr lang="en-IE" sz="1600" dirty="0">
                <a:solidFill>
                  <a:srgbClr val="555555"/>
                </a:solidFill>
                <a:latin typeface="UbuntuMono-Regular"/>
              </a:rPr>
              <a:t>));</a:t>
            </a:r>
          </a:p>
          <a:p>
            <a:pPr marL="0" indent="0">
              <a:buNone/>
            </a:pPr>
            <a:r>
              <a:rPr lang="en-IE" sz="1600" dirty="0" err="1">
                <a:solidFill>
                  <a:srgbClr val="000089"/>
                </a:solidFill>
                <a:latin typeface="UbuntuMono-Regular"/>
              </a:rPr>
              <a:t>System</a:t>
            </a:r>
            <a:r>
              <a:rPr lang="en-IE" sz="1600" dirty="0" err="1">
                <a:solidFill>
                  <a:srgbClr val="555555"/>
                </a:solidFill>
                <a:latin typeface="UbuntuMono-Regular"/>
              </a:rPr>
              <a:t>.</a:t>
            </a:r>
            <a:r>
              <a:rPr lang="en-IE" sz="1600" dirty="0" err="1">
                <a:solidFill>
                  <a:srgbClr val="33009A"/>
                </a:solidFill>
                <a:latin typeface="UbuntuMono-Regular"/>
              </a:rPr>
              <a:t>out</a:t>
            </a:r>
            <a:r>
              <a:rPr lang="en-IE" sz="1600" dirty="0" err="1">
                <a:solidFill>
                  <a:srgbClr val="555555"/>
                </a:solidFill>
                <a:latin typeface="UbuntuMono-Regular"/>
              </a:rPr>
              <a:t>.</a:t>
            </a:r>
            <a:r>
              <a:rPr lang="en-IE" sz="1600" dirty="0" err="1">
                <a:solidFill>
                  <a:srgbClr val="33009A"/>
                </a:solidFill>
                <a:latin typeface="UbuntuMono-Regular"/>
              </a:rPr>
              <a:t>println</a:t>
            </a:r>
            <a:r>
              <a:rPr lang="en-IE" sz="1600" dirty="0">
                <a:solidFill>
                  <a:srgbClr val="555555"/>
                </a:solidFill>
                <a:latin typeface="UbuntuMono-Regular"/>
              </a:rPr>
              <a:t>(</a:t>
            </a:r>
            <a:r>
              <a:rPr lang="en-IE" sz="1600" dirty="0" err="1">
                <a:solidFill>
                  <a:srgbClr val="000089"/>
                </a:solidFill>
                <a:latin typeface="UbuntuMono-Regular"/>
              </a:rPr>
              <a:t>URLEncoder</a:t>
            </a:r>
            <a:r>
              <a:rPr lang="en-IE" sz="1600" dirty="0" err="1">
                <a:solidFill>
                  <a:srgbClr val="555555"/>
                </a:solidFill>
                <a:latin typeface="UbuntuMono-Regular"/>
              </a:rPr>
              <a:t>.</a:t>
            </a:r>
            <a:r>
              <a:rPr lang="en-IE" sz="1600" dirty="0" err="1">
                <a:solidFill>
                  <a:srgbClr val="33009A"/>
                </a:solidFill>
                <a:latin typeface="UbuntuMono-Regular"/>
              </a:rPr>
              <a:t>encode</a:t>
            </a:r>
            <a:r>
              <a:rPr lang="en-IE" sz="1600" dirty="0">
                <a:solidFill>
                  <a:srgbClr val="555555"/>
                </a:solidFill>
                <a:latin typeface="UbuntuMono-Regular"/>
              </a:rPr>
              <a:t>(</a:t>
            </a:r>
            <a:r>
              <a:rPr lang="en-IE" sz="1600" dirty="0">
                <a:solidFill>
                  <a:srgbClr val="CD3300"/>
                </a:solidFill>
                <a:latin typeface="UbuntuMono-Regular"/>
              </a:rPr>
              <a:t>"This\"string\"has\"quote\"marks</a:t>
            </a:r>
            <a:r>
              <a:rPr lang="en-IE" sz="1600" dirty="0" smtClean="0">
                <a:solidFill>
                  <a:srgbClr val="CD3300"/>
                </a:solidFill>
                <a:latin typeface="UbuntuMono-Regular"/>
              </a:rPr>
              <a:t>"</a:t>
            </a:r>
            <a:r>
              <a:rPr lang="en-IE" sz="1600" dirty="0" smtClean="0">
                <a:solidFill>
                  <a:srgbClr val="555555"/>
                </a:solidFill>
                <a:latin typeface="UbuntuMono-Regular"/>
              </a:rPr>
              <a:t>,</a:t>
            </a:r>
            <a:r>
              <a:rPr lang="en-IE" sz="1600" dirty="0" smtClean="0">
                <a:solidFill>
                  <a:srgbClr val="CD3300"/>
                </a:solidFill>
                <a:latin typeface="UbuntuMono-Regular"/>
              </a:rPr>
              <a:t>"</a:t>
            </a:r>
            <a:r>
              <a:rPr lang="en-IE" sz="1600" dirty="0">
                <a:solidFill>
                  <a:srgbClr val="CD3300"/>
                </a:solidFill>
                <a:latin typeface="UbuntuMono-Regular"/>
              </a:rPr>
              <a:t>UTF-8"</a:t>
            </a:r>
            <a:r>
              <a:rPr lang="en-IE" sz="1600" dirty="0">
                <a:solidFill>
                  <a:srgbClr val="555555"/>
                </a:solidFill>
                <a:latin typeface="UbuntuMono-Regular"/>
              </a:rPr>
              <a:t>));</a:t>
            </a:r>
          </a:p>
          <a:p>
            <a:pPr marL="0" indent="0">
              <a:buNone/>
            </a:pPr>
            <a:r>
              <a:rPr lang="en-IE" sz="1600" dirty="0" err="1">
                <a:solidFill>
                  <a:srgbClr val="000089"/>
                </a:solidFill>
                <a:latin typeface="UbuntuMono-Regular"/>
              </a:rPr>
              <a:t>System</a:t>
            </a:r>
            <a:r>
              <a:rPr lang="en-IE" sz="1600" dirty="0" err="1">
                <a:solidFill>
                  <a:srgbClr val="555555"/>
                </a:solidFill>
                <a:latin typeface="UbuntuMono-Regular"/>
              </a:rPr>
              <a:t>.</a:t>
            </a:r>
            <a:r>
              <a:rPr lang="en-IE" sz="1600" dirty="0" err="1">
                <a:solidFill>
                  <a:srgbClr val="33009A"/>
                </a:solidFill>
                <a:latin typeface="UbuntuMono-Regular"/>
              </a:rPr>
              <a:t>out</a:t>
            </a:r>
            <a:r>
              <a:rPr lang="en-IE" sz="1600" dirty="0" err="1">
                <a:solidFill>
                  <a:srgbClr val="555555"/>
                </a:solidFill>
                <a:latin typeface="UbuntuMono-Regular"/>
              </a:rPr>
              <a:t>.</a:t>
            </a:r>
            <a:r>
              <a:rPr lang="en-IE" sz="1600" dirty="0" err="1">
                <a:solidFill>
                  <a:srgbClr val="33009A"/>
                </a:solidFill>
                <a:latin typeface="UbuntuMono-Regular"/>
              </a:rPr>
              <a:t>println</a:t>
            </a:r>
            <a:r>
              <a:rPr lang="en-IE" sz="1600" dirty="0">
                <a:solidFill>
                  <a:srgbClr val="555555"/>
                </a:solidFill>
                <a:latin typeface="UbuntuMono-Regular"/>
              </a:rPr>
              <a:t>(</a:t>
            </a:r>
            <a:r>
              <a:rPr lang="en-IE" sz="1600" dirty="0" err="1">
                <a:solidFill>
                  <a:srgbClr val="000089"/>
                </a:solidFill>
                <a:latin typeface="UbuntuMono-Regular"/>
              </a:rPr>
              <a:t>URLEncoder</a:t>
            </a:r>
            <a:r>
              <a:rPr lang="en-IE" sz="1600" dirty="0" err="1">
                <a:solidFill>
                  <a:srgbClr val="555555"/>
                </a:solidFill>
                <a:latin typeface="UbuntuMono-Regular"/>
              </a:rPr>
              <a:t>.</a:t>
            </a:r>
            <a:r>
              <a:rPr lang="en-IE" sz="1600" dirty="0" err="1">
                <a:solidFill>
                  <a:srgbClr val="33009A"/>
                </a:solidFill>
                <a:latin typeface="UbuntuMono-Regular"/>
              </a:rPr>
              <a:t>encode</a:t>
            </a:r>
            <a:r>
              <a:rPr lang="en-IE" sz="1600" dirty="0">
                <a:solidFill>
                  <a:srgbClr val="555555"/>
                </a:solidFill>
                <a:latin typeface="UbuntuMono-Regular"/>
              </a:rPr>
              <a:t>(</a:t>
            </a:r>
            <a:r>
              <a:rPr lang="en-IE" sz="1600" dirty="0">
                <a:solidFill>
                  <a:srgbClr val="CD3300"/>
                </a:solidFill>
                <a:latin typeface="UbuntuMono-Regular"/>
              </a:rPr>
              <a:t>"This:string:has:colons</a:t>
            </a:r>
            <a:r>
              <a:rPr lang="en-IE" sz="1600" dirty="0" smtClean="0">
                <a:solidFill>
                  <a:srgbClr val="CD3300"/>
                </a:solidFill>
                <a:latin typeface="UbuntuMono-Regular"/>
              </a:rPr>
              <a:t>"</a:t>
            </a:r>
            <a:r>
              <a:rPr lang="en-IE" sz="1600" dirty="0" smtClean="0">
                <a:solidFill>
                  <a:srgbClr val="555555"/>
                </a:solidFill>
                <a:latin typeface="UbuntuMono-Regular"/>
              </a:rPr>
              <a:t>,</a:t>
            </a:r>
            <a:r>
              <a:rPr lang="en-IE" sz="1600" dirty="0" smtClean="0">
                <a:solidFill>
                  <a:srgbClr val="CD3300"/>
                </a:solidFill>
                <a:latin typeface="UbuntuMono-Regular"/>
              </a:rPr>
              <a:t>"</a:t>
            </a:r>
            <a:r>
              <a:rPr lang="en-IE" sz="1600" dirty="0">
                <a:solidFill>
                  <a:srgbClr val="CD3300"/>
                </a:solidFill>
                <a:latin typeface="UbuntuMono-Regular"/>
              </a:rPr>
              <a:t>UTF-8"</a:t>
            </a:r>
            <a:r>
              <a:rPr lang="en-IE" sz="1600" dirty="0">
                <a:solidFill>
                  <a:srgbClr val="555555"/>
                </a:solidFill>
                <a:latin typeface="UbuntuMono-Regular"/>
              </a:rPr>
              <a:t>));</a:t>
            </a:r>
          </a:p>
          <a:p>
            <a:pPr marL="0" indent="0">
              <a:buNone/>
            </a:pPr>
            <a:r>
              <a:rPr lang="en-IE" sz="1600" dirty="0" err="1">
                <a:solidFill>
                  <a:srgbClr val="000089"/>
                </a:solidFill>
                <a:latin typeface="UbuntuMono-Regular"/>
              </a:rPr>
              <a:t>System</a:t>
            </a:r>
            <a:r>
              <a:rPr lang="en-IE" sz="1600" dirty="0" err="1">
                <a:solidFill>
                  <a:srgbClr val="555555"/>
                </a:solidFill>
                <a:latin typeface="UbuntuMono-Regular"/>
              </a:rPr>
              <a:t>.</a:t>
            </a:r>
            <a:r>
              <a:rPr lang="en-IE" sz="1600" dirty="0" err="1">
                <a:solidFill>
                  <a:srgbClr val="33009A"/>
                </a:solidFill>
                <a:latin typeface="UbuntuMono-Regular"/>
              </a:rPr>
              <a:t>out</a:t>
            </a:r>
            <a:r>
              <a:rPr lang="en-IE" sz="1600" dirty="0" err="1">
                <a:solidFill>
                  <a:srgbClr val="555555"/>
                </a:solidFill>
                <a:latin typeface="UbuntuMono-Regular"/>
              </a:rPr>
              <a:t>.</a:t>
            </a:r>
            <a:r>
              <a:rPr lang="en-IE" sz="1600" dirty="0" err="1">
                <a:solidFill>
                  <a:srgbClr val="33009A"/>
                </a:solidFill>
                <a:latin typeface="UbuntuMono-Regular"/>
              </a:rPr>
              <a:t>println</a:t>
            </a:r>
            <a:r>
              <a:rPr lang="en-IE" sz="1600" dirty="0">
                <a:solidFill>
                  <a:srgbClr val="555555"/>
                </a:solidFill>
                <a:latin typeface="UbuntuMono-Regular"/>
              </a:rPr>
              <a:t>(</a:t>
            </a:r>
            <a:r>
              <a:rPr lang="en-IE" sz="1600" dirty="0" err="1">
                <a:solidFill>
                  <a:srgbClr val="000089"/>
                </a:solidFill>
                <a:latin typeface="UbuntuMono-Regular"/>
              </a:rPr>
              <a:t>URLEncoder</a:t>
            </a:r>
            <a:r>
              <a:rPr lang="en-IE" sz="1600" dirty="0" err="1">
                <a:solidFill>
                  <a:srgbClr val="555555"/>
                </a:solidFill>
                <a:latin typeface="UbuntuMono-Regular"/>
              </a:rPr>
              <a:t>.</a:t>
            </a:r>
            <a:r>
              <a:rPr lang="en-IE" sz="1600" dirty="0" err="1">
                <a:solidFill>
                  <a:srgbClr val="33009A"/>
                </a:solidFill>
                <a:latin typeface="UbuntuMono-Regular"/>
              </a:rPr>
              <a:t>encode</a:t>
            </a:r>
            <a:r>
              <a:rPr lang="en-IE" sz="1600" dirty="0">
                <a:solidFill>
                  <a:srgbClr val="555555"/>
                </a:solidFill>
                <a:latin typeface="UbuntuMono-Regular"/>
              </a:rPr>
              <a:t>(</a:t>
            </a:r>
            <a:r>
              <a:rPr lang="en-IE" sz="1600" dirty="0">
                <a:solidFill>
                  <a:srgbClr val="CD3300"/>
                </a:solidFill>
                <a:latin typeface="UbuntuMono-Regular"/>
              </a:rPr>
              <a:t>"This~string~has~tildes</a:t>
            </a:r>
            <a:r>
              <a:rPr lang="en-IE" sz="1600" dirty="0" smtClean="0">
                <a:solidFill>
                  <a:srgbClr val="CD3300"/>
                </a:solidFill>
                <a:latin typeface="UbuntuMono-Regular"/>
              </a:rPr>
              <a:t>"</a:t>
            </a:r>
            <a:r>
              <a:rPr lang="en-IE" sz="1600" dirty="0" smtClean="0">
                <a:solidFill>
                  <a:srgbClr val="555555"/>
                </a:solidFill>
                <a:latin typeface="UbuntuMono-Regular"/>
              </a:rPr>
              <a:t>,</a:t>
            </a:r>
            <a:r>
              <a:rPr lang="en-IE" sz="1600" dirty="0" smtClean="0">
                <a:solidFill>
                  <a:srgbClr val="CD3300"/>
                </a:solidFill>
                <a:latin typeface="UbuntuMono-Regular"/>
              </a:rPr>
              <a:t>"</a:t>
            </a:r>
            <a:r>
              <a:rPr lang="en-IE" sz="1600" dirty="0">
                <a:solidFill>
                  <a:srgbClr val="CD3300"/>
                </a:solidFill>
                <a:latin typeface="UbuntuMono-Regular"/>
              </a:rPr>
              <a:t>UTF-8"</a:t>
            </a:r>
            <a:r>
              <a:rPr lang="en-IE" sz="1600" dirty="0">
                <a:solidFill>
                  <a:srgbClr val="555555"/>
                </a:solidFill>
                <a:latin typeface="UbuntuMono-Regular"/>
              </a:rPr>
              <a:t>));</a:t>
            </a:r>
          </a:p>
          <a:p>
            <a:pPr marL="0" indent="0">
              <a:buNone/>
            </a:pPr>
            <a:r>
              <a:rPr lang="en-IE" sz="1600" dirty="0" err="1">
                <a:solidFill>
                  <a:srgbClr val="000089"/>
                </a:solidFill>
                <a:latin typeface="UbuntuMono-Regular"/>
              </a:rPr>
              <a:t>System</a:t>
            </a:r>
            <a:r>
              <a:rPr lang="en-IE" sz="1600" dirty="0" err="1">
                <a:solidFill>
                  <a:srgbClr val="555555"/>
                </a:solidFill>
                <a:latin typeface="UbuntuMono-Regular"/>
              </a:rPr>
              <a:t>.</a:t>
            </a:r>
            <a:r>
              <a:rPr lang="en-IE" sz="1600" dirty="0" err="1">
                <a:solidFill>
                  <a:srgbClr val="33009A"/>
                </a:solidFill>
                <a:latin typeface="UbuntuMono-Regular"/>
              </a:rPr>
              <a:t>out</a:t>
            </a:r>
            <a:r>
              <a:rPr lang="en-IE" sz="1600" dirty="0" err="1">
                <a:solidFill>
                  <a:srgbClr val="555555"/>
                </a:solidFill>
                <a:latin typeface="UbuntuMono-Regular"/>
              </a:rPr>
              <a:t>.</a:t>
            </a:r>
            <a:r>
              <a:rPr lang="en-IE" sz="1600" dirty="0" err="1">
                <a:solidFill>
                  <a:srgbClr val="33009A"/>
                </a:solidFill>
                <a:latin typeface="UbuntuMono-Regular"/>
              </a:rPr>
              <a:t>println</a:t>
            </a:r>
            <a:r>
              <a:rPr lang="en-IE" sz="1600" dirty="0">
                <a:solidFill>
                  <a:srgbClr val="555555"/>
                </a:solidFill>
                <a:latin typeface="UbuntuMono-Regular"/>
              </a:rPr>
              <a:t>(</a:t>
            </a:r>
            <a:r>
              <a:rPr lang="en-IE" sz="1600" dirty="0" err="1">
                <a:solidFill>
                  <a:srgbClr val="000089"/>
                </a:solidFill>
                <a:latin typeface="UbuntuMono-Regular"/>
              </a:rPr>
              <a:t>URLEncoder</a:t>
            </a:r>
            <a:r>
              <a:rPr lang="en-IE" sz="1600" dirty="0" err="1">
                <a:solidFill>
                  <a:srgbClr val="555555"/>
                </a:solidFill>
                <a:latin typeface="UbuntuMono-Regular"/>
              </a:rPr>
              <a:t>.</a:t>
            </a:r>
            <a:r>
              <a:rPr lang="en-IE" sz="1600" dirty="0" err="1">
                <a:solidFill>
                  <a:srgbClr val="33009A"/>
                </a:solidFill>
                <a:latin typeface="UbuntuMono-Regular"/>
              </a:rPr>
              <a:t>encode</a:t>
            </a:r>
            <a:r>
              <a:rPr lang="en-IE" sz="1600" dirty="0">
                <a:solidFill>
                  <a:srgbClr val="555555"/>
                </a:solidFill>
                <a:latin typeface="UbuntuMono-Regular"/>
              </a:rPr>
              <a:t>(</a:t>
            </a:r>
            <a:r>
              <a:rPr lang="en-IE" sz="1600" dirty="0">
                <a:solidFill>
                  <a:srgbClr val="CD3300"/>
                </a:solidFill>
                <a:latin typeface="UbuntuMono-Regular"/>
              </a:rPr>
              <a:t>"This(string)has(parentheses</a:t>
            </a:r>
            <a:r>
              <a:rPr lang="en-IE" sz="1600" dirty="0" smtClean="0">
                <a:solidFill>
                  <a:srgbClr val="CD3300"/>
                </a:solidFill>
                <a:latin typeface="UbuntuMono-Regular"/>
              </a:rPr>
              <a:t>)"</a:t>
            </a:r>
            <a:r>
              <a:rPr lang="en-IE" sz="1600" dirty="0" smtClean="0">
                <a:solidFill>
                  <a:srgbClr val="555555"/>
                </a:solidFill>
                <a:latin typeface="UbuntuMono-Regular"/>
              </a:rPr>
              <a:t>,</a:t>
            </a:r>
            <a:r>
              <a:rPr lang="en-IE" sz="1600" dirty="0" smtClean="0">
                <a:solidFill>
                  <a:srgbClr val="CD3300"/>
                </a:solidFill>
                <a:latin typeface="UbuntuMono-Regular"/>
              </a:rPr>
              <a:t>"</a:t>
            </a:r>
            <a:r>
              <a:rPr lang="en-IE" sz="1600" dirty="0">
                <a:solidFill>
                  <a:srgbClr val="CD3300"/>
                </a:solidFill>
                <a:latin typeface="UbuntuMono-Regular"/>
              </a:rPr>
              <a:t>UTF-8"</a:t>
            </a:r>
            <a:r>
              <a:rPr lang="en-IE" sz="1600" dirty="0">
                <a:solidFill>
                  <a:srgbClr val="555555"/>
                </a:solidFill>
                <a:latin typeface="UbuntuMono-Regular"/>
              </a:rPr>
              <a:t>));</a:t>
            </a:r>
          </a:p>
          <a:p>
            <a:pPr marL="0" indent="0">
              <a:buNone/>
            </a:pPr>
            <a:r>
              <a:rPr lang="en-IE" sz="1600" dirty="0" err="1">
                <a:solidFill>
                  <a:srgbClr val="000089"/>
                </a:solidFill>
                <a:latin typeface="UbuntuMono-Regular"/>
              </a:rPr>
              <a:t>System</a:t>
            </a:r>
            <a:r>
              <a:rPr lang="en-IE" sz="1600" dirty="0" err="1">
                <a:solidFill>
                  <a:srgbClr val="555555"/>
                </a:solidFill>
                <a:latin typeface="UbuntuMono-Regular"/>
              </a:rPr>
              <a:t>.</a:t>
            </a:r>
            <a:r>
              <a:rPr lang="en-IE" sz="1600" dirty="0" err="1">
                <a:solidFill>
                  <a:srgbClr val="33009A"/>
                </a:solidFill>
                <a:latin typeface="UbuntuMono-Regular"/>
              </a:rPr>
              <a:t>out</a:t>
            </a:r>
            <a:r>
              <a:rPr lang="en-IE" sz="1600" dirty="0" err="1">
                <a:solidFill>
                  <a:srgbClr val="555555"/>
                </a:solidFill>
                <a:latin typeface="UbuntuMono-Regular"/>
              </a:rPr>
              <a:t>.</a:t>
            </a:r>
            <a:r>
              <a:rPr lang="en-IE" sz="1600" dirty="0" err="1">
                <a:solidFill>
                  <a:srgbClr val="33009A"/>
                </a:solidFill>
                <a:latin typeface="UbuntuMono-Regular"/>
              </a:rPr>
              <a:t>println</a:t>
            </a:r>
            <a:r>
              <a:rPr lang="en-IE" sz="1600" dirty="0">
                <a:solidFill>
                  <a:srgbClr val="555555"/>
                </a:solidFill>
                <a:latin typeface="UbuntuMono-Regular"/>
              </a:rPr>
              <a:t>(</a:t>
            </a:r>
            <a:r>
              <a:rPr lang="en-IE" sz="1600" dirty="0" err="1">
                <a:solidFill>
                  <a:srgbClr val="000089"/>
                </a:solidFill>
                <a:latin typeface="UbuntuMono-Regular"/>
              </a:rPr>
              <a:t>URLEncoder</a:t>
            </a:r>
            <a:r>
              <a:rPr lang="en-IE" sz="1600" dirty="0" err="1">
                <a:solidFill>
                  <a:srgbClr val="555555"/>
                </a:solidFill>
                <a:latin typeface="UbuntuMono-Regular"/>
              </a:rPr>
              <a:t>.</a:t>
            </a:r>
            <a:r>
              <a:rPr lang="en-IE" sz="1600" dirty="0" err="1">
                <a:solidFill>
                  <a:srgbClr val="33009A"/>
                </a:solidFill>
                <a:latin typeface="UbuntuMono-Regular"/>
              </a:rPr>
              <a:t>encode</a:t>
            </a:r>
            <a:r>
              <a:rPr lang="en-IE" sz="1600" dirty="0">
                <a:solidFill>
                  <a:srgbClr val="555555"/>
                </a:solidFill>
                <a:latin typeface="UbuntuMono-Regular"/>
              </a:rPr>
              <a:t>(</a:t>
            </a:r>
            <a:r>
              <a:rPr lang="en-IE" sz="1600" dirty="0">
                <a:solidFill>
                  <a:srgbClr val="CD3300"/>
                </a:solidFill>
                <a:latin typeface="UbuntuMono-Regular"/>
              </a:rPr>
              <a:t>"This.string.has.periods</a:t>
            </a:r>
            <a:r>
              <a:rPr lang="en-IE" sz="1600" dirty="0" smtClean="0">
                <a:solidFill>
                  <a:srgbClr val="CD3300"/>
                </a:solidFill>
                <a:latin typeface="UbuntuMono-Regular"/>
              </a:rPr>
              <a:t>"</a:t>
            </a:r>
            <a:r>
              <a:rPr lang="en-IE" sz="1600" dirty="0" smtClean="0">
                <a:solidFill>
                  <a:srgbClr val="555555"/>
                </a:solidFill>
                <a:latin typeface="UbuntuMono-Regular"/>
              </a:rPr>
              <a:t>,</a:t>
            </a:r>
            <a:r>
              <a:rPr lang="en-IE" sz="1600" dirty="0" smtClean="0">
                <a:solidFill>
                  <a:srgbClr val="CD3300"/>
                </a:solidFill>
                <a:latin typeface="UbuntuMono-Regular"/>
              </a:rPr>
              <a:t>"</a:t>
            </a:r>
            <a:r>
              <a:rPr lang="en-IE" sz="1600" dirty="0">
                <a:solidFill>
                  <a:srgbClr val="CD3300"/>
                </a:solidFill>
                <a:latin typeface="UbuntuMono-Regular"/>
              </a:rPr>
              <a:t>UTF-8"</a:t>
            </a:r>
            <a:r>
              <a:rPr lang="en-IE" sz="1600" dirty="0">
                <a:solidFill>
                  <a:srgbClr val="555555"/>
                </a:solidFill>
                <a:latin typeface="UbuntuMono-Regular"/>
              </a:rPr>
              <a:t>));</a:t>
            </a:r>
          </a:p>
          <a:p>
            <a:pPr marL="0" indent="0">
              <a:buNone/>
            </a:pPr>
            <a:r>
              <a:rPr lang="en-IE" sz="1600" dirty="0" err="1">
                <a:solidFill>
                  <a:srgbClr val="000089"/>
                </a:solidFill>
                <a:latin typeface="UbuntuMono-Regular"/>
              </a:rPr>
              <a:t>System</a:t>
            </a:r>
            <a:r>
              <a:rPr lang="en-IE" sz="1600" dirty="0" err="1">
                <a:solidFill>
                  <a:srgbClr val="555555"/>
                </a:solidFill>
                <a:latin typeface="UbuntuMono-Regular"/>
              </a:rPr>
              <a:t>.</a:t>
            </a:r>
            <a:r>
              <a:rPr lang="en-IE" sz="1600" dirty="0" err="1">
                <a:solidFill>
                  <a:srgbClr val="33009A"/>
                </a:solidFill>
                <a:latin typeface="UbuntuMono-Regular"/>
              </a:rPr>
              <a:t>out</a:t>
            </a:r>
            <a:r>
              <a:rPr lang="en-IE" sz="1600" dirty="0" err="1">
                <a:solidFill>
                  <a:srgbClr val="555555"/>
                </a:solidFill>
                <a:latin typeface="UbuntuMono-Regular"/>
              </a:rPr>
              <a:t>.</a:t>
            </a:r>
            <a:r>
              <a:rPr lang="en-IE" sz="1600" dirty="0" err="1">
                <a:solidFill>
                  <a:srgbClr val="33009A"/>
                </a:solidFill>
                <a:latin typeface="UbuntuMono-Regular"/>
              </a:rPr>
              <a:t>println</a:t>
            </a:r>
            <a:r>
              <a:rPr lang="en-IE" sz="1600" dirty="0">
                <a:solidFill>
                  <a:srgbClr val="555555"/>
                </a:solidFill>
                <a:latin typeface="UbuntuMono-Regular"/>
              </a:rPr>
              <a:t>(</a:t>
            </a:r>
            <a:r>
              <a:rPr lang="en-IE" sz="1600" dirty="0" err="1">
                <a:solidFill>
                  <a:srgbClr val="000089"/>
                </a:solidFill>
                <a:latin typeface="UbuntuMono-Regular"/>
              </a:rPr>
              <a:t>URLEncoder</a:t>
            </a:r>
            <a:r>
              <a:rPr lang="en-IE" sz="1600" dirty="0" err="1">
                <a:solidFill>
                  <a:srgbClr val="555555"/>
                </a:solidFill>
                <a:latin typeface="UbuntuMono-Regular"/>
              </a:rPr>
              <a:t>.</a:t>
            </a:r>
            <a:r>
              <a:rPr lang="en-IE" sz="1600" dirty="0" err="1">
                <a:solidFill>
                  <a:srgbClr val="33009A"/>
                </a:solidFill>
                <a:latin typeface="UbuntuMono-Regular"/>
              </a:rPr>
              <a:t>encode</a:t>
            </a:r>
            <a:r>
              <a:rPr lang="en-IE" sz="1600" dirty="0">
                <a:solidFill>
                  <a:srgbClr val="555555"/>
                </a:solidFill>
                <a:latin typeface="UbuntuMono-Regular"/>
              </a:rPr>
              <a:t>(</a:t>
            </a:r>
            <a:r>
              <a:rPr lang="en-IE" sz="1600" dirty="0">
                <a:solidFill>
                  <a:srgbClr val="CD3300"/>
                </a:solidFill>
                <a:latin typeface="UbuntuMono-Regular"/>
              </a:rPr>
              <a:t>"This=string=has=equals=signs</a:t>
            </a:r>
            <a:r>
              <a:rPr lang="en-IE" sz="1600" dirty="0" smtClean="0">
                <a:solidFill>
                  <a:srgbClr val="CD3300"/>
                </a:solidFill>
                <a:latin typeface="UbuntuMono-Regular"/>
              </a:rPr>
              <a:t>"</a:t>
            </a:r>
            <a:r>
              <a:rPr lang="en-IE" sz="1600" dirty="0" smtClean="0">
                <a:solidFill>
                  <a:srgbClr val="555555"/>
                </a:solidFill>
                <a:latin typeface="UbuntuMono-Regular"/>
              </a:rPr>
              <a:t>,</a:t>
            </a:r>
            <a:r>
              <a:rPr lang="en-IE" sz="1600" dirty="0" smtClean="0">
                <a:solidFill>
                  <a:srgbClr val="CD3300"/>
                </a:solidFill>
                <a:latin typeface="UbuntuMono-Regular"/>
              </a:rPr>
              <a:t>"</a:t>
            </a:r>
            <a:r>
              <a:rPr lang="en-IE" sz="1600" dirty="0">
                <a:solidFill>
                  <a:srgbClr val="CD3300"/>
                </a:solidFill>
                <a:latin typeface="UbuntuMono-Regular"/>
              </a:rPr>
              <a:t>UTF-8"</a:t>
            </a:r>
            <a:r>
              <a:rPr lang="en-IE" sz="1600" dirty="0">
                <a:solidFill>
                  <a:srgbClr val="555555"/>
                </a:solidFill>
                <a:latin typeface="UbuntuMono-Regular"/>
              </a:rPr>
              <a:t>));</a:t>
            </a:r>
          </a:p>
          <a:p>
            <a:pPr marL="0" indent="0">
              <a:buNone/>
            </a:pPr>
            <a:r>
              <a:rPr lang="en-IE" sz="1600" dirty="0" err="1">
                <a:solidFill>
                  <a:srgbClr val="000089"/>
                </a:solidFill>
                <a:latin typeface="UbuntuMono-Regular"/>
              </a:rPr>
              <a:t>System</a:t>
            </a:r>
            <a:r>
              <a:rPr lang="en-IE" sz="1600" dirty="0" err="1">
                <a:solidFill>
                  <a:srgbClr val="555555"/>
                </a:solidFill>
                <a:latin typeface="UbuntuMono-Regular"/>
              </a:rPr>
              <a:t>.</a:t>
            </a:r>
            <a:r>
              <a:rPr lang="en-IE" sz="1600" dirty="0" err="1">
                <a:solidFill>
                  <a:srgbClr val="33009A"/>
                </a:solidFill>
                <a:latin typeface="UbuntuMono-Regular"/>
              </a:rPr>
              <a:t>out</a:t>
            </a:r>
            <a:r>
              <a:rPr lang="en-IE" sz="1600" dirty="0" err="1">
                <a:solidFill>
                  <a:srgbClr val="555555"/>
                </a:solidFill>
                <a:latin typeface="UbuntuMono-Regular"/>
              </a:rPr>
              <a:t>.</a:t>
            </a:r>
            <a:r>
              <a:rPr lang="en-IE" sz="1600" dirty="0" err="1">
                <a:solidFill>
                  <a:srgbClr val="33009A"/>
                </a:solidFill>
                <a:latin typeface="UbuntuMono-Regular"/>
              </a:rPr>
              <a:t>println</a:t>
            </a:r>
            <a:r>
              <a:rPr lang="en-IE" sz="1600" dirty="0">
                <a:solidFill>
                  <a:srgbClr val="555555"/>
                </a:solidFill>
                <a:latin typeface="UbuntuMono-Regular"/>
              </a:rPr>
              <a:t>(</a:t>
            </a:r>
            <a:r>
              <a:rPr lang="en-IE" sz="1600" dirty="0" err="1">
                <a:solidFill>
                  <a:srgbClr val="000089"/>
                </a:solidFill>
                <a:latin typeface="UbuntuMono-Regular"/>
              </a:rPr>
              <a:t>URLEncoder</a:t>
            </a:r>
            <a:r>
              <a:rPr lang="en-IE" sz="1600" dirty="0" err="1">
                <a:solidFill>
                  <a:srgbClr val="555555"/>
                </a:solidFill>
                <a:latin typeface="UbuntuMono-Regular"/>
              </a:rPr>
              <a:t>.</a:t>
            </a:r>
            <a:r>
              <a:rPr lang="en-IE" sz="1600" dirty="0" err="1">
                <a:solidFill>
                  <a:srgbClr val="33009A"/>
                </a:solidFill>
                <a:latin typeface="UbuntuMono-Regular"/>
              </a:rPr>
              <a:t>encode</a:t>
            </a:r>
            <a:r>
              <a:rPr lang="en-IE" sz="1600" dirty="0">
                <a:solidFill>
                  <a:srgbClr val="555555"/>
                </a:solidFill>
                <a:latin typeface="UbuntuMono-Regular"/>
              </a:rPr>
              <a:t>(</a:t>
            </a:r>
            <a:r>
              <a:rPr lang="en-IE" sz="1600" dirty="0">
                <a:solidFill>
                  <a:srgbClr val="CD3300"/>
                </a:solidFill>
                <a:latin typeface="UbuntuMono-Regular"/>
              </a:rPr>
              <a:t>"This&amp;string&amp;has&amp;ampersands</a:t>
            </a:r>
            <a:r>
              <a:rPr lang="en-IE" sz="1600" dirty="0" smtClean="0">
                <a:solidFill>
                  <a:srgbClr val="CD3300"/>
                </a:solidFill>
                <a:latin typeface="UbuntuMono-Regular"/>
              </a:rPr>
              <a:t>"</a:t>
            </a:r>
            <a:r>
              <a:rPr lang="en-IE" sz="1600" dirty="0" smtClean="0">
                <a:solidFill>
                  <a:srgbClr val="555555"/>
                </a:solidFill>
                <a:latin typeface="UbuntuMono-Regular"/>
              </a:rPr>
              <a:t>,</a:t>
            </a:r>
            <a:r>
              <a:rPr lang="en-IE" sz="1600" dirty="0" smtClean="0">
                <a:solidFill>
                  <a:srgbClr val="CD3300"/>
                </a:solidFill>
                <a:latin typeface="UbuntuMono-Regular"/>
              </a:rPr>
              <a:t>"</a:t>
            </a:r>
            <a:r>
              <a:rPr lang="en-IE" sz="1600" dirty="0">
                <a:solidFill>
                  <a:srgbClr val="CD3300"/>
                </a:solidFill>
                <a:latin typeface="UbuntuMono-Regular"/>
              </a:rPr>
              <a:t>UTF-8"</a:t>
            </a:r>
            <a:r>
              <a:rPr lang="en-IE" sz="1600" dirty="0">
                <a:solidFill>
                  <a:srgbClr val="555555"/>
                </a:solidFill>
                <a:latin typeface="UbuntuMono-Regular"/>
              </a:rPr>
              <a:t>));</a:t>
            </a:r>
          </a:p>
          <a:p>
            <a:pPr marL="0" indent="0">
              <a:buNone/>
            </a:pPr>
            <a:r>
              <a:rPr lang="en-IE" sz="1600" dirty="0" err="1">
                <a:solidFill>
                  <a:srgbClr val="000089"/>
                </a:solidFill>
                <a:latin typeface="UbuntuMono-Regular"/>
              </a:rPr>
              <a:t>System</a:t>
            </a:r>
            <a:r>
              <a:rPr lang="en-IE" sz="1600" dirty="0" err="1">
                <a:solidFill>
                  <a:srgbClr val="555555"/>
                </a:solidFill>
                <a:latin typeface="UbuntuMono-Regular"/>
              </a:rPr>
              <a:t>.</a:t>
            </a:r>
            <a:r>
              <a:rPr lang="en-IE" sz="1600" dirty="0" err="1">
                <a:solidFill>
                  <a:srgbClr val="33009A"/>
                </a:solidFill>
                <a:latin typeface="UbuntuMono-Regular"/>
              </a:rPr>
              <a:t>out</a:t>
            </a:r>
            <a:r>
              <a:rPr lang="en-IE" sz="1600" dirty="0" err="1">
                <a:solidFill>
                  <a:srgbClr val="555555"/>
                </a:solidFill>
                <a:latin typeface="UbuntuMono-Regular"/>
              </a:rPr>
              <a:t>.</a:t>
            </a:r>
            <a:r>
              <a:rPr lang="en-IE" sz="1600" dirty="0" err="1">
                <a:solidFill>
                  <a:srgbClr val="33009A"/>
                </a:solidFill>
                <a:latin typeface="UbuntuMono-Regular"/>
              </a:rPr>
              <a:t>println</a:t>
            </a:r>
            <a:r>
              <a:rPr lang="en-IE" sz="1600" dirty="0">
                <a:solidFill>
                  <a:srgbClr val="555555"/>
                </a:solidFill>
                <a:latin typeface="UbuntuMono-Regular"/>
              </a:rPr>
              <a:t>(</a:t>
            </a:r>
            <a:r>
              <a:rPr lang="en-IE" sz="1600" dirty="0" err="1">
                <a:solidFill>
                  <a:srgbClr val="000089"/>
                </a:solidFill>
                <a:latin typeface="UbuntuMono-Regular"/>
              </a:rPr>
              <a:t>URLEncoder</a:t>
            </a:r>
            <a:r>
              <a:rPr lang="en-IE" sz="1600" dirty="0" err="1">
                <a:solidFill>
                  <a:srgbClr val="555555"/>
                </a:solidFill>
                <a:latin typeface="UbuntuMono-Regular"/>
              </a:rPr>
              <a:t>.</a:t>
            </a:r>
            <a:r>
              <a:rPr lang="en-IE" sz="1600" dirty="0" err="1">
                <a:solidFill>
                  <a:srgbClr val="33009A"/>
                </a:solidFill>
                <a:latin typeface="UbuntuMono-Regular"/>
              </a:rPr>
              <a:t>encode</a:t>
            </a:r>
            <a:r>
              <a:rPr lang="en-IE" sz="1600" dirty="0">
                <a:solidFill>
                  <a:srgbClr val="555555"/>
                </a:solidFill>
                <a:latin typeface="UbuntuMono-Regular"/>
              </a:rPr>
              <a:t>(</a:t>
            </a:r>
            <a:r>
              <a:rPr lang="en-IE" sz="1600" dirty="0">
                <a:solidFill>
                  <a:srgbClr val="CD3300"/>
                </a:solidFill>
                <a:latin typeface="UbuntuMono-Regular"/>
              </a:rPr>
              <a:t>"</a:t>
            </a:r>
            <a:r>
              <a:rPr lang="en-IE" sz="1600" dirty="0" err="1" smtClean="0">
                <a:solidFill>
                  <a:srgbClr val="CD3300"/>
                </a:solidFill>
                <a:latin typeface="UbuntuMono-Regular"/>
              </a:rPr>
              <a:t>Thiséstringéhasénon</a:t>
            </a:r>
            <a:r>
              <a:rPr lang="en-IE" sz="1600" dirty="0" smtClean="0">
                <a:solidFill>
                  <a:srgbClr val="CD3300"/>
                </a:solidFill>
                <a:latin typeface="UbuntuMono-Regular"/>
              </a:rPr>
              <a:t>-ASCII </a:t>
            </a:r>
            <a:r>
              <a:rPr lang="en-IE" sz="1600" dirty="0">
                <a:solidFill>
                  <a:srgbClr val="CD3300"/>
                </a:solidFill>
                <a:latin typeface="UbuntuMono-Regular"/>
              </a:rPr>
              <a:t>characters"</a:t>
            </a:r>
            <a:r>
              <a:rPr lang="en-IE" sz="1600" dirty="0">
                <a:solidFill>
                  <a:srgbClr val="555555"/>
                </a:solidFill>
                <a:latin typeface="UbuntuMono-Regular"/>
              </a:rPr>
              <a:t>, </a:t>
            </a:r>
            <a:r>
              <a:rPr lang="en-IE" sz="1600" dirty="0">
                <a:solidFill>
                  <a:srgbClr val="CD3300"/>
                </a:solidFill>
                <a:latin typeface="UbuntuMono-Regular"/>
              </a:rPr>
              <a:t>"UTF-8"</a:t>
            </a:r>
            <a:r>
              <a:rPr lang="en-IE" sz="1600" dirty="0">
                <a:solidFill>
                  <a:srgbClr val="555555"/>
                </a:solidFill>
                <a:latin typeface="UbuntuMono-Regular"/>
              </a:rPr>
              <a:t>));</a:t>
            </a:r>
          </a:p>
          <a:p>
            <a:pPr marL="0" indent="0">
              <a:buNone/>
            </a:pPr>
            <a:r>
              <a:rPr lang="en-IE" sz="1600" dirty="0">
                <a:solidFill>
                  <a:srgbClr val="555555"/>
                </a:solidFill>
                <a:latin typeface="UbuntuMono-Regular"/>
              </a:rPr>
              <a:t>} </a:t>
            </a:r>
            <a:r>
              <a:rPr lang="en-IE" sz="1600" b="1" dirty="0">
                <a:solidFill>
                  <a:srgbClr val="00669A"/>
                </a:solidFill>
                <a:latin typeface="UbuntuMono-Bold"/>
              </a:rPr>
              <a:t>catch </a:t>
            </a:r>
            <a:r>
              <a:rPr lang="en-IE" sz="1600" dirty="0">
                <a:solidFill>
                  <a:srgbClr val="555555"/>
                </a:solidFill>
                <a:latin typeface="UbuntuMono-Regular"/>
              </a:rPr>
              <a:t>(</a:t>
            </a:r>
            <a:r>
              <a:rPr lang="en-IE" sz="1600" dirty="0" err="1">
                <a:solidFill>
                  <a:srgbClr val="000089"/>
                </a:solidFill>
                <a:latin typeface="UbuntuMono-Regular"/>
              </a:rPr>
              <a:t>UnsupportedEncodingException</a:t>
            </a:r>
            <a:r>
              <a:rPr lang="en-IE" sz="1600" dirty="0">
                <a:solidFill>
                  <a:srgbClr val="000089"/>
                </a:solidFill>
                <a:latin typeface="UbuntuMono-Regular"/>
              </a:rPr>
              <a:t> ex</a:t>
            </a:r>
            <a:r>
              <a:rPr lang="en-IE" sz="1600" dirty="0">
                <a:solidFill>
                  <a:srgbClr val="555555"/>
                </a:solidFill>
                <a:latin typeface="UbuntuMono-Regular"/>
              </a:rPr>
              <a:t>) {</a:t>
            </a:r>
          </a:p>
          <a:p>
            <a:pPr marL="0" indent="0">
              <a:buNone/>
            </a:pPr>
            <a:r>
              <a:rPr lang="en-IE" sz="1600" b="1" dirty="0">
                <a:solidFill>
                  <a:srgbClr val="00669A"/>
                </a:solidFill>
                <a:latin typeface="UbuntuMono-Bold"/>
              </a:rPr>
              <a:t>throw new </a:t>
            </a:r>
            <a:r>
              <a:rPr lang="en-IE" sz="1600" dirty="0" err="1">
                <a:solidFill>
                  <a:srgbClr val="CD00FF"/>
                </a:solidFill>
                <a:latin typeface="UbuntuMono-Regular"/>
              </a:rPr>
              <a:t>RuntimeException</a:t>
            </a:r>
            <a:r>
              <a:rPr lang="en-IE" sz="1600" dirty="0">
                <a:solidFill>
                  <a:srgbClr val="555555"/>
                </a:solidFill>
                <a:latin typeface="UbuntuMono-Regular"/>
              </a:rPr>
              <a:t>(</a:t>
            </a:r>
            <a:r>
              <a:rPr lang="en-IE" sz="1600" dirty="0">
                <a:solidFill>
                  <a:srgbClr val="CD3300"/>
                </a:solidFill>
                <a:latin typeface="UbuntuMono-Regular"/>
              </a:rPr>
              <a:t>"Broken VM does not support UTF-8</a:t>
            </a:r>
            <a:r>
              <a:rPr lang="en-IE" sz="1600" dirty="0" smtClean="0">
                <a:solidFill>
                  <a:srgbClr val="CD3300"/>
                </a:solidFill>
                <a:latin typeface="UbuntuMono-Regular"/>
              </a:rPr>
              <a:t>"</a:t>
            </a:r>
            <a:r>
              <a:rPr lang="en-IE" sz="1600" dirty="0" smtClean="0">
                <a:solidFill>
                  <a:srgbClr val="555555"/>
                </a:solidFill>
                <a:latin typeface="UbuntuMono-Regular"/>
              </a:rPr>
              <a:t>);}</a:t>
            </a:r>
            <a:endParaRPr lang="en-IE" sz="1600" dirty="0">
              <a:solidFill>
                <a:srgbClr val="555555"/>
              </a:solidFill>
              <a:latin typeface="UbuntuMono-Regular"/>
            </a:endParaRPr>
          </a:p>
          <a:p>
            <a:pPr marL="0" indent="0">
              <a:buNone/>
            </a:pPr>
            <a:r>
              <a:rPr lang="en-IE" sz="1600" dirty="0" smtClean="0">
                <a:solidFill>
                  <a:srgbClr val="555555"/>
                </a:solidFill>
                <a:latin typeface="UbuntuMono-Regular"/>
              </a:rPr>
              <a:t>}}</a:t>
            </a:r>
            <a:endParaRPr lang="en-IE" sz="1600" b="1" dirty="0">
              <a:solidFill>
                <a:srgbClr val="555555"/>
              </a:solidFill>
              <a:latin typeface="UbuntuMono-Regular"/>
            </a:endParaRPr>
          </a:p>
        </p:txBody>
      </p:sp>
    </p:spTree>
    <p:extLst>
      <p:ext uri="{BB962C8B-B14F-4D97-AF65-F5344CB8AC3E}">
        <p14:creationId xmlns:p14="http://schemas.microsoft.com/office/powerpoint/2010/main" val="122363833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39762"/>
          </a:xfrm>
        </p:spPr>
        <p:txBody>
          <a:bodyPr>
            <a:noAutofit/>
          </a:bodyPr>
          <a:lstStyle/>
          <a:p>
            <a:r>
              <a:rPr lang="en-IE" sz="2800" i="1" dirty="0"/>
              <a:t>x-www-form-</a:t>
            </a:r>
            <a:r>
              <a:rPr lang="en-IE" sz="2800" i="1" dirty="0" err="1"/>
              <a:t>urlencoded</a:t>
            </a:r>
            <a:r>
              <a:rPr lang="en-IE" sz="2800" i="1" dirty="0"/>
              <a:t> strings</a:t>
            </a:r>
            <a:endParaRPr lang="en-IE" sz="2800" b="1" dirty="0"/>
          </a:p>
        </p:txBody>
      </p:sp>
      <p:sp>
        <p:nvSpPr>
          <p:cNvPr id="3" name="Content Placeholder 2"/>
          <p:cNvSpPr>
            <a:spLocks noGrp="1"/>
          </p:cNvSpPr>
          <p:nvPr>
            <p:ph idx="1"/>
          </p:nvPr>
        </p:nvSpPr>
        <p:spPr>
          <a:xfrm>
            <a:off x="0" y="609600"/>
            <a:ext cx="9144000" cy="6248400"/>
          </a:xfrm>
        </p:spPr>
        <p:txBody>
          <a:bodyPr>
            <a:noAutofit/>
          </a:bodyPr>
          <a:lstStyle/>
          <a:p>
            <a:r>
              <a:rPr lang="en-IE" sz="1600" dirty="0">
                <a:solidFill>
                  <a:srgbClr val="000000"/>
                </a:solidFill>
                <a:latin typeface="MinionPro-Regular"/>
              </a:rPr>
              <a:t>Notice in particular that this method encodes the forward slash, the ampersand, </a:t>
            </a:r>
            <a:r>
              <a:rPr lang="en-IE" sz="1600" dirty="0" smtClean="0">
                <a:solidFill>
                  <a:srgbClr val="000000"/>
                </a:solidFill>
                <a:latin typeface="MinionPro-Regular"/>
              </a:rPr>
              <a:t>the equals </a:t>
            </a:r>
            <a:r>
              <a:rPr lang="en-IE" sz="1600" dirty="0">
                <a:solidFill>
                  <a:srgbClr val="000000"/>
                </a:solidFill>
                <a:latin typeface="MinionPro-Regular"/>
              </a:rPr>
              <a:t>sign, and the colon. It does not attempt to determine how these characters </a:t>
            </a:r>
            <a:r>
              <a:rPr lang="en-IE" sz="1600" dirty="0" smtClean="0">
                <a:solidFill>
                  <a:srgbClr val="000000"/>
                </a:solidFill>
                <a:latin typeface="MinionPro-Regular"/>
              </a:rPr>
              <a:t>are being </a:t>
            </a:r>
            <a:r>
              <a:rPr lang="en-IE" sz="1600" dirty="0">
                <a:solidFill>
                  <a:srgbClr val="000000"/>
                </a:solidFill>
                <a:latin typeface="MinionPro-Regular"/>
              </a:rPr>
              <a:t>used in a URL. </a:t>
            </a:r>
            <a:endParaRPr lang="en-IE" sz="1600" dirty="0" smtClean="0">
              <a:solidFill>
                <a:srgbClr val="000000"/>
              </a:solidFill>
              <a:latin typeface="MinionPro-Regular"/>
            </a:endParaRPr>
          </a:p>
          <a:p>
            <a:r>
              <a:rPr lang="en-IE" sz="1600" dirty="0" smtClean="0">
                <a:solidFill>
                  <a:srgbClr val="000000"/>
                </a:solidFill>
                <a:latin typeface="MinionPro-Regular"/>
              </a:rPr>
              <a:t>Consequently</a:t>
            </a:r>
            <a:r>
              <a:rPr lang="en-IE" sz="1600" dirty="0">
                <a:solidFill>
                  <a:srgbClr val="000000"/>
                </a:solidFill>
                <a:latin typeface="MinionPro-Regular"/>
              </a:rPr>
              <a:t>, you have to encode URLs piece by piece rather </a:t>
            </a:r>
            <a:r>
              <a:rPr lang="en-IE" sz="1600" dirty="0" smtClean="0">
                <a:solidFill>
                  <a:srgbClr val="000000"/>
                </a:solidFill>
                <a:latin typeface="MinionPro-Regular"/>
              </a:rPr>
              <a:t>than encoding </a:t>
            </a:r>
            <a:r>
              <a:rPr lang="en-IE" sz="1600" dirty="0">
                <a:solidFill>
                  <a:srgbClr val="000000"/>
                </a:solidFill>
                <a:latin typeface="MinionPro-Regular"/>
              </a:rPr>
              <a:t>an entire URL in one method call. </a:t>
            </a:r>
            <a:endParaRPr lang="en-IE" sz="1600" dirty="0" smtClean="0">
              <a:solidFill>
                <a:srgbClr val="000000"/>
              </a:solidFill>
              <a:latin typeface="MinionPro-Regular"/>
            </a:endParaRPr>
          </a:p>
          <a:p>
            <a:r>
              <a:rPr lang="en-IE" sz="1600" dirty="0" smtClean="0">
                <a:solidFill>
                  <a:srgbClr val="000000"/>
                </a:solidFill>
                <a:latin typeface="MinionPro-Regular"/>
              </a:rPr>
              <a:t>For </a:t>
            </a:r>
            <a:r>
              <a:rPr lang="en-IE" sz="1600" dirty="0">
                <a:solidFill>
                  <a:srgbClr val="000000"/>
                </a:solidFill>
                <a:latin typeface="MinionPro-Regular"/>
              </a:rPr>
              <a:t>example, suppose you want to encode this </a:t>
            </a:r>
            <a:r>
              <a:rPr lang="en-IE" sz="1600" dirty="0" smtClean="0">
                <a:solidFill>
                  <a:srgbClr val="000000"/>
                </a:solidFill>
                <a:latin typeface="MinionPro-Regular"/>
              </a:rPr>
              <a:t>URL for </a:t>
            </a:r>
            <a:r>
              <a:rPr lang="en-IE" sz="1600" dirty="0">
                <a:solidFill>
                  <a:srgbClr val="000000"/>
                </a:solidFill>
                <a:latin typeface="MinionPro-Regular"/>
              </a:rPr>
              <a:t>a Google search:</a:t>
            </a:r>
          </a:p>
          <a:p>
            <a:r>
              <a:rPr lang="en-IE" sz="1600" dirty="0">
                <a:solidFill>
                  <a:schemeClr val="tx2"/>
                </a:solidFill>
                <a:latin typeface="UbuntuMono-Regular"/>
              </a:rPr>
              <a:t>https://www.google.com/search?hl=en&amp;as_q=Java&amp;as_epq=I/O</a:t>
            </a:r>
          </a:p>
          <a:p>
            <a:r>
              <a:rPr lang="en-IE" sz="1600" dirty="0">
                <a:solidFill>
                  <a:srgbClr val="000000"/>
                </a:solidFill>
                <a:latin typeface="MinionPro-Regular"/>
              </a:rPr>
              <a:t>This code fragment encodes it:</a:t>
            </a:r>
          </a:p>
          <a:p>
            <a:r>
              <a:rPr lang="en-IE" sz="1200" dirty="0">
                <a:solidFill>
                  <a:srgbClr val="000089"/>
                </a:solidFill>
                <a:latin typeface="UbuntuMono-Regular"/>
              </a:rPr>
              <a:t>String query </a:t>
            </a:r>
            <a:r>
              <a:rPr lang="en-IE" sz="1200" dirty="0">
                <a:solidFill>
                  <a:srgbClr val="555555"/>
                </a:solidFill>
                <a:latin typeface="UbuntuMono-Regular"/>
              </a:rPr>
              <a:t>= </a:t>
            </a:r>
            <a:r>
              <a:rPr lang="en-IE" sz="1200" dirty="0" err="1">
                <a:solidFill>
                  <a:srgbClr val="000089"/>
                </a:solidFill>
                <a:latin typeface="UbuntuMono-Regular"/>
              </a:rPr>
              <a:t>URLEncoder</a:t>
            </a:r>
            <a:r>
              <a:rPr lang="en-IE" sz="1200" dirty="0" err="1">
                <a:solidFill>
                  <a:srgbClr val="555555"/>
                </a:solidFill>
                <a:latin typeface="UbuntuMono-Regular"/>
              </a:rPr>
              <a:t>.</a:t>
            </a:r>
            <a:r>
              <a:rPr lang="en-IE" sz="1200" dirty="0" err="1">
                <a:solidFill>
                  <a:srgbClr val="33009A"/>
                </a:solidFill>
                <a:latin typeface="UbuntuMono-Regular"/>
              </a:rPr>
              <a:t>encode</a:t>
            </a:r>
            <a:r>
              <a:rPr lang="en-IE" sz="1200" dirty="0" smtClean="0">
                <a:solidFill>
                  <a:srgbClr val="555555"/>
                </a:solidFill>
                <a:latin typeface="UbuntuMono-Regular"/>
              </a:rPr>
              <a:t>( </a:t>
            </a:r>
            <a:r>
              <a:rPr lang="en-IE" sz="1200" dirty="0" smtClean="0">
                <a:solidFill>
                  <a:srgbClr val="CD3300"/>
                </a:solidFill>
                <a:latin typeface="UbuntuMono-Regular"/>
              </a:rPr>
              <a:t>"</a:t>
            </a:r>
            <a:r>
              <a:rPr lang="en-IE" sz="1200" dirty="0">
                <a:solidFill>
                  <a:srgbClr val="CD3300"/>
                </a:solidFill>
                <a:latin typeface="UbuntuMono-Regular"/>
              </a:rPr>
              <a:t>https://www.google.com/search?hl=en&amp;as_q=Java&amp;as_epq=I/O"</a:t>
            </a:r>
            <a:r>
              <a:rPr lang="en-IE" sz="1200" dirty="0">
                <a:solidFill>
                  <a:srgbClr val="555555"/>
                </a:solidFill>
                <a:latin typeface="UbuntuMono-Regular"/>
              </a:rPr>
              <a:t>, </a:t>
            </a:r>
            <a:r>
              <a:rPr lang="en-IE" sz="1200" dirty="0">
                <a:solidFill>
                  <a:srgbClr val="CD3300"/>
                </a:solidFill>
                <a:latin typeface="UbuntuMono-Regular"/>
              </a:rPr>
              <a:t>"UTF-8"</a:t>
            </a:r>
            <a:r>
              <a:rPr lang="en-IE" sz="1200" dirty="0">
                <a:solidFill>
                  <a:srgbClr val="555555"/>
                </a:solidFill>
                <a:latin typeface="UbuntuMono-Regular"/>
              </a:rPr>
              <a:t>);</a:t>
            </a:r>
          </a:p>
          <a:p>
            <a:r>
              <a:rPr lang="en-IE" sz="1200" dirty="0" err="1">
                <a:solidFill>
                  <a:srgbClr val="000089"/>
                </a:solidFill>
                <a:latin typeface="UbuntuMono-Regular"/>
              </a:rPr>
              <a:t>System</a:t>
            </a:r>
            <a:r>
              <a:rPr lang="en-IE" sz="1200" dirty="0" err="1">
                <a:solidFill>
                  <a:srgbClr val="555555"/>
                </a:solidFill>
                <a:latin typeface="UbuntuMono-Regular"/>
              </a:rPr>
              <a:t>.</a:t>
            </a:r>
            <a:r>
              <a:rPr lang="en-IE" sz="1200" dirty="0" err="1">
                <a:solidFill>
                  <a:srgbClr val="33009A"/>
                </a:solidFill>
                <a:latin typeface="UbuntuMono-Regular"/>
              </a:rPr>
              <a:t>out</a:t>
            </a:r>
            <a:r>
              <a:rPr lang="en-IE" sz="1200" dirty="0" err="1">
                <a:solidFill>
                  <a:srgbClr val="555555"/>
                </a:solidFill>
                <a:latin typeface="UbuntuMono-Regular"/>
              </a:rPr>
              <a:t>.</a:t>
            </a:r>
            <a:r>
              <a:rPr lang="en-IE" sz="1200" dirty="0" err="1">
                <a:solidFill>
                  <a:srgbClr val="33009A"/>
                </a:solidFill>
                <a:latin typeface="UbuntuMono-Regular"/>
              </a:rPr>
              <a:t>println</a:t>
            </a:r>
            <a:r>
              <a:rPr lang="en-IE" sz="1200" dirty="0">
                <a:solidFill>
                  <a:srgbClr val="555555"/>
                </a:solidFill>
                <a:latin typeface="UbuntuMono-Regular"/>
              </a:rPr>
              <a:t>(</a:t>
            </a:r>
            <a:r>
              <a:rPr lang="en-IE" sz="1200" dirty="0">
                <a:solidFill>
                  <a:srgbClr val="000089"/>
                </a:solidFill>
                <a:latin typeface="UbuntuMono-Regular"/>
              </a:rPr>
              <a:t>query</a:t>
            </a:r>
            <a:r>
              <a:rPr lang="en-IE" sz="1200" dirty="0">
                <a:solidFill>
                  <a:srgbClr val="555555"/>
                </a:solidFill>
                <a:latin typeface="UbuntuMono-Regular"/>
              </a:rPr>
              <a:t>);</a:t>
            </a:r>
          </a:p>
          <a:p>
            <a:r>
              <a:rPr lang="en-IE" sz="1600" dirty="0">
                <a:solidFill>
                  <a:srgbClr val="000000"/>
                </a:solidFill>
                <a:latin typeface="MinionPro-Regular"/>
              </a:rPr>
              <a:t>Unfortunately, the output is:</a:t>
            </a:r>
          </a:p>
          <a:p>
            <a:r>
              <a:rPr lang="en-IE" sz="1200" dirty="0">
                <a:solidFill>
                  <a:srgbClr val="000089"/>
                </a:solidFill>
                <a:latin typeface="UbuntuMono-Regular"/>
              </a:rPr>
              <a:t>https</a:t>
            </a:r>
            <a:r>
              <a:rPr lang="en-IE" sz="1200" dirty="0">
                <a:solidFill>
                  <a:srgbClr val="555555"/>
                </a:solidFill>
                <a:latin typeface="UbuntuMono-Regular"/>
              </a:rPr>
              <a:t>%</a:t>
            </a:r>
            <a:r>
              <a:rPr lang="en-IE" sz="1200" dirty="0">
                <a:solidFill>
                  <a:srgbClr val="FF6600"/>
                </a:solidFill>
                <a:latin typeface="UbuntuMono-Regular"/>
              </a:rPr>
              <a:t>3</a:t>
            </a:r>
            <a:r>
              <a:rPr lang="en-IE" sz="1200" dirty="0">
                <a:solidFill>
                  <a:srgbClr val="000089"/>
                </a:solidFill>
                <a:latin typeface="UbuntuMono-Regular"/>
              </a:rPr>
              <a:t>A</a:t>
            </a:r>
            <a:r>
              <a:rPr lang="en-IE" sz="1200" dirty="0">
                <a:solidFill>
                  <a:srgbClr val="555555"/>
                </a:solidFill>
                <a:latin typeface="UbuntuMono-Regular"/>
              </a:rPr>
              <a:t>%</a:t>
            </a:r>
            <a:r>
              <a:rPr lang="en-IE" sz="1200" dirty="0">
                <a:solidFill>
                  <a:srgbClr val="FF6600"/>
                </a:solidFill>
                <a:latin typeface="UbuntuMono-Regular"/>
              </a:rPr>
              <a:t>2</a:t>
            </a:r>
            <a:r>
              <a:rPr lang="en-IE" sz="1200" dirty="0">
                <a:solidFill>
                  <a:srgbClr val="000089"/>
                </a:solidFill>
                <a:latin typeface="UbuntuMono-Regular"/>
              </a:rPr>
              <a:t>F</a:t>
            </a:r>
            <a:r>
              <a:rPr lang="en-IE" sz="1200" dirty="0">
                <a:solidFill>
                  <a:srgbClr val="555555"/>
                </a:solidFill>
                <a:latin typeface="UbuntuMono-Regular"/>
              </a:rPr>
              <a:t>%</a:t>
            </a:r>
            <a:r>
              <a:rPr lang="en-IE" sz="1200" dirty="0">
                <a:solidFill>
                  <a:srgbClr val="FF6600"/>
                </a:solidFill>
                <a:latin typeface="UbuntuMono-Regular"/>
              </a:rPr>
              <a:t>2</a:t>
            </a:r>
            <a:r>
              <a:rPr lang="en-IE" sz="1200" dirty="0">
                <a:solidFill>
                  <a:srgbClr val="000089"/>
                </a:solidFill>
                <a:latin typeface="UbuntuMono-Regular"/>
              </a:rPr>
              <a:t>Fwww</a:t>
            </a:r>
            <a:r>
              <a:rPr lang="en-IE" sz="1200" dirty="0">
                <a:solidFill>
                  <a:srgbClr val="555555"/>
                </a:solidFill>
                <a:latin typeface="UbuntuMono-Regular"/>
              </a:rPr>
              <a:t>.</a:t>
            </a:r>
            <a:r>
              <a:rPr lang="en-IE" sz="1200" dirty="0">
                <a:solidFill>
                  <a:srgbClr val="33009A"/>
                </a:solidFill>
                <a:latin typeface="UbuntuMono-Regular"/>
              </a:rPr>
              <a:t>google</a:t>
            </a:r>
            <a:r>
              <a:rPr lang="en-IE" sz="1200" dirty="0">
                <a:solidFill>
                  <a:srgbClr val="555555"/>
                </a:solidFill>
                <a:latin typeface="UbuntuMono-Regular"/>
              </a:rPr>
              <a:t>.</a:t>
            </a:r>
            <a:r>
              <a:rPr lang="en-IE" sz="1200" dirty="0">
                <a:solidFill>
                  <a:srgbClr val="33009A"/>
                </a:solidFill>
                <a:latin typeface="UbuntuMono-Regular"/>
              </a:rPr>
              <a:t>com</a:t>
            </a:r>
            <a:r>
              <a:rPr lang="en-IE" sz="1200" dirty="0">
                <a:solidFill>
                  <a:srgbClr val="555555"/>
                </a:solidFill>
                <a:latin typeface="UbuntuMono-Regular"/>
              </a:rPr>
              <a:t>%</a:t>
            </a:r>
            <a:r>
              <a:rPr lang="en-IE" sz="1200" dirty="0">
                <a:solidFill>
                  <a:srgbClr val="FF6600"/>
                </a:solidFill>
                <a:latin typeface="UbuntuMono-Regular"/>
              </a:rPr>
              <a:t>2</a:t>
            </a:r>
            <a:r>
              <a:rPr lang="en-IE" sz="1200" dirty="0">
                <a:solidFill>
                  <a:srgbClr val="000089"/>
                </a:solidFill>
                <a:latin typeface="UbuntuMono-Regular"/>
              </a:rPr>
              <a:t>Fsearch</a:t>
            </a:r>
            <a:r>
              <a:rPr lang="en-IE" sz="1200" dirty="0">
                <a:solidFill>
                  <a:srgbClr val="555555"/>
                </a:solidFill>
                <a:latin typeface="UbuntuMono-Regular"/>
              </a:rPr>
              <a:t>%</a:t>
            </a:r>
            <a:r>
              <a:rPr lang="en-IE" sz="1200" dirty="0">
                <a:solidFill>
                  <a:srgbClr val="FF6600"/>
                </a:solidFill>
                <a:latin typeface="UbuntuMono-Regular"/>
              </a:rPr>
              <a:t>3</a:t>
            </a:r>
            <a:r>
              <a:rPr lang="en-IE" sz="1200" dirty="0">
                <a:solidFill>
                  <a:srgbClr val="000089"/>
                </a:solidFill>
                <a:latin typeface="UbuntuMono-Regular"/>
              </a:rPr>
              <a:t>Fhl</a:t>
            </a:r>
            <a:r>
              <a:rPr lang="en-IE" sz="1200" dirty="0">
                <a:solidFill>
                  <a:srgbClr val="555555"/>
                </a:solidFill>
                <a:latin typeface="UbuntuMono-Regular"/>
              </a:rPr>
              <a:t>%</a:t>
            </a:r>
            <a:r>
              <a:rPr lang="en-IE" sz="1200" dirty="0">
                <a:solidFill>
                  <a:srgbClr val="FF6600"/>
                </a:solidFill>
                <a:latin typeface="UbuntuMono-Regular"/>
              </a:rPr>
              <a:t>3</a:t>
            </a:r>
            <a:r>
              <a:rPr lang="en-IE" sz="1200" dirty="0">
                <a:solidFill>
                  <a:srgbClr val="000089"/>
                </a:solidFill>
                <a:latin typeface="UbuntuMono-Regular"/>
              </a:rPr>
              <a:t>Den</a:t>
            </a:r>
            <a:r>
              <a:rPr lang="en-IE" sz="1200" dirty="0">
                <a:solidFill>
                  <a:srgbClr val="555555"/>
                </a:solidFill>
                <a:latin typeface="UbuntuMono-Regular"/>
              </a:rPr>
              <a:t>%</a:t>
            </a:r>
            <a:r>
              <a:rPr lang="en-IE" sz="1200" dirty="0">
                <a:solidFill>
                  <a:srgbClr val="FF6600"/>
                </a:solidFill>
                <a:latin typeface="UbuntuMono-Regular"/>
              </a:rPr>
              <a:t>26</a:t>
            </a:r>
            <a:r>
              <a:rPr lang="en-IE" sz="1200" dirty="0">
                <a:solidFill>
                  <a:srgbClr val="000089"/>
                </a:solidFill>
                <a:latin typeface="UbuntuMono-Regular"/>
              </a:rPr>
              <a:t>as_q</a:t>
            </a:r>
            <a:r>
              <a:rPr lang="en-IE" sz="1200" dirty="0">
                <a:solidFill>
                  <a:srgbClr val="555555"/>
                </a:solidFill>
                <a:latin typeface="UbuntuMono-Regular"/>
              </a:rPr>
              <a:t>%</a:t>
            </a:r>
            <a:r>
              <a:rPr lang="en-IE" sz="1200" dirty="0">
                <a:solidFill>
                  <a:srgbClr val="FF6600"/>
                </a:solidFill>
                <a:latin typeface="UbuntuMono-Regular"/>
              </a:rPr>
              <a:t>3</a:t>
            </a:r>
            <a:r>
              <a:rPr lang="en-IE" sz="1200" dirty="0">
                <a:solidFill>
                  <a:srgbClr val="000089"/>
                </a:solidFill>
                <a:latin typeface="UbuntuMono-Regular"/>
              </a:rPr>
              <a:t>DJava</a:t>
            </a:r>
            <a:r>
              <a:rPr lang="en-IE" sz="1200" dirty="0">
                <a:solidFill>
                  <a:srgbClr val="555555"/>
                </a:solidFill>
                <a:latin typeface="UbuntuMono-Regular"/>
              </a:rPr>
              <a:t>%</a:t>
            </a:r>
            <a:r>
              <a:rPr lang="en-IE" sz="1200" dirty="0">
                <a:solidFill>
                  <a:srgbClr val="FF6600"/>
                </a:solidFill>
                <a:latin typeface="UbuntuMono-Regular"/>
              </a:rPr>
              <a:t>26</a:t>
            </a:r>
            <a:r>
              <a:rPr lang="en-IE" sz="1200" dirty="0">
                <a:solidFill>
                  <a:srgbClr val="000089"/>
                </a:solidFill>
                <a:latin typeface="UbuntuMono-Regular"/>
              </a:rPr>
              <a:t>as_epq</a:t>
            </a:r>
            <a:r>
              <a:rPr lang="en-IE" sz="1200" dirty="0">
                <a:solidFill>
                  <a:srgbClr val="555555"/>
                </a:solidFill>
                <a:latin typeface="UbuntuMono-Regular"/>
              </a:rPr>
              <a:t>%</a:t>
            </a:r>
            <a:r>
              <a:rPr lang="en-IE" sz="1200" dirty="0">
                <a:solidFill>
                  <a:srgbClr val="FF6600"/>
                </a:solidFill>
                <a:latin typeface="UbuntuMono-Regular"/>
              </a:rPr>
              <a:t>3</a:t>
            </a:r>
            <a:r>
              <a:rPr lang="en-IE" sz="1200" dirty="0">
                <a:solidFill>
                  <a:srgbClr val="000089"/>
                </a:solidFill>
                <a:latin typeface="UbuntuMono-Regular"/>
              </a:rPr>
              <a:t>DI</a:t>
            </a:r>
            <a:r>
              <a:rPr lang="en-IE" sz="1200" dirty="0">
                <a:solidFill>
                  <a:srgbClr val="555555"/>
                </a:solidFill>
                <a:latin typeface="UbuntuMono-Regular"/>
              </a:rPr>
              <a:t>%</a:t>
            </a:r>
            <a:r>
              <a:rPr lang="en-IE" sz="1200" dirty="0">
                <a:solidFill>
                  <a:srgbClr val="FF6600"/>
                </a:solidFill>
                <a:latin typeface="UbuntuMono-Regular"/>
              </a:rPr>
              <a:t>2</a:t>
            </a:r>
            <a:r>
              <a:rPr lang="en-IE" sz="1200" dirty="0">
                <a:solidFill>
                  <a:srgbClr val="000089"/>
                </a:solidFill>
                <a:latin typeface="UbuntuMono-Regular"/>
              </a:rPr>
              <a:t>FO</a:t>
            </a:r>
          </a:p>
          <a:p>
            <a:r>
              <a:rPr lang="en-IE" sz="1600" dirty="0">
                <a:solidFill>
                  <a:srgbClr val="000000"/>
                </a:solidFill>
                <a:latin typeface="MinionPro-Regular"/>
              </a:rPr>
              <a:t>The problem is that </a:t>
            </a:r>
            <a:r>
              <a:rPr lang="en-IE" sz="1600" dirty="0" err="1">
                <a:solidFill>
                  <a:srgbClr val="000000"/>
                </a:solidFill>
                <a:latin typeface="UbuntuMono-Regular"/>
              </a:rPr>
              <a:t>URLEncoder.encode</a:t>
            </a:r>
            <a:r>
              <a:rPr lang="en-IE" sz="1600" dirty="0">
                <a:solidFill>
                  <a:srgbClr val="000000"/>
                </a:solidFill>
                <a:latin typeface="UbuntuMono-Regular"/>
              </a:rPr>
              <a:t>() </a:t>
            </a:r>
            <a:r>
              <a:rPr lang="en-IE" sz="1600" dirty="0">
                <a:solidFill>
                  <a:srgbClr val="000000"/>
                </a:solidFill>
                <a:latin typeface="MinionPro-Regular"/>
              </a:rPr>
              <a:t>encodes blindly. It can’t distinguish between</a:t>
            </a:r>
          </a:p>
          <a:p>
            <a:r>
              <a:rPr lang="en-IE" sz="1600" dirty="0">
                <a:solidFill>
                  <a:srgbClr val="000000"/>
                </a:solidFill>
                <a:latin typeface="MinionPro-Regular"/>
              </a:rPr>
              <a:t>special characters used as part of the URL or query string, like </a:t>
            </a:r>
            <a:r>
              <a:rPr lang="en-IE" sz="1600" dirty="0">
                <a:solidFill>
                  <a:srgbClr val="000000"/>
                </a:solidFill>
                <a:latin typeface="UbuntuMono-Regular"/>
              </a:rPr>
              <a:t>/ </a:t>
            </a:r>
            <a:r>
              <a:rPr lang="en-IE" sz="1600" dirty="0">
                <a:solidFill>
                  <a:srgbClr val="000000"/>
                </a:solidFill>
                <a:latin typeface="MinionPro-Regular"/>
              </a:rPr>
              <a:t>and </a:t>
            </a:r>
            <a:r>
              <a:rPr lang="en-IE" sz="1600" dirty="0">
                <a:solidFill>
                  <a:srgbClr val="000000"/>
                </a:solidFill>
                <a:latin typeface="UbuntuMono-Regular"/>
              </a:rPr>
              <a:t>=</a:t>
            </a:r>
            <a:r>
              <a:rPr lang="en-IE" sz="1600" dirty="0">
                <a:solidFill>
                  <a:srgbClr val="000000"/>
                </a:solidFill>
                <a:latin typeface="MinionPro-Regular"/>
              </a:rPr>
              <a:t>, and characters</a:t>
            </a:r>
          </a:p>
          <a:p>
            <a:r>
              <a:rPr lang="en-IE" sz="1600" dirty="0">
                <a:solidFill>
                  <a:srgbClr val="000000"/>
                </a:solidFill>
                <a:latin typeface="MinionPro-Regular"/>
              </a:rPr>
              <a:t>that need to be encoded. Consequently, URLs need to be encoded a piece at a time like</a:t>
            </a:r>
          </a:p>
          <a:p>
            <a:r>
              <a:rPr lang="en-IE" sz="1600" dirty="0">
                <a:solidFill>
                  <a:srgbClr val="000000"/>
                </a:solidFill>
                <a:latin typeface="MinionPro-Regular"/>
              </a:rPr>
              <a:t>this:</a:t>
            </a:r>
          </a:p>
          <a:p>
            <a:r>
              <a:rPr lang="en-IE" sz="1200" dirty="0">
                <a:solidFill>
                  <a:srgbClr val="000089"/>
                </a:solidFill>
                <a:latin typeface="UbuntuMono-Regular"/>
              </a:rPr>
              <a:t>String </a:t>
            </a:r>
            <a:r>
              <a:rPr lang="en-IE" sz="1200" dirty="0" err="1">
                <a:solidFill>
                  <a:srgbClr val="000089"/>
                </a:solidFill>
                <a:latin typeface="UbuntuMono-Regular"/>
              </a:rPr>
              <a:t>url</a:t>
            </a:r>
            <a:r>
              <a:rPr lang="en-IE" sz="1200" dirty="0">
                <a:solidFill>
                  <a:srgbClr val="000089"/>
                </a:solidFill>
                <a:latin typeface="UbuntuMono-Regular"/>
              </a:rPr>
              <a:t> </a:t>
            </a:r>
            <a:r>
              <a:rPr lang="en-IE" sz="1200" dirty="0">
                <a:solidFill>
                  <a:srgbClr val="555555"/>
                </a:solidFill>
                <a:latin typeface="UbuntuMono-Regular"/>
              </a:rPr>
              <a:t>= </a:t>
            </a:r>
            <a:r>
              <a:rPr lang="en-IE" sz="1200" dirty="0">
                <a:solidFill>
                  <a:srgbClr val="CD3300"/>
                </a:solidFill>
                <a:latin typeface="UbuntuMono-Regular"/>
              </a:rPr>
              <a:t>"https://www.google.com/search?"</a:t>
            </a:r>
            <a:r>
              <a:rPr lang="en-IE" sz="1200" dirty="0">
                <a:solidFill>
                  <a:srgbClr val="555555"/>
                </a:solidFill>
                <a:latin typeface="UbuntuMono-Regular"/>
              </a:rPr>
              <a:t>;</a:t>
            </a:r>
          </a:p>
          <a:p>
            <a:r>
              <a:rPr lang="en-IE" sz="1200" dirty="0" err="1">
                <a:solidFill>
                  <a:srgbClr val="000089"/>
                </a:solidFill>
                <a:latin typeface="UbuntuMono-Regular"/>
              </a:rPr>
              <a:t>url</a:t>
            </a:r>
            <a:r>
              <a:rPr lang="en-IE" sz="1200" dirty="0">
                <a:solidFill>
                  <a:srgbClr val="000089"/>
                </a:solidFill>
                <a:latin typeface="UbuntuMono-Regular"/>
              </a:rPr>
              <a:t> </a:t>
            </a:r>
            <a:r>
              <a:rPr lang="en-IE" sz="1200" dirty="0">
                <a:solidFill>
                  <a:srgbClr val="555555"/>
                </a:solidFill>
                <a:latin typeface="UbuntuMono-Regular"/>
              </a:rPr>
              <a:t>+= </a:t>
            </a:r>
            <a:r>
              <a:rPr lang="en-IE" sz="1200" dirty="0" err="1">
                <a:solidFill>
                  <a:srgbClr val="000089"/>
                </a:solidFill>
                <a:latin typeface="UbuntuMono-Regular"/>
              </a:rPr>
              <a:t>URLEncoder</a:t>
            </a:r>
            <a:r>
              <a:rPr lang="en-IE" sz="1200" dirty="0" err="1">
                <a:solidFill>
                  <a:srgbClr val="555555"/>
                </a:solidFill>
                <a:latin typeface="UbuntuMono-Regular"/>
              </a:rPr>
              <a:t>.</a:t>
            </a:r>
            <a:r>
              <a:rPr lang="en-IE" sz="1200" dirty="0" err="1">
                <a:solidFill>
                  <a:srgbClr val="33009A"/>
                </a:solidFill>
                <a:latin typeface="UbuntuMono-Regular"/>
              </a:rPr>
              <a:t>encode</a:t>
            </a:r>
            <a:r>
              <a:rPr lang="en-IE" sz="1200" dirty="0">
                <a:solidFill>
                  <a:srgbClr val="555555"/>
                </a:solidFill>
                <a:latin typeface="UbuntuMono-Regular"/>
              </a:rPr>
              <a:t>(</a:t>
            </a:r>
            <a:r>
              <a:rPr lang="en-IE" sz="1200" dirty="0">
                <a:solidFill>
                  <a:srgbClr val="CD3300"/>
                </a:solidFill>
                <a:latin typeface="UbuntuMono-Regular"/>
              </a:rPr>
              <a:t>"hl"</a:t>
            </a:r>
            <a:r>
              <a:rPr lang="en-IE" sz="1200" dirty="0">
                <a:solidFill>
                  <a:srgbClr val="555555"/>
                </a:solidFill>
                <a:latin typeface="UbuntuMono-Regular"/>
              </a:rPr>
              <a:t>, </a:t>
            </a:r>
            <a:r>
              <a:rPr lang="en-IE" sz="1200" dirty="0">
                <a:solidFill>
                  <a:srgbClr val="CD3300"/>
                </a:solidFill>
                <a:latin typeface="UbuntuMono-Regular"/>
              </a:rPr>
              <a:t>"UTF-8</a:t>
            </a:r>
            <a:r>
              <a:rPr lang="en-IE" sz="1200" dirty="0" smtClean="0">
                <a:solidFill>
                  <a:srgbClr val="CD3300"/>
                </a:solidFill>
                <a:latin typeface="UbuntuMono-Regular"/>
              </a:rPr>
              <a:t>"</a:t>
            </a:r>
            <a:r>
              <a:rPr lang="en-IE" sz="1200" dirty="0" smtClean="0">
                <a:solidFill>
                  <a:srgbClr val="555555"/>
                </a:solidFill>
                <a:latin typeface="UbuntuMono-Regular"/>
              </a:rPr>
              <a:t>); </a:t>
            </a:r>
            <a:r>
              <a:rPr lang="en-IE" sz="1200" dirty="0" err="1" smtClean="0">
                <a:solidFill>
                  <a:srgbClr val="000089"/>
                </a:solidFill>
                <a:latin typeface="UbuntuMono-Regular"/>
              </a:rPr>
              <a:t>url</a:t>
            </a:r>
            <a:r>
              <a:rPr lang="en-IE" sz="1200" dirty="0" smtClean="0">
                <a:solidFill>
                  <a:srgbClr val="000089"/>
                </a:solidFill>
                <a:latin typeface="UbuntuMono-Regular"/>
              </a:rPr>
              <a:t> </a:t>
            </a:r>
            <a:r>
              <a:rPr lang="en-IE" sz="1200" dirty="0">
                <a:solidFill>
                  <a:srgbClr val="555555"/>
                </a:solidFill>
                <a:latin typeface="UbuntuMono-Regular"/>
              </a:rPr>
              <a:t>+= </a:t>
            </a:r>
            <a:r>
              <a:rPr lang="en-IE" sz="1200" dirty="0">
                <a:solidFill>
                  <a:srgbClr val="CD3300"/>
                </a:solidFill>
                <a:latin typeface="UbuntuMono-Regular"/>
              </a:rPr>
              <a:t>"="</a:t>
            </a:r>
            <a:r>
              <a:rPr lang="en-IE" sz="1200" dirty="0">
                <a:solidFill>
                  <a:srgbClr val="555555"/>
                </a:solidFill>
                <a:latin typeface="UbuntuMono-Regular"/>
              </a:rPr>
              <a:t>;</a:t>
            </a:r>
          </a:p>
          <a:p>
            <a:r>
              <a:rPr lang="en-IE" sz="1200" dirty="0" err="1">
                <a:solidFill>
                  <a:srgbClr val="000089"/>
                </a:solidFill>
                <a:latin typeface="UbuntuMono-Regular"/>
              </a:rPr>
              <a:t>url</a:t>
            </a:r>
            <a:r>
              <a:rPr lang="en-IE" sz="1200" dirty="0">
                <a:solidFill>
                  <a:srgbClr val="000089"/>
                </a:solidFill>
                <a:latin typeface="UbuntuMono-Regular"/>
              </a:rPr>
              <a:t> </a:t>
            </a:r>
            <a:r>
              <a:rPr lang="en-IE" sz="1200" dirty="0">
                <a:solidFill>
                  <a:srgbClr val="555555"/>
                </a:solidFill>
                <a:latin typeface="UbuntuMono-Regular"/>
              </a:rPr>
              <a:t>+= </a:t>
            </a:r>
            <a:r>
              <a:rPr lang="en-IE" sz="1200" dirty="0" err="1">
                <a:solidFill>
                  <a:srgbClr val="000089"/>
                </a:solidFill>
                <a:latin typeface="UbuntuMono-Regular"/>
              </a:rPr>
              <a:t>URLEncoder</a:t>
            </a:r>
            <a:r>
              <a:rPr lang="en-IE" sz="1200" dirty="0" err="1">
                <a:solidFill>
                  <a:srgbClr val="555555"/>
                </a:solidFill>
                <a:latin typeface="UbuntuMono-Regular"/>
              </a:rPr>
              <a:t>.</a:t>
            </a:r>
            <a:r>
              <a:rPr lang="en-IE" sz="1200" dirty="0" err="1">
                <a:solidFill>
                  <a:srgbClr val="33009A"/>
                </a:solidFill>
                <a:latin typeface="UbuntuMono-Regular"/>
              </a:rPr>
              <a:t>encode</a:t>
            </a:r>
            <a:r>
              <a:rPr lang="en-IE" sz="1200" dirty="0">
                <a:solidFill>
                  <a:srgbClr val="555555"/>
                </a:solidFill>
                <a:latin typeface="UbuntuMono-Regular"/>
              </a:rPr>
              <a:t>(</a:t>
            </a:r>
            <a:r>
              <a:rPr lang="en-IE" sz="1200" dirty="0">
                <a:solidFill>
                  <a:srgbClr val="CD3300"/>
                </a:solidFill>
                <a:latin typeface="UbuntuMono-Regular"/>
              </a:rPr>
              <a:t>"</a:t>
            </a:r>
            <a:r>
              <a:rPr lang="en-IE" sz="1200" dirty="0" err="1">
                <a:solidFill>
                  <a:srgbClr val="CD3300"/>
                </a:solidFill>
                <a:latin typeface="UbuntuMono-Regular"/>
              </a:rPr>
              <a:t>en</a:t>
            </a:r>
            <a:r>
              <a:rPr lang="en-IE" sz="1200" dirty="0">
                <a:solidFill>
                  <a:srgbClr val="CD3300"/>
                </a:solidFill>
                <a:latin typeface="UbuntuMono-Regular"/>
              </a:rPr>
              <a:t>"</a:t>
            </a:r>
            <a:r>
              <a:rPr lang="en-IE" sz="1200" dirty="0">
                <a:solidFill>
                  <a:srgbClr val="555555"/>
                </a:solidFill>
                <a:latin typeface="UbuntuMono-Regular"/>
              </a:rPr>
              <a:t>, </a:t>
            </a:r>
            <a:r>
              <a:rPr lang="en-IE" sz="1200" dirty="0">
                <a:solidFill>
                  <a:srgbClr val="CD3300"/>
                </a:solidFill>
                <a:latin typeface="UbuntuMono-Regular"/>
              </a:rPr>
              <a:t>"UTF-8</a:t>
            </a:r>
            <a:r>
              <a:rPr lang="en-IE" sz="1200" dirty="0" smtClean="0">
                <a:solidFill>
                  <a:srgbClr val="CD3300"/>
                </a:solidFill>
                <a:latin typeface="UbuntuMono-Regular"/>
              </a:rPr>
              <a:t>"</a:t>
            </a:r>
            <a:r>
              <a:rPr lang="en-IE" sz="1200" dirty="0" smtClean="0">
                <a:solidFill>
                  <a:srgbClr val="555555"/>
                </a:solidFill>
                <a:latin typeface="UbuntuMono-Regular"/>
              </a:rPr>
              <a:t>); </a:t>
            </a:r>
            <a:r>
              <a:rPr lang="en-IE" sz="1200" dirty="0" err="1" smtClean="0">
                <a:solidFill>
                  <a:srgbClr val="000089"/>
                </a:solidFill>
                <a:latin typeface="UbuntuMono-Regular"/>
              </a:rPr>
              <a:t>url</a:t>
            </a:r>
            <a:r>
              <a:rPr lang="en-IE" sz="1200" dirty="0" smtClean="0">
                <a:solidFill>
                  <a:srgbClr val="000089"/>
                </a:solidFill>
                <a:latin typeface="UbuntuMono-Regular"/>
              </a:rPr>
              <a:t> </a:t>
            </a:r>
            <a:r>
              <a:rPr lang="en-IE" sz="1200" dirty="0">
                <a:solidFill>
                  <a:srgbClr val="555555"/>
                </a:solidFill>
                <a:latin typeface="UbuntuMono-Regular"/>
              </a:rPr>
              <a:t>+= </a:t>
            </a:r>
            <a:r>
              <a:rPr lang="en-IE" sz="1200" dirty="0">
                <a:solidFill>
                  <a:srgbClr val="CD3300"/>
                </a:solidFill>
                <a:latin typeface="UbuntuMono-Regular"/>
              </a:rPr>
              <a:t>"&amp;"</a:t>
            </a:r>
            <a:r>
              <a:rPr lang="en-IE" sz="1200" dirty="0">
                <a:solidFill>
                  <a:srgbClr val="555555"/>
                </a:solidFill>
                <a:latin typeface="UbuntuMono-Regular"/>
              </a:rPr>
              <a:t>;</a:t>
            </a:r>
          </a:p>
          <a:p>
            <a:r>
              <a:rPr lang="en-IE" sz="1200" dirty="0" err="1">
                <a:solidFill>
                  <a:srgbClr val="000089"/>
                </a:solidFill>
                <a:latin typeface="UbuntuMono-Regular"/>
              </a:rPr>
              <a:t>url</a:t>
            </a:r>
            <a:r>
              <a:rPr lang="en-IE" sz="1200" dirty="0">
                <a:solidFill>
                  <a:srgbClr val="000089"/>
                </a:solidFill>
                <a:latin typeface="UbuntuMono-Regular"/>
              </a:rPr>
              <a:t> </a:t>
            </a:r>
            <a:r>
              <a:rPr lang="en-IE" sz="1200" dirty="0">
                <a:solidFill>
                  <a:srgbClr val="555555"/>
                </a:solidFill>
                <a:latin typeface="UbuntuMono-Regular"/>
              </a:rPr>
              <a:t>+= </a:t>
            </a:r>
            <a:r>
              <a:rPr lang="en-IE" sz="1200" dirty="0" err="1">
                <a:solidFill>
                  <a:srgbClr val="000089"/>
                </a:solidFill>
                <a:latin typeface="UbuntuMono-Regular"/>
              </a:rPr>
              <a:t>URLEncoder</a:t>
            </a:r>
            <a:r>
              <a:rPr lang="en-IE" sz="1200" dirty="0" err="1">
                <a:solidFill>
                  <a:srgbClr val="555555"/>
                </a:solidFill>
                <a:latin typeface="UbuntuMono-Regular"/>
              </a:rPr>
              <a:t>.</a:t>
            </a:r>
            <a:r>
              <a:rPr lang="en-IE" sz="1200" dirty="0" err="1">
                <a:solidFill>
                  <a:srgbClr val="33009A"/>
                </a:solidFill>
                <a:latin typeface="UbuntuMono-Regular"/>
              </a:rPr>
              <a:t>encode</a:t>
            </a:r>
            <a:r>
              <a:rPr lang="en-IE" sz="1200" dirty="0">
                <a:solidFill>
                  <a:srgbClr val="555555"/>
                </a:solidFill>
                <a:latin typeface="UbuntuMono-Regular"/>
              </a:rPr>
              <a:t>(</a:t>
            </a:r>
            <a:r>
              <a:rPr lang="en-IE" sz="1200" dirty="0">
                <a:solidFill>
                  <a:srgbClr val="CD3300"/>
                </a:solidFill>
                <a:latin typeface="UbuntuMono-Regular"/>
              </a:rPr>
              <a:t>"</a:t>
            </a:r>
            <a:r>
              <a:rPr lang="en-IE" sz="1200" dirty="0" err="1">
                <a:solidFill>
                  <a:srgbClr val="CD3300"/>
                </a:solidFill>
                <a:latin typeface="UbuntuMono-Regular"/>
              </a:rPr>
              <a:t>as_q</a:t>
            </a:r>
            <a:r>
              <a:rPr lang="en-IE" sz="1200" dirty="0">
                <a:solidFill>
                  <a:srgbClr val="CD3300"/>
                </a:solidFill>
                <a:latin typeface="UbuntuMono-Regular"/>
              </a:rPr>
              <a:t>"</a:t>
            </a:r>
            <a:r>
              <a:rPr lang="en-IE" sz="1200" dirty="0">
                <a:solidFill>
                  <a:srgbClr val="555555"/>
                </a:solidFill>
                <a:latin typeface="UbuntuMono-Regular"/>
              </a:rPr>
              <a:t>, </a:t>
            </a:r>
            <a:r>
              <a:rPr lang="en-IE" sz="1200" dirty="0">
                <a:solidFill>
                  <a:srgbClr val="CD3300"/>
                </a:solidFill>
                <a:latin typeface="UbuntuMono-Regular"/>
              </a:rPr>
              <a:t>"UTF-8</a:t>
            </a:r>
            <a:r>
              <a:rPr lang="en-IE" sz="1200" dirty="0" smtClean="0">
                <a:solidFill>
                  <a:srgbClr val="CD3300"/>
                </a:solidFill>
                <a:latin typeface="UbuntuMono-Regular"/>
              </a:rPr>
              <a:t>"</a:t>
            </a:r>
            <a:r>
              <a:rPr lang="en-IE" sz="1200" dirty="0" smtClean="0">
                <a:solidFill>
                  <a:srgbClr val="555555"/>
                </a:solidFill>
                <a:latin typeface="UbuntuMono-Regular"/>
              </a:rPr>
              <a:t>); </a:t>
            </a:r>
            <a:r>
              <a:rPr lang="en-IE" sz="1200" dirty="0" err="1" smtClean="0">
                <a:solidFill>
                  <a:srgbClr val="000089"/>
                </a:solidFill>
                <a:latin typeface="UbuntuMono-Regular"/>
              </a:rPr>
              <a:t>url</a:t>
            </a:r>
            <a:r>
              <a:rPr lang="en-IE" sz="1200" dirty="0" smtClean="0">
                <a:solidFill>
                  <a:srgbClr val="000089"/>
                </a:solidFill>
                <a:latin typeface="UbuntuMono-Regular"/>
              </a:rPr>
              <a:t> </a:t>
            </a:r>
            <a:r>
              <a:rPr lang="en-IE" sz="1200" dirty="0">
                <a:solidFill>
                  <a:srgbClr val="555555"/>
                </a:solidFill>
                <a:latin typeface="UbuntuMono-Regular"/>
              </a:rPr>
              <a:t>+= </a:t>
            </a:r>
            <a:r>
              <a:rPr lang="en-IE" sz="1200" dirty="0">
                <a:solidFill>
                  <a:srgbClr val="CD3300"/>
                </a:solidFill>
                <a:latin typeface="UbuntuMono-Regular"/>
              </a:rPr>
              <a:t>"="</a:t>
            </a:r>
            <a:r>
              <a:rPr lang="en-IE" sz="1200" dirty="0">
                <a:solidFill>
                  <a:srgbClr val="555555"/>
                </a:solidFill>
                <a:latin typeface="UbuntuMono-Regular"/>
              </a:rPr>
              <a:t>;</a:t>
            </a:r>
          </a:p>
          <a:p>
            <a:r>
              <a:rPr lang="en-IE" sz="1200" dirty="0" err="1">
                <a:solidFill>
                  <a:srgbClr val="000089"/>
                </a:solidFill>
                <a:latin typeface="UbuntuMono-Regular"/>
              </a:rPr>
              <a:t>url</a:t>
            </a:r>
            <a:r>
              <a:rPr lang="en-IE" sz="1200" dirty="0">
                <a:solidFill>
                  <a:srgbClr val="000089"/>
                </a:solidFill>
                <a:latin typeface="UbuntuMono-Regular"/>
              </a:rPr>
              <a:t> </a:t>
            </a:r>
            <a:r>
              <a:rPr lang="en-IE" sz="1200" dirty="0">
                <a:solidFill>
                  <a:srgbClr val="555555"/>
                </a:solidFill>
                <a:latin typeface="UbuntuMono-Regular"/>
              </a:rPr>
              <a:t>+= </a:t>
            </a:r>
            <a:r>
              <a:rPr lang="en-IE" sz="1200" dirty="0" err="1">
                <a:solidFill>
                  <a:srgbClr val="000089"/>
                </a:solidFill>
                <a:latin typeface="UbuntuMono-Regular"/>
              </a:rPr>
              <a:t>URLEncoder</a:t>
            </a:r>
            <a:r>
              <a:rPr lang="en-IE" sz="1200" dirty="0" err="1">
                <a:solidFill>
                  <a:srgbClr val="555555"/>
                </a:solidFill>
                <a:latin typeface="UbuntuMono-Regular"/>
              </a:rPr>
              <a:t>.</a:t>
            </a:r>
            <a:r>
              <a:rPr lang="en-IE" sz="1200" dirty="0" err="1">
                <a:solidFill>
                  <a:srgbClr val="33009A"/>
                </a:solidFill>
                <a:latin typeface="UbuntuMono-Regular"/>
              </a:rPr>
              <a:t>encode</a:t>
            </a:r>
            <a:r>
              <a:rPr lang="en-IE" sz="1200" dirty="0">
                <a:solidFill>
                  <a:srgbClr val="555555"/>
                </a:solidFill>
                <a:latin typeface="UbuntuMono-Regular"/>
              </a:rPr>
              <a:t>(</a:t>
            </a:r>
            <a:r>
              <a:rPr lang="en-IE" sz="1200" dirty="0">
                <a:solidFill>
                  <a:srgbClr val="CD3300"/>
                </a:solidFill>
                <a:latin typeface="UbuntuMono-Regular"/>
              </a:rPr>
              <a:t>"Java"</a:t>
            </a:r>
            <a:r>
              <a:rPr lang="en-IE" sz="1200" dirty="0">
                <a:solidFill>
                  <a:srgbClr val="555555"/>
                </a:solidFill>
                <a:latin typeface="UbuntuMono-Regular"/>
              </a:rPr>
              <a:t>, </a:t>
            </a:r>
            <a:r>
              <a:rPr lang="en-IE" sz="1200" dirty="0">
                <a:solidFill>
                  <a:srgbClr val="CD3300"/>
                </a:solidFill>
                <a:latin typeface="UbuntuMono-Regular"/>
              </a:rPr>
              <a:t>"UTF-8</a:t>
            </a:r>
            <a:r>
              <a:rPr lang="en-IE" sz="1200" dirty="0" smtClean="0">
                <a:solidFill>
                  <a:srgbClr val="CD3300"/>
                </a:solidFill>
                <a:latin typeface="UbuntuMono-Regular"/>
              </a:rPr>
              <a:t>"</a:t>
            </a:r>
            <a:r>
              <a:rPr lang="en-IE" sz="1200" dirty="0" smtClean="0">
                <a:solidFill>
                  <a:srgbClr val="555555"/>
                </a:solidFill>
                <a:latin typeface="UbuntuMono-Regular"/>
              </a:rPr>
              <a:t>); </a:t>
            </a:r>
            <a:r>
              <a:rPr lang="en-IE" sz="1200" dirty="0" err="1" smtClean="0">
                <a:solidFill>
                  <a:srgbClr val="000089"/>
                </a:solidFill>
                <a:latin typeface="UbuntuMono-Regular"/>
              </a:rPr>
              <a:t>url</a:t>
            </a:r>
            <a:r>
              <a:rPr lang="en-IE" sz="1200" dirty="0" smtClean="0">
                <a:solidFill>
                  <a:srgbClr val="000089"/>
                </a:solidFill>
                <a:latin typeface="UbuntuMono-Regular"/>
              </a:rPr>
              <a:t> </a:t>
            </a:r>
            <a:r>
              <a:rPr lang="en-IE" sz="1200" dirty="0">
                <a:solidFill>
                  <a:srgbClr val="555555"/>
                </a:solidFill>
                <a:latin typeface="UbuntuMono-Regular"/>
              </a:rPr>
              <a:t>+= </a:t>
            </a:r>
            <a:r>
              <a:rPr lang="en-IE" sz="1200" dirty="0">
                <a:solidFill>
                  <a:srgbClr val="CD3300"/>
                </a:solidFill>
                <a:latin typeface="UbuntuMono-Regular"/>
              </a:rPr>
              <a:t>"&amp;"</a:t>
            </a:r>
            <a:r>
              <a:rPr lang="en-IE" sz="1200" dirty="0">
                <a:solidFill>
                  <a:srgbClr val="555555"/>
                </a:solidFill>
                <a:latin typeface="UbuntuMono-Regular"/>
              </a:rPr>
              <a:t>;</a:t>
            </a:r>
          </a:p>
          <a:p>
            <a:r>
              <a:rPr lang="en-IE" sz="1200" dirty="0" err="1">
                <a:solidFill>
                  <a:srgbClr val="000089"/>
                </a:solidFill>
                <a:latin typeface="UbuntuMono-Regular"/>
              </a:rPr>
              <a:t>url</a:t>
            </a:r>
            <a:r>
              <a:rPr lang="en-IE" sz="1200" dirty="0">
                <a:solidFill>
                  <a:srgbClr val="000089"/>
                </a:solidFill>
                <a:latin typeface="UbuntuMono-Regular"/>
              </a:rPr>
              <a:t> </a:t>
            </a:r>
            <a:r>
              <a:rPr lang="en-IE" sz="1200" dirty="0">
                <a:solidFill>
                  <a:srgbClr val="555555"/>
                </a:solidFill>
                <a:latin typeface="UbuntuMono-Regular"/>
              </a:rPr>
              <a:t>+= </a:t>
            </a:r>
            <a:r>
              <a:rPr lang="en-IE" sz="1200" dirty="0" err="1">
                <a:solidFill>
                  <a:srgbClr val="000089"/>
                </a:solidFill>
                <a:latin typeface="UbuntuMono-Regular"/>
              </a:rPr>
              <a:t>URLEncoder</a:t>
            </a:r>
            <a:r>
              <a:rPr lang="en-IE" sz="1200" dirty="0" err="1">
                <a:solidFill>
                  <a:srgbClr val="555555"/>
                </a:solidFill>
                <a:latin typeface="UbuntuMono-Regular"/>
              </a:rPr>
              <a:t>.</a:t>
            </a:r>
            <a:r>
              <a:rPr lang="en-IE" sz="1200" dirty="0" err="1">
                <a:solidFill>
                  <a:srgbClr val="33009A"/>
                </a:solidFill>
                <a:latin typeface="UbuntuMono-Regular"/>
              </a:rPr>
              <a:t>encode</a:t>
            </a:r>
            <a:r>
              <a:rPr lang="en-IE" sz="1200" dirty="0">
                <a:solidFill>
                  <a:srgbClr val="555555"/>
                </a:solidFill>
                <a:latin typeface="UbuntuMono-Regular"/>
              </a:rPr>
              <a:t>(</a:t>
            </a:r>
            <a:r>
              <a:rPr lang="en-IE" sz="1200" dirty="0">
                <a:solidFill>
                  <a:srgbClr val="CD3300"/>
                </a:solidFill>
                <a:latin typeface="UbuntuMono-Regular"/>
              </a:rPr>
              <a:t>"</a:t>
            </a:r>
            <a:r>
              <a:rPr lang="en-IE" sz="1200" dirty="0" err="1">
                <a:solidFill>
                  <a:srgbClr val="CD3300"/>
                </a:solidFill>
                <a:latin typeface="UbuntuMono-Regular"/>
              </a:rPr>
              <a:t>as_epq</a:t>
            </a:r>
            <a:r>
              <a:rPr lang="en-IE" sz="1200" dirty="0">
                <a:solidFill>
                  <a:srgbClr val="CD3300"/>
                </a:solidFill>
                <a:latin typeface="UbuntuMono-Regular"/>
              </a:rPr>
              <a:t>"</a:t>
            </a:r>
            <a:r>
              <a:rPr lang="en-IE" sz="1200" dirty="0">
                <a:solidFill>
                  <a:srgbClr val="555555"/>
                </a:solidFill>
                <a:latin typeface="UbuntuMono-Regular"/>
              </a:rPr>
              <a:t>, </a:t>
            </a:r>
            <a:r>
              <a:rPr lang="en-IE" sz="1200" dirty="0">
                <a:solidFill>
                  <a:srgbClr val="CD3300"/>
                </a:solidFill>
                <a:latin typeface="UbuntuMono-Regular"/>
              </a:rPr>
              <a:t>"UTF-8</a:t>
            </a:r>
            <a:r>
              <a:rPr lang="en-IE" sz="1200" dirty="0" smtClean="0">
                <a:solidFill>
                  <a:srgbClr val="CD3300"/>
                </a:solidFill>
                <a:latin typeface="UbuntuMono-Regular"/>
              </a:rPr>
              <a:t>"</a:t>
            </a:r>
            <a:r>
              <a:rPr lang="en-IE" sz="1200" dirty="0" smtClean="0">
                <a:solidFill>
                  <a:srgbClr val="555555"/>
                </a:solidFill>
                <a:latin typeface="UbuntuMono-Regular"/>
              </a:rPr>
              <a:t>); </a:t>
            </a:r>
            <a:r>
              <a:rPr lang="en-IE" sz="1200" dirty="0" err="1" smtClean="0">
                <a:solidFill>
                  <a:srgbClr val="000089"/>
                </a:solidFill>
                <a:latin typeface="UbuntuMono-Regular"/>
              </a:rPr>
              <a:t>url</a:t>
            </a:r>
            <a:r>
              <a:rPr lang="en-IE" sz="1200" dirty="0" smtClean="0">
                <a:solidFill>
                  <a:srgbClr val="000089"/>
                </a:solidFill>
                <a:latin typeface="UbuntuMono-Regular"/>
              </a:rPr>
              <a:t> </a:t>
            </a:r>
            <a:r>
              <a:rPr lang="en-IE" sz="1200" dirty="0">
                <a:solidFill>
                  <a:srgbClr val="555555"/>
                </a:solidFill>
                <a:latin typeface="UbuntuMono-Regular"/>
              </a:rPr>
              <a:t>+= </a:t>
            </a:r>
            <a:r>
              <a:rPr lang="en-IE" sz="1200" dirty="0">
                <a:solidFill>
                  <a:srgbClr val="CD3300"/>
                </a:solidFill>
                <a:latin typeface="UbuntuMono-Regular"/>
              </a:rPr>
              <a:t>"="</a:t>
            </a:r>
            <a:r>
              <a:rPr lang="en-IE" sz="1200" dirty="0">
                <a:solidFill>
                  <a:srgbClr val="555555"/>
                </a:solidFill>
                <a:latin typeface="UbuntuMono-Regular"/>
              </a:rPr>
              <a:t>;</a:t>
            </a:r>
          </a:p>
          <a:p>
            <a:r>
              <a:rPr lang="en-IE" sz="1200" dirty="0" err="1">
                <a:solidFill>
                  <a:srgbClr val="000089"/>
                </a:solidFill>
                <a:latin typeface="UbuntuMono-Regular"/>
              </a:rPr>
              <a:t>url</a:t>
            </a:r>
            <a:r>
              <a:rPr lang="en-IE" sz="1200" dirty="0">
                <a:solidFill>
                  <a:srgbClr val="000089"/>
                </a:solidFill>
                <a:latin typeface="UbuntuMono-Regular"/>
              </a:rPr>
              <a:t> </a:t>
            </a:r>
            <a:r>
              <a:rPr lang="en-IE" sz="1200" dirty="0">
                <a:solidFill>
                  <a:srgbClr val="555555"/>
                </a:solidFill>
                <a:latin typeface="UbuntuMono-Regular"/>
              </a:rPr>
              <a:t>+= </a:t>
            </a:r>
            <a:r>
              <a:rPr lang="en-IE" sz="1200" dirty="0" err="1">
                <a:solidFill>
                  <a:srgbClr val="000089"/>
                </a:solidFill>
                <a:latin typeface="UbuntuMono-Regular"/>
              </a:rPr>
              <a:t>URLEncoder</a:t>
            </a:r>
            <a:r>
              <a:rPr lang="en-IE" sz="1200" dirty="0" err="1">
                <a:solidFill>
                  <a:srgbClr val="555555"/>
                </a:solidFill>
                <a:latin typeface="UbuntuMono-Regular"/>
              </a:rPr>
              <a:t>.</a:t>
            </a:r>
            <a:r>
              <a:rPr lang="en-IE" sz="1200" dirty="0" err="1">
                <a:solidFill>
                  <a:srgbClr val="33009A"/>
                </a:solidFill>
                <a:latin typeface="UbuntuMono-Regular"/>
              </a:rPr>
              <a:t>encode</a:t>
            </a:r>
            <a:r>
              <a:rPr lang="en-IE" sz="1200" dirty="0">
                <a:solidFill>
                  <a:srgbClr val="555555"/>
                </a:solidFill>
                <a:latin typeface="UbuntuMono-Regular"/>
              </a:rPr>
              <a:t>(</a:t>
            </a:r>
            <a:r>
              <a:rPr lang="en-IE" sz="1200" dirty="0">
                <a:solidFill>
                  <a:srgbClr val="CD3300"/>
                </a:solidFill>
                <a:latin typeface="UbuntuMono-Regular"/>
              </a:rPr>
              <a:t>"I/O"</a:t>
            </a:r>
            <a:r>
              <a:rPr lang="en-IE" sz="1200" dirty="0">
                <a:solidFill>
                  <a:srgbClr val="555555"/>
                </a:solidFill>
                <a:latin typeface="UbuntuMono-Regular"/>
              </a:rPr>
              <a:t>, </a:t>
            </a:r>
            <a:r>
              <a:rPr lang="en-IE" sz="1200" dirty="0">
                <a:solidFill>
                  <a:srgbClr val="CD3300"/>
                </a:solidFill>
                <a:latin typeface="UbuntuMono-Regular"/>
              </a:rPr>
              <a:t>"UTF-8"</a:t>
            </a:r>
            <a:r>
              <a:rPr lang="en-IE" sz="1200" dirty="0">
                <a:solidFill>
                  <a:srgbClr val="555555"/>
                </a:solidFill>
                <a:latin typeface="UbuntuMono-Regular"/>
              </a:rPr>
              <a:t>);</a:t>
            </a:r>
          </a:p>
          <a:p>
            <a:r>
              <a:rPr lang="en-IE" sz="1200" dirty="0" err="1">
                <a:solidFill>
                  <a:srgbClr val="000089"/>
                </a:solidFill>
                <a:latin typeface="UbuntuMono-Regular"/>
              </a:rPr>
              <a:t>System</a:t>
            </a:r>
            <a:r>
              <a:rPr lang="en-IE" sz="1200" dirty="0" err="1">
                <a:solidFill>
                  <a:srgbClr val="555555"/>
                </a:solidFill>
                <a:latin typeface="UbuntuMono-Regular"/>
              </a:rPr>
              <a:t>.</a:t>
            </a:r>
            <a:r>
              <a:rPr lang="en-IE" sz="1200" dirty="0" err="1">
                <a:solidFill>
                  <a:srgbClr val="33009A"/>
                </a:solidFill>
                <a:latin typeface="UbuntuMono-Regular"/>
              </a:rPr>
              <a:t>out</a:t>
            </a:r>
            <a:r>
              <a:rPr lang="en-IE" sz="1200" dirty="0" err="1">
                <a:solidFill>
                  <a:srgbClr val="555555"/>
                </a:solidFill>
                <a:latin typeface="UbuntuMono-Regular"/>
              </a:rPr>
              <a:t>.</a:t>
            </a:r>
            <a:r>
              <a:rPr lang="en-IE" sz="1200" dirty="0" err="1">
                <a:solidFill>
                  <a:srgbClr val="33009A"/>
                </a:solidFill>
                <a:latin typeface="UbuntuMono-Regular"/>
              </a:rPr>
              <a:t>println</a:t>
            </a:r>
            <a:r>
              <a:rPr lang="en-IE" sz="1200" dirty="0">
                <a:solidFill>
                  <a:srgbClr val="555555"/>
                </a:solidFill>
                <a:latin typeface="UbuntuMono-Regular"/>
              </a:rPr>
              <a:t>(</a:t>
            </a:r>
            <a:r>
              <a:rPr lang="en-IE" sz="1200" dirty="0" err="1">
                <a:solidFill>
                  <a:srgbClr val="000089"/>
                </a:solidFill>
                <a:latin typeface="UbuntuMono-Regular"/>
              </a:rPr>
              <a:t>url</a:t>
            </a:r>
            <a:r>
              <a:rPr lang="en-IE" sz="1200" dirty="0">
                <a:solidFill>
                  <a:srgbClr val="555555"/>
                </a:solidFill>
                <a:latin typeface="UbuntuMono-Regular"/>
              </a:rPr>
              <a:t>);</a:t>
            </a:r>
            <a:endParaRPr lang="en-IE" sz="1600" b="1" dirty="0">
              <a:solidFill>
                <a:srgbClr val="555555"/>
              </a:solidFill>
              <a:latin typeface="UbuntuMono-Regular"/>
            </a:endParaRPr>
          </a:p>
        </p:txBody>
      </p:sp>
    </p:spTree>
    <p:extLst>
      <p:ext uri="{BB962C8B-B14F-4D97-AF65-F5344CB8AC3E}">
        <p14:creationId xmlns:p14="http://schemas.microsoft.com/office/powerpoint/2010/main" val="234983094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39762"/>
          </a:xfrm>
        </p:spPr>
        <p:txBody>
          <a:bodyPr>
            <a:noAutofit/>
          </a:bodyPr>
          <a:lstStyle/>
          <a:p>
            <a:r>
              <a:rPr lang="en-IE" sz="2800" i="1" dirty="0" err="1" smtClean="0"/>
              <a:t>QueryString</a:t>
            </a:r>
            <a:r>
              <a:rPr lang="en-IE" sz="2800" i="1" dirty="0" smtClean="0"/>
              <a:t> Class Example</a:t>
            </a:r>
            <a:endParaRPr lang="en-IE" sz="2800" b="1" dirty="0"/>
          </a:p>
        </p:txBody>
      </p:sp>
      <p:sp>
        <p:nvSpPr>
          <p:cNvPr id="3" name="Content Placeholder 2"/>
          <p:cNvSpPr>
            <a:spLocks noGrp="1"/>
          </p:cNvSpPr>
          <p:nvPr>
            <p:ph idx="1"/>
          </p:nvPr>
        </p:nvSpPr>
        <p:spPr>
          <a:xfrm>
            <a:off x="0" y="609600"/>
            <a:ext cx="9144000" cy="6248400"/>
          </a:xfrm>
        </p:spPr>
        <p:txBody>
          <a:bodyPr>
            <a:noAutofit/>
          </a:bodyPr>
          <a:lstStyle/>
          <a:p>
            <a:r>
              <a:rPr lang="en-IE" sz="1400" b="1" dirty="0">
                <a:solidFill>
                  <a:srgbClr val="00669A"/>
                </a:solidFill>
                <a:latin typeface="UbuntuMono-Bold"/>
              </a:rPr>
              <a:t>import </a:t>
            </a:r>
            <a:r>
              <a:rPr lang="en-IE" sz="1400" b="1" dirty="0" err="1">
                <a:solidFill>
                  <a:srgbClr val="00CDFF"/>
                </a:solidFill>
                <a:latin typeface="UbuntuMono-Bold"/>
              </a:rPr>
              <a:t>java.io.UnsupportedEncodingException</a:t>
            </a:r>
            <a:r>
              <a:rPr lang="en-IE" sz="1400" dirty="0">
                <a:solidFill>
                  <a:srgbClr val="555555"/>
                </a:solidFill>
                <a:latin typeface="UbuntuMono-Regular"/>
              </a:rPr>
              <a:t>;</a:t>
            </a:r>
          </a:p>
          <a:p>
            <a:r>
              <a:rPr lang="en-IE" sz="1400" b="1" dirty="0">
                <a:solidFill>
                  <a:srgbClr val="00669A"/>
                </a:solidFill>
                <a:latin typeface="UbuntuMono-Bold"/>
              </a:rPr>
              <a:t>import </a:t>
            </a:r>
            <a:r>
              <a:rPr lang="en-IE" sz="1400" b="1" dirty="0" err="1">
                <a:solidFill>
                  <a:srgbClr val="00CDFF"/>
                </a:solidFill>
                <a:latin typeface="UbuntuMono-Bold"/>
              </a:rPr>
              <a:t>java.net.URLEncoder</a:t>
            </a:r>
            <a:r>
              <a:rPr lang="en-IE" sz="1400" dirty="0">
                <a:solidFill>
                  <a:srgbClr val="555555"/>
                </a:solidFill>
                <a:latin typeface="UbuntuMono-Regular"/>
              </a:rPr>
              <a:t>;</a:t>
            </a:r>
          </a:p>
          <a:p>
            <a:r>
              <a:rPr lang="en-IE" sz="1400" b="1" dirty="0">
                <a:solidFill>
                  <a:srgbClr val="00669A"/>
                </a:solidFill>
                <a:latin typeface="UbuntuMono-Bold"/>
              </a:rPr>
              <a:t>public class </a:t>
            </a:r>
            <a:r>
              <a:rPr lang="en-IE" sz="1400" b="1" dirty="0" err="1">
                <a:solidFill>
                  <a:srgbClr val="00AB89"/>
                </a:solidFill>
                <a:latin typeface="UbuntuMono-Bold"/>
              </a:rPr>
              <a:t>QueryString</a:t>
            </a:r>
            <a:r>
              <a:rPr lang="en-IE" sz="1400" b="1" dirty="0">
                <a:solidFill>
                  <a:srgbClr val="00AB89"/>
                </a:solidFill>
                <a:latin typeface="UbuntuMono-Bold"/>
              </a:rPr>
              <a:t> </a:t>
            </a:r>
            <a:r>
              <a:rPr lang="en-IE" sz="1400" dirty="0">
                <a:solidFill>
                  <a:srgbClr val="555555"/>
                </a:solidFill>
                <a:latin typeface="UbuntuMono-Regular"/>
              </a:rPr>
              <a:t>{</a:t>
            </a:r>
          </a:p>
          <a:p>
            <a:r>
              <a:rPr lang="en-IE" sz="1400" b="1" dirty="0">
                <a:solidFill>
                  <a:srgbClr val="00669A"/>
                </a:solidFill>
                <a:latin typeface="UbuntuMono-Bold"/>
              </a:rPr>
              <a:t>private </a:t>
            </a:r>
            <a:r>
              <a:rPr lang="en-IE" sz="1400" dirty="0" err="1">
                <a:solidFill>
                  <a:srgbClr val="000089"/>
                </a:solidFill>
                <a:latin typeface="UbuntuMono-Regular"/>
              </a:rPr>
              <a:t>StringBuilder</a:t>
            </a:r>
            <a:r>
              <a:rPr lang="en-IE" sz="1400" dirty="0">
                <a:solidFill>
                  <a:srgbClr val="000089"/>
                </a:solidFill>
                <a:latin typeface="UbuntuMono-Regular"/>
              </a:rPr>
              <a:t> query </a:t>
            </a:r>
            <a:r>
              <a:rPr lang="en-IE" sz="1400" dirty="0">
                <a:solidFill>
                  <a:srgbClr val="555555"/>
                </a:solidFill>
                <a:latin typeface="UbuntuMono-Regular"/>
              </a:rPr>
              <a:t>= </a:t>
            </a:r>
            <a:r>
              <a:rPr lang="en-IE" sz="1400" b="1" dirty="0">
                <a:solidFill>
                  <a:srgbClr val="00669A"/>
                </a:solidFill>
                <a:latin typeface="UbuntuMono-Bold"/>
              </a:rPr>
              <a:t>new </a:t>
            </a:r>
            <a:r>
              <a:rPr lang="en-IE" sz="1400" dirty="0" err="1">
                <a:solidFill>
                  <a:srgbClr val="000089"/>
                </a:solidFill>
                <a:latin typeface="UbuntuMono-Regular"/>
              </a:rPr>
              <a:t>StringBuilder</a:t>
            </a:r>
            <a:r>
              <a:rPr lang="en-IE" sz="1400" dirty="0">
                <a:solidFill>
                  <a:srgbClr val="555555"/>
                </a:solidFill>
                <a:latin typeface="UbuntuMono-Regular"/>
              </a:rPr>
              <a:t>();</a:t>
            </a:r>
          </a:p>
          <a:p>
            <a:r>
              <a:rPr lang="en-IE" sz="1400" b="1" dirty="0">
                <a:solidFill>
                  <a:srgbClr val="00669A"/>
                </a:solidFill>
                <a:latin typeface="UbuntuMono-Bold"/>
              </a:rPr>
              <a:t>public </a:t>
            </a:r>
            <a:r>
              <a:rPr lang="en-IE" sz="1400" dirty="0" err="1">
                <a:solidFill>
                  <a:srgbClr val="CD00FF"/>
                </a:solidFill>
                <a:latin typeface="UbuntuMono-Regular"/>
              </a:rPr>
              <a:t>QueryString</a:t>
            </a:r>
            <a:r>
              <a:rPr lang="en-IE" sz="1400" dirty="0">
                <a:solidFill>
                  <a:srgbClr val="555555"/>
                </a:solidFill>
                <a:latin typeface="UbuntuMono-Regular"/>
              </a:rPr>
              <a:t>() {</a:t>
            </a:r>
          </a:p>
          <a:p>
            <a:r>
              <a:rPr lang="en-IE" sz="1400" dirty="0">
                <a:solidFill>
                  <a:srgbClr val="555555"/>
                </a:solidFill>
                <a:latin typeface="UbuntuMono-Regular"/>
              </a:rPr>
              <a:t>}</a:t>
            </a:r>
          </a:p>
          <a:p>
            <a:r>
              <a:rPr lang="en-IE" sz="1400" b="1" dirty="0">
                <a:solidFill>
                  <a:srgbClr val="00669A"/>
                </a:solidFill>
                <a:latin typeface="UbuntuMono-Bold"/>
              </a:rPr>
              <a:t>public synchronized </a:t>
            </a:r>
            <a:r>
              <a:rPr lang="en-IE" sz="1400" b="1" dirty="0">
                <a:solidFill>
                  <a:srgbClr val="007789"/>
                </a:solidFill>
                <a:latin typeface="UbuntuMono-Bold"/>
              </a:rPr>
              <a:t>void </a:t>
            </a:r>
            <a:r>
              <a:rPr lang="en-IE" sz="1400" dirty="0">
                <a:solidFill>
                  <a:srgbClr val="CD00FF"/>
                </a:solidFill>
                <a:latin typeface="UbuntuMono-Regular"/>
              </a:rPr>
              <a:t>add</a:t>
            </a:r>
            <a:r>
              <a:rPr lang="en-IE" sz="1400" dirty="0">
                <a:solidFill>
                  <a:srgbClr val="555555"/>
                </a:solidFill>
                <a:latin typeface="UbuntuMono-Regular"/>
              </a:rPr>
              <a:t>(</a:t>
            </a:r>
            <a:r>
              <a:rPr lang="en-IE" sz="1400" dirty="0">
                <a:solidFill>
                  <a:srgbClr val="000089"/>
                </a:solidFill>
                <a:latin typeface="UbuntuMono-Regular"/>
              </a:rPr>
              <a:t>String name</a:t>
            </a:r>
            <a:r>
              <a:rPr lang="en-IE" sz="1400" dirty="0">
                <a:solidFill>
                  <a:srgbClr val="555555"/>
                </a:solidFill>
                <a:latin typeface="UbuntuMono-Regular"/>
              </a:rPr>
              <a:t>, </a:t>
            </a:r>
            <a:r>
              <a:rPr lang="en-IE" sz="1400" dirty="0">
                <a:solidFill>
                  <a:srgbClr val="000089"/>
                </a:solidFill>
                <a:latin typeface="UbuntuMono-Regular"/>
              </a:rPr>
              <a:t>String value</a:t>
            </a:r>
            <a:r>
              <a:rPr lang="en-IE" sz="1400" dirty="0">
                <a:solidFill>
                  <a:srgbClr val="555555"/>
                </a:solidFill>
                <a:latin typeface="UbuntuMono-Regular"/>
              </a:rPr>
              <a:t>) {</a:t>
            </a:r>
          </a:p>
          <a:p>
            <a:r>
              <a:rPr lang="en-IE" sz="1400" dirty="0" err="1">
                <a:solidFill>
                  <a:srgbClr val="000089"/>
                </a:solidFill>
                <a:latin typeface="UbuntuMono-Regular"/>
              </a:rPr>
              <a:t>query</a:t>
            </a:r>
            <a:r>
              <a:rPr lang="en-IE" sz="1400" dirty="0" err="1">
                <a:solidFill>
                  <a:srgbClr val="555555"/>
                </a:solidFill>
                <a:latin typeface="UbuntuMono-Regular"/>
              </a:rPr>
              <a:t>.</a:t>
            </a:r>
            <a:r>
              <a:rPr lang="en-IE" sz="1400" dirty="0" err="1">
                <a:solidFill>
                  <a:srgbClr val="33009A"/>
                </a:solidFill>
                <a:latin typeface="UbuntuMono-Regular"/>
              </a:rPr>
              <a:t>append</a:t>
            </a:r>
            <a:r>
              <a:rPr lang="en-IE" sz="1400" dirty="0">
                <a:solidFill>
                  <a:srgbClr val="555555"/>
                </a:solidFill>
                <a:latin typeface="UbuntuMono-Regular"/>
              </a:rPr>
              <a:t>(</a:t>
            </a:r>
            <a:r>
              <a:rPr lang="en-IE" sz="1400" dirty="0">
                <a:solidFill>
                  <a:srgbClr val="CD3300"/>
                </a:solidFill>
                <a:latin typeface="UbuntuMono-Regular"/>
              </a:rPr>
              <a:t>'&amp;'</a:t>
            </a:r>
            <a:r>
              <a:rPr lang="en-IE" sz="1400" dirty="0">
                <a:solidFill>
                  <a:srgbClr val="555555"/>
                </a:solidFill>
                <a:latin typeface="UbuntuMono-Regular"/>
              </a:rPr>
              <a:t>);</a:t>
            </a:r>
          </a:p>
          <a:p>
            <a:r>
              <a:rPr lang="en-IE" sz="1400" dirty="0">
                <a:solidFill>
                  <a:srgbClr val="000089"/>
                </a:solidFill>
                <a:latin typeface="UbuntuMono-Regular"/>
              </a:rPr>
              <a:t>encode</a:t>
            </a:r>
            <a:r>
              <a:rPr lang="en-IE" sz="1400" dirty="0">
                <a:solidFill>
                  <a:srgbClr val="555555"/>
                </a:solidFill>
                <a:latin typeface="UbuntuMono-Regular"/>
              </a:rPr>
              <a:t>(</a:t>
            </a:r>
            <a:r>
              <a:rPr lang="en-IE" sz="1400" dirty="0">
                <a:solidFill>
                  <a:srgbClr val="000089"/>
                </a:solidFill>
                <a:latin typeface="UbuntuMono-Regular"/>
              </a:rPr>
              <a:t>name</a:t>
            </a:r>
            <a:r>
              <a:rPr lang="en-IE" sz="1400" dirty="0">
                <a:solidFill>
                  <a:srgbClr val="555555"/>
                </a:solidFill>
                <a:latin typeface="UbuntuMono-Regular"/>
              </a:rPr>
              <a:t>, </a:t>
            </a:r>
            <a:r>
              <a:rPr lang="en-IE" sz="1400" dirty="0">
                <a:solidFill>
                  <a:srgbClr val="000089"/>
                </a:solidFill>
                <a:latin typeface="UbuntuMono-Regular"/>
              </a:rPr>
              <a:t>value</a:t>
            </a:r>
            <a:r>
              <a:rPr lang="en-IE" sz="1400" dirty="0">
                <a:solidFill>
                  <a:srgbClr val="555555"/>
                </a:solidFill>
                <a:latin typeface="UbuntuMono-Regular"/>
              </a:rPr>
              <a:t>);</a:t>
            </a:r>
          </a:p>
          <a:p>
            <a:r>
              <a:rPr lang="en-IE" sz="1400" dirty="0">
                <a:solidFill>
                  <a:srgbClr val="555555"/>
                </a:solidFill>
                <a:latin typeface="UbuntuMono-Regular"/>
              </a:rPr>
              <a:t>}</a:t>
            </a:r>
          </a:p>
          <a:p>
            <a:r>
              <a:rPr lang="en-IE" sz="1400" b="1" dirty="0">
                <a:solidFill>
                  <a:srgbClr val="00669A"/>
                </a:solidFill>
                <a:latin typeface="UbuntuMono-Bold"/>
              </a:rPr>
              <a:t>private synchronized </a:t>
            </a:r>
            <a:r>
              <a:rPr lang="en-IE" sz="1400" b="1" dirty="0">
                <a:solidFill>
                  <a:srgbClr val="007789"/>
                </a:solidFill>
                <a:latin typeface="UbuntuMono-Bold"/>
              </a:rPr>
              <a:t>void </a:t>
            </a:r>
            <a:r>
              <a:rPr lang="en-IE" sz="1400" dirty="0">
                <a:solidFill>
                  <a:srgbClr val="CD00FF"/>
                </a:solidFill>
                <a:latin typeface="UbuntuMono-Regular"/>
              </a:rPr>
              <a:t>encode</a:t>
            </a:r>
            <a:r>
              <a:rPr lang="en-IE" sz="1400" dirty="0">
                <a:solidFill>
                  <a:srgbClr val="555555"/>
                </a:solidFill>
                <a:latin typeface="UbuntuMono-Regular"/>
              </a:rPr>
              <a:t>(</a:t>
            </a:r>
            <a:r>
              <a:rPr lang="en-IE" sz="1400" dirty="0">
                <a:solidFill>
                  <a:srgbClr val="000089"/>
                </a:solidFill>
                <a:latin typeface="UbuntuMono-Regular"/>
              </a:rPr>
              <a:t>String name</a:t>
            </a:r>
            <a:r>
              <a:rPr lang="en-IE" sz="1400" dirty="0">
                <a:solidFill>
                  <a:srgbClr val="555555"/>
                </a:solidFill>
                <a:latin typeface="UbuntuMono-Regular"/>
              </a:rPr>
              <a:t>, </a:t>
            </a:r>
            <a:r>
              <a:rPr lang="en-IE" sz="1400" dirty="0">
                <a:solidFill>
                  <a:srgbClr val="000089"/>
                </a:solidFill>
                <a:latin typeface="UbuntuMono-Regular"/>
              </a:rPr>
              <a:t>String value</a:t>
            </a:r>
            <a:r>
              <a:rPr lang="en-IE" sz="1400" dirty="0">
                <a:solidFill>
                  <a:srgbClr val="555555"/>
                </a:solidFill>
                <a:latin typeface="UbuntuMono-Regular"/>
              </a:rPr>
              <a:t>) {</a:t>
            </a:r>
          </a:p>
          <a:p>
            <a:r>
              <a:rPr lang="en-IE" sz="1400" b="1" dirty="0">
                <a:solidFill>
                  <a:srgbClr val="00669A"/>
                </a:solidFill>
                <a:latin typeface="UbuntuMono-Bold"/>
              </a:rPr>
              <a:t>try </a:t>
            </a:r>
            <a:r>
              <a:rPr lang="en-IE" sz="1400" dirty="0">
                <a:solidFill>
                  <a:srgbClr val="555555"/>
                </a:solidFill>
                <a:latin typeface="UbuntuMono-Regular"/>
              </a:rPr>
              <a:t>{</a:t>
            </a:r>
          </a:p>
          <a:p>
            <a:r>
              <a:rPr lang="en-IE" sz="1400" dirty="0" err="1">
                <a:solidFill>
                  <a:srgbClr val="000089"/>
                </a:solidFill>
                <a:latin typeface="UbuntuMono-Regular"/>
              </a:rPr>
              <a:t>query</a:t>
            </a:r>
            <a:r>
              <a:rPr lang="en-IE" sz="1400" dirty="0" err="1">
                <a:solidFill>
                  <a:srgbClr val="555555"/>
                </a:solidFill>
                <a:latin typeface="UbuntuMono-Regular"/>
              </a:rPr>
              <a:t>.</a:t>
            </a:r>
            <a:r>
              <a:rPr lang="en-IE" sz="1400" dirty="0" err="1">
                <a:solidFill>
                  <a:srgbClr val="33009A"/>
                </a:solidFill>
                <a:latin typeface="UbuntuMono-Regular"/>
              </a:rPr>
              <a:t>append</a:t>
            </a:r>
            <a:r>
              <a:rPr lang="en-IE" sz="1400" dirty="0">
                <a:solidFill>
                  <a:srgbClr val="555555"/>
                </a:solidFill>
                <a:latin typeface="UbuntuMono-Regular"/>
              </a:rPr>
              <a:t>(</a:t>
            </a:r>
            <a:r>
              <a:rPr lang="en-IE" sz="1400" dirty="0" err="1">
                <a:solidFill>
                  <a:srgbClr val="000089"/>
                </a:solidFill>
                <a:latin typeface="UbuntuMono-Regular"/>
              </a:rPr>
              <a:t>URLEncoder</a:t>
            </a:r>
            <a:r>
              <a:rPr lang="en-IE" sz="1400" dirty="0" err="1">
                <a:solidFill>
                  <a:srgbClr val="555555"/>
                </a:solidFill>
                <a:latin typeface="UbuntuMono-Regular"/>
              </a:rPr>
              <a:t>.</a:t>
            </a:r>
            <a:r>
              <a:rPr lang="en-IE" sz="1400" dirty="0" err="1">
                <a:solidFill>
                  <a:srgbClr val="33009A"/>
                </a:solidFill>
                <a:latin typeface="UbuntuMono-Regular"/>
              </a:rPr>
              <a:t>encode</a:t>
            </a:r>
            <a:r>
              <a:rPr lang="en-IE" sz="1400" dirty="0">
                <a:solidFill>
                  <a:srgbClr val="555555"/>
                </a:solidFill>
                <a:latin typeface="UbuntuMono-Regular"/>
              </a:rPr>
              <a:t>(</a:t>
            </a:r>
            <a:r>
              <a:rPr lang="en-IE" sz="1400" dirty="0">
                <a:solidFill>
                  <a:srgbClr val="000089"/>
                </a:solidFill>
                <a:latin typeface="UbuntuMono-Regular"/>
              </a:rPr>
              <a:t>name</a:t>
            </a:r>
            <a:r>
              <a:rPr lang="en-IE" sz="1400" dirty="0">
                <a:solidFill>
                  <a:srgbClr val="555555"/>
                </a:solidFill>
                <a:latin typeface="UbuntuMono-Regular"/>
              </a:rPr>
              <a:t>, </a:t>
            </a:r>
            <a:r>
              <a:rPr lang="en-IE" sz="1400" dirty="0">
                <a:solidFill>
                  <a:srgbClr val="CD3300"/>
                </a:solidFill>
                <a:latin typeface="UbuntuMono-Regular"/>
              </a:rPr>
              <a:t>"UTF-8"</a:t>
            </a:r>
            <a:r>
              <a:rPr lang="en-IE" sz="1400" dirty="0">
                <a:solidFill>
                  <a:srgbClr val="555555"/>
                </a:solidFill>
                <a:latin typeface="UbuntuMono-Regular"/>
              </a:rPr>
              <a:t>));</a:t>
            </a:r>
          </a:p>
          <a:p>
            <a:r>
              <a:rPr lang="en-IE" sz="1400" dirty="0" err="1">
                <a:solidFill>
                  <a:srgbClr val="000089"/>
                </a:solidFill>
                <a:latin typeface="UbuntuMono-Regular"/>
              </a:rPr>
              <a:t>query</a:t>
            </a:r>
            <a:r>
              <a:rPr lang="en-IE" sz="1400" dirty="0" err="1">
                <a:solidFill>
                  <a:srgbClr val="555555"/>
                </a:solidFill>
                <a:latin typeface="UbuntuMono-Regular"/>
              </a:rPr>
              <a:t>.</a:t>
            </a:r>
            <a:r>
              <a:rPr lang="en-IE" sz="1400" dirty="0" err="1">
                <a:solidFill>
                  <a:srgbClr val="33009A"/>
                </a:solidFill>
                <a:latin typeface="UbuntuMono-Regular"/>
              </a:rPr>
              <a:t>append</a:t>
            </a:r>
            <a:r>
              <a:rPr lang="en-IE" sz="1400" dirty="0">
                <a:solidFill>
                  <a:srgbClr val="555555"/>
                </a:solidFill>
                <a:latin typeface="UbuntuMono-Regular"/>
              </a:rPr>
              <a:t>(</a:t>
            </a:r>
            <a:r>
              <a:rPr lang="en-IE" sz="1400" dirty="0">
                <a:solidFill>
                  <a:srgbClr val="CD3300"/>
                </a:solidFill>
                <a:latin typeface="UbuntuMono-Regular"/>
              </a:rPr>
              <a:t>'='</a:t>
            </a:r>
            <a:r>
              <a:rPr lang="en-IE" sz="1400" dirty="0">
                <a:solidFill>
                  <a:srgbClr val="555555"/>
                </a:solidFill>
                <a:latin typeface="UbuntuMono-Regular"/>
              </a:rPr>
              <a:t>);</a:t>
            </a:r>
          </a:p>
          <a:p>
            <a:r>
              <a:rPr lang="en-IE" sz="1400" dirty="0" err="1">
                <a:solidFill>
                  <a:srgbClr val="000089"/>
                </a:solidFill>
                <a:latin typeface="UbuntuMono-Regular"/>
              </a:rPr>
              <a:t>query</a:t>
            </a:r>
            <a:r>
              <a:rPr lang="en-IE" sz="1400" dirty="0" err="1">
                <a:solidFill>
                  <a:srgbClr val="555555"/>
                </a:solidFill>
                <a:latin typeface="UbuntuMono-Regular"/>
              </a:rPr>
              <a:t>.</a:t>
            </a:r>
            <a:r>
              <a:rPr lang="en-IE" sz="1400" dirty="0" err="1">
                <a:solidFill>
                  <a:srgbClr val="33009A"/>
                </a:solidFill>
                <a:latin typeface="UbuntuMono-Regular"/>
              </a:rPr>
              <a:t>append</a:t>
            </a:r>
            <a:r>
              <a:rPr lang="en-IE" sz="1400" dirty="0">
                <a:solidFill>
                  <a:srgbClr val="555555"/>
                </a:solidFill>
                <a:latin typeface="UbuntuMono-Regular"/>
              </a:rPr>
              <a:t>(</a:t>
            </a:r>
            <a:r>
              <a:rPr lang="en-IE" sz="1400" dirty="0" err="1">
                <a:solidFill>
                  <a:srgbClr val="000089"/>
                </a:solidFill>
                <a:latin typeface="UbuntuMono-Regular"/>
              </a:rPr>
              <a:t>URLEncoder</a:t>
            </a:r>
            <a:r>
              <a:rPr lang="en-IE" sz="1400" dirty="0" err="1">
                <a:solidFill>
                  <a:srgbClr val="555555"/>
                </a:solidFill>
                <a:latin typeface="UbuntuMono-Regular"/>
              </a:rPr>
              <a:t>.</a:t>
            </a:r>
            <a:r>
              <a:rPr lang="en-IE" sz="1400" dirty="0" err="1">
                <a:solidFill>
                  <a:srgbClr val="33009A"/>
                </a:solidFill>
                <a:latin typeface="UbuntuMono-Regular"/>
              </a:rPr>
              <a:t>encode</a:t>
            </a:r>
            <a:r>
              <a:rPr lang="en-IE" sz="1400" dirty="0">
                <a:solidFill>
                  <a:srgbClr val="555555"/>
                </a:solidFill>
                <a:latin typeface="UbuntuMono-Regular"/>
              </a:rPr>
              <a:t>(</a:t>
            </a:r>
            <a:r>
              <a:rPr lang="en-IE" sz="1400" dirty="0">
                <a:solidFill>
                  <a:srgbClr val="000089"/>
                </a:solidFill>
                <a:latin typeface="UbuntuMono-Regular"/>
              </a:rPr>
              <a:t>value</a:t>
            </a:r>
            <a:r>
              <a:rPr lang="en-IE" sz="1400" dirty="0">
                <a:solidFill>
                  <a:srgbClr val="555555"/>
                </a:solidFill>
                <a:latin typeface="UbuntuMono-Regular"/>
              </a:rPr>
              <a:t>, </a:t>
            </a:r>
            <a:r>
              <a:rPr lang="en-IE" sz="1400" dirty="0">
                <a:solidFill>
                  <a:srgbClr val="CD3300"/>
                </a:solidFill>
                <a:latin typeface="UbuntuMono-Regular"/>
              </a:rPr>
              <a:t>"UTF-8"</a:t>
            </a:r>
            <a:r>
              <a:rPr lang="en-IE" sz="1400" dirty="0">
                <a:solidFill>
                  <a:srgbClr val="555555"/>
                </a:solidFill>
                <a:latin typeface="UbuntuMono-Regular"/>
              </a:rPr>
              <a:t>));</a:t>
            </a:r>
          </a:p>
          <a:p>
            <a:r>
              <a:rPr lang="en-IE" sz="1400" dirty="0">
                <a:solidFill>
                  <a:srgbClr val="555555"/>
                </a:solidFill>
                <a:latin typeface="UbuntuMono-Regular"/>
              </a:rPr>
              <a:t>} </a:t>
            </a:r>
            <a:r>
              <a:rPr lang="en-IE" sz="1400" b="1" dirty="0">
                <a:solidFill>
                  <a:srgbClr val="00669A"/>
                </a:solidFill>
                <a:latin typeface="UbuntuMono-Bold"/>
              </a:rPr>
              <a:t>catch </a:t>
            </a:r>
            <a:r>
              <a:rPr lang="en-IE" sz="1400" dirty="0">
                <a:solidFill>
                  <a:srgbClr val="555555"/>
                </a:solidFill>
                <a:latin typeface="UbuntuMono-Regular"/>
              </a:rPr>
              <a:t>(</a:t>
            </a:r>
            <a:r>
              <a:rPr lang="en-IE" sz="1400" dirty="0" err="1">
                <a:solidFill>
                  <a:srgbClr val="000089"/>
                </a:solidFill>
                <a:latin typeface="UbuntuMono-Regular"/>
              </a:rPr>
              <a:t>UnsupportedEncodingException</a:t>
            </a:r>
            <a:r>
              <a:rPr lang="en-IE" sz="1400" dirty="0">
                <a:solidFill>
                  <a:srgbClr val="000089"/>
                </a:solidFill>
                <a:latin typeface="UbuntuMono-Regular"/>
              </a:rPr>
              <a:t> ex</a:t>
            </a:r>
            <a:r>
              <a:rPr lang="en-IE" sz="1400" dirty="0">
                <a:solidFill>
                  <a:srgbClr val="555555"/>
                </a:solidFill>
                <a:latin typeface="UbuntuMono-Regular"/>
              </a:rPr>
              <a:t>) {</a:t>
            </a:r>
          </a:p>
          <a:p>
            <a:r>
              <a:rPr lang="en-IE" sz="1400" b="1" dirty="0">
                <a:solidFill>
                  <a:srgbClr val="00669A"/>
                </a:solidFill>
                <a:latin typeface="UbuntuMono-Bold"/>
              </a:rPr>
              <a:t>throw new </a:t>
            </a:r>
            <a:r>
              <a:rPr lang="en-IE" sz="1400" dirty="0" err="1">
                <a:solidFill>
                  <a:srgbClr val="CD00FF"/>
                </a:solidFill>
                <a:latin typeface="UbuntuMono-Regular"/>
              </a:rPr>
              <a:t>RuntimeException</a:t>
            </a:r>
            <a:r>
              <a:rPr lang="en-IE" sz="1400" dirty="0">
                <a:solidFill>
                  <a:srgbClr val="555555"/>
                </a:solidFill>
                <a:latin typeface="UbuntuMono-Regular"/>
              </a:rPr>
              <a:t>(</a:t>
            </a:r>
            <a:r>
              <a:rPr lang="en-IE" sz="1400" dirty="0">
                <a:solidFill>
                  <a:srgbClr val="CD3300"/>
                </a:solidFill>
                <a:latin typeface="UbuntuMono-Regular"/>
              </a:rPr>
              <a:t>"Broken VM does not support UTF-8"</a:t>
            </a:r>
            <a:r>
              <a:rPr lang="en-IE" sz="1400" dirty="0">
                <a:solidFill>
                  <a:srgbClr val="555555"/>
                </a:solidFill>
                <a:latin typeface="UbuntuMono-Regular"/>
              </a:rPr>
              <a:t>);</a:t>
            </a:r>
          </a:p>
          <a:p>
            <a:r>
              <a:rPr lang="en-IE" sz="1400" dirty="0" smtClean="0">
                <a:solidFill>
                  <a:srgbClr val="555555"/>
                </a:solidFill>
                <a:latin typeface="UbuntuMono-Regular"/>
              </a:rPr>
              <a:t>}}</a:t>
            </a:r>
            <a:endParaRPr lang="en-IE" sz="1400" dirty="0">
              <a:solidFill>
                <a:srgbClr val="555555"/>
              </a:solidFill>
              <a:latin typeface="UbuntuMono-Regular"/>
            </a:endParaRPr>
          </a:p>
          <a:p>
            <a:r>
              <a:rPr lang="en-IE" sz="1400" b="1" dirty="0">
                <a:solidFill>
                  <a:srgbClr val="00669A"/>
                </a:solidFill>
                <a:latin typeface="UbuntuMono-Bold"/>
              </a:rPr>
              <a:t>public synchronized </a:t>
            </a:r>
            <a:r>
              <a:rPr lang="en-IE" sz="1400" dirty="0">
                <a:solidFill>
                  <a:srgbClr val="000089"/>
                </a:solidFill>
                <a:latin typeface="UbuntuMono-Regular"/>
              </a:rPr>
              <a:t>String </a:t>
            </a:r>
            <a:r>
              <a:rPr lang="en-IE" sz="1400" dirty="0" err="1">
                <a:solidFill>
                  <a:srgbClr val="CD00FF"/>
                </a:solidFill>
                <a:latin typeface="UbuntuMono-Regular"/>
              </a:rPr>
              <a:t>getQuery</a:t>
            </a:r>
            <a:r>
              <a:rPr lang="en-IE" sz="1400" dirty="0">
                <a:solidFill>
                  <a:srgbClr val="555555"/>
                </a:solidFill>
                <a:latin typeface="UbuntuMono-Regular"/>
              </a:rPr>
              <a:t>() {</a:t>
            </a:r>
          </a:p>
          <a:p>
            <a:r>
              <a:rPr lang="en-IE" sz="1400" b="1" dirty="0">
                <a:solidFill>
                  <a:srgbClr val="00669A"/>
                </a:solidFill>
                <a:latin typeface="UbuntuMono-Bold"/>
              </a:rPr>
              <a:t>return </a:t>
            </a:r>
            <a:r>
              <a:rPr lang="en-IE" sz="1400" dirty="0" err="1">
                <a:solidFill>
                  <a:srgbClr val="000089"/>
                </a:solidFill>
                <a:latin typeface="UbuntuMono-Regular"/>
              </a:rPr>
              <a:t>query</a:t>
            </a:r>
            <a:r>
              <a:rPr lang="en-IE" sz="1400" dirty="0" err="1">
                <a:solidFill>
                  <a:srgbClr val="555555"/>
                </a:solidFill>
                <a:latin typeface="UbuntuMono-Regular"/>
              </a:rPr>
              <a:t>.</a:t>
            </a:r>
            <a:r>
              <a:rPr lang="en-IE" sz="1400" dirty="0" err="1">
                <a:solidFill>
                  <a:srgbClr val="33009A"/>
                </a:solidFill>
                <a:latin typeface="UbuntuMono-Regular"/>
              </a:rPr>
              <a:t>toString</a:t>
            </a:r>
            <a:r>
              <a:rPr lang="en-IE" sz="1400" dirty="0">
                <a:solidFill>
                  <a:srgbClr val="555555"/>
                </a:solidFill>
                <a:latin typeface="UbuntuMono-Regular"/>
              </a:rPr>
              <a:t>();</a:t>
            </a:r>
          </a:p>
          <a:p>
            <a:r>
              <a:rPr lang="en-IE" sz="1400" dirty="0">
                <a:solidFill>
                  <a:srgbClr val="555555"/>
                </a:solidFill>
                <a:latin typeface="UbuntuMono-Regular"/>
              </a:rPr>
              <a:t>}</a:t>
            </a:r>
          </a:p>
          <a:p>
            <a:r>
              <a:rPr lang="en-IE" sz="1400" b="1" dirty="0" smtClean="0">
                <a:solidFill>
                  <a:srgbClr val="00669A"/>
                </a:solidFill>
                <a:latin typeface="UbuntuMono-Bold"/>
              </a:rPr>
              <a:t>public </a:t>
            </a:r>
            <a:r>
              <a:rPr lang="en-IE" sz="1400" dirty="0">
                <a:solidFill>
                  <a:srgbClr val="000089"/>
                </a:solidFill>
                <a:latin typeface="UbuntuMono-Regular"/>
              </a:rPr>
              <a:t>String </a:t>
            </a:r>
            <a:r>
              <a:rPr lang="en-IE" sz="1400" dirty="0" err="1">
                <a:solidFill>
                  <a:srgbClr val="CD00FF"/>
                </a:solidFill>
                <a:latin typeface="UbuntuMono-Regular"/>
              </a:rPr>
              <a:t>toString</a:t>
            </a:r>
            <a:r>
              <a:rPr lang="en-IE" sz="1400" dirty="0">
                <a:solidFill>
                  <a:srgbClr val="555555"/>
                </a:solidFill>
                <a:latin typeface="UbuntuMono-Regular"/>
              </a:rPr>
              <a:t>() {</a:t>
            </a:r>
          </a:p>
          <a:p>
            <a:r>
              <a:rPr lang="en-IE" sz="1400" b="1" dirty="0">
                <a:solidFill>
                  <a:srgbClr val="00669A"/>
                </a:solidFill>
                <a:latin typeface="UbuntuMono-Bold"/>
              </a:rPr>
              <a:t>return </a:t>
            </a:r>
            <a:r>
              <a:rPr lang="en-IE" sz="1400" dirty="0" err="1">
                <a:solidFill>
                  <a:srgbClr val="CD00FF"/>
                </a:solidFill>
                <a:latin typeface="UbuntuMono-Regular"/>
              </a:rPr>
              <a:t>getQuery</a:t>
            </a:r>
            <a:r>
              <a:rPr lang="en-IE" sz="1400" dirty="0">
                <a:solidFill>
                  <a:srgbClr val="555555"/>
                </a:solidFill>
                <a:latin typeface="UbuntuMono-Regular"/>
              </a:rPr>
              <a:t>();</a:t>
            </a:r>
          </a:p>
          <a:p>
            <a:r>
              <a:rPr lang="en-IE" sz="1400" dirty="0" smtClean="0">
                <a:solidFill>
                  <a:srgbClr val="555555"/>
                </a:solidFill>
                <a:latin typeface="UbuntuMono-Regular"/>
              </a:rPr>
              <a:t>}}</a:t>
            </a:r>
            <a:endParaRPr lang="en-IE" sz="1400" b="1" dirty="0">
              <a:solidFill>
                <a:srgbClr val="555555"/>
              </a:solidFill>
              <a:latin typeface="UbuntuMono-Regular"/>
            </a:endParaRPr>
          </a:p>
        </p:txBody>
      </p:sp>
    </p:spTree>
    <p:extLst>
      <p:ext uri="{BB962C8B-B14F-4D97-AF65-F5344CB8AC3E}">
        <p14:creationId xmlns:p14="http://schemas.microsoft.com/office/powerpoint/2010/main" val="422140030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39762"/>
          </a:xfrm>
        </p:spPr>
        <p:txBody>
          <a:bodyPr>
            <a:noAutofit/>
          </a:bodyPr>
          <a:lstStyle/>
          <a:p>
            <a:r>
              <a:rPr lang="en-IE" sz="2800" i="1" dirty="0" err="1" smtClean="0"/>
              <a:t>QueryString</a:t>
            </a:r>
            <a:r>
              <a:rPr lang="en-IE" sz="2800" i="1" dirty="0" smtClean="0"/>
              <a:t> Class Example</a:t>
            </a:r>
            <a:endParaRPr lang="en-IE" sz="2800" b="1" dirty="0"/>
          </a:p>
        </p:txBody>
      </p:sp>
      <p:sp>
        <p:nvSpPr>
          <p:cNvPr id="3" name="Content Placeholder 2"/>
          <p:cNvSpPr>
            <a:spLocks noGrp="1"/>
          </p:cNvSpPr>
          <p:nvPr>
            <p:ph idx="1"/>
          </p:nvPr>
        </p:nvSpPr>
        <p:spPr>
          <a:xfrm>
            <a:off x="0" y="609600"/>
            <a:ext cx="9144000" cy="6248400"/>
          </a:xfrm>
        </p:spPr>
        <p:txBody>
          <a:bodyPr>
            <a:noAutofit/>
          </a:bodyPr>
          <a:lstStyle/>
          <a:p>
            <a:r>
              <a:rPr lang="en-IE" sz="1800" dirty="0">
                <a:solidFill>
                  <a:srgbClr val="000000"/>
                </a:solidFill>
                <a:latin typeface="MinionPro-Regular"/>
              </a:rPr>
              <a:t>Using this class, we can now encode the previous example:</a:t>
            </a:r>
          </a:p>
          <a:p>
            <a:r>
              <a:rPr lang="en-IE" sz="1400" dirty="0" err="1">
                <a:solidFill>
                  <a:srgbClr val="000089"/>
                </a:solidFill>
                <a:latin typeface="UbuntuMono-Regular"/>
              </a:rPr>
              <a:t>QueryString</a:t>
            </a:r>
            <a:r>
              <a:rPr lang="en-IE" sz="1400" dirty="0">
                <a:solidFill>
                  <a:srgbClr val="000089"/>
                </a:solidFill>
                <a:latin typeface="UbuntuMono-Regular"/>
              </a:rPr>
              <a:t> </a:t>
            </a:r>
            <a:r>
              <a:rPr lang="en-IE" sz="1400" dirty="0" err="1">
                <a:solidFill>
                  <a:srgbClr val="000089"/>
                </a:solidFill>
                <a:latin typeface="UbuntuMono-Regular"/>
              </a:rPr>
              <a:t>qs</a:t>
            </a:r>
            <a:r>
              <a:rPr lang="en-IE" sz="1400" dirty="0">
                <a:solidFill>
                  <a:srgbClr val="000089"/>
                </a:solidFill>
                <a:latin typeface="UbuntuMono-Regular"/>
              </a:rPr>
              <a:t> </a:t>
            </a:r>
            <a:r>
              <a:rPr lang="en-IE" sz="1400" dirty="0">
                <a:solidFill>
                  <a:srgbClr val="555555"/>
                </a:solidFill>
                <a:latin typeface="UbuntuMono-Regular"/>
              </a:rPr>
              <a:t>= </a:t>
            </a:r>
            <a:r>
              <a:rPr lang="en-IE" sz="1400" b="1" dirty="0">
                <a:solidFill>
                  <a:srgbClr val="00669A"/>
                </a:solidFill>
                <a:latin typeface="UbuntuMono-Bold"/>
              </a:rPr>
              <a:t>new </a:t>
            </a:r>
            <a:r>
              <a:rPr lang="en-IE" sz="1400" dirty="0" err="1">
                <a:solidFill>
                  <a:srgbClr val="000089"/>
                </a:solidFill>
                <a:latin typeface="UbuntuMono-Regular"/>
              </a:rPr>
              <a:t>QueryString</a:t>
            </a:r>
            <a:r>
              <a:rPr lang="en-IE" sz="1400" dirty="0">
                <a:solidFill>
                  <a:srgbClr val="555555"/>
                </a:solidFill>
                <a:latin typeface="UbuntuMono-Regular"/>
              </a:rPr>
              <a:t>();</a:t>
            </a:r>
          </a:p>
          <a:p>
            <a:r>
              <a:rPr lang="en-IE" sz="1400" dirty="0" err="1">
                <a:solidFill>
                  <a:srgbClr val="000089"/>
                </a:solidFill>
                <a:latin typeface="UbuntuMono-Regular"/>
              </a:rPr>
              <a:t>qs</a:t>
            </a:r>
            <a:r>
              <a:rPr lang="en-IE" sz="1400" dirty="0" err="1">
                <a:solidFill>
                  <a:srgbClr val="555555"/>
                </a:solidFill>
                <a:latin typeface="UbuntuMono-Regular"/>
              </a:rPr>
              <a:t>.</a:t>
            </a:r>
            <a:r>
              <a:rPr lang="en-IE" sz="1400" dirty="0" err="1">
                <a:solidFill>
                  <a:srgbClr val="33009A"/>
                </a:solidFill>
                <a:latin typeface="UbuntuMono-Regular"/>
              </a:rPr>
              <a:t>add</a:t>
            </a:r>
            <a:r>
              <a:rPr lang="en-IE" sz="1400" dirty="0">
                <a:solidFill>
                  <a:srgbClr val="555555"/>
                </a:solidFill>
                <a:latin typeface="UbuntuMono-Regular"/>
              </a:rPr>
              <a:t>(</a:t>
            </a:r>
            <a:r>
              <a:rPr lang="en-IE" sz="1400" dirty="0">
                <a:solidFill>
                  <a:srgbClr val="CD3300"/>
                </a:solidFill>
                <a:latin typeface="UbuntuMono-Regular"/>
              </a:rPr>
              <a:t>"hl"</a:t>
            </a:r>
            <a:r>
              <a:rPr lang="en-IE" sz="1400" dirty="0">
                <a:solidFill>
                  <a:srgbClr val="555555"/>
                </a:solidFill>
                <a:latin typeface="UbuntuMono-Regular"/>
              </a:rPr>
              <a:t>, </a:t>
            </a:r>
            <a:r>
              <a:rPr lang="en-IE" sz="1400" dirty="0">
                <a:solidFill>
                  <a:srgbClr val="CD3300"/>
                </a:solidFill>
                <a:latin typeface="UbuntuMono-Regular"/>
              </a:rPr>
              <a:t>"</a:t>
            </a:r>
            <a:r>
              <a:rPr lang="en-IE" sz="1400" dirty="0" err="1">
                <a:solidFill>
                  <a:srgbClr val="CD3300"/>
                </a:solidFill>
                <a:latin typeface="UbuntuMono-Regular"/>
              </a:rPr>
              <a:t>en</a:t>
            </a:r>
            <a:r>
              <a:rPr lang="en-IE" sz="1400" dirty="0">
                <a:solidFill>
                  <a:srgbClr val="CD3300"/>
                </a:solidFill>
                <a:latin typeface="UbuntuMono-Regular"/>
              </a:rPr>
              <a:t>"</a:t>
            </a:r>
            <a:r>
              <a:rPr lang="en-IE" sz="1400" dirty="0">
                <a:solidFill>
                  <a:srgbClr val="555555"/>
                </a:solidFill>
                <a:latin typeface="UbuntuMono-Regular"/>
              </a:rPr>
              <a:t>);</a:t>
            </a:r>
          </a:p>
          <a:p>
            <a:r>
              <a:rPr lang="en-IE" sz="1400" dirty="0" err="1">
                <a:solidFill>
                  <a:srgbClr val="000089"/>
                </a:solidFill>
                <a:latin typeface="UbuntuMono-Regular"/>
              </a:rPr>
              <a:t>qs</a:t>
            </a:r>
            <a:r>
              <a:rPr lang="en-IE" sz="1400" dirty="0" err="1">
                <a:solidFill>
                  <a:srgbClr val="555555"/>
                </a:solidFill>
                <a:latin typeface="UbuntuMono-Regular"/>
              </a:rPr>
              <a:t>.</a:t>
            </a:r>
            <a:r>
              <a:rPr lang="en-IE" sz="1400" dirty="0" err="1">
                <a:solidFill>
                  <a:srgbClr val="33009A"/>
                </a:solidFill>
                <a:latin typeface="UbuntuMono-Regular"/>
              </a:rPr>
              <a:t>add</a:t>
            </a:r>
            <a:r>
              <a:rPr lang="en-IE" sz="1400" dirty="0">
                <a:solidFill>
                  <a:srgbClr val="555555"/>
                </a:solidFill>
                <a:latin typeface="UbuntuMono-Regular"/>
              </a:rPr>
              <a:t>(</a:t>
            </a:r>
            <a:r>
              <a:rPr lang="en-IE" sz="1400" dirty="0">
                <a:solidFill>
                  <a:srgbClr val="CD3300"/>
                </a:solidFill>
                <a:latin typeface="UbuntuMono-Regular"/>
              </a:rPr>
              <a:t>"</a:t>
            </a:r>
            <a:r>
              <a:rPr lang="en-IE" sz="1400" dirty="0" err="1">
                <a:solidFill>
                  <a:srgbClr val="CD3300"/>
                </a:solidFill>
                <a:latin typeface="UbuntuMono-Regular"/>
              </a:rPr>
              <a:t>as_q</a:t>
            </a:r>
            <a:r>
              <a:rPr lang="en-IE" sz="1400" dirty="0">
                <a:solidFill>
                  <a:srgbClr val="CD3300"/>
                </a:solidFill>
                <a:latin typeface="UbuntuMono-Regular"/>
              </a:rPr>
              <a:t>"</a:t>
            </a:r>
            <a:r>
              <a:rPr lang="en-IE" sz="1400" dirty="0">
                <a:solidFill>
                  <a:srgbClr val="555555"/>
                </a:solidFill>
                <a:latin typeface="UbuntuMono-Regular"/>
              </a:rPr>
              <a:t>, </a:t>
            </a:r>
            <a:r>
              <a:rPr lang="en-IE" sz="1400" dirty="0">
                <a:solidFill>
                  <a:srgbClr val="CD3300"/>
                </a:solidFill>
                <a:latin typeface="UbuntuMono-Regular"/>
              </a:rPr>
              <a:t>"Java"</a:t>
            </a:r>
            <a:r>
              <a:rPr lang="en-IE" sz="1400" dirty="0">
                <a:solidFill>
                  <a:srgbClr val="555555"/>
                </a:solidFill>
                <a:latin typeface="UbuntuMono-Regular"/>
              </a:rPr>
              <a:t>);</a:t>
            </a:r>
          </a:p>
          <a:p>
            <a:r>
              <a:rPr lang="en-IE" sz="1400" dirty="0" err="1">
                <a:solidFill>
                  <a:srgbClr val="000089"/>
                </a:solidFill>
                <a:latin typeface="UbuntuMono-Regular"/>
              </a:rPr>
              <a:t>qs</a:t>
            </a:r>
            <a:r>
              <a:rPr lang="en-IE" sz="1400" dirty="0" err="1">
                <a:solidFill>
                  <a:srgbClr val="555555"/>
                </a:solidFill>
                <a:latin typeface="UbuntuMono-Regular"/>
              </a:rPr>
              <a:t>.</a:t>
            </a:r>
            <a:r>
              <a:rPr lang="en-IE" sz="1400" dirty="0" err="1">
                <a:solidFill>
                  <a:srgbClr val="33009A"/>
                </a:solidFill>
                <a:latin typeface="UbuntuMono-Regular"/>
              </a:rPr>
              <a:t>add</a:t>
            </a:r>
            <a:r>
              <a:rPr lang="en-IE" sz="1400" dirty="0">
                <a:solidFill>
                  <a:srgbClr val="555555"/>
                </a:solidFill>
                <a:latin typeface="UbuntuMono-Regular"/>
              </a:rPr>
              <a:t>(</a:t>
            </a:r>
            <a:r>
              <a:rPr lang="en-IE" sz="1400" dirty="0">
                <a:solidFill>
                  <a:srgbClr val="CD3300"/>
                </a:solidFill>
                <a:latin typeface="UbuntuMono-Regular"/>
              </a:rPr>
              <a:t>"</a:t>
            </a:r>
            <a:r>
              <a:rPr lang="en-IE" sz="1400" dirty="0" err="1">
                <a:solidFill>
                  <a:srgbClr val="CD3300"/>
                </a:solidFill>
                <a:latin typeface="UbuntuMono-Regular"/>
              </a:rPr>
              <a:t>as_epq</a:t>
            </a:r>
            <a:r>
              <a:rPr lang="en-IE" sz="1400" dirty="0">
                <a:solidFill>
                  <a:srgbClr val="CD3300"/>
                </a:solidFill>
                <a:latin typeface="UbuntuMono-Regular"/>
              </a:rPr>
              <a:t>"</a:t>
            </a:r>
            <a:r>
              <a:rPr lang="en-IE" sz="1400" dirty="0">
                <a:solidFill>
                  <a:srgbClr val="555555"/>
                </a:solidFill>
                <a:latin typeface="UbuntuMono-Regular"/>
              </a:rPr>
              <a:t>, </a:t>
            </a:r>
            <a:r>
              <a:rPr lang="en-IE" sz="1400" dirty="0">
                <a:solidFill>
                  <a:srgbClr val="CD3300"/>
                </a:solidFill>
                <a:latin typeface="UbuntuMono-Regular"/>
              </a:rPr>
              <a:t>"I/O"</a:t>
            </a:r>
            <a:r>
              <a:rPr lang="en-IE" sz="1400" dirty="0">
                <a:solidFill>
                  <a:srgbClr val="555555"/>
                </a:solidFill>
                <a:latin typeface="UbuntuMono-Regular"/>
              </a:rPr>
              <a:t>);</a:t>
            </a:r>
          </a:p>
          <a:p>
            <a:r>
              <a:rPr lang="en-IE" sz="1400" dirty="0">
                <a:solidFill>
                  <a:srgbClr val="000089"/>
                </a:solidFill>
                <a:latin typeface="UbuntuMono-Regular"/>
              </a:rPr>
              <a:t>String </a:t>
            </a:r>
            <a:r>
              <a:rPr lang="en-IE" sz="1400" dirty="0" err="1">
                <a:solidFill>
                  <a:srgbClr val="000089"/>
                </a:solidFill>
                <a:latin typeface="UbuntuMono-Regular"/>
              </a:rPr>
              <a:t>url</a:t>
            </a:r>
            <a:r>
              <a:rPr lang="en-IE" sz="1400" dirty="0">
                <a:solidFill>
                  <a:srgbClr val="000089"/>
                </a:solidFill>
                <a:latin typeface="UbuntuMono-Regular"/>
              </a:rPr>
              <a:t> </a:t>
            </a:r>
            <a:r>
              <a:rPr lang="en-IE" sz="1400" dirty="0">
                <a:solidFill>
                  <a:srgbClr val="555555"/>
                </a:solidFill>
                <a:latin typeface="UbuntuMono-Regular"/>
              </a:rPr>
              <a:t>= </a:t>
            </a:r>
            <a:r>
              <a:rPr lang="en-IE" sz="1400" dirty="0">
                <a:solidFill>
                  <a:srgbClr val="CD3300"/>
                </a:solidFill>
                <a:latin typeface="UbuntuMono-Regular"/>
              </a:rPr>
              <a:t>"http://www.google.com/search?" </a:t>
            </a:r>
            <a:r>
              <a:rPr lang="en-IE" sz="1400" dirty="0">
                <a:solidFill>
                  <a:srgbClr val="555555"/>
                </a:solidFill>
                <a:latin typeface="UbuntuMono-Regular"/>
              </a:rPr>
              <a:t>+ </a:t>
            </a:r>
            <a:r>
              <a:rPr lang="en-IE" sz="1400" dirty="0" err="1">
                <a:solidFill>
                  <a:srgbClr val="000089"/>
                </a:solidFill>
                <a:latin typeface="UbuntuMono-Regular"/>
              </a:rPr>
              <a:t>qs</a:t>
            </a:r>
            <a:r>
              <a:rPr lang="en-IE" sz="1400" dirty="0">
                <a:solidFill>
                  <a:srgbClr val="555555"/>
                </a:solidFill>
                <a:latin typeface="UbuntuMono-Regular"/>
              </a:rPr>
              <a:t>;</a:t>
            </a:r>
          </a:p>
          <a:p>
            <a:r>
              <a:rPr lang="en-IE" sz="1400" dirty="0" err="1">
                <a:solidFill>
                  <a:srgbClr val="000089"/>
                </a:solidFill>
                <a:latin typeface="UbuntuMono-Regular"/>
              </a:rPr>
              <a:t>System</a:t>
            </a:r>
            <a:r>
              <a:rPr lang="en-IE" sz="1400" dirty="0" err="1">
                <a:solidFill>
                  <a:srgbClr val="555555"/>
                </a:solidFill>
                <a:latin typeface="UbuntuMono-Regular"/>
              </a:rPr>
              <a:t>.</a:t>
            </a:r>
            <a:r>
              <a:rPr lang="en-IE" sz="1400" dirty="0" err="1">
                <a:solidFill>
                  <a:srgbClr val="33009A"/>
                </a:solidFill>
                <a:latin typeface="UbuntuMono-Regular"/>
              </a:rPr>
              <a:t>out</a:t>
            </a:r>
            <a:r>
              <a:rPr lang="en-IE" sz="1400" dirty="0" err="1">
                <a:solidFill>
                  <a:srgbClr val="555555"/>
                </a:solidFill>
                <a:latin typeface="UbuntuMono-Regular"/>
              </a:rPr>
              <a:t>.</a:t>
            </a:r>
            <a:r>
              <a:rPr lang="en-IE" sz="1400" dirty="0" err="1">
                <a:solidFill>
                  <a:srgbClr val="33009A"/>
                </a:solidFill>
                <a:latin typeface="UbuntuMono-Regular"/>
              </a:rPr>
              <a:t>println</a:t>
            </a:r>
            <a:r>
              <a:rPr lang="en-IE" sz="1400" dirty="0">
                <a:solidFill>
                  <a:srgbClr val="555555"/>
                </a:solidFill>
                <a:latin typeface="UbuntuMono-Regular"/>
              </a:rPr>
              <a:t>(</a:t>
            </a:r>
            <a:r>
              <a:rPr lang="en-IE" sz="1400" dirty="0" err="1">
                <a:solidFill>
                  <a:srgbClr val="000089"/>
                </a:solidFill>
                <a:latin typeface="UbuntuMono-Regular"/>
              </a:rPr>
              <a:t>url</a:t>
            </a:r>
            <a:r>
              <a:rPr lang="en-IE" sz="1400" dirty="0" smtClean="0">
                <a:solidFill>
                  <a:srgbClr val="555555"/>
                </a:solidFill>
                <a:latin typeface="UbuntuMono-Regular"/>
              </a:rPr>
              <a:t>);</a:t>
            </a:r>
          </a:p>
          <a:p>
            <a:endParaRPr lang="en-US" sz="1400" b="1" dirty="0">
              <a:solidFill>
                <a:srgbClr val="555555"/>
              </a:solidFill>
              <a:latin typeface="UbuntuMono-Regular"/>
            </a:endParaRPr>
          </a:p>
          <a:p>
            <a:endParaRPr lang="en-US" sz="1400" b="1" dirty="0" smtClean="0">
              <a:solidFill>
                <a:srgbClr val="555555"/>
              </a:solidFill>
              <a:latin typeface="UbuntuMono-Regular"/>
            </a:endParaRPr>
          </a:p>
          <a:p>
            <a:endParaRPr lang="en-IE" sz="1400" b="1" dirty="0">
              <a:solidFill>
                <a:srgbClr val="555555"/>
              </a:solidFill>
              <a:latin typeface="UbuntuMono-Regular"/>
            </a:endParaRPr>
          </a:p>
        </p:txBody>
      </p:sp>
    </p:spTree>
    <p:extLst>
      <p:ext uri="{BB962C8B-B14F-4D97-AF65-F5344CB8AC3E}">
        <p14:creationId xmlns:p14="http://schemas.microsoft.com/office/powerpoint/2010/main" val="139716154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39762"/>
          </a:xfrm>
        </p:spPr>
        <p:txBody>
          <a:bodyPr>
            <a:noAutofit/>
          </a:bodyPr>
          <a:lstStyle/>
          <a:p>
            <a:r>
              <a:rPr lang="en-IE" sz="2800" i="1" dirty="0" err="1" smtClean="0"/>
              <a:t>URLDecoder</a:t>
            </a:r>
            <a:endParaRPr lang="en-IE" sz="2800" b="1" dirty="0"/>
          </a:p>
        </p:txBody>
      </p:sp>
      <p:sp>
        <p:nvSpPr>
          <p:cNvPr id="3" name="Content Placeholder 2"/>
          <p:cNvSpPr>
            <a:spLocks noGrp="1"/>
          </p:cNvSpPr>
          <p:nvPr>
            <p:ph idx="1"/>
          </p:nvPr>
        </p:nvSpPr>
        <p:spPr>
          <a:xfrm>
            <a:off x="0" y="609600"/>
            <a:ext cx="9144000" cy="6248400"/>
          </a:xfrm>
        </p:spPr>
        <p:txBody>
          <a:bodyPr>
            <a:noAutofit/>
          </a:bodyPr>
          <a:lstStyle/>
          <a:p>
            <a:r>
              <a:rPr lang="en-IE" sz="1800" dirty="0"/>
              <a:t>The corresponding </a:t>
            </a:r>
            <a:r>
              <a:rPr lang="en-IE" sz="1800" dirty="0" err="1"/>
              <a:t>URLDecoder</a:t>
            </a:r>
            <a:r>
              <a:rPr lang="en-IE" sz="1800" dirty="0"/>
              <a:t> class has a static decode() method that decodes </a:t>
            </a:r>
            <a:r>
              <a:rPr lang="en-IE" sz="1800" dirty="0" smtClean="0"/>
              <a:t>strings encoded </a:t>
            </a:r>
            <a:r>
              <a:rPr lang="en-IE" sz="1800" dirty="0"/>
              <a:t>in x-www-form-</a:t>
            </a:r>
            <a:r>
              <a:rPr lang="en-IE" sz="1800" dirty="0" err="1"/>
              <a:t>url</a:t>
            </a:r>
            <a:r>
              <a:rPr lang="en-IE" sz="1800" dirty="0"/>
              <a:t>-encoded format. That is, it converts all plus signs to </a:t>
            </a:r>
            <a:r>
              <a:rPr lang="en-IE" sz="1800" dirty="0" smtClean="0"/>
              <a:t>spaces and </a:t>
            </a:r>
            <a:r>
              <a:rPr lang="en-IE" sz="1800" dirty="0"/>
              <a:t>all percent escapes to their corresponding character:</a:t>
            </a:r>
            <a:endParaRPr lang="en-IE" sz="1800" dirty="0" smtClean="0"/>
          </a:p>
          <a:p>
            <a:endParaRPr lang="en-IE" sz="1800" dirty="0"/>
          </a:p>
          <a:p>
            <a:endParaRPr lang="en-IE" sz="1800" dirty="0" smtClean="0"/>
          </a:p>
          <a:p>
            <a:r>
              <a:rPr lang="en-IE" sz="1800" dirty="0" smtClean="0"/>
              <a:t>String </a:t>
            </a:r>
            <a:r>
              <a:rPr lang="en-IE" sz="1800" dirty="0"/>
              <a:t>input = "https://</a:t>
            </a:r>
            <a:r>
              <a:rPr lang="en-IE" sz="1800" dirty="0" smtClean="0"/>
              <a:t>www.google.com/search?hl=en&amp;as_q=Java&amp;as_epq=I%2FO</a:t>
            </a:r>
            <a:r>
              <a:rPr lang="en-IE" sz="1800" dirty="0"/>
              <a:t>";</a:t>
            </a:r>
          </a:p>
          <a:p>
            <a:r>
              <a:rPr lang="en-IE" sz="1800" dirty="0"/>
              <a:t>String output = </a:t>
            </a:r>
            <a:r>
              <a:rPr lang="en-IE" sz="1800" dirty="0" err="1"/>
              <a:t>URLDecoder.decode</a:t>
            </a:r>
            <a:r>
              <a:rPr lang="en-IE" sz="1800" dirty="0"/>
              <a:t>(input, "UTF-8");</a:t>
            </a:r>
          </a:p>
          <a:p>
            <a:r>
              <a:rPr lang="en-IE" sz="1800" dirty="0" err="1"/>
              <a:t>System.out.println</a:t>
            </a:r>
            <a:r>
              <a:rPr lang="en-IE" sz="1800" dirty="0"/>
              <a:t>(output);</a:t>
            </a:r>
            <a:endParaRPr lang="en-IE" sz="1400" b="1" dirty="0">
              <a:solidFill>
                <a:srgbClr val="555555"/>
              </a:solidFill>
              <a:latin typeface="UbuntuMono-Regular"/>
            </a:endParaRPr>
          </a:p>
        </p:txBody>
      </p:sp>
    </p:spTree>
    <p:extLst>
      <p:ext uri="{BB962C8B-B14F-4D97-AF65-F5344CB8AC3E}">
        <p14:creationId xmlns:p14="http://schemas.microsoft.com/office/powerpoint/2010/main" val="37932888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39762"/>
          </a:xfrm>
        </p:spPr>
        <p:txBody>
          <a:bodyPr>
            <a:noAutofit/>
          </a:bodyPr>
          <a:lstStyle/>
          <a:p>
            <a:r>
              <a:rPr lang="en-IE" sz="2800" i="1" dirty="0" smtClean="0"/>
              <a:t>Proxy</a:t>
            </a:r>
            <a:endParaRPr lang="en-IE" sz="2800" b="1" dirty="0"/>
          </a:p>
        </p:txBody>
      </p:sp>
      <p:sp>
        <p:nvSpPr>
          <p:cNvPr id="3" name="Content Placeholder 2"/>
          <p:cNvSpPr>
            <a:spLocks noGrp="1"/>
          </p:cNvSpPr>
          <p:nvPr>
            <p:ph idx="1"/>
          </p:nvPr>
        </p:nvSpPr>
        <p:spPr>
          <a:xfrm>
            <a:off x="0" y="609600"/>
            <a:ext cx="9144000" cy="6248400"/>
          </a:xfrm>
        </p:spPr>
        <p:txBody>
          <a:bodyPr>
            <a:noAutofit/>
          </a:bodyPr>
          <a:lstStyle/>
          <a:p>
            <a:r>
              <a:rPr lang="en-IE" sz="1800" dirty="0">
                <a:solidFill>
                  <a:srgbClr val="000000"/>
                </a:solidFill>
                <a:latin typeface="MinionPro-Regular"/>
              </a:rPr>
              <a:t>Many systems access the Web and sometimes other non-HTTP parts of the Internet through proxy servers. </a:t>
            </a:r>
          </a:p>
          <a:p>
            <a:r>
              <a:rPr lang="en-IE" sz="1800" dirty="0">
                <a:solidFill>
                  <a:srgbClr val="000000"/>
                </a:solidFill>
                <a:latin typeface="MinionPro-Regular"/>
              </a:rPr>
              <a:t>A proxy server receives a request for a remote server from a local client. </a:t>
            </a:r>
          </a:p>
          <a:p>
            <a:r>
              <a:rPr lang="en-IE" sz="1800" dirty="0">
                <a:solidFill>
                  <a:srgbClr val="000000"/>
                </a:solidFill>
                <a:latin typeface="MinionPro-Regular"/>
              </a:rPr>
              <a:t>The proxy server makes the request to the remote server and forwards the result back to the local client. </a:t>
            </a:r>
          </a:p>
          <a:p>
            <a:r>
              <a:rPr lang="en-IE" sz="1800" dirty="0">
                <a:solidFill>
                  <a:srgbClr val="000000"/>
                </a:solidFill>
                <a:latin typeface="MinionPro-Regular"/>
              </a:rPr>
              <a:t>Java programs based on the URL class can work through most common proxy servers and protocols. </a:t>
            </a:r>
          </a:p>
          <a:p>
            <a:r>
              <a:rPr lang="en-IE" sz="1800" dirty="0">
                <a:solidFill>
                  <a:srgbClr val="000000"/>
                </a:solidFill>
                <a:latin typeface="MinionPro-Regular"/>
              </a:rPr>
              <a:t>If you are using a pure HTTP proxy, set </a:t>
            </a:r>
            <a:r>
              <a:rPr lang="en-IE" sz="1800" dirty="0" err="1">
                <a:solidFill>
                  <a:srgbClr val="000000"/>
                </a:solidFill>
                <a:latin typeface="MinionPro-Regular"/>
              </a:rPr>
              <a:t>http.proxyHost</a:t>
            </a:r>
            <a:r>
              <a:rPr lang="en-IE" sz="1800" dirty="0">
                <a:solidFill>
                  <a:srgbClr val="000000"/>
                </a:solidFill>
                <a:latin typeface="MinionPro-Regular"/>
              </a:rPr>
              <a:t> to the domain name or the IP address of your proxy server and </a:t>
            </a:r>
            <a:r>
              <a:rPr lang="en-IE" sz="1800" dirty="0" err="1">
                <a:solidFill>
                  <a:srgbClr val="000000"/>
                </a:solidFill>
                <a:latin typeface="MinionPro-Regular"/>
              </a:rPr>
              <a:t>http.proxyPort</a:t>
            </a:r>
            <a:r>
              <a:rPr lang="en-IE" sz="1800" dirty="0">
                <a:solidFill>
                  <a:srgbClr val="000000"/>
                </a:solidFill>
                <a:latin typeface="MinionPro-Regular"/>
              </a:rPr>
              <a:t> to the port of the proxy server (the default is 80). You can do this by calling </a:t>
            </a:r>
            <a:r>
              <a:rPr lang="en-IE" sz="1800" dirty="0" err="1">
                <a:solidFill>
                  <a:srgbClr val="000000"/>
                </a:solidFill>
                <a:latin typeface="MinionPro-Regular"/>
              </a:rPr>
              <a:t>System.setProperty</a:t>
            </a:r>
            <a:r>
              <a:rPr lang="en-IE" sz="1800" dirty="0">
                <a:solidFill>
                  <a:srgbClr val="000000"/>
                </a:solidFill>
                <a:latin typeface="MinionPro-Regular"/>
              </a:rPr>
              <a:t>() from within your Java code</a:t>
            </a:r>
          </a:p>
          <a:p>
            <a:r>
              <a:rPr lang="en-IE" sz="1800" dirty="0" smtClean="0">
                <a:solidFill>
                  <a:srgbClr val="000000"/>
                </a:solidFill>
                <a:latin typeface="MinionPro-Regular"/>
              </a:rPr>
              <a:t>If </a:t>
            </a:r>
            <a:r>
              <a:rPr lang="en-IE" sz="1800" dirty="0">
                <a:solidFill>
                  <a:srgbClr val="000000"/>
                </a:solidFill>
                <a:latin typeface="MinionPro-Regular"/>
              </a:rPr>
              <a:t>you want to exclude a host from being </a:t>
            </a:r>
            <a:r>
              <a:rPr lang="en-IE" sz="1800" dirty="0" err="1">
                <a:solidFill>
                  <a:srgbClr val="000000"/>
                </a:solidFill>
                <a:latin typeface="MinionPro-Regular"/>
              </a:rPr>
              <a:t>proxied</a:t>
            </a:r>
            <a:r>
              <a:rPr lang="en-IE" sz="1800" dirty="0">
                <a:solidFill>
                  <a:srgbClr val="000000"/>
                </a:solidFill>
                <a:latin typeface="MinionPro-Regular"/>
              </a:rPr>
              <a:t> and connect directly instead, set </a:t>
            </a:r>
            <a:r>
              <a:rPr lang="en-IE" sz="1800" dirty="0" smtClean="0">
                <a:solidFill>
                  <a:srgbClr val="000000"/>
                </a:solidFill>
                <a:latin typeface="MinionPro-Regular"/>
              </a:rPr>
              <a:t>the </a:t>
            </a:r>
            <a:r>
              <a:rPr lang="en-IE" sz="1800" dirty="0" err="1" smtClean="0">
                <a:solidFill>
                  <a:srgbClr val="000000"/>
                </a:solidFill>
                <a:latin typeface="UbuntuMono-Regular"/>
              </a:rPr>
              <a:t>http.nonProxyHosts</a:t>
            </a:r>
            <a:r>
              <a:rPr lang="en-IE" sz="1800" dirty="0" smtClean="0">
                <a:solidFill>
                  <a:srgbClr val="000000"/>
                </a:solidFill>
                <a:latin typeface="UbuntuMono-Regular"/>
              </a:rPr>
              <a:t> </a:t>
            </a:r>
            <a:r>
              <a:rPr lang="en-IE" sz="1800" dirty="0">
                <a:solidFill>
                  <a:srgbClr val="000000"/>
                </a:solidFill>
                <a:latin typeface="MinionPro-Regular"/>
              </a:rPr>
              <a:t>system property to its hostname or IP address. </a:t>
            </a:r>
            <a:endParaRPr lang="en-IE" sz="1800" dirty="0" smtClean="0">
              <a:solidFill>
                <a:srgbClr val="000000"/>
              </a:solidFill>
              <a:latin typeface="MinionPro-Regular"/>
            </a:endParaRPr>
          </a:p>
          <a:p>
            <a:r>
              <a:rPr lang="en-IE" sz="1800" dirty="0" smtClean="0">
                <a:solidFill>
                  <a:srgbClr val="000000"/>
                </a:solidFill>
                <a:latin typeface="MinionPro-Regular"/>
              </a:rPr>
              <a:t>To </a:t>
            </a:r>
            <a:r>
              <a:rPr lang="en-IE" sz="1800" dirty="0">
                <a:solidFill>
                  <a:srgbClr val="000000"/>
                </a:solidFill>
                <a:latin typeface="MinionPro-Regular"/>
              </a:rPr>
              <a:t>exclude </a:t>
            </a:r>
            <a:r>
              <a:rPr lang="en-IE" sz="1800" dirty="0" smtClean="0">
                <a:solidFill>
                  <a:srgbClr val="000000"/>
                </a:solidFill>
                <a:latin typeface="MinionPro-Regular"/>
              </a:rPr>
              <a:t>multiple hosts</a:t>
            </a:r>
            <a:r>
              <a:rPr lang="en-IE" sz="1800" dirty="0">
                <a:solidFill>
                  <a:srgbClr val="000000"/>
                </a:solidFill>
                <a:latin typeface="MinionPro-Regular"/>
              </a:rPr>
              <a:t>, separate their names by vertical bars. </a:t>
            </a:r>
            <a:endParaRPr lang="en-IE" sz="1800" dirty="0" smtClean="0">
              <a:solidFill>
                <a:srgbClr val="000000"/>
              </a:solidFill>
              <a:latin typeface="MinionPro-Regular"/>
            </a:endParaRPr>
          </a:p>
          <a:p>
            <a:r>
              <a:rPr lang="en-IE" sz="1800" dirty="0" smtClean="0">
                <a:solidFill>
                  <a:srgbClr val="000000"/>
                </a:solidFill>
                <a:latin typeface="MinionPro-Regular"/>
              </a:rPr>
              <a:t>For </a:t>
            </a:r>
            <a:r>
              <a:rPr lang="en-IE" sz="1800" dirty="0">
                <a:solidFill>
                  <a:srgbClr val="000000"/>
                </a:solidFill>
                <a:latin typeface="MinionPro-Regular"/>
              </a:rPr>
              <a:t>example, this code fragment </a:t>
            </a:r>
            <a:r>
              <a:rPr lang="en-IE" sz="1800" dirty="0" smtClean="0">
                <a:solidFill>
                  <a:srgbClr val="000000"/>
                </a:solidFill>
                <a:latin typeface="MinionPro-Regular"/>
              </a:rPr>
              <a:t>proxies everything </a:t>
            </a:r>
            <a:r>
              <a:rPr lang="en-IE" sz="1800" dirty="0">
                <a:solidFill>
                  <a:srgbClr val="000000"/>
                </a:solidFill>
                <a:latin typeface="MinionPro-Regular"/>
              </a:rPr>
              <a:t>except </a:t>
            </a:r>
            <a:r>
              <a:rPr lang="en-IE" sz="1800" i="1" dirty="0">
                <a:solidFill>
                  <a:srgbClr val="000000"/>
                </a:solidFill>
                <a:latin typeface="MinionPro-Italic"/>
              </a:rPr>
              <a:t>java.oreilly.com </a:t>
            </a:r>
            <a:r>
              <a:rPr lang="en-IE" sz="1800" dirty="0">
                <a:solidFill>
                  <a:srgbClr val="000000"/>
                </a:solidFill>
                <a:latin typeface="MinionPro-Regular"/>
              </a:rPr>
              <a:t>and </a:t>
            </a:r>
            <a:r>
              <a:rPr lang="en-IE" sz="1800" i="1" dirty="0">
                <a:solidFill>
                  <a:srgbClr val="000000"/>
                </a:solidFill>
                <a:latin typeface="MinionPro-Italic"/>
              </a:rPr>
              <a:t>xml.oreilly.com</a:t>
            </a:r>
            <a:r>
              <a:rPr lang="en-IE" sz="1800" dirty="0">
                <a:solidFill>
                  <a:srgbClr val="000000"/>
                </a:solidFill>
                <a:latin typeface="MinionPro-Regular"/>
              </a:rPr>
              <a:t>:</a:t>
            </a:r>
          </a:p>
          <a:p>
            <a:r>
              <a:rPr lang="en-IE" sz="1400" dirty="0" err="1">
                <a:solidFill>
                  <a:srgbClr val="000089"/>
                </a:solidFill>
                <a:latin typeface="UbuntuMono-Regular"/>
              </a:rPr>
              <a:t>System</a:t>
            </a:r>
            <a:r>
              <a:rPr lang="en-IE" sz="1400" dirty="0" err="1">
                <a:solidFill>
                  <a:srgbClr val="555555"/>
                </a:solidFill>
                <a:latin typeface="UbuntuMono-Regular"/>
              </a:rPr>
              <a:t>.</a:t>
            </a:r>
            <a:r>
              <a:rPr lang="en-IE" sz="1400" dirty="0" err="1">
                <a:solidFill>
                  <a:srgbClr val="33009A"/>
                </a:solidFill>
                <a:latin typeface="UbuntuMono-Regular"/>
              </a:rPr>
              <a:t>setProperty</a:t>
            </a:r>
            <a:r>
              <a:rPr lang="en-IE" sz="1400" dirty="0">
                <a:solidFill>
                  <a:srgbClr val="555555"/>
                </a:solidFill>
                <a:latin typeface="UbuntuMono-Regular"/>
              </a:rPr>
              <a:t>(</a:t>
            </a:r>
            <a:r>
              <a:rPr lang="en-IE" sz="1400" dirty="0">
                <a:solidFill>
                  <a:srgbClr val="CD3300"/>
                </a:solidFill>
                <a:latin typeface="UbuntuMono-Regular"/>
              </a:rPr>
              <a:t>"</a:t>
            </a:r>
            <a:r>
              <a:rPr lang="en-IE" sz="1400" dirty="0" err="1">
                <a:solidFill>
                  <a:srgbClr val="CD3300"/>
                </a:solidFill>
                <a:latin typeface="UbuntuMono-Regular"/>
              </a:rPr>
              <a:t>http.proxyHost</a:t>
            </a:r>
            <a:r>
              <a:rPr lang="en-IE" sz="1400" dirty="0">
                <a:solidFill>
                  <a:srgbClr val="CD3300"/>
                </a:solidFill>
                <a:latin typeface="UbuntuMono-Regular"/>
              </a:rPr>
              <a:t>"</a:t>
            </a:r>
            <a:r>
              <a:rPr lang="en-IE" sz="1400" dirty="0">
                <a:solidFill>
                  <a:srgbClr val="555555"/>
                </a:solidFill>
                <a:latin typeface="UbuntuMono-Regular"/>
              </a:rPr>
              <a:t>, </a:t>
            </a:r>
            <a:r>
              <a:rPr lang="en-IE" sz="1400" dirty="0">
                <a:solidFill>
                  <a:srgbClr val="CD3300"/>
                </a:solidFill>
                <a:latin typeface="UbuntuMono-Regular"/>
              </a:rPr>
              <a:t>"192.168.254.254"</a:t>
            </a:r>
            <a:r>
              <a:rPr lang="en-IE" sz="1400" dirty="0">
                <a:solidFill>
                  <a:srgbClr val="555555"/>
                </a:solidFill>
                <a:latin typeface="UbuntuMono-Regular"/>
              </a:rPr>
              <a:t>);</a:t>
            </a:r>
          </a:p>
          <a:p>
            <a:r>
              <a:rPr lang="en-IE" sz="1400" dirty="0" err="1">
                <a:solidFill>
                  <a:srgbClr val="000089"/>
                </a:solidFill>
                <a:latin typeface="UbuntuMono-Regular"/>
              </a:rPr>
              <a:t>System</a:t>
            </a:r>
            <a:r>
              <a:rPr lang="en-IE" sz="1400" dirty="0" err="1">
                <a:solidFill>
                  <a:srgbClr val="555555"/>
                </a:solidFill>
                <a:latin typeface="UbuntuMono-Regular"/>
              </a:rPr>
              <a:t>.</a:t>
            </a:r>
            <a:r>
              <a:rPr lang="en-IE" sz="1400" dirty="0" err="1">
                <a:solidFill>
                  <a:srgbClr val="33009A"/>
                </a:solidFill>
                <a:latin typeface="UbuntuMono-Regular"/>
              </a:rPr>
              <a:t>setProperty</a:t>
            </a:r>
            <a:r>
              <a:rPr lang="en-IE" sz="1400" dirty="0">
                <a:solidFill>
                  <a:srgbClr val="555555"/>
                </a:solidFill>
                <a:latin typeface="UbuntuMono-Regular"/>
              </a:rPr>
              <a:t>(</a:t>
            </a:r>
            <a:r>
              <a:rPr lang="en-IE" sz="1400" dirty="0">
                <a:solidFill>
                  <a:srgbClr val="CD3300"/>
                </a:solidFill>
                <a:latin typeface="UbuntuMono-Regular"/>
              </a:rPr>
              <a:t>"</a:t>
            </a:r>
            <a:r>
              <a:rPr lang="en-IE" sz="1400" dirty="0" err="1">
                <a:solidFill>
                  <a:srgbClr val="CD3300"/>
                </a:solidFill>
                <a:latin typeface="UbuntuMono-Regular"/>
              </a:rPr>
              <a:t>http.proxyPort</a:t>
            </a:r>
            <a:r>
              <a:rPr lang="en-IE" sz="1400" dirty="0">
                <a:solidFill>
                  <a:srgbClr val="CD3300"/>
                </a:solidFill>
                <a:latin typeface="UbuntuMono-Regular"/>
              </a:rPr>
              <a:t>"</a:t>
            </a:r>
            <a:r>
              <a:rPr lang="en-IE" sz="1400" dirty="0">
                <a:solidFill>
                  <a:srgbClr val="555555"/>
                </a:solidFill>
                <a:latin typeface="UbuntuMono-Regular"/>
              </a:rPr>
              <a:t>, </a:t>
            </a:r>
            <a:r>
              <a:rPr lang="en-IE" sz="1400" dirty="0">
                <a:solidFill>
                  <a:srgbClr val="CD3300"/>
                </a:solidFill>
                <a:latin typeface="UbuntuMono-Regular"/>
              </a:rPr>
              <a:t>"9000"</a:t>
            </a:r>
            <a:r>
              <a:rPr lang="en-IE" sz="1400" dirty="0">
                <a:solidFill>
                  <a:srgbClr val="555555"/>
                </a:solidFill>
                <a:latin typeface="UbuntuMono-Regular"/>
              </a:rPr>
              <a:t>);</a:t>
            </a:r>
          </a:p>
          <a:p>
            <a:r>
              <a:rPr lang="en-IE" sz="1400" dirty="0" err="1">
                <a:solidFill>
                  <a:srgbClr val="000089"/>
                </a:solidFill>
                <a:latin typeface="UbuntuMono-Regular"/>
              </a:rPr>
              <a:t>System</a:t>
            </a:r>
            <a:r>
              <a:rPr lang="en-IE" sz="1400" dirty="0" err="1">
                <a:solidFill>
                  <a:srgbClr val="555555"/>
                </a:solidFill>
                <a:latin typeface="UbuntuMono-Regular"/>
              </a:rPr>
              <a:t>.</a:t>
            </a:r>
            <a:r>
              <a:rPr lang="en-IE" sz="1400" dirty="0" err="1">
                <a:solidFill>
                  <a:srgbClr val="33009A"/>
                </a:solidFill>
                <a:latin typeface="UbuntuMono-Regular"/>
              </a:rPr>
              <a:t>setProperty</a:t>
            </a:r>
            <a:r>
              <a:rPr lang="en-IE" sz="1400" dirty="0">
                <a:solidFill>
                  <a:srgbClr val="555555"/>
                </a:solidFill>
                <a:latin typeface="UbuntuMono-Regular"/>
              </a:rPr>
              <a:t>(</a:t>
            </a:r>
            <a:r>
              <a:rPr lang="en-IE" sz="1400" dirty="0">
                <a:solidFill>
                  <a:srgbClr val="CD3300"/>
                </a:solidFill>
                <a:latin typeface="UbuntuMono-Regular"/>
              </a:rPr>
              <a:t>"</a:t>
            </a:r>
            <a:r>
              <a:rPr lang="en-IE" sz="1400" dirty="0" err="1">
                <a:solidFill>
                  <a:srgbClr val="CD3300"/>
                </a:solidFill>
                <a:latin typeface="UbuntuMono-Regular"/>
              </a:rPr>
              <a:t>http.nonProxyHosts</a:t>
            </a:r>
            <a:r>
              <a:rPr lang="en-IE" sz="1400" dirty="0">
                <a:solidFill>
                  <a:srgbClr val="CD3300"/>
                </a:solidFill>
                <a:latin typeface="UbuntuMono-Regular"/>
              </a:rPr>
              <a:t>"</a:t>
            </a:r>
            <a:r>
              <a:rPr lang="en-IE" sz="1400" dirty="0">
                <a:solidFill>
                  <a:srgbClr val="555555"/>
                </a:solidFill>
                <a:latin typeface="UbuntuMono-Regular"/>
              </a:rPr>
              <a:t>, </a:t>
            </a:r>
            <a:r>
              <a:rPr lang="en-IE" sz="1400" dirty="0">
                <a:solidFill>
                  <a:srgbClr val="CD3300"/>
                </a:solidFill>
                <a:latin typeface="UbuntuMono-Regular"/>
              </a:rPr>
              <a:t>"java.oreilly.com|xml.oreilly.com</a:t>
            </a:r>
            <a:r>
              <a:rPr lang="en-IE" sz="1400" dirty="0" smtClean="0">
                <a:solidFill>
                  <a:srgbClr val="CD3300"/>
                </a:solidFill>
                <a:latin typeface="UbuntuMono-Regular"/>
              </a:rPr>
              <a:t>"</a:t>
            </a:r>
            <a:r>
              <a:rPr lang="en-IE" sz="1400" dirty="0" smtClean="0">
                <a:solidFill>
                  <a:srgbClr val="555555"/>
                </a:solidFill>
                <a:latin typeface="UbuntuMono-Regular"/>
              </a:rPr>
              <a:t>);</a:t>
            </a:r>
          </a:p>
          <a:p>
            <a:r>
              <a:rPr lang="en-IE" sz="1800" dirty="0" smtClean="0">
                <a:solidFill>
                  <a:schemeClr val="tx2"/>
                </a:solidFill>
              </a:rPr>
              <a:t>If </a:t>
            </a:r>
            <a:r>
              <a:rPr lang="en-IE" sz="1800" dirty="0">
                <a:solidFill>
                  <a:schemeClr val="tx2"/>
                </a:solidFill>
              </a:rPr>
              <a:t>you are using an FTP proxy server, set the </a:t>
            </a:r>
            <a:r>
              <a:rPr lang="en-IE" sz="1800" dirty="0" err="1">
                <a:solidFill>
                  <a:schemeClr val="tx2"/>
                </a:solidFill>
              </a:rPr>
              <a:t>ftp.proxyHost</a:t>
            </a:r>
            <a:r>
              <a:rPr lang="en-IE" sz="1800" dirty="0">
                <a:solidFill>
                  <a:schemeClr val="tx2"/>
                </a:solidFill>
              </a:rPr>
              <a:t>, </a:t>
            </a:r>
            <a:r>
              <a:rPr lang="en-IE" sz="1800" dirty="0" err="1">
                <a:solidFill>
                  <a:schemeClr val="tx2"/>
                </a:solidFill>
              </a:rPr>
              <a:t>ftp.proxyPort</a:t>
            </a:r>
            <a:r>
              <a:rPr lang="en-IE" sz="1800" dirty="0">
                <a:solidFill>
                  <a:schemeClr val="tx2"/>
                </a:solidFill>
              </a:rPr>
              <a:t>, </a:t>
            </a:r>
            <a:r>
              <a:rPr lang="en-IE" sz="1800" dirty="0" smtClean="0">
                <a:solidFill>
                  <a:schemeClr val="tx2"/>
                </a:solidFill>
              </a:rPr>
              <a:t>and </a:t>
            </a:r>
            <a:r>
              <a:rPr lang="en-IE" sz="1800" dirty="0" err="1" smtClean="0">
                <a:solidFill>
                  <a:schemeClr val="tx2"/>
                </a:solidFill>
              </a:rPr>
              <a:t>ftp.nonProxyHosts</a:t>
            </a:r>
            <a:r>
              <a:rPr lang="en-IE" sz="1800" dirty="0" smtClean="0">
                <a:solidFill>
                  <a:schemeClr val="tx2"/>
                </a:solidFill>
              </a:rPr>
              <a:t> </a:t>
            </a:r>
            <a:r>
              <a:rPr lang="en-IE" sz="1800" dirty="0">
                <a:solidFill>
                  <a:schemeClr val="tx2"/>
                </a:solidFill>
              </a:rPr>
              <a:t>properties in the same way.</a:t>
            </a:r>
            <a:endParaRPr lang="en-IE" sz="1800" b="1" dirty="0">
              <a:solidFill>
                <a:schemeClr val="tx2"/>
              </a:solidFill>
              <a:latin typeface="UbuntuMono-Regular"/>
            </a:endParaRPr>
          </a:p>
        </p:txBody>
      </p:sp>
    </p:spTree>
    <p:extLst>
      <p:ext uri="{BB962C8B-B14F-4D97-AF65-F5344CB8AC3E}">
        <p14:creationId xmlns:p14="http://schemas.microsoft.com/office/powerpoint/2010/main" val="350145856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39762"/>
          </a:xfrm>
        </p:spPr>
        <p:txBody>
          <a:bodyPr>
            <a:noAutofit/>
          </a:bodyPr>
          <a:lstStyle/>
          <a:p>
            <a:r>
              <a:rPr lang="en-IE" sz="2800" i="1" dirty="0" smtClean="0"/>
              <a:t>The Proxy Class</a:t>
            </a:r>
            <a:endParaRPr lang="en-IE" sz="2800" b="1" dirty="0"/>
          </a:p>
        </p:txBody>
      </p:sp>
      <p:sp>
        <p:nvSpPr>
          <p:cNvPr id="3" name="Content Placeholder 2"/>
          <p:cNvSpPr>
            <a:spLocks noGrp="1"/>
          </p:cNvSpPr>
          <p:nvPr>
            <p:ph idx="1"/>
          </p:nvPr>
        </p:nvSpPr>
        <p:spPr>
          <a:xfrm>
            <a:off x="0" y="609600"/>
            <a:ext cx="9144000" cy="6248400"/>
          </a:xfrm>
        </p:spPr>
        <p:txBody>
          <a:bodyPr>
            <a:noAutofit/>
          </a:bodyPr>
          <a:lstStyle/>
          <a:p>
            <a:r>
              <a:rPr lang="en-IE" sz="1800" dirty="0">
                <a:latin typeface="MinionPro-Regular"/>
              </a:rPr>
              <a:t>The </a:t>
            </a:r>
            <a:r>
              <a:rPr lang="en-IE" sz="1800" dirty="0">
                <a:latin typeface="UbuntuMono-Regular"/>
              </a:rPr>
              <a:t>Proxy </a:t>
            </a:r>
            <a:r>
              <a:rPr lang="en-IE" sz="1800" dirty="0">
                <a:latin typeface="MinionPro-Regular"/>
              </a:rPr>
              <a:t>class allows more fine-grained control of proxy servers from within a </a:t>
            </a:r>
            <a:r>
              <a:rPr lang="en-IE" sz="1800" dirty="0" smtClean="0">
                <a:latin typeface="MinionPro-Regular"/>
              </a:rPr>
              <a:t>Java program</a:t>
            </a:r>
            <a:r>
              <a:rPr lang="en-IE" sz="1800" dirty="0">
                <a:latin typeface="MinionPro-Regular"/>
              </a:rPr>
              <a:t>. Specifically, it allows you to choose different proxy servers for different </a:t>
            </a:r>
            <a:r>
              <a:rPr lang="en-IE" sz="1800" dirty="0" smtClean="0">
                <a:latin typeface="MinionPro-Regular"/>
              </a:rPr>
              <a:t>remote hosts</a:t>
            </a:r>
            <a:r>
              <a:rPr lang="en-IE" sz="1800" dirty="0">
                <a:latin typeface="MinionPro-Regular"/>
              </a:rPr>
              <a:t>. </a:t>
            </a:r>
            <a:endParaRPr lang="en-IE" sz="1800" dirty="0" smtClean="0">
              <a:latin typeface="MinionPro-Regular"/>
            </a:endParaRPr>
          </a:p>
          <a:p>
            <a:r>
              <a:rPr lang="en-IE" sz="1800" dirty="0" smtClean="0">
                <a:latin typeface="MinionPro-Regular"/>
              </a:rPr>
              <a:t>The </a:t>
            </a:r>
            <a:r>
              <a:rPr lang="en-IE" sz="1800" dirty="0">
                <a:latin typeface="MinionPro-Regular"/>
              </a:rPr>
              <a:t>proxies themselves are represented by instances of the </a:t>
            </a:r>
            <a:r>
              <a:rPr lang="en-IE" sz="1800" dirty="0" err="1">
                <a:latin typeface="UbuntuMono-Regular"/>
              </a:rPr>
              <a:t>java.net.Proxy</a:t>
            </a:r>
            <a:r>
              <a:rPr lang="en-IE" sz="1800" dirty="0">
                <a:latin typeface="UbuntuMono-Regular"/>
              </a:rPr>
              <a:t> </a:t>
            </a:r>
            <a:r>
              <a:rPr lang="en-IE" sz="1800" dirty="0">
                <a:latin typeface="MinionPro-Regular"/>
              </a:rPr>
              <a:t>class</a:t>
            </a:r>
            <a:r>
              <a:rPr lang="en-IE" sz="1800" dirty="0" smtClean="0">
                <a:latin typeface="MinionPro-Regular"/>
              </a:rPr>
              <a:t>.</a:t>
            </a:r>
          </a:p>
          <a:p>
            <a:r>
              <a:rPr lang="en-IE" sz="1800" dirty="0">
                <a:solidFill>
                  <a:srgbClr val="000000"/>
                </a:solidFill>
                <a:latin typeface="MinionPro-Regular"/>
              </a:rPr>
              <a:t>There are still only three kinds of proxies, HTTP, SOCKS, and direct connections (</a:t>
            </a:r>
            <a:r>
              <a:rPr lang="en-IE" sz="1800" dirty="0" smtClean="0">
                <a:solidFill>
                  <a:srgbClr val="000000"/>
                </a:solidFill>
                <a:latin typeface="MinionPro-Regular"/>
              </a:rPr>
              <a:t>no proxy </a:t>
            </a:r>
            <a:r>
              <a:rPr lang="en-IE" sz="1800" dirty="0">
                <a:solidFill>
                  <a:srgbClr val="000000"/>
                </a:solidFill>
                <a:latin typeface="MinionPro-Regular"/>
              </a:rPr>
              <a:t>at all), represented by three constants in the </a:t>
            </a:r>
            <a:r>
              <a:rPr lang="en-IE" sz="1800" dirty="0" err="1">
                <a:solidFill>
                  <a:srgbClr val="000000"/>
                </a:solidFill>
                <a:latin typeface="UbuntuMono-Regular"/>
              </a:rPr>
              <a:t>Proxy.Type</a:t>
            </a:r>
            <a:r>
              <a:rPr lang="en-IE" sz="1800" dirty="0">
                <a:solidFill>
                  <a:srgbClr val="000000"/>
                </a:solidFill>
                <a:latin typeface="UbuntuMono-Regular"/>
              </a:rPr>
              <a:t> </a:t>
            </a:r>
            <a:r>
              <a:rPr lang="en-IE" sz="1800" dirty="0" err="1">
                <a:solidFill>
                  <a:srgbClr val="000000"/>
                </a:solidFill>
                <a:latin typeface="MinionPro-Regular"/>
              </a:rPr>
              <a:t>enum</a:t>
            </a:r>
            <a:r>
              <a:rPr lang="en-IE" sz="1800" dirty="0">
                <a:solidFill>
                  <a:srgbClr val="000000"/>
                </a:solidFill>
                <a:latin typeface="MinionPro-Regular"/>
              </a:rPr>
              <a:t>:</a:t>
            </a:r>
          </a:p>
          <a:p>
            <a:pPr lvl="1"/>
            <a:r>
              <a:rPr lang="en-IE" sz="1800" dirty="0" err="1" smtClean="0">
                <a:solidFill>
                  <a:schemeClr val="tx2"/>
                </a:solidFill>
                <a:latin typeface="UbuntuMono-Regular"/>
              </a:rPr>
              <a:t>Proxy.Type.DIRECT</a:t>
            </a:r>
            <a:endParaRPr lang="en-IE" sz="1800" dirty="0">
              <a:solidFill>
                <a:schemeClr val="tx2"/>
              </a:solidFill>
              <a:latin typeface="UbuntuMono-Regular"/>
            </a:endParaRPr>
          </a:p>
          <a:p>
            <a:pPr lvl="1"/>
            <a:r>
              <a:rPr lang="en-IE" sz="1800" dirty="0" err="1" smtClean="0">
                <a:solidFill>
                  <a:schemeClr val="tx2"/>
                </a:solidFill>
                <a:latin typeface="UbuntuMono-Regular"/>
              </a:rPr>
              <a:t>Proxy.Type.HTTP</a:t>
            </a:r>
            <a:endParaRPr lang="en-IE" sz="1800" dirty="0">
              <a:solidFill>
                <a:schemeClr val="tx2"/>
              </a:solidFill>
              <a:latin typeface="UbuntuMono-Regular"/>
            </a:endParaRPr>
          </a:p>
          <a:p>
            <a:pPr lvl="1"/>
            <a:r>
              <a:rPr lang="en-IE" sz="1800" dirty="0" err="1" smtClean="0">
                <a:solidFill>
                  <a:schemeClr val="tx2"/>
                </a:solidFill>
                <a:latin typeface="UbuntuMono-Regular"/>
              </a:rPr>
              <a:t>Proxy.Type.SOCKS</a:t>
            </a:r>
            <a:endParaRPr lang="en-IE" sz="1800" dirty="0">
              <a:solidFill>
                <a:schemeClr val="tx2"/>
              </a:solidFill>
              <a:latin typeface="UbuntuMono-Regular"/>
            </a:endParaRPr>
          </a:p>
          <a:p>
            <a:r>
              <a:rPr lang="en-IE" sz="1800" dirty="0">
                <a:solidFill>
                  <a:srgbClr val="000000"/>
                </a:solidFill>
                <a:latin typeface="MinionPro-Regular"/>
              </a:rPr>
              <a:t>Besides its type, the other important piece of information about a proxy is its </a:t>
            </a:r>
            <a:r>
              <a:rPr lang="en-IE" sz="1800" dirty="0" smtClean="0">
                <a:solidFill>
                  <a:srgbClr val="000000"/>
                </a:solidFill>
                <a:latin typeface="MinionPro-Regular"/>
              </a:rPr>
              <a:t>address and </a:t>
            </a:r>
            <a:r>
              <a:rPr lang="en-IE" sz="1800" dirty="0">
                <a:solidFill>
                  <a:srgbClr val="000000"/>
                </a:solidFill>
                <a:latin typeface="MinionPro-Regular"/>
              </a:rPr>
              <a:t>port, given as a </a:t>
            </a:r>
            <a:r>
              <a:rPr lang="en-IE" sz="1800" dirty="0" err="1">
                <a:solidFill>
                  <a:srgbClr val="000000"/>
                </a:solidFill>
                <a:latin typeface="UbuntuMono-Regular"/>
              </a:rPr>
              <a:t>SocketAddress</a:t>
            </a:r>
            <a:r>
              <a:rPr lang="en-IE" sz="1800" dirty="0">
                <a:solidFill>
                  <a:srgbClr val="000000"/>
                </a:solidFill>
                <a:latin typeface="UbuntuMono-Regular"/>
              </a:rPr>
              <a:t> </a:t>
            </a:r>
            <a:r>
              <a:rPr lang="en-IE" sz="1800" dirty="0">
                <a:solidFill>
                  <a:srgbClr val="000000"/>
                </a:solidFill>
                <a:latin typeface="MinionPro-Regular"/>
              </a:rPr>
              <a:t>object. </a:t>
            </a:r>
            <a:endParaRPr lang="en-IE" sz="1800" dirty="0" smtClean="0">
              <a:solidFill>
                <a:srgbClr val="000000"/>
              </a:solidFill>
              <a:latin typeface="MinionPro-Regular"/>
            </a:endParaRPr>
          </a:p>
          <a:p>
            <a:r>
              <a:rPr lang="en-IE" sz="1800" dirty="0" smtClean="0">
                <a:solidFill>
                  <a:srgbClr val="000000"/>
                </a:solidFill>
                <a:latin typeface="MinionPro-Regular"/>
              </a:rPr>
              <a:t>For </a:t>
            </a:r>
            <a:r>
              <a:rPr lang="en-IE" sz="1800" dirty="0">
                <a:solidFill>
                  <a:srgbClr val="000000"/>
                </a:solidFill>
                <a:latin typeface="MinionPro-Regular"/>
              </a:rPr>
              <a:t>example, this code fragment creates </a:t>
            </a:r>
            <a:r>
              <a:rPr lang="en-IE" sz="1800" dirty="0" smtClean="0">
                <a:solidFill>
                  <a:srgbClr val="000000"/>
                </a:solidFill>
                <a:latin typeface="MinionPro-Regular"/>
              </a:rPr>
              <a:t>a </a:t>
            </a:r>
            <a:r>
              <a:rPr lang="en-IE" sz="1800" dirty="0" smtClean="0">
                <a:solidFill>
                  <a:srgbClr val="000000"/>
                </a:solidFill>
                <a:latin typeface="UbuntuMono-Regular"/>
              </a:rPr>
              <a:t>Proxy </a:t>
            </a:r>
            <a:r>
              <a:rPr lang="en-IE" sz="1800" dirty="0">
                <a:solidFill>
                  <a:srgbClr val="000000"/>
                </a:solidFill>
                <a:latin typeface="MinionPro-Regular"/>
              </a:rPr>
              <a:t>object representing an HTTP proxy server on port 80 of </a:t>
            </a:r>
            <a:r>
              <a:rPr lang="en-IE" sz="1800" i="1" dirty="0">
                <a:solidFill>
                  <a:srgbClr val="000000"/>
                </a:solidFill>
                <a:latin typeface="MinionPro-Italic"/>
              </a:rPr>
              <a:t>proxy.example.com</a:t>
            </a:r>
            <a:r>
              <a:rPr lang="en-IE" sz="1800" dirty="0">
                <a:solidFill>
                  <a:srgbClr val="000000"/>
                </a:solidFill>
                <a:latin typeface="MinionPro-Regular"/>
              </a:rPr>
              <a:t>:</a:t>
            </a:r>
          </a:p>
          <a:p>
            <a:r>
              <a:rPr lang="en-IE" sz="1800" dirty="0" err="1">
                <a:solidFill>
                  <a:srgbClr val="000089"/>
                </a:solidFill>
                <a:latin typeface="UbuntuMono-Regular"/>
              </a:rPr>
              <a:t>SocketAddress</a:t>
            </a:r>
            <a:r>
              <a:rPr lang="en-IE" sz="1800" dirty="0">
                <a:solidFill>
                  <a:srgbClr val="000089"/>
                </a:solidFill>
                <a:latin typeface="UbuntuMono-Regular"/>
              </a:rPr>
              <a:t> address </a:t>
            </a:r>
            <a:r>
              <a:rPr lang="en-IE" sz="1800" dirty="0">
                <a:solidFill>
                  <a:srgbClr val="555555"/>
                </a:solidFill>
                <a:latin typeface="UbuntuMono-Regular"/>
              </a:rPr>
              <a:t>= </a:t>
            </a:r>
            <a:r>
              <a:rPr lang="en-IE" sz="1800" b="1" dirty="0">
                <a:solidFill>
                  <a:srgbClr val="00669A"/>
                </a:solidFill>
                <a:latin typeface="UbuntuMono-Bold"/>
              </a:rPr>
              <a:t>new </a:t>
            </a:r>
            <a:r>
              <a:rPr lang="en-IE" sz="1800" dirty="0" err="1">
                <a:solidFill>
                  <a:srgbClr val="000089"/>
                </a:solidFill>
                <a:latin typeface="UbuntuMono-Regular"/>
              </a:rPr>
              <a:t>InetSocketAddress</a:t>
            </a:r>
            <a:r>
              <a:rPr lang="en-IE" sz="1800" dirty="0">
                <a:solidFill>
                  <a:srgbClr val="555555"/>
                </a:solidFill>
                <a:latin typeface="UbuntuMono-Regular"/>
              </a:rPr>
              <a:t>(</a:t>
            </a:r>
            <a:r>
              <a:rPr lang="en-IE" sz="1800" dirty="0">
                <a:solidFill>
                  <a:srgbClr val="CD3300"/>
                </a:solidFill>
                <a:latin typeface="UbuntuMono-Regular"/>
              </a:rPr>
              <a:t>"proxy.example.com"</a:t>
            </a:r>
            <a:r>
              <a:rPr lang="en-IE" sz="1800" dirty="0">
                <a:solidFill>
                  <a:srgbClr val="555555"/>
                </a:solidFill>
                <a:latin typeface="UbuntuMono-Regular"/>
              </a:rPr>
              <a:t>, </a:t>
            </a:r>
            <a:r>
              <a:rPr lang="en-IE" sz="1800" dirty="0">
                <a:solidFill>
                  <a:srgbClr val="FF6600"/>
                </a:solidFill>
                <a:latin typeface="UbuntuMono-Regular"/>
              </a:rPr>
              <a:t>80</a:t>
            </a:r>
            <a:r>
              <a:rPr lang="en-IE" sz="1800" dirty="0">
                <a:solidFill>
                  <a:srgbClr val="555555"/>
                </a:solidFill>
                <a:latin typeface="UbuntuMono-Regular"/>
              </a:rPr>
              <a:t>);</a:t>
            </a:r>
          </a:p>
          <a:p>
            <a:r>
              <a:rPr lang="en-IE" sz="1800" dirty="0">
                <a:solidFill>
                  <a:srgbClr val="000089"/>
                </a:solidFill>
                <a:latin typeface="UbuntuMono-Regular"/>
              </a:rPr>
              <a:t>Proxy </a:t>
            </a:r>
            <a:r>
              <a:rPr lang="en-IE" sz="1800" dirty="0" err="1">
                <a:solidFill>
                  <a:srgbClr val="000089"/>
                </a:solidFill>
                <a:latin typeface="UbuntuMono-Regular"/>
              </a:rPr>
              <a:t>proxy</a:t>
            </a:r>
            <a:r>
              <a:rPr lang="en-IE" sz="1800" dirty="0">
                <a:solidFill>
                  <a:srgbClr val="000089"/>
                </a:solidFill>
                <a:latin typeface="UbuntuMono-Regular"/>
              </a:rPr>
              <a:t> </a:t>
            </a:r>
            <a:r>
              <a:rPr lang="en-IE" sz="1800" dirty="0">
                <a:solidFill>
                  <a:srgbClr val="555555"/>
                </a:solidFill>
                <a:latin typeface="UbuntuMono-Regular"/>
              </a:rPr>
              <a:t>= </a:t>
            </a:r>
            <a:r>
              <a:rPr lang="en-IE" sz="1800" b="1" dirty="0">
                <a:solidFill>
                  <a:srgbClr val="00669A"/>
                </a:solidFill>
                <a:latin typeface="UbuntuMono-Bold"/>
              </a:rPr>
              <a:t>new </a:t>
            </a:r>
            <a:r>
              <a:rPr lang="en-IE" sz="1800" dirty="0">
                <a:solidFill>
                  <a:srgbClr val="000089"/>
                </a:solidFill>
                <a:latin typeface="UbuntuMono-Regular"/>
              </a:rPr>
              <a:t>Proxy</a:t>
            </a:r>
            <a:r>
              <a:rPr lang="en-IE" sz="1800" dirty="0">
                <a:solidFill>
                  <a:srgbClr val="555555"/>
                </a:solidFill>
                <a:latin typeface="UbuntuMono-Regular"/>
              </a:rPr>
              <a:t>(</a:t>
            </a:r>
            <a:r>
              <a:rPr lang="en-IE" sz="1800" dirty="0" err="1">
                <a:solidFill>
                  <a:srgbClr val="000089"/>
                </a:solidFill>
                <a:latin typeface="UbuntuMono-Regular"/>
              </a:rPr>
              <a:t>Proxy</a:t>
            </a:r>
            <a:r>
              <a:rPr lang="en-IE" sz="1800" dirty="0" err="1">
                <a:solidFill>
                  <a:srgbClr val="555555"/>
                </a:solidFill>
                <a:latin typeface="UbuntuMono-Regular"/>
              </a:rPr>
              <a:t>.</a:t>
            </a:r>
            <a:r>
              <a:rPr lang="en-IE" sz="1800" dirty="0" err="1">
                <a:solidFill>
                  <a:srgbClr val="33009A"/>
                </a:solidFill>
                <a:latin typeface="UbuntuMono-Regular"/>
              </a:rPr>
              <a:t>Type</a:t>
            </a:r>
            <a:r>
              <a:rPr lang="en-IE" sz="1800" dirty="0" err="1">
                <a:solidFill>
                  <a:srgbClr val="555555"/>
                </a:solidFill>
                <a:latin typeface="UbuntuMono-Regular"/>
              </a:rPr>
              <a:t>.</a:t>
            </a:r>
            <a:r>
              <a:rPr lang="en-IE" sz="1800" dirty="0" err="1">
                <a:solidFill>
                  <a:srgbClr val="33009A"/>
                </a:solidFill>
                <a:latin typeface="UbuntuMono-Regular"/>
              </a:rPr>
              <a:t>HTTP</a:t>
            </a:r>
            <a:r>
              <a:rPr lang="en-IE" sz="1800" dirty="0">
                <a:solidFill>
                  <a:srgbClr val="555555"/>
                </a:solidFill>
                <a:latin typeface="UbuntuMono-Regular"/>
              </a:rPr>
              <a:t>, </a:t>
            </a:r>
            <a:r>
              <a:rPr lang="en-IE" sz="1800" dirty="0">
                <a:solidFill>
                  <a:srgbClr val="000089"/>
                </a:solidFill>
                <a:latin typeface="UbuntuMono-Regular"/>
              </a:rPr>
              <a:t>address</a:t>
            </a:r>
            <a:r>
              <a:rPr lang="en-IE" sz="1800" dirty="0" smtClean="0">
                <a:solidFill>
                  <a:srgbClr val="555555"/>
                </a:solidFill>
                <a:latin typeface="UbuntuMono-Regular"/>
              </a:rPr>
              <a:t>);</a:t>
            </a:r>
          </a:p>
          <a:p>
            <a:r>
              <a:rPr lang="en-IE" sz="1800" dirty="0">
                <a:solidFill>
                  <a:srgbClr val="000089"/>
                </a:solidFill>
                <a:latin typeface="UbuntuMono-Regular"/>
              </a:rPr>
              <a:t>URL </a:t>
            </a:r>
            <a:r>
              <a:rPr lang="en-IE" sz="1800" dirty="0" err="1">
                <a:solidFill>
                  <a:srgbClr val="000089"/>
                </a:solidFill>
                <a:latin typeface="UbuntuMono-Regular"/>
              </a:rPr>
              <a:t>url</a:t>
            </a:r>
            <a:r>
              <a:rPr lang="en-IE" sz="1800" dirty="0">
                <a:solidFill>
                  <a:srgbClr val="000089"/>
                </a:solidFill>
                <a:latin typeface="UbuntuMono-Regular"/>
              </a:rPr>
              <a:t> = new URL("http://java.example.org/"); </a:t>
            </a:r>
            <a:endParaRPr lang="en-IE" sz="1800" dirty="0" smtClean="0">
              <a:solidFill>
                <a:srgbClr val="000089"/>
              </a:solidFill>
              <a:latin typeface="UbuntuMono-Regular"/>
            </a:endParaRPr>
          </a:p>
          <a:p>
            <a:r>
              <a:rPr lang="en-IE" sz="1800" dirty="0" err="1" smtClean="0">
                <a:solidFill>
                  <a:srgbClr val="000089"/>
                </a:solidFill>
                <a:latin typeface="UbuntuMono-Regular"/>
              </a:rPr>
              <a:t>URConnection</a:t>
            </a:r>
            <a:r>
              <a:rPr lang="en-IE" sz="1800" dirty="0" smtClean="0">
                <a:solidFill>
                  <a:srgbClr val="000089"/>
                </a:solidFill>
                <a:latin typeface="UbuntuMono-Regular"/>
              </a:rPr>
              <a:t> </a:t>
            </a:r>
            <a:r>
              <a:rPr lang="en-IE" sz="1800" dirty="0">
                <a:solidFill>
                  <a:srgbClr val="000089"/>
                </a:solidFill>
                <a:latin typeface="UbuntuMono-Regular"/>
              </a:rPr>
              <a:t>conn = </a:t>
            </a:r>
            <a:r>
              <a:rPr lang="en-IE" sz="1800" dirty="0" err="1">
                <a:solidFill>
                  <a:srgbClr val="000089"/>
                </a:solidFill>
                <a:latin typeface="UbuntuMono-Regular"/>
              </a:rPr>
              <a:t>url.openConnection</a:t>
            </a:r>
            <a:r>
              <a:rPr lang="en-IE" sz="1800" dirty="0">
                <a:solidFill>
                  <a:srgbClr val="000089"/>
                </a:solidFill>
                <a:latin typeface="UbuntuMono-Regular"/>
              </a:rPr>
              <a:t>(proxy);</a:t>
            </a:r>
          </a:p>
          <a:p>
            <a:r>
              <a:rPr lang="en-IE" sz="1800" dirty="0">
                <a:solidFill>
                  <a:srgbClr val="000000"/>
                </a:solidFill>
                <a:latin typeface="MinionPro-Regular"/>
              </a:rPr>
              <a:t>Although there are only three kinds of proxy objects, there can be many proxies of </a:t>
            </a:r>
            <a:r>
              <a:rPr lang="en-IE" sz="1800" dirty="0" smtClean="0">
                <a:solidFill>
                  <a:srgbClr val="000000"/>
                </a:solidFill>
                <a:latin typeface="MinionPro-Regular"/>
              </a:rPr>
              <a:t>the same </a:t>
            </a:r>
            <a:r>
              <a:rPr lang="en-IE" sz="1800" dirty="0">
                <a:solidFill>
                  <a:srgbClr val="000000"/>
                </a:solidFill>
                <a:latin typeface="MinionPro-Regular"/>
              </a:rPr>
              <a:t>type for different proxy servers on different hosts.</a:t>
            </a:r>
            <a:endParaRPr lang="en-IE" sz="1800" b="1" dirty="0">
              <a:solidFill>
                <a:srgbClr val="555555"/>
              </a:solidFill>
              <a:latin typeface="UbuntuMono-Regular"/>
            </a:endParaRPr>
          </a:p>
        </p:txBody>
      </p:sp>
    </p:spTree>
    <p:extLst>
      <p:ext uri="{BB962C8B-B14F-4D97-AF65-F5344CB8AC3E}">
        <p14:creationId xmlns:p14="http://schemas.microsoft.com/office/powerpoint/2010/main" val="309173651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39762"/>
          </a:xfrm>
        </p:spPr>
        <p:txBody>
          <a:bodyPr>
            <a:noAutofit/>
          </a:bodyPr>
          <a:lstStyle/>
          <a:p>
            <a:r>
              <a:rPr lang="en-IE" sz="2800" i="1" dirty="0" smtClean="0"/>
              <a:t>The Proxy Class</a:t>
            </a:r>
            <a:endParaRPr lang="en-IE" sz="2800" b="1" dirty="0"/>
          </a:p>
        </p:txBody>
      </p:sp>
      <p:sp>
        <p:nvSpPr>
          <p:cNvPr id="3" name="Content Placeholder 2"/>
          <p:cNvSpPr>
            <a:spLocks noGrp="1"/>
          </p:cNvSpPr>
          <p:nvPr>
            <p:ph idx="1"/>
          </p:nvPr>
        </p:nvSpPr>
        <p:spPr>
          <a:xfrm>
            <a:off x="0" y="609600"/>
            <a:ext cx="9144000" cy="6248400"/>
          </a:xfrm>
        </p:spPr>
        <p:txBody>
          <a:bodyPr>
            <a:noAutofit/>
          </a:bodyPr>
          <a:lstStyle/>
          <a:p>
            <a:r>
              <a:rPr lang="en-IE" sz="1800" dirty="0">
                <a:solidFill>
                  <a:srgbClr val="000000"/>
                </a:solidFill>
                <a:latin typeface="Arial"/>
              </a:rPr>
              <a:t>The same mechanism can be used to specify that a particular URL has to be reached </a:t>
            </a:r>
            <a:r>
              <a:rPr lang="en-IE" sz="1800" dirty="0" smtClean="0">
                <a:solidFill>
                  <a:srgbClr val="000000"/>
                </a:solidFill>
                <a:latin typeface="Arial"/>
              </a:rPr>
              <a:t>directly using DIRECT type. </a:t>
            </a:r>
            <a:r>
              <a:rPr lang="en-IE" sz="1800" dirty="0">
                <a:solidFill>
                  <a:srgbClr val="000000"/>
                </a:solidFill>
                <a:latin typeface="Arial"/>
              </a:rPr>
              <a:t>But, you don't need to create a proxy instance with the DIRECT type, all you have to do is use the NO_PROXY static member:</a:t>
            </a:r>
          </a:p>
          <a:p>
            <a:r>
              <a:rPr lang="en-IE" sz="1800" dirty="0"/>
              <a:t>URL url2 = new URL("http://infos.example.com/"); </a:t>
            </a:r>
            <a:endParaRPr lang="en-IE" sz="1800" dirty="0" smtClean="0"/>
          </a:p>
          <a:p>
            <a:r>
              <a:rPr lang="en-IE" sz="1800" dirty="0" err="1" smtClean="0"/>
              <a:t>URLConnection</a:t>
            </a:r>
            <a:r>
              <a:rPr lang="en-IE" sz="1800" dirty="0" smtClean="0"/>
              <a:t> </a:t>
            </a:r>
            <a:r>
              <a:rPr lang="en-IE" sz="1800" dirty="0"/>
              <a:t>conn2 = url2.openConnection(</a:t>
            </a:r>
            <a:r>
              <a:rPr lang="en-IE" sz="1800" dirty="0" err="1"/>
              <a:t>Proxy.NO_PROXY</a:t>
            </a:r>
            <a:r>
              <a:rPr lang="en-IE" sz="1800" dirty="0"/>
              <a:t>); </a:t>
            </a:r>
            <a:endParaRPr lang="en-IE" sz="1800" dirty="0" smtClean="0"/>
          </a:p>
          <a:p>
            <a:r>
              <a:rPr lang="en-IE" sz="1800" dirty="0" smtClean="0">
                <a:solidFill>
                  <a:srgbClr val="000000"/>
                </a:solidFill>
                <a:latin typeface="Arial"/>
              </a:rPr>
              <a:t>Note </a:t>
            </a:r>
            <a:r>
              <a:rPr lang="en-IE" sz="1800" dirty="0">
                <a:solidFill>
                  <a:srgbClr val="000000"/>
                </a:solidFill>
                <a:latin typeface="Arial"/>
              </a:rPr>
              <a:t>that you can force a </a:t>
            </a:r>
            <a:r>
              <a:rPr lang="en-IE" sz="1800" dirty="0" err="1">
                <a:solidFill>
                  <a:srgbClr val="000000"/>
                </a:solidFill>
                <a:latin typeface="Arial"/>
              </a:rPr>
              <a:t>URLConnection</a:t>
            </a:r>
            <a:r>
              <a:rPr lang="en-IE" sz="1800" dirty="0">
                <a:solidFill>
                  <a:srgbClr val="000000"/>
                </a:solidFill>
                <a:latin typeface="Arial"/>
              </a:rPr>
              <a:t> to go through a SOCKS proxy as well:</a:t>
            </a:r>
          </a:p>
          <a:p>
            <a:r>
              <a:rPr lang="en-IE" sz="1800" dirty="0" err="1"/>
              <a:t>SocketAddress</a:t>
            </a:r>
            <a:r>
              <a:rPr lang="en-IE" sz="1800" dirty="0"/>
              <a:t> </a:t>
            </a:r>
            <a:r>
              <a:rPr lang="en-IE" sz="1800" dirty="0" err="1"/>
              <a:t>addr</a:t>
            </a:r>
            <a:r>
              <a:rPr lang="en-IE" sz="1800" dirty="0"/>
              <a:t> = new </a:t>
            </a:r>
            <a:r>
              <a:rPr lang="en-IE" sz="1800" dirty="0" err="1"/>
              <a:t>InetSocketAddress</a:t>
            </a:r>
            <a:r>
              <a:rPr lang="en-IE" sz="1800" dirty="0"/>
              <a:t>("socks.example.com", 1080); </a:t>
            </a:r>
            <a:endParaRPr lang="en-IE" sz="1800" dirty="0" smtClean="0"/>
          </a:p>
          <a:p>
            <a:r>
              <a:rPr lang="en-IE" sz="1800" dirty="0" smtClean="0"/>
              <a:t>Proxy </a:t>
            </a:r>
            <a:r>
              <a:rPr lang="en-IE" sz="1800" dirty="0" err="1"/>
              <a:t>proxy</a:t>
            </a:r>
            <a:r>
              <a:rPr lang="en-IE" sz="1800" dirty="0"/>
              <a:t> = new Proxy(</a:t>
            </a:r>
            <a:r>
              <a:rPr lang="en-IE" sz="1800" dirty="0" err="1"/>
              <a:t>Proxy.Type.SOCKS</a:t>
            </a:r>
            <a:r>
              <a:rPr lang="en-IE" sz="1800" dirty="0"/>
              <a:t>, </a:t>
            </a:r>
            <a:r>
              <a:rPr lang="en-IE" sz="1800" dirty="0" err="1"/>
              <a:t>addr</a:t>
            </a:r>
            <a:r>
              <a:rPr lang="en-IE" sz="1800" dirty="0"/>
              <a:t>); </a:t>
            </a:r>
            <a:endParaRPr lang="en-IE" sz="1800" dirty="0" smtClean="0"/>
          </a:p>
          <a:p>
            <a:r>
              <a:rPr lang="en-IE" sz="1800" dirty="0" smtClean="0"/>
              <a:t>URL </a:t>
            </a:r>
            <a:r>
              <a:rPr lang="en-IE" sz="1800" dirty="0" err="1"/>
              <a:t>url</a:t>
            </a:r>
            <a:r>
              <a:rPr lang="en-IE" sz="1800" dirty="0"/>
              <a:t> = new URL("ftp://ftp.gnu.org/README"); </a:t>
            </a:r>
            <a:endParaRPr lang="en-IE" sz="1800" dirty="0" smtClean="0"/>
          </a:p>
          <a:p>
            <a:r>
              <a:rPr lang="en-IE" sz="1800" dirty="0" err="1" smtClean="0"/>
              <a:t>URLConnection</a:t>
            </a:r>
            <a:r>
              <a:rPr lang="en-IE" sz="1800" dirty="0" smtClean="0"/>
              <a:t> </a:t>
            </a:r>
            <a:r>
              <a:rPr lang="en-IE" sz="1800" dirty="0"/>
              <a:t>conn = </a:t>
            </a:r>
            <a:r>
              <a:rPr lang="en-IE" sz="1800" dirty="0" err="1"/>
              <a:t>url.openConnection</a:t>
            </a:r>
            <a:r>
              <a:rPr lang="en-IE" sz="1800" dirty="0"/>
              <a:t>(proxy); </a:t>
            </a:r>
            <a:endParaRPr lang="en-IE" sz="1800" dirty="0" smtClean="0"/>
          </a:p>
          <a:p>
            <a:endParaRPr lang="en-IE" sz="1800" b="1" dirty="0">
              <a:solidFill>
                <a:srgbClr val="555555"/>
              </a:solidFill>
              <a:latin typeface="UbuntuMono-Regular"/>
            </a:endParaRPr>
          </a:p>
        </p:txBody>
      </p:sp>
    </p:spTree>
    <p:extLst>
      <p:ext uri="{BB962C8B-B14F-4D97-AF65-F5344CB8AC3E}">
        <p14:creationId xmlns:p14="http://schemas.microsoft.com/office/powerpoint/2010/main" val="96690155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39762"/>
          </a:xfrm>
        </p:spPr>
        <p:txBody>
          <a:bodyPr>
            <a:noAutofit/>
          </a:bodyPr>
          <a:lstStyle/>
          <a:p>
            <a:r>
              <a:rPr lang="en-IE" sz="2800" i="1" dirty="0" smtClean="0"/>
              <a:t>The </a:t>
            </a:r>
            <a:r>
              <a:rPr lang="en-IE" sz="2800" i="1" dirty="0" err="1" smtClean="0"/>
              <a:t>ProxySelector</a:t>
            </a:r>
            <a:r>
              <a:rPr lang="en-IE" sz="2800" i="1" dirty="0" smtClean="0"/>
              <a:t> Class</a:t>
            </a:r>
            <a:endParaRPr lang="en-IE" sz="2800" b="1" dirty="0"/>
          </a:p>
        </p:txBody>
      </p:sp>
      <p:sp>
        <p:nvSpPr>
          <p:cNvPr id="3" name="Content Placeholder 2"/>
          <p:cNvSpPr>
            <a:spLocks noGrp="1"/>
          </p:cNvSpPr>
          <p:nvPr>
            <p:ph idx="1"/>
          </p:nvPr>
        </p:nvSpPr>
        <p:spPr>
          <a:xfrm>
            <a:off x="0" y="609600"/>
            <a:ext cx="9144000" cy="6248400"/>
          </a:xfrm>
        </p:spPr>
        <p:txBody>
          <a:bodyPr>
            <a:noAutofit/>
          </a:bodyPr>
          <a:lstStyle/>
          <a:p>
            <a:r>
              <a:rPr lang="en-IE" sz="1600" dirty="0" smtClean="0">
                <a:solidFill>
                  <a:srgbClr val="000000"/>
                </a:solidFill>
                <a:latin typeface="Arial"/>
              </a:rPr>
              <a:t>Which </a:t>
            </a:r>
            <a:r>
              <a:rPr lang="en-IE" sz="1600" dirty="0">
                <a:solidFill>
                  <a:srgbClr val="000000"/>
                </a:solidFill>
                <a:latin typeface="Arial"/>
              </a:rPr>
              <a:t>proxy to use dynamically, for instance to do some load balancing between proxies, or depending on the destination, in which case the API described so far would be quite cumbersome. That's where the </a:t>
            </a:r>
            <a:r>
              <a:rPr lang="en-IE" sz="1600" dirty="0" err="1">
                <a:solidFill>
                  <a:srgbClr val="000000"/>
                </a:solidFill>
                <a:latin typeface="Arial"/>
              </a:rPr>
              <a:t>ProxySelector</a:t>
            </a:r>
            <a:r>
              <a:rPr lang="en-IE" sz="1600" dirty="0">
                <a:solidFill>
                  <a:srgbClr val="000000"/>
                </a:solidFill>
                <a:latin typeface="Arial"/>
              </a:rPr>
              <a:t> comes into play.</a:t>
            </a:r>
          </a:p>
          <a:p>
            <a:r>
              <a:rPr lang="en-IE" sz="1600" dirty="0">
                <a:solidFill>
                  <a:srgbClr val="000000"/>
                </a:solidFill>
                <a:latin typeface="Arial"/>
              </a:rPr>
              <a:t>In a nutshell the </a:t>
            </a:r>
            <a:r>
              <a:rPr lang="en-IE" sz="1600" dirty="0" err="1">
                <a:solidFill>
                  <a:srgbClr val="000000"/>
                </a:solidFill>
                <a:latin typeface="Arial"/>
              </a:rPr>
              <a:t>ProxySelector</a:t>
            </a:r>
            <a:r>
              <a:rPr lang="en-IE" sz="1600" dirty="0">
                <a:solidFill>
                  <a:srgbClr val="000000"/>
                </a:solidFill>
                <a:latin typeface="Arial"/>
              </a:rPr>
              <a:t> is a piece of code that will tell the protocol handlers which proxy to use, if any, for any given URL. </a:t>
            </a:r>
          </a:p>
          <a:p>
            <a:r>
              <a:rPr lang="en-IE" sz="1600" dirty="0"/>
              <a:t>URL </a:t>
            </a:r>
            <a:r>
              <a:rPr lang="en-IE" sz="1600" dirty="0" err="1"/>
              <a:t>url</a:t>
            </a:r>
            <a:r>
              <a:rPr lang="en-IE" sz="1600" dirty="0"/>
              <a:t> = new URL("http://java.example.org/index.html"); </a:t>
            </a:r>
            <a:endParaRPr lang="en-IE" sz="1600" dirty="0" smtClean="0"/>
          </a:p>
          <a:p>
            <a:r>
              <a:rPr lang="en-IE" sz="1600" dirty="0" err="1" smtClean="0"/>
              <a:t>URLConnection</a:t>
            </a:r>
            <a:r>
              <a:rPr lang="en-IE" sz="1600" dirty="0" smtClean="0"/>
              <a:t> </a:t>
            </a:r>
            <a:r>
              <a:rPr lang="en-IE" sz="1600" dirty="0"/>
              <a:t>conn = </a:t>
            </a:r>
            <a:r>
              <a:rPr lang="en-IE" sz="1600" dirty="0" err="1"/>
              <a:t>url.openConnection</a:t>
            </a:r>
            <a:r>
              <a:rPr lang="en-IE" sz="1600" dirty="0"/>
              <a:t>(); </a:t>
            </a:r>
            <a:endParaRPr lang="en-IE" sz="1600" dirty="0" smtClean="0"/>
          </a:p>
          <a:p>
            <a:r>
              <a:rPr lang="en-IE" sz="1600" dirty="0" err="1" smtClean="0"/>
              <a:t>InputStream</a:t>
            </a:r>
            <a:r>
              <a:rPr lang="en-IE" sz="1600" dirty="0" smtClean="0"/>
              <a:t> </a:t>
            </a:r>
            <a:r>
              <a:rPr lang="en-IE" sz="1600" dirty="0"/>
              <a:t>in = </a:t>
            </a:r>
            <a:r>
              <a:rPr lang="en-IE" sz="1600" dirty="0" err="1"/>
              <a:t>conn.getInputStream</a:t>
            </a:r>
            <a:r>
              <a:rPr lang="en-IE" sz="1600" dirty="0"/>
              <a:t>(); </a:t>
            </a:r>
            <a:endParaRPr lang="en-IE" sz="1600" dirty="0" smtClean="0"/>
          </a:p>
          <a:p>
            <a:r>
              <a:rPr lang="en-IE" sz="1600" dirty="0" smtClean="0">
                <a:solidFill>
                  <a:srgbClr val="000000"/>
                </a:solidFill>
                <a:latin typeface="Arial"/>
              </a:rPr>
              <a:t>At </a:t>
            </a:r>
            <a:r>
              <a:rPr lang="en-IE" sz="1600" dirty="0">
                <a:solidFill>
                  <a:srgbClr val="000000"/>
                </a:solidFill>
                <a:latin typeface="Arial"/>
              </a:rPr>
              <a:t>that point the HTTP protocol handler is invoked and it will query the </a:t>
            </a:r>
            <a:r>
              <a:rPr lang="en-IE" sz="1600" dirty="0" err="1">
                <a:solidFill>
                  <a:srgbClr val="000000"/>
                </a:solidFill>
                <a:latin typeface="Arial"/>
              </a:rPr>
              <a:t>proxySelector</a:t>
            </a:r>
            <a:r>
              <a:rPr lang="en-IE" sz="1600" dirty="0">
                <a:solidFill>
                  <a:srgbClr val="000000"/>
                </a:solidFill>
                <a:latin typeface="Arial"/>
              </a:rPr>
              <a:t>. The dialog might go something like that:</a:t>
            </a:r>
          </a:p>
          <a:p>
            <a:r>
              <a:rPr lang="en-IE" sz="1600" b="1" dirty="0">
                <a:solidFill>
                  <a:srgbClr val="000000"/>
                </a:solidFill>
                <a:latin typeface="Arial"/>
              </a:rPr>
              <a:t>Handler</a:t>
            </a:r>
            <a:r>
              <a:rPr lang="en-IE" sz="1600" dirty="0">
                <a:solidFill>
                  <a:srgbClr val="000000"/>
                </a:solidFill>
                <a:latin typeface="Arial"/>
              </a:rPr>
              <a:t>: Hey dude, I'm trying to reach java.example.org, should I use a proxy?</a:t>
            </a:r>
            <a:r>
              <a:rPr lang="en-IE" sz="1600" dirty="0"/>
              <a:t/>
            </a:r>
            <a:br>
              <a:rPr lang="en-IE" sz="1600" dirty="0"/>
            </a:br>
            <a:r>
              <a:rPr lang="en-IE" sz="1600" b="1" dirty="0" err="1">
                <a:solidFill>
                  <a:srgbClr val="000000"/>
                </a:solidFill>
                <a:latin typeface="Arial"/>
              </a:rPr>
              <a:t>ProxySelector</a:t>
            </a:r>
            <a:r>
              <a:rPr lang="en-IE" sz="1600" dirty="0">
                <a:solidFill>
                  <a:srgbClr val="000000"/>
                </a:solidFill>
                <a:latin typeface="Arial"/>
              </a:rPr>
              <a:t>: Which protocol do you intend to use?</a:t>
            </a:r>
            <a:r>
              <a:rPr lang="en-IE" sz="1600" dirty="0"/>
              <a:t/>
            </a:r>
            <a:br>
              <a:rPr lang="en-IE" sz="1600" dirty="0"/>
            </a:br>
            <a:r>
              <a:rPr lang="en-IE" sz="1600" b="1" dirty="0">
                <a:solidFill>
                  <a:srgbClr val="000000"/>
                </a:solidFill>
                <a:latin typeface="Arial"/>
              </a:rPr>
              <a:t>Handler</a:t>
            </a:r>
            <a:r>
              <a:rPr lang="en-IE" sz="1600" dirty="0">
                <a:solidFill>
                  <a:srgbClr val="000000"/>
                </a:solidFill>
                <a:latin typeface="Arial"/>
              </a:rPr>
              <a:t>: http, of course!</a:t>
            </a:r>
            <a:r>
              <a:rPr lang="en-IE" sz="1600" dirty="0"/>
              <a:t/>
            </a:r>
            <a:br>
              <a:rPr lang="en-IE" sz="1600" dirty="0"/>
            </a:br>
            <a:r>
              <a:rPr lang="en-IE" sz="1600" b="1" dirty="0" err="1">
                <a:solidFill>
                  <a:srgbClr val="000000"/>
                </a:solidFill>
                <a:latin typeface="Arial"/>
              </a:rPr>
              <a:t>ProxySelector</a:t>
            </a:r>
            <a:r>
              <a:rPr lang="en-IE" sz="1600" dirty="0">
                <a:solidFill>
                  <a:srgbClr val="000000"/>
                </a:solidFill>
                <a:latin typeface="Arial"/>
              </a:rPr>
              <a:t>: On the default port?</a:t>
            </a:r>
            <a:r>
              <a:rPr lang="en-IE" sz="1600" dirty="0"/>
              <a:t/>
            </a:r>
            <a:br>
              <a:rPr lang="en-IE" sz="1600" dirty="0"/>
            </a:br>
            <a:r>
              <a:rPr lang="en-IE" sz="1600" b="1" dirty="0">
                <a:solidFill>
                  <a:srgbClr val="000000"/>
                </a:solidFill>
                <a:latin typeface="Arial"/>
              </a:rPr>
              <a:t>Handler</a:t>
            </a:r>
            <a:r>
              <a:rPr lang="en-IE" sz="1600" dirty="0">
                <a:solidFill>
                  <a:srgbClr val="000000"/>
                </a:solidFill>
                <a:latin typeface="Arial"/>
              </a:rPr>
              <a:t>: Let me check.... Yes, default port.</a:t>
            </a:r>
            <a:r>
              <a:rPr lang="en-IE" sz="1600" dirty="0"/>
              <a:t/>
            </a:r>
            <a:br>
              <a:rPr lang="en-IE" sz="1600" dirty="0"/>
            </a:br>
            <a:r>
              <a:rPr lang="en-IE" sz="1600" b="1" dirty="0" err="1">
                <a:solidFill>
                  <a:srgbClr val="000000"/>
                </a:solidFill>
                <a:latin typeface="Arial"/>
              </a:rPr>
              <a:t>ProxySelector</a:t>
            </a:r>
            <a:r>
              <a:rPr lang="en-IE" sz="1600" dirty="0">
                <a:solidFill>
                  <a:srgbClr val="000000"/>
                </a:solidFill>
                <a:latin typeface="Arial"/>
              </a:rPr>
              <a:t>: I see. Then you shall use webcache.example.com on port 8080 as a proxy.</a:t>
            </a:r>
            <a:r>
              <a:rPr lang="en-IE" sz="1600" dirty="0"/>
              <a:t/>
            </a:r>
            <a:br>
              <a:rPr lang="en-IE" sz="1600" dirty="0"/>
            </a:br>
            <a:r>
              <a:rPr lang="en-IE" sz="1600" b="1" dirty="0">
                <a:solidFill>
                  <a:srgbClr val="000000"/>
                </a:solidFill>
                <a:latin typeface="Arial"/>
              </a:rPr>
              <a:t>Handler</a:t>
            </a:r>
            <a:r>
              <a:rPr lang="en-IE" sz="1600" dirty="0">
                <a:solidFill>
                  <a:srgbClr val="000000"/>
                </a:solidFill>
                <a:latin typeface="Arial"/>
              </a:rPr>
              <a:t>: Thanks. </a:t>
            </a:r>
            <a:r>
              <a:rPr lang="en-IE" sz="1600" dirty="0" smtClean="0">
                <a:solidFill>
                  <a:srgbClr val="000000"/>
                </a:solidFill>
                <a:latin typeface="Arial"/>
              </a:rPr>
              <a:t> </a:t>
            </a:r>
            <a:r>
              <a:rPr lang="en-IE" sz="1600" dirty="0">
                <a:solidFill>
                  <a:srgbClr val="000000"/>
                </a:solidFill>
                <a:latin typeface="Arial"/>
              </a:rPr>
              <a:t>Dude, webcache.example.com:8080 doesn't seem to be responding! Any other option?</a:t>
            </a:r>
            <a:r>
              <a:rPr lang="en-IE" sz="1600" dirty="0"/>
              <a:t/>
            </a:r>
            <a:br>
              <a:rPr lang="en-IE" sz="1600" dirty="0"/>
            </a:br>
            <a:r>
              <a:rPr lang="en-IE" sz="1600" b="1" dirty="0" err="1">
                <a:solidFill>
                  <a:srgbClr val="000000"/>
                </a:solidFill>
                <a:latin typeface="Arial"/>
              </a:rPr>
              <a:t>ProxySelector</a:t>
            </a:r>
            <a:r>
              <a:rPr lang="en-IE" sz="1600" dirty="0">
                <a:solidFill>
                  <a:srgbClr val="000000"/>
                </a:solidFill>
                <a:latin typeface="Arial"/>
              </a:rPr>
              <a:t>: Dang! OK, try webcache2.example.com, on port 8080 as well.</a:t>
            </a:r>
            <a:r>
              <a:rPr lang="en-IE" sz="1600" dirty="0"/>
              <a:t/>
            </a:r>
            <a:br>
              <a:rPr lang="en-IE" sz="1600" dirty="0"/>
            </a:br>
            <a:r>
              <a:rPr lang="en-IE" sz="1600" b="1" dirty="0">
                <a:solidFill>
                  <a:srgbClr val="000000"/>
                </a:solidFill>
                <a:latin typeface="Arial"/>
              </a:rPr>
              <a:t>Handler</a:t>
            </a:r>
            <a:r>
              <a:rPr lang="en-IE" sz="1600" dirty="0">
                <a:solidFill>
                  <a:srgbClr val="000000"/>
                </a:solidFill>
                <a:latin typeface="Arial"/>
              </a:rPr>
              <a:t>: Sure. Seems to be working. Thanks.</a:t>
            </a:r>
            <a:r>
              <a:rPr lang="en-IE" sz="1600" dirty="0"/>
              <a:t/>
            </a:r>
            <a:br>
              <a:rPr lang="en-IE" sz="1600" dirty="0"/>
            </a:br>
            <a:r>
              <a:rPr lang="en-IE" sz="1600" b="1" dirty="0" err="1">
                <a:solidFill>
                  <a:srgbClr val="000000"/>
                </a:solidFill>
                <a:latin typeface="Arial"/>
              </a:rPr>
              <a:t>ProxySelector</a:t>
            </a:r>
            <a:r>
              <a:rPr lang="en-IE" sz="1600" dirty="0">
                <a:solidFill>
                  <a:srgbClr val="000000"/>
                </a:solidFill>
                <a:latin typeface="Arial"/>
              </a:rPr>
              <a:t>: No sweat. </a:t>
            </a:r>
            <a:r>
              <a:rPr lang="en-IE" sz="1600" dirty="0" smtClean="0">
                <a:solidFill>
                  <a:srgbClr val="000000"/>
                </a:solidFill>
                <a:latin typeface="Arial"/>
              </a:rPr>
              <a:t>I'm </a:t>
            </a:r>
            <a:r>
              <a:rPr lang="en-IE" sz="1600" dirty="0">
                <a:solidFill>
                  <a:srgbClr val="000000"/>
                </a:solidFill>
                <a:latin typeface="Arial"/>
              </a:rPr>
              <a:t>embellishing a bit, but you get the idea.</a:t>
            </a:r>
          </a:p>
          <a:p>
            <a:r>
              <a:rPr lang="en-IE" sz="1600" dirty="0">
                <a:solidFill>
                  <a:srgbClr val="000000"/>
                </a:solidFill>
                <a:latin typeface="Arial"/>
              </a:rPr>
              <a:t>The best thing about the </a:t>
            </a:r>
            <a:r>
              <a:rPr lang="en-IE" sz="1600" dirty="0" err="1">
                <a:solidFill>
                  <a:srgbClr val="000000"/>
                </a:solidFill>
                <a:latin typeface="Arial"/>
              </a:rPr>
              <a:t>ProxySelector</a:t>
            </a:r>
            <a:r>
              <a:rPr lang="en-IE" sz="1600" dirty="0">
                <a:solidFill>
                  <a:srgbClr val="000000"/>
                </a:solidFill>
                <a:latin typeface="Arial"/>
              </a:rPr>
              <a:t> is that it is </a:t>
            </a:r>
            <a:r>
              <a:rPr lang="en-IE" sz="1600" dirty="0" err="1">
                <a:solidFill>
                  <a:srgbClr val="000000"/>
                </a:solidFill>
                <a:latin typeface="Arial"/>
              </a:rPr>
              <a:t>plugable</a:t>
            </a:r>
            <a:r>
              <a:rPr lang="en-IE" sz="1600" dirty="0">
                <a:solidFill>
                  <a:srgbClr val="000000"/>
                </a:solidFill>
                <a:latin typeface="Arial"/>
              </a:rPr>
              <a:t>! Which means that if you have needs that are not covered by the default one, you can write a replacement for it and plug it in!</a:t>
            </a:r>
          </a:p>
          <a:p>
            <a:pPr marL="0" indent="0">
              <a:buNone/>
            </a:pPr>
            <a:endParaRPr lang="en-IE" sz="1600" b="1" dirty="0">
              <a:solidFill>
                <a:srgbClr val="555555"/>
              </a:solidFill>
              <a:latin typeface="UbuntuMono-Regular"/>
            </a:endParaRPr>
          </a:p>
        </p:txBody>
      </p:sp>
    </p:spTree>
    <p:extLst>
      <p:ext uri="{BB962C8B-B14F-4D97-AF65-F5344CB8AC3E}">
        <p14:creationId xmlns:p14="http://schemas.microsoft.com/office/powerpoint/2010/main" val="29583117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39762"/>
          </a:xfrm>
        </p:spPr>
        <p:txBody>
          <a:bodyPr>
            <a:noAutofit/>
          </a:bodyPr>
          <a:lstStyle/>
          <a:p>
            <a:r>
              <a:rPr lang="en-IE" sz="2800" dirty="0"/>
              <a:t>Communicating with Server-Side Programs Through GET</a:t>
            </a:r>
            <a:endParaRPr lang="en-IE" sz="2800" b="1" dirty="0"/>
          </a:p>
        </p:txBody>
      </p:sp>
      <p:sp>
        <p:nvSpPr>
          <p:cNvPr id="3" name="Content Placeholder 2"/>
          <p:cNvSpPr>
            <a:spLocks noGrp="1"/>
          </p:cNvSpPr>
          <p:nvPr>
            <p:ph idx="1"/>
          </p:nvPr>
        </p:nvSpPr>
        <p:spPr>
          <a:xfrm>
            <a:off x="0" y="609600"/>
            <a:ext cx="9144000" cy="6248400"/>
          </a:xfrm>
        </p:spPr>
        <p:txBody>
          <a:bodyPr>
            <a:noAutofit/>
          </a:bodyPr>
          <a:lstStyle/>
          <a:p>
            <a:r>
              <a:rPr lang="en-IE" sz="2000" dirty="0">
                <a:solidFill>
                  <a:srgbClr val="000000"/>
                </a:solidFill>
                <a:latin typeface="MinionPro-Regular"/>
              </a:rPr>
              <a:t>C</a:t>
            </a:r>
            <a:r>
              <a:rPr lang="en-IE" sz="2000" dirty="0" smtClean="0">
                <a:solidFill>
                  <a:srgbClr val="000000"/>
                </a:solidFill>
                <a:latin typeface="MinionPro-Regular"/>
              </a:rPr>
              <a:t>onsider </a:t>
            </a:r>
            <a:r>
              <a:rPr lang="en-IE" sz="2000" dirty="0">
                <a:solidFill>
                  <a:srgbClr val="000000"/>
                </a:solidFill>
                <a:latin typeface="MinionPro-Regular"/>
              </a:rPr>
              <a:t>this HTML form for the local search </a:t>
            </a:r>
            <a:r>
              <a:rPr lang="en-IE" sz="2000" dirty="0" smtClean="0">
                <a:solidFill>
                  <a:srgbClr val="000000"/>
                </a:solidFill>
                <a:latin typeface="MinionPro-Regular"/>
              </a:rPr>
              <a:t>engine. </a:t>
            </a:r>
            <a:r>
              <a:rPr lang="en-IE" sz="2000" dirty="0">
                <a:solidFill>
                  <a:srgbClr val="000000"/>
                </a:solidFill>
                <a:latin typeface="MinionPro-Regular"/>
              </a:rPr>
              <a:t>You can see that it uses the </a:t>
            </a:r>
            <a:r>
              <a:rPr lang="en-IE" sz="2000" dirty="0">
                <a:solidFill>
                  <a:srgbClr val="000000"/>
                </a:solidFill>
                <a:latin typeface="UbuntuMono-Regular"/>
              </a:rPr>
              <a:t>GET </a:t>
            </a:r>
            <a:r>
              <a:rPr lang="en-IE" sz="2000" dirty="0">
                <a:solidFill>
                  <a:srgbClr val="000000"/>
                </a:solidFill>
                <a:latin typeface="MinionPro-Regular"/>
              </a:rPr>
              <a:t>method. The program that processes the </a:t>
            </a:r>
            <a:r>
              <a:rPr lang="en-IE" sz="2000" dirty="0" smtClean="0">
                <a:solidFill>
                  <a:srgbClr val="000000"/>
                </a:solidFill>
                <a:latin typeface="MinionPro-Regular"/>
              </a:rPr>
              <a:t>form is </a:t>
            </a:r>
            <a:r>
              <a:rPr lang="en-IE" sz="2000" dirty="0">
                <a:solidFill>
                  <a:srgbClr val="000000"/>
                </a:solidFill>
                <a:latin typeface="MinionPro-Regular"/>
              </a:rPr>
              <a:t>accessed via the URL </a:t>
            </a:r>
            <a:r>
              <a:rPr lang="en-IE" sz="2000" i="1" dirty="0">
                <a:solidFill>
                  <a:srgbClr val="000000"/>
                </a:solidFill>
                <a:latin typeface="MinionPro-Italic"/>
              </a:rPr>
              <a:t>http://www.google.com/search</a:t>
            </a:r>
            <a:r>
              <a:rPr lang="en-IE" sz="2000" dirty="0">
                <a:solidFill>
                  <a:srgbClr val="000000"/>
                </a:solidFill>
                <a:latin typeface="MinionPro-Regular"/>
              </a:rPr>
              <a:t>. It has four separate </a:t>
            </a:r>
            <a:r>
              <a:rPr lang="en-IE" sz="2000" dirty="0" smtClean="0">
                <a:solidFill>
                  <a:srgbClr val="000000"/>
                </a:solidFill>
                <a:latin typeface="MinionPro-Regular"/>
              </a:rPr>
              <a:t>name-value pairs</a:t>
            </a:r>
            <a:r>
              <a:rPr lang="en-IE" sz="2000" dirty="0">
                <a:solidFill>
                  <a:srgbClr val="000000"/>
                </a:solidFill>
                <a:latin typeface="MinionPro-Regular"/>
              </a:rPr>
              <a:t>, three of which have default values:</a:t>
            </a:r>
          </a:p>
          <a:p>
            <a:r>
              <a:rPr lang="en-IE" sz="1800" dirty="0">
                <a:solidFill>
                  <a:srgbClr val="555555"/>
                </a:solidFill>
                <a:latin typeface="UbuntuMono-Regular"/>
              </a:rPr>
              <a:t>&lt;</a:t>
            </a:r>
            <a:r>
              <a:rPr lang="en-IE" sz="1800" dirty="0">
                <a:solidFill>
                  <a:srgbClr val="000089"/>
                </a:solidFill>
                <a:latin typeface="UbuntuMono-Regular"/>
              </a:rPr>
              <a:t>form name</a:t>
            </a:r>
            <a:r>
              <a:rPr lang="en-IE" sz="1800" dirty="0">
                <a:solidFill>
                  <a:srgbClr val="555555"/>
                </a:solidFill>
                <a:latin typeface="UbuntuMono-Regular"/>
              </a:rPr>
              <a:t>=</a:t>
            </a:r>
            <a:r>
              <a:rPr lang="en-IE" sz="1800" dirty="0">
                <a:solidFill>
                  <a:srgbClr val="CD3300"/>
                </a:solidFill>
                <a:latin typeface="UbuntuMono-Regular"/>
              </a:rPr>
              <a:t>"search" </a:t>
            </a:r>
            <a:r>
              <a:rPr lang="en-IE" sz="1800" dirty="0">
                <a:solidFill>
                  <a:srgbClr val="000089"/>
                </a:solidFill>
                <a:latin typeface="UbuntuMono-Regular"/>
              </a:rPr>
              <a:t>action</a:t>
            </a:r>
            <a:r>
              <a:rPr lang="en-IE" sz="1800" dirty="0">
                <a:solidFill>
                  <a:srgbClr val="555555"/>
                </a:solidFill>
                <a:latin typeface="UbuntuMono-Regular"/>
              </a:rPr>
              <a:t>=</a:t>
            </a:r>
            <a:r>
              <a:rPr lang="en-IE" sz="1800" dirty="0">
                <a:solidFill>
                  <a:srgbClr val="CD3300"/>
                </a:solidFill>
                <a:latin typeface="UbuntuMono-Regular"/>
              </a:rPr>
              <a:t>"http://www.google.com/search" </a:t>
            </a:r>
            <a:r>
              <a:rPr lang="en-IE" sz="1800" dirty="0">
                <a:solidFill>
                  <a:srgbClr val="000089"/>
                </a:solidFill>
                <a:latin typeface="UbuntuMono-Regular"/>
              </a:rPr>
              <a:t>method</a:t>
            </a:r>
            <a:r>
              <a:rPr lang="en-IE" sz="1800" dirty="0">
                <a:solidFill>
                  <a:srgbClr val="555555"/>
                </a:solidFill>
                <a:latin typeface="UbuntuMono-Regular"/>
              </a:rPr>
              <a:t>=</a:t>
            </a:r>
            <a:r>
              <a:rPr lang="en-IE" sz="1800" dirty="0">
                <a:solidFill>
                  <a:srgbClr val="CD3300"/>
                </a:solidFill>
                <a:latin typeface="UbuntuMono-Regular"/>
              </a:rPr>
              <a:t>"get"</a:t>
            </a:r>
            <a:r>
              <a:rPr lang="en-IE" sz="1800" dirty="0">
                <a:solidFill>
                  <a:srgbClr val="555555"/>
                </a:solidFill>
                <a:latin typeface="UbuntuMono-Regular"/>
              </a:rPr>
              <a:t>&gt;</a:t>
            </a:r>
          </a:p>
          <a:p>
            <a:r>
              <a:rPr lang="en-IE" sz="1800" dirty="0">
                <a:solidFill>
                  <a:srgbClr val="555555"/>
                </a:solidFill>
                <a:latin typeface="UbuntuMono-Regular"/>
              </a:rPr>
              <a:t>&lt;</a:t>
            </a:r>
            <a:r>
              <a:rPr lang="en-IE" sz="1800" dirty="0" smtClean="0">
                <a:solidFill>
                  <a:srgbClr val="000089"/>
                </a:solidFill>
                <a:latin typeface="UbuntuMono-Regular"/>
              </a:rPr>
              <a:t>input type=“text” </a:t>
            </a:r>
            <a:r>
              <a:rPr lang="en-IE" sz="1800" dirty="0">
                <a:solidFill>
                  <a:srgbClr val="000089"/>
                </a:solidFill>
                <a:latin typeface="UbuntuMono-Regular"/>
              </a:rPr>
              <a:t>name</a:t>
            </a:r>
            <a:r>
              <a:rPr lang="en-IE" sz="1800" dirty="0">
                <a:solidFill>
                  <a:srgbClr val="555555"/>
                </a:solidFill>
                <a:latin typeface="UbuntuMono-Regular"/>
              </a:rPr>
              <a:t>=</a:t>
            </a:r>
            <a:r>
              <a:rPr lang="en-IE" sz="1800" dirty="0">
                <a:solidFill>
                  <a:srgbClr val="CD3300"/>
                </a:solidFill>
                <a:latin typeface="UbuntuMono-Regular"/>
              </a:rPr>
              <a:t>"q" </a:t>
            </a:r>
            <a:r>
              <a:rPr lang="en-IE" sz="1800" dirty="0">
                <a:solidFill>
                  <a:srgbClr val="555555"/>
                </a:solidFill>
                <a:latin typeface="UbuntuMono-Regular"/>
              </a:rPr>
              <a:t>/&gt;</a:t>
            </a:r>
          </a:p>
          <a:p>
            <a:r>
              <a:rPr lang="en-IE" sz="1800" dirty="0" smtClean="0">
                <a:solidFill>
                  <a:srgbClr val="555555"/>
                </a:solidFill>
                <a:latin typeface="UbuntuMono-Regular"/>
              </a:rPr>
              <a:t>&lt;/</a:t>
            </a:r>
            <a:r>
              <a:rPr lang="en-IE" sz="1800" dirty="0">
                <a:solidFill>
                  <a:srgbClr val="000089"/>
                </a:solidFill>
                <a:latin typeface="UbuntuMono-Regular"/>
              </a:rPr>
              <a:t>form</a:t>
            </a:r>
            <a:r>
              <a:rPr lang="en-IE" sz="1800" dirty="0">
                <a:solidFill>
                  <a:srgbClr val="555555"/>
                </a:solidFill>
                <a:latin typeface="UbuntuMono-Regular"/>
              </a:rPr>
              <a:t>&gt;</a:t>
            </a:r>
          </a:p>
          <a:p>
            <a:r>
              <a:rPr lang="en-IE" sz="2000" dirty="0">
                <a:solidFill>
                  <a:srgbClr val="000000"/>
                </a:solidFill>
                <a:latin typeface="MinionPro-Regular"/>
              </a:rPr>
              <a:t>The type of the </a:t>
            </a:r>
            <a:r>
              <a:rPr lang="en-IE" sz="2000" dirty="0">
                <a:solidFill>
                  <a:srgbClr val="000000"/>
                </a:solidFill>
                <a:latin typeface="UbuntuMono-Regular"/>
              </a:rPr>
              <a:t>INPUT </a:t>
            </a:r>
            <a:r>
              <a:rPr lang="en-IE" sz="2000" dirty="0">
                <a:solidFill>
                  <a:srgbClr val="000000"/>
                </a:solidFill>
                <a:latin typeface="MinionPro-Regular"/>
              </a:rPr>
              <a:t>field doesn’t matter. For instance, it doesn’t matter if it’s a set </a:t>
            </a:r>
            <a:r>
              <a:rPr lang="en-IE" sz="2000" dirty="0" smtClean="0">
                <a:solidFill>
                  <a:srgbClr val="000000"/>
                </a:solidFill>
                <a:latin typeface="MinionPro-Regular"/>
              </a:rPr>
              <a:t>of checkboxes</a:t>
            </a:r>
            <a:r>
              <a:rPr lang="en-IE" sz="2000" dirty="0">
                <a:solidFill>
                  <a:srgbClr val="000000"/>
                </a:solidFill>
                <a:latin typeface="MinionPro-Regular"/>
              </a:rPr>
              <a:t>, a pop-up list, or a text field. Only the name of each </a:t>
            </a:r>
            <a:r>
              <a:rPr lang="en-IE" sz="2000" dirty="0">
                <a:solidFill>
                  <a:srgbClr val="000000"/>
                </a:solidFill>
                <a:latin typeface="UbuntuMono-Regular"/>
              </a:rPr>
              <a:t>INPUT </a:t>
            </a:r>
            <a:r>
              <a:rPr lang="en-IE" sz="2000" dirty="0">
                <a:solidFill>
                  <a:srgbClr val="000000"/>
                </a:solidFill>
                <a:latin typeface="MinionPro-Regular"/>
              </a:rPr>
              <a:t>field and </a:t>
            </a:r>
            <a:r>
              <a:rPr lang="en-IE" sz="2000" dirty="0" smtClean="0">
                <a:solidFill>
                  <a:srgbClr val="000000"/>
                </a:solidFill>
                <a:latin typeface="MinionPro-Regular"/>
              </a:rPr>
              <a:t>the value </a:t>
            </a:r>
            <a:r>
              <a:rPr lang="en-IE" sz="2000" dirty="0">
                <a:solidFill>
                  <a:srgbClr val="000000"/>
                </a:solidFill>
                <a:latin typeface="MinionPro-Regular"/>
              </a:rPr>
              <a:t>you give it is significant. </a:t>
            </a:r>
            <a:endParaRPr lang="en-IE" sz="2000" dirty="0" smtClean="0">
              <a:solidFill>
                <a:srgbClr val="000000"/>
              </a:solidFill>
              <a:latin typeface="MinionPro-Regular"/>
            </a:endParaRPr>
          </a:p>
          <a:p>
            <a:r>
              <a:rPr lang="en-IE" sz="2000" dirty="0" smtClean="0">
                <a:solidFill>
                  <a:srgbClr val="000000"/>
                </a:solidFill>
                <a:latin typeface="MinionPro-Regular"/>
              </a:rPr>
              <a:t>The </a:t>
            </a:r>
            <a:r>
              <a:rPr lang="en-IE" sz="2000" dirty="0">
                <a:solidFill>
                  <a:srgbClr val="000000"/>
                </a:solidFill>
                <a:latin typeface="MinionPro-Regular"/>
              </a:rPr>
              <a:t>submit input tells the web browser when to send </a:t>
            </a:r>
            <a:r>
              <a:rPr lang="en-IE" sz="2000" dirty="0" smtClean="0">
                <a:solidFill>
                  <a:srgbClr val="000000"/>
                </a:solidFill>
                <a:latin typeface="MinionPro-Regular"/>
              </a:rPr>
              <a:t>the data </a:t>
            </a:r>
            <a:r>
              <a:rPr lang="en-IE" sz="2000" dirty="0">
                <a:solidFill>
                  <a:srgbClr val="000000"/>
                </a:solidFill>
                <a:latin typeface="MinionPro-Regular"/>
              </a:rPr>
              <a:t>but does not give the server any extra information. </a:t>
            </a:r>
            <a:endParaRPr lang="en-IE" sz="2000" dirty="0" smtClean="0">
              <a:solidFill>
                <a:srgbClr val="000000"/>
              </a:solidFill>
              <a:latin typeface="MinionPro-Regular"/>
            </a:endParaRPr>
          </a:p>
        </p:txBody>
      </p:sp>
    </p:spTree>
    <p:extLst>
      <p:ext uri="{BB962C8B-B14F-4D97-AF65-F5344CB8AC3E}">
        <p14:creationId xmlns:p14="http://schemas.microsoft.com/office/powerpoint/2010/main" val="355119330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39762"/>
          </a:xfrm>
        </p:spPr>
        <p:txBody>
          <a:bodyPr>
            <a:noAutofit/>
          </a:bodyPr>
          <a:lstStyle/>
          <a:p>
            <a:r>
              <a:rPr lang="en-IE" sz="2800" i="1" dirty="0" smtClean="0"/>
              <a:t>Query to Google</a:t>
            </a:r>
            <a:endParaRPr lang="en-IE" sz="2800" b="1" dirty="0"/>
          </a:p>
        </p:txBody>
      </p:sp>
      <p:sp>
        <p:nvSpPr>
          <p:cNvPr id="3" name="Content Placeholder 2"/>
          <p:cNvSpPr>
            <a:spLocks noGrp="1"/>
          </p:cNvSpPr>
          <p:nvPr>
            <p:ph idx="1"/>
          </p:nvPr>
        </p:nvSpPr>
        <p:spPr>
          <a:xfrm>
            <a:off x="0" y="609600"/>
            <a:ext cx="9144000" cy="6248400"/>
          </a:xfrm>
        </p:spPr>
        <p:txBody>
          <a:bodyPr>
            <a:noAutofit/>
          </a:bodyPr>
          <a:lstStyle/>
          <a:p>
            <a:pPr marL="0" indent="0">
              <a:buNone/>
            </a:pPr>
            <a:r>
              <a:rPr lang="en-IE" sz="1400" b="1" dirty="0">
                <a:solidFill>
                  <a:srgbClr val="7F0055"/>
                </a:solidFill>
                <a:latin typeface="Consolas"/>
              </a:rPr>
              <a:t>package</a:t>
            </a:r>
            <a:r>
              <a:rPr lang="en-IE" sz="1400" b="1" dirty="0">
                <a:solidFill>
                  <a:srgbClr val="000000"/>
                </a:solidFill>
                <a:latin typeface="Consolas"/>
              </a:rPr>
              <a:t> </a:t>
            </a:r>
            <a:r>
              <a:rPr lang="en-IE" sz="1400" b="1" dirty="0" err="1" smtClean="0">
                <a:solidFill>
                  <a:srgbClr val="000000"/>
                </a:solidFill>
                <a:latin typeface="Consolas"/>
              </a:rPr>
              <a:t>url</a:t>
            </a:r>
            <a:r>
              <a:rPr lang="en-IE" sz="1400" b="1" dirty="0" smtClean="0">
                <a:solidFill>
                  <a:srgbClr val="000000"/>
                </a:solidFill>
                <a:latin typeface="Consolas"/>
              </a:rPr>
              <a:t>; </a:t>
            </a:r>
            <a:r>
              <a:rPr lang="en-IE" sz="1400" b="1" dirty="0" smtClean="0">
                <a:solidFill>
                  <a:srgbClr val="7F0055"/>
                </a:solidFill>
                <a:latin typeface="Consolas"/>
              </a:rPr>
              <a:t>import</a:t>
            </a:r>
            <a:r>
              <a:rPr lang="en-IE" sz="1400" b="1" dirty="0" smtClean="0">
                <a:solidFill>
                  <a:srgbClr val="000000"/>
                </a:solidFill>
                <a:latin typeface="Consolas"/>
              </a:rPr>
              <a:t> </a:t>
            </a:r>
            <a:r>
              <a:rPr lang="en-IE" sz="1400" b="1" dirty="0">
                <a:solidFill>
                  <a:srgbClr val="000000"/>
                </a:solidFill>
                <a:latin typeface="Consolas"/>
              </a:rPr>
              <a:t>java.io</a:t>
            </a:r>
            <a:r>
              <a:rPr lang="en-IE" sz="1400" b="1" dirty="0" smtClean="0">
                <a:solidFill>
                  <a:srgbClr val="000000"/>
                </a:solidFill>
                <a:latin typeface="Consolas"/>
              </a:rPr>
              <a:t>.*; </a:t>
            </a:r>
            <a:r>
              <a:rPr lang="en-IE" sz="1400" b="1" dirty="0" smtClean="0">
                <a:solidFill>
                  <a:srgbClr val="7F0055"/>
                </a:solidFill>
                <a:latin typeface="Consolas"/>
              </a:rPr>
              <a:t>import</a:t>
            </a:r>
            <a:r>
              <a:rPr lang="en-IE" sz="1400" b="1" dirty="0" smtClean="0">
                <a:solidFill>
                  <a:srgbClr val="000000"/>
                </a:solidFill>
                <a:latin typeface="Consolas"/>
              </a:rPr>
              <a:t> </a:t>
            </a:r>
            <a:r>
              <a:rPr lang="en-IE" sz="1400" b="1" dirty="0">
                <a:solidFill>
                  <a:srgbClr val="000000"/>
                </a:solidFill>
                <a:latin typeface="Consolas"/>
              </a:rPr>
              <a:t>java.net.*;</a:t>
            </a:r>
          </a:p>
          <a:p>
            <a:pPr marL="0" indent="0">
              <a:buNone/>
            </a:pPr>
            <a:r>
              <a:rPr lang="en-IE" sz="1400" b="1" dirty="0">
                <a:solidFill>
                  <a:srgbClr val="7F0055"/>
                </a:solidFill>
                <a:latin typeface="Consolas"/>
              </a:rPr>
              <a:t>public</a:t>
            </a:r>
            <a:r>
              <a:rPr lang="en-IE" sz="1400" b="1" dirty="0">
                <a:solidFill>
                  <a:srgbClr val="000000"/>
                </a:solidFill>
                <a:latin typeface="Consolas"/>
              </a:rPr>
              <a:t> </a:t>
            </a:r>
            <a:r>
              <a:rPr lang="en-IE" sz="1400" b="1" dirty="0">
                <a:solidFill>
                  <a:srgbClr val="7F0055"/>
                </a:solidFill>
                <a:latin typeface="Consolas"/>
              </a:rPr>
              <a:t>class</a:t>
            </a:r>
            <a:r>
              <a:rPr lang="en-IE" sz="1400" b="1" dirty="0">
                <a:solidFill>
                  <a:srgbClr val="000000"/>
                </a:solidFill>
                <a:latin typeface="Consolas"/>
              </a:rPr>
              <a:t> </a:t>
            </a:r>
            <a:r>
              <a:rPr lang="en-IE" sz="1400" b="1" dirty="0" err="1">
                <a:solidFill>
                  <a:srgbClr val="000000"/>
                </a:solidFill>
                <a:latin typeface="Consolas"/>
              </a:rPr>
              <a:t>DMoz</a:t>
            </a:r>
            <a:r>
              <a:rPr lang="en-IE" sz="1400" b="1" dirty="0">
                <a:solidFill>
                  <a:srgbClr val="000000"/>
                </a:solidFill>
                <a:latin typeface="Consolas"/>
              </a:rPr>
              <a:t> {</a:t>
            </a:r>
          </a:p>
          <a:p>
            <a:pPr marL="0" indent="0">
              <a:buNone/>
            </a:pPr>
            <a:r>
              <a:rPr lang="en-IE" sz="1400" b="1" dirty="0">
                <a:solidFill>
                  <a:srgbClr val="7F0055"/>
                </a:solidFill>
                <a:latin typeface="Consolas"/>
              </a:rPr>
              <a:t>public</a:t>
            </a:r>
            <a:r>
              <a:rPr lang="en-IE" sz="1400" b="1" dirty="0">
                <a:solidFill>
                  <a:srgbClr val="000000"/>
                </a:solidFill>
                <a:latin typeface="Consolas"/>
              </a:rPr>
              <a:t> </a:t>
            </a:r>
            <a:r>
              <a:rPr lang="en-IE" sz="1400" b="1" dirty="0">
                <a:solidFill>
                  <a:srgbClr val="7F0055"/>
                </a:solidFill>
                <a:latin typeface="Consolas"/>
              </a:rPr>
              <a:t>static</a:t>
            </a:r>
            <a:r>
              <a:rPr lang="en-IE" sz="1400" b="1" dirty="0">
                <a:solidFill>
                  <a:srgbClr val="000000"/>
                </a:solidFill>
                <a:latin typeface="Consolas"/>
              </a:rPr>
              <a:t> </a:t>
            </a:r>
            <a:r>
              <a:rPr lang="en-IE" sz="1400" b="1" dirty="0">
                <a:solidFill>
                  <a:srgbClr val="7F0055"/>
                </a:solidFill>
                <a:latin typeface="Consolas"/>
              </a:rPr>
              <a:t>void</a:t>
            </a:r>
            <a:r>
              <a:rPr lang="en-IE" sz="1400" b="1" dirty="0">
                <a:solidFill>
                  <a:srgbClr val="000000"/>
                </a:solidFill>
                <a:latin typeface="Consolas"/>
              </a:rPr>
              <a:t> main(String[] </a:t>
            </a:r>
            <a:r>
              <a:rPr lang="en-IE" sz="1400" b="1" dirty="0" err="1">
                <a:solidFill>
                  <a:srgbClr val="6A3E3E"/>
                </a:solidFill>
                <a:latin typeface="Consolas"/>
              </a:rPr>
              <a:t>args</a:t>
            </a:r>
            <a:r>
              <a:rPr lang="en-IE" sz="1400" b="1" dirty="0">
                <a:solidFill>
                  <a:srgbClr val="000000"/>
                </a:solidFill>
                <a:latin typeface="Consolas"/>
              </a:rPr>
              <a:t>) {</a:t>
            </a:r>
          </a:p>
          <a:p>
            <a:pPr marL="0" indent="0">
              <a:buNone/>
            </a:pPr>
            <a:r>
              <a:rPr lang="en-IE" sz="1400" dirty="0">
                <a:solidFill>
                  <a:srgbClr val="000000"/>
                </a:solidFill>
                <a:latin typeface="Consolas"/>
              </a:rPr>
              <a:t>String </a:t>
            </a:r>
            <a:r>
              <a:rPr lang="en-IE" sz="1400" dirty="0">
                <a:solidFill>
                  <a:srgbClr val="6A3E3E"/>
                </a:solidFill>
                <a:latin typeface="Consolas"/>
              </a:rPr>
              <a:t>target</a:t>
            </a:r>
            <a:r>
              <a:rPr lang="en-IE" sz="1400" dirty="0">
                <a:solidFill>
                  <a:srgbClr val="000000"/>
                </a:solidFill>
                <a:latin typeface="Consolas"/>
              </a:rPr>
              <a:t> = </a:t>
            </a:r>
            <a:r>
              <a:rPr lang="en-IE" sz="1400" dirty="0">
                <a:solidFill>
                  <a:srgbClr val="2A00FF"/>
                </a:solidFill>
                <a:latin typeface="Consolas"/>
              </a:rPr>
              <a:t>""</a:t>
            </a:r>
            <a:r>
              <a:rPr lang="en-IE" sz="1400" dirty="0">
                <a:solidFill>
                  <a:srgbClr val="000000"/>
                </a:solidFill>
                <a:latin typeface="Consolas"/>
              </a:rPr>
              <a:t>;</a:t>
            </a:r>
          </a:p>
          <a:p>
            <a:pPr marL="0" indent="0">
              <a:buNone/>
            </a:pPr>
            <a:r>
              <a:rPr lang="en-IE" sz="1400" b="1" dirty="0">
                <a:solidFill>
                  <a:srgbClr val="7F0055"/>
                </a:solidFill>
                <a:latin typeface="Consolas"/>
              </a:rPr>
              <a:t>for</a:t>
            </a:r>
            <a:r>
              <a:rPr lang="en-IE" sz="1400" b="1" dirty="0">
                <a:solidFill>
                  <a:srgbClr val="000000"/>
                </a:solidFill>
                <a:latin typeface="Consolas"/>
              </a:rPr>
              <a:t> (</a:t>
            </a:r>
            <a:r>
              <a:rPr lang="en-IE" sz="1400" b="1" dirty="0" err="1">
                <a:solidFill>
                  <a:srgbClr val="7F0055"/>
                </a:solidFill>
                <a:latin typeface="Consolas"/>
              </a:rPr>
              <a:t>int</a:t>
            </a:r>
            <a:r>
              <a:rPr lang="en-IE" sz="1400" b="1" dirty="0">
                <a:solidFill>
                  <a:srgbClr val="000000"/>
                </a:solidFill>
                <a:latin typeface="Consolas"/>
              </a:rPr>
              <a:t> </a:t>
            </a:r>
            <a:r>
              <a:rPr lang="en-IE" sz="1400" b="1" dirty="0" err="1">
                <a:solidFill>
                  <a:srgbClr val="6A3E3E"/>
                </a:solidFill>
                <a:latin typeface="Consolas"/>
              </a:rPr>
              <a:t>i</a:t>
            </a:r>
            <a:r>
              <a:rPr lang="en-IE" sz="1400" b="1" dirty="0">
                <a:solidFill>
                  <a:srgbClr val="000000"/>
                </a:solidFill>
                <a:latin typeface="Consolas"/>
              </a:rPr>
              <a:t> = 0; </a:t>
            </a:r>
            <a:r>
              <a:rPr lang="en-IE" sz="1400" b="1" dirty="0" err="1">
                <a:solidFill>
                  <a:srgbClr val="6A3E3E"/>
                </a:solidFill>
                <a:latin typeface="Consolas"/>
              </a:rPr>
              <a:t>i</a:t>
            </a:r>
            <a:r>
              <a:rPr lang="en-IE" sz="1400" b="1" dirty="0">
                <a:solidFill>
                  <a:srgbClr val="000000"/>
                </a:solidFill>
                <a:latin typeface="Consolas"/>
              </a:rPr>
              <a:t> &lt; </a:t>
            </a:r>
            <a:r>
              <a:rPr lang="en-IE" sz="1400" b="1" dirty="0" err="1">
                <a:solidFill>
                  <a:srgbClr val="6A3E3E"/>
                </a:solidFill>
                <a:latin typeface="Consolas"/>
              </a:rPr>
              <a:t>args</a:t>
            </a:r>
            <a:r>
              <a:rPr lang="en-IE" sz="1400" b="1" dirty="0" err="1">
                <a:solidFill>
                  <a:srgbClr val="000000"/>
                </a:solidFill>
                <a:latin typeface="Consolas"/>
              </a:rPr>
              <a:t>.</a:t>
            </a:r>
            <a:r>
              <a:rPr lang="en-IE" sz="1400" b="1" dirty="0" err="1">
                <a:solidFill>
                  <a:srgbClr val="0000C0"/>
                </a:solidFill>
                <a:latin typeface="Consolas"/>
              </a:rPr>
              <a:t>length</a:t>
            </a:r>
            <a:r>
              <a:rPr lang="en-IE" sz="1400" b="1" dirty="0">
                <a:solidFill>
                  <a:srgbClr val="000000"/>
                </a:solidFill>
                <a:latin typeface="Consolas"/>
              </a:rPr>
              <a:t>; </a:t>
            </a:r>
            <a:r>
              <a:rPr lang="en-IE" sz="1400" b="1" dirty="0" err="1">
                <a:solidFill>
                  <a:srgbClr val="6A3E3E"/>
                </a:solidFill>
                <a:latin typeface="Consolas"/>
              </a:rPr>
              <a:t>i</a:t>
            </a:r>
            <a:r>
              <a:rPr lang="en-IE" sz="1400" b="1" dirty="0">
                <a:solidFill>
                  <a:srgbClr val="000000"/>
                </a:solidFill>
                <a:latin typeface="Consolas"/>
              </a:rPr>
              <a:t>++) {</a:t>
            </a:r>
          </a:p>
          <a:p>
            <a:pPr marL="0" indent="0">
              <a:buNone/>
            </a:pPr>
            <a:r>
              <a:rPr lang="en-IE" sz="1400" dirty="0">
                <a:solidFill>
                  <a:srgbClr val="6A3E3E"/>
                </a:solidFill>
                <a:latin typeface="Consolas"/>
              </a:rPr>
              <a:t>target</a:t>
            </a:r>
            <a:r>
              <a:rPr lang="en-IE" sz="1400" dirty="0">
                <a:solidFill>
                  <a:srgbClr val="000000"/>
                </a:solidFill>
                <a:latin typeface="Consolas"/>
              </a:rPr>
              <a:t> += </a:t>
            </a:r>
            <a:r>
              <a:rPr lang="en-IE" sz="1400" dirty="0" err="1">
                <a:solidFill>
                  <a:srgbClr val="6A3E3E"/>
                </a:solidFill>
                <a:latin typeface="Consolas"/>
              </a:rPr>
              <a:t>args</a:t>
            </a:r>
            <a:r>
              <a:rPr lang="en-IE" sz="1400" dirty="0">
                <a:solidFill>
                  <a:srgbClr val="000000"/>
                </a:solidFill>
                <a:latin typeface="Consolas"/>
              </a:rPr>
              <a:t>[</a:t>
            </a:r>
            <a:r>
              <a:rPr lang="en-IE" sz="1400" dirty="0" err="1">
                <a:solidFill>
                  <a:srgbClr val="6A3E3E"/>
                </a:solidFill>
                <a:latin typeface="Consolas"/>
              </a:rPr>
              <a:t>i</a:t>
            </a:r>
            <a:r>
              <a:rPr lang="en-IE" sz="1400" dirty="0">
                <a:solidFill>
                  <a:srgbClr val="000000"/>
                </a:solidFill>
                <a:latin typeface="Consolas"/>
              </a:rPr>
              <a:t>] + </a:t>
            </a:r>
            <a:r>
              <a:rPr lang="en-IE" sz="1400" dirty="0">
                <a:solidFill>
                  <a:srgbClr val="2A00FF"/>
                </a:solidFill>
                <a:latin typeface="Consolas"/>
              </a:rPr>
              <a:t>" "</a:t>
            </a:r>
            <a:r>
              <a:rPr lang="en-IE" sz="1400" dirty="0">
                <a:solidFill>
                  <a:srgbClr val="000000"/>
                </a:solidFill>
                <a:latin typeface="Consolas"/>
              </a:rPr>
              <a:t>;</a:t>
            </a:r>
          </a:p>
          <a:p>
            <a:pPr marL="0" indent="0">
              <a:buNone/>
            </a:pPr>
            <a:r>
              <a:rPr lang="en-IE" sz="1400" dirty="0">
                <a:solidFill>
                  <a:srgbClr val="000000"/>
                </a:solidFill>
                <a:latin typeface="Consolas"/>
              </a:rPr>
              <a:t>}</a:t>
            </a:r>
          </a:p>
          <a:p>
            <a:pPr marL="0" indent="0">
              <a:buNone/>
            </a:pPr>
            <a:r>
              <a:rPr lang="en-IE" sz="1400" dirty="0">
                <a:solidFill>
                  <a:srgbClr val="6A3E3E"/>
                </a:solidFill>
                <a:latin typeface="Consolas"/>
              </a:rPr>
              <a:t>target</a:t>
            </a:r>
            <a:r>
              <a:rPr lang="en-IE" sz="1400" dirty="0">
                <a:solidFill>
                  <a:srgbClr val="000000"/>
                </a:solidFill>
                <a:latin typeface="Consolas"/>
              </a:rPr>
              <a:t> = </a:t>
            </a:r>
            <a:r>
              <a:rPr lang="en-IE" sz="1400" dirty="0" err="1">
                <a:solidFill>
                  <a:srgbClr val="6A3E3E"/>
                </a:solidFill>
                <a:latin typeface="Consolas"/>
              </a:rPr>
              <a:t>target</a:t>
            </a:r>
            <a:r>
              <a:rPr lang="en-IE" sz="1400" dirty="0" err="1">
                <a:solidFill>
                  <a:srgbClr val="000000"/>
                </a:solidFill>
                <a:latin typeface="Consolas"/>
              </a:rPr>
              <a:t>.trim</a:t>
            </a:r>
            <a:r>
              <a:rPr lang="en-IE" sz="1400" dirty="0">
                <a:solidFill>
                  <a:srgbClr val="000000"/>
                </a:solidFill>
                <a:latin typeface="Consolas"/>
              </a:rPr>
              <a:t>();</a:t>
            </a:r>
          </a:p>
          <a:p>
            <a:pPr marL="0" indent="0">
              <a:buNone/>
            </a:pPr>
            <a:r>
              <a:rPr lang="en-IE" sz="1400" dirty="0" err="1">
                <a:solidFill>
                  <a:srgbClr val="000000"/>
                </a:solidFill>
                <a:latin typeface="Consolas"/>
              </a:rPr>
              <a:t>QueryString</a:t>
            </a:r>
            <a:r>
              <a:rPr lang="en-IE" sz="1400" dirty="0">
                <a:solidFill>
                  <a:srgbClr val="000000"/>
                </a:solidFill>
                <a:latin typeface="Consolas"/>
              </a:rPr>
              <a:t> </a:t>
            </a:r>
            <a:r>
              <a:rPr lang="en-IE" sz="1400" dirty="0">
                <a:solidFill>
                  <a:srgbClr val="6A3E3E"/>
                </a:solidFill>
                <a:latin typeface="Consolas"/>
              </a:rPr>
              <a:t>query</a:t>
            </a:r>
            <a:r>
              <a:rPr lang="en-IE" sz="1400" dirty="0">
                <a:solidFill>
                  <a:srgbClr val="000000"/>
                </a:solidFill>
                <a:latin typeface="Consolas"/>
              </a:rPr>
              <a:t> = </a:t>
            </a:r>
            <a:r>
              <a:rPr lang="en-IE" sz="1400" b="1" dirty="0">
                <a:solidFill>
                  <a:srgbClr val="7F0055"/>
                </a:solidFill>
                <a:latin typeface="Consolas"/>
              </a:rPr>
              <a:t>new</a:t>
            </a:r>
            <a:r>
              <a:rPr lang="en-IE" sz="1400" b="1" dirty="0">
                <a:solidFill>
                  <a:srgbClr val="000000"/>
                </a:solidFill>
                <a:latin typeface="Consolas"/>
              </a:rPr>
              <a:t> </a:t>
            </a:r>
            <a:r>
              <a:rPr lang="en-IE" sz="1400" b="1" dirty="0" err="1">
                <a:solidFill>
                  <a:srgbClr val="000000"/>
                </a:solidFill>
                <a:latin typeface="Consolas"/>
              </a:rPr>
              <a:t>QueryString</a:t>
            </a:r>
            <a:r>
              <a:rPr lang="en-IE" sz="1400" b="1" dirty="0">
                <a:solidFill>
                  <a:srgbClr val="000000"/>
                </a:solidFill>
                <a:latin typeface="Consolas"/>
              </a:rPr>
              <a:t>();</a:t>
            </a:r>
          </a:p>
          <a:p>
            <a:pPr marL="0" indent="0">
              <a:buNone/>
            </a:pPr>
            <a:r>
              <a:rPr lang="en-IE" sz="1400" dirty="0" err="1">
                <a:solidFill>
                  <a:srgbClr val="6A3E3E"/>
                </a:solidFill>
                <a:latin typeface="Consolas"/>
              </a:rPr>
              <a:t>query</a:t>
            </a:r>
            <a:r>
              <a:rPr lang="en-IE" sz="1400" dirty="0" err="1">
                <a:solidFill>
                  <a:srgbClr val="000000"/>
                </a:solidFill>
                <a:latin typeface="Consolas"/>
              </a:rPr>
              <a:t>.add</a:t>
            </a:r>
            <a:r>
              <a:rPr lang="en-IE" sz="1400" dirty="0">
                <a:solidFill>
                  <a:srgbClr val="000000"/>
                </a:solidFill>
                <a:latin typeface="Consolas"/>
              </a:rPr>
              <a:t>(</a:t>
            </a:r>
            <a:r>
              <a:rPr lang="en-IE" sz="1400" dirty="0">
                <a:solidFill>
                  <a:srgbClr val="2A00FF"/>
                </a:solidFill>
                <a:latin typeface="Consolas"/>
              </a:rPr>
              <a:t>"q"</a:t>
            </a:r>
            <a:r>
              <a:rPr lang="en-IE" sz="1400" dirty="0">
                <a:solidFill>
                  <a:srgbClr val="000000"/>
                </a:solidFill>
                <a:latin typeface="Consolas"/>
              </a:rPr>
              <a:t>, </a:t>
            </a:r>
            <a:r>
              <a:rPr lang="en-IE" sz="1400" dirty="0">
                <a:solidFill>
                  <a:srgbClr val="6A3E3E"/>
                </a:solidFill>
                <a:latin typeface="Consolas"/>
              </a:rPr>
              <a:t>target</a:t>
            </a:r>
            <a:r>
              <a:rPr lang="en-IE" sz="1400" dirty="0">
                <a:solidFill>
                  <a:srgbClr val="000000"/>
                </a:solidFill>
                <a:latin typeface="Consolas"/>
              </a:rPr>
              <a:t>);</a:t>
            </a:r>
          </a:p>
          <a:p>
            <a:pPr marL="0" indent="0">
              <a:buNone/>
            </a:pPr>
            <a:r>
              <a:rPr lang="en-IE" sz="1400" b="1" dirty="0">
                <a:solidFill>
                  <a:srgbClr val="7F0055"/>
                </a:solidFill>
                <a:latin typeface="Consolas"/>
              </a:rPr>
              <a:t>try</a:t>
            </a:r>
            <a:r>
              <a:rPr lang="en-IE" sz="1400" b="1" dirty="0">
                <a:solidFill>
                  <a:srgbClr val="000000"/>
                </a:solidFill>
                <a:latin typeface="Consolas"/>
              </a:rPr>
              <a:t> </a:t>
            </a:r>
            <a:r>
              <a:rPr lang="en-IE" sz="1400" b="1" dirty="0" smtClean="0">
                <a:solidFill>
                  <a:srgbClr val="000000"/>
                </a:solidFill>
                <a:latin typeface="Consolas"/>
              </a:rPr>
              <a:t>{</a:t>
            </a:r>
          </a:p>
          <a:p>
            <a:pPr marL="0" indent="0">
              <a:buNone/>
            </a:pPr>
            <a:r>
              <a:rPr lang="en-IE" sz="1400" dirty="0" err="1">
                <a:solidFill>
                  <a:srgbClr val="000000"/>
                </a:solidFill>
                <a:latin typeface="Consolas"/>
              </a:rPr>
              <a:t>System.</a:t>
            </a:r>
            <a:r>
              <a:rPr lang="en-IE" sz="1400" i="1" dirty="0" err="1">
                <a:solidFill>
                  <a:srgbClr val="000000"/>
                </a:solidFill>
                <a:latin typeface="Consolas"/>
              </a:rPr>
              <a:t>setProperty</a:t>
            </a:r>
            <a:r>
              <a:rPr lang="en-IE" sz="1400" i="1" dirty="0">
                <a:solidFill>
                  <a:srgbClr val="000000"/>
                </a:solidFill>
                <a:latin typeface="Consolas"/>
              </a:rPr>
              <a:t>(</a:t>
            </a:r>
            <a:r>
              <a:rPr lang="en-IE" sz="1400" i="1" dirty="0">
                <a:solidFill>
                  <a:srgbClr val="2A00FF"/>
                </a:solidFill>
                <a:latin typeface="Consolas"/>
              </a:rPr>
              <a:t>"</a:t>
            </a:r>
            <a:r>
              <a:rPr lang="en-IE" sz="1400" i="1" dirty="0" err="1">
                <a:solidFill>
                  <a:srgbClr val="2A00FF"/>
                </a:solidFill>
                <a:latin typeface="Consolas"/>
              </a:rPr>
              <a:t>http.agent</a:t>
            </a:r>
            <a:r>
              <a:rPr lang="en-IE" sz="1400" i="1" dirty="0">
                <a:solidFill>
                  <a:srgbClr val="2A00FF"/>
                </a:solidFill>
                <a:latin typeface="Consolas"/>
              </a:rPr>
              <a:t>"</a:t>
            </a:r>
            <a:r>
              <a:rPr lang="en-IE" sz="1400" i="1" dirty="0">
                <a:solidFill>
                  <a:srgbClr val="000000"/>
                </a:solidFill>
                <a:latin typeface="Consolas"/>
              </a:rPr>
              <a:t>, </a:t>
            </a:r>
            <a:r>
              <a:rPr lang="en-IE" sz="1400" i="1" dirty="0">
                <a:solidFill>
                  <a:srgbClr val="2A00FF"/>
                </a:solidFill>
                <a:latin typeface="Consolas"/>
              </a:rPr>
              <a:t>"Chrome"</a:t>
            </a:r>
            <a:r>
              <a:rPr lang="en-IE" sz="1400" i="1" dirty="0">
                <a:solidFill>
                  <a:srgbClr val="000000"/>
                </a:solidFill>
                <a:latin typeface="Consolas"/>
              </a:rPr>
              <a:t>);</a:t>
            </a:r>
          </a:p>
          <a:p>
            <a:pPr marL="0" indent="0">
              <a:buNone/>
            </a:pPr>
            <a:r>
              <a:rPr lang="en-IE" sz="1400" dirty="0" smtClean="0">
                <a:solidFill>
                  <a:srgbClr val="000000"/>
                </a:solidFill>
                <a:latin typeface="Consolas"/>
              </a:rPr>
              <a:t>URL </a:t>
            </a:r>
            <a:r>
              <a:rPr lang="en-IE" sz="1400" dirty="0">
                <a:solidFill>
                  <a:srgbClr val="6A3E3E"/>
                </a:solidFill>
                <a:latin typeface="Consolas"/>
              </a:rPr>
              <a:t>u</a:t>
            </a:r>
            <a:r>
              <a:rPr lang="en-IE" sz="1400" dirty="0">
                <a:solidFill>
                  <a:srgbClr val="000000"/>
                </a:solidFill>
                <a:latin typeface="Consolas"/>
              </a:rPr>
              <a:t> = </a:t>
            </a:r>
            <a:r>
              <a:rPr lang="en-IE" sz="1400" b="1" dirty="0">
                <a:solidFill>
                  <a:srgbClr val="7F0055"/>
                </a:solidFill>
                <a:latin typeface="Consolas"/>
              </a:rPr>
              <a:t>new</a:t>
            </a:r>
            <a:r>
              <a:rPr lang="en-IE" sz="1400" b="1" dirty="0">
                <a:solidFill>
                  <a:srgbClr val="000000"/>
                </a:solidFill>
                <a:latin typeface="Consolas"/>
              </a:rPr>
              <a:t> URL(</a:t>
            </a:r>
            <a:r>
              <a:rPr lang="en-IE" sz="1400" b="1" dirty="0">
                <a:solidFill>
                  <a:srgbClr val="2A00FF"/>
                </a:solidFill>
                <a:latin typeface="Consolas"/>
              </a:rPr>
              <a:t>"http://www.google.com/search?"</a:t>
            </a:r>
            <a:r>
              <a:rPr lang="en-IE" sz="1400" b="1" dirty="0">
                <a:solidFill>
                  <a:srgbClr val="000000"/>
                </a:solidFill>
                <a:latin typeface="Consolas"/>
              </a:rPr>
              <a:t> + </a:t>
            </a:r>
            <a:r>
              <a:rPr lang="en-IE" sz="1400" b="1" dirty="0">
                <a:solidFill>
                  <a:srgbClr val="6A3E3E"/>
                </a:solidFill>
                <a:latin typeface="Consolas"/>
              </a:rPr>
              <a:t>query</a:t>
            </a:r>
            <a:r>
              <a:rPr lang="en-IE" sz="1400" b="1" dirty="0">
                <a:solidFill>
                  <a:srgbClr val="000000"/>
                </a:solidFill>
                <a:latin typeface="Consolas"/>
              </a:rPr>
              <a:t>);</a:t>
            </a:r>
          </a:p>
          <a:p>
            <a:pPr marL="0" indent="0">
              <a:buNone/>
            </a:pPr>
            <a:r>
              <a:rPr lang="en-IE" sz="1400" dirty="0" err="1" smtClean="0">
                <a:solidFill>
                  <a:srgbClr val="000000"/>
                </a:solidFill>
                <a:latin typeface="Consolas"/>
              </a:rPr>
              <a:t>URLConnection</a:t>
            </a:r>
            <a:r>
              <a:rPr lang="en-IE" sz="1400" dirty="0" smtClean="0">
                <a:solidFill>
                  <a:srgbClr val="000000"/>
                </a:solidFill>
                <a:latin typeface="Consolas"/>
              </a:rPr>
              <a:t> </a:t>
            </a:r>
            <a:r>
              <a:rPr lang="en-IE" sz="1400" dirty="0">
                <a:solidFill>
                  <a:srgbClr val="6A3E3E"/>
                </a:solidFill>
                <a:latin typeface="Consolas"/>
              </a:rPr>
              <a:t>con</a:t>
            </a:r>
            <a:r>
              <a:rPr lang="en-IE" sz="1400" dirty="0">
                <a:solidFill>
                  <a:srgbClr val="000000"/>
                </a:solidFill>
                <a:latin typeface="Consolas"/>
              </a:rPr>
              <a:t> = </a:t>
            </a:r>
            <a:r>
              <a:rPr lang="en-IE" sz="1400" b="1" dirty="0">
                <a:solidFill>
                  <a:srgbClr val="7F0055"/>
                </a:solidFill>
                <a:latin typeface="Consolas"/>
              </a:rPr>
              <a:t>new</a:t>
            </a:r>
            <a:r>
              <a:rPr lang="en-IE" sz="1400" b="1" dirty="0">
                <a:solidFill>
                  <a:srgbClr val="000000"/>
                </a:solidFill>
                <a:latin typeface="Consolas"/>
              </a:rPr>
              <a:t> URL(</a:t>
            </a:r>
            <a:r>
              <a:rPr lang="en-IE" sz="1400" b="1" dirty="0" err="1">
                <a:solidFill>
                  <a:srgbClr val="6A3E3E"/>
                </a:solidFill>
                <a:latin typeface="Consolas"/>
              </a:rPr>
              <a:t>u</a:t>
            </a:r>
            <a:r>
              <a:rPr lang="en-IE" sz="1400" b="1" dirty="0" err="1">
                <a:solidFill>
                  <a:srgbClr val="000000"/>
                </a:solidFill>
                <a:latin typeface="Consolas"/>
              </a:rPr>
              <a:t>.toString</a:t>
            </a:r>
            <a:r>
              <a:rPr lang="en-IE" sz="1400" b="1" dirty="0">
                <a:solidFill>
                  <a:srgbClr val="000000"/>
                </a:solidFill>
                <a:latin typeface="Consolas"/>
              </a:rPr>
              <a:t>()).</a:t>
            </a:r>
            <a:r>
              <a:rPr lang="en-IE" sz="1400" b="1" dirty="0" err="1">
                <a:solidFill>
                  <a:srgbClr val="000000"/>
                </a:solidFill>
                <a:latin typeface="Consolas"/>
              </a:rPr>
              <a:t>openConnection</a:t>
            </a:r>
            <a:r>
              <a:rPr lang="en-IE" sz="1400" b="1" dirty="0">
                <a:solidFill>
                  <a:srgbClr val="000000"/>
                </a:solidFill>
                <a:latin typeface="Consolas"/>
              </a:rPr>
              <a:t>();</a:t>
            </a:r>
          </a:p>
          <a:p>
            <a:pPr marL="0" indent="0">
              <a:buNone/>
            </a:pPr>
            <a:r>
              <a:rPr lang="en-IE" sz="1400" dirty="0" err="1" smtClean="0">
                <a:solidFill>
                  <a:srgbClr val="000000"/>
                </a:solidFill>
                <a:latin typeface="Consolas"/>
              </a:rPr>
              <a:t>BufferedReader</a:t>
            </a:r>
            <a:r>
              <a:rPr lang="en-IE" sz="1400" dirty="0" smtClean="0">
                <a:solidFill>
                  <a:srgbClr val="000000"/>
                </a:solidFill>
                <a:latin typeface="Consolas"/>
              </a:rPr>
              <a:t> </a:t>
            </a:r>
            <a:r>
              <a:rPr lang="en-IE" sz="1400" dirty="0">
                <a:solidFill>
                  <a:srgbClr val="6A3E3E"/>
                </a:solidFill>
                <a:latin typeface="Consolas"/>
              </a:rPr>
              <a:t>in</a:t>
            </a:r>
            <a:r>
              <a:rPr lang="en-IE" sz="1400" dirty="0">
                <a:solidFill>
                  <a:srgbClr val="000000"/>
                </a:solidFill>
                <a:latin typeface="Consolas"/>
              </a:rPr>
              <a:t> = </a:t>
            </a:r>
            <a:r>
              <a:rPr lang="en-IE" sz="1400" b="1" dirty="0">
                <a:solidFill>
                  <a:srgbClr val="7F0055"/>
                </a:solidFill>
                <a:latin typeface="Consolas"/>
              </a:rPr>
              <a:t>new</a:t>
            </a:r>
            <a:r>
              <a:rPr lang="en-IE" sz="1400" b="1" dirty="0">
                <a:solidFill>
                  <a:srgbClr val="000000"/>
                </a:solidFill>
                <a:latin typeface="Consolas"/>
              </a:rPr>
              <a:t> </a:t>
            </a:r>
            <a:r>
              <a:rPr lang="en-IE" sz="1400" b="1" dirty="0" err="1">
                <a:solidFill>
                  <a:srgbClr val="000000"/>
                </a:solidFill>
                <a:latin typeface="Consolas"/>
              </a:rPr>
              <a:t>BufferedReader</a:t>
            </a:r>
            <a:r>
              <a:rPr lang="en-IE" sz="1400" b="1" dirty="0">
                <a:solidFill>
                  <a:srgbClr val="000000"/>
                </a:solidFill>
                <a:latin typeface="Consolas"/>
              </a:rPr>
              <a:t>(</a:t>
            </a:r>
            <a:r>
              <a:rPr lang="en-IE" sz="1400" b="1" dirty="0">
                <a:solidFill>
                  <a:srgbClr val="7F0055"/>
                </a:solidFill>
                <a:latin typeface="Consolas"/>
              </a:rPr>
              <a:t>new</a:t>
            </a:r>
            <a:r>
              <a:rPr lang="en-IE" sz="1400" b="1" dirty="0">
                <a:solidFill>
                  <a:srgbClr val="000000"/>
                </a:solidFill>
                <a:latin typeface="Consolas"/>
              </a:rPr>
              <a:t> </a:t>
            </a:r>
            <a:r>
              <a:rPr lang="en-IE" sz="1400" b="1" dirty="0" err="1">
                <a:solidFill>
                  <a:srgbClr val="000000"/>
                </a:solidFill>
                <a:latin typeface="Consolas"/>
              </a:rPr>
              <a:t>InputStreamReader</a:t>
            </a:r>
            <a:r>
              <a:rPr lang="en-IE" sz="1400" b="1" dirty="0">
                <a:solidFill>
                  <a:srgbClr val="000000"/>
                </a:solidFill>
                <a:latin typeface="Consolas"/>
              </a:rPr>
              <a:t>(</a:t>
            </a:r>
            <a:r>
              <a:rPr lang="en-IE" sz="1400" b="1" dirty="0" err="1">
                <a:solidFill>
                  <a:srgbClr val="6A3E3E"/>
                </a:solidFill>
                <a:latin typeface="Consolas"/>
              </a:rPr>
              <a:t>con</a:t>
            </a:r>
            <a:r>
              <a:rPr lang="en-IE" sz="1400" b="1" dirty="0" err="1">
                <a:solidFill>
                  <a:srgbClr val="000000"/>
                </a:solidFill>
                <a:latin typeface="Consolas"/>
              </a:rPr>
              <a:t>.getInputStream</a:t>
            </a:r>
            <a:r>
              <a:rPr lang="en-IE" sz="1400" b="1" dirty="0">
                <a:solidFill>
                  <a:srgbClr val="000000"/>
                </a:solidFill>
                <a:latin typeface="Consolas"/>
              </a:rPr>
              <a:t>()));</a:t>
            </a:r>
          </a:p>
          <a:p>
            <a:pPr marL="0" indent="0">
              <a:buNone/>
            </a:pPr>
            <a:r>
              <a:rPr lang="en-IE" sz="1400" b="1" dirty="0" err="1" smtClean="0">
                <a:solidFill>
                  <a:srgbClr val="7F0055"/>
                </a:solidFill>
                <a:latin typeface="Consolas"/>
              </a:rPr>
              <a:t>int</a:t>
            </a:r>
            <a:r>
              <a:rPr lang="en-IE" sz="1400" b="1" dirty="0" smtClean="0">
                <a:solidFill>
                  <a:srgbClr val="000000"/>
                </a:solidFill>
                <a:latin typeface="Consolas"/>
              </a:rPr>
              <a:t> </a:t>
            </a:r>
            <a:r>
              <a:rPr lang="en-IE" sz="1400" b="1" dirty="0">
                <a:solidFill>
                  <a:srgbClr val="6A3E3E"/>
                </a:solidFill>
                <a:latin typeface="Consolas"/>
              </a:rPr>
              <a:t>c</a:t>
            </a:r>
            <a:r>
              <a:rPr lang="en-IE" sz="1400" b="1" dirty="0">
                <a:solidFill>
                  <a:srgbClr val="000000"/>
                </a:solidFill>
                <a:latin typeface="Consolas"/>
              </a:rPr>
              <a:t>;</a:t>
            </a:r>
          </a:p>
          <a:p>
            <a:pPr marL="0" indent="0">
              <a:buNone/>
            </a:pPr>
            <a:r>
              <a:rPr lang="en-IE" sz="1400" b="1" dirty="0">
                <a:solidFill>
                  <a:srgbClr val="7F0055"/>
                </a:solidFill>
                <a:latin typeface="Consolas"/>
              </a:rPr>
              <a:t>while</a:t>
            </a:r>
            <a:r>
              <a:rPr lang="en-IE" sz="1400" b="1" dirty="0">
                <a:solidFill>
                  <a:srgbClr val="000000"/>
                </a:solidFill>
                <a:latin typeface="Consolas"/>
              </a:rPr>
              <a:t> ((</a:t>
            </a:r>
            <a:r>
              <a:rPr lang="en-IE" sz="1400" b="1" dirty="0">
                <a:solidFill>
                  <a:srgbClr val="6A3E3E"/>
                </a:solidFill>
                <a:latin typeface="Consolas"/>
              </a:rPr>
              <a:t>c</a:t>
            </a:r>
            <a:r>
              <a:rPr lang="en-IE" sz="1400" b="1" dirty="0">
                <a:solidFill>
                  <a:srgbClr val="000000"/>
                </a:solidFill>
                <a:latin typeface="Consolas"/>
              </a:rPr>
              <a:t> = </a:t>
            </a:r>
            <a:r>
              <a:rPr lang="en-IE" sz="1400" b="1" dirty="0" err="1">
                <a:solidFill>
                  <a:srgbClr val="6A3E3E"/>
                </a:solidFill>
                <a:latin typeface="Consolas"/>
              </a:rPr>
              <a:t>in</a:t>
            </a:r>
            <a:r>
              <a:rPr lang="en-IE" sz="1400" b="1" dirty="0" err="1">
                <a:solidFill>
                  <a:srgbClr val="000000"/>
                </a:solidFill>
                <a:latin typeface="Consolas"/>
              </a:rPr>
              <a:t>.read</a:t>
            </a:r>
            <a:r>
              <a:rPr lang="en-IE" sz="1400" b="1" dirty="0">
                <a:solidFill>
                  <a:srgbClr val="000000"/>
                </a:solidFill>
                <a:latin typeface="Consolas"/>
              </a:rPr>
              <a:t>()) != -1) {</a:t>
            </a:r>
          </a:p>
          <a:p>
            <a:pPr marL="0" indent="0">
              <a:buNone/>
            </a:pPr>
            <a:r>
              <a:rPr lang="en-IE" sz="1400" dirty="0" err="1">
                <a:solidFill>
                  <a:srgbClr val="000000"/>
                </a:solidFill>
                <a:latin typeface="Consolas"/>
              </a:rPr>
              <a:t>System.</a:t>
            </a:r>
            <a:r>
              <a:rPr lang="en-IE" sz="1400" b="1" i="1" dirty="0" err="1">
                <a:solidFill>
                  <a:srgbClr val="0000C0"/>
                </a:solidFill>
                <a:latin typeface="Consolas"/>
              </a:rPr>
              <a:t>out</a:t>
            </a:r>
            <a:r>
              <a:rPr lang="en-IE" sz="1400" b="1" i="1" dirty="0" err="1">
                <a:solidFill>
                  <a:srgbClr val="000000"/>
                </a:solidFill>
                <a:latin typeface="Consolas"/>
              </a:rPr>
              <a:t>.print</a:t>
            </a:r>
            <a:r>
              <a:rPr lang="en-IE" sz="1400" b="1" i="1" dirty="0">
                <a:solidFill>
                  <a:srgbClr val="000000"/>
                </a:solidFill>
                <a:latin typeface="Consolas"/>
              </a:rPr>
              <a:t>((</a:t>
            </a:r>
            <a:r>
              <a:rPr lang="en-IE" sz="1400" b="1" i="1" dirty="0">
                <a:solidFill>
                  <a:srgbClr val="7F0055"/>
                </a:solidFill>
                <a:latin typeface="Consolas"/>
              </a:rPr>
              <a:t>char</a:t>
            </a:r>
            <a:r>
              <a:rPr lang="en-IE" sz="1400" b="1" i="1" dirty="0">
                <a:solidFill>
                  <a:srgbClr val="000000"/>
                </a:solidFill>
                <a:latin typeface="Consolas"/>
              </a:rPr>
              <a:t>) </a:t>
            </a:r>
            <a:r>
              <a:rPr lang="en-IE" sz="1400" b="1" i="1" dirty="0">
                <a:solidFill>
                  <a:srgbClr val="6A3E3E"/>
                </a:solidFill>
                <a:latin typeface="Consolas"/>
              </a:rPr>
              <a:t>c</a:t>
            </a:r>
            <a:r>
              <a:rPr lang="en-IE" sz="1400" b="1" i="1" dirty="0">
                <a:solidFill>
                  <a:srgbClr val="000000"/>
                </a:solidFill>
                <a:latin typeface="Consolas"/>
              </a:rPr>
              <a:t>);</a:t>
            </a:r>
          </a:p>
          <a:p>
            <a:pPr marL="0" indent="0">
              <a:buNone/>
            </a:pPr>
            <a:r>
              <a:rPr lang="en-IE" sz="1400" dirty="0" smtClean="0">
                <a:solidFill>
                  <a:srgbClr val="000000"/>
                </a:solidFill>
                <a:latin typeface="Consolas"/>
              </a:rPr>
              <a:t>}</a:t>
            </a:r>
            <a:endParaRPr lang="en-IE" sz="1400" dirty="0">
              <a:solidFill>
                <a:srgbClr val="000000"/>
              </a:solidFill>
              <a:latin typeface="Consolas"/>
            </a:endParaRPr>
          </a:p>
          <a:p>
            <a:pPr marL="0" indent="0">
              <a:buNone/>
            </a:pPr>
            <a:r>
              <a:rPr lang="en-IE" sz="1400" dirty="0">
                <a:solidFill>
                  <a:srgbClr val="000000"/>
                </a:solidFill>
                <a:latin typeface="Consolas"/>
              </a:rPr>
              <a:t>} </a:t>
            </a:r>
            <a:r>
              <a:rPr lang="en-IE" sz="1400" b="1" dirty="0">
                <a:solidFill>
                  <a:srgbClr val="7F0055"/>
                </a:solidFill>
                <a:latin typeface="Consolas"/>
              </a:rPr>
              <a:t>catch</a:t>
            </a:r>
            <a:r>
              <a:rPr lang="en-IE" sz="1400" b="1" dirty="0">
                <a:solidFill>
                  <a:srgbClr val="000000"/>
                </a:solidFill>
                <a:latin typeface="Consolas"/>
              </a:rPr>
              <a:t> (</a:t>
            </a:r>
            <a:r>
              <a:rPr lang="en-IE" sz="1400" b="1" dirty="0" err="1">
                <a:solidFill>
                  <a:srgbClr val="000000"/>
                </a:solidFill>
                <a:latin typeface="Consolas"/>
              </a:rPr>
              <a:t>MalformedURLException</a:t>
            </a:r>
            <a:r>
              <a:rPr lang="en-IE" sz="1400" b="1" dirty="0">
                <a:solidFill>
                  <a:srgbClr val="000000"/>
                </a:solidFill>
                <a:latin typeface="Consolas"/>
              </a:rPr>
              <a:t> </a:t>
            </a:r>
            <a:r>
              <a:rPr lang="en-IE" sz="1400" b="1" dirty="0">
                <a:solidFill>
                  <a:srgbClr val="6A3E3E"/>
                </a:solidFill>
                <a:latin typeface="Consolas"/>
              </a:rPr>
              <a:t>ex</a:t>
            </a:r>
            <a:r>
              <a:rPr lang="en-IE" sz="1400" b="1" dirty="0">
                <a:solidFill>
                  <a:srgbClr val="000000"/>
                </a:solidFill>
                <a:latin typeface="Consolas"/>
              </a:rPr>
              <a:t>) {</a:t>
            </a:r>
          </a:p>
          <a:p>
            <a:pPr marL="0" indent="0">
              <a:buNone/>
            </a:pPr>
            <a:r>
              <a:rPr lang="en-IE" sz="1400" dirty="0" err="1">
                <a:solidFill>
                  <a:srgbClr val="000000"/>
                </a:solidFill>
                <a:latin typeface="Consolas"/>
              </a:rPr>
              <a:t>System.</a:t>
            </a:r>
            <a:r>
              <a:rPr lang="en-IE" sz="1400" b="1" i="1" dirty="0" err="1">
                <a:solidFill>
                  <a:srgbClr val="0000C0"/>
                </a:solidFill>
                <a:latin typeface="Consolas"/>
              </a:rPr>
              <a:t>err</a:t>
            </a:r>
            <a:r>
              <a:rPr lang="en-IE" sz="1400" b="1" i="1" dirty="0" err="1">
                <a:solidFill>
                  <a:srgbClr val="000000"/>
                </a:solidFill>
                <a:latin typeface="Consolas"/>
              </a:rPr>
              <a:t>.println</a:t>
            </a:r>
            <a:r>
              <a:rPr lang="en-IE" sz="1400" b="1" i="1" dirty="0">
                <a:solidFill>
                  <a:srgbClr val="000000"/>
                </a:solidFill>
                <a:latin typeface="Consolas"/>
              </a:rPr>
              <a:t>(</a:t>
            </a:r>
            <a:r>
              <a:rPr lang="en-IE" sz="1400" b="1" i="1" dirty="0">
                <a:solidFill>
                  <a:srgbClr val="6A3E3E"/>
                </a:solidFill>
                <a:latin typeface="Consolas"/>
              </a:rPr>
              <a:t>ex</a:t>
            </a:r>
            <a:r>
              <a:rPr lang="en-IE" sz="1400" b="1" i="1" dirty="0">
                <a:solidFill>
                  <a:srgbClr val="000000"/>
                </a:solidFill>
                <a:latin typeface="Consolas"/>
              </a:rPr>
              <a:t>);</a:t>
            </a:r>
          </a:p>
          <a:p>
            <a:pPr marL="0" indent="0">
              <a:buNone/>
            </a:pPr>
            <a:r>
              <a:rPr lang="en-IE" sz="1400" dirty="0">
                <a:solidFill>
                  <a:srgbClr val="000000"/>
                </a:solidFill>
                <a:latin typeface="Consolas"/>
              </a:rPr>
              <a:t>} </a:t>
            </a:r>
            <a:r>
              <a:rPr lang="en-IE" sz="1400" b="1" dirty="0">
                <a:solidFill>
                  <a:srgbClr val="7F0055"/>
                </a:solidFill>
                <a:latin typeface="Consolas"/>
              </a:rPr>
              <a:t>catch</a:t>
            </a:r>
            <a:r>
              <a:rPr lang="en-IE" sz="1400" b="1" dirty="0">
                <a:solidFill>
                  <a:srgbClr val="000000"/>
                </a:solidFill>
                <a:latin typeface="Consolas"/>
              </a:rPr>
              <a:t> (</a:t>
            </a:r>
            <a:r>
              <a:rPr lang="en-IE" sz="1400" b="1" dirty="0" err="1">
                <a:solidFill>
                  <a:srgbClr val="000000"/>
                </a:solidFill>
                <a:latin typeface="Consolas"/>
              </a:rPr>
              <a:t>IOException</a:t>
            </a:r>
            <a:r>
              <a:rPr lang="en-IE" sz="1400" b="1" dirty="0">
                <a:solidFill>
                  <a:srgbClr val="000000"/>
                </a:solidFill>
                <a:latin typeface="Consolas"/>
              </a:rPr>
              <a:t> </a:t>
            </a:r>
            <a:r>
              <a:rPr lang="en-IE" sz="1400" b="1" dirty="0">
                <a:solidFill>
                  <a:srgbClr val="6A3E3E"/>
                </a:solidFill>
                <a:latin typeface="Consolas"/>
              </a:rPr>
              <a:t>ex</a:t>
            </a:r>
            <a:r>
              <a:rPr lang="en-IE" sz="1400" b="1" dirty="0">
                <a:solidFill>
                  <a:srgbClr val="000000"/>
                </a:solidFill>
                <a:latin typeface="Consolas"/>
              </a:rPr>
              <a:t>) {</a:t>
            </a:r>
          </a:p>
          <a:p>
            <a:pPr marL="0" indent="0">
              <a:buNone/>
            </a:pPr>
            <a:r>
              <a:rPr lang="en-IE" sz="1400" dirty="0" err="1">
                <a:solidFill>
                  <a:srgbClr val="000000"/>
                </a:solidFill>
                <a:latin typeface="Consolas"/>
              </a:rPr>
              <a:t>System.</a:t>
            </a:r>
            <a:r>
              <a:rPr lang="en-IE" sz="1400" b="1" i="1" dirty="0" err="1">
                <a:solidFill>
                  <a:srgbClr val="0000C0"/>
                </a:solidFill>
                <a:latin typeface="Consolas"/>
              </a:rPr>
              <a:t>err</a:t>
            </a:r>
            <a:r>
              <a:rPr lang="en-IE" sz="1400" b="1" i="1" dirty="0" err="1">
                <a:solidFill>
                  <a:srgbClr val="000000"/>
                </a:solidFill>
                <a:latin typeface="Consolas"/>
              </a:rPr>
              <a:t>.println</a:t>
            </a:r>
            <a:r>
              <a:rPr lang="en-IE" sz="1400" b="1" i="1" dirty="0">
                <a:solidFill>
                  <a:srgbClr val="000000"/>
                </a:solidFill>
                <a:latin typeface="Consolas"/>
              </a:rPr>
              <a:t>(</a:t>
            </a:r>
            <a:r>
              <a:rPr lang="en-IE" sz="1400" b="1" i="1" dirty="0" err="1">
                <a:solidFill>
                  <a:srgbClr val="6A3E3E"/>
                </a:solidFill>
                <a:latin typeface="Consolas"/>
              </a:rPr>
              <a:t>ex</a:t>
            </a:r>
            <a:r>
              <a:rPr lang="en-IE" sz="1400" b="1" i="1" dirty="0" err="1">
                <a:solidFill>
                  <a:srgbClr val="000000"/>
                </a:solidFill>
                <a:latin typeface="Consolas"/>
              </a:rPr>
              <a:t>.getMessage</a:t>
            </a:r>
            <a:r>
              <a:rPr lang="en-IE" sz="1400" b="1" i="1" dirty="0" smtClean="0">
                <a:solidFill>
                  <a:srgbClr val="000000"/>
                </a:solidFill>
                <a:latin typeface="Consolas"/>
              </a:rPr>
              <a:t>());</a:t>
            </a:r>
            <a:r>
              <a:rPr lang="en-IE" sz="1400" dirty="0" smtClean="0">
                <a:solidFill>
                  <a:srgbClr val="000000"/>
                </a:solidFill>
                <a:latin typeface="Consolas"/>
              </a:rPr>
              <a:t>}}}</a:t>
            </a:r>
            <a:endParaRPr lang="en-IE" sz="1400" b="1" dirty="0">
              <a:solidFill>
                <a:srgbClr val="555555"/>
              </a:solidFill>
              <a:latin typeface="UbuntuMono-Regular"/>
            </a:endParaRPr>
          </a:p>
        </p:txBody>
      </p:sp>
    </p:spTree>
    <p:extLst>
      <p:ext uri="{BB962C8B-B14F-4D97-AF65-F5344CB8AC3E}">
        <p14:creationId xmlns:p14="http://schemas.microsoft.com/office/powerpoint/2010/main" val="65681932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242D679B6F40C48B2519DEB851FE85E" ma:contentTypeVersion="0" ma:contentTypeDescription="Create a new document." ma:contentTypeScope="" ma:versionID="ca0eff15ccbfe079c26c4eccae0f3b99">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24F2BF3-4787-418D-B86D-8054AA7293AB}"/>
</file>

<file path=customXml/itemProps2.xml><?xml version="1.0" encoding="utf-8"?>
<ds:datastoreItem xmlns:ds="http://schemas.openxmlformats.org/officeDocument/2006/customXml" ds:itemID="{7C73AB42-9725-422F-8C70-B093B0CE273B}"/>
</file>

<file path=customXml/itemProps3.xml><?xml version="1.0" encoding="utf-8"?>
<ds:datastoreItem xmlns:ds="http://schemas.openxmlformats.org/officeDocument/2006/customXml" ds:itemID="{38BE42A2-CB7A-44C4-9410-844F7DD1E09A}"/>
</file>

<file path=docProps/app.xml><?xml version="1.0" encoding="utf-8"?>
<Properties xmlns="http://schemas.openxmlformats.org/officeDocument/2006/extended-properties" xmlns:vt="http://schemas.openxmlformats.org/officeDocument/2006/docPropsVTypes">
  <TotalTime>5824</TotalTime>
  <Words>7142</Words>
  <Application>Microsoft Office PowerPoint</Application>
  <PresentationFormat>On-screen Show (4:3)</PresentationFormat>
  <Paragraphs>651</Paragraphs>
  <Slides>53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53</vt:i4>
      </vt:variant>
    </vt:vector>
  </HeadingPairs>
  <TitlesOfParts>
    <vt:vector size="62" baseType="lpstr">
      <vt:lpstr>Arial</vt:lpstr>
      <vt:lpstr>Calibri</vt:lpstr>
      <vt:lpstr>Consolas</vt:lpstr>
      <vt:lpstr>MinionPro-Italic</vt:lpstr>
      <vt:lpstr>MinionPro-Regular</vt:lpstr>
      <vt:lpstr>UbuntuMono-Bold</vt:lpstr>
      <vt:lpstr>UbuntuMono-Italic</vt:lpstr>
      <vt:lpstr>UbuntuMono-Regular</vt:lpstr>
      <vt:lpstr>Office Theme</vt:lpstr>
      <vt:lpstr>URI and URL</vt:lpstr>
      <vt:lpstr>PowerPoint Presentation</vt:lpstr>
      <vt:lpstr>URI</vt:lpstr>
      <vt:lpstr>URI</vt:lpstr>
      <vt:lpstr>URIs</vt:lpstr>
      <vt:lpstr>URIs Syntax</vt:lpstr>
      <vt:lpstr>URIs Syntax</vt:lpstr>
      <vt:lpstr>URIs Syntax</vt:lpstr>
      <vt:lpstr>Universal Resource Locators (URL)</vt:lpstr>
      <vt:lpstr>Universal Resource Locator (URL)</vt:lpstr>
      <vt:lpstr>URL</vt:lpstr>
      <vt:lpstr>URL Example: HTTP</vt:lpstr>
      <vt:lpstr>URL Example: mailto</vt:lpstr>
      <vt:lpstr>URL Example: FTP</vt:lpstr>
      <vt:lpstr>URL</vt:lpstr>
      <vt:lpstr>URL Syntax</vt:lpstr>
      <vt:lpstr>URL Syntax</vt:lpstr>
      <vt:lpstr>URL Syntax</vt:lpstr>
      <vt:lpstr>Relative URL</vt:lpstr>
      <vt:lpstr>URL Class</vt:lpstr>
      <vt:lpstr>Creating new URLs</vt:lpstr>
      <vt:lpstr>Constructing a URL from string</vt:lpstr>
      <vt:lpstr>Protocol Tester</vt:lpstr>
      <vt:lpstr>Protocol Tester</vt:lpstr>
      <vt:lpstr>Constructing a URL from its component parts</vt:lpstr>
      <vt:lpstr>Constructing Relative URLs</vt:lpstr>
      <vt:lpstr>Retrieving data from URL</vt:lpstr>
      <vt:lpstr>Retrieving data from URL</vt:lpstr>
      <vt:lpstr>Download a webpage</vt:lpstr>
      <vt:lpstr>public URLConnection openConnection() throws IOException</vt:lpstr>
      <vt:lpstr>public final Object getContent() throws IOException</vt:lpstr>
      <vt:lpstr>public final Object getContent() throws IOException</vt:lpstr>
      <vt:lpstr>The parts of a URL</vt:lpstr>
      <vt:lpstr>The parts of a URL</vt:lpstr>
      <vt:lpstr>URI</vt:lpstr>
      <vt:lpstr>Constructing a URI</vt:lpstr>
      <vt:lpstr>Constructing a URI</vt:lpstr>
      <vt:lpstr>Constructing a URI</vt:lpstr>
      <vt:lpstr>Parts of a URI</vt:lpstr>
      <vt:lpstr>Resolving relative URIs</vt:lpstr>
      <vt:lpstr>x-www-form-urlencoded strings</vt:lpstr>
      <vt:lpstr>URL Encoder</vt:lpstr>
      <vt:lpstr>x-www-form-urlencoded strings</vt:lpstr>
      <vt:lpstr>x-www-form-urlencoded strings</vt:lpstr>
      <vt:lpstr>QueryString Class Example</vt:lpstr>
      <vt:lpstr>QueryString Class Example</vt:lpstr>
      <vt:lpstr>URLDecoder</vt:lpstr>
      <vt:lpstr>Proxy</vt:lpstr>
      <vt:lpstr>The Proxy Class</vt:lpstr>
      <vt:lpstr>The Proxy Class</vt:lpstr>
      <vt:lpstr>The ProxySelector Class</vt:lpstr>
      <vt:lpstr>Communicating with Server-Side Programs Through GET</vt:lpstr>
      <vt:lpstr>Query to Google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Muhammad Imran</dc:creator>
  <cp:lastModifiedBy>Adeel-ur-Rehman</cp:lastModifiedBy>
  <cp:revision>1831</cp:revision>
  <dcterms:created xsi:type="dcterms:W3CDTF">2016-10-08T12:39:52Z</dcterms:created>
  <dcterms:modified xsi:type="dcterms:W3CDTF">2019-11-11T10:53:39Z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0x0101008242D679B6F40C48B2519DEB851FE85E</vt:lpwstr>
  </property>
</Properties>
</file>