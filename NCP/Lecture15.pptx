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43" r:id="rId3"/>
    <p:sldId id="344" r:id="rId4"/>
    <p:sldId id="345" r:id="rId5"/>
    <p:sldId id="369" r:id="rId6"/>
    <p:sldId id="346" r:id="rId7"/>
    <p:sldId id="347" r:id="rId8"/>
    <p:sldId id="348" r:id="rId9"/>
    <p:sldId id="349" r:id="rId10"/>
    <p:sldId id="350" r:id="rId11"/>
    <p:sldId id="351" r:id="rId12"/>
    <p:sldId id="366" r:id="rId13"/>
    <p:sldId id="367" r:id="rId14"/>
    <p:sldId id="368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2" r:id="rId25"/>
    <p:sldId id="361" r:id="rId26"/>
    <p:sldId id="363" r:id="rId27"/>
    <p:sldId id="364" r:id="rId28"/>
    <p:sldId id="36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29" autoAdjust="0"/>
  </p:normalViewPr>
  <p:slideViewPr>
    <p:cSldViewPr>
      <p:cViewPr varScale="1">
        <p:scale>
          <a:sx n="69" d="100"/>
          <a:sy n="69" d="100"/>
        </p:scale>
        <p:origin x="141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4295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520FC-D788-48C1-BB99-0370BEB8FF51}" type="datetimeFigureOut">
              <a:rPr lang="en-IE" smtClean="0"/>
              <a:t>16/12/2019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8A391-A794-471D-B72A-F262B2B3B5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1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AF71-02A3-46FB-8593-3D5F029059DF}" type="datetimeFigureOut">
              <a:rPr lang="en-IE" smtClean="0"/>
              <a:t>16/12/2019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284FB45-1ED6-41BB-A146-54B96BE78B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5258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AF71-02A3-46FB-8593-3D5F029059DF}" type="datetimeFigureOut">
              <a:rPr lang="en-IE" smtClean="0"/>
              <a:t>16/12/2019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284FB45-1ED6-41BB-A146-54B96BE78B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3229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5AF71-02A3-46FB-8593-3D5F029059DF}" type="datetimeFigureOut">
              <a:rPr lang="en-IE" smtClean="0"/>
              <a:t>16/12/2019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TextBox 6"/>
          <p:cNvSpPr txBox="1"/>
          <p:nvPr userDrawn="1"/>
        </p:nvSpPr>
        <p:spPr>
          <a:xfrm>
            <a:off x="8458200" y="6477000"/>
            <a:ext cx="68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1424CE-21A9-40ED-A480-F74D0252FFC4}" type="slidenum">
              <a:rPr lang="en-IE" smtClean="0"/>
              <a:pPr algn="r"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4351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FF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Client Server Programming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tx1"/>
                </a:solidFill>
              </a:rPr>
              <a:t>Sockets for Clients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400"/>
            <a:ext cx="6400800" cy="1295400"/>
          </a:xfrm>
        </p:spPr>
        <p:txBody>
          <a:bodyPr/>
          <a:lstStyle/>
          <a:p>
            <a:r>
              <a:rPr lang="en-US" smtClean="0">
                <a:solidFill>
                  <a:srgbClr val="FF0000"/>
                </a:solidFill>
              </a:rPr>
              <a:t>Adeel-ur-Rehman</a:t>
            </a:r>
            <a:endParaRPr lang="en-I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52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6253" cy="11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22308"/>
          </a:xfrm>
          <a:prstGeom prst="rect">
            <a:avLst/>
          </a:prstGeom>
        </p:spPr>
        <p:txBody>
          <a:bodyPr vert="horz" wrap="square" lIns="0" tIns="174275" rIns="0" bIns="0" rtlCol="0">
            <a:spAutoFit/>
          </a:bodyPr>
          <a:lstStyle/>
          <a:p>
            <a:pPr marL="427405"/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Client vs.</a:t>
            </a:r>
            <a:r>
              <a:rPr sz="4200" b="1" spc="-8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4200" b="1" dirty="0">
                <a:solidFill>
                  <a:srgbClr val="CC0000"/>
                </a:solidFill>
                <a:latin typeface="Arial"/>
                <a:cs typeface="Arial"/>
              </a:rPr>
              <a:t>Server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254" y="914400"/>
            <a:ext cx="8828564" cy="498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702" indent="-343963">
              <a:lnSpc>
                <a:spcPts val="3446"/>
              </a:lnSpc>
              <a:buClr>
                <a:srgbClr val="CC0000"/>
              </a:buClr>
              <a:buFont typeface="Arial"/>
              <a:buChar char="•"/>
              <a:tabLst>
                <a:tab pos="356065" algn="l"/>
                <a:tab pos="356702" algn="l"/>
              </a:tabLst>
            </a:pPr>
            <a:r>
              <a:rPr sz="3000" b="1" dirty="0">
                <a:latin typeface="Arial"/>
                <a:cs typeface="Arial"/>
              </a:rPr>
              <a:t>Traditional</a:t>
            </a:r>
            <a:r>
              <a:rPr sz="3000" b="1" spc="-10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definition</a:t>
            </a:r>
            <a:endParaRPr sz="3000" dirty="0">
              <a:latin typeface="Arial"/>
              <a:cs typeface="Arial"/>
            </a:endParaRPr>
          </a:p>
          <a:p>
            <a:pPr marL="757993" lvl="1" indent="-286636">
              <a:lnSpc>
                <a:spcPts val="2814"/>
              </a:lnSpc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Client: User of network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services</a:t>
            </a:r>
            <a:endParaRPr sz="2600" dirty="0">
              <a:latin typeface="Times New Roman"/>
              <a:cs typeface="Times New Roman"/>
            </a:endParaRPr>
          </a:p>
          <a:p>
            <a:pPr marL="757993" lvl="1" indent="-286636">
              <a:lnSpc>
                <a:spcPts val="2889"/>
              </a:lnSpc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10" dirty="0">
                <a:latin typeface="Times New Roman"/>
                <a:cs typeface="Times New Roman"/>
              </a:rPr>
              <a:t>Server: Supplier </a:t>
            </a:r>
            <a:r>
              <a:rPr sz="2600" spc="-5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network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services</a:t>
            </a:r>
            <a:endParaRPr sz="2600" dirty="0">
              <a:latin typeface="Times New Roman"/>
              <a:cs typeface="Times New Roman"/>
            </a:endParaRPr>
          </a:p>
          <a:p>
            <a:pPr marL="356702" indent="-343963">
              <a:lnSpc>
                <a:spcPts val="3364"/>
              </a:lnSpc>
              <a:buClr>
                <a:srgbClr val="CC0000"/>
              </a:buClr>
              <a:buFont typeface="Arial"/>
              <a:buChar char="•"/>
              <a:tabLst>
                <a:tab pos="356065" algn="l"/>
                <a:tab pos="356702" algn="l"/>
              </a:tabLst>
            </a:pPr>
            <a:r>
              <a:rPr sz="3000" b="1" dirty="0">
                <a:latin typeface="Arial"/>
                <a:cs typeface="Arial"/>
              </a:rPr>
              <a:t>Problem with traditional</a:t>
            </a:r>
            <a:r>
              <a:rPr sz="3000" b="1" spc="-9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definition</a:t>
            </a:r>
            <a:endParaRPr sz="3000" dirty="0">
              <a:latin typeface="Arial"/>
              <a:cs typeface="Arial"/>
            </a:endParaRPr>
          </a:p>
          <a:p>
            <a:pPr marL="757993" lvl="1" indent="-286636">
              <a:lnSpc>
                <a:spcPts val="2814"/>
              </a:lnSpc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If there are 2 programs exchanging data, it seems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unclear</a:t>
            </a:r>
            <a:endParaRPr sz="2600" dirty="0">
              <a:latin typeface="Times New Roman"/>
              <a:cs typeface="Times New Roman"/>
            </a:endParaRPr>
          </a:p>
          <a:p>
            <a:pPr marL="356702" indent="-343963">
              <a:lnSpc>
                <a:spcPts val="3364"/>
              </a:lnSpc>
              <a:buClr>
                <a:srgbClr val="CC0000"/>
              </a:buClr>
              <a:buFont typeface="Arial"/>
              <a:buChar char="•"/>
              <a:tabLst>
                <a:tab pos="356065" algn="l"/>
                <a:tab pos="356702" algn="l"/>
              </a:tabLst>
            </a:pPr>
            <a:r>
              <a:rPr sz="3000" b="1" spc="-5" dirty="0" smtClean="0">
                <a:latin typeface="Arial"/>
                <a:cs typeface="Arial"/>
              </a:rPr>
              <a:t>Easier </a:t>
            </a:r>
            <a:r>
              <a:rPr sz="3000" b="1" dirty="0">
                <a:latin typeface="Arial"/>
                <a:cs typeface="Arial"/>
              </a:rPr>
              <a:t>way to </a:t>
            </a:r>
            <a:r>
              <a:rPr sz="3000" b="1" spc="-5" dirty="0">
                <a:latin typeface="Arial"/>
                <a:cs typeface="Arial"/>
              </a:rPr>
              <a:t>remember</a:t>
            </a:r>
            <a:r>
              <a:rPr sz="3000" b="1" spc="-95" dirty="0">
                <a:latin typeface="Arial"/>
                <a:cs typeface="Arial"/>
              </a:rPr>
              <a:t> </a:t>
            </a:r>
            <a:r>
              <a:rPr sz="3000" b="1" spc="-5" dirty="0">
                <a:latin typeface="Arial"/>
                <a:cs typeface="Arial"/>
              </a:rPr>
              <a:t>distinction</a:t>
            </a:r>
            <a:endParaRPr sz="3000" dirty="0">
              <a:latin typeface="Arial"/>
              <a:cs typeface="Arial"/>
            </a:endParaRPr>
          </a:p>
          <a:p>
            <a:pPr marL="757993" lvl="1" indent="-286636">
              <a:lnSpc>
                <a:spcPts val="2814"/>
              </a:lnSpc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Server starts first. Server doesn't </a:t>
            </a:r>
            <a:r>
              <a:rPr sz="2600" spc="-10" dirty="0">
                <a:latin typeface="Times New Roman"/>
                <a:cs typeface="Times New Roman"/>
              </a:rPr>
              <a:t>specify </a:t>
            </a:r>
            <a:r>
              <a:rPr sz="2600" spc="-5" dirty="0">
                <a:latin typeface="Times New Roman"/>
                <a:cs typeface="Times New Roman"/>
              </a:rPr>
              <a:t>host (just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port).</a:t>
            </a:r>
            <a:endParaRPr sz="2600" dirty="0">
              <a:latin typeface="Times New Roman"/>
              <a:cs typeface="Times New Roman"/>
            </a:endParaRPr>
          </a:p>
          <a:p>
            <a:pPr marL="757993" lvl="1" indent="-286636">
              <a:lnSpc>
                <a:spcPts val="2889"/>
              </a:lnSpc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Client starts second. Client specifies host (and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port).</a:t>
            </a:r>
            <a:endParaRPr sz="2600" dirty="0">
              <a:latin typeface="Times New Roman"/>
              <a:cs typeface="Times New Roman"/>
            </a:endParaRPr>
          </a:p>
          <a:p>
            <a:pPr marL="356702" indent="-343963">
              <a:lnSpc>
                <a:spcPts val="3360"/>
              </a:lnSpc>
              <a:buClr>
                <a:srgbClr val="CC0000"/>
              </a:buClr>
              <a:buFont typeface="Arial"/>
              <a:buChar char="•"/>
              <a:tabLst>
                <a:tab pos="356065" algn="l"/>
                <a:tab pos="356702" algn="l"/>
              </a:tabLst>
            </a:pPr>
            <a:r>
              <a:rPr sz="3000" b="1" dirty="0">
                <a:latin typeface="Arial"/>
                <a:cs typeface="Arial"/>
              </a:rPr>
              <a:t>Analogy: Company phone</a:t>
            </a:r>
            <a:r>
              <a:rPr sz="3000" b="1" spc="-8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line</a:t>
            </a:r>
            <a:endParaRPr sz="3000" dirty="0">
              <a:latin typeface="Arial"/>
              <a:cs typeface="Arial"/>
            </a:endParaRPr>
          </a:p>
          <a:p>
            <a:pPr marL="757993" lvl="1" indent="-286636">
              <a:lnSpc>
                <a:spcPts val="2814"/>
              </a:lnSpc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Installing phone is like starting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server</a:t>
            </a:r>
            <a:endParaRPr sz="2600" dirty="0">
              <a:latin typeface="Times New Roman"/>
              <a:cs typeface="Times New Roman"/>
            </a:endParaRPr>
          </a:p>
          <a:p>
            <a:pPr marL="757993" lvl="1" indent="-286636">
              <a:lnSpc>
                <a:spcPts val="2824"/>
              </a:lnSpc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Extension is like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port</a:t>
            </a:r>
            <a:endParaRPr sz="2600" dirty="0">
              <a:latin typeface="Times New Roman"/>
              <a:cs typeface="Times New Roman"/>
            </a:endParaRPr>
          </a:p>
          <a:p>
            <a:pPr marL="757993" marR="688563" lvl="1" indent="-286636">
              <a:lnSpc>
                <a:spcPct val="80000"/>
              </a:lnSpc>
              <a:spcBef>
                <a:spcPts val="471"/>
              </a:spcBef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Person who calls is the client: he specifies both host  (general company number) and port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(extension)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10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6253" cy="11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15240"/>
            <a:ext cx="8229600" cy="822308"/>
          </a:xfrm>
          <a:prstGeom prst="rect">
            <a:avLst/>
          </a:prstGeom>
        </p:spPr>
        <p:txBody>
          <a:bodyPr vert="horz" wrap="square" lIns="0" tIns="174275" rIns="0" bIns="0" rtlCol="0">
            <a:spAutoFit/>
          </a:bodyPr>
          <a:lstStyle/>
          <a:p>
            <a:pPr marL="427405"/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Client vs. </a:t>
            </a:r>
            <a:r>
              <a:rPr sz="4200" b="1" dirty="0">
                <a:solidFill>
                  <a:srgbClr val="CC0000"/>
                </a:solidFill>
                <a:latin typeface="Arial"/>
                <a:cs typeface="Arial"/>
              </a:rPr>
              <a:t>Server</a:t>
            </a:r>
            <a:r>
              <a:rPr sz="4200" b="1" spc="-9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4200" b="1" dirty="0">
                <a:solidFill>
                  <a:srgbClr val="CC0000"/>
                </a:solidFill>
                <a:latin typeface="Arial"/>
                <a:cs typeface="Arial"/>
              </a:rPr>
              <a:t>(Continued)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26" y="1163187"/>
            <a:ext cx="8804549" cy="5161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702" marR="278355" indent="-343963">
              <a:lnSpc>
                <a:spcPts val="3250"/>
              </a:lnSpc>
              <a:buClr>
                <a:srgbClr val="CC0000"/>
              </a:buClr>
              <a:buFont typeface="Arial"/>
              <a:buChar char="•"/>
              <a:tabLst>
                <a:tab pos="356065" algn="l"/>
                <a:tab pos="356702" algn="l"/>
              </a:tabLst>
            </a:pPr>
            <a:r>
              <a:rPr sz="3000" b="1" spc="-5" dirty="0">
                <a:latin typeface="Arial"/>
                <a:cs typeface="Arial"/>
              </a:rPr>
              <a:t>If server has </a:t>
            </a:r>
            <a:r>
              <a:rPr sz="3000" b="1" dirty="0">
                <a:latin typeface="Arial"/>
                <a:cs typeface="Arial"/>
              </a:rPr>
              <a:t>to </a:t>
            </a:r>
            <a:r>
              <a:rPr sz="3000" b="1" spc="-5" dirty="0">
                <a:latin typeface="Arial"/>
                <a:cs typeface="Arial"/>
              </a:rPr>
              <a:t>start first, why are we  covering clients before we cover</a:t>
            </a:r>
            <a:r>
              <a:rPr sz="3000" b="1" spc="-55" dirty="0">
                <a:latin typeface="Arial"/>
                <a:cs typeface="Arial"/>
              </a:rPr>
              <a:t> </a:t>
            </a:r>
            <a:r>
              <a:rPr sz="3000" b="1" spc="-5" dirty="0">
                <a:latin typeface="Arial"/>
                <a:cs typeface="Arial"/>
              </a:rPr>
              <a:t>servers?</a:t>
            </a:r>
            <a:endParaRPr sz="3000" dirty="0">
              <a:latin typeface="Arial"/>
              <a:cs typeface="Arial"/>
            </a:endParaRPr>
          </a:p>
          <a:p>
            <a:pPr marL="757993" lvl="1" indent="-286636">
              <a:lnSpc>
                <a:spcPts val="3059"/>
              </a:lnSpc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Clients are slightly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easier.</a:t>
            </a:r>
            <a:endParaRPr sz="2600" dirty="0">
              <a:latin typeface="Times New Roman"/>
              <a:cs typeface="Times New Roman"/>
            </a:endParaRPr>
          </a:p>
          <a:p>
            <a:pPr marL="757993" marR="5096" lvl="1" indent="-286636" algn="just">
              <a:lnSpc>
                <a:spcPts val="2819"/>
              </a:lnSpc>
              <a:spcBef>
                <a:spcPts val="356"/>
              </a:spcBef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We can test clients by connecting to </a:t>
            </a:r>
            <a:r>
              <a:rPr sz="2600" i="1" spc="-5" dirty="0">
                <a:latin typeface="Times New Roman"/>
                <a:cs typeface="Times New Roman"/>
              </a:rPr>
              <a:t>existing </a:t>
            </a:r>
            <a:r>
              <a:rPr sz="2600" spc="-5" dirty="0">
                <a:latin typeface="Times New Roman"/>
                <a:cs typeface="Times New Roman"/>
              </a:rPr>
              <a:t>servers that  are already on 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internet.</a:t>
            </a:r>
            <a:endParaRPr sz="2600" dirty="0">
              <a:latin typeface="Times New Roman"/>
              <a:cs typeface="Times New Roman"/>
            </a:endParaRPr>
          </a:p>
          <a:p>
            <a:pPr marL="356702" marR="231857" indent="-343963">
              <a:lnSpc>
                <a:spcPts val="3250"/>
              </a:lnSpc>
              <a:spcBef>
                <a:spcPts val="562"/>
              </a:spcBef>
              <a:buClr>
                <a:srgbClr val="CC0000"/>
              </a:buClr>
              <a:buFont typeface="Arial"/>
              <a:buChar char="•"/>
              <a:tabLst>
                <a:tab pos="356065" algn="l"/>
                <a:tab pos="356702" algn="l"/>
              </a:tabLst>
            </a:pPr>
            <a:r>
              <a:rPr sz="3000" b="1" spc="-5" dirty="0">
                <a:latin typeface="Arial"/>
                <a:cs typeface="Arial"/>
              </a:rPr>
              <a:t>Point: clients created </a:t>
            </a:r>
            <a:r>
              <a:rPr sz="3000" b="1" dirty="0">
                <a:latin typeface="Arial"/>
                <a:cs typeface="Arial"/>
              </a:rPr>
              <a:t>in </a:t>
            </a:r>
            <a:r>
              <a:rPr sz="3000" b="1" spc="-5" dirty="0">
                <a:latin typeface="Arial"/>
                <a:cs typeface="Arial"/>
              </a:rPr>
              <a:t>Java </a:t>
            </a:r>
            <a:r>
              <a:rPr sz="3000" b="1" dirty="0">
                <a:latin typeface="Arial"/>
                <a:cs typeface="Arial"/>
              </a:rPr>
              <a:t>need not  </a:t>
            </a:r>
            <a:r>
              <a:rPr sz="3000" b="1" spc="-5" dirty="0">
                <a:latin typeface="Arial"/>
                <a:cs typeface="Arial"/>
              </a:rPr>
              <a:t>communicate </a:t>
            </a:r>
            <a:r>
              <a:rPr sz="3000" b="1" dirty="0">
                <a:latin typeface="Arial"/>
                <a:cs typeface="Arial"/>
              </a:rPr>
              <a:t>with </a:t>
            </a:r>
            <a:r>
              <a:rPr sz="3000" b="1" spc="-5" dirty="0">
                <a:latin typeface="Arial"/>
                <a:cs typeface="Arial"/>
              </a:rPr>
              <a:t>servers </a:t>
            </a:r>
            <a:r>
              <a:rPr sz="3000" b="1" dirty="0">
                <a:latin typeface="Arial"/>
                <a:cs typeface="Arial"/>
              </a:rPr>
              <a:t>written in</a:t>
            </a:r>
            <a:r>
              <a:rPr sz="3000" b="1" spc="-75" dirty="0">
                <a:latin typeface="Arial"/>
                <a:cs typeface="Arial"/>
              </a:rPr>
              <a:t> </a:t>
            </a:r>
            <a:r>
              <a:rPr sz="3000" b="1" spc="-5" dirty="0">
                <a:latin typeface="Arial"/>
                <a:cs typeface="Arial"/>
              </a:rPr>
              <a:t>Java.</a:t>
            </a:r>
            <a:endParaRPr sz="3000" dirty="0">
              <a:latin typeface="Arial"/>
              <a:cs typeface="Arial"/>
            </a:endParaRPr>
          </a:p>
          <a:p>
            <a:pPr marL="757993" marR="583463" lvl="1" indent="-286636" algn="just">
              <a:lnSpc>
                <a:spcPct val="90100"/>
              </a:lnSpc>
              <a:spcBef>
                <a:spcPts val="246"/>
              </a:spcBef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They can communicate with any server that accepts  socket connections (as long as they know the proper  communication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protocol).</a:t>
            </a:r>
            <a:endParaRPr sz="2600" dirty="0">
              <a:latin typeface="Times New Roman"/>
              <a:cs typeface="Times New Roman"/>
            </a:endParaRPr>
          </a:p>
          <a:p>
            <a:pPr marL="757993" marR="24205" lvl="1" indent="-286636" algn="just">
              <a:lnSpc>
                <a:spcPct val="90100"/>
              </a:lnSpc>
              <a:spcBef>
                <a:spcPts val="316"/>
              </a:spcBef>
              <a:buClr>
                <a:srgbClr val="CC0000"/>
              </a:buClr>
              <a:buChar char="–"/>
              <a:tabLst>
                <a:tab pos="758629" algn="l"/>
              </a:tabLst>
            </a:pPr>
            <a:r>
              <a:rPr sz="2600" spc="-5" dirty="0">
                <a:latin typeface="Times New Roman"/>
                <a:cs typeface="Times New Roman"/>
              </a:rPr>
              <a:t>Exception: ObjectInputStream and ObjectOutputStream  allow Java programs to send complicated data </a:t>
            </a:r>
            <a:r>
              <a:rPr sz="2600" spc="-10" dirty="0">
                <a:latin typeface="Times New Roman"/>
                <a:cs typeface="Times New Roman"/>
              </a:rPr>
              <a:t>structures  </a:t>
            </a:r>
            <a:r>
              <a:rPr sz="2600" spc="-5" dirty="0">
                <a:latin typeface="Times New Roman"/>
                <a:cs typeface="Times New Roman"/>
              </a:rPr>
              <a:t>back and forth. Only works in Java,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though.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251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6253" cy="11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15240"/>
            <a:ext cx="8229600" cy="822308"/>
          </a:xfrm>
          <a:prstGeom prst="rect">
            <a:avLst/>
          </a:prstGeom>
        </p:spPr>
        <p:txBody>
          <a:bodyPr vert="horz" wrap="square" lIns="0" tIns="174275" rIns="0" bIns="0" rtlCol="0">
            <a:spAutoFit/>
          </a:bodyPr>
          <a:lstStyle/>
          <a:p>
            <a:pPr marL="427405"/>
            <a:r>
              <a:rPr lang="en-US" sz="4200" b="1" spc="-5" dirty="0" smtClean="0">
                <a:solidFill>
                  <a:srgbClr val="CC0000"/>
                </a:solidFill>
                <a:latin typeface="Arial"/>
                <a:cs typeface="Arial"/>
              </a:rPr>
              <a:t>Sockets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25" y="914400"/>
            <a:ext cx="8804549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Data is transmitted across the Internet in packets of finite size called </a:t>
            </a:r>
            <a:r>
              <a:rPr lang="en-IE" sz="2400" b="1" i="1" dirty="0">
                <a:solidFill>
                  <a:srgbClr val="FF0000"/>
                </a:solidFill>
              </a:rPr>
              <a:t>datagrams</a:t>
            </a:r>
            <a:r>
              <a:rPr lang="en-IE" sz="2400" dirty="0"/>
              <a:t>. </a:t>
            </a:r>
            <a:endParaRPr lang="en-IE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 smtClean="0"/>
              <a:t>Each datagram </a:t>
            </a:r>
            <a:r>
              <a:rPr lang="en-IE" sz="2400" dirty="0"/>
              <a:t>contains a </a:t>
            </a:r>
            <a:r>
              <a:rPr lang="en-IE" sz="2400" b="1" i="1" dirty="0">
                <a:solidFill>
                  <a:srgbClr val="FF0000"/>
                </a:solidFill>
              </a:rPr>
              <a:t>header</a:t>
            </a:r>
            <a:r>
              <a:rPr lang="en-IE" sz="2400" i="1" dirty="0">
                <a:solidFill>
                  <a:srgbClr val="FF0000"/>
                </a:solidFill>
              </a:rPr>
              <a:t> </a:t>
            </a:r>
            <a:r>
              <a:rPr lang="en-IE" sz="2400" dirty="0"/>
              <a:t>and a </a:t>
            </a:r>
            <a:r>
              <a:rPr lang="en-IE" sz="2400" b="1" i="1" dirty="0">
                <a:solidFill>
                  <a:srgbClr val="FF0000"/>
                </a:solidFill>
              </a:rPr>
              <a:t>payload</a:t>
            </a:r>
            <a:r>
              <a:rPr lang="en-IE" sz="2400" dirty="0"/>
              <a:t>. </a:t>
            </a:r>
            <a:endParaRPr lang="en-IE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 smtClean="0"/>
              <a:t>The </a:t>
            </a:r>
            <a:r>
              <a:rPr lang="en-IE" sz="2400" dirty="0"/>
              <a:t>header contains the address and port </a:t>
            </a:r>
            <a:r>
              <a:rPr lang="en-IE" sz="2400" dirty="0" smtClean="0"/>
              <a:t>to which </a:t>
            </a:r>
            <a:r>
              <a:rPr lang="en-IE" sz="2400" dirty="0"/>
              <a:t>the packet is going, the address and port from which the packet came, a </a:t>
            </a:r>
            <a:r>
              <a:rPr lang="en-IE" sz="2400" dirty="0" smtClean="0"/>
              <a:t>checksum to </a:t>
            </a:r>
            <a:r>
              <a:rPr lang="en-IE" sz="2400" dirty="0"/>
              <a:t>detect data corruption, and various other housekeeping information used to </a:t>
            </a:r>
            <a:r>
              <a:rPr lang="en-IE" sz="2400" dirty="0" smtClean="0"/>
              <a:t>ensure reliable </a:t>
            </a:r>
            <a:r>
              <a:rPr lang="en-IE" sz="2400" dirty="0"/>
              <a:t>transmission. </a:t>
            </a:r>
            <a:endParaRPr lang="en-IE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 smtClean="0"/>
              <a:t>The </a:t>
            </a:r>
            <a:r>
              <a:rPr lang="en-IE" sz="2400" dirty="0">
                <a:solidFill>
                  <a:srgbClr val="FF0000"/>
                </a:solidFill>
              </a:rPr>
              <a:t>payload contains the data itself. </a:t>
            </a:r>
            <a:endParaRPr lang="en-IE" sz="24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 smtClean="0">
                <a:solidFill>
                  <a:srgbClr val="FF0000"/>
                </a:solidFill>
              </a:rPr>
              <a:t>Sockets</a:t>
            </a:r>
            <a:r>
              <a:rPr lang="en-IE" sz="2400" dirty="0" smtClean="0"/>
              <a:t> </a:t>
            </a:r>
            <a:r>
              <a:rPr lang="en-IE" sz="2400" dirty="0"/>
              <a:t>allow the programmer </a:t>
            </a:r>
            <a:r>
              <a:rPr lang="en-IE" sz="2400" dirty="0" smtClean="0"/>
              <a:t>to treat </a:t>
            </a:r>
            <a:r>
              <a:rPr lang="en-IE" sz="2400" dirty="0"/>
              <a:t>a network connection as just another </a:t>
            </a:r>
            <a:r>
              <a:rPr lang="en-IE" sz="2400" dirty="0">
                <a:solidFill>
                  <a:srgbClr val="FF0000"/>
                </a:solidFill>
              </a:rPr>
              <a:t>stream</a:t>
            </a:r>
            <a:r>
              <a:rPr lang="en-IE" sz="2400" dirty="0"/>
              <a:t> onto which bytes can be written </a:t>
            </a:r>
            <a:r>
              <a:rPr lang="en-IE" sz="2400" dirty="0" smtClean="0"/>
              <a:t>and from </a:t>
            </a:r>
            <a:r>
              <a:rPr lang="en-IE" sz="2400" dirty="0"/>
              <a:t>which bytes can be read. </a:t>
            </a:r>
            <a:endParaRPr lang="en-IE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 smtClean="0">
                <a:solidFill>
                  <a:srgbClr val="FF0000"/>
                </a:solidFill>
              </a:rPr>
              <a:t>Sockets </a:t>
            </a:r>
            <a:r>
              <a:rPr lang="en-IE" sz="2400" dirty="0">
                <a:solidFill>
                  <a:srgbClr val="FF0000"/>
                </a:solidFill>
              </a:rPr>
              <a:t>shield </a:t>
            </a:r>
            <a:r>
              <a:rPr lang="en-IE" sz="2400" dirty="0"/>
              <a:t>the programmer from </a:t>
            </a:r>
            <a:r>
              <a:rPr lang="en-IE" sz="2400" dirty="0">
                <a:solidFill>
                  <a:srgbClr val="FF0000"/>
                </a:solidFill>
              </a:rPr>
              <a:t>low-level details </a:t>
            </a:r>
            <a:r>
              <a:rPr lang="en-IE" sz="2400" dirty="0" smtClean="0"/>
              <a:t>of the </a:t>
            </a:r>
            <a:r>
              <a:rPr lang="en-IE" sz="2400" dirty="0"/>
              <a:t>network, such as error detection, packet sizes, packet splitting, packet retransmission</a:t>
            </a:r>
            <a:r>
              <a:rPr lang="en-IE" sz="2400" dirty="0" smtClean="0"/>
              <a:t>, network </a:t>
            </a:r>
            <a:r>
              <a:rPr lang="en-IE" sz="2400" dirty="0"/>
              <a:t>addresses, and more.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127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6253" cy="11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15240"/>
            <a:ext cx="8229600" cy="822308"/>
          </a:xfrm>
          <a:prstGeom prst="rect">
            <a:avLst/>
          </a:prstGeom>
        </p:spPr>
        <p:txBody>
          <a:bodyPr vert="horz" wrap="square" lIns="0" tIns="174275" rIns="0" bIns="0" rtlCol="0">
            <a:spAutoFit/>
          </a:bodyPr>
          <a:lstStyle/>
          <a:p>
            <a:pPr marL="427405"/>
            <a:r>
              <a:rPr lang="en-US" sz="4200" b="1" spc="-5" dirty="0" smtClean="0">
                <a:solidFill>
                  <a:srgbClr val="CC0000"/>
                </a:solidFill>
                <a:latin typeface="Arial"/>
                <a:cs typeface="Arial"/>
              </a:rPr>
              <a:t>Sockets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25" y="914400"/>
            <a:ext cx="8804549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 socket is bound to a port number so that the TCP layer can identify the application that data destined to be sent. </a:t>
            </a:r>
            <a:endParaRPr lang="en-IE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 smtClean="0">
                <a:solidFill>
                  <a:srgbClr val="FF0000"/>
                </a:solidFill>
              </a:rPr>
              <a:t>Java.net</a:t>
            </a:r>
            <a:r>
              <a:rPr lang="en-IE" sz="2400" dirty="0" smtClean="0"/>
              <a:t> </a:t>
            </a:r>
            <a:r>
              <a:rPr lang="en-IE" sz="2400" dirty="0"/>
              <a:t>package provides two classes: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400" dirty="0" smtClean="0">
                <a:solidFill>
                  <a:srgbClr val="FF0000"/>
                </a:solidFill>
              </a:rPr>
              <a:t>Socket</a:t>
            </a:r>
            <a:r>
              <a:rPr lang="en-IE" sz="2400" dirty="0" smtClean="0"/>
              <a:t> </a:t>
            </a:r>
            <a:r>
              <a:rPr lang="en-IE" sz="2400" dirty="0"/>
              <a:t>– for implementing a </a:t>
            </a:r>
            <a:r>
              <a:rPr lang="en-IE" sz="2400" dirty="0" smtClean="0"/>
              <a:t>client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400" dirty="0" err="1" smtClean="0">
                <a:solidFill>
                  <a:srgbClr val="FF0000"/>
                </a:solidFill>
              </a:rPr>
              <a:t>ServerSocket</a:t>
            </a:r>
            <a:r>
              <a:rPr lang="en-IE" sz="2400" dirty="0" smtClean="0">
                <a:solidFill>
                  <a:srgbClr val="FF0000"/>
                </a:solidFill>
              </a:rPr>
              <a:t> </a:t>
            </a:r>
            <a:r>
              <a:rPr lang="en-IE" sz="2400" dirty="0"/>
              <a:t>– for implementing a server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022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 dirty="0" smtClean="0"/>
              <a:t>Using Sockets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10000"/>
          </a:bodyPr>
          <a:lstStyle/>
          <a:p>
            <a:r>
              <a:rPr lang="en-IE" sz="2800" dirty="0"/>
              <a:t>A socket is a connection between two hosts. It can perform seven basic operations</a:t>
            </a:r>
            <a:r>
              <a:rPr lang="en-IE" sz="2800" dirty="0" smtClean="0"/>
              <a:t>:</a:t>
            </a:r>
          </a:p>
          <a:p>
            <a:pPr lvl="1"/>
            <a:r>
              <a:rPr lang="en-IE" sz="2400" dirty="0"/>
              <a:t>Connect to a remote machine</a:t>
            </a:r>
          </a:p>
          <a:p>
            <a:pPr lvl="1"/>
            <a:r>
              <a:rPr lang="en-IE" sz="2400" dirty="0" smtClean="0"/>
              <a:t>Send </a:t>
            </a:r>
            <a:r>
              <a:rPr lang="en-IE" sz="2400" dirty="0"/>
              <a:t>data</a:t>
            </a:r>
          </a:p>
          <a:p>
            <a:pPr lvl="1"/>
            <a:r>
              <a:rPr lang="en-IE" sz="2400" dirty="0" smtClean="0"/>
              <a:t>Receive </a:t>
            </a:r>
            <a:r>
              <a:rPr lang="en-IE" sz="2400" dirty="0"/>
              <a:t>data</a:t>
            </a:r>
          </a:p>
          <a:p>
            <a:pPr lvl="1"/>
            <a:r>
              <a:rPr lang="en-IE" sz="2400" dirty="0" smtClean="0"/>
              <a:t>Close </a:t>
            </a:r>
            <a:r>
              <a:rPr lang="en-IE" sz="2400" dirty="0"/>
              <a:t>a connection</a:t>
            </a:r>
          </a:p>
          <a:p>
            <a:pPr lvl="1"/>
            <a:r>
              <a:rPr lang="en-IE" sz="2400" dirty="0" smtClean="0"/>
              <a:t>Bind </a:t>
            </a:r>
            <a:r>
              <a:rPr lang="en-IE" sz="2400" dirty="0"/>
              <a:t>to a </a:t>
            </a:r>
            <a:r>
              <a:rPr lang="en-IE" sz="2400" dirty="0" smtClean="0"/>
              <a:t>port</a:t>
            </a:r>
          </a:p>
          <a:p>
            <a:pPr lvl="1"/>
            <a:r>
              <a:rPr lang="en-IE" sz="2400" dirty="0"/>
              <a:t>Listen for incoming data</a:t>
            </a:r>
          </a:p>
          <a:p>
            <a:pPr lvl="1"/>
            <a:r>
              <a:rPr lang="en-IE" sz="2400" dirty="0"/>
              <a:t>Accept connections from remote machines on the bound </a:t>
            </a:r>
            <a:r>
              <a:rPr lang="en-IE" sz="2400" dirty="0" smtClean="0"/>
              <a:t>port</a:t>
            </a:r>
          </a:p>
          <a:p>
            <a:r>
              <a:rPr lang="en-IE" sz="2800" dirty="0"/>
              <a:t>Java’s </a:t>
            </a:r>
            <a:r>
              <a:rPr lang="en-IE" sz="2800" dirty="0">
                <a:solidFill>
                  <a:schemeClr val="tx2"/>
                </a:solidFill>
              </a:rPr>
              <a:t>Socket</a:t>
            </a:r>
            <a:r>
              <a:rPr lang="en-IE" sz="2800" dirty="0"/>
              <a:t> class, which is used by both clients and servers, has methods that correspond to the </a:t>
            </a:r>
            <a:r>
              <a:rPr lang="en-IE" sz="2800" dirty="0">
                <a:solidFill>
                  <a:schemeClr val="tx2"/>
                </a:solidFill>
              </a:rPr>
              <a:t>first four</a:t>
            </a:r>
            <a:r>
              <a:rPr lang="en-IE" sz="2800" dirty="0"/>
              <a:t> of these operations. </a:t>
            </a:r>
          </a:p>
          <a:p>
            <a:r>
              <a:rPr lang="en-IE" sz="2800" dirty="0"/>
              <a:t>The </a:t>
            </a:r>
            <a:r>
              <a:rPr lang="en-IE" sz="2800" dirty="0">
                <a:solidFill>
                  <a:schemeClr val="tx2"/>
                </a:solidFill>
              </a:rPr>
              <a:t>last three operations </a:t>
            </a:r>
            <a:r>
              <a:rPr lang="en-IE" sz="2800" dirty="0"/>
              <a:t>are needed only by servers, which wait for clients to connect to them.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5846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 dirty="0" smtClean="0"/>
              <a:t>Using Sockets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85000" lnSpcReduction="20000"/>
          </a:bodyPr>
          <a:lstStyle/>
          <a:p>
            <a:r>
              <a:rPr lang="en-IE" dirty="0"/>
              <a:t>Java programs normally </a:t>
            </a:r>
            <a:r>
              <a:rPr lang="en-IE" dirty="0" smtClean="0"/>
              <a:t>use client </a:t>
            </a:r>
            <a:r>
              <a:rPr lang="en-IE" dirty="0"/>
              <a:t>sockets in the following fashion:</a:t>
            </a:r>
            <a:endParaRPr lang="en-IE" dirty="0" smtClean="0"/>
          </a:p>
          <a:p>
            <a:pPr lvl="1"/>
            <a:r>
              <a:rPr lang="en-IE" sz="2400" dirty="0" smtClean="0"/>
              <a:t>The </a:t>
            </a:r>
            <a:r>
              <a:rPr lang="en-IE" sz="2400" dirty="0"/>
              <a:t>program creates a new socket with a constructor.</a:t>
            </a:r>
          </a:p>
          <a:p>
            <a:pPr lvl="1"/>
            <a:r>
              <a:rPr lang="en-IE" sz="2400" dirty="0" smtClean="0"/>
              <a:t>The </a:t>
            </a:r>
            <a:r>
              <a:rPr lang="en-IE" sz="2400" dirty="0"/>
              <a:t>socket attempts to connect to the remote host.</a:t>
            </a:r>
          </a:p>
          <a:p>
            <a:r>
              <a:rPr lang="en-IE" dirty="0"/>
              <a:t>Once the connection is established, the local and remote hosts </a:t>
            </a:r>
            <a:r>
              <a:rPr lang="en-IE" dirty="0">
                <a:solidFill>
                  <a:schemeClr val="tx2"/>
                </a:solidFill>
              </a:rPr>
              <a:t>get input and </a:t>
            </a:r>
            <a:r>
              <a:rPr lang="en-IE" dirty="0" smtClean="0">
                <a:solidFill>
                  <a:schemeClr val="tx2"/>
                </a:solidFill>
              </a:rPr>
              <a:t>output streams </a:t>
            </a:r>
            <a:r>
              <a:rPr lang="en-IE" dirty="0"/>
              <a:t>from the socket and use those streams to send data to each other. </a:t>
            </a:r>
            <a:endParaRPr lang="en-IE" dirty="0" smtClean="0"/>
          </a:p>
          <a:p>
            <a:r>
              <a:rPr lang="en-IE" dirty="0" smtClean="0"/>
              <a:t>This connection is </a:t>
            </a:r>
            <a:r>
              <a:rPr lang="en-IE" dirty="0">
                <a:solidFill>
                  <a:schemeClr val="tx2"/>
                </a:solidFill>
              </a:rPr>
              <a:t>full-duplex</a:t>
            </a:r>
            <a:r>
              <a:rPr lang="en-IE" dirty="0"/>
              <a:t>. Both hosts can send and receive data simultaneously. </a:t>
            </a:r>
            <a:endParaRPr lang="en-IE" dirty="0" smtClean="0"/>
          </a:p>
          <a:p>
            <a:r>
              <a:rPr lang="en-IE" dirty="0" smtClean="0"/>
              <a:t>What the data </a:t>
            </a:r>
            <a:r>
              <a:rPr lang="en-IE" dirty="0"/>
              <a:t>means </a:t>
            </a:r>
            <a:r>
              <a:rPr lang="en-IE" dirty="0">
                <a:solidFill>
                  <a:schemeClr val="tx2"/>
                </a:solidFill>
              </a:rPr>
              <a:t>depends on the protocol</a:t>
            </a:r>
            <a:r>
              <a:rPr lang="en-IE" dirty="0"/>
              <a:t>; different commands are sent to an FTP server </a:t>
            </a:r>
            <a:r>
              <a:rPr lang="en-IE" dirty="0" smtClean="0"/>
              <a:t>than to </a:t>
            </a:r>
            <a:r>
              <a:rPr lang="en-IE" dirty="0"/>
              <a:t>an HTTP server. </a:t>
            </a:r>
            <a:endParaRPr lang="en-IE" dirty="0" smtClean="0"/>
          </a:p>
          <a:p>
            <a:r>
              <a:rPr lang="en-IE" dirty="0" smtClean="0"/>
              <a:t>There </a:t>
            </a:r>
            <a:r>
              <a:rPr lang="en-IE" dirty="0"/>
              <a:t>will normally be some </a:t>
            </a:r>
            <a:r>
              <a:rPr lang="en-IE" dirty="0">
                <a:solidFill>
                  <a:schemeClr val="tx2"/>
                </a:solidFill>
              </a:rPr>
              <a:t>agreed-upon handshaking </a:t>
            </a:r>
            <a:r>
              <a:rPr lang="en-IE" dirty="0" smtClean="0"/>
              <a:t>followed by </a:t>
            </a:r>
            <a:r>
              <a:rPr lang="en-IE" dirty="0"/>
              <a:t>the transmission of data from one to the other.</a:t>
            </a:r>
          </a:p>
          <a:p>
            <a:r>
              <a:rPr lang="en-IE" dirty="0"/>
              <a:t>When the transmission of data is complete, one or both sides </a:t>
            </a:r>
            <a:r>
              <a:rPr lang="en-IE" dirty="0">
                <a:solidFill>
                  <a:schemeClr val="tx2"/>
                </a:solidFill>
              </a:rPr>
              <a:t>close the connection. </a:t>
            </a:r>
            <a:endParaRPr lang="en-IE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29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IE" dirty="0"/>
              <a:t>Reading from Servers with Sockets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C</a:t>
            </a:r>
            <a:r>
              <a:rPr lang="en-IE" dirty="0" smtClean="0"/>
              <a:t>onnect </a:t>
            </a:r>
            <a:r>
              <a:rPr lang="en-IE" dirty="0"/>
              <a:t>to the daytime server at </a:t>
            </a:r>
            <a:r>
              <a:rPr lang="en-IE" dirty="0" smtClean="0"/>
              <a:t>the National </a:t>
            </a:r>
            <a:r>
              <a:rPr lang="en-IE" dirty="0"/>
              <a:t>Institute for Standards and Technology (NIST) and ask it for the current time</a:t>
            </a:r>
            <a:r>
              <a:rPr lang="en-IE" dirty="0" smtClean="0"/>
              <a:t>.</a:t>
            </a:r>
          </a:p>
          <a:p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Socket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CD3300"/>
                </a:solidFill>
                <a:latin typeface="UbuntuMono-Regular"/>
              </a:rPr>
              <a:t>"time.nist.gov"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800" dirty="0">
                <a:solidFill>
                  <a:srgbClr val="FF6600"/>
                </a:solidFill>
                <a:latin typeface="UbuntuMono-Regular"/>
              </a:rPr>
              <a:t>13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)) {</a:t>
            </a:r>
          </a:p>
          <a:p>
            <a:pPr lvl="1"/>
            <a:r>
              <a:rPr lang="en-IE" sz="2400" i="1" dirty="0">
                <a:solidFill>
                  <a:srgbClr val="35586C"/>
                </a:solidFill>
                <a:latin typeface="UbuntuMono-Italic"/>
              </a:rPr>
              <a:t>// read from the socket...</a:t>
            </a:r>
          </a:p>
          <a:p>
            <a:r>
              <a:rPr lang="en-IE" sz="2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lvl="1"/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>
                <a:solidFill>
                  <a:srgbClr val="CD3300"/>
                </a:solidFill>
                <a:latin typeface="UbuntuMono-Regular"/>
              </a:rPr>
              <a:t>"Could not connect to </a:t>
            </a:r>
            <a:r>
              <a:rPr lang="en-IE" sz="2400" dirty="0" smtClean="0">
                <a:solidFill>
                  <a:srgbClr val="CD3300"/>
                </a:solidFill>
                <a:latin typeface="UbuntuMono-Regular"/>
              </a:rPr>
              <a:t>time.nist.gov</a:t>
            </a:r>
            <a:r>
              <a:rPr lang="en-IE" sz="2400" dirty="0">
                <a:solidFill>
                  <a:srgbClr val="CD3300"/>
                </a:solidFill>
                <a:latin typeface="UbuntuMono-Regular"/>
              </a:rPr>
              <a:t>"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r>
              <a:rPr lang="en-IE" sz="2800" dirty="0" smtClean="0">
                <a:solidFill>
                  <a:srgbClr val="555555"/>
                </a:solidFill>
                <a:latin typeface="UbuntuMono-Regular"/>
              </a:rPr>
              <a:t>}</a:t>
            </a:r>
            <a:r>
              <a:rPr lang="en-IE" sz="2800" dirty="0"/>
              <a:t> </a:t>
            </a:r>
            <a:endParaRPr lang="en-IE" sz="2800" dirty="0" smtClean="0"/>
          </a:p>
          <a:p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The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next step is optional but highly recommended. </a:t>
            </a:r>
            <a:endParaRPr lang="en-IE" sz="2800" dirty="0" smtClean="0">
              <a:solidFill>
                <a:srgbClr val="000000"/>
              </a:solidFill>
              <a:latin typeface="MinionPro-Regular"/>
            </a:endParaRPr>
          </a:p>
          <a:p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Set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a timeout on the 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connection using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the </a:t>
            </a:r>
            <a:r>
              <a:rPr lang="en-IE" sz="2800" dirty="0" err="1">
                <a:latin typeface="UbuntuMono-Regular"/>
              </a:rPr>
              <a:t>setSoTimeout</a:t>
            </a:r>
            <a:r>
              <a:rPr lang="en-IE" sz="2800" dirty="0">
                <a:solidFill>
                  <a:srgbClr val="000000"/>
                </a:solidFill>
                <a:latin typeface="UbuntuMono-Regular"/>
              </a:rPr>
              <a:t>()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method. </a:t>
            </a:r>
            <a:endParaRPr lang="en-IE" sz="2800" dirty="0" smtClean="0">
              <a:solidFill>
                <a:srgbClr val="000000"/>
              </a:solidFill>
              <a:latin typeface="MinionPro-Regular"/>
            </a:endParaRPr>
          </a:p>
          <a:p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Timeouts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are measured in milliseconds, so 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this statement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sets the socket to time out after 15 seconds of </a:t>
            </a:r>
            <a:r>
              <a:rPr lang="en-IE" sz="2800" dirty="0" err="1">
                <a:solidFill>
                  <a:srgbClr val="000000"/>
                </a:solidFill>
                <a:latin typeface="MinionPro-Regular"/>
              </a:rPr>
              <a:t>nonresponsiveness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:</a:t>
            </a:r>
          </a:p>
          <a:p>
            <a:r>
              <a:rPr lang="en-IE" sz="2900" dirty="0" err="1">
                <a:solidFill>
                  <a:srgbClr val="000089"/>
                </a:solidFill>
                <a:latin typeface="UbuntuMono-Regular"/>
              </a:rPr>
              <a:t>socket.setSoTimeout</a:t>
            </a:r>
            <a:r>
              <a:rPr lang="en-IE" sz="2900" dirty="0">
                <a:solidFill>
                  <a:srgbClr val="000089"/>
                </a:solidFill>
                <a:latin typeface="UbuntuMono-Regular"/>
              </a:rPr>
              <a:t>(15000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);</a:t>
            </a:r>
            <a:endParaRPr lang="en-IE" sz="2800" dirty="0" smtClean="0"/>
          </a:p>
        </p:txBody>
      </p:sp>
    </p:spTree>
    <p:extLst>
      <p:ext uri="{BB962C8B-B14F-4D97-AF65-F5344CB8AC3E}">
        <p14:creationId xmlns:p14="http://schemas.microsoft.com/office/powerpoint/2010/main" val="171374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IE" dirty="0"/>
              <a:t>Reading from Servers with Sockets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10000"/>
          </a:bodyPr>
          <a:lstStyle/>
          <a:p>
            <a:r>
              <a:rPr lang="en-IE" sz="2800" dirty="0"/>
              <a:t>Once you’ve opened the socket and set its timeout, call </a:t>
            </a:r>
            <a:r>
              <a:rPr lang="en-IE" sz="2800" dirty="0" err="1">
                <a:solidFill>
                  <a:schemeClr val="tx2"/>
                </a:solidFill>
              </a:rPr>
              <a:t>getInputStream</a:t>
            </a:r>
            <a:r>
              <a:rPr lang="en-IE" sz="2800" dirty="0"/>
              <a:t>() to return </a:t>
            </a:r>
            <a:r>
              <a:rPr lang="en-IE" sz="2800" dirty="0" smtClean="0"/>
              <a:t>an </a:t>
            </a:r>
            <a:r>
              <a:rPr lang="en-IE" sz="2800" dirty="0" err="1" smtClean="0">
                <a:solidFill>
                  <a:schemeClr val="tx2"/>
                </a:solidFill>
              </a:rPr>
              <a:t>InputStream</a:t>
            </a:r>
            <a:r>
              <a:rPr lang="en-IE" sz="2800" dirty="0" smtClean="0">
                <a:solidFill>
                  <a:schemeClr val="tx2"/>
                </a:solidFill>
              </a:rPr>
              <a:t> </a:t>
            </a:r>
            <a:r>
              <a:rPr lang="en-IE" sz="2800" dirty="0"/>
              <a:t>you can use to read bytes from the socket. </a:t>
            </a:r>
            <a:endParaRPr lang="en-IE" sz="2800" dirty="0" smtClean="0"/>
          </a:p>
          <a:p>
            <a:r>
              <a:rPr lang="en-IE" sz="2800" dirty="0" smtClean="0"/>
              <a:t>In </a:t>
            </a:r>
            <a:r>
              <a:rPr lang="en-IE" sz="2800" dirty="0"/>
              <a:t>general, a server can </a:t>
            </a:r>
            <a:r>
              <a:rPr lang="en-IE" sz="2800" dirty="0" smtClean="0"/>
              <a:t>send any </a:t>
            </a:r>
            <a:r>
              <a:rPr lang="en-IE" sz="2800" dirty="0"/>
              <a:t>bytes at all; but in this specific case, the protocol specifies that those bytes must </a:t>
            </a:r>
            <a:r>
              <a:rPr lang="en-IE" sz="2800" dirty="0" smtClean="0"/>
              <a:t>be ASCII: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InputStream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in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getInputStream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StringBuilder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time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StringBuilder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InputStreamReader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reader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InputStreamReader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in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800" dirty="0">
                <a:solidFill>
                  <a:srgbClr val="CD3300"/>
                </a:solidFill>
                <a:latin typeface="UbuntuMono-Regular"/>
              </a:rPr>
              <a:t>"ASCII"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for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28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reader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read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!= -</a:t>
            </a:r>
            <a:r>
              <a:rPr lang="en-IE" sz="2800" dirty="0">
                <a:solidFill>
                  <a:srgbClr val="FF6600"/>
                </a:solidFill>
                <a:latin typeface="UbuntuMono-Regular"/>
              </a:rPr>
              <a:t>1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reader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read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()) {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time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append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((</a:t>
            </a:r>
            <a:r>
              <a:rPr lang="en-IE" sz="2800" b="1" dirty="0">
                <a:solidFill>
                  <a:srgbClr val="007789"/>
                </a:solidFill>
                <a:latin typeface="UbuntuMono-Bold"/>
              </a:rPr>
              <a:t>char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c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r>
              <a:rPr lang="en-IE" sz="28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out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time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  <a:endParaRPr lang="en-IE" sz="2800" dirty="0" smtClean="0"/>
          </a:p>
        </p:txBody>
      </p:sp>
    </p:spTree>
    <p:extLst>
      <p:ext uri="{BB962C8B-B14F-4D97-AF65-F5344CB8AC3E}">
        <p14:creationId xmlns:p14="http://schemas.microsoft.com/office/powerpoint/2010/main" val="138206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IE" dirty="0"/>
              <a:t>Reading from Servers with Sockets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33400"/>
            <a:ext cx="9144000" cy="6324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2800" b="1" dirty="0">
                <a:solidFill>
                  <a:srgbClr val="00CDFF"/>
                </a:solidFill>
                <a:latin typeface="UbuntuMono-Bold"/>
              </a:rPr>
              <a:t>java.net</a:t>
            </a:r>
            <a:r>
              <a:rPr lang="en-IE" sz="2800" b="1" dirty="0" smtClean="0">
                <a:solidFill>
                  <a:srgbClr val="00CDFF"/>
                </a:solidFill>
                <a:latin typeface="UbuntuMono-Bold"/>
              </a:rPr>
              <a:t>.*</a:t>
            </a:r>
            <a:r>
              <a:rPr lang="en-IE" sz="2800" dirty="0" smtClean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en-IE" sz="2800" b="1" dirty="0" smtClean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2800" b="1" dirty="0">
                <a:solidFill>
                  <a:srgbClr val="00CDFF"/>
                </a:solidFill>
                <a:latin typeface="UbuntuMono-Bold"/>
              </a:rPr>
              <a:t>java.io.*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public class </a:t>
            </a:r>
            <a:r>
              <a:rPr lang="en-IE" sz="2800" b="1" dirty="0" err="1">
                <a:solidFill>
                  <a:srgbClr val="00AB89"/>
                </a:solidFill>
                <a:latin typeface="UbuntuMono-Bold"/>
              </a:rPr>
              <a:t>DaytimeClient</a:t>
            </a:r>
            <a:r>
              <a:rPr lang="en-IE" sz="2800" b="1" dirty="0">
                <a:solidFill>
                  <a:srgbClr val="00AB89"/>
                </a:solidFill>
                <a:latin typeface="UbuntuMono-Bold"/>
              </a:rPr>
              <a:t>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public static </a:t>
            </a:r>
            <a:r>
              <a:rPr lang="en-IE" sz="2800" b="1" dirty="0">
                <a:solidFill>
                  <a:srgbClr val="007789"/>
                </a:solidFill>
                <a:latin typeface="UbuntuMono-Bold"/>
              </a:rPr>
              <a:t>void </a:t>
            </a:r>
            <a:r>
              <a:rPr lang="en-IE" sz="2800" dirty="0">
                <a:solidFill>
                  <a:srgbClr val="CD00FF"/>
                </a:solidFill>
                <a:latin typeface="UbuntuMono-Regular"/>
              </a:rPr>
              <a:t>main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String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[]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2800" dirty="0" smtClean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String hostname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length</a:t>
            </a:r>
            <a:r>
              <a:rPr lang="en-IE" sz="2800" dirty="0">
                <a:solidFill>
                  <a:srgbClr val="33009A"/>
                </a:solidFill>
                <a:latin typeface="UbuntuMono-Regular"/>
              </a:rPr>
              <a:t>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&gt; </a:t>
            </a:r>
            <a:r>
              <a:rPr lang="en-IE" sz="2800" dirty="0">
                <a:solidFill>
                  <a:srgbClr val="FF6600"/>
                </a:solidFill>
                <a:latin typeface="UbuntuMono-Regular"/>
              </a:rPr>
              <a:t>0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?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[</a:t>
            </a:r>
            <a:r>
              <a:rPr lang="en-IE" sz="2800" dirty="0">
                <a:solidFill>
                  <a:srgbClr val="FF6600"/>
                </a:solidFill>
                <a:latin typeface="UbuntuMono-Regular"/>
              </a:rPr>
              <a:t>0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] : </a:t>
            </a:r>
            <a:r>
              <a:rPr lang="en-IE" sz="2800" dirty="0">
                <a:solidFill>
                  <a:srgbClr val="CD3300"/>
                </a:solidFill>
                <a:latin typeface="UbuntuMono-Regular"/>
              </a:rPr>
              <a:t>"time.nist.gov"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Socket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null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socket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hostname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800" dirty="0">
                <a:solidFill>
                  <a:srgbClr val="FF6600"/>
                </a:solidFill>
                <a:latin typeface="UbuntuMono-Regular"/>
              </a:rPr>
              <a:t>13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setSoTimeout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FF6600"/>
                </a:solidFill>
                <a:latin typeface="UbuntuMono-Regular"/>
              </a:rPr>
              <a:t>15000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InputStream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in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getInputStream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StringBuilder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time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StringBuilder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InputStreamReader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reader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800" dirty="0" err="1" smtClean="0">
                <a:solidFill>
                  <a:srgbClr val="000089"/>
                </a:solidFill>
                <a:latin typeface="UbuntuMono-Regular"/>
              </a:rPr>
              <a:t>InputStreamReader</a:t>
            </a:r>
            <a:r>
              <a:rPr lang="en-IE" sz="2800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 smtClean="0">
                <a:solidFill>
                  <a:srgbClr val="000089"/>
                </a:solidFill>
                <a:latin typeface="UbuntuMono-Regular"/>
              </a:rPr>
              <a:t>in</a:t>
            </a:r>
            <a:r>
              <a:rPr lang="en-IE" sz="2800" dirty="0" smtClean="0">
                <a:solidFill>
                  <a:srgbClr val="555555"/>
                </a:solidFill>
                <a:latin typeface="UbuntuMono-Regular"/>
              </a:rPr>
              <a:t>);</a:t>
            </a:r>
            <a:endParaRPr lang="en-IE" sz="2800" dirty="0">
              <a:solidFill>
                <a:srgbClr val="555555"/>
              </a:solidFill>
              <a:latin typeface="UbuntuMono-Regular"/>
            </a:endParaRPr>
          </a:p>
          <a:p>
            <a:pPr marL="0" indent="0">
              <a:buNone/>
            </a:pP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for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28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reader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read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!= -</a:t>
            </a:r>
            <a:r>
              <a:rPr lang="en-IE" sz="2800" dirty="0">
                <a:solidFill>
                  <a:srgbClr val="FF6600"/>
                </a:solidFill>
                <a:latin typeface="UbuntuMono-Regular"/>
              </a:rPr>
              <a:t>1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reader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read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()) {</a:t>
            </a:r>
          </a:p>
          <a:p>
            <a:pPr marL="0" indent="0">
              <a:buNone/>
            </a:pP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time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append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((</a:t>
            </a:r>
            <a:r>
              <a:rPr lang="en-IE" sz="2800" b="1" dirty="0">
                <a:solidFill>
                  <a:srgbClr val="007789"/>
                </a:solidFill>
                <a:latin typeface="UbuntuMono-Bold"/>
              </a:rPr>
              <a:t>char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c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pPr marL="0" indent="0">
              <a:buNone/>
            </a:pP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out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time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finally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if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socket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!=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null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close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2800" i="1" dirty="0">
                <a:solidFill>
                  <a:srgbClr val="35586C"/>
                </a:solidFill>
                <a:latin typeface="UbuntuMono-Italic"/>
              </a:rPr>
              <a:t>// ignore</a:t>
            </a:r>
          </a:p>
          <a:p>
            <a:pPr marL="0" indent="0">
              <a:buNone/>
            </a:pPr>
            <a:r>
              <a:rPr lang="en-IE" sz="2800" dirty="0" smtClean="0">
                <a:solidFill>
                  <a:srgbClr val="555555"/>
                </a:solidFill>
                <a:latin typeface="UbuntuMono-Regular"/>
              </a:rPr>
              <a:t>}}}}}</a:t>
            </a:r>
            <a:endParaRPr lang="en-IE" sz="2800" dirty="0" smtClean="0"/>
          </a:p>
        </p:txBody>
      </p:sp>
    </p:spTree>
    <p:extLst>
      <p:ext uri="{BB962C8B-B14F-4D97-AF65-F5344CB8AC3E}">
        <p14:creationId xmlns:p14="http://schemas.microsoft.com/office/powerpoint/2010/main" val="229071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563562"/>
          </a:xfrm>
        </p:spPr>
        <p:txBody>
          <a:bodyPr>
            <a:noAutofit/>
          </a:bodyPr>
          <a:lstStyle/>
          <a:p>
            <a:r>
              <a:rPr lang="en-IE" sz="3600" i="1" dirty="0"/>
              <a:t>Construct a Date by talking to time.nist.gov</a:t>
            </a:r>
            <a:endParaRPr lang="en-US" altLang="en-US" sz="36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33400"/>
            <a:ext cx="91440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400" b="1" dirty="0">
                <a:solidFill>
                  <a:srgbClr val="00CDFF"/>
                </a:solidFill>
                <a:latin typeface="UbuntuMono-Bold"/>
              </a:rPr>
              <a:t>java.net</a:t>
            </a:r>
            <a:r>
              <a:rPr lang="en-IE" sz="1400" b="1" dirty="0" smtClean="0">
                <a:solidFill>
                  <a:srgbClr val="00CDFF"/>
                </a:solidFill>
                <a:latin typeface="UbuntuMono-Bold"/>
              </a:rPr>
              <a:t>.*</a:t>
            </a:r>
            <a:r>
              <a:rPr lang="en-IE" sz="1400" dirty="0" smtClean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400" b="1" dirty="0" err="1">
                <a:solidFill>
                  <a:srgbClr val="00CDFF"/>
                </a:solidFill>
                <a:latin typeface="UbuntuMono-Bold"/>
              </a:rPr>
              <a:t>java.text</a:t>
            </a:r>
            <a:r>
              <a:rPr lang="en-IE" sz="1400" b="1" dirty="0" smtClean="0">
                <a:solidFill>
                  <a:srgbClr val="00CDFF"/>
                </a:solidFill>
                <a:latin typeface="UbuntuMono-Bold"/>
              </a:rPr>
              <a:t>.*</a:t>
            </a:r>
            <a:r>
              <a:rPr lang="en-IE" sz="1400" dirty="0" smtClean="0">
                <a:solidFill>
                  <a:srgbClr val="555555"/>
                </a:solidFill>
                <a:latin typeface="UbuntuMono-Regular"/>
              </a:rPr>
              <a:t>;</a:t>
            </a: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400" b="1" dirty="0" err="1" smtClean="0">
                <a:solidFill>
                  <a:srgbClr val="00CDFF"/>
                </a:solidFill>
                <a:latin typeface="UbuntuMono-Bold"/>
              </a:rPr>
              <a:t>java.util.Date</a:t>
            </a:r>
            <a:r>
              <a:rPr lang="en-IE" sz="1400" dirty="0" err="1" smtClean="0">
                <a:solidFill>
                  <a:srgbClr val="555555"/>
                </a:solidFill>
                <a:latin typeface="UbuntuMono-Regular"/>
              </a:rPr>
              <a:t>;</a:t>
            </a:r>
            <a:r>
              <a:rPr lang="en-IE" sz="1400" b="1" dirty="0" err="1" smtClean="0">
                <a:solidFill>
                  <a:srgbClr val="00669A"/>
                </a:solidFill>
                <a:latin typeface="UbuntuMono-Bold"/>
              </a:rPr>
              <a:t>import</a:t>
            </a: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 </a:t>
            </a:r>
            <a:r>
              <a:rPr lang="en-IE" sz="1400" b="1" dirty="0">
                <a:solidFill>
                  <a:srgbClr val="00CDFF"/>
                </a:solidFill>
                <a:latin typeface="UbuntuMono-Bold"/>
              </a:rPr>
              <a:t>java.io.*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public class </a:t>
            </a:r>
            <a:r>
              <a:rPr lang="en-IE" sz="1400" b="1" dirty="0">
                <a:solidFill>
                  <a:srgbClr val="00AB89"/>
                </a:solidFill>
                <a:latin typeface="UbuntuMono-Bold"/>
              </a:rPr>
              <a:t>Daytime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Date </a:t>
            </a:r>
            <a:r>
              <a:rPr lang="en-IE" sz="1400" dirty="0" err="1">
                <a:solidFill>
                  <a:srgbClr val="CD00FF"/>
                </a:solidFill>
                <a:latin typeface="UbuntuMono-Regular"/>
              </a:rPr>
              <a:t>getDateFromNetwork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() </a:t>
            </a: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ParseException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Socket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>
                <a:solidFill>
                  <a:srgbClr val="CD3300"/>
                </a:solidFill>
                <a:latin typeface="UbuntuMono-Regular"/>
              </a:rPr>
              <a:t>"time.nist.gov"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400" dirty="0">
                <a:solidFill>
                  <a:srgbClr val="FF6600"/>
                </a:solidFill>
                <a:latin typeface="UbuntuMono-Regular"/>
              </a:rPr>
              <a:t>13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))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1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dirty="0" err="1">
                <a:solidFill>
                  <a:srgbClr val="33009A"/>
                </a:solidFill>
                <a:latin typeface="UbuntuMono-Regular"/>
              </a:rPr>
              <a:t>setSoTimeout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>
                <a:solidFill>
                  <a:srgbClr val="FF6600"/>
                </a:solidFill>
                <a:latin typeface="UbuntuMono-Regular"/>
              </a:rPr>
              <a:t>15000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InputStream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 in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1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dirty="0" err="1">
                <a:solidFill>
                  <a:srgbClr val="33009A"/>
                </a:solidFill>
                <a:latin typeface="UbuntuMono-Regular"/>
              </a:rPr>
              <a:t>getInputStream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StringBuilder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 time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StringBuilder</a:t>
            </a:r>
            <a:r>
              <a:rPr lang="en-IE" sz="1400" dirty="0" smtClean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InputStreamReader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 reader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400" dirty="0" err="1" smtClean="0">
                <a:solidFill>
                  <a:srgbClr val="000089"/>
                </a:solidFill>
                <a:latin typeface="UbuntuMono-Regular"/>
              </a:rPr>
              <a:t>InputStreamReader</a:t>
            </a:r>
            <a:r>
              <a:rPr lang="en-IE" sz="1400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 smtClean="0">
                <a:solidFill>
                  <a:srgbClr val="000089"/>
                </a:solidFill>
                <a:latin typeface="UbuntuMono-Regular"/>
              </a:rPr>
              <a:t>in</a:t>
            </a:r>
            <a:r>
              <a:rPr lang="en-IE" sz="1400" dirty="0" smtClean="0">
                <a:solidFill>
                  <a:srgbClr val="555555"/>
                </a:solidFill>
                <a:latin typeface="UbuntuMono-Regular"/>
              </a:rPr>
              <a:t>);</a:t>
            </a:r>
            <a:endParaRPr lang="en-IE" sz="1400" dirty="0">
              <a:solidFill>
                <a:srgbClr val="555555"/>
              </a:solidFill>
              <a:latin typeface="UbuntuMono-Regular"/>
            </a:endParaRPr>
          </a:p>
          <a:p>
            <a:pPr marL="0" indent="0">
              <a:buNone/>
            </a:pP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for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4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reader</a:t>
            </a:r>
            <a:r>
              <a:rPr lang="en-IE" sz="1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dirty="0" err="1">
                <a:solidFill>
                  <a:srgbClr val="33009A"/>
                </a:solidFill>
                <a:latin typeface="UbuntuMono-Regular"/>
              </a:rPr>
              <a:t>read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();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!= -</a:t>
            </a:r>
            <a:r>
              <a:rPr lang="en-IE" sz="1400" dirty="0">
                <a:solidFill>
                  <a:srgbClr val="FF6600"/>
                </a:solidFill>
                <a:latin typeface="UbuntuMono-Regular"/>
              </a:rPr>
              <a:t>1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reader</a:t>
            </a:r>
            <a:r>
              <a:rPr lang="en-IE" sz="1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dirty="0" err="1">
                <a:solidFill>
                  <a:srgbClr val="33009A"/>
                </a:solidFill>
                <a:latin typeface="UbuntuMono-Regular"/>
              </a:rPr>
              <a:t>read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())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time</a:t>
            </a:r>
            <a:r>
              <a:rPr lang="en-IE" sz="1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dirty="0" err="1">
                <a:solidFill>
                  <a:srgbClr val="33009A"/>
                </a:solidFill>
                <a:latin typeface="UbuntuMono-Regular"/>
              </a:rPr>
              <a:t>append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((</a:t>
            </a:r>
            <a:r>
              <a:rPr lang="en-IE" sz="1400" b="1" dirty="0">
                <a:solidFill>
                  <a:srgbClr val="007789"/>
                </a:solidFill>
                <a:latin typeface="UbuntuMono-Bold"/>
              </a:rPr>
              <a:t>char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c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return </a:t>
            </a:r>
            <a:r>
              <a:rPr lang="en-IE" sz="1400" dirty="0" err="1">
                <a:solidFill>
                  <a:srgbClr val="CD00FF"/>
                </a:solidFill>
                <a:latin typeface="UbuntuMono-Regular"/>
              </a:rPr>
              <a:t>parseDate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time</a:t>
            </a:r>
            <a:r>
              <a:rPr lang="en-IE" sz="1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dirty="0" err="1">
                <a:solidFill>
                  <a:srgbClr val="33009A"/>
                </a:solidFill>
                <a:latin typeface="UbuntuMono-Regular"/>
              </a:rPr>
              <a:t>toString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());</a:t>
            </a:r>
          </a:p>
          <a:p>
            <a:pPr marL="0" indent="0">
              <a:buNone/>
            </a:pPr>
            <a:r>
              <a:rPr lang="en-IE" sz="1400" dirty="0" smtClean="0">
                <a:solidFill>
                  <a:srgbClr val="555555"/>
                </a:solidFill>
                <a:latin typeface="UbuntuMono-Regular"/>
              </a:rPr>
              <a:t>}}</a:t>
            </a:r>
            <a:endParaRPr lang="en-IE" sz="1400" dirty="0">
              <a:solidFill>
                <a:srgbClr val="555555"/>
              </a:solidFill>
              <a:latin typeface="UbuntuMono-Regular"/>
            </a:endParaRPr>
          </a:p>
          <a:p>
            <a:pPr marL="0" indent="0">
              <a:buNone/>
            </a:pP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static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Date </a:t>
            </a:r>
            <a:r>
              <a:rPr lang="en-IE" sz="1400" dirty="0" err="1">
                <a:solidFill>
                  <a:srgbClr val="CD00FF"/>
                </a:solidFill>
                <a:latin typeface="UbuntuMono-Regular"/>
              </a:rPr>
              <a:t>parseDate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String s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ParseException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String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[]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pieces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s</a:t>
            </a:r>
            <a:r>
              <a:rPr lang="en-IE" sz="1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dirty="0" err="1">
                <a:solidFill>
                  <a:srgbClr val="33009A"/>
                </a:solidFill>
                <a:latin typeface="UbuntuMono-Regular"/>
              </a:rPr>
              <a:t>split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>
                <a:solidFill>
                  <a:srgbClr val="CD3300"/>
                </a:solidFill>
                <a:latin typeface="UbuntuMono-Regular"/>
              </a:rPr>
              <a:t>" "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String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dateTime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pieces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[</a:t>
            </a:r>
            <a:r>
              <a:rPr lang="en-IE" sz="1400" dirty="0">
                <a:solidFill>
                  <a:srgbClr val="FF6600"/>
                </a:solidFill>
                <a:latin typeface="UbuntuMono-Regular"/>
              </a:rPr>
              <a:t>1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] + </a:t>
            </a:r>
            <a:r>
              <a:rPr lang="en-IE" sz="1400" dirty="0">
                <a:solidFill>
                  <a:srgbClr val="CD3300"/>
                </a:solidFill>
                <a:latin typeface="UbuntuMono-Regular"/>
              </a:rPr>
              <a:t>" "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pieces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[</a:t>
            </a:r>
            <a:r>
              <a:rPr lang="en-IE" sz="1400" dirty="0">
                <a:solidFill>
                  <a:srgbClr val="FF6600"/>
                </a:solidFill>
                <a:latin typeface="UbuntuMono-Regular"/>
              </a:rPr>
              <a:t>2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] + </a:t>
            </a:r>
            <a:r>
              <a:rPr lang="en-IE" sz="1400" dirty="0">
                <a:solidFill>
                  <a:srgbClr val="CD3300"/>
                </a:solidFill>
                <a:latin typeface="UbuntuMono-Regular"/>
              </a:rPr>
              <a:t>" UTC"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DateFormat</a:t>
            </a:r>
            <a:r>
              <a:rPr lang="en-IE" sz="1400" dirty="0">
                <a:solidFill>
                  <a:srgbClr val="000089"/>
                </a:solidFill>
                <a:latin typeface="UbuntuMono-Regular"/>
              </a:rPr>
              <a:t> format 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SimpleDateFormat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>
                <a:solidFill>
                  <a:srgbClr val="CD3300"/>
                </a:solidFill>
                <a:latin typeface="UbuntuMono-Regular"/>
              </a:rPr>
              <a:t>"</a:t>
            </a:r>
            <a:r>
              <a:rPr lang="en-IE" sz="1400" dirty="0" err="1">
                <a:solidFill>
                  <a:srgbClr val="CD3300"/>
                </a:solidFill>
                <a:latin typeface="UbuntuMono-Regular"/>
              </a:rPr>
              <a:t>yy</a:t>
            </a:r>
            <a:r>
              <a:rPr lang="en-IE" sz="1400" dirty="0">
                <a:solidFill>
                  <a:srgbClr val="CD3300"/>
                </a:solidFill>
                <a:latin typeface="UbuntuMono-Regular"/>
              </a:rPr>
              <a:t>-MM-</a:t>
            </a:r>
            <a:r>
              <a:rPr lang="en-IE" sz="1400" dirty="0" err="1">
                <a:solidFill>
                  <a:srgbClr val="CD3300"/>
                </a:solidFill>
                <a:latin typeface="UbuntuMono-Regular"/>
              </a:rPr>
              <a:t>dd</a:t>
            </a:r>
            <a:r>
              <a:rPr lang="en-IE" sz="1400" dirty="0">
                <a:solidFill>
                  <a:srgbClr val="CD3300"/>
                </a:solidFill>
                <a:latin typeface="UbuntuMono-Regular"/>
              </a:rPr>
              <a:t> </a:t>
            </a:r>
            <a:r>
              <a:rPr lang="en-IE" sz="1400" dirty="0" err="1">
                <a:solidFill>
                  <a:srgbClr val="CD3300"/>
                </a:solidFill>
                <a:latin typeface="UbuntuMono-Regular"/>
              </a:rPr>
              <a:t>hh:mm:ss</a:t>
            </a:r>
            <a:r>
              <a:rPr lang="en-IE" sz="1400" dirty="0">
                <a:solidFill>
                  <a:srgbClr val="CD3300"/>
                </a:solidFill>
                <a:latin typeface="UbuntuMono-Regular"/>
              </a:rPr>
              <a:t> z"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00669A"/>
                </a:solidFill>
                <a:latin typeface="UbuntuMono-Bold"/>
              </a:rPr>
              <a:t>return 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format</a:t>
            </a:r>
            <a:r>
              <a:rPr lang="en-IE" sz="1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dirty="0" err="1">
                <a:solidFill>
                  <a:srgbClr val="33009A"/>
                </a:solidFill>
                <a:latin typeface="UbuntuMono-Regular"/>
              </a:rPr>
              <a:t>parse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dirty="0" err="1">
                <a:solidFill>
                  <a:srgbClr val="000089"/>
                </a:solidFill>
                <a:latin typeface="UbuntuMono-Regular"/>
              </a:rPr>
              <a:t>dateTime</a:t>
            </a: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4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main (String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arg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[])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ParseException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000000"/>
                </a:solidFill>
                <a:latin typeface="Consolas"/>
              </a:rPr>
              <a:t>Daytime </a:t>
            </a:r>
            <a:r>
              <a:rPr lang="en-IE" sz="1400" dirty="0" err="1">
                <a:solidFill>
                  <a:srgbClr val="000000"/>
                </a:solidFill>
                <a:latin typeface="Consolas"/>
              </a:rPr>
              <a:t>testtime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Daytime();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System.out.println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dirty="0" err="1">
                <a:solidFill>
                  <a:srgbClr val="000000"/>
                </a:solidFill>
                <a:latin typeface="Consolas"/>
              </a:rPr>
              <a:t>testtime.getDateFromNetwork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marL="0" indent="0">
              <a:buNone/>
            </a:pPr>
            <a:r>
              <a:rPr lang="en-IE" sz="14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  <a:endParaRPr lang="en-IE" sz="1400" dirty="0" smtClean="0"/>
          </a:p>
        </p:txBody>
      </p:sp>
    </p:spTree>
    <p:extLst>
      <p:ext uri="{BB962C8B-B14F-4D97-AF65-F5344CB8AC3E}">
        <p14:creationId xmlns:p14="http://schemas.microsoft.com/office/powerpoint/2010/main" val="143606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6253" cy="11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53679"/>
            <a:ext cx="8229600" cy="822308"/>
          </a:xfrm>
          <a:prstGeom prst="rect">
            <a:avLst/>
          </a:prstGeom>
        </p:spPr>
        <p:txBody>
          <a:bodyPr vert="horz" wrap="square" lIns="0" tIns="174275" rIns="0" bIns="0" rtlCol="0">
            <a:spAutoFit/>
          </a:bodyPr>
          <a:lstStyle/>
          <a:p>
            <a:pPr marL="427405"/>
            <a:r>
              <a:rPr sz="4200" b="1" dirty="0">
                <a:solidFill>
                  <a:srgbClr val="CC0000"/>
                </a:solidFill>
                <a:latin typeface="Arial"/>
                <a:cs typeface="Arial"/>
              </a:rPr>
              <a:t>A Generic </a:t>
            </a:r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Network</a:t>
            </a:r>
            <a:r>
              <a:rPr sz="4200" b="1" spc="-11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Client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836" y="838200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java.net.*;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java.io.*;</a:t>
            </a: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NetworkClient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	protected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String </a:t>
            </a:r>
            <a:r>
              <a:rPr lang="en-IE" sz="1600" b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	protected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0000C0"/>
                </a:solidFill>
                <a:latin typeface="Consolas"/>
              </a:rPr>
              <a:t>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NetworkClient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(String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host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6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	</a:t>
            </a:r>
            <a:r>
              <a:rPr lang="en-IE" sz="1600" b="1" dirty="0" err="1" smtClean="0">
                <a:solidFill>
                  <a:srgbClr val="7F0055"/>
                </a:solidFill>
                <a:latin typeface="Consolas"/>
              </a:rPr>
              <a:t>this</a:t>
            </a:r>
            <a:r>
              <a:rPr lang="en-IE" sz="1600" b="1" dirty="0" err="1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IE" sz="1600" b="1" dirty="0" err="1" smtClean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host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	</a:t>
            </a:r>
            <a:r>
              <a:rPr lang="en-IE" sz="1600" b="1" dirty="0" err="1" smtClean="0">
                <a:solidFill>
                  <a:srgbClr val="7F0055"/>
                </a:solidFill>
                <a:latin typeface="Consolas"/>
              </a:rPr>
              <a:t>this</a:t>
            </a:r>
            <a:r>
              <a:rPr lang="en-IE" sz="1600" b="1" dirty="0" err="1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IE" sz="1600" b="1" dirty="0" err="1" smtClean="0">
                <a:solidFill>
                  <a:srgbClr val="0000C0"/>
                </a:solidFill>
                <a:latin typeface="Consolas"/>
              </a:rPr>
              <a:t>port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port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600" dirty="0">
              <a:solidFill>
                <a:srgbClr val="000000"/>
              </a:solidFill>
              <a:latin typeface="Consolas"/>
            </a:endParaRP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getHost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{ </a:t>
            </a:r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	return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600" dirty="0">
              <a:solidFill>
                <a:srgbClr val="000000"/>
              </a:solidFill>
              <a:latin typeface="Consolas"/>
            </a:endParaRP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getPort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{ </a:t>
            </a:r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	return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0000C0"/>
                </a:solidFill>
                <a:latin typeface="Consolas"/>
              </a:rPr>
              <a:t>port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600" dirty="0">
              <a:solidFill>
                <a:srgbClr val="000000"/>
              </a:solidFill>
              <a:latin typeface="Consolas"/>
            </a:endParaRP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connect() {  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	Socket </a:t>
            </a:r>
            <a:r>
              <a:rPr lang="en-IE" sz="1600" dirty="0">
                <a:solidFill>
                  <a:srgbClr val="6A3E3E"/>
                </a:solidFill>
                <a:latin typeface="Consolas"/>
              </a:rPr>
              <a:t>client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Socket(</a:t>
            </a:r>
            <a:r>
              <a:rPr lang="en-IE" sz="1600" b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600" b="1" dirty="0">
                <a:solidFill>
                  <a:srgbClr val="0000C0"/>
                </a:solidFill>
                <a:latin typeface="Consolas"/>
              </a:rPr>
              <a:t>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);  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600" dirty="0" err="1" smtClean="0">
                <a:solidFill>
                  <a:srgbClr val="000000"/>
                </a:solidFill>
                <a:latin typeface="Consolas"/>
              </a:rPr>
              <a:t>handleConnection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dirty="0" smtClean="0">
                <a:solidFill>
                  <a:srgbClr val="6A3E3E"/>
                </a:solidFill>
                <a:latin typeface="Consolas"/>
              </a:rPr>
              <a:t>client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UnknownHostException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uhe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{  </a:t>
            </a:r>
            <a:endParaRPr lang="en-IE" sz="1600" b="1" dirty="0" smtClean="0">
              <a:solidFill>
                <a:srgbClr val="000000"/>
              </a:solidFill>
              <a:latin typeface="Consolas"/>
            </a:endParaRPr>
          </a:p>
          <a:p>
            <a:r>
              <a:rPr lang="en-IE" sz="1600" b="1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600" b="1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6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"Unknown host: 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);  </a:t>
            </a:r>
            <a:r>
              <a:rPr lang="en-IE" sz="1600" b="1" i="1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600" b="1" i="1" dirty="0" err="1" smtClean="0">
                <a:solidFill>
                  <a:srgbClr val="6A3E3E"/>
                </a:solidFill>
                <a:latin typeface="Consolas"/>
              </a:rPr>
              <a:t>uhe</a:t>
            </a:r>
            <a:r>
              <a:rPr lang="en-IE" sz="1600" b="1" i="1" dirty="0" err="1" smtClean="0">
                <a:solidFill>
                  <a:srgbClr val="000000"/>
                </a:solidFill>
                <a:latin typeface="Consolas"/>
              </a:rPr>
              <a:t>.printStackTrace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ioe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6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6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600" b="1" i="1" dirty="0" err="1">
                <a:solidFill>
                  <a:srgbClr val="2A00FF"/>
                </a:solidFill>
                <a:latin typeface="Consolas"/>
              </a:rPr>
              <a:t>IOException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: 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ioe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);  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ioe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.printStackTrace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}}</a:t>
            </a:r>
            <a:endParaRPr lang="en-IE" sz="1600" dirty="0">
              <a:solidFill>
                <a:srgbClr val="000000"/>
              </a:solidFill>
              <a:latin typeface="Consolas"/>
            </a:endParaRP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protected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handleConnection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(Socket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client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600" dirty="0" err="1" smtClean="0">
                <a:solidFill>
                  <a:srgbClr val="000000"/>
                </a:solidFill>
                <a:latin typeface="Consolas"/>
              </a:rPr>
              <a:t>PrintWriter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u="sng" dirty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1600" u="sng" dirty="0">
                <a:solidFill>
                  <a:srgbClr val="000000"/>
                </a:solidFill>
                <a:latin typeface="Consolas"/>
              </a:rPr>
              <a:t> =  </a:t>
            </a:r>
            <a:r>
              <a:rPr lang="en-IE" sz="1600" u="sng" dirty="0" err="1">
                <a:solidFill>
                  <a:srgbClr val="000000"/>
                </a:solidFill>
                <a:latin typeface="Consolas"/>
              </a:rPr>
              <a:t>SocketUtil.getPrintWriter</a:t>
            </a:r>
            <a:r>
              <a:rPr lang="en-IE" sz="1600" u="sng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u="sng" dirty="0">
                <a:solidFill>
                  <a:srgbClr val="6A3E3E"/>
                </a:solidFill>
                <a:latin typeface="Consolas"/>
              </a:rPr>
              <a:t>client</a:t>
            </a:r>
            <a:r>
              <a:rPr lang="en-IE" sz="1600" u="sng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IE" sz="1600" u="sng" dirty="0">
              <a:solidFill>
                <a:srgbClr val="000000"/>
              </a:solidFill>
              <a:latin typeface="Consolas"/>
            </a:endParaRP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600" dirty="0" err="1" smtClean="0">
                <a:solidFill>
                  <a:srgbClr val="000000"/>
                </a:solidFill>
                <a:latin typeface="Consolas"/>
              </a:rPr>
              <a:t>BufferedReader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dirty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SocketUtil.getBufferedReader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dirty="0">
                <a:solidFill>
                  <a:srgbClr val="6A3E3E"/>
                </a:solidFill>
                <a:latin typeface="Consolas"/>
              </a:rPr>
              <a:t>client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6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6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"Generic Network Client:\n"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"Made connection to 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 and got '"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.readLine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() +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"' in response"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sz="1600" dirty="0" err="1" smtClean="0">
                <a:solidFill>
                  <a:srgbClr val="6A3E3E"/>
                </a:solidFill>
                <a:latin typeface="Consolas"/>
              </a:rPr>
              <a:t>client</a:t>
            </a:r>
            <a:r>
              <a:rPr lang="en-IE" sz="1600" dirty="0" err="1" smtClean="0">
                <a:solidFill>
                  <a:srgbClr val="000000"/>
                </a:solidFill>
                <a:latin typeface="Consolas"/>
              </a:rPr>
              <a:t>.close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}}</a:t>
            </a:r>
            <a:endParaRPr lang="en-IE" sz="1600" dirty="0"/>
          </a:p>
        </p:txBody>
      </p:sp>
    </p:spTree>
    <p:extLst>
      <p:ext uri="{BB962C8B-B14F-4D97-AF65-F5344CB8AC3E}">
        <p14:creationId xmlns:p14="http://schemas.microsoft.com/office/powerpoint/2010/main" val="297421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6253" cy="11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405" marR="5096">
              <a:lnSpc>
                <a:spcPts val="4303"/>
              </a:lnSpc>
            </a:pPr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SocketUtil </a:t>
            </a:r>
            <a:r>
              <a:rPr sz="4200" b="1" dirty="0">
                <a:solidFill>
                  <a:srgbClr val="CC0000"/>
                </a:solidFill>
                <a:latin typeface="Arial"/>
                <a:cs typeface="Arial"/>
              </a:rPr>
              <a:t>– Simplifying  </a:t>
            </a:r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Creation </a:t>
            </a:r>
            <a:r>
              <a:rPr sz="4200" b="1" dirty="0">
                <a:solidFill>
                  <a:srgbClr val="CC0000"/>
                </a:solidFill>
                <a:latin typeface="Arial"/>
                <a:cs typeface="Arial"/>
              </a:rPr>
              <a:t>of </a:t>
            </a:r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Reader and</a:t>
            </a:r>
            <a:r>
              <a:rPr sz="4200" b="1" spc="-9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4200" b="1" dirty="0">
                <a:solidFill>
                  <a:srgbClr val="CC0000"/>
                </a:solidFill>
                <a:latin typeface="Arial"/>
                <a:cs typeface="Arial"/>
              </a:rPr>
              <a:t>Writer</a:t>
            </a:r>
            <a:endParaRPr sz="4200"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0" y="2057400"/>
            <a:ext cx="89916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package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client;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java.net.*;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java.io.*;</a:t>
            </a: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SocketUtil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SocketUtil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600" dirty="0">
              <a:solidFill>
                <a:srgbClr val="000000"/>
              </a:solidFill>
              <a:latin typeface="Consolas"/>
            </a:endParaRPr>
          </a:p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BufferedReader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getBufferedReader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(Socket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{  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BufferedReader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InputStreamReader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s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.getInputStream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())));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PrintWriter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getPrintWriter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(Socket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PrintWriter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s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.getOutputStream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true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950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6253" cy="11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434984"/>
            <a:ext cx="8229600" cy="822308"/>
          </a:xfrm>
          <a:prstGeom prst="rect">
            <a:avLst/>
          </a:prstGeom>
        </p:spPr>
        <p:txBody>
          <a:bodyPr vert="horz" wrap="square" lIns="0" tIns="174275" rIns="0" bIns="0" rtlCol="0">
            <a:spAutoFit/>
          </a:bodyPr>
          <a:lstStyle/>
          <a:p>
            <a:pPr marL="427405"/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Example</a:t>
            </a:r>
            <a:r>
              <a:rPr sz="4200" b="1" spc="-10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4200" b="1" spc="-5" dirty="0">
                <a:solidFill>
                  <a:srgbClr val="CC0000"/>
                </a:solidFill>
                <a:latin typeface="Arial"/>
                <a:cs typeface="Arial"/>
              </a:rPr>
              <a:t>Client</a:t>
            </a:r>
            <a:endParaRPr sz="420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8534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package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client;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NetworkClientTest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 {  </a:t>
            </a:r>
          </a:p>
          <a:p>
            <a:r>
              <a:rPr lang="en-IE" dirty="0" smtClean="0">
                <a:solidFill>
                  <a:srgbClr val="000000"/>
                </a:solidFill>
                <a:latin typeface="Consolas"/>
              </a:rPr>
              <a:t>	String 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host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"localhost"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b="1" dirty="0" smtClean="0">
                <a:solidFill>
                  <a:srgbClr val="7F0055"/>
                </a:solidFill>
                <a:latin typeface="Consolas"/>
              </a:rPr>
              <a:t>	if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IE" b="1" dirty="0" err="1">
                <a:solidFill>
                  <a:srgbClr val="0000C0"/>
                </a:solidFill>
                <a:latin typeface="Consolas"/>
              </a:rPr>
              <a:t>length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&gt; 0)</a:t>
            </a:r>
          </a:p>
          <a:p>
            <a:r>
              <a:rPr lang="en-IE" dirty="0" smtClean="0">
                <a:solidFill>
                  <a:srgbClr val="6A3E3E"/>
                </a:solidFill>
                <a:latin typeface="Consolas"/>
              </a:rPr>
              <a:t>		host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[0];  </a:t>
            </a:r>
          </a:p>
          <a:p>
            <a:r>
              <a:rPr lang="en-IE" b="1" dirty="0" smtClean="0">
                <a:solidFill>
                  <a:srgbClr val="7F0055"/>
                </a:solidFill>
                <a:latin typeface="Consolas"/>
              </a:rPr>
              <a:t>	</a:t>
            </a:r>
            <a:r>
              <a:rPr lang="en-IE" b="1" dirty="0" err="1" smtClean="0">
                <a:solidFill>
                  <a:srgbClr val="7F0055"/>
                </a:solidFill>
                <a:latin typeface="Consolas"/>
              </a:rPr>
              <a:t>int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6A3E3E"/>
                </a:solidFill>
                <a:latin typeface="Consolas"/>
              </a:rPr>
              <a:t>port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= 8088;</a:t>
            </a:r>
          </a:p>
          <a:p>
            <a:endParaRPr lang="en-IE" dirty="0">
              <a:latin typeface="Consolas"/>
            </a:endParaRPr>
          </a:p>
          <a:p>
            <a:r>
              <a:rPr lang="en-IE" b="1" dirty="0" smtClean="0">
                <a:solidFill>
                  <a:srgbClr val="7F0055"/>
                </a:solidFill>
                <a:latin typeface="Consolas"/>
              </a:rPr>
              <a:t>	if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IE" b="1" dirty="0" err="1">
                <a:solidFill>
                  <a:srgbClr val="0000C0"/>
                </a:solidFill>
                <a:latin typeface="Consolas"/>
              </a:rPr>
              <a:t>length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&gt; 1)</a:t>
            </a:r>
          </a:p>
          <a:p>
            <a:r>
              <a:rPr lang="en-IE" dirty="0" smtClean="0">
                <a:solidFill>
                  <a:srgbClr val="6A3E3E"/>
                </a:solidFill>
                <a:latin typeface="Consolas"/>
              </a:rPr>
              <a:t>		port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Integer.</a:t>
            </a:r>
            <a:r>
              <a:rPr lang="en-IE" i="1" dirty="0" err="1">
                <a:solidFill>
                  <a:srgbClr val="000000"/>
                </a:solidFill>
                <a:latin typeface="Consolas"/>
              </a:rPr>
              <a:t>parseInt</a:t>
            </a:r>
            <a:r>
              <a:rPr lang="en-IE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i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i="1" dirty="0">
                <a:solidFill>
                  <a:srgbClr val="000000"/>
                </a:solidFill>
                <a:latin typeface="Consolas"/>
              </a:rPr>
              <a:t>[1]); </a:t>
            </a:r>
          </a:p>
          <a:p>
            <a:r>
              <a:rPr lang="en-IE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b="1" i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i="1" dirty="0" smtClean="0">
                <a:solidFill>
                  <a:srgbClr val="6A3E3E"/>
                </a:solidFill>
                <a:latin typeface="Consolas"/>
              </a:rPr>
              <a:t>host</a:t>
            </a:r>
            <a:r>
              <a:rPr lang="en-IE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b="1" i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i="1" dirty="0" smtClean="0">
                <a:solidFill>
                  <a:srgbClr val="6A3E3E"/>
                </a:solidFill>
                <a:latin typeface="Consolas"/>
              </a:rPr>
              <a:t>port</a:t>
            </a:r>
            <a:r>
              <a:rPr lang="en-IE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fr-FR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fr-FR" dirty="0" err="1" smtClean="0">
                <a:solidFill>
                  <a:srgbClr val="000000"/>
                </a:solidFill>
                <a:latin typeface="Consolas"/>
              </a:rPr>
              <a:t>NetworkClient</a:t>
            </a:r>
            <a:r>
              <a:rPr lang="fr-FR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dirty="0" err="1">
                <a:solidFill>
                  <a:srgbClr val="6A3E3E"/>
                </a:solidFill>
                <a:latin typeface="Consolas"/>
              </a:rPr>
              <a:t>nwClient</a:t>
            </a:r>
            <a:r>
              <a:rPr lang="fr-FR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fr-FR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fr-F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b="1" dirty="0" err="1">
                <a:solidFill>
                  <a:srgbClr val="000000"/>
                </a:solidFill>
                <a:latin typeface="Consolas"/>
              </a:rPr>
              <a:t>NetworkClient</a:t>
            </a:r>
            <a:r>
              <a:rPr lang="fr-FR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b="1" dirty="0">
                <a:solidFill>
                  <a:srgbClr val="6A3E3E"/>
                </a:solidFill>
                <a:latin typeface="Consolas"/>
              </a:rPr>
              <a:t>host</a:t>
            </a:r>
            <a:r>
              <a:rPr lang="fr-FR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b="1" dirty="0">
                <a:solidFill>
                  <a:srgbClr val="6A3E3E"/>
                </a:solidFill>
                <a:latin typeface="Consolas"/>
              </a:rPr>
              <a:t>port</a:t>
            </a:r>
            <a:r>
              <a:rPr lang="fr-FR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dirty="0" err="1" smtClean="0">
                <a:solidFill>
                  <a:srgbClr val="6A3E3E"/>
                </a:solidFill>
                <a:latin typeface="Consolas"/>
              </a:rPr>
              <a:t>nwClient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.connect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192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IE" dirty="0"/>
              <a:t>Writing to Servers with Sockets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10000"/>
          </a:bodyPr>
          <a:lstStyle/>
          <a:p>
            <a:r>
              <a:rPr lang="en-IE" sz="2800" dirty="0"/>
              <a:t>Writing to a server is not noticeably harder than reading from one. </a:t>
            </a:r>
            <a:endParaRPr lang="en-IE" sz="2800" dirty="0" smtClean="0"/>
          </a:p>
          <a:p>
            <a:r>
              <a:rPr lang="en-IE" sz="2800" dirty="0" smtClean="0"/>
              <a:t>You </a:t>
            </a:r>
            <a:r>
              <a:rPr lang="en-IE" sz="2800" dirty="0"/>
              <a:t>simply ask </a:t>
            </a:r>
            <a:r>
              <a:rPr lang="en-IE" sz="2800" dirty="0" smtClean="0"/>
              <a:t>the socket </a:t>
            </a:r>
            <a:r>
              <a:rPr lang="en-IE" sz="2800" dirty="0"/>
              <a:t>for an output stream as well as an input stream. </a:t>
            </a:r>
            <a:endParaRPr lang="en-IE" sz="2800" dirty="0" smtClean="0"/>
          </a:p>
          <a:p>
            <a:r>
              <a:rPr lang="en-IE" sz="2800" dirty="0"/>
              <a:t>I</a:t>
            </a:r>
            <a:r>
              <a:rPr lang="en-IE" sz="2800" dirty="0" smtClean="0"/>
              <a:t>t’s </a:t>
            </a:r>
            <a:r>
              <a:rPr lang="en-IE" sz="2800" dirty="0"/>
              <a:t>possible to </a:t>
            </a:r>
            <a:r>
              <a:rPr lang="en-IE" sz="2800" dirty="0" smtClean="0"/>
              <a:t>send data </a:t>
            </a:r>
            <a:r>
              <a:rPr lang="en-IE" sz="2800" dirty="0"/>
              <a:t>over the socket using the output stream at the same time you’re reading data </a:t>
            </a:r>
            <a:r>
              <a:rPr lang="en-IE" sz="2800" dirty="0" smtClean="0"/>
              <a:t>over the </a:t>
            </a:r>
            <a:r>
              <a:rPr lang="en-IE" sz="2800" dirty="0"/>
              <a:t>input </a:t>
            </a:r>
            <a:r>
              <a:rPr lang="en-IE" sz="2800" dirty="0" smtClean="0"/>
              <a:t>stream</a:t>
            </a:r>
          </a:p>
          <a:p>
            <a:r>
              <a:rPr lang="en-IE" sz="2800" dirty="0" smtClean="0"/>
              <a:t>Most </a:t>
            </a:r>
            <a:r>
              <a:rPr lang="en-IE" sz="2800" dirty="0"/>
              <a:t>protocols are designed so that the client is either reading </a:t>
            </a:r>
            <a:r>
              <a:rPr lang="en-IE" sz="2800" dirty="0" smtClean="0"/>
              <a:t>or writing </a:t>
            </a:r>
            <a:r>
              <a:rPr lang="en-IE" sz="2800" dirty="0"/>
              <a:t>over a socket, not both at the same time. </a:t>
            </a:r>
            <a:endParaRPr lang="en-IE" sz="2800" dirty="0" smtClean="0"/>
          </a:p>
          <a:p>
            <a:r>
              <a:rPr lang="en-IE" sz="2800" dirty="0" smtClean="0"/>
              <a:t>In </a:t>
            </a:r>
            <a:r>
              <a:rPr lang="en-IE" sz="2800" dirty="0"/>
              <a:t>the most common pattern, the </a:t>
            </a:r>
            <a:r>
              <a:rPr lang="en-IE" sz="2800" dirty="0" smtClean="0"/>
              <a:t>client sends </a:t>
            </a:r>
            <a:r>
              <a:rPr lang="en-IE" sz="2800" dirty="0"/>
              <a:t>a request. Then the server responds. The client may send another request, </a:t>
            </a:r>
            <a:r>
              <a:rPr lang="en-IE" sz="2800" dirty="0" smtClean="0"/>
              <a:t>and the </a:t>
            </a:r>
            <a:r>
              <a:rPr lang="en-IE" sz="2800" dirty="0"/>
              <a:t>server responds again. </a:t>
            </a:r>
            <a:endParaRPr lang="en-IE" sz="2800" dirty="0" smtClean="0"/>
          </a:p>
          <a:p>
            <a:r>
              <a:rPr lang="en-IE" sz="2800" dirty="0" smtClean="0"/>
              <a:t>This </a:t>
            </a:r>
            <a:r>
              <a:rPr lang="en-IE" sz="2800" dirty="0"/>
              <a:t>continues until one side or the other is done, and </a:t>
            </a:r>
            <a:r>
              <a:rPr lang="en-IE" sz="2800" dirty="0" smtClean="0"/>
              <a:t>closes the </a:t>
            </a:r>
            <a:r>
              <a:rPr lang="en-IE" sz="2800" dirty="0"/>
              <a:t>connection.</a:t>
            </a:r>
            <a:endParaRPr lang="en-IE" sz="2800" dirty="0" smtClean="0"/>
          </a:p>
        </p:txBody>
      </p:sp>
    </p:spTree>
    <p:extLst>
      <p:ext uri="{BB962C8B-B14F-4D97-AF65-F5344CB8AC3E}">
        <p14:creationId xmlns:p14="http://schemas.microsoft.com/office/powerpoint/2010/main" val="80463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IE" dirty="0"/>
              <a:t>Writing to Servers with Sockets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/>
          </a:bodyPr>
          <a:lstStyle/>
          <a:p>
            <a:r>
              <a:rPr lang="en-IE" sz="2800" dirty="0">
                <a:solidFill>
                  <a:srgbClr val="000000"/>
                </a:solidFill>
                <a:latin typeface="MinionPro-Regular"/>
              </a:rPr>
              <a:t>One simple bidirectional TCP protocol is </a:t>
            </a:r>
            <a:r>
              <a:rPr lang="en-IE" sz="2800" i="1" dirty="0" err="1">
                <a:solidFill>
                  <a:srgbClr val="000000"/>
                </a:solidFill>
                <a:latin typeface="MinionPro-Italic"/>
              </a:rPr>
              <a:t>dict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, defined in </a:t>
            </a:r>
            <a:r>
              <a:rPr lang="en-IE" sz="2800" dirty="0">
                <a:solidFill>
                  <a:srgbClr val="9A0000"/>
                </a:solidFill>
                <a:latin typeface="MinionPro-Regular"/>
              </a:rPr>
              <a:t>RFC 2229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. </a:t>
            </a:r>
            <a:endParaRPr lang="en-IE" sz="2800" dirty="0" smtClean="0">
              <a:solidFill>
                <a:srgbClr val="000000"/>
              </a:solidFill>
              <a:latin typeface="MinionPro-Regular"/>
            </a:endParaRPr>
          </a:p>
          <a:p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In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this protocol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, the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client opens a socket to port 2628 on the </a:t>
            </a:r>
            <a:r>
              <a:rPr lang="en-IE" sz="2800" dirty="0" err="1">
                <a:solidFill>
                  <a:srgbClr val="000000"/>
                </a:solidFill>
                <a:latin typeface="MinionPro-Regular"/>
              </a:rPr>
              <a:t>dict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 server and sends commands such 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as </a:t>
            </a:r>
            <a:r>
              <a:rPr lang="en-IE" sz="2800" dirty="0" smtClean="0">
                <a:latin typeface="MinionPro-Regular"/>
              </a:rPr>
              <a:t>“</a:t>
            </a:r>
            <a:r>
              <a:rPr lang="en-IE" sz="2800" dirty="0">
                <a:latin typeface="MinionPro-Regular"/>
              </a:rPr>
              <a:t>DEFINE </a:t>
            </a:r>
            <a:r>
              <a:rPr lang="en-IE" sz="2800" dirty="0" err="1" smtClean="0">
                <a:latin typeface="MinionPro-Regular"/>
              </a:rPr>
              <a:t>fd-eng-lat</a:t>
            </a:r>
            <a:r>
              <a:rPr lang="en-IE" sz="2800" dirty="0" smtClean="0">
                <a:latin typeface="MinionPro-Regular"/>
              </a:rPr>
              <a:t> </a:t>
            </a:r>
            <a:r>
              <a:rPr lang="en-IE" sz="2800" dirty="0">
                <a:latin typeface="MinionPro-Regular"/>
              </a:rPr>
              <a:t>gold”. </a:t>
            </a:r>
            <a:endParaRPr lang="en-IE" sz="2800" dirty="0" smtClean="0">
              <a:latin typeface="MinionPro-Regular"/>
            </a:endParaRPr>
          </a:p>
          <a:p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This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tells the server to send a definition of the word </a:t>
            </a:r>
            <a:r>
              <a:rPr lang="en-IE" sz="2800" i="1" dirty="0">
                <a:latin typeface="MinionPro-Italic"/>
              </a:rPr>
              <a:t>gold</a:t>
            </a:r>
            <a:r>
              <a:rPr lang="en-IE" sz="2800" i="1" dirty="0">
                <a:solidFill>
                  <a:srgbClr val="000000"/>
                </a:solidFill>
                <a:latin typeface="MinionPro-Italic"/>
              </a:rPr>
              <a:t> 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using its </a:t>
            </a:r>
            <a:r>
              <a:rPr lang="en-IE" sz="2800" dirty="0">
                <a:latin typeface="MinionPro-Regular"/>
              </a:rPr>
              <a:t>English-to-Latin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 dictionary. </a:t>
            </a:r>
            <a:endParaRPr lang="en-IE" sz="2800" dirty="0" smtClean="0">
              <a:solidFill>
                <a:srgbClr val="000000"/>
              </a:solidFill>
              <a:latin typeface="MinionPro-Regular"/>
            </a:endParaRPr>
          </a:p>
          <a:p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Different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servers have different dictionaries installed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.</a:t>
            </a:r>
            <a:endParaRPr lang="en-IE" sz="2800" dirty="0">
              <a:solidFill>
                <a:srgbClr val="000000"/>
              </a:solidFill>
              <a:latin typeface="MinionPro-Regular"/>
            </a:endParaRPr>
          </a:p>
          <a:p>
            <a:r>
              <a:rPr lang="en-IE" sz="2800" dirty="0">
                <a:solidFill>
                  <a:srgbClr val="000000"/>
                </a:solidFill>
                <a:latin typeface="MinionPro-Regular"/>
              </a:rPr>
              <a:t>After the first definition is received, the client can ask for another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.</a:t>
            </a:r>
          </a:p>
          <a:p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When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it’s done 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it sends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the command “</a:t>
            </a:r>
            <a:r>
              <a:rPr lang="en-IE" sz="2800" dirty="0">
                <a:latin typeface="MinionPro-Regular"/>
              </a:rPr>
              <a:t>quit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”.</a:t>
            </a:r>
            <a:endParaRPr lang="en-IE" sz="2800" dirty="0" smtClean="0"/>
          </a:p>
        </p:txBody>
      </p:sp>
    </p:spTree>
    <p:extLst>
      <p:ext uri="{BB962C8B-B14F-4D97-AF65-F5344CB8AC3E}">
        <p14:creationId xmlns:p14="http://schemas.microsoft.com/office/powerpoint/2010/main" val="184343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411162"/>
          </a:xfrm>
        </p:spPr>
        <p:txBody>
          <a:bodyPr>
            <a:noAutofit/>
          </a:bodyPr>
          <a:lstStyle/>
          <a:p>
            <a:r>
              <a:rPr lang="en-IE" sz="3200" i="1" dirty="0"/>
              <a:t>A network-based English-to-Latin translator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81000"/>
            <a:ext cx="9144000" cy="6400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java.io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.*;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java.net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.*;</a:t>
            </a: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DictClient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final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100" b="1" i="1" dirty="0">
                <a:solidFill>
                  <a:srgbClr val="0000C0"/>
                </a:solidFill>
                <a:latin typeface="Consolas"/>
              </a:rPr>
              <a:t>SERVER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i="1" dirty="0">
                <a:solidFill>
                  <a:srgbClr val="2A00FF"/>
                </a:solidFill>
                <a:latin typeface="Consolas"/>
              </a:rPr>
              <a:t>"dict.org</a:t>
            </a:r>
            <a:r>
              <a:rPr lang="en-IE" sz="1100" b="1" i="1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final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i="1" dirty="0">
                <a:solidFill>
                  <a:srgbClr val="0000C0"/>
                </a:solidFill>
                <a:latin typeface="Consolas"/>
              </a:rPr>
              <a:t>PORT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 2628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; </a:t>
            </a: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final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 smtClean="0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i="1" dirty="0" smtClean="0">
                <a:solidFill>
                  <a:srgbClr val="0000C0"/>
                </a:solidFill>
                <a:latin typeface="Consolas"/>
              </a:rPr>
              <a:t>TIMEOUT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 = 15000;</a:t>
            </a: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	Socket </a:t>
            </a:r>
            <a:r>
              <a:rPr lang="en-IE" sz="1100" dirty="0" err="1">
                <a:solidFill>
                  <a:srgbClr val="6A3E3E"/>
                </a:solidFill>
                <a:latin typeface="Consolas"/>
              </a:rPr>
              <a:t>socket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null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	try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6A3E3E"/>
                </a:solidFill>
                <a:latin typeface="Consolas"/>
              </a:rPr>
              <a:t>	socket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Socket(</a:t>
            </a:r>
            <a:r>
              <a:rPr lang="en-IE" sz="1100" b="1" dirty="0">
                <a:solidFill>
                  <a:srgbClr val="2A00FF"/>
                </a:solidFill>
                <a:latin typeface="Consolas"/>
              </a:rPr>
              <a:t>"dict.org"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, 2628);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sz="1100" dirty="0" err="1" smtClean="0">
                <a:solidFill>
                  <a:srgbClr val="6A3E3E"/>
                </a:solidFill>
                <a:latin typeface="Consolas"/>
              </a:rPr>
              <a:t>socket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.setSoTimeout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i="1" dirty="0" smtClean="0">
                <a:solidFill>
                  <a:srgbClr val="0000C0"/>
                </a:solidFill>
                <a:latin typeface="Consolas"/>
              </a:rPr>
              <a:t>TIMEOUT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OutputStream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dirty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dirty="0" err="1">
                <a:solidFill>
                  <a:srgbClr val="6A3E3E"/>
                </a:solidFill>
                <a:latin typeface="Consolas"/>
              </a:rPr>
              <a:t>socket</a:t>
            </a:r>
            <a:r>
              <a:rPr lang="en-IE" sz="1100" dirty="0" err="1">
                <a:solidFill>
                  <a:srgbClr val="000000"/>
                </a:solidFill>
                <a:latin typeface="Consolas"/>
              </a:rPr>
              <a:t>.getOutputStream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	Writer </a:t>
            </a:r>
            <a:r>
              <a:rPr lang="en-IE" sz="1100" dirty="0" err="1">
                <a:solidFill>
                  <a:srgbClr val="6A3E3E"/>
                </a:solidFill>
                <a:latin typeface="Consolas"/>
              </a:rPr>
              <a:t>writer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OutputStreamWriter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6A3E3E"/>
                </a:solidFill>
                <a:latin typeface="Consolas"/>
              </a:rPr>
              <a:t>	writer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BufferedWriter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writer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InputStream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dirty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dirty="0" err="1">
                <a:solidFill>
                  <a:srgbClr val="6A3E3E"/>
                </a:solidFill>
                <a:latin typeface="Consolas"/>
              </a:rPr>
              <a:t>socket</a:t>
            </a:r>
            <a:r>
              <a:rPr lang="en-IE" sz="1100" dirty="0" err="1">
                <a:solidFill>
                  <a:srgbClr val="000000"/>
                </a:solidFill>
                <a:latin typeface="Consolas"/>
              </a:rPr>
              <a:t>.getInputStream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BufferedReader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dirty="0">
                <a:solidFill>
                  <a:srgbClr val="6A3E3E"/>
                </a:solidFill>
                <a:latin typeface="Consolas"/>
              </a:rPr>
              <a:t>reader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BufferedReader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InputStreamReader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	for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(String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word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100" i="1" dirty="0" smtClean="0">
                <a:solidFill>
                  <a:srgbClr val="000000"/>
                </a:solidFill>
                <a:latin typeface="Consolas"/>
              </a:rPr>
              <a:t>		define(</a:t>
            </a:r>
            <a:r>
              <a:rPr lang="en-IE" sz="1100" i="1" dirty="0" smtClean="0">
                <a:solidFill>
                  <a:srgbClr val="6A3E3E"/>
                </a:solidFill>
                <a:latin typeface="Consolas"/>
              </a:rPr>
              <a:t>word</a:t>
            </a:r>
            <a:r>
              <a:rPr lang="en-IE" sz="1100" i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100" i="1" dirty="0">
                <a:solidFill>
                  <a:srgbClr val="6A3E3E"/>
                </a:solidFill>
                <a:latin typeface="Consolas"/>
              </a:rPr>
              <a:t>writer</a:t>
            </a:r>
            <a:r>
              <a:rPr lang="en-IE" sz="1100" i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100" i="1" dirty="0">
                <a:solidFill>
                  <a:srgbClr val="6A3E3E"/>
                </a:solidFill>
                <a:latin typeface="Consolas"/>
              </a:rPr>
              <a:t>reader</a:t>
            </a:r>
            <a:r>
              <a:rPr lang="en-IE" sz="1100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	}</a:t>
            </a:r>
            <a:endParaRPr lang="en-IE" sz="11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100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sz="1100" dirty="0" err="1" smtClean="0">
                <a:solidFill>
                  <a:srgbClr val="6A3E3E"/>
                </a:solidFill>
                <a:latin typeface="Consolas"/>
              </a:rPr>
              <a:t>writer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.write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dirty="0">
                <a:solidFill>
                  <a:srgbClr val="2A00FF"/>
                </a:solidFill>
                <a:latin typeface="Consolas"/>
              </a:rPr>
              <a:t>"quit\r\n"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sz="1100" dirty="0" err="1" smtClean="0">
                <a:solidFill>
                  <a:srgbClr val="6A3E3E"/>
                </a:solidFill>
                <a:latin typeface="Consolas"/>
              </a:rPr>
              <a:t>writer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.flush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100" dirty="0">
                <a:solidFill>
                  <a:srgbClr val="000000"/>
                </a:solidFill>
                <a:latin typeface="Consolas"/>
              </a:rPr>
              <a:t>}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100" b="1" i="1" dirty="0" err="1" smtClean="0">
                <a:solidFill>
                  <a:srgbClr val="0000C0"/>
                </a:solidFill>
                <a:latin typeface="Consolas"/>
              </a:rPr>
              <a:t>err</a:t>
            </a:r>
            <a:r>
              <a:rPr lang="en-IE" sz="11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i="1" dirty="0" smtClean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100" dirty="0">
                <a:solidFill>
                  <a:srgbClr val="000000"/>
                </a:solidFill>
                <a:latin typeface="Consolas"/>
              </a:rPr>
              <a:t>}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finally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{ 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socket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null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{ 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{ </a:t>
            </a:r>
            <a:r>
              <a:rPr lang="en-IE" sz="1100" dirty="0" err="1" smtClean="0">
                <a:solidFill>
                  <a:srgbClr val="6A3E3E"/>
                </a:solidFill>
                <a:latin typeface="Consolas"/>
              </a:rPr>
              <a:t>socket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.close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(); }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}}}}</a:t>
            </a:r>
            <a:endParaRPr lang="en-IE" sz="1100" b="1" dirty="0" smtClean="0">
              <a:solidFill>
                <a:srgbClr val="7F0055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define(String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word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, Writer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writer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BufferedReader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reader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UnsupportedEncodingException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sz="1100" dirty="0" err="1" smtClean="0">
                <a:solidFill>
                  <a:srgbClr val="6A3E3E"/>
                </a:solidFill>
                <a:latin typeface="Consolas"/>
              </a:rPr>
              <a:t>writer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.write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dirty="0">
                <a:solidFill>
                  <a:srgbClr val="2A00FF"/>
                </a:solidFill>
                <a:latin typeface="Consolas"/>
              </a:rPr>
              <a:t>"DEFINE </a:t>
            </a:r>
            <a:r>
              <a:rPr lang="en-IE" sz="1100" dirty="0" err="1">
                <a:solidFill>
                  <a:srgbClr val="2A00FF"/>
                </a:solidFill>
                <a:latin typeface="Consolas"/>
              </a:rPr>
              <a:t>fd-eng-lat</a:t>
            </a:r>
            <a:r>
              <a:rPr lang="en-IE" sz="1100" dirty="0">
                <a:solidFill>
                  <a:srgbClr val="2A00FF"/>
                </a:solidFill>
                <a:latin typeface="Consolas"/>
              </a:rPr>
              <a:t> "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100" dirty="0">
                <a:solidFill>
                  <a:srgbClr val="6A3E3E"/>
                </a:solidFill>
                <a:latin typeface="Consolas"/>
              </a:rPr>
              <a:t>word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100" dirty="0">
                <a:solidFill>
                  <a:srgbClr val="2A00FF"/>
                </a:solidFill>
                <a:latin typeface="Consolas"/>
              </a:rPr>
              <a:t>"\r\n</a:t>
            </a:r>
            <a:r>
              <a:rPr lang="en-IE" sz="1100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IE" sz="1100" dirty="0" err="1" smtClean="0">
                <a:solidFill>
                  <a:srgbClr val="6A3E3E"/>
                </a:solidFill>
                <a:latin typeface="Consolas"/>
              </a:rPr>
              <a:t>writer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.flush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	for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(String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reader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.readLine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();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null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reader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.readLine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()) {</a:t>
            </a: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	if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.startsWith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>
                <a:solidFill>
                  <a:srgbClr val="2A00FF"/>
                </a:solidFill>
                <a:latin typeface="Consolas"/>
              </a:rPr>
              <a:t>"250 "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)) { </a:t>
            </a:r>
            <a:r>
              <a:rPr lang="en-IE" sz="1100" b="1" dirty="0">
                <a:solidFill>
                  <a:srgbClr val="3F7F5F"/>
                </a:solidFill>
                <a:latin typeface="Consolas"/>
              </a:rPr>
              <a:t>// </a:t>
            </a:r>
            <a:r>
              <a:rPr lang="en-IE" sz="1100" b="1" dirty="0" err="1" smtClean="0">
                <a:solidFill>
                  <a:srgbClr val="3F7F5F"/>
                </a:solidFill>
                <a:latin typeface="Consolas"/>
              </a:rPr>
              <a:t>OK</a:t>
            </a:r>
            <a:r>
              <a:rPr lang="en-IE" sz="1100" b="1" dirty="0" err="1" smtClean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;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} </a:t>
            </a:r>
          </a:p>
          <a:p>
            <a:pPr marL="0" indent="0">
              <a:buNone/>
            </a:pPr>
            <a:r>
              <a:rPr lang="en-IE" sz="1100" b="1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else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.startsWith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>
                <a:solidFill>
                  <a:srgbClr val="2A00FF"/>
                </a:solidFill>
                <a:latin typeface="Consolas"/>
              </a:rPr>
              <a:t>"552 "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)) 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{ </a:t>
            </a:r>
            <a:r>
              <a:rPr lang="en-IE" sz="11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100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1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i="1" dirty="0">
                <a:solidFill>
                  <a:srgbClr val="2A00FF"/>
                </a:solidFill>
                <a:latin typeface="Consolas"/>
              </a:rPr>
              <a:t>"No definition found for "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100" b="1" i="1" dirty="0">
                <a:solidFill>
                  <a:srgbClr val="6A3E3E"/>
                </a:solidFill>
                <a:latin typeface="Consolas"/>
              </a:rPr>
              <a:t>word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	return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	} 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else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.matches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dirty="0">
                <a:solidFill>
                  <a:srgbClr val="2A00FF"/>
                </a:solidFill>
                <a:latin typeface="Consolas"/>
              </a:rPr>
              <a:t>"\\d\\d\\d .*"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continue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100" b="1" dirty="0" smtClean="0">
                <a:solidFill>
                  <a:srgbClr val="7F0055"/>
                </a:solidFill>
                <a:latin typeface="Consolas"/>
              </a:rPr>
              <a:t>else</a:t>
            </a:r>
            <a:r>
              <a:rPr lang="en-IE" sz="11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.trim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().equals(</a:t>
            </a:r>
            <a:r>
              <a:rPr lang="en-IE" sz="1100" b="1" dirty="0">
                <a:solidFill>
                  <a:srgbClr val="2A00FF"/>
                </a:solidFill>
                <a:latin typeface="Consolas"/>
              </a:rPr>
              <a:t>"."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continue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1100" b="1" dirty="0">
                <a:solidFill>
                  <a:srgbClr val="7F0055"/>
                </a:solidFill>
                <a:latin typeface="Consolas"/>
              </a:rPr>
              <a:t>else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1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i="1" dirty="0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);</a:t>
            </a:r>
            <a:r>
              <a:rPr lang="en-IE" sz="1100" dirty="0" smtClean="0">
                <a:solidFill>
                  <a:srgbClr val="000000"/>
                </a:solidFill>
                <a:latin typeface="Consolas"/>
              </a:rPr>
              <a:t>}}}</a:t>
            </a:r>
            <a:endParaRPr lang="en-IE" sz="1100" dirty="0" smtClean="0"/>
          </a:p>
        </p:txBody>
      </p:sp>
    </p:spTree>
    <p:extLst>
      <p:ext uri="{BB962C8B-B14F-4D97-AF65-F5344CB8AC3E}">
        <p14:creationId xmlns:p14="http://schemas.microsoft.com/office/powerpoint/2010/main" val="282833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IE" dirty="0" smtClean="0"/>
              <a:t>Half Closed Sockets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20000"/>
          </a:bodyPr>
          <a:lstStyle/>
          <a:p>
            <a:r>
              <a:rPr lang="en-IE" sz="2800" dirty="0"/>
              <a:t>The close() method shuts down both input and output from the socket. </a:t>
            </a:r>
            <a:endParaRPr lang="en-IE" sz="2800" dirty="0" smtClean="0"/>
          </a:p>
          <a:p>
            <a:r>
              <a:rPr lang="en-IE" sz="2800" dirty="0" smtClean="0"/>
              <a:t>On </a:t>
            </a:r>
            <a:r>
              <a:rPr lang="en-IE" sz="2800" dirty="0"/>
              <a:t>occasion</a:t>
            </a:r>
            <a:r>
              <a:rPr lang="en-IE" sz="2800" dirty="0" smtClean="0"/>
              <a:t>, you </a:t>
            </a:r>
            <a:r>
              <a:rPr lang="en-IE" sz="2800" dirty="0"/>
              <a:t>may want to shut down only half of the connection, either input or output. </a:t>
            </a:r>
            <a:endParaRPr lang="en-IE" sz="2800" dirty="0" smtClean="0"/>
          </a:p>
          <a:p>
            <a:r>
              <a:rPr lang="en-IE" sz="2800" dirty="0" smtClean="0"/>
              <a:t>The </a:t>
            </a:r>
            <a:r>
              <a:rPr lang="en-IE" sz="2800" dirty="0" err="1" smtClean="0">
                <a:solidFill>
                  <a:schemeClr val="tx2"/>
                </a:solidFill>
              </a:rPr>
              <a:t>shutdownInput</a:t>
            </a:r>
            <a:r>
              <a:rPr lang="en-IE" sz="2800" dirty="0"/>
              <a:t>() and </a:t>
            </a:r>
            <a:r>
              <a:rPr lang="en-IE" sz="2800" dirty="0" err="1">
                <a:solidFill>
                  <a:schemeClr val="tx2"/>
                </a:solidFill>
              </a:rPr>
              <a:t>shutdownOutput</a:t>
            </a:r>
            <a:r>
              <a:rPr lang="en-IE" sz="2800" dirty="0"/>
              <a:t>() methods close only half the connection</a:t>
            </a:r>
            <a:r>
              <a:rPr lang="en-IE" sz="2800" dirty="0" smtClean="0"/>
              <a:t>:</a:t>
            </a:r>
          </a:p>
          <a:p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2800" b="1" dirty="0">
                <a:solidFill>
                  <a:srgbClr val="007789"/>
                </a:solidFill>
                <a:latin typeface="UbuntuMono-Bold"/>
              </a:rPr>
              <a:t>void </a:t>
            </a:r>
            <a:r>
              <a:rPr lang="en-IE" sz="2800" dirty="0" err="1">
                <a:solidFill>
                  <a:srgbClr val="CD00FF"/>
                </a:solidFill>
                <a:latin typeface="UbuntuMono-Regular"/>
              </a:rPr>
              <a:t>shutdownInput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IOException</a:t>
            </a:r>
            <a:endParaRPr lang="en-IE" sz="2800" dirty="0">
              <a:solidFill>
                <a:srgbClr val="000089"/>
              </a:solidFill>
              <a:latin typeface="UbuntuMono-Regular"/>
            </a:endParaRPr>
          </a:p>
          <a:p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2800" b="1" dirty="0">
                <a:solidFill>
                  <a:srgbClr val="007789"/>
                </a:solidFill>
                <a:latin typeface="UbuntuMono-Bold"/>
              </a:rPr>
              <a:t>void </a:t>
            </a:r>
            <a:r>
              <a:rPr lang="en-IE" sz="2800" dirty="0" err="1">
                <a:solidFill>
                  <a:srgbClr val="CD00FF"/>
                </a:solidFill>
                <a:latin typeface="UbuntuMono-Regular"/>
              </a:rPr>
              <a:t>shutdownOutput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sz="2800" dirty="0" err="1" smtClean="0">
                <a:solidFill>
                  <a:srgbClr val="000089"/>
                </a:solidFill>
                <a:latin typeface="UbuntuMono-Regular"/>
              </a:rPr>
              <a:t>IOException</a:t>
            </a:r>
            <a:endParaRPr lang="en-IE" sz="2800" dirty="0" smtClean="0">
              <a:solidFill>
                <a:srgbClr val="000089"/>
              </a:solidFill>
              <a:latin typeface="UbuntuMono-Regular"/>
            </a:endParaRPr>
          </a:p>
          <a:p>
            <a:r>
              <a:rPr lang="en-IE" sz="2800" dirty="0"/>
              <a:t>Neither actually closes the socket. Instead, they adjust the stream connected to the </a:t>
            </a:r>
            <a:r>
              <a:rPr lang="en-IE" sz="2800" dirty="0" smtClean="0"/>
              <a:t>socket so </a:t>
            </a:r>
            <a:r>
              <a:rPr lang="en-IE" sz="2800" dirty="0"/>
              <a:t>that it thinks it’s at the end of the stream. </a:t>
            </a:r>
            <a:endParaRPr lang="en-IE" sz="2800" dirty="0" smtClean="0"/>
          </a:p>
          <a:p>
            <a:r>
              <a:rPr lang="en-IE" sz="2800" dirty="0" smtClean="0"/>
              <a:t>Further </a:t>
            </a:r>
            <a:r>
              <a:rPr lang="en-IE" sz="2800" dirty="0"/>
              <a:t>reads from the input stream </a:t>
            </a:r>
            <a:r>
              <a:rPr lang="en-IE" sz="2800" dirty="0" smtClean="0"/>
              <a:t>after shutting </a:t>
            </a:r>
            <a:r>
              <a:rPr lang="en-IE" sz="2800" dirty="0"/>
              <a:t>down input return –1. </a:t>
            </a:r>
            <a:endParaRPr lang="en-IE" sz="2800" dirty="0" smtClean="0"/>
          </a:p>
          <a:p>
            <a:r>
              <a:rPr lang="en-IE" sz="2800" dirty="0" smtClean="0"/>
              <a:t>Further </a:t>
            </a:r>
            <a:r>
              <a:rPr lang="en-IE" sz="2800" dirty="0"/>
              <a:t>writes to the socket after shutting down </a:t>
            </a:r>
            <a:r>
              <a:rPr lang="en-IE" sz="2800" dirty="0" smtClean="0"/>
              <a:t>output throw </a:t>
            </a:r>
            <a:r>
              <a:rPr lang="en-IE" sz="2800" dirty="0"/>
              <a:t>an </a:t>
            </a:r>
            <a:r>
              <a:rPr lang="en-IE" sz="2800" dirty="0" err="1"/>
              <a:t>IOException</a:t>
            </a:r>
            <a:r>
              <a:rPr lang="en-IE" sz="2800" dirty="0"/>
              <a:t>.</a:t>
            </a:r>
            <a:endParaRPr lang="en-IE" sz="2800" dirty="0" smtClean="0"/>
          </a:p>
        </p:txBody>
      </p:sp>
    </p:spTree>
    <p:extLst>
      <p:ext uri="{BB962C8B-B14F-4D97-AF65-F5344CB8AC3E}">
        <p14:creationId xmlns:p14="http://schemas.microsoft.com/office/powerpoint/2010/main" val="229114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IE" dirty="0" smtClean="0"/>
              <a:t>Half Closed Sockets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77500" lnSpcReduction="20000"/>
          </a:bodyPr>
          <a:lstStyle/>
          <a:p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Socket connection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CD3300"/>
                </a:solidFill>
                <a:latin typeface="UbuntuMono-Regular"/>
              </a:rPr>
              <a:t>"www.oreilly.com"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800" dirty="0">
                <a:solidFill>
                  <a:srgbClr val="FF6600"/>
                </a:solidFill>
                <a:latin typeface="UbuntuMono-Regular"/>
              </a:rPr>
              <a:t>80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)) {</a:t>
            </a:r>
          </a:p>
          <a:p>
            <a:r>
              <a:rPr lang="en-IE" sz="2800" dirty="0">
                <a:solidFill>
                  <a:srgbClr val="000089"/>
                </a:solidFill>
                <a:latin typeface="UbuntuMono-Regular"/>
              </a:rPr>
              <a:t>Writer out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OutputStreamWriter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connection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getOutputStream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(), </a:t>
            </a:r>
            <a:r>
              <a:rPr lang="en-IE" sz="2800" dirty="0">
                <a:solidFill>
                  <a:srgbClr val="CD3300"/>
                </a:solidFill>
                <a:latin typeface="UbuntuMono-Regular"/>
              </a:rPr>
              <a:t>"8859_1"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out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write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>
                <a:solidFill>
                  <a:srgbClr val="CD3300"/>
                </a:solidFill>
                <a:latin typeface="UbuntuMono-Regular"/>
              </a:rPr>
              <a:t>"GET / HTTP 1.0\r\n\r\n"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out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flush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r>
              <a:rPr lang="en-IE" sz="2800" b="1" dirty="0" err="1">
                <a:solidFill>
                  <a:srgbClr val="000089"/>
                </a:solidFill>
                <a:latin typeface="UbuntuMono-Bold"/>
              </a:rPr>
              <a:t>connection</a:t>
            </a:r>
            <a:r>
              <a:rPr lang="en-IE" sz="2800" b="1" dirty="0" err="1">
                <a:solidFill>
                  <a:srgbClr val="555555"/>
                </a:solidFill>
                <a:latin typeface="UbuntuMono-Bold"/>
              </a:rPr>
              <a:t>.</a:t>
            </a:r>
            <a:r>
              <a:rPr lang="en-IE" sz="2800" b="1" dirty="0" err="1">
                <a:solidFill>
                  <a:srgbClr val="33009A"/>
                </a:solidFill>
                <a:latin typeface="UbuntuMono-Bold"/>
              </a:rPr>
              <a:t>shutdownOutput</a:t>
            </a:r>
            <a:r>
              <a:rPr lang="en-IE" sz="2800" b="1" dirty="0">
                <a:solidFill>
                  <a:srgbClr val="555555"/>
                </a:solidFill>
                <a:latin typeface="UbuntuMono-Bold"/>
              </a:rPr>
              <a:t>();</a:t>
            </a:r>
          </a:p>
          <a:p>
            <a:r>
              <a:rPr lang="en-IE" sz="2800" i="1" dirty="0">
                <a:solidFill>
                  <a:srgbClr val="35586C"/>
                </a:solidFill>
                <a:latin typeface="UbuntuMono-Italic"/>
              </a:rPr>
              <a:t>// read the response...</a:t>
            </a:r>
          </a:p>
          <a:p>
            <a:r>
              <a:rPr lang="en-IE" sz="2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28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28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r>
              <a:rPr lang="en-IE" sz="2800" dirty="0" err="1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2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800" dirty="0" err="1">
                <a:solidFill>
                  <a:srgbClr val="33009A"/>
                </a:solidFill>
                <a:latin typeface="UbuntuMono-Regular"/>
              </a:rPr>
              <a:t>printStackTrace</a:t>
            </a:r>
            <a:r>
              <a:rPr lang="en-IE" sz="2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r>
              <a:rPr lang="en-IE" sz="2800" dirty="0" smtClean="0">
                <a:solidFill>
                  <a:srgbClr val="555555"/>
                </a:solidFill>
                <a:latin typeface="UbuntuMono-Regular"/>
              </a:rPr>
              <a:t>}</a:t>
            </a:r>
            <a:r>
              <a:rPr lang="en-IE" sz="2800" dirty="0"/>
              <a:t> </a:t>
            </a:r>
            <a:endParaRPr lang="en-IE" sz="2800" dirty="0" smtClean="0"/>
          </a:p>
          <a:p>
            <a:r>
              <a:rPr lang="en-IE" sz="2800" dirty="0" smtClean="0"/>
              <a:t>We still </a:t>
            </a:r>
            <a:r>
              <a:rPr lang="en-IE" sz="2800" dirty="0"/>
              <a:t>need to close the socket when </a:t>
            </a:r>
            <a:r>
              <a:rPr lang="en-IE" sz="2800" dirty="0" smtClean="0"/>
              <a:t>we’re </a:t>
            </a:r>
            <a:r>
              <a:rPr lang="en-IE" sz="2800" dirty="0"/>
              <a:t>through with it. </a:t>
            </a:r>
            <a:endParaRPr lang="en-IE" sz="2800" dirty="0" smtClean="0"/>
          </a:p>
          <a:p>
            <a:r>
              <a:rPr lang="en-IE" sz="2800" dirty="0" smtClean="0"/>
              <a:t>The </a:t>
            </a:r>
            <a:r>
              <a:rPr lang="en-IE" sz="2800" dirty="0"/>
              <a:t>shutdown methods </a:t>
            </a:r>
            <a:r>
              <a:rPr lang="en-IE" sz="2800" dirty="0" smtClean="0"/>
              <a:t>simply affect </a:t>
            </a:r>
            <a:r>
              <a:rPr lang="en-IE" sz="2800" dirty="0"/>
              <a:t>the socket’s streams. </a:t>
            </a:r>
            <a:endParaRPr lang="en-IE" sz="2800" dirty="0" smtClean="0"/>
          </a:p>
          <a:p>
            <a:r>
              <a:rPr lang="en-IE" sz="2800" dirty="0" smtClean="0"/>
              <a:t>They </a:t>
            </a:r>
            <a:r>
              <a:rPr lang="en-IE" sz="2800" dirty="0"/>
              <a:t>don’t release the resources associated with the socket</a:t>
            </a:r>
            <a:r>
              <a:rPr lang="en-IE" sz="2800" dirty="0" smtClean="0"/>
              <a:t>, such </a:t>
            </a:r>
            <a:r>
              <a:rPr lang="en-IE" sz="2800" dirty="0"/>
              <a:t>as the port it occupies</a:t>
            </a:r>
            <a:r>
              <a:rPr lang="en-IE" sz="2800" dirty="0" smtClean="0"/>
              <a:t>. </a:t>
            </a:r>
            <a:endParaRPr lang="en-IE" sz="2800" dirty="0"/>
          </a:p>
          <a:p>
            <a:r>
              <a:rPr lang="en-IE" sz="2800" dirty="0"/>
              <a:t>The </a:t>
            </a:r>
            <a:r>
              <a:rPr lang="en-IE" sz="2800" dirty="0" err="1">
                <a:solidFill>
                  <a:schemeClr val="tx2"/>
                </a:solidFill>
              </a:rPr>
              <a:t>isInputShutdown</a:t>
            </a:r>
            <a:r>
              <a:rPr lang="en-IE" sz="2800" dirty="0"/>
              <a:t>() and </a:t>
            </a:r>
            <a:r>
              <a:rPr lang="en-IE" sz="2800" dirty="0" err="1">
                <a:solidFill>
                  <a:schemeClr val="tx2"/>
                </a:solidFill>
              </a:rPr>
              <a:t>isOutputShutdown</a:t>
            </a:r>
            <a:r>
              <a:rPr lang="en-IE" sz="2800" dirty="0"/>
              <a:t>() methods tell you whether the </a:t>
            </a:r>
            <a:r>
              <a:rPr lang="en-IE" sz="2800" dirty="0" smtClean="0"/>
              <a:t>input and </a:t>
            </a:r>
            <a:r>
              <a:rPr lang="en-IE" sz="2800" dirty="0"/>
              <a:t>output streams are open or closed, respectively. </a:t>
            </a:r>
            <a:endParaRPr lang="en-IE" sz="2800" dirty="0" smtClean="0"/>
          </a:p>
        </p:txBody>
      </p:sp>
    </p:spTree>
    <p:extLst>
      <p:ext uri="{BB962C8B-B14F-4D97-AF65-F5344CB8AC3E}">
        <p14:creationId xmlns:p14="http://schemas.microsoft.com/office/powerpoint/2010/main" val="259965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IE" dirty="0"/>
              <a:t>Constructing and Connecting Sockets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/>
          </a:bodyPr>
          <a:lstStyle/>
          <a:p>
            <a:r>
              <a:rPr lang="en-IE" sz="2800" dirty="0"/>
              <a:t>Each Socket constructor specifies the host and the port to connect to. </a:t>
            </a:r>
            <a:endParaRPr lang="en-IE" sz="2800" dirty="0" smtClean="0"/>
          </a:p>
          <a:p>
            <a:r>
              <a:rPr lang="en-IE" sz="2800" dirty="0" smtClean="0"/>
              <a:t>Hosts </a:t>
            </a:r>
            <a:r>
              <a:rPr lang="en-IE" sz="2800" dirty="0"/>
              <a:t>may </a:t>
            </a:r>
            <a:r>
              <a:rPr lang="en-IE" sz="2800" dirty="0" smtClean="0"/>
              <a:t>be specified </a:t>
            </a:r>
            <a:r>
              <a:rPr lang="en-IE" sz="2800" dirty="0"/>
              <a:t>as an </a:t>
            </a:r>
            <a:r>
              <a:rPr lang="en-IE" sz="2800" dirty="0" err="1"/>
              <a:t>InetAddress</a:t>
            </a:r>
            <a:r>
              <a:rPr lang="en-IE" sz="2800" dirty="0"/>
              <a:t> or a String. </a:t>
            </a:r>
            <a:r>
              <a:rPr lang="en-IE" sz="2800" dirty="0" smtClean="0"/>
              <a:t>Remote </a:t>
            </a:r>
            <a:r>
              <a:rPr lang="en-IE" sz="2800" dirty="0"/>
              <a:t>ports are specified as </a:t>
            </a:r>
            <a:r>
              <a:rPr lang="en-IE" sz="2800" dirty="0" err="1"/>
              <a:t>int</a:t>
            </a:r>
            <a:r>
              <a:rPr lang="en-IE" sz="2800" dirty="0"/>
              <a:t> values </a:t>
            </a:r>
            <a:r>
              <a:rPr lang="en-IE" sz="2800" dirty="0" smtClean="0"/>
              <a:t>from 1 </a:t>
            </a:r>
            <a:r>
              <a:rPr lang="en-IE" sz="2800" dirty="0"/>
              <a:t>to 65535</a:t>
            </a:r>
            <a:r>
              <a:rPr lang="en-IE" sz="2800" dirty="0" smtClean="0"/>
              <a:t>:</a:t>
            </a:r>
          </a:p>
          <a:p>
            <a:r>
              <a:rPr lang="en-US" sz="2800" dirty="0" smtClean="0"/>
              <a:t>Constructors of </a:t>
            </a:r>
            <a:r>
              <a:rPr lang="en-IE" sz="2800" dirty="0" err="1"/>
              <a:t>java.net.Socket</a:t>
            </a:r>
            <a:r>
              <a:rPr lang="en-IE" sz="2800" dirty="0"/>
              <a:t> class</a:t>
            </a:r>
            <a:r>
              <a:rPr lang="en-US" sz="2800" dirty="0" smtClean="0"/>
              <a:t>:</a:t>
            </a:r>
            <a:endParaRPr lang="en-IE" sz="2800" dirty="0" smtClean="0"/>
          </a:p>
          <a:p>
            <a:pPr lvl="1"/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2400" dirty="0">
                <a:solidFill>
                  <a:srgbClr val="CD00FF"/>
                </a:solidFill>
                <a:latin typeface="UbuntuMono-Regular"/>
              </a:rPr>
              <a:t>Socket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String host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4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24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port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UnknownHostException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IOException</a:t>
            </a:r>
            <a:endParaRPr lang="en-IE" sz="2400" dirty="0">
              <a:solidFill>
                <a:srgbClr val="000089"/>
              </a:solidFill>
              <a:latin typeface="UbuntuMono-Regular"/>
            </a:endParaRPr>
          </a:p>
          <a:p>
            <a:pPr lvl="1"/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2400" dirty="0">
                <a:solidFill>
                  <a:srgbClr val="CD00FF"/>
                </a:solidFill>
                <a:latin typeface="UbuntuMono-Regular"/>
              </a:rPr>
              <a:t>Socket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 host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4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24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port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sz="2400" dirty="0" err="1" smtClean="0">
                <a:solidFill>
                  <a:srgbClr val="000089"/>
                </a:solidFill>
                <a:latin typeface="UbuntuMono-Regular"/>
              </a:rPr>
              <a:t>IOException</a:t>
            </a:r>
            <a:endParaRPr lang="en-IE" sz="2400" dirty="0" smtClean="0">
              <a:solidFill>
                <a:srgbClr val="000089"/>
              </a:solidFill>
              <a:latin typeface="UbuntuMono-Regular"/>
            </a:endParaRPr>
          </a:p>
          <a:p>
            <a:pPr lvl="1"/>
            <a:r>
              <a:rPr lang="en-IE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dirty="0">
                <a:solidFill>
                  <a:srgbClr val="CD00FF"/>
                </a:solidFill>
                <a:latin typeface="UbuntuMono-Regular"/>
              </a:rPr>
              <a:t>Socket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dirty="0">
                <a:solidFill>
                  <a:srgbClr val="000089"/>
                </a:solidFill>
                <a:latin typeface="UbuntuMono-Regular"/>
              </a:rPr>
              <a:t>String host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dirty="0">
                <a:solidFill>
                  <a:srgbClr val="000089"/>
                </a:solidFill>
                <a:latin typeface="UbuntuMono-Regular"/>
              </a:rPr>
              <a:t>port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dirty="0">
                <a:solidFill>
                  <a:srgbClr val="000089"/>
                </a:solidFill>
                <a:latin typeface="UbuntuMono-Regular"/>
              </a:rPr>
              <a:t> interface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dirty="0" err="1" smtClean="0">
                <a:solidFill>
                  <a:srgbClr val="000089"/>
                </a:solidFill>
                <a:latin typeface="UbuntuMono-Regular"/>
              </a:rPr>
              <a:t>localPort</a:t>
            </a:r>
            <a:r>
              <a:rPr lang="en-IE" dirty="0" smtClean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b="1" dirty="0" smtClean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dirty="0" err="1">
                <a:solidFill>
                  <a:srgbClr val="000089"/>
                </a:solidFill>
                <a:latin typeface="UbuntuMono-Regular"/>
              </a:rPr>
              <a:t>UnknownHostException</a:t>
            </a:r>
            <a:endParaRPr lang="en-IE" dirty="0">
              <a:solidFill>
                <a:srgbClr val="000089"/>
              </a:solidFill>
              <a:latin typeface="UbuntuMono-Regular"/>
            </a:endParaRPr>
          </a:p>
          <a:p>
            <a:pPr lvl="1"/>
            <a:r>
              <a:rPr lang="en-IE" b="1" dirty="0" smtClean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dirty="0">
                <a:solidFill>
                  <a:srgbClr val="CD00FF"/>
                </a:solidFill>
                <a:latin typeface="UbuntuMono-Regular"/>
              </a:rPr>
              <a:t>Socket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dirty="0">
                <a:solidFill>
                  <a:srgbClr val="000089"/>
                </a:solidFill>
                <a:latin typeface="UbuntuMono-Regular"/>
              </a:rPr>
              <a:t> host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dirty="0">
                <a:solidFill>
                  <a:srgbClr val="000089"/>
                </a:solidFill>
                <a:latin typeface="UbuntuMono-Regular"/>
              </a:rPr>
              <a:t>port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dirty="0">
                <a:solidFill>
                  <a:srgbClr val="000089"/>
                </a:solidFill>
                <a:latin typeface="UbuntuMono-Regular"/>
              </a:rPr>
              <a:t> interface</a:t>
            </a:r>
            <a:r>
              <a:rPr lang="en-IE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dirty="0" err="1">
                <a:solidFill>
                  <a:srgbClr val="000089"/>
                </a:solidFill>
                <a:latin typeface="UbuntuMono-Regular"/>
              </a:rPr>
              <a:t>localPort</a:t>
            </a:r>
            <a:r>
              <a:rPr lang="en-IE" dirty="0" smtClean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b="1" dirty="0" smtClean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dirty="0" err="1" smtClean="0">
                <a:solidFill>
                  <a:srgbClr val="000089"/>
                </a:solidFill>
                <a:latin typeface="UbuntuMono-Regular"/>
              </a:rPr>
              <a:t>IOException</a:t>
            </a:r>
            <a:endParaRPr lang="en-IE" sz="8400" dirty="0" smtClean="0"/>
          </a:p>
        </p:txBody>
      </p:sp>
    </p:spTree>
    <p:extLst>
      <p:ext uri="{BB962C8B-B14F-4D97-AF65-F5344CB8AC3E}">
        <p14:creationId xmlns:p14="http://schemas.microsoft.com/office/powerpoint/2010/main" val="10162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92162"/>
          </a:xfrm>
        </p:spPr>
        <p:txBody>
          <a:bodyPr>
            <a:noAutofit/>
          </a:bodyPr>
          <a:lstStyle/>
          <a:p>
            <a:r>
              <a:rPr lang="en-IE" sz="3200" i="1" dirty="0"/>
              <a:t>Find out which of the first 1024 ports seem to be hosting TCP servers on </a:t>
            </a:r>
            <a:r>
              <a:rPr lang="en-IE" sz="3200" i="1" dirty="0" smtClean="0"/>
              <a:t>a specified </a:t>
            </a:r>
            <a:r>
              <a:rPr lang="en-IE" sz="3200" i="1" dirty="0"/>
              <a:t>host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2400" b="1" dirty="0">
                <a:solidFill>
                  <a:srgbClr val="00CDFF"/>
                </a:solidFill>
                <a:latin typeface="UbuntuMono-Bold"/>
              </a:rPr>
              <a:t>java.net.*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2400" b="1" dirty="0">
                <a:solidFill>
                  <a:srgbClr val="00CDFF"/>
                </a:solidFill>
                <a:latin typeface="UbuntuMono-Bold"/>
              </a:rPr>
              <a:t>java.io.*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public class </a:t>
            </a:r>
            <a:r>
              <a:rPr lang="en-IE" sz="2400" b="1" dirty="0" err="1">
                <a:solidFill>
                  <a:srgbClr val="00AB89"/>
                </a:solidFill>
                <a:latin typeface="UbuntuMono-Bold"/>
              </a:rPr>
              <a:t>LowPortScanner</a:t>
            </a:r>
            <a:r>
              <a:rPr lang="en-IE" sz="2400" b="1" dirty="0">
                <a:solidFill>
                  <a:srgbClr val="00AB89"/>
                </a:solidFill>
                <a:latin typeface="UbuntuMono-Bold"/>
              </a:rPr>
              <a:t>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public static </a:t>
            </a:r>
            <a:r>
              <a:rPr lang="en-IE" sz="2400" b="1" dirty="0">
                <a:solidFill>
                  <a:srgbClr val="007789"/>
                </a:solidFill>
                <a:latin typeface="UbuntuMono-Bold"/>
              </a:rPr>
              <a:t>void </a:t>
            </a:r>
            <a:r>
              <a:rPr lang="en-IE" sz="2400" dirty="0">
                <a:solidFill>
                  <a:srgbClr val="CD00FF"/>
                </a:solidFill>
                <a:latin typeface="UbuntuMono-Regular"/>
              </a:rPr>
              <a:t>main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String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[] 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String host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length</a:t>
            </a:r>
            <a:r>
              <a:rPr lang="en-IE" sz="2400" dirty="0">
                <a:solidFill>
                  <a:srgbClr val="33009A"/>
                </a:solidFill>
                <a:latin typeface="UbuntuMono-Regular"/>
              </a:rPr>
              <a:t>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&gt; </a:t>
            </a:r>
            <a:r>
              <a:rPr lang="en-IE" sz="2400" dirty="0">
                <a:solidFill>
                  <a:srgbClr val="FF6600"/>
                </a:solidFill>
                <a:latin typeface="UbuntuMono-Regular"/>
              </a:rPr>
              <a:t>0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? 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[</a:t>
            </a:r>
            <a:r>
              <a:rPr lang="en-IE" sz="2400" dirty="0">
                <a:solidFill>
                  <a:srgbClr val="FF6600"/>
                </a:solidFill>
                <a:latin typeface="UbuntuMono-Regular"/>
              </a:rPr>
              <a:t>0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] : </a:t>
            </a:r>
            <a:r>
              <a:rPr lang="en-IE" sz="2400" dirty="0">
                <a:solidFill>
                  <a:srgbClr val="CD3300"/>
                </a:solidFill>
                <a:latin typeface="UbuntuMono-Regular"/>
              </a:rPr>
              <a:t>"localhost"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nn-NO" sz="2400" b="1" dirty="0">
                <a:solidFill>
                  <a:srgbClr val="00669A"/>
                </a:solidFill>
                <a:latin typeface="UbuntuMono-Bold"/>
              </a:rPr>
              <a:t>for </a:t>
            </a:r>
            <a:r>
              <a:rPr lang="nn-NO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nn-NO" sz="2400" b="1" dirty="0">
                <a:solidFill>
                  <a:srgbClr val="007789"/>
                </a:solidFill>
                <a:latin typeface="UbuntuMono-Bold"/>
              </a:rPr>
              <a:t>int </a:t>
            </a:r>
            <a:r>
              <a:rPr lang="nn-NO" sz="2400" dirty="0">
                <a:solidFill>
                  <a:srgbClr val="000089"/>
                </a:solidFill>
                <a:latin typeface="UbuntuMono-Regular"/>
              </a:rPr>
              <a:t>i </a:t>
            </a:r>
            <a:r>
              <a:rPr lang="nn-NO" sz="2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nn-NO" sz="2400" dirty="0">
                <a:solidFill>
                  <a:srgbClr val="FF6600"/>
                </a:solidFill>
                <a:latin typeface="UbuntuMono-Regular"/>
              </a:rPr>
              <a:t>1</a:t>
            </a:r>
            <a:r>
              <a:rPr lang="nn-NO" sz="2400" dirty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nn-NO" sz="2400" dirty="0">
                <a:solidFill>
                  <a:srgbClr val="000089"/>
                </a:solidFill>
                <a:latin typeface="UbuntuMono-Regular"/>
              </a:rPr>
              <a:t>i </a:t>
            </a:r>
            <a:r>
              <a:rPr lang="nn-NO" sz="2400" dirty="0">
                <a:solidFill>
                  <a:srgbClr val="555555"/>
                </a:solidFill>
                <a:latin typeface="UbuntuMono-Regular"/>
              </a:rPr>
              <a:t>&lt; </a:t>
            </a:r>
            <a:r>
              <a:rPr lang="nn-NO" sz="2400" dirty="0">
                <a:solidFill>
                  <a:srgbClr val="FF6600"/>
                </a:solidFill>
                <a:latin typeface="UbuntuMono-Regular"/>
              </a:rPr>
              <a:t>1024</a:t>
            </a:r>
            <a:r>
              <a:rPr lang="nn-NO" sz="2400" dirty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nn-NO" sz="2400" dirty="0">
                <a:solidFill>
                  <a:srgbClr val="000089"/>
                </a:solidFill>
                <a:latin typeface="UbuntuMono-Regular"/>
              </a:rPr>
              <a:t>i</a:t>
            </a:r>
            <a:r>
              <a:rPr lang="nn-NO" sz="2400" dirty="0">
                <a:solidFill>
                  <a:srgbClr val="555555"/>
                </a:solidFill>
                <a:latin typeface="UbuntuMono-Regular"/>
              </a:rPr>
              <a:t>++) {</a:t>
            </a:r>
          </a:p>
          <a:p>
            <a:pPr marL="0" indent="0">
              <a:buNone/>
            </a:pP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Socket s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host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i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out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>
                <a:solidFill>
                  <a:srgbClr val="CD3300"/>
                </a:solidFill>
                <a:latin typeface="UbuntuMono-Regular"/>
              </a:rPr>
              <a:t>"There is a server on port "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i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2400" dirty="0">
                <a:solidFill>
                  <a:srgbClr val="CD3300"/>
                </a:solidFill>
                <a:latin typeface="UbuntuMono-Regular"/>
              </a:rPr>
              <a:t>" of "</a:t>
            </a:r>
          </a:p>
          <a:p>
            <a:pPr marL="0" indent="0">
              <a:buNone/>
            </a:pP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host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s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close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UnknownHostException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break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24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2400" i="1" dirty="0">
                <a:solidFill>
                  <a:srgbClr val="35586C"/>
                </a:solidFill>
                <a:latin typeface="UbuntuMono-Italic"/>
              </a:rPr>
              <a:t>// must not be a server on this port</a:t>
            </a:r>
          </a:p>
          <a:p>
            <a:pPr marL="0" indent="0">
              <a:buNone/>
            </a:pP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pPr marL="0" indent="0">
              <a:buNone/>
            </a:pP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pPr marL="0" indent="0">
              <a:buNone/>
            </a:pP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pPr marL="0" indent="0">
              <a:buNone/>
            </a:pPr>
            <a:r>
              <a:rPr lang="en-IE" sz="2400" dirty="0" smtClean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r>
              <a:rPr lang="en-IE" sz="3400" dirty="0"/>
              <a:t>If you’re curious about what servers are running on these ports, try experimenting </a:t>
            </a:r>
            <a:r>
              <a:rPr lang="en-IE" sz="3400" dirty="0" smtClean="0"/>
              <a:t>with Telnet</a:t>
            </a:r>
            <a:endParaRPr lang="en-IE" sz="4600" dirty="0" smtClean="0"/>
          </a:p>
        </p:txBody>
      </p:sp>
    </p:spTree>
    <p:extLst>
      <p:ext uri="{BB962C8B-B14F-4D97-AF65-F5344CB8AC3E}">
        <p14:creationId xmlns:p14="http://schemas.microsoft.com/office/powerpoint/2010/main" val="364578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92162"/>
          </a:xfrm>
        </p:spPr>
        <p:txBody>
          <a:bodyPr>
            <a:noAutofit/>
          </a:bodyPr>
          <a:lstStyle/>
          <a:p>
            <a:r>
              <a:rPr lang="en-IE" sz="3200" dirty="0"/>
              <a:t>Picking a Local Interface to Connect From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>
            <a:noAutofit/>
          </a:bodyPr>
          <a:lstStyle/>
          <a:p>
            <a:r>
              <a:rPr lang="en-IE" sz="2000" dirty="0"/>
              <a:t>Selecting a particular network interface from which to send data is uncommon, but </a:t>
            </a:r>
            <a:r>
              <a:rPr lang="en-IE" sz="2000" dirty="0" smtClean="0"/>
              <a:t>a need </a:t>
            </a:r>
            <a:r>
              <a:rPr lang="en-IE" sz="2000" dirty="0"/>
              <a:t>does come up occasionally. </a:t>
            </a:r>
            <a:endParaRPr lang="en-IE" sz="2000" dirty="0" smtClean="0"/>
          </a:p>
          <a:p>
            <a:r>
              <a:rPr lang="en-IE" sz="2000" dirty="0" smtClean="0"/>
              <a:t>One </a:t>
            </a:r>
            <a:r>
              <a:rPr lang="en-IE" sz="2000" dirty="0"/>
              <a:t>situation where you might want to </a:t>
            </a:r>
            <a:r>
              <a:rPr lang="en-IE" sz="2000" dirty="0" smtClean="0"/>
              <a:t>explicitly choose </a:t>
            </a:r>
            <a:r>
              <a:rPr lang="en-IE" sz="2000" dirty="0"/>
              <a:t>the local address would be on a router/firewall that uses dual Ethernet ports.</a:t>
            </a:r>
          </a:p>
          <a:p>
            <a:r>
              <a:rPr lang="en-IE" sz="2000" dirty="0"/>
              <a:t>Incoming connections would be accepted on one interface, processed, and </a:t>
            </a:r>
            <a:r>
              <a:rPr lang="en-IE" sz="2000" dirty="0" smtClean="0"/>
              <a:t>forwarded to </a:t>
            </a:r>
            <a:r>
              <a:rPr lang="en-IE" sz="2000" dirty="0"/>
              <a:t>the local network from the other interface. Suppose you were writing a program </a:t>
            </a:r>
            <a:r>
              <a:rPr lang="en-IE" sz="2000" dirty="0" smtClean="0"/>
              <a:t>to periodically </a:t>
            </a:r>
            <a:r>
              <a:rPr lang="en-IE" sz="2000" dirty="0"/>
              <a:t>dump error logs to a printer or send them over an internal mail server</a:t>
            </a:r>
            <a:r>
              <a:rPr lang="en-IE" sz="2000" dirty="0" smtClean="0"/>
              <a:t>. </a:t>
            </a:r>
          </a:p>
          <a:p>
            <a:r>
              <a:rPr lang="en-IE" sz="2000" dirty="0" smtClean="0"/>
              <a:t>You’d </a:t>
            </a:r>
            <a:r>
              <a:rPr lang="en-IE" sz="2000" dirty="0"/>
              <a:t>want to make sure you used the inward-facing network interface instead of </a:t>
            </a:r>
            <a:r>
              <a:rPr lang="en-IE" sz="2000" dirty="0" smtClean="0"/>
              <a:t>the outward-facing </a:t>
            </a:r>
            <a:r>
              <a:rPr lang="en-IE" sz="2000" dirty="0"/>
              <a:t>network interface. For example:</a:t>
            </a:r>
            <a:endParaRPr lang="en-IE" sz="2000" b="1" dirty="0" smtClean="0">
              <a:solidFill>
                <a:srgbClr val="00669A"/>
              </a:solidFill>
              <a:latin typeface="UbuntuMono-Bold"/>
            </a:endParaRPr>
          </a:p>
          <a:p>
            <a:pPr marL="0" indent="0">
              <a:buNone/>
            </a:pPr>
            <a:r>
              <a:rPr lang="en-IE" sz="2000" b="1" dirty="0" smtClean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2000" dirty="0" err="1" smtClean="0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inward 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sz="20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000" dirty="0" err="1">
                <a:solidFill>
                  <a:srgbClr val="33009A"/>
                </a:solidFill>
                <a:latin typeface="UbuntuMono-Regular"/>
              </a:rPr>
              <a:t>getByName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>
                <a:solidFill>
                  <a:srgbClr val="CD3300"/>
                </a:solidFill>
                <a:latin typeface="UbuntuMono-Regular"/>
              </a:rPr>
              <a:t>"router"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	Socket 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>
                <a:solidFill>
                  <a:srgbClr val="CD3300"/>
                </a:solidFill>
                <a:latin typeface="UbuntuMono-Regular"/>
              </a:rPr>
              <a:t>"mail"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000" dirty="0">
                <a:solidFill>
                  <a:srgbClr val="FF6600"/>
                </a:solidFill>
                <a:latin typeface="UbuntuMono-Regular"/>
              </a:rPr>
              <a:t>25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inward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000" dirty="0">
                <a:solidFill>
                  <a:srgbClr val="FF6600"/>
                </a:solidFill>
                <a:latin typeface="UbuntuMono-Regular"/>
              </a:rPr>
              <a:t>0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000" i="1" dirty="0">
                <a:solidFill>
                  <a:srgbClr val="35586C"/>
                </a:solidFill>
                <a:latin typeface="UbuntuMono-Italic"/>
              </a:rPr>
              <a:t>// work with the sockets...</a:t>
            </a:r>
          </a:p>
          <a:p>
            <a:pPr marL="0" indent="0">
              <a:buNone/>
            </a:pP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2000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20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000" dirty="0" err="1" smtClean="0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20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000" dirty="0" err="1" smtClean="0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2000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}</a:t>
            </a:r>
            <a:endParaRPr lang="en-IE" sz="2000" dirty="0" smtClean="0"/>
          </a:p>
        </p:txBody>
      </p:sp>
    </p:spTree>
    <p:extLst>
      <p:ext uri="{BB962C8B-B14F-4D97-AF65-F5344CB8AC3E}">
        <p14:creationId xmlns:p14="http://schemas.microsoft.com/office/powerpoint/2010/main" val="69642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Autofit/>
          </a:bodyPr>
          <a:lstStyle/>
          <a:p>
            <a:r>
              <a:rPr lang="en-IE" sz="3200" dirty="0"/>
              <a:t>Constructing Without Connecting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1430" y="457200"/>
            <a:ext cx="9144000" cy="5791200"/>
          </a:xfrm>
        </p:spPr>
        <p:txBody>
          <a:bodyPr>
            <a:noAutofit/>
          </a:bodyPr>
          <a:lstStyle/>
          <a:p>
            <a:r>
              <a:rPr lang="en-IE" sz="2000" dirty="0"/>
              <a:t>All the constructors we’ve talked about so far both create the socket object and open </a:t>
            </a:r>
            <a:r>
              <a:rPr lang="en-IE" sz="2000" dirty="0" smtClean="0"/>
              <a:t>a network </a:t>
            </a:r>
            <a:r>
              <a:rPr lang="en-IE" sz="2000" dirty="0"/>
              <a:t>connection to a remote host. </a:t>
            </a:r>
            <a:endParaRPr lang="en-IE" sz="2000" dirty="0" smtClean="0"/>
          </a:p>
          <a:p>
            <a:r>
              <a:rPr lang="en-IE" sz="2000" dirty="0" smtClean="0"/>
              <a:t>Sometimes </a:t>
            </a:r>
            <a:r>
              <a:rPr lang="en-IE" sz="2000" dirty="0"/>
              <a:t>you want to split those operations. </a:t>
            </a:r>
            <a:r>
              <a:rPr lang="en-IE" sz="2000" dirty="0" smtClean="0"/>
              <a:t>If you </a:t>
            </a:r>
            <a:r>
              <a:rPr lang="en-IE" sz="2000" dirty="0"/>
              <a:t>give no arguments to the Socket constructor, it has nowhere to connect to</a:t>
            </a:r>
            <a:r>
              <a:rPr lang="en-IE" sz="2000" dirty="0" smtClean="0"/>
              <a:t>:</a:t>
            </a:r>
          </a:p>
          <a:p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2000" dirty="0">
                <a:solidFill>
                  <a:srgbClr val="CD00FF"/>
                </a:solidFill>
                <a:latin typeface="UbuntuMono-Regular"/>
              </a:rPr>
              <a:t>Socket</a:t>
            </a:r>
            <a:r>
              <a:rPr lang="en-IE" sz="2000" dirty="0" smtClean="0">
                <a:solidFill>
                  <a:srgbClr val="555555"/>
                </a:solidFill>
                <a:latin typeface="UbuntuMono-Regular"/>
              </a:rPr>
              <a:t>()</a:t>
            </a:r>
          </a:p>
          <a:p>
            <a:r>
              <a:rPr lang="en-IE" sz="2000" dirty="0">
                <a:latin typeface="MinionPro-Regular"/>
              </a:rPr>
              <a:t>You can connect later by passing a </a:t>
            </a:r>
            <a:r>
              <a:rPr lang="en-IE" sz="2000" dirty="0" err="1">
                <a:solidFill>
                  <a:schemeClr val="tx2"/>
                </a:solidFill>
                <a:latin typeface="UbuntuMono-Regular"/>
              </a:rPr>
              <a:t>SocketAddress</a:t>
            </a:r>
            <a:r>
              <a:rPr lang="en-IE" sz="2000" dirty="0">
                <a:solidFill>
                  <a:schemeClr val="tx2"/>
                </a:solidFill>
                <a:latin typeface="UbuntuMono-Regular"/>
              </a:rPr>
              <a:t> </a:t>
            </a:r>
            <a:r>
              <a:rPr lang="en-IE" sz="2000" dirty="0">
                <a:latin typeface="MinionPro-Regular"/>
              </a:rPr>
              <a:t>to one of the </a:t>
            </a:r>
            <a:r>
              <a:rPr lang="en-IE" sz="2000" dirty="0">
                <a:solidFill>
                  <a:schemeClr val="tx2"/>
                </a:solidFill>
                <a:latin typeface="UbuntuMono-Regular"/>
              </a:rPr>
              <a:t>connect</a:t>
            </a:r>
            <a:r>
              <a:rPr lang="en-IE" sz="2000" dirty="0">
                <a:latin typeface="UbuntuMono-Regular"/>
              </a:rPr>
              <a:t>() </a:t>
            </a:r>
            <a:r>
              <a:rPr lang="en-IE" sz="2000" dirty="0">
                <a:latin typeface="MinionPro-Regular"/>
              </a:rPr>
              <a:t>methods</a:t>
            </a:r>
            <a:r>
              <a:rPr lang="en-IE" sz="2000" dirty="0" smtClean="0">
                <a:latin typeface="MinionPro-Regular"/>
              </a:rPr>
              <a:t>.</a:t>
            </a:r>
          </a:p>
          <a:p>
            <a:pPr marL="0" indent="0">
              <a:buNone/>
            </a:pPr>
            <a:r>
              <a:rPr lang="en-IE" sz="2000" b="1" dirty="0" smtClean="0">
                <a:solidFill>
                  <a:srgbClr val="00669A"/>
                </a:solidFill>
                <a:latin typeface="UbuntuMono-Bold"/>
              </a:rPr>
              <a:t>	try 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	Socket 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2000" i="1" dirty="0" smtClean="0">
                <a:solidFill>
                  <a:srgbClr val="35586C"/>
                </a:solidFill>
                <a:latin typeface="UbuntuMono-Italic"/>
              </a:rPr>
              <a:t>	// </a:t>
            </a:r>
            <a:r>
              <a:rPr lang="en-IE" sz="2000" i="1" dirty="0">
                <a:solidFill>
                  <a:srgbClr val="35586C"/>
                </a:solidFill>
                <a:latin typeface="UbuntuMono-Italic"/>
              </a:rPr>
              <a:t>fill in socket options</a:t>
            </a:r>
          </a:p>
          <a:p>
            <a:pPr marL="0" indent="0">
              <a:buNone/>
            </a:pP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2000" dirty="0" err="1" smtClean="0">
                <a:solidFill>
                  <a:srgbClr val="000089"/>
                </a:solidFill>
                <a:latin typeface="UbuntuMono-Regular"/>
              </a:rPr>
              <a:t>SocketAddress</a:t>
            </a: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address 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InetSocketAddress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>
                <a:solidFill>
                  <a:srgbClr val="CD3300"/>
                </a:solidFill>
                <a:latin typeface="UbuntuMono-Regular"/>
              </a:rPr>
              <a:t>"time.nist.gov"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000" dirty="0">
                <a:solidFill>
                  <a:srgbClr val="FF6600"/>
                </a:solidFill>
                <a:latin typeface="UbuntuMono-Regular"/>
              </a:rPr>
              <a:t>13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2000" dirty="0" err="1" smtClean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0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000" dirty="0" err="1" smtClean="0">
                <a:solidFill>
                  <a:srgbClr val="33009A"/>
                </a:solidFill>
                <a:latin typeface="UbuntuMono-Regular"/>
              </a:rPr>
              <a:t>connect</a:t>
            </a:r>
            <a:r>
              <a:rPr lang="en-IE" sz="2000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address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000" i="1" dirty="0" smtClean="0">
                <a:solidFill>
                  <a:srgbClr val="35586C"/>
                </a:solidFill>
                <a:latin typeface="UbuntuMono-Italic"/>
              </a:rPr>
              <a:t>	// </a:t>
            </a:r>
            <a:r>
              <a:rPr lang="en-IE" sz="2000" i="1" dirty="0">
                <a:solidFill>
                  <a:srgbClr val="35586C"/>
                </a:solidFill>
                <a:latin typeface="UbuntuMono-Italic"/>
              </a:rPr>
              <a:t>work with the sockets...</a:t>
            </a:r>
          </a:p>
          <a:p>
            <a:pPr marL="0" indent="0">
              <a:buNone/>
            </a:pPr>
            <a:r>
              <a:rPr lang="en-IE" sz="2000" dirty="0" smtClean="0">
                <a:solidFill>
                  <a:srgbClr val="555555"/>
                </a:solidFill>
                <a:latin typeface="UbuntuMono-Regular"/>
              </a:rPr>
              <a:t>	} </a:t>
            </a:r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2000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20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000" dirty="0" err="1" smtClean="0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20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000" dirty="0" err="1" smtClean="0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2000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 smtClean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2000" dirty="0" smtClean="0">
                <a:solidFill>
                  <a:srgbClr val="555555"/>
                </a:solidFill>
                <a:latin typeface="UbuntuMono-Regular"/>
              </a:rPr>
              <a:t>);}</a:t>
            </a:r>
            <a:r>
              <a:rPr lang="en-IE" sz="2000" dirty="0" smtClean="0"/>
              <a:t> </a:t>
            </a:r>
          </a:p>
          <a:p>
            <a:r>
              <a:rPr lang="en-IE" sz="2000" dirty="0" smtClean="0"/>
              <a:t>You </a:t>
            </a:r>
            <a:r>
              <a:rPr lang="en-IE" sz="2000" dirty="0"/>
              <a:t>can pass an </a:t>
            </a:r>
            <a:r>
              <a:rPr lang="en-IE" sz="2000" dirty="0" err="1"/>
              <a:t>int</a:t>
            </a:r>
            <a:r>
              <a:rPr lang="en-IE" sz="2000" dirty="0"/>
              <a:t> as the second argument to specify the number of milliseconds </a:t>
            </a:r>
            <a:r>
              <a:rPr lang="en-IE" sz="2000" dirty="0" smtClean="0"/>
              <a:t>to wait </a:t>
            </a:r>
            <a:r>
              <a:rPr lang="en-IE" sz="2000" dirty="0"/>
              <a:t>before the connection times out:</a:t>
            </a:r>
          </a:p>
          <a:p>
            <a:pPr marL="0" indent="0">
              <a:buNone/>
            </a:pPr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2000" b="1" dirty="0">
                <a:solidFill>
                  <a:srgbClr val="007789"/>
                </a:solidFill>
                <a:latin typeface="UbuntuMono-Bold"/>
              </a:rPr>
              <a:t>void </a:t>
            </a:r>
            <a:r>
              <a:rPr lang="en-IE" sz="2000" dirty="0">
                <a:solidFill>
                  <a:srgbClr val="CD00FF"/>
                </a:solidFill>
                <a:latin typeface="UbuntuMono-Regular"/>
              </a:rPr>
              <a:t>connect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SocketAddress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 endpoint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0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20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timeout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throws 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IOException</a:t>
            </a:r>
            <a:endParaRPr lang="en-IE" sz="2000" dirty="0" smtClean="0"/>
          </a:p>
        </p:txBody>
      </p:sp>
    </p:spTree>
    <p:extLst>
      <p:ext uri="{BB962C8B-B14F-4D97-AF65-F5344CB8AC3E}">
        <p14:creationId xmlns:p14="http://schemas.microsoft.com/office/powerpoint/2010/main" val="255164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Autofit/>
          </a:bodyPr>
          <a:lstStyle/>
          <a:p>
            <a:r>
              <a:rPr lang="en-IE" sz="3200" dirty="0"/>
              <a:t>Socket Addresses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1430" y="457200"/>
            <a:ext cx="9144000" cy="6400800"/>
          </a:xfrm>
        </p:spPr>
        <p:txBody>
          <a:bodyPr>
            <a:noAutofit/>
          </a:bodyPr>
          <a:lstStyle/>
          <a:p>
            <a:r>
              <a:rPr lang="en-IE" sz="2400" dirty="0"/>
              <a:t>The </a:t>
            </a:r>
            <a:r>
              <a:rPr lang="en-IE" sz="2400" dirty="0" err="1">
                <a:solidFill>
                  <a:schemeClr val="tx2"/>
                </a:solidFill>
              </a:rPr>
              <a:t>SocketAddress</a:t>
            </a:r>
            <a:r>
              <a:rPr lang="en-IE" sz="2400" dirty="0">
                <a:solidFill>
                  <a:schemeClr val="tx2"/>
                </a:solidFill>
              </a:rPr>
              <a:t> </a:t>
            </a:r>
            <a:r>
              <a:rPr lang="en-IE" sz="2400" dirty="0"/>
              <a:t>class represents a connection endpoint. </a:t>
            </a:r>
            <a:endParaRPr lang="en-IE" sz="2400" dirty="0" smtClean="0"/>
          </a:p>
          <a:p>
            <a:r>
              <a:rPr lang="en-IE" sz="2400" dirty="0" smtClean="0"/>
              <a:t>Theoretically </a:t>
            </a:r>
            <a:r>
              <a:rPr lang="en-IE" sz="2400" dirty="0" err="1" smtClean="0">
                <a:solidFill>
                  <a:schemeClr val="tx2"/>
                </a:solidFill>
              </a:rPr>
              <a:t>SocketAddress</a:t>
            </a:r>
            <a:r>
              <a:rPr lang="en-IE" sz="2400" dirty="0" smtClean="0">
                <a:solidFill>
                  <a:schemeClr val="tx2"/>
                </a:solidFill>
              </a:rPr>
              <a:t> </a:t>
            </a:r>
            <a:r>
              <a:rPr lang="en-IE" sz="2400" dirty="0"/>
              <a:t>class can be used for both TCP and non-TCP sockets. </a:t>
            </a:r>
            <a:endParaRPr lang="en-IE" sz="2400" dirty="0" smtClean="0"/>
          </a:p>
          <a:p>
            <a:r>
              <a:rPr lang="en-IE" sz="2400" dirty="0" smtClean="0"/>
              <a:t>In </a:t>
            </a:r>
            <a:r>
              <a:rPr lang="en-IE" sz="2400" dirty="0"/>
              <a:t>practice, </a:t>
            </a:r>
            <a:r>
              <a:rPr lang="en-IE" sz="2400" dirty="0" smtClean="0"/>
              <a:t>only  TCP/IP </a:t>
            </a:r>
            <a:r>
              <a:rPr lang="en-IE" sz="2400" dirty="0"/>
              <a:t>sockets are currently supported and the socket addresses you actually use </a:t>
            </a:r>
            <a:r>
              <a:rPr lang="en-IE" sz="2400" dirty="0" smtClean="0"/>
              <a:t>are all </a:t>
            </a:r>
            <a:r>
              <a:rPr lang="en-IE" sz="2400" dirty="0"/>
              <a:t>instances of </a:t>
            </a:r>
            <a:r>
              <a:rPr lang="en-IE" sz="2400" dirty="0" err="1">
                <a:solidFill>
                  <a:schemeClr val="tx2"/>
                </a:solidFill>
              </a:rPr>
              <a:t>InetSocketAddress</a:t>
            </a:r>
            <a:r>
              <a:rPr lang="en-IE" sz="2400" dirty="0"/>
              <a:t>.</a:t>
            </a:r>
          </a:p>
          <a:p>
            <a:r>
              <a:rPr lang="en-IE" sz="2400" dirty="0"/>
              <a:t>The primary purpose of the </a:t>
            </a:r>
            <a:r>
              <a:rPr lang="en-IE" sz="2400" dirty="0" err="1">
                <a:solidFill>
                  <a:schemeClr val="tx2"/>
                </a:solidFill>
              </a:rPr>
              <a:t>SocketAddress</a:t>
            </a:r>
            <a:r>
              <a:rPr lang="en-IE" sz="2400" dirty="0">
                <a:solidFill>
                  <a:schemeClr val="tx2"/>
                </a:solidFill>
              </a:rPr>
              <a:t> </a:t>
            </a:r>
            <a:r>
              <a:rPr lang="en-IE" sz="2400" dirty="0"/>
              <a:t>class is to provide a convenient store </a:t>
            </a:r>
            <a:r>
              <a:rPr lang="en-IE" sz="2400" dirty="0" smtClean="0"/>
              <a:t>for transient </a:t>
            </a:r>
            <a:r>
              <a:rPr lang="en-IE" sz="2400" dirty="0"/>
              <a:t>socket connection information such as </a:t>
            </a:r>
            <a:r>
              <a:rPr lang="en-IE" sz="2400" dirty="0">
                <a:solidFill>
                  <a:schemeClr val="tx2"/>
                </a:solidFill>
              </a:rPr>
              <a:t>the IP address and port that can </a:t>
            </a:r>
            <a:r>
              <a:rPr lang="en-IE" sz="2400" dirty="0" smtClean="0">
                <a:solidFill>
                  <a:schemeClr val="tx2"/>
                </a:solidFill>
              </a:rPr>
              <a:t>be reused </a:t>
            </a:r>
            <a:r>
              <a:rPr lang="en-IE" sz="2400" dirty="0">
                <a:solidFill>
                  <a:schemeClr val="tx2"/>
                </a:solidFill>
              </a:rPr>
              <a:t>to create new sockets</a:t>
            </a:r>
            <a:r>
              <a:rPr lang="en-IE" sz="2400" dirty="0"/>
              <a:t>, even after the original socket is disconnected and </a:t>
            </a:r>
            <a:r>
              <a:rPr lang="en-IE" sz="2400" dirty="0" smtClean="0"/>
              <a:t>garbage collected</a:t>
            </a:r>
            <a:r>
              <a:rPr lang="en-IE" sz="2400" dirty="0"/>
              <a:t>. </a:t>
            </a:r>
            <a:endParaRPr lang="en-IE" sz="2400" dirty="0" smtClean="0"/>
          </a:p>
          <a:p>
            <a:r>
              <a:rPr lang="en-IE" sz="2400" dirty="0" smtClean="0"/>
              <a:t>To </a:t>
            </a:r>
            <a:r>
              <a:rPr lang="en-IE" sz="2400" dirty="0"/>
              <a:t>this end, the Socket class offers two methods that return </a:t>
            </a:r>
            <a:r>
              <a:rPr lang="en-IE" sz="2400" dirty="0" err="1" smtClean="0">
                <a:solidFill>
                  <a:schemeClr val="tx2"/>
                </a:solidFill>
              </a:rPr>
              <a:t>SocketAddress</a:t>
            </a:r>
            <a:r>
              <a:rPr lang="en-IE" sz="2400" dirty="0" smtClean="0">
                <a:solidFill>
                  <a:schemeClr val="tx2"/>
                </a:solidFill>
              </a:rPr>
              <a:t> </a:t>
            </a:r>
            <a:r>
              <a:rPr lang="en-IE" sz="2400" dirty="0" smtClean="0"/>
              <a:t>objects</a:t>
            </a:r>
          </a:p>
          <a:p>
            <a:pPr lvl="1"/>
            <a:r>
              <a:rPr lang="en-IE" sz="1800" dirty="0" err="1" smtClean="0">
                <a:solidFill>
                  <a:schemeClr val="tx2"/>
                </a:solidFill>
              </a:rPr>
              <a:t>getRemoteSocketAddress</a:t>
            </a:r>
            <a:r>
              <a:rPr lang="en-IE" sz="1800" dirty="0"/>
              <a:t>() returns the address of the system being </a:t>
            </a:r>
            <a:r>
              <a:rPr lang="en-IE" sz="1800" dirty="0" smtClean="0"/>
              <a:t>connected to</a:t>
            </a:r>
          </a:p>
          <a:p>
            <a:pPr lvl="1"/>
            <a:r>
              <a:rPr lang="en-IE" sz="1800" dirty="0" err="1" smtClean="0">
                <a:solidFill>
                  <a:schemeClr val="tx2"/>
                </a:solidFill>
              </a:rPr>
              <a:t>getLocalSocketAddress</a:t>
            </a:r>
            <a:r>
              <a:rPr lang="en-IE" sz="1800" dirty="0"/>
              <a:t>() returns the address from which the connection </a:t>
            </a:r>
            <a:r>
              <a:rPr lang="en-IE" sz="1800" dirty="0" smtClean="0"/>
              <a:t>is made):</a:t>
            </a:r>
            <a:endParaRPr lang="en-IE" sz="1800" dirty="0"/>
          </a:p>
          <a:p>
            <a:pPr marL="0" indent="0">
              <a:buNone/>
            </a:pPr>
            <a:r>
              <a:rPr lang="sv-SE" sz="2400" dirty="0" smtClean="0">
                <a:solidFill>
                  <a:srgbClr val="000089"/>
                </a:solidFill>
                <a:latin typeface="UbuntuMono-Regular"/>
              </a:rPr>
              <a:t>Socket </a:t>
            </a:r>
            <a:r>
              <a:rPr lang="sv-SE" sz="2400" dirty="0">
                <a:solidFill>
                  <a:srgbClr val="000089"/>
                </a:solidFill>
                <a:latin typeface="UbuntuMono-Regular"/>
              </a:rPr>
              <a:t>socket </a:t>
            </a:r>
            <a:r>
              <a:rPr lang="sv-SE" sz="2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sv-SE" sz="24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sv-SE" sz="24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sv-SE" sz="24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sv-SE" sz="2400" dirty="0">
                <a:solidFill>
                  <a:srgbClr val="CD3300"/>
                </a:solidFill>
                <a:latin typeface="UbuntuMono-Regular"/>
              </a:rPr>
              <a:t>"www.yahoo.com"</a:t>
            </a:r>
            <a:r>
              <a:rPr lang="sv-SE" sz="24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sv-SE" sz="2400" dirty="0">
                <a:solidFill>
                  <a:srgbClr val="FF6600"/>
                </a:solidFill>
                <a:latin typeface="UbuntuMono-Regular"/>
              </a:rPr>
              <a:t>80</a:t>
            </a:r>
            <a:r>
              <a:rPr lang="sv-SE" sz="24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SocketAddress</a:t>
            </a:r>
            <a:r>
              <a:rPr lang="en-IE" sz="2400" dirty="0">
                <a:solidFill>
                  <a:srgbClr val="000089"/>
                </a:solidFill>
                <a:latin typeface="UbuntuMono-Regular"/>
              </a:rPr>
              <a:t> yahoo </a:t>
            </a:r>
            <a:r>
              <a:rPr lang="en-IE" sz="2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2400" dirty="0" err="1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2400" dirty="0" err="1">
                <a:solidFill>
                  <a:srgbClr val="33009A"/>
                </a:solidFill>
                <a:latin typeface="UbuntuMono-Regular"/>
              </a:rPr>
              <a:t>getRemoteSocketAddress</a:t>
            </a:r>
            <a:r>
              <a:rPr lang="en-IE" sz="2400" dirty="0" smtClean="0">
                <a:solidFill>
                  <a:srgbClr val="555555"/>
                </a:solidFill>
                <a:latin typeface="UbuntuMono-Regular"/>
              </a:rPr>
              <a:t>();</a:t>
            </a:r>
            <a:endParaRPr lang="en-IE" sz="2400" dirty="0">
              <a:solidFill>
                <a:srgbClr val="555555"/>
              </a:solidFill>
              <a:latin typeface="Ubuntu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2858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Autofit/>
          </a:bodyPr>
          <a:lstStyle/>
          <a:p>
            <a:r>
              <a:rPr lang="en-IE" sz="3200" dirty="0" err="1">
                <a:latin typeface="UbuntuMono-Regular"/>
              </a:rPr>
              <a:t>InetSocketAddress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1430" y="609600"/>
            <a:ext cx="9144000" cy="6248400"/>
          </a:xfrm>
        </p:spPr>
        <p:txBody>
          <a:bodyPr>
            <a:noAutofit/>
          </a:bodyPr>
          <a:lstStyle/>
          <a:p>
            <a:r>
              <a:rPr lang="en-IE" sz="2800" dirty="0">
                <a:solidFill>
                  <a:srgbClr val="000000"/>
                </a:solidFill>
                <a:latin typeface="MinionPro-Regular"/>
              </a:rPr>
              <a:t>The </a:t>
            </a:r>
            <a:r>
              <a:rPr lang="en-IE" sz="2800" dirty="0" err="1">
                <a:latin typeface="UbuntuMono-Regular"/>
              </a:rPr>
              <a:t>InetSocketAddress</a:t>
            </a:r>
            <a:r>
              <a:rPr lang="en-IE" sz="2800" dirty="0">
                <a:latin typeface="UbuntuMono-Regular"/>
              </a:rPr>
              <a:t>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class 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is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the only subclass of </a:t>
            </a:r>
            <a:r>
              <a:rPr lang="en-IE" sz="2800" dirty="0" err="1">
                <a:latin typeface="UbuntuMono-Regular"/>
              </a:rPr>
              <a:t>SocketAddress</a:t>
            </a:r>
            <a:r>
              <a:rPr lang="en-IE" sz="2800" dirty="0">
                <a:latin typeface="UbuntuMono-Regular"/>
              </a:rPr>
              <a:t> </a:t>
            </a:r>
            <a:endParaRPr lang="en-IE" sz="2800" dirty="0" smtClean="0">
              <a:latin typeface="UbuntuMono-Regular"/>
            </a:endParaRPr>
          </a:p>
          <a:p>
            <a:r>
              <a:rPr lang="en-US" sz="2800" dirty="0" err="1" smtClean="0">
                <a:solidFill>
                  <a:srgbClr val="000000"/>
                </a:solidFill>
                <a:latin typeface="UbuntuMono-Regular"/>
              </a:rPr>
              <a:t>Contructors</a:t>
            </a:r>
            <a:r>
              <a:rPr lang="en-US" sz="2800" dirty="0" smtClean="0">
                <a:solidFill>
                  <a:srgbClr val="000000"/>
                </a:solidFill>
                <a:latin typeface="UbuntuMono-Regular"/>
              </a:rPr>
              <a:t>:</a:t>
            </a:r>
            <a:endParaRPr lang="en-IE" sz="2800" dirty="0">
              <a:solidFill>
                <a:srgbClr val="000000"/>
              </a:solidFill>
              <a:latin typeface="MinionPro-Regular"/>
            </a:endParaRPr>
          </a:p>
          <a:p>
            <a:pPr lvl="1"/>
            <a:r>
              <a:rPr lang="en-IE" sz="16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600" dirty="0" err="1">
                <a:solidFill>
                  <a:srgbClr val="CD00FF"/>
                </a:solidFill>
                <a:latin typeface="UbuntuMono-Regular"/>
              </a:rPr>
              <a:t>InetSocketAddress</a:t>
            </a:r>
            <a:r>
              <a:rPr lang="en-IE" sz="16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600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sz="1600" dirty="0">
                <a:solidFill>
                  <a:srgbClr val="000089"/>
                </a:solidFill>
                <a:latin typeface="UbuntuMono-Regular"/>
              </a:rPr>
              <a:t> address</a:t>
            </a:r>
            <a:r>
              <a:rPr lang="en-IE" sz="16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6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6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600" dirty="0">
                <a:solidFill>
                  <a:srgbClr val="000089"/>
                </a:solidFill>
                <a:latin typeface="UbuntuMono-Regular"/>
              </a:rPr>
              <a:t>port</a:t>
            </a:r>
            <a:r>
              <a:rPr lang="en-IE" sz="1600" dirty="0">
                <a:solidFill>
                  <a:srgbClr val="555555"/>
                </a:solidFill>
                <a:latin typeface="UbuntuMono-Regular"/>
              </a:rPr>
              <a:t>)</a:t>
            </a:r>
          </a:p>
          <a:p>
            <a:pPr lvl="1"/>
            <a:r>
              <a:rPr lang="en-IE" sz="16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600" dirty="0" err="1">
                <a:solidFill>
                  <a:srgbClr val="CD00FF"/>
                </a:solidFill>
                <a:latin typeface="UbuntuMono-Regular"/>
              </a:rPr>
              <a:t>InetSocketAddress</a:t>
            </a:r>
            <a:r>
              <a:rPr lang="en-IE" sz="16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600" dirty="0">
                <a:solidFill>
                  <a:srgbClr val="000089"/>
                </a:solidFill>
                <a:latin typeface="UbuntuMono-Regular"/>
              </a:rPr>
              <a:t>String host</a:t>
            </a:r>
            <a:r>
              <a:rPr lang="en-IE" sz="16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6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6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600" dirty="0">
                <a:solidFill>
                  <a:srgbClr val="000089"/>
                </a:solidFill>
                <a:latin typeface="UbuntuMono-Regular"/>
              </a:rPr>
              <a:t>port</a:t>
            </a:r>
            <a:r>
              <a:rPr lang="en-IE" sz="1600" dirty="0">
                <a:solidFill>
                  <a:srgbClr val="555555"/>
                </a:solidFill>
                <a:latin typeface="UbuntuMono-Regular"/>
              </a:rPr>
              <a:t>)</a:t>
            </a:r>
          </a:p>
          <a:p>
            <a:pPr lvl="1"/>
            <a:r>
              <a:rPr lang="en-IE" sz="16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600" dirty="0" err="1">
                <a:solidFill>
                  <a:srgbClr val="CD00FF"/>
                </a:solidFill>
                <a:latin typeface="UbuntuMono-Regular"/>
              </a:rPr>
              <a:t>InetSocketAddress</a:t>
            </a:r>
            <a:r>
              <a:rPr lang="en-IE" sz="16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6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6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600" dirty="0">
                <a:solidFill>
                  <a:srgbClr val="000089"/>
                </a:solidFill>
                <a:latin typeface="UbuntuMono-Regular"/>
              </a:rPr>
              <a:t>port</a:t>
            </a:r>
            <a:r>
              <a:rPr lang="en-IE" sz="1600" dirty="0">
                <a:solidFill>
                  <a:srgbClr val="555555"/>
                </a:solidFill>
                <a:latin typeface="UbuntuMono-Regular"/>
              </a:rPr>
              <a:t>)</a:t>
            </a:r>
          </a:p>
          <a:p>
            <a:r>
              <a:rPr lang="en-IE" sz="2800" dirty="0">
                <a:solidFill>
                  <a:srgbClr val="000000"/>
                </a:solidFill>
                <a:latin typeface="MinionPro-Regular"/>
              </a:rPr>
              <a:t>You can also use the static factory 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method </a:t>
            </a:r>
            <a:r>
              <a:rPr lang="en-IE" sz="2800" dirty="0" err="1" smtClean="0">
                <a:solidFill>
                  <a:srgbClr val="000000"/>
                </a:solidFill>
                <a:latin typeface="UbuntuMono-Regular"/>
              </a:rPr>
              <a:t>InetSocketAddress.</a:t>
            </a:r>
            <a:r>
              <a:rPr lang="en-IE" sz="2800" dirty="0" err="1" smtClean="0">
                <a:latin typeface="UbuntuMono-Regular"/>
              </a:rPr>
              <a:t>createUnresolved</a:t>
            </a:r>
            <a:r>
              <a:rPr lang="en-IE" sz="2800" dirty="0" smtClean="0">
                <a:solidFill>
                  <a:srgbClr val="000000"/>
                </a:solidFill>
                <a:latin typeface="UbuntuMono-Regular"/>
              </a:rPr>
              <a:t>() </a:t>
            </a:r>
            <a:r>
              <a:rPr lang="en-IE" sz="2800" dirty="0" smtClean="0">
                <a:solidFill>
                  <a:srgbClr val="000000"/>
                </a:solidFill>
                <a:latin typeface="MinionPro-Regular"/>
              </a:rPr>
              <a:t>to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skip looking up the host in DNS:</a:t>
            </a:r>
          </a:p>
          <a:p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public static 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InetSocketAddress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000" dirty="0" err="1">
                <a:solidFill>
                  <a:srgbClr val="CD00FF"/>
                </a:solidFill>
                <a:latin typeface="UbuntuMono-Regular"/>
              </a:rPr>
              <a:t>createUnresolved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String host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20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20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port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)</a:t>
            </a:r>
          </a:p>
          <a:p>
            <a:r>
              <a:rPr lang="en-IE" sz="2800" dirty="0" err="1">
                <a:solidFill>
                  <a:srgbClr val="000000"/>
                </a:solidFill>
                <a:latin typeface="UbuntuMono-Regular"/>
              </a:rPr>
              <a:t>InetSocketAddress</a:t>
            </a:r>
            <a:r>
              <a:rPr lang="en-IE" sz="2800" dirty="0">
                <a:solidFill>
                  <a:srgbClr val="000000"/>
                </a:solidFill>
                <a:latin typeface="UbuntuMono-Regular"/>
              </a:rPr>
              <a:t> </a:t>
            </a:r>
            <a:r>
              <a:rPr lang="en-IE" sz="2800" dirty="0">
                <a:solidFill>
                  <a:srgbClr val="000000"/>
                </a:solidFill>
                <a:latin typeface="MinionPro-Regular"/>
              </a:rPr>
              <a:t>has a few getter methods you can use to inspect the object:</a:t>
            </a:r>
          </a:p>
          <a:p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public final </a:t>
            </a:r>
            <a:r>
              <a:rPr lang="en-IE" sz="2000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2000" dirty="0" err="1">
                <a:solidFill>
                  <a:srgbClr val="CD00FF"/>
                </a:solidFill>
                <a:latin typeface="UbuntuMono-Regular"/>
              </a:rPr>
              <a:t>getAddress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()</a:t>
            </a:r>
          </a:p>
          <a:p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public final </a:t>
            </a:r>
            <a:r>
              <a:rPr lang="en-IE" sz="20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20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2000" dirty="0" err="1">
                <a:solidFill>
                  <a:srgbClr val="CD00FF"/>
                </a:solidFill>
                <a:latin typeface="UbuntuMono-Regular"/>
              </a:rPr>
              <a:t>getPort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()</a:t>
            </a:r>
          </a:p>
          <a:p>
            <a:r>
              <a:rPr lang="en-IE" sz="2000" b="1" dirty="0">
                <a:solidFill>
                  <a:srgbClr val="00669A"/>
                </a:solidFill>
                <a:latin typeface="UbuntuMono-Bold"/>
              </a:rPr>
              <a:t>public final </a:t>
            </a:r>
            <a:r>
              <a:rPr lang="en-IE" sz="2000" dirty="0">
                <a:solidFill>
                  <a:srgbClr val="000089"/>
                </a:solidFill>
                <a:latin typeface="UbuntuMono-Regular"/>
              </a:rPr>
              <a:t>String </a:t>
            </a:r>
            <a:r>
              <a:rPr lang="en-IE" sz="2000" dirty="0" err="1">
                <a:solidFill>
                  <a:srgbClr val="CD00FF"/>
                </a:solidFill>
                <a:latin typeface="UbuntuMono-Regular"/>
              </a:rPr>
              <a:t>getHostName</a:t>
            </a:r>
            <a:r>
              <a:rPr lang="en-IE" sz="2000" dirty="0">
                <a:solidFill>
                  <a:srgbClr val="555555"/>
                </a:solidFill>
                <a:latin typeface="UbuntuMono-Regular"/>
              </a:rPr>
              <a:t>()</a:t>
            </a:r>
            <a:endParaRPr lang="en-IE" sz="2800" dirty="0">
              <a:solidFill>
                <a:srgbClr val="555555"/>
              </a:solidFill>
              <a:latin typeface="Ubuntu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0884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Autofit/>
          </a:bodyPr>
          <a:lstStyle/>
          <a:p>
            <a:r>
              <a:rPr lang="en-IE" sz="3200" dirty="0"/>
              <a:t>Socket Addresses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1430" y="457200"/>
            <a:ext cx="9144000" cy="6400800"/>
          </a:xfrm>
        </p:spPr>
        <p:txBody>
          <a:bodyPr>
            <a:noAutofit/>
          </a:bodyPr>
          <a:lstStyle/>
          <a:p>
            <a:r>
              <a:rPr lang="en-IE" sz="2400" dirty="0">
                <a:solidFill>
                  <a:srgbClr val="000000"/>
                </a:solidFill>
                <a:latin typeface="MinionPro-Regular"/>
              </a:rPr>
              <a:t>The last constructor </a:t>
            </a:r>
            <a:r>
              <a:rPr lang="en-IE" sz="2400" dirty="0" smtClean="0">
                <a:solidFill>
                  <a:srgbClr val="000000"/>
                </a:solidFill>
                <a:latin typeface="MinionPro-Regular"/>
              </a:rPr>
              <a:t>of Socket class creates </a:t>
            </a:r>
            <a:r>
              <a:rPr lang="en-IE" sz="2400" dirty="0">
                <a:solidFill>
                  <a:srgbClr val="000000"/>
                </a:solidFill>
                <a:latin typeface="MinionPro-Regular"/>
              </a:rPr>
              <a:t>an unconnected socket that connects through a </a:t>
            </a:r>
            <a:r>
              <a:rPr lang="en-IE" sz="2400" dirty="0" smtClean="0">
                <a:solidFill>
                  <a:srgbClr val="000000"/>
                </a:solidFill>
                <a:latin typeface="MinionPro-Regular"/>
              </a:rPr>
              <a:t>specified proxy </a:t>
            </a:r>
            <a:r>
              <a:rPr lang="en-IE" sz="2400" dirty="0">
                <a:solidFill>
                  <a:srgbClr val="000000"/>
                </a:solidFill>
                <a:latin typeface="MinionPro-Regular"/>
              </a:rPr>
              <a:t>server:</a:t>
            </a:r>
          </a:p>
          <a:p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800" dirty="0">
                <a:solidFill>
                  <a:srgbClr val="CD00FF"/>
                </a:solidFill>
                <a:latin typeface="UbuntuMono-Regular"/>
              </a:rPr>
              <a:t>Socket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Proxy proxy</a:t>
            </a:r>
            <a:r>
              <a:rPr lang="en-IE" sz="1800" dirty="0" smtClean="0">
                <a:solidFill>
                  <a:srgbClr val="555555"/>
                </a:solidFill>
                <a:latin typeface="UbuntuMono-Regular"/>
              </a:rPr>
              <a:t>)</a:t>
            </a:r>
          </a:p>
          <a:p>
            <a:r>
              <a:rPr lang="en-US" sz="1800" dirty="0" smtClean="0">
                <a:solidFill>
                  <a:srgbClr val="555555"/>
                </a:solidFill>
                <a:latin typeface="UbuntuMono-Regular"/>
              </a:rPr>
              <a:t>Example:</a:t>
            </a:r>
          </a:p>
          <a:p>
            <a:pPr marL="0" indent="0">
              <a:buNone/>
            </a:pPr>
            <a:endParaRPr lang="en-IE" sz="1800" dirty="0">
              <a:solidFill>
                <a:srgbClr val="555555"/>
              </a:solidFill>
              <a:latin typeface="UbuntuMono-Regular"/>
            </a:endParaRPr>
          </a:p>
          <a:p>
            <a:pPr marL="0" indent="0">
              <a:buNone/>
            </a:pP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SocketAddress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proxyAddress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InetSocketAddress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"myproxy.example.com"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800" dirty="0">
                <a:solidFill>
                  <a:srgbClr val="FF6600"/>
                </a:solidFill>
                <a:latin typeface="UbuntuMono-Regular"/>
              </a:rPr>
              <a:t>1080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Proxy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proxy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Proxy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Proxy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Type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SOCKS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proxyAddress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Socket s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proxy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SocketAddress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remote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InetSocketAddress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"login.ibiblio.org"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800" dirty="0">
                <a:solidFill>
                  <a:srgbClr val="FF6600"/>
                </a:solidFill>
                <a:latin typeface="UbuntuMono-Regular"/>
              </a:rPr>
              <a:t>25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s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connect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remote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1213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Autofit/>
          </a:bodyPr>
          <a:lstStyle/>
          <a:p>
            <a:r>
              <a:rPr lang="en-IE" sz="3200" dirty="0"/>
              <a:t>Getting Information About a Socket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1430" y="457200"/>
            <a:ext cx="9144000" cy="6400800"/>
          </a:xfrm>
        </p:spPr>
        <p:txBody>
          <a:bodyPr>
            <a:noAutofit/>
          </a:bodyPr>
          <a:lstStyle/>
          <a:p>
            <a:r>
              <a:rPr lang="en-IE" sz="2400" dirty="0">
                <a:solidFill>
                  <a:srgbClr val="000000"/>
                </a:solidFill>
                <a:latin typeface="UbuntuMono-Regular"/>
              </a:rPr>
              <a:t>Socket </a:t>
            </a:r>
            <a:r>
              <a:rPr lang="en-IE" sz="2400" dirty="0">
                <a:solidFill>
                  <a:srgbClr val="000000"/>
                </a:solidFill>
                <a:latin typeface="MinionPro-Regular"/>
              </a:rPr>
              <a:t>objects have several properties that are accessible through getter methods:</a:t>
            </a:r>
          </a:p>
          <a:p>
            <a:pPr lvl="1"/>
            <a:r>
              <a:rPr lang="en-IE" sz="1800" dirty="0" smtClean="0">
                <a:solidFill>
                  <a:srgbClr val="000000"/>
                </a:solidFill>
                <a:latin typeface="MinionPro-Regular"/>
              </a:rPr>
              <a:t>Remote </a:t>
            </a:r>
            <a:r>
              <a:rPr lang="en-IE" sz="1800" dirty="0">
                <a:solidFill>
                  <a:srgbClr val="000000"/>
                </a:solidFill>
                <a:latin typeface="MinionPro-Regular"/>
              </a:rPr>
              <a:t>address</a:t>
            </a:r>
          </a:p>
          <a:p>
            <a:pPr lvl="1"/>
            <a:r>
              <a:rPr lang="en-IE" sz="1800" dirty="0" smtClean="0">
                <a:solidFill>
                  <a:srgbClr val="000000"/>
                </a:solidFill>
                <a:latin typeface="MinionPro-Regular"/>
              </a:rPr>
              <a:t>Remote </a:t>
            </a:r>
            <a:r>
              <a:rPr lang="en-IE" sz="1800" dirty="0">
                <a:solidFill>
                  <a:srgbClr val="000000"/>
                </a:solidFill>
                <a:latin typeface="MinionPro-Regular"/>
              </a:rPr>
              <a:t>port</a:t>
            </a:r>
          </a:p>
          <a:p>
            <a:pPr lvl="1"/>
            <a:r>
              <a:rPr lang="en-IE" sz="1800" dirty="0" smtClean="0">
                <a:solidFill>
                  <a:srgbClr val="000000"/>
                </a:solidFill>
                <a:latin typeface="MinionPro-Regular"/>
              </a:rPr>
              <a:t>Local </a:t>
            </a:r>
            <a:r>
              <a:rPr lang="en-IE" sz="1800" dirty="0">
                <a:solidFill>
                  <a:srgbClr val="000000"/>
                </a:solidFill>
                <a:latin typeface="MinionPro-Regular"/>
              </a:rPr>
              <a:t>address</a:t>
            </a:r>
          </a:p>
          <a:p>
            <a:pPr lvl="1"/>
            <a:r>
              <a:rPr lang="en-IE" sz="1800" dirty="0" smtClean="0">
                <a:solidFill>
                  <a:srgbClr val="000000"/>
                </a:solidFill>
                <a:latin typeface="MinionPro-Regular"/>
              </a:rPr>
              <a:t>Local </a:t>
            </a:r>
            <a:r>
              <a:rPr lang="en-IE" sz="1800" dirty="0">
                <a:solidFill>
                  <a:srgbClr val="000000"/>
                </a:solidFill>
                <a:latin typeface="MinionPro-Regular"/>
              </a:rPr>
              <a:t>port</a:t>
            </a:r>
          </a:p>
          <a:p>
            <a:r>
              <a:rPr lang="en-IE" sz="2400" dirty="0">
                <a:solidFill>
                  <a:srgbClr val="000000"/>
                </a:solidFill>
                <a:latin typeface="MinionPro-Regular"/>
              </a:rPr>
              <a:t>Here are the getter methods for accessing these properties:</a:t>
            </a:r>
          </a:p>
          <a:p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 err="1">
                <a:solidFill>
                  <a:srgbClr val="CD00FF"/>
                </a:solidFill>
                <a:latin typeface="UbuntuMono-Regular"/>
              </a:rPr>
              <a:t>getInetAddress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</a:t>
            </a:r>
          </a:p>
          <a:p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8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8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800" dirty="0" err="1">
                <a:solidFill>
                  <a:srgbClr val="CD00FF"/>
                </a:solidFill>
                <a:latin typeface="UbuntuMono-Regular"/>
              </a:rPr>
              <a:t>getPort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</a:t>
            </a:r>
          </a:p>
          <a:p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InetAddress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 err="1">
                <a:solidFill>
                  <a:srgbClr val="CD00FF"/>
                </a:solidFill>
                <a:latin typeface="UbuntuMono-Regular"/>
              </a:rPr>
              <a:t>getLocalAddress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</a:t>
            </a:r>
          </a:p>
          <a:p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public </a:t>
            </a:r>
            <a:r>
              <a:rPr lang="en-IE" sz="18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8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800" dirty="0" err="1">
                <a:solidFill>
                  <a:srgbClr val="CD00FF"/>
                </a:solidFill>
                <a:latin typeface="UbuntuMono-Regular"/>
              </a:rPr>
              <a:t>getLocalPort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</a:t>
            </a:r>
          </a:p>
          <a:p>
            <a:r>
              <a:rPr lang="en-IE" sz="2400" dirty="0">
                <a:solidFill>
                  <a:srgbClr val="000000"/>
                </a:solidFill>
                <a:latin typeface="MinionPro-Regular"/>
              </a:rPr>
              <a:t>There are no setter methods. These properties are set as soon as the socket connects</a:t>
            </a:r>
            <a:r>
              <a:rPr lang="en-IE" sz="2400" dirty="0" smtClean="0">
                <a:solidFill>
                  <a:srgbClr val="000000"/>
                </a:solidFill>
                <a:latin typeface="MinionPro-Regular"/>
              </a:rPr>
              <a:t>, and </a:t>
            </a:r>
            <a:r>
              <a:rPr lang="en-IE" sz="2400" dirty="0">
                <a:solidFill>
                  <a:srgbClr val="000000"/>
                </a:solidFill>
                <a:latin typeface="MinionPro-Regular"/>
              </a:rPr>
              <a:t>are fixed from there on.</a:t>
            </a:r>
            <a:endParaRPr lang="en-IE" sz="2400" dirty="0">
              <a:solidFill>
                <a:srgbClr val="555555"/>
              </a:solidFill>
              <a:latin typeface="Ubuntu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86194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Autofit/>
          </a:bodyPr>
          <a:lstStyle/>
          <a:p>
            <a:r>
              <a:rPr lang="en-IE" sz="3200" dirty="0"/>
              <a:t>Getting Information About a Socket</a:t>
            </a:r>
            <a:endParaRPr lang="en-US" altLang="en-US" sz="3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1430" y="457200"/>
            <a:ext cx="9144000" cy="6400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800" b="1" dirty="0">
                <a:solidFill>
                  <a:srgbClr val="00CDFF"/>
                </a:solidFill>
                <a:latin typeface="UbuntuMono-Bold"/>
              </a:rPr>
              <a:t>java.net</a:t>
            </a:r>
            <a:r>
              <a:rPr lang="en-IE" sz="1800" b="1" dirty="0" smtClean="0">
                <a:solidFill>
                  <a:srgbClr val="00CDFF"/>
                </a:solidFill>
                <a:latin typeface="UbuntuMono-Bold"/>
              </a:rPr>
              <a:t>.*</a:t>
            </a:r>
            <a:r>
              <a:rPr lang="en-IE" sz="1800" dirty="0" smtClean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en-IE" sz="1800" b="1" dirty="0" smtClean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800" b="1" dirty="0">
                <a:solidFill>
                  <a:srgbClr val="00CDFF"/>
                </a:solidFill>
                <a:latin typeface="UbuntuMono-Bold"/>
              </a:rPr>
              <a:t>java.io.*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public class </a:t>
            </a:r>
            <a:r>
              <a:rPr lang="en-IE" sz="1800" b="1" dirty="0" err="1">
                <a:solidFill>
                  <a:srgbClr val="00AB89"/>
                </a:solidFill>
                <a:latin typeface="UbuntuMono-Bold"/>
              </a:rPr>
              <a:t>SocketInfo</a:t>
            </a:r>
            <a:r>
              <a:rPr lang="en-IE" sz="1800" b="1" dirty="0">
                <a:solidFill>
                  <a:srgbClr val="00AB89"/>
                </a:solidFill>
                <a:latin typeface="UbuntuMono-Bold"/>
              </a:rPr>
              <a:t>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public static </a:t>
            </a:r>
            <a:r>
              <a:rPr lang="en-IE" sz="1800" b="1" dirty="0">
                <a:solidFill>
                  <a:srgbClr val="007789"/>
                </a:solidFill>
                <a:latin typeface="UbuntuMono-Bold"/>
              </a:rPr>
              <a:t>void </a:t>
            </a:r>
            <a:r>
              <a:rPr lang="en-IE" sz="1800" dirty="0">
                <a:solidFill>
                  <a:srgbClr val="CD00FF"/>
                </a:solidFill>
                <a:latin typeface="UbuntuMono-Regular"/>
              </a:rPr>
              <a:t>main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String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[]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for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String host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: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Socket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theSocket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Socket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host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800" dirty="0">
                <a:solidFill>
                  <a:srgbClr val="FF6600"/>
                </a:solidFill>
                <a:latin typeface="UbuntuMono-Regular"/>
              </a:rPr>
              <a:t>80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out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"Connected to "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theSocket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getInetAddress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 on port "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theSocket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getPort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 + 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 from port "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theSocket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getLocalPort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 + 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 of "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theSocket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getLocalAddress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UnknownHostException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"I can't find "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host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SocketException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"Could not connect to "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host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}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555555"/>
                </a:solidFill>
                <a:latin typeface="UbuntuMono-Regular"/>
              </a:rPr>
              <a:t>}}</a:t>
            </a:r>
            <a:endParaRPr lang="en-IE" sz="1800" dirty="0">
              <a:solidFill>
                <a:srgbClr val="555555"/>
              </a:solidFill>
              <a:latin typeface="Ubuntu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54509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0" ma:contentTypeDescription="Create a new document." ma:contentTypeScope="" ma:versionID="ca0eff15ccbfe079c26c4eccae0f3b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573079-2697-4730-BFBC-5D170F88A973}"/>
</file>

<file path=customXml/itemProps2.xml><?xml version="1.0" encoding="utf-8"?>
<ds:datastoreItem xmlns:ds="http://schemas.openxmlformats.org/officeDocument/2006/customXml" ds:itemID="{1AFD235A-2AB2-4D87-BB28-3D966218ADA5}"/>
</file>

<file path=customXml/itemProps3.xml><?xml version="1.0" encoding="utf-8"?>
<ds:datastoreItem xmlns:ds="http://schemas.openxmlformats.org/officeDocument/2006/customXml" ds:itemID="{DAB75534-C9E9-49D1-A9AA-FE84D9CAADB0}"/>
</file>

<file path=docProps/app.xml><?xml version="1.0" encoding="utf-8"?>
<Properties xmlns="http://schemas.openxmlformats.org/officeDocument/2006/extended-properties" xmlns:vt="http://schemas.openxmlformats.org/officeDocument/2006/docPropsVTypes">
  <TotalTime>3098</TotalTime>
  <Words>2620</Words>
  <Application>Microsoft Office PowerPoint</Application>
  <PresentationFormat>On-screen Show (4:3)</PresentationFormat>
  <Paragraphs>391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Consolas</vt:lpstr>
      <vt:lpstr>MinionPro-Italic</vt:lpstr>
      <vt:lpstr>MinionPro-Regular</vt:lpstr>
      <vt:lpstr>Times New Roman</vt:lpstr>
      <vt:lpstr>UbuntuMono-Bold</vt:lpstr>
      <vt:lpstr>UbuntuMono-Italic</vt:lpstr>
      <vt:lpstr>UbuntuMono-Regular</vt:lpstr>
      <vt:lpstr>Office Theme</vt:lpstr>
      <vt:lpstr>Client Server Programming  Sockets for Clients</vt:lpstr>
      <vt:lpstr>Client vs. Server</vt:lpstr>
      <vt:lpstr>Client vs. Server (Continued)</vt:lpstr>
      <vt:lpstr>Sockets</vt:lpstr>
      <vt:lpstr>Sockets</vt:lpstr>
      <vt:lpstr>Using Sockets</vt:lpstr>
      <vt:lpstr>Using Sockets</vt:lpstr>
      <vt:lpstr>Reading from Servers with Sockets</vt:lpstr>
      <vt:lpstr>Reading from Servers with Sockets</vt:lpstr>
      <vt:lpstr>Reading from Servers with Sockets</vt:lpstr>
      <vt:lpstr>Construct a Date by talking to time.nist.gov</vt:lpstr>
      <vt:lpstr>A Generic Network Client</vt:lpstr>
      <vt:lpstr>SocketUtil – Simplifying  Creation of Reader and Writer</vt:lpstr>
      <vt:lpstr>Example Client</vt:lpstr>
      <vt:lpstr>Writing to Servers with Sockets</vt:lpstr>
      <vt:lpstr>Writing to Servers with Sockets</vt:lpstr>
      <vt:lpstr>A network-based English-to-Latin translator</vt:lpstr>
      <vt:lpstr>Half Closed Sockets</vt:lpstr>
      <vt:lpstr>Half Closed Sockets</vt:lpstr>
      <vt:lpstr>Constructing and Connecting Sockets</vt:lpstr>
      <vt:lpstr>Find out which of the first 1024 ports seem to be hosting TCP servers on a specified host</vt:lpstr>
      <vt:lpstr>Picking a Local Interface to Connect From</vt:lpstr>
      <vt:lpstr>Constructing Without Connecting</vt:lpstr>
      <vt:lpstr>Socket Addresses</vt:lpstr>
      <vt:lpstr>InetSocketAddress</vt:lpstr>
      <vt:lpstr>Socket Addresses</vt:lpstr>
      <vt:lpstr>Getting Information About a Socket</vt:lpstr>
      <vt:lpstr>Getting Information About a Socket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Imran</dc:creator>
  <cp:lastModifiedBy>Adeel-ur-Rehman</cp:lastModifiedBy>
  <cp:revision>1538</cp:revision>
  <dcterms:created xsi:type="dcterms:W3CDTF">2016-10-08T12:39:52Z</dcterms:created>
  <dcterms:modified xsi:type="dcterms:W3CDTF">2019-12-16T11:07:57Z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0x0101008242D679B6F40C48B2519DEB851FE85E</vt:lpwstr>
  </property>
</Properties>
</file>