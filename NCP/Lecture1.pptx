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390" r:id="rId3"/>
    <p:sldId id="391" r:id="rId4"/>
    <p:sldId id="259" r:id="rId5"/>
    <p:sldId id="307" r:id="rId6"/>
    <p:sldId id="257" r:id="rId7"/>
    <p:sldId id="308" r:id="rId8"/>
    <p:sldId id="281" r:id="rId9"/>
    <p:sldId id="385" r:id="rId10"/>
    <p:sldId id="310" r:id="rId11"/>
    <p:sldId id="309" r:id="rId12"/>
    <p:sldId id="329" r:id="rId13"/>
    <p:sldId id="330" r:id="rId14"/>
    <p:sldId id="331" r:id="rId15"/>
    <p:sldId id="332" r:id="rId16"/>
    <p:sldId id="365" r:id="rId17"/>
    <p:sldId id="333" r:id="rId18"/>
    <p:sldId id="366" r:id="rId19"/>
    <p:sldId id="334" r:id="rId20"/>
    <p:sldId id="387" r:id="rId21"/>
    <p:sldId id="386" r:id="rId22"/>
    <p:sldId id="335" r:id="rId23"/>
    <p:sldId id="367" r:id="rId24"/>
    <p:sldId id="336" r:id="rId25"/>
    <p:sldId id="368" r:id="rId26"/>
    <p:sldId id="337" r:id="rId27"/>
    <p:sldId id="369" r:id="rId28"/>
    <p:sldId id="338" r:id="rId29"/>
    <p:sldId id="370" r:id="rId30"/>
    <p:sldId id="389" r:id="rId31"/>
    <p:sldId id="339" r:id="rId32"/>
    <p:sldId id="340" r:id="rId33"/>
    <p:sldId id="371" r:id="rId34"/>
    <p:sldId id="353" r:id="rId35"/>
    <p:sldId id="372" r:id="rId36"/>
    <p:sldId id="392"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7" autoAdjust="0"/>
    <p:restoredTop sz="94629" autoAdjust="0"/>
  </p:normalViewPr>
  <p:slideViewPr>
    <p:cSldViewPr>
      <p:cViewPr varScale="1">
        <p:scale>
          <a:sx n="63" d="100"/>
          <a:sy n="63" d="100"/>
        </p:scale>
        <p:origin x="1596" y="66"/>
      </p:cViewPr>
      <p:guideLst>
        <p:guide orient="horz" pos="2160"/>
        <p:guide pos="2880"/>
      </p:guideLst>
    </p:cSldViewPr>
  </p:slideViewPr>
  <p:outlineViewPr>
    <p:cViewPr>
      <p:scale>
        <a:sx n="33" d="100"/>
        <a:sy n="33" d="100"/>
      </p:scale>
      <p:origin x="48" y="4295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45"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0520FC-D788-48C1-BB99-0370BEB8FF51}" type="datetimeFigureOut">
              <a:rPr lang="en-IE" smtClean="0"/>
              <a:t>24/02/2025</a:t>
            </a:fld>
            <a:endParaRPr lang="en-IE"/>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48A391-A794-471D-B72A-F262B2B3B5B4}" type="slidenum">
              <a:rPr lang="en-IE" smtClean="0"/>
              <a:t>‹#›</a:t>
            </a:fld>
            <a:endParaRPr lang="en-IE"/>
          </a:p>
        </p:txBody>
      </p:sp>
    </p:spTree>
    <p:extLst>
      <p:ext uri="{BB962C8B-B14F-4D97-AF65-F5344CB8AC3E}">
        <p14:creationId xmlns:p14="http://schemas.microsoft.com/office/powerpoint/2010/main" val="40217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10"/>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9pPr>
          </a:lstStyle>
          <a:p>
            <a:fld id="{1DFCAC13-63C8-4ECA-A953-501685E02758}" type="slidenum">
              <a:rPr lang="ar-SA" altLang="en-US" sz="1200">
                <a:solidFill>
                  <a:srgbClr val="000000"/>
                </a:solidFill>
                <a:latin typeface="Tahoma" panose="020B0604030504040204" pitchFamily="34" charset="0"/>
              </a:rPr>
              <a:pPr/>
              <a:t>2</a:t>
            </a:fld>
            <a:endParaRPr lang="en-GB" altLang="en-US" sz="1200">
              <a:solidFill>
                <a:srgbClr val="000000"/>
              </a:solidFill>
              <a:latin typeface="Tahoma" panose="020B0604030504040204" pitchFamily="34" charset="0"/>
            </a:endParaRPr>
          </a:p>
        </p:txBody>
      </p:sp>
      <p:sp>
        <p:nvSpPr>
          <p:cNvPr id="17411" name="Text Box 1"/>
          <p:cNvSpPr txBox="1">
            <a:spLocks noChangeArrowheads="1"/>
          </p:cNvSpPr>
          <p:nvPr/>
        </p:nvSpPr>
        <p:spPr bwMode="auto">
          <a:xfrm>
            <a:off x="3973513" y="8774113"/>
            <a:ext cx="303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9pPr>
          </a:lstStyle>
          <a:p>
            <a:pPr algn="r">
              <a:buFont typeface="Tahoma" panose="020B0604030504040204" pitchFamily="34" charset="0"/>
              <a:buNone/>
            </a:pPr>
            <a:fld id="{97D60D3D-2F23-4CB0-A310-DF6BC48F6CDF}" type="slidenum">
              <a:rPr lang="ar-SA" altLang="en-US" sz="1200">
                <a:solidFill>
                  <a:srgbClr val="000000"/>
                </a:solidFill>
                <a:latin typeface="Tahoma" panose="020B0604030504040204" pitchFamily="34" charset="0"/>
              </a:rPr>
              <a:pPr algn="r">
                <a:buFont typeface="Tahoma" panose="020B0604030504040204" pitchFamily="34" charset="0"/>
                <a:buNone/>
              </a:pPr>
              <a:t>2</a:t>
            </a:fld>
            <a:endParaRPr lang="en-GB" altLang="en-US" sz="1200">
              <a:solidFill>
                <a:srgbClr val="000000"/>
              </a:solidFill>
              <a:latin typeface="Tahoma" panose="020B0604030504040204" pitchFamily="34" charset="0"/>
            </a:endParaRPr>
          </a:p>
        </p:txBody>
      </p:sp>
      <p:sp>
        <p:nvSpPr>
          <p:cNvPr id="17412" name="Text Box 2"/>
          <p:cNvSpPr txBox="1">
            <a:spLocks noChangeArrowheads="1"/>
          </p:cNvSpPr>
          <p:nvPr/>
        </p:nvSpPr>
        <p:spPr bwMode="auto">
          <a:xfrm>
            <a:off x="3973513" y="8774113"/>
            <a:ext cx="3033712"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9pPr>
          </a:lstStyle>
          <a:p>
            <a:pPr algn="r">
              <a:buFont typeface="Tahoma" panose="020B0604030504040204" pitchFamily="34" charset="0"/>
              <a:buNone/>
            </a:pPr>
            <a:fld id="{32151358-E003-486B-A4D4-BA11A859627F}" type="slidenum">
              <a:rPr lang="ar-SA" altLang="en-US" sz="1200">
                <a:solidFill>
                  <a:srgbClr val="000000"/>
                </a:solidFill>
                <a:latin typeface="Tahoma" panose="020B0604030504040204" pitchFamily="34" charset="0"/>
              </a:rPr>
              <a:pPr algn="r">
                <a:buFont typeface="Tahoma" panose="020B0604030504040204" pitchFamily="34" charset="0"/>
                <a:buNone/>
              </a:pPr>
              <a:t>2</a:t>
            </a:fld>
            <a:endParaRPr lang="en-GB" altLang="en-US" sz="1200">
              <a:solidFill>
                <a:srgbClr val="000000"/>
              </a:solidFill>
              <a:latin typeface="Tahoma" panose="020B0604030504040204" pitchFamily="34" charset="0"/>
            </a:endParaRPr>
          </a:p>
        </p:txBody>
      </p:sp>
      <p:sp>
        <p:nvSpPr>
          <p:cNvPr id="17413" name="Text Box 3"/>
          <p:cNvSpPr txBox="1">
            <a:spLocks noChangeArrowheads="1"/>
          </p:cNvSpPr>
          <p:nvPr/>
        </p:nvSpPr>
        <p:spPr bwMode="auto">
          <a:xfrm>
            <a:off x="1160463" y="693738"/>
            <a:ext cx="4691062" cy="3462337"/>
          </a:xfrm>
          <a:prstGeom prst="rect">
            <a:avLst/>
          </a:prstGeom>
          <a:solidFill>
            <a:srgbClr val="FFFFFF"/>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DejaVu Sans"/>
                <a:cs typeface="DejaVu Sans"/>
              </a:defRPr>
            </a:lvl1pPr>
            <a:lvl2pPr marL="742950" indent="-285750">
              <a:defRPr sz="2400">
                <a:solidFill>
                  <a:schemeClr val="bg1"/>
                </a:solidFill>
                <a:latin typeface="Arial" panose="020B0604020202020204" pitchFamily="34" charset="0"/>
                <a:ea typeface="DejaVu Sans"/>
                <a:cs typeface="DejaVu Sans"/>
              </a:defRPr>
            </a:lvl2pPr>
            <a:lvl3pPr marL="1143000" indent="-228600">
              <a:defRPr sz="2400">
                <a:solidFill>
                  <a:schemeClr val="bg1"/>
                </a:solidFill>
                <a:latin typeface="Arial" panose="020B0604020202020204" pitchFamily="34" charset="0"/>
                <a:ea typeface="DejaVu Sans"/>
                <a:cs typeface="DejaVu Sans"/>
              </a:defRPr>
            </a:lvl3pPr>
            <a:lvl4pPr marL="1600200" indent="-228600">
              <a:defRPr sz="2400">
                <a:solidFill>
                  <a:schemeClr val="bg1"/>
                </a:solidFill>
                <a:latin typeface="Arial" panose="020B0604020202020204" pitchFamily="34" charset="0"/>
                <a:ea typeface="DejaVu Sans"/>
                <a:cs typeface="DejaVu Sans"/>
              </a:defRPr>
            </a:lvl4pPr>
            <a:lvl5pPr marL="2057400" indent="-228600">
              <a:defRPr sz="2400">
                <a:solidFill>
                  <a:schemeClr val="bg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DejaVu Sans"/>
                <a:cs typeface="DejaVu Sans"/>
              </a:defRPr>
            </a:lvl9pPr>
          </a:lstStyle>
          <a:p>
            <a:endParaRPr lang="de-AT" altLang="en-US"/>
          </a:p>
        </p:txBody>
      </p:sp>
      <p:sp>
        <p:nvSpPr>
          <p:cNvPr id="17414" name="Rectangle 4"/>
          <p:cNvSpPr>
            <a:spLocks noGrp="1" noChangeArrowheads="1"/>
          </p:cNvSpPr>
          <p:nvPr>
            <p:ph type="body"/>
          </p:nvPr>
        </p:nvSpPr>
        <p:spPr>
          <a:xfrm>
            <a:off x="935038" y="4387850"/>
            <a:ext cx="5135562" cy="41497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ltLang="en-US">
              <a:latin typeface="Times New Roman" panose="02020603050405020304" pitchFamily="18" charset="0"/>
            </a:endParaRPr>
          </a:p>
        </p:txBody>
      </p:sp>
    </p:spTree>
    <p:extLst>
      <p:ext uri="{BB962C8B-B14F-4D97-AF65-F5344CB8AC3E}">
        <p14:creationId xmlns:p14="http://schemas.microsoft.com/office/powerpoint/2010/main" val="34190754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4" name="Rectangle 10"/>
          <p:cNvSpPr txBox="1">
            <a:spLocks noGrp="1" noChangeArrowheads="1"/>
          </p:cNvSpPr>
          <p:nvPr/>
        </p:nvSpPr>
        <p:spPr bwMode="auto">
          <a:xfrm>
            <a:off x="3973513" y="8774113"/>
            <a:ext cx="3030537"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9pPr>
          </a:lstStyle>
          <a:p>
            <a:pPr algn="r">
              <a:buFont typeface="Tahoma" panose="020B0604030504040204" pitchFamily="34" charset="0"/>
              <a:buNone/>
            </a:pPr>
            <a:fld id="{3E7B1EC8-6091-4A84-B02F-7051528B4B4F}" type="slidenum">
              <a:rPr lang="ar-SA" altLang="en-US" sz="1200">
                <a:solidFill>
                  <a:srgbClr val="000000"/>
                </a:solidFill>
                <a:latin typeface="Tahoma" panose="020B0604030504040204" pitchFamily="34" charset="0"/>
              </a:rPr>
              <a:pPr algn="r">
                <a:buFont typeface="Tahoma" panose="020B0604030504040204" pitchFamily="34" charset="0"/>
                <a:buNone/>
              </a:pPr>
              <a:t>3</a:t>
            </a:fld>
            <a:endParaRPr lang="en-GB" altLang="en-US" sz="1200">
              <a:solidFill>
                <a:srgbClr val="000000"/>
              </a:solidFill>
              <a:latin typeface="Tahoma" panose="020B0604030504040204" pitchFamily="34" charset="0"/>
            </a:endParaRPr>
          </a:p>
        </p:txBody>
      </p:sp>
      <p:sp>
        <p:nvSpPr>
          <p:cNvPr id="18435" name="Text Box 1"/>
          <p:cNvSpPr txBox="1">
            <a:spLocks noChangeArrowheads="1"/>
          </p:cNvSpPr>
          <p:nvPr/>
        </p:nvSpPr>
        <p:spPr bwMode="auto">
          <a:xfrm>
            <a:off x="3973513" y="8774113"/>
            <a:ext cx="303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9pPr>
          </a:lstStyle>
          <a:p>
            <a:pPr algn="r">
              <a:buFont typeface="Tahoma" panose="020B0604030504040204" pitchFamily="34" charset="0"/>
              <a:buNone/>
            </a:pPr>
            <a:fld id="{217FF839-FCDC-4538-93CC-E34EAFEEA34F}" type="slidenum">
              <a:rPr lang="ar-SA" altLang="en-US" sz="1200">
                <a:solidFill>
                  <a:srgbClr val="000000"/>
                </a:solidFill>
                <a:latin typeface="Tahoma" panose="020B0604030504040204" pitchFamily="34" charset="0"/>
              </a:rPr>
              <a:pPr algn="r">
                <a:buFont typeface="Tahoma" panose="020B0604030504040204" pitchFamily="34" charset="0"/>
                <a:buNone/>
              </a:pPr>
              <a:t>3</a:t>
            </a:fld>
            <a:endParaRPr lang="en-GB" altLang="en-US" sz="1200">
              <a:solidFill>
                <a:srgbClr val="000000"/>
              </a:solidFill>
              <a:latin typeface="Tahoma" panose="020B0604030504040204" pitchFamily="34" charset="0"/>
            </a:endParaRPr>
          </a:p>
        </p:txBody>
      </p:sp>
      <p:sp>
        <p:nvSpPr>
          <p:cNvPr id="18436" name="Text Box 2"/>
          <p:cNvSpPr txBox="1">
            <a:spLocks noChangeArrowheads="1"/>
          </p:cNvSpPr>
          <p:nvPr/>
        </p:nvSpPr>
        <p:spPr bwMode="auto">
          <a:xfrm>
            <a:off x="3973513" y="8774113"/>
            <a:ext cx="3033712"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9pPr>
          </a:lstStyle>
          <a:p>
            <a:pPr algn="r">
              <a:buFont typeface="Tahoma" panose="020B0604030504040204" pitchFamily="34" charset="0"/>
              <a:buNone/>
            </a:pPr>
            <a:fld id="{28DFED3F-5A61-4881-AC31-B4567CF8FAAA}" type="slidenum">
              <a:rPr lang="ar-SA" altLang="en-US" sz="1200">
                <a:solidFill>
                  <a:srgbClr val="000000"/>
                </a:solidFill>
                <a:latin typeface="Tahoma" panose="020B0604030504040204" pitchFamily="34" charset="0"/>
              </a:rPr>
              <a:pPr algn="r">
                <a:buFont typeface="Tahoma" panose="020B0604030504040204" pitchFamily="34" charset="0"/>
                <a:buNone/>
              </a:pPr>
              <a:t>3</a:t>
            </a:fld>
            <a:endParaRPr lang="en-GB" altLang="en-US" sz="1200">
              <a:solidFill>
                <a:srgbClr val="000000"/>
              </a:solidFill>
              <a:latin typeface="Tahoma" panose="020B0604030504040204" pitchFamily="34" charset="0"/>
            </a:endParaRPr>
          </a:p>
        </p:txBody>
      </p:sp>
      <p:sp>
        <p:nvSpPr>
          <p:cNvPr id="18437" name="Text Box 3"/>
          <p:cNvSpPr txBox="1">
            <a:spLocks noChangeArrowheads="1"/>
          </p:cNvSpPr>
          <p:nvPr/>
        </p:nvSpPr>
        <p:spPr bwMode="auto">
          <a:xfrm>
            <a:off x="1160463" y="693738"/>
            <a:ext cx="4691062" cy="3462337"/>
          </a:xfrm>
          <a:prstGeom prst="rect">
            <a:avLst/>
          </a:prstGeom>
          <a:solidFill>
            <a:srgbClr val="FFFFFF"/>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DejaVu Sans"/>
                <a:cs typeface="DejaVu Sans"/>
              </a:defRPr>
            </a:lvl1pPr>
            <a:lvl2pPr marL="742950" indent="-285750">
              <a:defRPr sz="2400">
                <a:solidFill>
                  <a:schemeClr val="bg1"/>
                </a:solidFill>
                <a:latin typeface="Arial" panose="020B0604020202020204" pitchFamily="34" charset="0"/>
                <a:ea typeface="DejaVu Sans"/>
                <a:cs typeface="DejaVu Sans"/>
              </a:defRPr>
            </a:lvl2pPr>
            <a:lvl3pPr marL="1143000" indent="-228600">
              <a:defRPr sz="2400">
                <a:solidFill>
                  <a:schemeClr val="bg1"/>
                </a:solidFill>
                <a:latin typeface="Arial" panose="020B0604020202020204" pitchFamily="34" charset="0"/>
                <a:ea typeface="DejaVu Sans"/>
                <a:cs typeface="DejaVu Sans"/>
              </a:defRPr>
            </a:lvl3pPr>
            <a:lvl4pPr marL="1600200" indent="-228600">
              <a:defRPr sz="2400">
                <a:solidFill>
                  <a:schemeClr val="bg1"/>
                </a:solidFill>
                <a:latin typeface="Arial" panose="020B0604020202020204" pitchFamily="34" charset="0"/>
                <a:ea typeface="DejaVu Sans"/>
                <a:cs typeface="DejaVu Sans"/>
              </a:defRPr>
            </a:lvl4pPr>
            <a:lvl5pPr marL="2057400" indent="-228600">
              <a:defRPr sz="2400">
                <a:solidFill>
                  <a:schemeClr val="bg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DejaVu Sans"/>
                <a:cs typeface="DejaVu Sans"/>
              </a:defRPr>
            </a:lvl9pPr>
          </a:lstStyle>
          <a:p>
            <a:endParaRPr lang="de-AT" altLang="en-US"/>
          </a:p>
        </p:txBody>
      </p:sp>
      <p:sp>
        <p:nvSpPr>
          <p:cNvPr id="18438" name="Rectangle 4"/>
          <p:cNvSpPr>
            <a:spLocks noGrp="1" noChangeArrowheads="1"/>
          </p:cNvSpPr>
          <p:nvPr>
            <p:ph type="body"/>
          </p:nvPr>
        </p:nvSpPr>
        <p:spPr>
          <a:xfrm>
            <a:off x="935038" y="4387850"/>
            <a:ext cx="5135562" cy="41497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ltLang="en-US">
              <a:latin typeface="Times New Roman" panose="02020603050405020304" pitchFamily="18" charset="0"/>
            </a:endParaRPr>
          </a:p>
        </p:txBody>
      </p:sp>
    </p:spTree>
    <p:extLst>
      <p:ext uri="{BB962C8B-B14F-4D97-AF65-F5344CB8AC3E}">
        <p14:creationId xmlns:p14="http://schemas.microsoft.com/office/powerpoint/2010/main" val="19949758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E"/>
          </a:p>
        </p:txBody>
      </p:sp>
      <p:sp>
        <p:nvSpPr>
          <p:cNvPr id="4" name="Date Placeholder 3"/>
          <p:cNvSpPr>
            <a:spLocks noGrp="1"/>
          </p:cNvSpPr>
          <p:nvPr>
            <p:ph type="dt" sz="half" idx="10"/>
          </p:nvPr>
        </p:nvSpPr>
        <p:spPr/>
        <p:txBody>
          <a:bodyPr/>
          <a:lstStyle/>
          <a:p>
            <a:fld id="{23B5AF71-02A3-46FB-8593-3D5F029059DF}" type="datetimeFigureOut">
              <a:rPr lang="en-IE" smtClean="0"/>
              <a:t>24/02/2025</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9284FB45-1ED6-41BB-A146-54B96BE78B7D}" type="slidenum">
              <a:rPr lang="en-IE" smtClean="0"/>
              <a:t>‹#›</a:t>
            </a:fld>
            <a:endParaRPr lang="en-IE"/>
          </a:p>
        </p:txBody>
      </p:sp>
    </p:spTree>
    <p:extLst>
      <p:ext uri="{BB962C8B-B14F-4D97-AF65-F5344CB8AC3E}">
        <p14:creationId xmlns:p14="http://schemas.microsoft.com/office/powerpoint/2010/main" val="2255258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idx="1"/>
          </p:nvPr>
        </p:nvSpPr>
        <p:spPr/>
        <p:txBody>
          <a:bodyPr/>
          <a:lstStyle>
            <a:lvl1pPr>
              <a:defRPr>
                <a:solidFill>
                  <a:srgbClr val="FF0000"/>
                </a:solidFill>
              </a:defRPr>
            </a:lvl1pPr>
            <a:lvl2pPr>
              <a:defRPr>
                <a:solidFill>
                  <a:schemeClr val="tx1"/>
                </a:solidFill>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E" dirty="0"/>
          </a:p>
        </p:txBody>
      </p:sp>
      <p:sp>
        <p:nvSpPr>
          <p:cNvPr id="4" name="Date Placeholder 3"/>
          <p:cNvSpPr>
            <a:spLocks noGrp="1"/>
          </p:cNvSpPr>
          <p:nvPr>
            <p:ph type="dt" sz="half" idx="10"/>
          </p:nvPr>
        </p:nvSpPr>
        <p:spPr/>
        <p:txBody>
          <a:bodyPr/>
          <a:lstStyle/>
          <a:p>
            <a:fld id="{23B5AF71-02A3-46FB-8593-3D5F029059DF}" type="datetimeFigureOut">
              <a:rPr lang="en-IE" smtClean="0"/>
              <a:t>24/02/2025</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9284FB45-1ED6-41BB-A146-54B96BE78B7D}" type="slidenum">
              <a:rPr lang="en-IE" smtClean="0"/>
              <a:t>‹#›</a:t>
            </a:fld>
            <a:endParaRPr lang="en-IE"/>
          </a:p>
        </p:txBody>
      </p:sp>
    </p:spTree>
    <p:extLst>
      <p:ext uri="{BB962C8B-B14F-4D97-AF65-F5344CB8AC3E}">
        <p14:creationId xmlns:p14="http://schemas.microsoft.com/office/powerpoint/2010/main" val="923229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sldNum" idx="10"/>
          </p:nvPr>
        </p:nvSpPr>
        <p:spPr>
          <a:ln/>
        </p:spPr>
        <p:txBody>
          <a:bodyPr/>
          <a:lstStyle>
            <a:lvl1pPr>
              <a:defRPr/>
            </a:lvl1pPr>
          </a:lstStyle>
          <a:p>
            <a:fld id="{A05DA573-9F62-4D67-9AB4-1CA0FDB797A8}" type="slidenum">
              <a:rPr lang="ar-SA" altLang="en-US"/>
              <a:pPr/>
              <a:t>‹#›</a:t>
            </a:fld>
            <a:endParaRPr lang="en-GB" altLang="en-US"/>
          </a:p>
        </p:txBody>
      </p:sp>
    </p:spTree>
    <p:extLst>
      <p:ext uri="{BB962C8B-B14F-4D97-AF65-F5344CB8AC3E}">
        <p14:creationId xmlns:p14="http://schemas.microsoft.com/office/powerpoint/2010/main" val="37340519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endParaRPr lang="en-IE"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E"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B5AF71-02A3-46FB-8593-3D5F029059DF}" type="datetimeFigureOut">
              <a:rPr lang="en-IE" smtClean="0"/>
              <a:t>24/02/2025</a:t>
            </a:fld>
            <a:endParaRPr lang="en-IE"/>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7" name="TextBox 6"/>
          <p:cNvSpPr txBox="1"/>
          <p:nvPr userDrawn="1"/>
        </p:nvSpPr>
        <p:spPr>
          <a:xfrm>
            <a:off x="8458200" y="6477000"/>
            <a:ext cx="685800" cy="381000"/>
          </a:xfrm>
          <a:prstGeom prst="rect">
            <a:avLst/>
          </a:prstGeom>
          <a:noFill/>
        </p:spPr>
        <p:txBody>
          <a:bodyPr wrap="square" rtlCol="0">
            <a:spAutoFit/>
          </a:bodyPr>
          <a:lstStyle/>
          <a:p>
            <a:pPr algn="r"/>
            <a:fld id="{361424CE-21A9-40ED-A480-F74D0252FFC4}" type="slidenum">
              <a:rPr lang="en-IE" smtClean="0"/>
              <a:pPr algn="r"/>
              <a:t>‹#›</a:t>
            </a:fld>
            <a:endParaRPr lang="en-IE" dirty="0"/>
          </a:p>
        </p:txBody>
      </p:sp>
    </p:spTree>
    <p:extLst>
      <p:ext uri="{BB962C8B-B14F-4D97-AF65-F5344CB8AC3E}">
        <p14:creationId xmlns:p14="http://schemas.microsoft.com/office/powerpoint/2010/main" val="32435192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ctr" defTabSz="914400" rtl="0" eaLnBrk="1" latinLnBrk="0" hangingPunct="1">
        <a:spcBef>
          <a:spcPct val="0"/>
        </a:spcBef>
        <a:buNone/>
        <a:defRPr sz="4400" kern="1200">
          <a:solidFill>
            <a:schemeClr val="tx2"/>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rgbClr val="FF0000"/>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1.wmf"/><Relationship Id="rId7" Type="http://schemas.openxmlformats.org/officeDocument/2006/relationships/oleObject" Target="../embeddings/oleObject3.bin"/><Relationship Id="rId12"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image" Target="../media/image3.wmf"/><Relationship Id="rId11" Type="http://schemas.openxmlformats.org/officeDocument/2006/relationships/oleObject" Target="../embeddings/oleObject6.bin"/><Relationship Id="rId5" Type="http://schemas.openxmlformats.org/officeDocument/2006/relationships/oleObject" Target="../embeddings/oleObject2.bin"/><Relationship Id="rId10" Type="http://schemas.openxmlformats.org/officeDocument/2006/relationships/image" Target="../media/image4.wmf"/><Relationship Id="rId4" Type="http://schemas.openxmlformats.org/officeDocument/2006/relationships/image" Target="../media/image2.wmf"/><Relationship Id="rId9" Type="http://schemas.openxmlformats.org/officeDocument/2006/relationships/oleObject" Target="../embeddings/oleObject5.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Net Centric Programming</a:t>
            </a:r>
            <a:br>
              <a:rPr lang="en-US" dirty="0"/>
            </a:br>
            <a:r>
              <a:rPr lang="en-US" dirty="0"/>
              <a:t>Lecture 1</a:t>
            </a:r>
            <a:endParaRPr lang="en-IE" dirty="0"/>
          </a:p>
        </p:txBody>
      </p:sp>
      <p:sp>
        <p:nvSpPr>
          <p:cNvPr id="3" name="Subtitle 2"/>
          <p:cNvSpPr>
            <a:spLocks noGrp="1"/>
          </p:cNvSpPr>
          <p:nvPr>
            <p:ph type="subTitle" idx="1"/>
          </p:nvPr>
        </p:nvSpPr>
        <p:spPr/>
        <p:txBody>
          <a:bodyPr/>
          <a:lstStyle/>
          <a:p>
            <a:r>
              <a:rPr lang="en-US" dirty="0">
                <a:solidFill>
                  <a:srgbClr val="FF0000"/>
                </a:solidFill>
              </a:rPr>
              <a:t>Adeel-ur-Rehman</a:t>
            </a:r>
            <a:endParaRPr lang="en-IE" dirty="0">
              <a:solidFill>
                <a:srgbClr val="FF0000"/>
              </a:solidFill>
            </a:endParaRPr>
          </a:p>
        </p:txBody>
      </p:sp>
    </p:spTree>
    <p:extLst>
      <p:ext uri="{BB962C8B-B14F-4D97-AF65-F5344CB8AC3E}">
        <p14:creationId xmlns:p14="http://schemas.microsoft.com/office/powerpoint/2010/main" val="3993522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2"/>
          <p:cNvSpPr txBox="1">
            <a:spLocks noChangeArrowheads="1"/>
          </p:cNvSpPr>
          <p:nvPr/>
        </p:nvSpPr>
        <p:spPr bwMode="auto">
          <a:xfrm>
            <a:off x="685800" y="609600"/>
            <a:ext cx="7772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9pPr>
          </a:lstStyle>
          <a:p>
            <a:pPr algn="ctr"/>
            <a:r>
              <a:rPr lang="en-GB" altLang="en-US" sz="4200">
                <a:solidFill>
                  <a:srgbClr val="000000"/>
                </a:solidFill>
                <a:latin typeface="Times New Roman" panose="02020603050405020304" pitchFamily="18" charset="0"/>
              </a:rPr>
              <a:t>About Me</a:t>
            </a:r>
          </a:p>
        </p:txBody>
      </p:sp>
      <p:sp>
        <p:nvSpPr>
          <p:cNvPr id="3076" name="Text Box 3"/>
          <p:cNvSpPr txBox="1">
            <a:spLocks noChangeArrowheads="1"/>
          </p:cNvSpPr>
          <p:nvPr/>
        </p:nvSpPr>
        <p:spPr bwMode="auto">
          <a:xfrm>
            <a:off x="685800" y="1600200"/>
            <a:ext cx="8077200" cy="484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marL="336550" indent="-336550">
              <a:tabLst>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Lst>
              <a:defRPr sz="2400">
                <a:solidFill>
                  <a:schemeClr val="bg1"/>
                </a:solidFill>
                <a:latin typeface="Arial" panose="020B0604020202020204" pitchFamily="34" charset="0"/>
                <a:ea typeface="DejaVu Sans"/>
                <a:cs typeface="DejaVu Sans"/>
              </a:defRPr>
            </a:lvl1pPr>
            <a:lvl2pPr marL="742950" indent="-285750">
              <a:tabLst>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Lst>
              <a:defRPr sz="2400">
                <a:solidFill>
                  <a:schemeClr val="bg1"/>
                </a:solidFill>
                <a:latin typeface="Arial" panose="020B0604020202020204" pitchFamily="34" charset="0"/>
                <a:ea typeface="DejaVu Sans"/>
                <a:cs typeface="DejaVu Sans"/>
              </a:defRPr>
            </a:lvl2pPr>
            <a:lvl3pPr marL="1143000" indent="-228600">
              <a:tabLst>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Lst>
              <a:defRPr sz="2400">
                <a:solidFill>
                  <a:schemeClr val="bg1"/>
                </a:solidFill>
                <a:latin typeface="Arial" panose="020B0604020202020204" pitchFamily="34" charset="0"/>
                <a:ea typeface="DejaVu Sans"/>
                <a:cs typeface="DejaVu Sans"/>
              </a:defRPr>
            </a:lvl3pPr>
            <a:lvl4pPr marL="1600200" indent="-228600">
              <a:tabLst>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Lst>
              <a:defRPr sz="2400">
                <a:solidFill>
                  <a:schemeClr val="bg1"/>
                </a:solidFill>
                <a:latin typeface="Arial" panose="020B0604020202020204" pitchFamily="34" charset="0"/>
                <a:ea typeface="DejaVu Sans"/>
                <a:cs typeface="DejaVu Sans"/>
              </a:defRPr>
            </a:lvl4pPr>
            <a:lvl5pPr marL="2057400" indent="-228600">
              <a:tabLst>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Lst>
              <a:defRPr sz="2400">
                <a:solidFill>
                  <a:schemeClr val="bg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buClr>
                <a:srgbClr val="000000"/>
              </a:buClr>
              <a:buSzPct val="100000"/>
              <a:buFont typeface="Arial" panose="020B0604020202020204" pitchFamily="34" charset="0"/>
              <a:tabLst>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Lst>
              <a:defRPr sz="2400">
                <a:solidFill>
                  <a:schemeClr val="bg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buClr>
                <a:srgbClr val="000000"/>
              </a:buClr>
              <a:buSzPct val="100000"/>
              <a:buFont typeface="Arial" panose="020B0604020202020204" pitchFamily="34" charset="0"/>
              <a:tabLst>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Lst>
              <a:defRPr sz="2400">
                <a:solidFill>
                  <a:schemeClr val="bg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buClr>
                <a:srgbClr val="000000"/>
              </a:buClr>
              <a:buSzPct val="100000"/>
              <a:buFont typeface="Arial" panose="020B0604020202020204" pitchFamily="34" charset="0"/>
              <a:tabLst>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Lst>
              <a:defRPr sz="2400">
                <a:solidFill>
                  <a:schemeClr val="bg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buClr>
                <a:srgbClr val="000000"/>
              </a:buClr>
              <a:buSzPct val="100000"/>
              <a:buFont typeface="Arial" panose="020B0604020202020204" pitchFamily="34" charset="0"/>
              <a:tabLst>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Lst>
              <a:defRPr sz="2400">
                <a:solidFill>
                  <a:schemeClr val="bg1"/>
                </a:solidFill>
                <a:latin typeface="Arial" panose="020B0604020202020204" pitchFamily="34" charset="0"/>
                <a:ea typeface="DejaVu Sans"/>
                <a:cs typeface="DejaVu Sans"/>
              </a:defRPr>
            </a:lvl9pPr>
          </a:lstStyle>
          <a:p>
            <a:pPr algn="just">
              <a:lnSpc>
                <a:spcPct val="90000"/>
              </a:lnSpc>
              <a:spcBef>
                <a:spcPts val="1050"/>
              </a:spcBef>
              <a:buFont typeface="Wingdings" panose="05000000000000000000" pitchFamily="2" charset="2"/>
              <a:buChar char=""/>
            </a:pPr>
            <a:r>
              <a:rPr lang="en-GB" altLang="en-US" sz="2600" dirty="0">
                <a:solidFill>
                  <a:schemeClr val="accent6">
                    <a:lumMod val="50000"/>
                  </a:schemeClr>
                </a:solidFill>
                <a:latin typeface="Times New Roman" panose="02020603050405020304" pitchFamily="18" charset="0"/>
              </a:rPr>
              <a:t>Education</a:t>
            </a:r>
          </a:p>
          <a:p>
            <a:pPr lvl="1" algn="just">
              <a:lnSpc>
                <a:spcPct val="90000"/>
              </a:lnSpc>
              <a:spcBef>
                <a:spcPts val="1050"/>
              </a:spcBef>
              <a:buFont typeface="Wingdings" panose="05000000000000000000" pitchFamily="2" charset="2"/>
              <a:buChar char=""/>
            </a:pPr>
            <a:r>
              <a:rPr lang="en-GB" altLang="en-US" sz="2200" dirty="0">
                <a:solidFill>
                  <a:srgbClr val="000000"/>
                </a:solidFill>
                <a:latin typeface="Times New Roman" panose="02020603050405020304" pitchFamily="18" charset="0"/>
              </a:rPr>
              <a:t>2014, M.S. (Computing), </a:t>
            </a:r>
            <a:r>
              <a:rPr lang="en-GB" altLang="en-US" sz="2200" dirty="0">
                <a:solidFill>
                  <a:srgbClr val="C00000"/>
                </a:solidFill>
                <a:latin typeface="Times New Roman" panose="02020603050405020304" pitchFamily="18" charset="0"/>
              </a:rPr>
              <a:t>SZABIST</a:t>
            </a:r>
          </a:p>
          <a:p>
            <a:pPr algn="just">
              <a:lnSpc>
                <a:spcPct val="90000"/>
              </a:lnSpc>
              <a:spcBef>
                <a:spcPts val="1050"/>
              </a:spcBef>
              <a:buFont typeface="Wingdings" panose="05000000000000000000" pitchFamily="2" charset="2"/>
              <a:buChar char=""/>
            </a:pPr>
            <a:r>
              <a:rPr lang="en-GB" altLang="en-US" sz="2600" dirty="0">
                <a:solidFill>
                  <a:schemeClr val="accent6">
                    <a:lumMod val="50000"/>
                  </a:schemeClr>
                </a:solidFill>
                <a:latin typeface="Times New Roman" panose="02020603050405020304" pitchFamily="18" charset="0"/>
              </a:rPr>
              <a:t>Work Experiences</a:t>
            </a:r>
          </a:p>
          <a:p>
            <a:pPr lvl="1" algn="just">
              <a:lnSpc>
                <a:spcPct val="90000"/>
              </a:lnSpc>
              <a:spcBef>
                <a:spcPts val="1050"/>
              </a:spcBef>
              <a:buFont typeface="Wingdings" panose="05000000000000000000" pitchFamily="2" charset="2"/>
              <a:buChar char=""/>
            </a:pPr>
            <a:r>
              <a:rPr lang="en-GB" altLang="en-US" sz="2200" dirty="0">
                <a:solidFill>
                  <a:srgbClr val="000000"/>
                </a:solidFill>
                <a:latin typeface="Times New Roman" panose="02020603050405020304" pitchFamily="18" charset="0"/>
              </a:rPr>
              <a:t>Principal Scientific Officer, National Centre for Physics (</a:t>
            </a:r>
            <a:r>
              <a:rPr lang="en-GB" altLang="en-US" sz="2200" dirty="0">
                <a:solidFill>
                  <a:srgbClr val="C00000"/>
                </a:solidFill>
                <a:latin typeface="Times New Roman" panose="02020603050405020304" pitchFamily="18" charset="0"/>
              </a:rPr>
              <a:t>NCP</a:t>
            </a:r>
            <a:r>
              <a:rPr lang="en-GB" altLang="en-US" sz="2200" dirty="0">
                <a:solidFill>
                  <a:srgbClr val="000000"/>
                </a:solidFill>
                <a:latin typeface="Times New Roman" panose="02020603050405020304" pitchFamily="18" charset="0"/>
              </a:rPr>
              <a:t>).</a:t>
            </a:r>
          </a:p>
          <a:p>
            <a:pPr lvl="1" algn="just">
              <a:lnSpc>
                <a:spcPct val="90000"/>
              </a:lnSpc>
              <a:spcBef>
                <a:spcPts val="1050"/>
              </a:spcBef>
              <a:buFont typeface="Wingdings" panose="05000000000000000000" pitchFamily="2" charset="2"/>
              <a:buChar char=""/>
            </a:pPr>
            <a:r>
              <a:rPr lang="en-GB" altLang="en-US" sz="2200" dirty="0">
                <a:solidFill>
                  <a:srgbClr val="000000"/>
                </a:solidFill>
                <a:latin typeface="Times New Roman" panose="02020603050405020304" pitchFamily="18" charset="0"/>
              </a:rPr>
              <a:t>Offshore Developer, </a:t>
            </a:r>
            <a:r>
              <a:rPr lang="en-GB" altLang="en-US" sz="2200" dirty="0">
                <a:solidFill>
                  <a:srgbClr val="C00000"/>
                </a:solidFill>
                <a:latin typeface="Times New Roman" panose="02020603050405020304" pitchFamily="18" charset="0"/>
              </a:rPr>
              <a:t>CERN</a:t>
            </a:r>
            <a:r>
              <a:rPr lang="en-GB" altLang="en-US" sz="2200" dirty="0">
                <a:solidFill>
                  <a:srgbClr val="000000"/>
                </a:solidFill>
                <a:latin typeface="Times New Roman" panose="02020603050405020304" pitchFamily="18" charset="0"/>
              </a:rPr>
              <a:t> (European Centre for Nuclear Research), Switzerland.</a:t>
            </a:r>
          </a:p>
          <a:p>
            <a:pPr lvl="1" algn="just">
              <a:lnSpc>
                <a:spcPct val="90000"/>
              </a:lnSpc>
              <a:spcBef>
                <a:spcPts val="1050"/>
              </a:spcBef>
              <a:buFont typeface="Wingdings" panose="05000000000000000000" pitchFamily="2" charset="2"/>
              <a:buChar char=""/>
            </a:pPr>
            <a:r>
              <a:rPr lang="en-GB" altLang="en-US" sz="2200" dirty="0">
                <a:solidFill>
                  <a:srgbClr val="000000"/>
                </a:solidFill>
                <a:latin typeface="Times New Roman" panose="02020603050405020304" pitchFamily="18" charset="0"/>
              </a:rPr>
              <a:t>Visiting Faculty, QAU</a:t>
            </a:r>
          </a:p>
          <a:p>
            <a:pPr lvl="1" algn="just">
              <a:lnSpc>
                <a:spcPct val="90000"/>
              </a:lnSpc>
              <a:spcBef>
                <a:spcPts val="1050"/>
              </a:spcBef>
              <a:buFont typeface="Wingdings" panose="05000000000000000000" pitchFamily="2" charset="2"/>
              <a:buChar char=""/>
            </a:pPr>
            <a:r>
              <a:rPr lang="en-GB" altLang="en-US" sz="2200" dirty="0">
                <a:solidFill>
                  <a:srgbClr val="000000"/>
                </a:solidFill>
                <a:latin typeface="Times New Roman" panose="02020603050405020304" pitchFamily="18" charset="0"/>
              </a:rPr>
              <a:t>Ex-Visiting Faculty Experience</a:t>
            </a:r>
          </a:p>
          <a:p>
            <a:pPr lvl="2" algn="just">
              <a:lnSpc>
                <a:spcPct val="90000"/>
              </a:lnSpc>
              <a:spcBef>
                <a:spcPts val="1050"/>
              </a:spcBef>
              <a:buFont typeface="Wingdings" panose="05000000000000000000" pitchFamily="2" charset="2"/>
              <a:buChar char=""/>
            </a:pPr>
            <a:r>
              <a:rPr lang="en-GB" altLang="en-US" sz="2200" dirty="0">
                <a:solidFill>
                  <a:srgbClr val="000000"/>
                </a:solidFill>
                <a:latin typeface="Times New Roman" panose="02020603050405020304" pitchFamily="18" charset="0"/>
              </a:rPr>
              <a:t>SZABIST Islamabad Campus</a:t>
            </a:r>
          </a:p>
          <a:p>
            <a:pPr lvl="2" algn="just">
              <a:lnSpc>
                <a:spcPct val="90000"/>
              </a:lnSpc>
              <a:spcBef>
                <a:spcPts val="1050"/>
              </a:spcBef>
              <a:buFont typeface="Wingdings" panose="05000000000000000000" pitchFamily="2" charset="2"/>
              <a:buChar char=""/>
            </a:pPr>
            <a:r>
              <a:rPr lang="en-GB" altLang="en-US" sz="2200" dirty="0">
                <a:solidFill>
                  <a:srgbClr val="000000"/>
                </a:solidFill>
                <a:latin typeface="Times New Roman" panose="02020603050405020304" pitchFamily="18" charset="0"/>
              </a:rPr>
              <a:t>PMAS-AAU Rawalpindi (CS and IT Departments)</a:t>
            </a:r>
          </a:p>
          <a:p>
            <a:pPr lvl="2" algn="just">
              <a:lnSpc>
                <a:spcPct val="90000"/>
              </a:lnSpc>
              <a:spcBef>
                <a:spcPts val="1050"/>
              </a:spcBef>
              <a:buFont typeface="Wingdings" panose="05000000000000000000" pitchFamily="2" charset="2"/>
              <a:buChar char=""/>
            </a:pPr>
            <a:r>
              <a:rPr lang="en-GB" altLang="en-US" sz="2200" dirty="0" err="1">
                <a:solidFill>
                  <a:srgbClr val="000000"/>
                </a:solidFill>
                <a:latin typeface="Times New Roman" panose="02020603050405020304" pitchFamily="18" charset="0"/>
              </a:rPr>
              <a:t>TechnoEd</a:t>
            </a:r>
            <a:r>
              <a:rPr lang="en-GB" altLang="en-US" sz="2200" dirty="0">
                <a:solidFill>
                  <a:srgbClr val="000000"/>
                </a:solidFill>
                <a:latin typeface="Times New Roman" panose="02020603050405020304" pitchFamily="18" charset="0"/>
              </a:rPr>
              <a:t> institute (ORACLE partner in Pakistan)</a:t>
            </a:r>
          </a:p>
          <a:p>
            <a:pPr algn="just">
              <a:lnSpc>
                <a:spcPct val="90000"/>
              </a:lnSpc>
              <a:spcBef>
                <a:spcPts val="1050"/>
              </a:spcBef>
              <a:buFont typeface="Wingdings" panose="05000000000000000000" pitchFamily="2" charset="2"/>
              <a:buChar char=""/>
            </a:pPr>
            <a:endParaRPr lang="en-GB" altLang="en-US" sz="2200" dirty="0">
              <a:solidFill>
                <a:srgbClr val="000000"/>
              </a:solidFill>
              <a:latin typeface="Times New Roman" panose="02020603050405020304" pitchFamily="18" charset="0"/>
            </a:endParaRPr>
          </a:p>
          <a:p>
            <a:pPr algn="just">
              <a:lnSpc>
                <a:spcPct val="90000"/>
              </a:lnSpc>
              <a:spcBef>
                <a:spcPts val="1050"/>
              </a:spcBef>
              <a:buFont typeface="Wingdings" panose="05000000000000000000" pitchFamily="2" charset="2"/>
              <a:buChar char=""/>
            </a:pPr>
            <a:endParaRPr lang="en-GB" altLang="en-US" sz="2800" dirty="0">
              <a:solidFill>
                <a:srgbClr val="000000"/>
              </a:solidFill>
              <a:latin typeface="Times New Roman" panose="02020603050405020304" pitchFamily="18" charset="0"/>
            </a:endParaRPr>
          </a:p>
          <a:p>
            <a:pPr algn="just">
              <a:lnSpc>
                <a:spcPct val="90000"/>
              </a:lnSpc>
              <a:spcBef>
                <a:spcPts val="1050"/>
              </a:spcBef>
              <a:buFont typeface="Wingdings" panose="05000000000000000000" pitchFamily="2" charset="2"/>
              <a:buChar char=""/>
            </a:pPr>
            <a:endParaRPr lang="en-GB" altLang="en-US" sz="2800" dirty="0">
              <a:solidFill>
                <a:srgbClr val="000000"/>
              </a:solidFill>
              <a:latin typeface="Times New Roman" panose="02020603050405020304" pitchFamily="18" charset="0"/>
            </a:endParaRPr>
          </a:p>
          <a:p>
            <a:pPr algn="just">
              <a:lnSpc>
                <a:spcPct val="90000"/>
              </a:lnSpc>
              <a:spcBef>
                <a:spcPts val="1050"/>
              </a:spcBef>
              <a:buFont typeface="Wingdings" panose="05000000000000000000" pitchFamily="2" charset="2"/>
              <a:buChar char=""/>
            </a:pPr>
            <a:endParaRPr lang="en-GB" altLang="en-US" sz="28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228151059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ext Box 2"/>
          <p:cNvSpPr txBox="1">
            <a:spLocks noChangeArrowheads="1"/>
          </p:cNvSpPr>
          <p:nvPr/>
        </p:nvSpPr>
        <p:spPr bwMode="auto">
          <a:xfrm>
            <a:off x="685800" y="609600"/>
            <a:ext cx="7772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buClr>
                <a:srgbClr val="000000"/>
              </a:buClr>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DejaVu Sans"/>
                <a:cs typeface="DejaVu Sans"/>
              </a:defRPr>
            </a:lvl9pPr>
          </a:lstStyle>
          <a:p>
            <a:pPr algn="ctr"/>
            <a:r>
              <a:rPr lang="en-GB" altLang="en-US" sz="4200">
                <a:solidFill>
                  <a:srgbClr val="000000"/>
                </a:solidFill>
                <a:latin typeface="Times New Roman" panose="02020603050405020304" pitchFamily="18" charset="0"/>
              </a:rPr>
              <a:t>About Me</a:t>
            </a:r>
          </a:p>
        </p:txBody>
      </p:sp>
      <p:sp>
        <p:nvSpPr>
          <p:cNvPr id="4100" name="Text Box 3"/>
          <p:cNvSpPr txBox="1">
            <a:spLocks noChangeArrowheads="1"/>
          </p:cNvSpPr>
          <p:nvPr/>
        </p:nvSpPr>
        <p:spPr bwMode="auto">
          <a:xfrm>
            <a:off x="685800" y="1600200"/>
            <a:ext cx="7772400" cy="484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marL="336550" indent="-336550">
              <a:tabLst>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Lst>
              <a:defRPr sz="2400">
                <a:solidFill>
                  <a:schemeClr val="bg1"/>
                </a:solidFill>
                <a:latin typeface="Arial" panose="020B0604020202020204" pitchFamily="34" charset="0"/>
                <a:ea typeface="DejaVu Sans"/>
                <a:cs typeface="DejaVu Sans"/>
              </a:defRPr>
            </a:lvl1pPr>
            <a:lvl2pPr marL="742950" indent="-285750">
              <a:tabLst>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Lst>
              <a:defRPr sz="2400">
                <a:solidFill>
                  <a:schemeClr val="bg1"/>
                </a:solidFill>
                <a:latin typeface="Arial" panose="020B0604020202020204" pitchFamily="34" charset="0"/>
                <a:ea typeface="DejaVu Sans"/>
                <a:cs typeface="DejaVu Sans"/>
              </a:defRPr>
            </a:lvl2pPr>
            <a:lvl3pPr marL="1143000" indent="-228600">
              <a:tabLst>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Lst>
              <a:defRPr sz="2400">
                <a:solidFill>
                  <a:schemeClr val="bg1"/>
                </a:solidFill>
                <a:latin typeface="Arial" panose="020B0604020202020204" pitchFamily="34" charset="0"/>
                <a:ea typeface="DejaVu Sans"/>
                <a:cs typeface="DejaVu Sans"/>
              </a:defRPr>
            </a:lvl3pPr>
            <a:lvl4pPr marL="1600200" indent="-228600">
              <a:tabLst>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Lst>
              <a:defRPr sz="2400">
                <a:solidFill>
                  <a:schemeClr val="bg1"/>
                </a:solidFill>
                <a:latin typeface="Arial" panose="020B0604020202020204" pitchFamily="34" charset="0"/>
                <a:ea typeface="DejaVu Sans"/>
                <a:cs typeface="DejaVu Sans"/>
              </a:defRPr>
            </a:lvl4pPr>
            <a:lvl5pPr marL="2057400" indent="-228600">
              <a:tabLst>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Lst>
              <a:defRPr sz="2400">
                <a:solidFill>
                  <a:schemeClr val="bg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buClr>
                <a:srgbClr val="000000"/>
              </a:buClr>
              <a:buSzPct val="100000"/>
              <a:buFont typeface="Arial" panose="020B0604020202020204" pitchFamily="34" charset="0"/>
              <a:tabLst>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Lst>
              <a:defRPr sz="2400">
                <a:solidFill>
                  <a:schemeClr val="bg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buClr>
                <a:srgbClr val="000000"/>
              </a:buClr>
              <a:buSzPct val="100000"/>
              <a:buFont typeface="Arial" panose="020B0604020202020204" pitchFamily="34" charset="0"/>
              <a:tabLst>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Lst>
              <a:defRPr sz="2400">
                <a:solidFill>
                  <a:schemeClr val="bg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buClr>
                <a:srgbClr val="000000"/>
              </a:buClr>
              <a:buSzPct val="100000"/>
              <a:buFont typeface="Arial" panose="020B0604020202020204" pitchFamily="34" charset="0"/>
              <a:tabLst>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Lst>
              <a:defRPr sz="2400">
                <a:solidFill>
                  <a:schemeClr val="bg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buClr>
                <a:srgbClr val="000000"/>
              </a:buClr>
              <a:buSzPct val="100000"/>
              <a:buFont typeface="Arial" panose="020B0604020202020204" pitchFamily="34" charset="0"/>
              <a:tabLst>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Lst>
              <a:defRPr sz="2400">
                <a:solidFill>
                  <a:schemeClr val="bg1"/>
                </a:solidFill>
                <a:latin typeface="Arial" panose="020B0604020202020204" pitchFamily="34" charset="0"/>
                <a:ea typeface="DejaVu Sans"/>
                <a:cs typeface="DejaVu Sans"/>
              </a:defRPr>
            </a:lvl9pPr>
          </a:lstStyle>
          <a:p>
            <a:pPr algn="just">
              <a:lnSpc>
                <a:spcPct val="90000"/>
              </a:lnSpc>
              <a:spcBef>
                <a:spcPts val="1050"/>
              </a:spcBef>
              <a:buFont typeface="Wingdings" panose="05000000000000000000" pitchFamily="2" charset="2"/>
              <a:buChar char=""/>
            </a:pPr>
            <a:r>
              <a:rPr lang="en-GB" altLang="en-US" sz="2600" dirty="0">
                <a:solidFill>
                  <a:schemeClr val="accent6">
                    <a:lumMod val="50000"/>
                  </a:schemeClr>
                </a:solidFill>
                <a:latin typeface="Times New Roman" panose="02020603050405020304" pitchFamily="18" charset="0"/>
              </a:rPr>
              <a:t>Research Interests</a:t>
            </a:r>
          </a:p>
          <a:p>
            <a:pPr lvl="1" algn="just">
              <a:lnSpc>
                <a:spcPct val="90000"/>
              </a:lnSpc>
              <a:spcBef>
                <a:spcPts val="1050"/>
              </a:spcBef>
              <a:buFont typeface="Wingdings" panose="05000000000000000000" pitchFamily="2" charset="2"/>
              <a:buChar char=""/>
            </a:pPr>
            <a:r>
              <a:rPr lang="en-GB" altLang="en-US" sz="2200" dirty="0">
                <a:solidFill>
                  <a:srgbClr val="000000"/>
                </a:solidFill>
                <a:latin typeface="Times New Roman" panose="02020603050405020304" pitchFamily="18" charset="0"/>
              </a:rPr>
              <a:t>Programming Languages</a:t>
            </a:r>
          </a:p>
          <a:p>
            <a:pPr lvl="1" algn="just">
              <a:lnSpc>
                <a:spcPct val="90000"/>
              </a:lnSpc>
              <a:spcBef>
                <a:spcPts val="1050"/>
              </a:spcBef>
              <a:buFont typeface="Wingdings" panose="05000000000000000000" pitchFamily="2" charset="2"/>
              <a:buChar char=""/>
            </a:pPr>
            <a:r>
              <a:rPr lang="en-GB" altLang="en-US" sz="2200" dirty="0">
                <a:solidFill>
                  <a:srgbClr val="000000"/>
                </a:solidFill>
                <a:latin typeface="Times New Roman" panose="02020603050405020304" pitchFamily="18" charset="0"/>
              </a:rPr>
              <a:t>Data Science and AI</a:t>
            </a:r>
          </a:p>
          <a:p>
            <a:pPr lvl="1" algn="just">
              <a:lnSpc>
                <a:spcPct val="90000"/>
              </a:lnSpc>
              <a:spcBef>
                <a:spcPts val="1050"/>
              </a:spcBef>
              <a:buFont typeface="Wingdings" panose="05000000000000000000" pitchFamily="2" charset="2"/>
              <a:buChar char=""/>
            </a:pPr>
            <a:r>
              <a:rPr lang="en-GB" altLang="en-US" sz="2200" dirty="0">
                <a:solidFill>
                  <a:srgbClr val="000000"/>
                </a:solidFill>
                <a:latin typeface="Times New Roman" panose="02020603050405020304" pitchFamily="18" charset="0"/>
              </a:rPr>
              <a:t>Parallel &amp; Distributed Computing</a:t>
            </a:r>
          </a:p>
          <a:p>
            <a:pPr lvl="1" algn="just">
              <a:lnSpc>
                <a:spcPct val="90000"/>
              </a:lnSpc>
              <a:spcBef>
                <a:spcPts val="1050"/>
              </a:spcBef>
              <a:buFont typeface="Wingdings" panose="05000000000000000000" pitchFamily="2" charset="2"/>
              <a:buChar char=""/>
            </a:pPr>
            <a:r>
              <a:rPr lang="en-GB" altLang="en-US" sz="2200" dirty="0">
                <a:solidFill>
                  <a:srgbClr val="000000"/>
                </a:solidFill>
                <a:latin typeface="Times New Roman" panose="02020603050405020304" pitchFamily="18" charset="0"/>
              </a:rPr>
              <a:t>Emerging Technologies (DNA, Quantum Computing etc.)</a:t>
            </a:r>
          </a:p>
          <a:p>
            <a:pPr lvl="1" algn="just">
              <a:lnSpc>
                <a:spcPct val="90000"/>
              </a:lnSpc>
              <a:spcBef>
                <a:spcPts val="1050"/>
              </a:spcBef>
              <a:buFont typeface="Wingdings" panose="05000000000000000000" pitchFamily="2" charset="2"/>
              <a:buChar char=""/>
            </a:pPr>
            <a:r>
              <a:rPr lang="en-GB" altLang="en-US" sz="2200" dirty="0">
                <a:solidFill>
                  <a:srgbClr val="000000"/>
                </a:solidFill>
                <a:latin typeface="Times New Roman" panose="02020603050405020304" pitchFamily="18" charset="0"/>
              </a:rPr>
              <a:t>My Google Scholar Profile (3 Journal, 8 Conference pubs.)</a:t>
            </a:r>
          </a:p>
          <a:p>
            <a:pPr lvl="2" algn="just">
              <a:lnSpc>
                <a:spcPct val="90000"/>
              </a:lnSpc>
              <a:spcBef>
                <a:spcPts val="1050"/>
              </a:spcBef>
              <a:buFont typeface="Wingdings" panose="05000000000000000000" pitchFamily="2" charset="2"/>
              <a:buChar char=""/>
            </a:pPr>
            <a:r>
              <a:rPr lang="en-US" sz="2200" dirty="0">
                <a:solidFill>
                  <a:srgbClr val="C00000"/>
                </a:solidFill>
                <a:latin typeface="Times New Roman" panose="02020603050405020304" pitchFamily="18" charset="0"/>
              </a:rPr>
              <a:t>https://scholar.google.com.pk/citations?hl=en&amp;user=URH5Zp0AAAAJ</a:t>
            </a:r>
            <a:endParaRPr lang="en-GB" altLang="en-US" sz="2600" dirty="0">
              <a:solidFill>
                <a:srgbClr val="C00000"/>
              </a:solidFill>
              <a:latin typeface="Times New Roman" panose="02020603050405020304" pitchFamily="18" charset="0"/>
            </a:endParaRPr>
          </a:p>
          <a:p>
            <a:pPr algn="just">
              <a:lnSpc>
                <a:spcPct val="90000"/>
              </a:lnSpc>
              <a:spcBef>
                <a:spcPts val="1050"/>
              </a:spcBef>
              <a:buFont typeface="Wingdings" panose="05000000000000000000" pitchFamily="2" charset="2"/>
              <a:buChar char=""/>
            </a:pPr>
            <a:r>
              <a:rPr lang="en-GB" altLang="en-US" sz="2600" dirty="0">
                <a:solidFill>
                  <a:schemeClr val="accent6">
                    <a:lumMod val="50000"/>
                  </a:schemeClr>
                </a:solidFill>
                <a:latin typeface="Times New Roman" panose="02020603050405020304" pitchFamily="18" charset="0"/>
              </a:rPr>
              <a:t>Contact</a:t>
            </a:r>
          </a:p>
          <a:p>
            <a:pPr lvl="1" algn="just">
              <a:lnSpc>
                <a:spcPct val="90000"/>
              </a:lnSpc>
              <a:spcBef>
                <a:spcPts val="1050"/>
              </a:spcBef>
              <a:buFont typeface="Wingdings" panose="05000000000000000000" pitchFamily="2" charset="2"/>
              <a:buChar char=""/>
            </a:pPr>
            <a:r>
              <a:rPr lang="en-GB" altLang="en-US" sz="2200" dirty="0">
                <a:solidFill>
                  <a:srgbClr val="000000"/>
                </a:solidFill>
                <a:latin typeface="Times New Roman" panose="02020603050405020304" pitchFamily="18" charset="0"/>
              </a:rPr>
              <a:t>adeelurrahman@protonmail.com</a:t>
            </a:r>
            <a:endParaRPr lang="en-GB" altLang="en-US" sz="28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423134073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6038"/>
            <a:ext cx="8229600" cy="563562"/>
          </a:xfrm>
        </p:spPr>
        <p:txBody>
          <a:bodyPr>
            <a:normAutofit fontScale="90000"/>
          </a:bodyPr>
          <a:lstStyle/>
          <a:p>
            <a:r>
              <a:rPr lang="en-US" dirty="0"/>
              <a:t>Course Reference Books</a:t>
            </a:r>
            <a:endParaRPr lang="en-IE" dirty="0"/>
          </a:p>
        </p:txBody>
      </p:sp>
      <p:sp>
        <p:nvSpPr>
          <p:cNvPr id="3" name="Content Placeholder 2"/>
          <p:cNvSpPr>
            <a:spLocks noGrp="1"/>
          </p:cNvSpPr>
          <p:nvPr>
            <p:ph idx="1"/>
          </p:nvPr>
        </p:nvSpPr>
        <p:spPr>
          <a:xfrm>
            <a:off x="457200" y="838200"/>
            <a:ext cx="8229600" cy="6019800"/>
          </a:xfrm>
        </p:spPr>
        <p:txBody>
          <a:bodyPr>
            <a:normAutofit fontScale="92500" lnSpcReduction="20000"/>
          </a:bodyPr>
          <a:lstStyle/>
          <a:p>
            <a:r>
              <a:rPr lang="en-US" dirty="0"/>
              <a:t>Recommended Books</a:t>
            </a:r>
          </a:p>
          <a:p>
            <a:pPr lvl="1"/>
            <a:r>
              <a:rPr lang="en-US" dirty="0"/>
              <a:t>Java Network Programming. 4th ed., E. R. Harold, O’Reilly, 2014. ([JNP])</a:t>
            </a:r>
          </a:p>
          <a:p>
            <a:pPr lvl="1"/>
            <a:r>
              <a:rPr lang="en-US" dirty="0"/>
              <a:t>Java I/O, E. R. Harold, O’Reilly, ([JIO])</a:t>
            </a:r>
          </a:p>
          <a:p>
            <a:pPr lvl="1"/>
            <a:r>
              <a:rPr lang="en-US" dirty="0"/>
              <a:t>Java Network Programming and distributed computing, David Reilly, Michael Reilly (JNPD)</a:t>
            </a:r>
          </a:p>
          <a:p>
            <a:pPr lvl="1"/>
            <a:r>
              <a:rPr lang="en-US" dirty="0"/>
              <a:t>An Introduction to Network Programming in Java, by Jan </a:t>
            </a:r>
            <a:r>
              <a:rPr lang="en-US" dirty="0" err="1"/>
              <a:t>Graba</a:t>
            </a:r>
            <a:r>
              <a:rPr lang="en-US" dirty="0"/>
              <a:t>, Springer 2013 ([INPJ-JG])</a:t>
            </a:r>
          </a:p>
          <a:p>
            <a:pPr lvl="0"/>
            <a:r>
              <a:rPr lang="en-US" dirty="0"/>
              <a:t>Further Readings</a:t>
            </a:r>
          </a:p>
          <a:p>
            <a:pPr lvl="1"/>
            <a:r>
              <a:rPr lang="en-US" dirty="0"/>
              <a:t>“Java Distributed Computing”, J. Farley, O’Reilly, 1998, ISBN: 1-56592-206-9 [FAR]. </a:t>
            </a:r>
          </a:p>
          <a:p>
            <a:pPr lvl="1"/>
            <a:r>
              <a:rPr lang="en-US" dirty="0"/>
              <a:t>“Java 2 Developer’s Handbook”, P. Heller and S. Roberts, </a:t>
            </a:r>
            <a:r>
              <a:rPr lang="en-US" dirty="0" err="1"/>
              <a:t>Sybex</a:t>
            </a:r>
            <a:r>
              <a:rPr lang="en-US" dirty="0"/>
              <a:t>, 1999, ISBN: 0- 7821-2179-9 [Java2H] </a:t>
            </a:r>
          </a:p>
          <a:p>
            <a:pPr lvl="1"/>
            <a:r>
              <a:rPr lang="en-US" dirty="0"/>
              <a:t>“Java 1.2 Unleashed”, J. </a:t>
            </a:r>
            <a:r>
              <a:rPr lang="en-US" dirty="0" err="1"/>
              <a:t>Jaworski</a:t>
            </a:r>
            <a:r>
              <a:rPr lang="en-US" dirty="0"/>
              <a:t>,: Macmillan Computer Publishing, 1998, ISBN: 1575213893 [Java2U]</a:t>
            </a:r>
          </a:p>
          <a:p>
            <a:endParaRPr lang="en-US" dirty="0"/>
          </a:p>
          <a:p>
            <a:endParaRPr lang="en-IE" dirty="0"/>
          </a:p>
        </p:txBody>
      </p:sp>
    </p:spTree>
    <p:extLst>
      <p:ext uri="{BB962C8B-B14F-4D97-AF65-F5344CB8AC3E}">
        <p14:creationId xmlns:p14="http://schemas.microsoft.com/office/powerpoint/2010/main" val="3812861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533400"/>
          </a:xfrm>
        </p:spPr>
        <p:txBody>
          <a:bodyPr>
            <a:normAutofit fontScale="90000"/>
          </a:bodyPr>
          <a:lstStyle/>
          <a:p>
            <a:r>
              <a:rPr lang="en-US" dirty="0"/>
              <a:t>Course Contents</a:t>
            </a:r>
            <a:endParaRPr lang="en-IE" dirty="0"/>
          </a:p>
        </p:txBody>
      </p:sp>
      <p:graphicFrame>
        <p:nvGraphicFramePr>
          <p:cNvPr id="4" name="Table 3"/>
          <p:cNvGraphicFramePr>
            <a:graphicFrameLocks noGrp="1"/>
          </p:cNvGraphicFramePr>
          <p:nvPr>
            <p:extLst>
              <p:ext uri="{D42A27DB-BD31-4B8C-83A1-F6EECF244321}">
                <p14:modId xmlns:p14="http://schemas.microsoft.com/office/powerpoint/2010/main" val="1729642397"/>
              </p:ext>
            </p:extLst>
          </p:nvPr>
        </p:nvGraphicFramePr>
        <p:xfrm>
          <a:off x="457200" y="609600"/>
          <a:ext cx="8305800" cy="5867401"/>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4876800">
                  <a:extLst>
                    <a:ext uri="{9D8B030D-6E8A-4147-A177-3AD203B41FA5}">
                      <a16:colId xmlns:a16="http://schemas.microsoft.com/office/drawing/2014/main" val="20002"/>
                    </a:ext>
                  </a:extLst>
                </a:gridCol>
              </a:tblGrid>
              <a:tr h="384480">
                <a:tc>
                  <a:txBody>
                    <a:bodyPr/>
                    <a:lstStyle/>
                    <a:p>
                      <a:r>
                        <a:rPr lang="en-US" dirty="0"/>
                        <a:t>Week</a:t>
                      </a:r>
                      <a:endParaRPr lang="en-IE" dirty="0"/>
                    </a:p>
                  </a:txBody>
                  <a:tcPr/>
                </a:tc>
                <a:tc>
                  <a:txBody>
                    <a:bodyPr/>
                    <a:lstStyle/>
                    <a:p>
                      <a:r>
                        <a:rPr lang="en-US" dirty="0"/>
                        <a:t>Book References</a:t>
                      </a:r>
                      <a:endParaRPr lang="en-IE" dirty="0"/>
                    </a:p>
                  </a:txBody>
                  <a:tcPr/>
                </a:tc>
                <a:tc>
                  <a:txBody>
                    <a:bodyPr/>
                    <a:lstStyle/>
                    <a:p>
                      <a:r>
                        <a:rPr lang="en-US" dirty="0"/>
                        <a:t>Lecture Topics</a:t>
                      </a:r>
                      <a:endParaRPr lang="en-IE" dirty="0"/>
                    </a:p>
                  </a:txBody>
                  <a:tcPr/>
                </a:tc>
                <a:extLst>
                  <a:ext uri="{0D108BD9-81ED-4DB2-BD59-A6C34878D82A}">
                    <a16:rowId xmlns:a16="http://schemas.microsoft.com/office/drawing/2014/main" val="10000"/>
                  </a:ext>
                </a:extLst>
              </a:tr>
              <a:tr h="1516850">
                <a:tc>
                  <a:txBody>
                    <a:bodyPr/>
                    <a:lstStyle/>
                    <a:p>
                      <a:pPr algn="ctr"/>
                      <a:r>
                        <a:rPr lang="en-US" dirty="0"/>
                        <a:t>1</a:t>
                      </a:r>
                      <a:r>
                        <a:rPr lang="en-US" baseline="30000" dirty="0"/>
                        <a:t>st</a:t>
                      </a:r>
                      <a:endParaRPr lang="en-IE" dirty="0"/>
                    </a:p>
                  </a:txBody>
                  <a:tcPr/>
                </a:tc>
                <a:tc>
                  <a:txBody>
                    <a:bodyPr/>
                    <a:lstStyle/>
                    <a:p>
                      <a:r>
                        <a:rPr lang="en-US" dirty="0"/>
                        <a:t>JNP</a:t>
                      </a:r>
                      <a:endParaRPr lang="en-IE" dirty="0"/>
                    </a:p>
                  </a:txBody>
                  <a:tcPr/>
                </a:tc>
                <a:tc>
                  <a:txBody>
                    <a:bodyPr/>
                    <a:lstStyle/>
                    <a:p>
                      <a:pPr marL="285750" lvl="0" indent="-285750">
                        <a:buFont typeface="Arial" panose="020B0604020202020204" pitchFamily="34" charset="0"/>
                        <a:buChar char="•"/>
                      </a:pPr>
                      <a:r>
                        <a:rPr lang="en-US" sz="1800" kern="1200" dirty="0">
                          <a:solidFill>
                            <a:schemeClr val="dk1"/>
                          </a:solidFill>
                          <a:effectLst/>
                          <a:latin typeface="+mn-lt"/>
                          <a:ea typeface="+mn-ea"/>
                          <a:cs typeface="+mn-cs"/>
                        </a:rPr>
                        <a:t>Basic Networking Concepts</a:t>
                      </a:r>
                    </a:p>
                    <a:p>
                      <a:pPr marL="285750" lvl="0" indent="-285750">
                        <a:buFont typeface="Arial" panose="020B0604020202020204" pitchFamily="34" charset="0"/>
                        <a:buChar char="•"/>
                      </a:pPr>
                      <a:r>
                        <a:rPr lang="en-US" sz="1800" kern="1200" dirty="0">
                          <a:solidFill>
                            <a:schemeClr val="dk1"/>
                          </a:solidFill>
                          <a:effectLst/>
                          <a:latin typeface="+mn-lt"/>
                          <a:ea typeface="+mn-ea"/>
                          <a:cs typeface="+mn-cs"/>
                        </a:rPr>
                        <a:t>Networks</a:t>
                      </a:r>
                    </a:p>
                    <a:p>
                      <a:pPr marL="285750" lvl="0" indent="-285750">
                        <a:buFont typeface="Arial" panose="020B0604020202020204" pitchFamily="34" charset="0"/>
                        <a:buChar char="•"/>
                      </a:pPr>
                      <a:r>
                        <a:rPr lang="en-US" sz="1800" kern="1200" dirty="0">
                          <a:solidFill>
                            <a:schemeClr val="dk1"/>
                          </a:solidFill>
                          <a:effectLst/>
                          <a:latin typeface="+mn-lt"/>
                          <a:ea typeface="+mn-ea"/>
                          <a:cs typeface="+mn-cs"/>
                        </a:rPr>
                        <a:t>IP, TCP</a:t>
                      </a:r>
                      <a:r>
                        <a:rPr lang="en-US" sz="1800" kern="1200" baseline="0" dirty="0">
                          <a:solidFill>
                            <a:schemeClr val="dk1"/>
                          </a:solidFill>
                          <a:effectLst/>
                          <a:latin typeface="+mn-lt"/>
                          <a:ea typeface="+mn-ea"/>
                          <a:cs typeface="+mn-cs"/>
                        </a:rPr>
                        <a:t> and UDP</a:t>
                      </a:r>
                      <a:endParaRPr lang="en-US" sz="1800" kern="1200" dirty="0">
                        <a:solidFill>
                          <a:schemeClr val="dk1"/>
                        </a:solidFill>
                        <a:effectLst/>
                        <a:latin typeface="+mn-lt"/>
                        <a:ea typeface="+mn-ea"/>
                        <a:cs typeface="+mn-cs"/>
                      </a:endParaRPr>
                    </a:p>
                    <a:p>
                      <a:pPr marL="285750" lvl="0" indent="-285750">
                        <a:buFont typeface="Arial" panose="020B0604020202020204" pitchFamily="34" charset="0"/>
                        <a:buChar char="•"/>
                      </a:pPr>
                      <a:r>
                        <a:rPr lang="en-US" sz="1800" kern="1200" dirty="0">
                          <a:solidFill>
                            <a:schemeClr val="dk1"/>
                          </a:solidFill>
                          <a:effectLst/>
                          <a:latin typeface="+mn-lt"/>
                          <a:ea typeface="+mn-ea"/>
                          <a:cs typeface="+mn-cs"/>
                        </a:rPr>
                        <a:t>Internet</a:t>
                      </a:r>
                    </a:p>
                    <a:p>
                      <a:pPr marL="285750" lvl="0" indent="-285750">
                        <a:buFont typeface="Arial" panose="020B0604020202020204" pitchFamily="34" charset="0"/>
                        <a:buChar char="•"/>
                      </a:pPr>
                      <a:r>
                        <a:rPr lang="en-US" sz="1800" kern="1200" dirty="0">
                          <a:solidFill>
                            <a:schemeClr val="dk1"/>
                          </a:solidFill>
                          <a:effectLst/>
                          <a:latin typeface="+mn-lt"/>
                          <a:ea typeface="+mn-ea"/>
                          <a:cs typeface="+mn-cs"/>
                        </a:rPr>
                        <a:t>Client Server Model</a:t>
                      </a:r>
                    </a:p>
                  </a:txBody>
                  <a:tcPr/>
                </a:tc>
                <a:extLst>
                  <a:ext uri="{0D108BD9-81ED-4DB2-BD59-A6C34878D82A}">
                    <a16:rowId xmlns:a16="http://schemas.microsoft.com/office/drawing/2014/main" val="10001"/>
                  </a:ext>
                </a:extLst>
              </a:tr>
              <a:tr h="1277340">
                <a:tc>
                  <a:txBody>
                    <a:bodyPr/>
                    <a:lstStyle/>
                    <a:p>
                      <a:pPr algn="ctr"/>
                      <a:r>
                        <a:rPr lang="en-US" dirty="0"/>
                        <a:t>2</a:t>
                      </a:r>
                      <a:r>
                        <a:rPr lang="en-US" baseline="30000" dirty="0"/>
                        <a:t>nd</a:t>
                      </a:r>
                      <a:r>
                        <a:rPr lang="en-US" baseline="0" dirty="0"/>
                        <a:t> &amp; 3</a:t>
                      </a:r>
                      <a:r>
                        <a:rPr lang="en-US" baseline="30000" dirty="0"/>
                        <a:t>rd</a:t>
                      </a:r>
                      <a:endParaRPr lang="en-IE" dirty="0"/>
                    </a:p>
                  </a:txBody>
                  <a:tcPr/>
                </a:tc>
                <a:tc>
                  <a:txBody>
                    <a:bodyPr/>
                    <a:lstStyle/>
                    <a:p>
                      <a:r>
                        <a:rPr lang="en-US" dirty="0"/>
                        <a:t>JNP, JIO</a:t>
                      </a:r>
                      <a:endParaRPr lang="en-IE" dirty="0"/>
                    </a:p>
                  </a:txBody>
                  <a:tcPr/>
                </a:tc>
                <a:tc>
                  <a:txBody>
                    <a:bodyPr/>
                    <a:lstStyle/>
                    <a:p>
                      <a:pPr marL="285750" lvl="0" indent="-285750">
                        <a:buFont typeface="Arial" panose="020B0604020202020204" pitchFamily="34" charset="0"/>
                        <a:buChar char="•"/>
                      </a:pPr>
                      <a:r>
                        <a:rPr lang="en-US" sz="1800" kern="1200" dirty="0">
                          <a:solidFill>
                            <a:schemeClr val="dk1"/>
                          </a:solidFill>
                          <a:effectLst/>
                          <a:latin typeface="+mn-lt"/>
                          <a:ea typeface="+mn-ea"/>
                          <a:cs typeface="+mn-cs"/>
                        </a:rPr>
                        <a:t>Java I/O</a:t>
                      </a:r>
                      <a:endParaRPr lang="en-US" sz="3200" kern="1200" dirty="0">
                        <a:solidFill>
                          <a:schemeClr val="dk1"/>
                        </a:solidFill>
                        <a:effectLst/>
                        <a:latin typeface="+mn-lt"/>
                        <a:ea typeface="+mn-ea"/>
                        <a:cs typeface="+mn-cs"/>
                      </a:endParaRPr>
                    </a:p>
                    <a:p>
                      <a:pPr marL="742950" lvl="1" indent="-285750">
                        <a:buFont typeface="Arial" panose="020B0604020202020204" pitchFamily="34" charset="0"/>
                        <a:buChar char="•"/>
                      </a:pPr>
                      <a:r>
                        <a:rPr lang="en-US" sz="1800" kern="1200" dirty="0">
                          <a:solidFill>
                            <a:schemeClr val="dk1"/>
                          </a:solidFill>
                          <a:effectLst/>
                          <a:latin typeface="+mn-lt"/>
                          <a:ea typeface="+mn-ea"/>
                          <a:cs typeface="+mn-cs"/>
                        </a:rPr>
                        <a:t>Sockets, Datagrams</a:t>
                      </a:r>
                      <a:endParaRPr lang="en-US" sz="3200" kern="1200" dirty="0">
                        <a:solidFill>
                          <a:schemeClr val="dk1"/>
                        </a:solidFill>
                        <a:effectLst/>
                        <a:latin typeface="+mn-lt"/>
                        <a:ea typeface="+mn-ea"/>
                        <a:cs typeface="+mn-cs"/>
                      </a:endParaRPr>
                    </a:p>
                    <a:p>
                      <a:pPr marL="285750" lvl="0" indent="-285750">
                        <a:buFont typeface="Arial" panose="020B0604020202020204" pitchFamily="34" charset="0"/>
                        <a:buChar char="•"/>
                      </a:pPr>
                      <a:r>
                        <a:rPr lang="en-US" sz="1800" kern="1200" dirty="0">
                          <a:solidFill>
                            <a:schemeClr val="dk1"/>
                          </a:solidFill>
                          <a:effectLst/>
                          <a:latin typeface="+mn-lt"/>
                          <a:ea typeface="+mn-ea"/>
                          <a:cs typeface="+mn-cs"/>
                        </a:rPr>
                        <a:t>Java Streams</a:t>
                      </a:r>
                      <a:endParaRPr lang="en-US" sz="3200" kern="1200" dirty="0">
                        <a:solidFill>
                          <a:schemeClr val="dk1"/>
                        </a:solidFill>
                        <a:effectLst/>
                        <a:latin typeface="+mn-lt"/>
                        <a:ea typeface="+mn-ea"/>
                        <a:cs typeface="+mn-cs"/>
                      </a:endParaRPr>
                    </a:p>
                    <a:p>
                      <a:pPr marL="742950" lvl="1" indent="-285750">
                        <a:buFont typeface="Arial" panose="020B0604020202020204" pitchFamily="34" charset="0"/>
                        <a:buChar char="•"/>
                      </a:pPr>
                      <a:r>
                        <a:rPr lang="en-US" sz="1800" kern="1200" dirty="0">
                          <a:solidFill>
                            <a:schemeClr val="dk1"/>
                          </a:solidFill>
                          <a:effectLst/>
                          <a:latin typeface="+mn-lt"/>
                          <a:ea typeface="+mn-ea"/>
                          <a:cs typeface="+mn-cs"/>
                        </a:rPr>
                        <a:t>Java.io package</a:t>
                      </a:r>
                      <a:endParaRPr lang="en-US" sz="3200" kern="1200" dirty="0">
                        <a:solidFill>
                          <a:schemeClr val="dk1"/>
                        </a:solidFill>
                        <a:effectLst/>
                        <a:latin typeface="+mn-lt"/>
                        <a:ea typeface="+mn-ea"/>
                        <a:cs typeface="+mn-cs"/>
                      </a:endParaRPr>
                    </a:p>
                  </a:txBody>
                  <a:tcPr/>
                </a:tc>
                <a:extLst>
                  <a:ext uri="{0D108BD9-81ED-4DB2-BD59-A6C34878D82A}">
                    <a16:rowId xmlns:a16="http://schemas.microsoft.com/office/drawing/2014/main" val="10002"/>
                  </a:ext>
                </a:extLst>
              </a:tr>
              <a:tr h="1210922">
                <a:tc>
                  <a:txBody>
                    <a:bodyPr/>
                    <a:lstStyle/>
                    <a:p>
                      <a:pPr algn="ctr"/>
                      <a:r>
                        <a:rPr lang="en-US" dirty="0"/>
                        <a:t>4</a:t>
                      </a:r>
                      <a:r>
                        <a:rPr lang="en-US" baseline="30000" dirty="0"/>
                        <a:t>th</a:t>
                      </a:r>
                      <a:endParaRPr lang="en-IE" dirty="0"/>
                    </a:p>
                  </a:txBody>
                  <a:tcPr/>
                </a:tc>
                <a:tc>
                  <a:txBody>
                    <a:bodyPr/>
                    <a:lstStyle/>
                    <a:p>
                      <a:r>
                        <a:rPr lang="en-US" dirty="0"/>
                        <a:t>JNP, JIO</a:t>
                      </a:r>
                      <a:endParaRPr lang="en-IE" dirty="0"/>
                    </a:p>
                  </a:txBody>
                  <a:tcPr/>
                </a:tc>
                <a:tc>
                  <a:txBody>
                    <a:bodyPr/>
                    <a:lstStyle/>
                    <a:p>
                      <a:pPr marL="285750" lvl="0" indent="-285750">
                        <a:buFont typeface="Arial" panose="020B0604020202020204" pitchFamily="34" charset="0"/>
                        <a:buChar char="•"/>
                      </a:pPr>
                      <a:r>
                        <a:rPr lang="en-US" sz="1800" kern="1200" dirty="0">
                          <a:solidFill>
                            <a:schemeClr val="dk1"/>
                          </a:solidFill>
                          <a:effectLst/>
                          <a:latin typeface="+mn-lt"/>
                          <a:ea typeface="+mn-ea"/>
                          <a:cs typeface="+mn-cs"/>
                        </a:rPr>
                        <a:t>Java.io</a:t>
                      </a:r>
                      <a:endParaRPr lang="en-US" sz="3200" kern="1200" dirty="0">
                        <a:solidFill>
                          <a:schemeClr val="dk1"/>
                        </a:solidFill>
                        <a:effectLst/>
                        <a:latin typeface="+mn-lt"/>
                        <a:ea typeface="+mn-ea"/>
                        <a:cs typeface="+mn-cs"/>
                      </a:endParaRPr>
                    </a:p>
                    <a:p>
                      <a:pPr marL="742950" lvl="1" indent="-285750">
                        <a:buFont typeface="Arial" panose="020B0604020202020204" pitchFamily="34" charset="0"/>
                        <a:buChar char="•"/>
                      </a:pPr>
                      <a:r>
                        <a:rPr lang="en-US" sz="1800" kern="1200" dirty="0" err="1">
                          <a:solidFill>
                            <a:schemeClr val="dk1"/>
                          </a:solidFill>
                          <a:effectLst/>
                          <a:latin typeface="+mn-lt"/>
                          <a:ea typeface="+mn-ea"/>
                          <a:cs typeface="+mn-cs"/>
                        </a:rPr>
                        <a:t>Inputstream</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outputstram</a:t>
                      </a:r>
                      <a:endParaRPr lang="en-US" sz="3200" kern="1200" dirty="0">
                        <a:solidFill>
                          <a:schemeClr val="dk1"/>
                        </a:solidFill>
                        <a:effectLst/>
                        <a:latin typeface="+mn-lt"/>
                        <a:ea typeface="+mn-ea"/>
                        <a:cs typeface="+mn-cs"/>
                      </a:endParaRPr>
                    </a:p>
                    <a:p>
                      <a:pPr marL="742950" lvl="1" indent="-285750">
                        <a:buFont typeface="Arial" panose="020B0604020202020204" pitchFamily="34" charset="0"/>
                        <a:buChar char="•"/>
                      </a:pPr>
                      <a:r>
                        <a:rPr lang="en-US" sz="1800" kern="1200" dirty="0">
                          <a:solidFill>
                            <a:schemeClr val="dk1"/>
                          </a:solidFill>
                          <a:effectLst/>
                          <a:latin typeface="+mn-lt"/>
                          <a:ea typeface="+mn-ea"/>
                          <a:cs typeface="+mn-cs"/>
                        </a:rPr>
                        <a:t>Reader, writers,</a:t>
                      </a:r>
                      <a:endParaRPr lang="en-US" sz="3200" kern="1200" dirty="0">
                        <a:solidFill>
                          <a:schemeClr val="dk1"/>
                        </a:solidFill>
                        <a:effectLst/>
                        <a:latin typeface="+mn-lt"/>
                        <a:ea typeface="+mn-ea"/>
                        <a:cs typeface="+mn-cs"/>
                      </a:endParaRPr>
                    </a:p>
                    <a:p>
                      <a:pPr marL="742950" lvl="1" indent="-285750">
                        <a:buFont typeface="Arial" panose="020B0604020202020204" pitchFamily="34" charset="0"/>
                        <a:buChar char="•"/>
                      </a:pPr>
                      <a:r>
                        <a:rPr lang="en-US" sz="1800" kern="1200">
                          <a:solidFill>
                            <a:schemeClr val="dk1"/>
                          </a:solidFill>
                          <a:effectLst/>
                          <a:latin typeface="+mn-lt"/>
                          <a:ea typeface="+mn-ea"/>
                          <a:cs typeface="+mn-cs"/>
                        </a:rPr>
                        <a:t>File I/O </a:t>
                      </a:r>
                      <a:r>
                        <a:rPr lang="en-US" sz="1800" kern="1200" dirty="0">
                          <a:solidFill>
                            <a:schemeClr val="dk1"/>
                          </a:solidFill>
                          <a:effectLst/>
                          <a:latin typeface="+mn-lt"/>
                          <a:ea typeface="+mn-ea"/>
                          <a:cs typeface="+mn-cs"/>
                        </a:rPr>
                        <a:t>streams</a:t>
                      </a:r>
                      <a:endParaRPr lang="en-US" sz="3200" kern="1200" dirty="0">
                        <a:solidFill>
                          <a:schemeClr val="dk1"/>
                        </a:solidFill>
                        <a:effectLst/>
                        <a:latin typeface="+mn-lt"/>
                        <a:ea typeface="+mn-ea"/>
                        <a:cs typeface="+mn-cs"/>
                      </a:endParaRPr>
                    </a:p>
                  </a:txBody>
                  <a:tcPr/>
                </a:tc>
                <a:extLst>
                  <a:ext uri="{0D108BD9-81ED-4DB2-BD59-A6C34878D82A}">
                    <a16:rowId xmlns:a16="http://schemas.microsoft.com/office/drawing/2014/main" val="10003"/>
                  </a:ext>
                </a:extLst>
              </a:tr>
              <a:tr h="529778">
                <a:tc>
                  <a:txBody>
                    <a:bodyPr/>
                    <a:lstStyle/>
                    <a:p>
                      <a:pPr algn="ctr"/>
                      <a:r>
                        <a:rPr lang="en-US" dirty="0"/>
                        <a:t>5</a:t>
                      </a:r>
                      <a:r>
                        <a:rPr lang="en-US" baseline="30000" dirty="0"/>
                        <a:t>th</a:t>
                      </a:r>
                      <a:endParaRPr lang="en-IE"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JNP,</a:t>
                      </a:r>
                      <a:r>
                        <a:rPr lang="en-US" baseline="0" dirty="0"/>
                        <a:t> </a:t>
                      </a:r>
                      <a:r>
                        <a:rPr lang="en-US" dirty="0"/>
                        <a:t>JNPD</a:t>
                      </a:r>
                      <a:endParaRPr lang="en-IE" dirty="0"/>
                    </a:p>
                  </a:txBody>
                  <a:tcPr/>
                </a:tc>
                <a:tc>
                  <a:txBody>
                    <a:bodyPr/>
                    <a:lstStyle/>
                    <a:p>
                      <a:pPr marL="285750" lvl="0" indent="-285750">
                        <a:buFont typeface="Arial" panose="020B0604020202020204" pitchFamily="34" charset="0"/>
                        <a:buChar char="•"/>
                      </a:pPr>
                      <a:r>
                        <a:rPr lang="en-US" sz="1800" kern="1200" dirty="0">
                          <a:solidFill>
                            <a:schemeClr val="dk1"/>
                          </a:solidFill>
                          <a:effectLst/>
                          <a:latin typeface="+mn-lt"/>
                          <a:ea typeface="+mn-ea"/>
                          <a:cs typeface="+mn-cs"/>
                        </a:rPr>
                        <a:t>Streams</a:t>
                      </a:r>
                    </a:p>
                  </a:txBody>
                  <a:tcPr/>
                </a:tc>
                <a:extLst>
                  <a:ext uri="{0D108BD9-81ED-4DB2-BD59-A6C34878D82A}">
                    <a16:rowId xmlns:a16="http://schemas.microsoft.com/office/drawing/2014/main" val="10004"/>
                  </a:ext>
                </a:extLst>
              </a:tr>
              <a:tr h="948031">
                <a:tc>
                  <a:txBody>
                    <a:bodyPr/>
                    <a:lstStyle/>
                    <a:p>
                      <a:pPr algn="ctr"/>
                      <a:r>
                        <a:rPr lang="en-US" dirty="0"/>
                        <a:t>6</a:t>
                      </a:r>
                      <a:r>
                        <a:rPr lang="en-US" baseline="30000" dirty="0"/>
                        <a:t>th</a:t>
                      </a:r>
                      <a:endParaRPr lang="en-IE" dirty="0"/>
                    </a:p>
                  </a:txBody>
                  <a:tcPr/>
                </a:tc>
                <a:tc>
                  <a:txBody>
                    <a:bodyPr/>
                    <a:lstStyle/>
                    <a:p>
                      <a:r>
                        <a:rPr lang="en-US" dirty="0"/>
                        <a:t>JNP,</a:t>
                      </a:r>
                      <a:r>
                        <a:rPr lang="en-US" baseline="0" dirty="0"/>
                        <a:t> </a:t>
                      </a:r>
                      <a:r>
                        <a:rPr lang="en-US" dirty="0"/>
                        <a:t>JNPD</a:t>
                      </a:r>
                      <a:endParaRPr lang="en-IE" dirty="0"/>
                    </a:p>
                  </a:txBody>
                  <a:tcPr/>
                </a:tc>
                <a:tc>
                  <a:txBody>
                    <a:bodyPr/>
                    <a:lstStyle/>
                    <a:p>
                      <a:pPr marL="285750" indent="-285750">
                        <a:buFont typeface="Arial" panose="020B0604020202020204" pitchFamily="34" charset="0"/>
                        <a:buChar char="•"/>
                      </a:pPr>
                      <a:r>
                        <a:rPr lang="en-US" dirty="0"/>
                        <a:t>Threads</a:t>
                      </a:r>
                      <a:endParaRPr lang="en-IE"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09474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rmAutofit fontScale="90000"/>
          </a:bodyPr>
          <a:lstStyle/>
          <a:p>
            <a:r>
              <a:rPr lang="en-US" dirty="0"/>
              <a:t>Course Contents</a:t>
            </a:r>
            <a:endParaRPr lang="en-IE" dirty="0"/>
          </a:p>
        </p:txBody>
      </p:sp>
      <p:graphicFrame>
        <p:nvGraphicFramePr>
          <p:cNvPr id="4" name="Table 3"/>
          <p:cNvGraphicFramePr>
            <a:graphicFrameLocks noGrp="1"/>
          </p:cNvGraphicFramePr>
          <p:nvPr>
            <p:extLst>
              <p:ext uri="{D42A27DB-BD31-4B8C-83A1-F6EECF244321}">
                <p14:modId xmlns:p14="http://schemas.microsoft.com/office/powerpoint/2010/main" val="1379941919"/>
              </p:ext>
            </p:extLst>
          </p:nvPr>
        </p:nvGraphicFramePr>
        <p:xfrm>
          <a:off x="457200" y="858520"/>
          <a:ext cx="8305800" cy="39624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4876800">
                  <a:extLst>
                    <a:ext uri="{9D8B030D-6E8A-4147-A177-3AD203B41FA5}">
                      <a16:colId xmlns:a16="http://schemas.microsoft.com/office/drawing/2014/main" val="20002"/>
                    </a:ext>
                  </a:extLst>
                </a:gridCol>
              </a:tblGrid>
              <a:tr h="370840">
                <a:tc>
                  <a:txBody>
                    <a:bodyPr/>
                    <a:lstStyle/>
                    <a:p>
                      <a:r>
                        <a:rPr lang="en-US" dirty="0"/>
                        <a:t>Week</a:t>
                      </a:r>
                      <a:endParaRPr lang="en-IE" dirty="0"/>
                    </a:p>
                  </a:txBody>
                  <a:tcPr/>
                </a:tc>
                <a:tc>
                  <a:txBody>
                    <a:bodyPr/>
                    <a:lstStyle/>
                    <a:p>
                      <a:r>
                        <a:rPr lang="en-US" dirty="0"/>
                        <a:t>Book References</a:t>
                      </a:r>
                      <a:endParaRPr lang="en-IE" dirty="0"/>
                    </a:p>
                  </a:txBody>
                  <a:tcPr/>
                </a:tc>
                <a:tc>
                  <a:txBody>
                    <a:bodyPr/>
                    <a:lstStyle/>
                    <a:p>
                      <a:r>
                        <a:rPr lang="en-US" dirty="0"/>
                        <a:t>Lecture Topics</a:t>
                      </a:r>
                      <a:endParaRPr lang="en-IE" dirty="0"/>
                    </a:p>
                  </a:txBody>
                  <a:tcPr/>
                </a:tc>
                <a:extLst>
                  <a:ext uri="{0D108BD9-81ED-4DB2-BD59-A6C34878D82A}">
                    <a16:rowId xmlns:a16="http://schemas.microsoft.com/office/drawing/2014/main" val="10000"/>
                  </a:ext>
                </a:extLst>
              </a:tr>
              <a:tr h="370840">
                <a:tc>
                  <a:txBody>
                    <a:bodyPr/>
                    <a:lstStyle/>
                    <a:p>
                      <a:pPr algn="ctr"/>
                      <a:r>
                        <a:rPr lang="en-US" dirty="0"/>
                        <a:t>7</a:t>
                      </a:r>
                      <a:r>
                        <a:rPr lang="en-US" baseline="30000" dirty="0"/>
                        <a:t>th</a:t>
                      </a:r>
                      <a:r>
                        <a:rPr lang="en-US" baseline="0" dirty="0"/>
                        <a:t> </a:t>
                      </a:r>
                      <a:endParaRPr lang="en-IE" dirty="0"/>
                    </a:p>
                  </a:txBody>
                  <a:tcPr/>
                </a:tc>
                <a:tc>
                  <a:txBody>
                    <a:bodyPr/>
                    <a:lstStyle/>
                    <a:p>
                      <a:r>
                        <a:rPr lang="en-US" dirty="0"/>
                        <a:t>JNP</a:t>
                      </a:r>
                      <a:endParaRPr lang="en-IE" dirty="0"/>
                    </a:p>
                  </a:txBody>
                  <a:tcPr/>
                </a:tc>
                <a:tc>
                  <a:txBody>
                    <a:bodyPr/>
                    <a:lstStyle/>
                    <a:p>
                      <a:pPr marL="285750" lvl="0" indent="-285750">
                        <a:buFont typeface="Arial" panose="020B0604020202020204" pitchFamily="34" charset="0"/>
                        <a:buChar char="•"/>
                      </a:pPr>
                      <a:r>
                        <a:rPr lang="en-US" sz="1800" kern="1200" dirty="0" err="1">
                          <a:solidFill>
                            <a:schemeClr val="dk1"/>
                          </a:solidFill>
                          <a:effectLst/>
                          <a:latin typeface="+mn-lt"/>
                          <a:ea typeface="+mn-ea"/>
                          <a:cs typeface="+mn-cs"/>
                        </a:rPr>
                        <a:t>InternetAddresses</a:t>
                      </a:r>
                      <a:endParaRPr lang="en-US" sz="3200" kern="1200" dirty="0">
                        <a:solidFill>
                          <a:schemeClr val="dk1"/>
                        </a:solidFill>
                        <a:effectLst/>
                        <a:latin typeface="+mn-lt"/>
                        <a:ea typeface="+mn-ea"/>
                        <a:cs typeface="+mn-cs"/>
                      </a:endParaRPr>
                    </a:p>
                  </a:txBody>
                  <a:tcPr/>
                </a:tc>
                <a:extLst>
                  <a:ext uri="{0D108BD9-81ED-4DB2-BD59-A6C34878D82A}">
                    <a16:rowId xmlns:a16="http://schemas.microsoft.com/office/drawing/2014/main" val="10001"/>
                  </a:ext>
                </a:extLst>
              </a:tr>
              <a:tr h="457200">
                <a:tc>
                  <a:txBody>
                    <a:bodyPr/>
                    <a:lstStyle/>
                    <a:p>
                      <a:pPr algn="ctr"/>
                      <a:r>
                        <a:rPr lang="en-US" dirty="0"/>
                        <a:t>8</a:t>
                      </a:r>
                      <a:r>
                        <a:rPr lang="en-US" baseline="30000" dirty="0"/>
                        <a:t>th</a:t>
                      </a:r>
                      <a:endParaRPr lang="en-IE" dirty="0"/>
                    </a:p>
                  </a:txBody>
                  <a:tcPr/>
                </a:tc>
                <a:tc>
                  <a:txBody>
                    <a:bodyPr/>
                    <a:lstStyle/>
                    <a:p>
                      <a:endParaRPr lang="en-IE" dirty="0"/>
                    </a:p>
                  </a:txBody>
                  <a:tcPr/>
                </a:tc>
                <a:tc>
                  <a:txBody>
                    <a:bodyPr/>
                    <a:lstStyle/>
                    <a:p>
                      <a:pPr marL="3429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dk1"/>
                          </a:solidFill>
                          <a:effectLst/>
                          <a:latin typeface="+mn-lt"/>
                          <a:ea typeface="+mn-ea"/>
                          <a:cs typeface="+mn-cs"/>
                        </a:rPr>
                        <a:t>MID Term</a:t>
                      </a:r>
                      <a:endParaRPr lang="en-US" sz="3200" kern="1200" dirty="0">
                        <a:solidFill>
                          <a:schemeClr val="dk1"/>
                        </a:solidFill>
                        <a:effectLst/>
                        <a:latin typeface="+mn-lt"/>
                        <a:ea typeface="+mn-ea"/>
                        <a:cs typeface="+mn-cs"/>
                      </a:endParaRPr>
                    </a:p>
                  </a:txBody>
                  <a:tcPr/>
                </a:tc>
                <a:extLst>
                  <a:ext uri="{0D108BD9-81ED-4DB2-BD59-A6C34878D82A}">
                    <a16:rowId xmlns:a16="http://schemas.microsoft.com/office/drawing/2014/main" val="10002"/>
                  </a:ext>
                </a:extLst>
              </a:tr>
              <a:tr h="370840">
                <a:tc>
                  <a:txBody>
                    <a:bodyPr/>
                    <a:lstStyle/>
                    <a:p>
                      <a:pPr algn="ctr"/>
                      <a:r>
                        <a:rPr lang="en-US" dirty="0"/>
                        <a:t>9</a:t>
                      </a:r>
                      <a:r>
                        <a:rPr lang="en-US" baseline="30000" dirty="0"/>
                        <a:t>th</a:t>
                      </a:r>
                      <a:r>
                        <a:rPr lang="en-US" dirty="0"/>
                        <a:t> &amp; 10</a:t>
                      </a:r>
                      <a:r>
                        <a:rPr lang="en-US" baseline="30000" dirty="0"/>
                        <a:t>th</a:t>
                      </a:r>
                      <a:endParaRPr lang="en-US" dirty="0"/>
                    </a:p>
                  </a:txBody>
                  <a:tcPr/>
                </a:tc>
                <a:tc>
                  <a:txBody>
                    <a:bodyPr/>
                    <a:lstStyle/>
                    <a:p>
                      <a:r>
                        <a:rPr lang="en-US" dirty="0"/>
                        <a:t>JNP</a:t>
                      </a:r>
                      <a:endParaRPr lang="en-IE" dirty="0"/>
                    </a:p>
                  </a:txBody>
                  <a:tcPr/>
                </a:tc>
                <a:tc>
                  <a:txBody>
                    <a:bodyPr/>
                    <a:lstStyle/>
                    <a:p>
                      <a:pPr marL="285750" lvl="0" indent="-285750">
                        <a:buFont typeface="Arial" panose="020B0604020202020204" pitchFamily="34" charset="0"/>
                        <a:buChar char="•"/>
                      </a:pPr>
                      <a:r>
                        <a:rPr lang="en-US" sz="1800" kern="1200" dirty="0">
                          <a:solidFill>
                            <a:schemeClr val="dk1"/>
                          </a:solidFill>
                          <a:effectLst/>
                          <a:latin typeface="+mn-lt"/>
                          <a:ea typeface="+mn-ea"/>
                          <a:cs typeface="+mn-cs"/>
                        </a:rPr>
                        <a:t>URL, and URI</a:t>
                      </a:r>
                    </a:p>
                  </a:txBody>
                  <a:tcPr/>
                </a:tc>
                <a:extLst>
                  <a:ext uri="{0D108BD9-81ED-4DB2-BD59-A6C34878D82A}">
                    <a16:rowId xmlns:a16="http://schemas.microsoft.com/office/drawing/2014/main" val="10003"/>
                  </a:ext>
                </a:extLst>
              </a:tr>
              <a:tr h="370840">
                <a:tc>
                  <a:txBody>
                    <a:bodyPr/>
                    <a:lstStyle/>
                    <a:p>
                      <a:pPr algn="ctr"/>
                      <a:r>
                        <a:rPr lang="en-US" dirty="0"/>
                        <a:t>11</a:t>
                      </a:r>
                      <a:r>
                        <a:rPr lang="en-US" baseline="30000" dirty="0"/>
                        <a:t>th</a:t>
                      </a:r>
                      <a:r>
                        <a:rPr lang="en-US" dirty="0"/>
                        <a:t> </a:t>
                      </a:r>
                      <a:endParaRPr lang="en-IE" dirty="0"/>
                    </a:p>
                  </a:txBody>
                  <a:tcPr/>
                </a:tc>
                <a:tc>
                  <a:txBody>
                    <a:bodyPr/>
                    <a:lstStyle/>
                    <a:p>
                      <a:r>
                        <a:rPr lang="en-US" dirty="0"/>
                        <a:t>JNP</a:t>
                      </a:r>
                      <a:endParaRPr lang="en-IE" dirty="0"/>
                    </a:p>
                  </a:txBody>
                  <a:tcPr/>
                </a:tc>
                <a:tc>
                  <a:txBody>
                    <a:bodyPr/>
                    <a:lstStyle/>
                    <a:p>
                      <a:pPr marL="285750" lvl="0" indent="-285750">
                        <a:buFont typeface="Arial" panose="020B0604020202020204" pitchFamily="34" charset="0"/>
                        <a:buChar char="•"/>
                      </a:pPr>
                      <a:r>
                        <a:rPr lang="en-US" sz="1800" kern="1200" dirty="0">
                          <a:solidFill>
                            <a:schemeClr val="dk1"/>
                          </a:solidFill>
                          <a:effectLst/>
                          <a:latin typeface="+mn-lt"/>
                          <a:ea typeface="+mn-ea"/>
                          <a:cs typeface="+mn-cs"/>
                        </a:rPr>
                        <a:t>HTTP</a:t>
                      </a:r>
                      <a:endParaRPr lang="en-IE" dirty="0"/>
                    </a:p>
                  </a:txBody>
                  <a:tcPr/>
                </a:tc>
                <a:extLst>
                  <a:ext uri="{0D108BD9-81ED-4DB2-BD59-A6C34878D82A}">
                    <a16:rowId xmlns:a16="http://schemas.microsoft.com/office/drawing/2014/main" val="10004"/>
                  </a:ext>
                </a:extLst>
              </a:tr>
              <a:tr h="370840">
                <a:tc>
                  <a:txBody>
                    <a:bodyPr/>
                    <a:lstStyle/>
                    <a:p>
                      <a:pPr algn="ctr"/>
                      <a:r>
                        <a:rPr lang="en-US" dirty="0"/>
                        <a:t>12</a:t>
                      </a:r>
                      <a:r>
                        <a:rPr lang="en-US" baseline="30000" dirty="0"/>
                        <a:t>th</a:t>
                      </a:r>
                      <a:r>
                        <a:rPr lang="en-US" dirty="0"/>
                        <a:t> </a:t>
                      </a:r>
                      <a:endParaRPr lang="en-IE" dirty="0"/>
                    </a:p>
                  </a:txBody>
                  <a:tcPr/>
                </a:tc>
                <a:tc>
                  <a:txBody>
                    <a:bodyPr/>
                    <a:lstStyle/>
                    <a:p>
                      <a:endParaRPr lang="en-IE" dirty="0"/>
                    </a:p>
                  </a:txBody>
                  <a:tcPr/>
                </a:tc>
                <a:tc>
                  <a:txBody>
                    <a:bodyPr/>
                    <a:lstStyle/>
                    <a:p>
                      <a:pPr marL="285750" lvl="0" indent="-285750">
                        <a:buFont typeface="Arial" panose="020B0604020202020204" pitchFamily="34" charset="0"/>
                        <a:buChar char="•"/>
                      </a:pPr>
                      <a:r>
                        <a:rPr lang="en-US" sz="1800" kern="1200" dirty="0" err="1">
                          <a:solidFill>
                            <a:schemeClr val="dk1"/>
                          </a:solidFill>
                          <a:effectLst/>
                          <a:latin typeface="+mn-lt"/>
                          <a:ea typeface="+mn-ea"/>
                          <a:cs typeface="+mn-cs"/>
                        </a:rPr>
                        <a:t>URLConnection</a:t>
                      </a:r>
                      <a:endParaRPr lang="en-US" sz="1800" kern="1200" dirty="0">
                        <a:solidFill>
                          <a:schemeClr val="dk1"/>
                        </a:solidFill>
                        <a:effectLst/>
                        <a:latin typeface="+mn-lt"/>
                        <a:ea typeface="+mn-ea"/>
                        <a:cs typeface="+mn-cs"/>
                      </a:endParaRPr>
                    </a:p>
                  </a:txBody>
                  <a:tcPr/>
                </a:tc>
                <a:extLst>
                  <a:ext uri="{0D108BD9-81ED-4DB2-BD59-A6C34878D82A}">
                    <a16:rowId xmlns:a16="http://schemas.microsoft.com/office/drawing/2014/main" val="10005"/>
                  </a:ext>
                </a:extLst>
              </a:tr>
              <a:tr h="370840">
                <a:tc>
                  <a:txBody>
                    <a:bodyPr/>
                    <a:lstStyle/>
                    <a:p>
                      <a:pPr algn="ctr"/>
                      <a:r>
                        <a:rPr lang="en-US" dirty="0"/>
                        <a:t>13</a:t>
                      </a:r>
                      <a:r>
                        <a:rPr lang="en-US" baseline="30000" dirty="0"/>
                        <a:t>th</a:t>
                      </a:r>
                      <a:endParaRPr lang="en-IE" dirty="0"/>
                    </a:p>
                  </a:txBody>
                  <a:tcPr/>
                </a:tc>
                <a:tc>
                  <a:txBody>
                    <a:bodyPr/>
                    <a:lstStyle/>
                    <a:p>
                      <a:r>
                        <a:rPr lang="en-US" dirty="0"/>
                        <a:t>JNP, JNPD</a:t>
                      </a:r>
                      <a:endParaRPr lang="en-IE" dirty="0"/>
                    </a:p>
                  </a:txBody>
                  <a:tcPr/>
                </a:tc>
                <a:tc>
                  <a:txBody>
                    <a:bodyPr/>
                    <a:lstStyle/>
                    <a:p>
                      <a:pPr marL="285750" lvl="0" indent="-285750">
                        <a:buFont typeface="Arial" panose="020B0604020202020204" pitchFamily="34" charset="0"/>
                        <a:buChar char="•"/>
                      </a:pPr>
                      <a:r>
                        <a:rPr lang="en-US" sz="1800" kern="1200" dirty="0">
                          <a:solidFill>
                            <a:schemeClr val="dk1"/>
                          </a:solidFill>
                          <a:effectLst/>
                          <a:latin typeface="+mn-lt"/>
                          <a:ea typeface="+mn-ea"/>
                          <a:cs typeface="+mn-cs"/>
                        </a:rPr>
                        <a:t>Sockets</a:t>
                      </a:r>
                      <a:r>
                        <a:rPr lang="en-US" sz="1800" kern="1200" baseline="0" dirty="0">
                          <a:solidFill>
                            <a:schemeClr val="dk1"/>
                          </a:solidFill>
                          <a:effectLst/>
                          <a:latin typeface="+mn-lt"/>
                          <a:ea typeface="+mn-ea"/>
                          <a:cs typeface="+mn-cs"/>
                        </a:rPr>
                        <a:t> for clients</a:t>
                      </a:r>
                    </a:p>
                    <a:p>
                      <a:pPr marL="285750" lvl="0" indent="-285750">
                        <a:buFont typeface="Arial" panose="020B0604020202020204" pitchFamily="34" charset="0"/>
                        <a:buChar char="•"/>
                      </a:pPr>
                      <a:r>
                        <a:rPr lang="en-US" sz="1800" kern="1200" baseline="0" dirty="0">
                          <a:solidFill>
                            <a:schemeClr val="dk1"/>
                          </a:solidFill>
                          <a:effectLst/>
                          <a:latin typeface="+mn-lt"/>
                          <a:ea typeface="+mn-ea"/>
                          <a:cs typeface="+mn-cs"/>
                        </a:rPr>
                        <a:t>Sockets for servers</a:t>
                      </a:r>
                      <a:endParaRPr lang="en-US" sz="1800" kern="1200" dirty="0">
                        <a:solidFill>
                          <a:schemeClr val="dk1"/>
                        </a:solidFill>
                        <a:effectLst/>
                        <a:latin typeface="+mn-lt"/>
                        <a:ea typeface="+mn-ea"/>
                        <a:cs typeface="+mn-cs"/>
                      </a:endParaRPr>
                    </a:p>
                  </a:txBody>
                  <a:tcPr/>
                </a:tc>
                <a:extLst>
                  <a:ext uri="{0D108BD9-81ED-4DB2-BD59-A6C34878D82A}">
                    <a16:rowId xmlns:a16="http://schemas.microsoft.com/office/drawing/2014/main" val="10006"/>
                  </a:ext>
                </a:extLst>
              </a:tr>
              <a:tr h="370840">
                <a:tc>
                  <a:txBody>
                    <a:bodyPr/>
                    <a:lstStyle/>
                    <a:p>
                      <a:pPr algn="ctr"/>
                      <a:r>
                        <a:rPr lang="en-US" dirty="0"/>
                        <a:t>14</a:t>
                      </a:r>
                      <a:r>
                        <a:rPr lang="en-US" baseline="30000" dirty="0"/>
                        <a:t>th</a:t>
                      </a:r>
                      <a:endParaRPr lang="en-IE"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[INPJ-JG,</a:t>
                      </a:r>
                      <a:r>
                        <a:rPr lang="en-US" dirty="0"/>
                        <a:t> ,</a:t>
                      </a:r>
                      <a:r>
                        <a:rPr lang="en-US" baseline="0" dirty="0"/>
                        <a:t> </a:t>
                      </a:r>
                      <a:r>
                        <a:rPr lang="en-US" dirty="0"/>
                        <a:t>JNPD</a:t>
                      </a:r>
                      <a:r>
                        <a:rPr lang="en-US" sz="1800" kern="1200" dirty="0">
                          <a:solidFill>
                            <a:schemeClr val="dk1"/>
                          </a:solidFill>
                          <a:effectLst/>
                          <a:latin typeface="+mn-lt"/>
                          <a:ea typeface="+mn-ea"/>
                          <a:cs typeface="+mn-cs"/>
                        </a:rPr>
                        <a:t>]</a:t>
                      </a:r>
                      <a:endParaRPr lang="en-IE" dirty="0"/>
                    </a:p>
                  </a:txBody>
                  <a:tcPr/>
                </a:tc>
                <a:tc>
                  <a:txBody>
                    <a:bodyPr/>
                    <a:lstStyle/>
                    <a:p>
                      <a:pPr marL="285750" lvl="0" indent="-285750">
                        <a:buFont typeface="Arial" panose="020B0604020202020204" pitchFamily="34" charset="0"/>
                        <a:buChar char="•"/>
                      </a:pPr>
                      <a:r>
                        <a:rPr lang="en-US" sz="1800" kern="1200" dirty="0">
                          <a:solidFill>
                            <a:schemeClr val="dk1"/>
                          </a:solidFill>
                          <a:effectLst/>
                          <a:latin typeface="+mn-lt"/>
                          <a:ea typeface="+mn-ea"/>
                          <a:cs typeface="+mn-cs"/>
                        </a:rPr>
                        <a:t>RMI</a:t>
                      </a:r>
                    </a:p>
                    <a:p>
                      <a:pPr marL="285750" lvl="0" indent="-285750">
                        <a:buFont typeface="Arial" panose="020B0604020202020204" pitchFamily="34" charset="0"/>
                        <a:buChar char="•"/>
                      </a:pPr>
                      <a:r>
                        <a:rPr lang="en-US" sz="1800" kern="1200" dirty="0">
                          <a:solidFill>
                            <a:schemeClr val="dk1"/>
                          </a:solidFill>
                          <a:effectLst/>
                          <a:latin typeface="+mn-lt"/>
                          <a:ea typeface="+mn-ea"/>
                          <a:cs typeface="+mn-cs"/>
                        </a:rPr>
                        <a:t>RMI Case Study</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15</a:t>
                      </a:r>
                      <a:r>
                        <a:rPr lang="en-US" baseline="30000" dirty="0"/>
                        <a:t>th</a:t>
                      </a:r>
                      <a:r>
                        <a:rPr lang="en-US" dirty="0"/>
                        <a:t> &amp; 16</a:t>
                      </a:r>
                      <a:r>
                        <a:rPr lang="en-US" baseline="30000" dirty="0"/>
                        <a:t>tt</a:t>
                      </a:r>
                      <a:endParaRPr lang="en-IE"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[INPJ-JG,</a:t>
                      </a:r>
                      <a:r>
                        <a:rPr lang="en-US" dirty="0"/>
                        <a:t> ,</a:t>
                      </a:r>
                      <a:r>
                        <a:rPr lang="en-US" baseline="0" dirty="0"/>
                        <a:t> </a:t>
                      </a:r>
                      <a:r>
                        <a:rPr lang="en-US" dirty="0"/>
                        <a:t>JNPD</a:t>
                      </a:r>
                      <a:r>
                        <a:rPr lang="en-US" sz="1800" kern="1200" dirty="0">
                          <a:solidFill>
                            <a:schemeClr val="dk1"/>
                          </a:solidFill>
                          <a:effectLst/>
                          <a:latin typeface="+mn-lt"/>
                          <a:ea typeface="+mn-ea"/>
                          <a:cs typeface="+mn-cs"/>
                        </a:rPr>
                        <a:t>]</a:t>
                      </a:r>
                      <a:endParaRPr lang="en-IE" dirty="0"/>
                    </a:p>
                  </a:txBody>
                  <a:tcPr/>
                </a:tc>
                <a:tc>
                  <a:txBody>
                    <a:bodyPr/>
                    <a:lstStyle/>
                    <a:p>
                      <a:pPr marL="285750" lvl="0" indent="-285750">
                        <a:buFont typeface="Arial" panose="020B0604020202020204" pitchFamily="34" charset="0"/>
                        <a:buChar char="•"/>
                      </a:pPr>
                      <a:r>
                        <a:rPr lang="en-US" sz="1800" kern="1200" dirty="0">
                          <a:solidFill>
                            <a:schemeClr val="dk1"/>
                          </a:solidFill>
                          <a:effectLst/>
                          <a:latin typeface="+mn-lt"/>
                          <a:ea typeface="+mn-ea"/>
                          <a:cs typeface="+mn-cs"/>
                        </a:rPr>
                        <a:t>CORBA</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76828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rmAutofit fontScale="90000"/>
          </a:bodyPr>
          <a:lstStyle/>
          <a:p>
            <a:r>
              <a:rPr lang="en-US" dirty="0"/>
              <a:t>Grading Criteria</a:t>
            </a:r>
            <a:endParaRPr lang="en-IE" dirty="0"/>
          </a:p>
        </p:txBody>
      </p:sp>
      <p:graphicFrame>
        <p:nvGraphicFramePr>
          <p:cNvPr id="4" name="Table 3"/>
          <p:cNvGraphicFramePr>
            <a:graphicFrameLocks noGrp="1"/>
          </p:cNvGraphicFramePr>
          <p:nvPr>
            <p:extLst>
              <p:ext uri="{D42A27DB-BD31-4B8C-83A1-F6EECF244321}">
                <p14:modId xmlns:p14="http://schemas.microsoft.com/office/powerpoint/2010/main" val="2216112609"/>
              </p:ext>
            </p:extLst>
          </p:nvPr>
        </p:nvGraphicFramePr>
        <p:xfrm>
          <a:off x="1600200" y="1676400"/>
          <a:ext cx="6019800" cy="35560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tblGrid>
              <a:tr h="508000">
                <a:tc>
                  <a:txBody>
                    <a:bodyPr/>
                    <a:lstStyle/>
                    <a:p>
                      <a:endParaRPr lang="en-IE" dirty="0"/>
                    </a:p>
                  </a:txBody>
                  <a:tcPr/>
                </a:tc>
                <a:tc>
                  <a:txBody>
                    <a:bodyPr/>
                    <a:lstStyle/>
                    <a:p>
                      <a:pPr algn="ctr"/>
                      <a:r>
                        <a:rPr lang="en-US" dirty="0"/>
                        <a:t>Marks</a:t>
                      </a:r>
                      <a:endParaRPr lang="en-IE" dirty="0"/>
                    </a:p>
                  </a:txBody>
                  <a:tcPr/>
                </a:tc>
                <a:extLst>
                  <a:ext uri="{0D108BD9-81ED-4DB2-BD59-A6C34878D82A}">
                    <a16:rowId xmlns:a16="http://schemas.microsoft.com/office/drawing/2014/main" val="10000"/>
                  </a:ext>
                </a:extLst>
              </a:tr>
              <a:tr h="508000">
                <a:tc>
                  <a:txBody>
                    <a:bodyPr/>
                    <a:lstStyle/>
                    <a:p>
                      <a:pPr algn="ctr"/>
                      <a:r>
                        <a:rPr lang="en-US" dirty="0"/>
                        <a:t>Quizzes</a:t>
                      </a:r>
                      <a:endParaRPr lang="en-IE" dirty="0"/>
                    </a:p>
                  </a:txBody>
                  <a:tcPr/>
                </a:tc>
                <a:tc>
                  <a:txBody>
                    <a:bodyPr/>
                    <a:lstStyle/>
                    <a:p>
                      <a:pPr algn="ctr"/>
                      <a:r>
                        <a:rPr lang="en-US" dirty="0"/>
                        <a:t>5 - 10</a:t>
                      </a:r>
                      <a:endParaRPr lang="en-IE" dirty="0"/>
                    </a:p>
                  </a:txBody>
                  <a:tcPr/>
                </a:tc>
                <a:extLst>
                  <a:ext uri="{0D108BD9-81ED-4DB2-BD59-A6C34878D82A}">
                    <a16:rowId xmlns:a16="http://schemas.microsoft.com/office/drawing/2014/main" val="10001"/>
                  </a:ext>
                </a:extLst>
              </a:tr>
              <a:tr h="508000">
                <a:tc>
                  <a:txBody>
                    <a:bodyPr/>
                    <a:lstStyle/>
                    <a:p>
                      <a:pPr algn="ctr"/>
                      <a:r>
                        <a:rPr lang="en-US" dirty="0"/>
                        <a:t>Assignments</a:t>
                      </a:r>
                    </a:p>
                  </a:txBody>
                  <a:tcPr/>
                </a:tc>
                <a:tc>
                  <a:txBody>
                    <a:bodyPr/>
                    <a:lstStyle/>
                    <a:p>
                      <a:pPr marL="0" lvl="0" indent="0" algn="ctr">
                        <a:buFont typeface="Arial" panose="020B0604020202020204" pitchFamily="34" charset="0"/>
                        <a:buNone/>
                      </a:pPr>
                      <a:r>
                        <a:rPr lang="en-US" sz="1800" kern="1200" dirty="0">
                          <a:solidFill>
                            <a:schemeClr val="dk1"/>
                          </a:solidFill>
                          <a:effectLst/>
                          <a:latin typeface="+mn-lt"/>
                          <a:ea typeface="+mn-ea"/>
                          <a:cs typeface="+mn-cs"/>
                        </a:rPr>
                        <a:t>5 – 10</a:t>
                      </a:r>
                    </a:p>
                  </a:txBody>
                  <a:tcPr/>
                </a:tc>
                <a:extLst>
                  <a:ext uri="{0D108BD9-81ED-4DB2-BD59-A6C34878D82A}">
                    <a16:rowId xmlns:a16="http://schemas.microsoft.com/office/drawing/2014/main" val="10002"/>
                  </a:ext>
                </a:extLst>
              </a:tr>
              <a:tr h="508000">
                <a:tc>
                  <a:txBody>
                    <a:bodyPr/>
                    <a:lstStyle/>
                    <a:p>
                      <a:pPr algn="ctr"/>
                      <a:r>
                        <a:rPr lang="en-US" dirty="0"/>
                        <a:t>Project/Presentation</a:t>
                      </a:r>
                      <a:endParaRPr lang="en-IE" dirty="0"/>
                    </a:p>
                  </a:txBody>
                  <a:tcPr/>
                </a:tc>
                <a:tc>
                  <a:txBody>
                    <a:bodyPr/>
                    <a:lstStyle/>
                    <a:p>
                      <a:pPr marL="0" lvl="0" indent="0" algn="ctr">
                        <a:buFont typeface="Arial" panose="020B0604020202020204" pitchFamily="34" charset="0"/>
                        <a:buNone/>
                      </a:pPr>
                      <a:r>
                        <a:rPr lang="en-US" dirty="0"/>
                        <a:t>5 – 10</a:t>
                      </a:r>
                      <a:endParaRPr lang="en-IE" dirty="0"/>
                    </a:p>
                  </a:txBody>
                  <a:tcPr/>
                </a:tc>
                <a:extLst>
                  <a:ext uri="{0D108BD9-81ED-4DB2-BD59-A6C34878D82A}">
                    <a16:rowId xmlns:a16="http://schemas.microsoft.com/office/drawing/2014/main" val="10003"/>
                  </a:ext>
                </a:extLst>
              </a:tr>
              <a:tr h="508000">
                <a:tc>
                  <a:txBody>
                    <a:bodyPr/>
                    <a:lstStyle/>
                    <a:p>
                      <a:pPr algn="ctr"/>
                      <a:r>
                        <a:rPr lang="en-IE" dirty="0"/>
                        <a:t>Class Behaviour/Attendance</a:t>
                      </a:r>
                    </a:p>
                  </a:txBody>
                  <a:tcPr/>
                </a:tc>
                <a:tc>
                  <a:txBody>
                    <a:bodyPr/>
                    <a:lstStyle/>
                    <a:p>
                      <a:pPr marL="0" lvl="0" indent="0" algn="ctr">
                        <a:buFont typeface="Arial" panose="020B0604020202020204" pitchFamily="34" charset="0"/>
                        <a:buNone/>
                      </a:pPr>
                      <a:r>
                        <a:rPr lang="en-US" sz="1800" kern="1200">
                          <a:solidFill>
                            <a:schemeClr val="dk1"/>
                          </a:solidFill>
                          <a:effectLst/>
                          <a:latin typeface="+mn-lt"/>
                          <a:ea typeface="+mn-ea"/>
                          <a:cs typeface="+mn-cs"/>
                        </a:rPr>
                        <a:t>5 - 10</a:t>
                      </a:r>
                      <a:endParaRPr lang="en-US" sz="1800" kern="1200" dirty="0">
                        <a:solidFill>
                          <a:schemeClr val="dk1"/>
                        </a:solidFill>
                        <a:effectLst/>
                        <a:latin typeface="+mn-lt"/>
                        <a:ea typeface="+mn-ea"/>
                        <a:cs typeface="+mn-cs"/>
                      </a:endParaRPr>
                    </a:p>
                  </a:txBody>
                  <a:tcPr/>
                </a:tc>
                <a:extLst>
                  <a:ext uri="{0D108BD9-81ED-4DB2-BD59-A6C34878D82A}">
                    <a16:rowId xmlns:a16="http://schemas.microsoft.com/office/drawing/2014/main" val="1193170366"/>
                  </a:ext>
                </a:extLst>
              </a:tr>
              <a:tr h="508000">
                <a:tc>
                  <a:txBody>
                    <a:bodyPr/>
                    <a:lstStyle/>
                    <a:p>
                      <a:pPr algn="ctr"/>
                      <a:r>
                        <a:rPr lang="en-US" dirty="0"/>
                        <a:t>Midterm Exam</a:t>
                      </a:r>
                      <a:endParaRPr lang="en-IE" dirty="0"/>
                    </a:p>
                  </a:txBody>
                  <a:tcPr/>
                </a:tc>
                <a:tc>
                  <a:txBody>
                    <a:bodyPr/>
                    <a:lstStyle/>
                    <a:p>
                      <a:pPr marL="0" lvl="0" indent="0" algn="ctr">
                        <a:buFont typeface="Arial" panose="020B0604020202020204" pitchFamily="34" charset="0"/>
                        <a:buNone/>
                      </a:pPr>
                      <a:r>
                        <a:rPr lang="en-US" sz="1800" kern="1200" dirty="0">
                          <a:solidFill>
                            <a:schemeClr val="dk1"/>
                          </a:solidFill>
                          <a:effectLst/>
                          <a:latin typeface="+mn-lt"/>
                          <a:ea typeface="+mn-ea"/>
                          <a:cs typeface="+mn-cs"/>
                        </a:rPr>
                        <a:t>25</a:t>
                      </a:r>
                    </a:p>
                  </a:txBody>
                  <a:tcPr/>
                </a:tc>
                <a:extLst>
                  <a:ext uri="{0D108BD9-81ED-4DB2-BD59-A6C34878D82A}">
                    <a16:rowId xmlns:a16="http://schemas.microsoft.com/office/drawing/2014/main" val="1177144658"/>
                  </a:ext>
                </a:extLst>
              </a:tr>
              <a:tr h="508000">
                <a:tc>
                  <a:txBody>
                    <a:bodyPr/>
                    <a:lstStyle/>
                    <a:p>
                      <a:pPr algn="ctr"/>
                      <a:r>
                        <a:rPr lang="en-US" dirty="0"/>
                        <a:t>Final Exam</a:t>
                      </a:r>
                      <a:endParaRPr lang="en-IE" dirty="0"/>
                    </a:p>
                  </a:txBody>
                  <a:tcPr/>
                </a:tc>
                <a:tc>
                  <a:txBody>
                    <a:bodyPr/>
                    <a:lstStyle/>
                    <a:p>
                      <a:pPr marL="0" lvl="0" indent="0" algn="ctr">
                        <a:buFont typeface="Arial" panose="020B0604020202020204" pitchFamily="34" charset="0"/>
                        <a:buNone/>
                      </a:pPr>
                      <a:r>
                        <a:rPr lang="en-US" sz="1800" kern="1200" dirty="0">
                          <a:solidFill>
                            <a:schemeClr val="dk1"/>
                          </a:solidFill>
                          <a:effectLst/>
                          <a:latin typeface="+mn-lt"/>
                          <a:ea typeface="+mn-ea"/>
                          <a:cs typeface="+mn-cs"/>
                        </a:rPr>
                        <a:t>50</a:t>
                      </a:r>
                    </a:p>
                  </a:txBody>
                  <a:tcPr/>
                </a:tc>
                <a:extLst>
                  <a:ext uri="{0D108BD9-81ED-4DB2-BD59-A6C34878D82A}">
                    <a16:rowId xmlns:a16="http://schemas.microsoft.com/office/drawing/2014/main" val="2442926841"/>
                  </a:ext>
                </a:extLst>
              </a:tr>
            </a:tbl>
          </a:graphicData>
        </a:graphic>
      </p:graphicFrame>
    </p:spTree>
    <p:extLst>
      <p:ext uri="{BB962C8B-B14F-4D97-AF65-F5344CB8AC3E}">
        <p14:creationId xmlns:p14="http://schemas.microsoft.com/office/powerpoint/2010/main" val="1658316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Introduction</a:t>
            </a:r>
            <a:endParaRPr lang="en-IE" dirty="0"/>
          </a:p>
        </p:txBody>
      </p:sp>
      <p:sp>
        <p:nvSpPr>
          <p:cNvPr id="3" name="Content Placeholder 2"/>
          <p:cNvSpPr>
            <a:spLocks noGrp="1"/>
          </p:cNvSpPr>
          <p:nvPr>
            <p:ph idx="1"/>
          </p:nvPr>
        </p:nvSpPr>
        <p:spPr>
          <a:xfrm>
            <a:off x="0" y="685800"/>
            <a:ext cx="9144000" cy="6172200"/>
          </a:xfrm>
        </p:spPr>
        <p:txBody>
          <a:bodyPr>
            <a:noAutofit/>
          </a:bodyPr>
          <a:lstStyle/>
          <a:p>
            <a:r>
              <a:rPr lang="en-IE" sz="2000" b="1" dirty="0"/>
              <a:t>Network programming </a:t>
            </a:r>
          </a:p>
          <a:p>
            <a:pPr lvl="1"/>
            <a:r>
              <a:rPr lang="en-IE" sz="1800" b="1" dirty="0"/>
              <a:t>has become a </a:t>
            </a:r>
            <a:r>
              <a:rPr lang="en-IE" sz="1800" b="1" dirty="0">
                <a:solidFill>
                  <a:schemeClr val="tx2"/>
                </a:solidFill>
              </a:rPr>
              <a:t>core part </a:t>
            </a:r>
            <a:r>
              <a:rPr lang="en-IE" sz="1800" b="1" dirty="0"/>
              <a:t>of every developer’s toolbox. </a:t>
            </a:r>
          </a:p>
          <a:p>
            <a:pPr lvl="1"/>
            <a:r>
              <a:rPr lang="en-IE" sz="1800" b="1" dirty="0"/>
              <a:t>Today, more </a:t>
            </a:r>
            <a:r>
              <a:rPr lang="en-IE" sz="1800" b="1" dirty="0">
                <a:solidFill>
                  <a:schemeClr val="tx2"/>
                </a:solidFill>
              </a:rPr>
              <a:t>programs are network aware </a:t>
            </a:r>
            <a:r>
              <a:rPr lang="en-IE" sz="1800" b="1" dirty="0"/>
              <a:t>than aren’t. Besides classic applications like email, web browsers, and remote login, most major applications have </a:t>
            </a:r>
            <a:r>
              <a:rPr lang="en-IE" sz="1800" b="1" dirty="0">
                <a:solidFill>
                  <a:schemeClr val="tx2"/>
                </a:solidFill>
              </a:rPr>
              <a:t>some level of networking built in. </a:t>
            </a:r>
          </a:p>
          <a:p>
            <a:r>
              <a:rPr lang="en-IE" sz="2000" b="1" dirty="0"/>
              <a:t>Examples: </a:t>
            </a:r>
          </a:p>
          <a:p>
            <a:pPr lvl="1"/>
            <a:r>
              <a:rPr lang="en-IE" sz="1800" b="1" dirty="0"/>
              <a:t>IDEs like Eclipse and IntelliJ IDEA communicate with source code repositories like </a:t>
            </a:r>
            <a:r>
              <a:rPr lang="en-IE" sz="1800" b="1" dirty="0">
                <a:solidFill>
                  <a:schemeClr val="tx2"/>
                </a:solidFill>
              </a:rPr>
              <a:t>Git (via GitHub)</a:t>
            </a:r>
            <a:r>
              <a:rPr lang="en-IE" sz="1800" b="1" dirty="0"/>
              <a:t> and </a:t>
            </a:r>
            <a:r>
              <a:rPr lang="en-IE" sz="1800" b="1" dirty="0" err="1">
                <a:solidFill>
                  <a:schemeClr val="tx2"/>
                </a:solidFill>
              </a:rPr>
              <a:t>Sourceforge</a:t>
            </a:r>
            <a:r>
              <a:rPr lang="en-IE" sz="1800" b="1" dirty="0"/>
              <a:t>.</a:t>
            </a:r>
          </a:p>
          <a:p>
            <a:pPr lvl="1"/>
            <a:r>
              <a:rPr lang="en-IE" sz="1800" b="1" dirty="0"/>
              <a:t>Word processors like Microsoft </a:t>
            </a:r>
            <a:r>
              <a:rPr lang="en-IE" sz="1800" b="1" dirty="0">
                <a:solidFill>
                  <a:schemeClr val="tx2"/>
                </a:solidFill>
              </a:rPr>
              <a:t>Word open files from URLs</a:t>
            </a:r>
            <a:r>
              <a:rPr lang="en-IE" sz="1800" b="1" dirty="0"/>
              <a:t>.</a:t>
            </a:r>
          </a:p>
          <a:p>
            <a:pPr lvl="1"/>
            <a:r>
              <a:rPr lang="en-IE" sz="1800" b="1" dirty="0">
                <a:solidFill>
                  <a:schemeClr val="tx2"/>
                </a:solidFill>
              </a:rPr>
              <a:t>Antivirus programs </a:t>
            </a:r>
            <a:r>
              <a:rPr lang="en-IE" sz="1800" b="1" dirty="0"/>
              <a:t>like Norton </a:t>
            </a:r>
            <a:r>
              <a:rPr lang="en-IE" sz="1800" b="1" dirty="0" err="1"/>
              <a:t>AntiVirus</a:t>
            </a:r>
            <a:r>
              <a:rPr lang="en-IE" sz="1800" b="1" dirty="0"/>
              <a:t> check for new virus definitions by connecting to the vendor’s website every time the computer is started.</a:t>
            </a:r>
          </a:p>
          <a:p>
            <a:pPr lvl="1"/>
            <a:r>
              <a:rPr lang="en-IE" sz="1800" b="1" dirty="0">
                <a:solidFill>
                  <a:schemeClr val="tx2"/>
                </a:solidFill>
              </a:rPr>
              <a:t>Music players </a:t>
            </a:r>
            <a:r>
              <a:rPr lang="en-IE" sz="1800" b="1" dirty="0"/>
              <a:t>like iTunes and related services like Spotify sync and stream media files</a:t>
            </a:r>
          </a:p>
          <a:p>
            <a:pPr lvl="1"/>
            <a:r>
              <a:rPr lang="en-IE" sz="1800" b="1" dirty="0">
                <a:solidFill>
                  <a:schemeClr val="tx2"/>
                </a:solidFill>
              </a:rPr>
              <a:t>Gamers playing </a:t>
            </a:r>
            <a:r>
              <a:rPr lang="en-IE" sz="1800" b="1" dirty="0"/>
              <a:t>multiplayer first-person shooters like Halo gleefully frag each other in real time.</a:t>
            </a:r>
          </a:p>
          <a:p>
            <a:pPr lvl="1"/>
            <a:r>
              <a:rPr lang="en-IE" sz="1800" b="1" dirty="0"/>
              <a:t>Supermarket cash registers running IBM </a:t>
            </a:r>
            <a:r>
              <a:rPr lang="en-IE" sz="1800" b="1" dirty="0" err="1"/>
              <a:t>SurePOS</a:t>
            </a:r>
            <a:r>
              <a:rPr lang="en-IE" sz="1800" b="1" dirty="0"/>
              <a:t> ACE communicate with their store’s server in real time with each transaction. </a:t>
            </a:r>
          </a:p>
          <a:p>
            <a:pPr lvl="1"/>
            <a:r>
              <a:rPr lang="en-IE" sz="1800" b="1" dirty="0"/>
              <a:t>Schedule applications like </a:t>
            </a:r>
            <a:r>
              <a:rPr lang="en-IE" sz="1800" b="1" dirty="0">
                <a:solidFill>
                  <a:schemeClr val="tx2"/>
                </a:solidFill>
              </a:rPr>
              <a:t>Microsoft Outlook automatically synchronize calendars </a:t>
            </a:r>
            <a:r>
              <a:rPr lang="en-IE" sz="1800" b="1" dirty="0"/>
              <a:t>among employees in a company.</a:t>
            </a:r>
          </a:p>
        </p:txBody>
      </p:sp>
    </p:spTree>
    <p:extLst>
      <p:ext uri="{BB962C8B-B14F-4D97-AF65-F5344CB8AC3E}">
        <p14:creationId xmlns:p14="http://schemas.microsoft.com/office/powerpoint/2010/main" val="4292568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Introduction</a:t>
            </a:r>
            <a:endParaRPr lang="en-IE" dirty="0"/>
          </a:p>
        </p:txBody>
      </p:sp>
      <p:sp>
        <p:nvSpPr>
          <p:cNvPr id="3" name="Content Placeholder 2"/>
          <p:cNvSpPr>
            <a:spLocks noGrp="1"/>
          </p:cNvSpPr>
          <p:nvPr>
            <p:ph idx="1"/>
          </p:nvPr>
        </p:nvSpPr>
        <p:spPr>
          <a:xfrm>
            <a:off x="0" y="685800"/>
            <a:ext cx="9144000" cy="6172200"/>
          </a:xfrm>
        </p:spPr>
        <p:txBody>
          <a:bodyPr>
            <a:noAutofit/>
          </a:bodyPr>
          <a:lstStyle/>
          <a:p>
            <a:r>
              <a:rPr lang="en-IE" sz="2400" b="1" dirty="0"/>
              <a:t>Java was the </a:t>
            </a:r>
            <a:r>
              <a:rPr lang="en-IE" sz="2400" b="1" dirty="0">
                <a:solidFill>
                  <a:schemeClr val="tx2"/>
                </a:solidFill>
              </a:rPr>
              <a:t>first programming language </a:t>
            </a:r>
            <a:r>
              <a:rPr lang="en-IE" sz="2400" b="1" dirty="0"/>
              <a:t>designed from the ground up for </a:t>
            </a:r>
            <a:r>
              <a:rPr lang="en-IE" sz="2400" b="1" dirty="0">
                <a:solidFill>
                  <a:schemeClr val="tx2"/>
                </a:solidFill>
              </a:rPr>
              <a:t>network applications</a:t>
            </a:r>
            <a:r>
              <a:rPr lang="en-IE" sz="2400" b="1" dirty="0"/>
              <a:t>. </a:t>
            </a:r>
          </a:p>
          <a:p>
            <a:r>
              <a:rPr lang="en-IE" sz="2400" b="1" dirty="0"/>
              <a:t>One of the first two real Java applications was a </a:t>
            </a:r>
            <a:r>
              <a:rPr lang="en-IE" sz="2400" b="1" dirty="0">
                <a:solidFill>
                  <a:schemeClr val="tx2"/>
                </a:solidFill>
              </a:rPr>
              <a:t>web browser</a:t>
            </a:r>
            <a:r>
              <a:rPr lang="en-IE" sz="2400" b="1" dirty="0"/>
              <a:t>. As the Internet continues to grow, </a:t>
            </a:r>
            <a:r>
              <a:rPr lang="en-IE" sz="2400" b="1" dirty="0">
                <a:solidFill>
                  <a:schemeClr val="tx2"/>
                </a:solidFill>
              </a:rPr>
              <a:t>Java is uniquely suited </a:t>
            </a:r>
            <a:r>
              <a:rPr lang="en-IE" sz="2400" b="1" dirty="0"/>
              <a:t>to build the next generation of </a:t>
            </a:r>
            <a:r>
              <a:rPr lang="en-IE" sz="2400" b="1" dirty="0">
                <a:solidFill>
                  <a:schemeClr val="tx2"/>
                </a:solidFill>
              </a:rPr>
              <a:t>network applications</a:t>
            </a:r>
            <a:r>
              <a:rPr lang="en-IE" sz="2400" b="1" dirty="0"/>
              <a:t>.</a:t>
            </a:r>
          </a:p>
          <a:p>
            <a:r>
              <a:rPr lang="en-IE" sz="2400" b="1" dirty="0"/>
              <a:t>One of the biggest secrets about Java is that it </a:t>
            </a:r>
            <a:r>
              <a:rPr lang="en-IE" sz="2400" b="1" dirty="0">
                <a:solidFill>
                  <a:schemeClr val="tx2"/>
                </a:solidFill>
              </a:rPr>
              <a:t>makes writing network programs easy</a:t>
            </a:r>
            <a:r>
              <a:rPr lang="en-IE" sz="2400" b="1" dirty="0"/>
              <a:t>. </a:t>
            </a:r>
          </a:p>
          <a:p>
            <a:r>
              <a:rPr lang="en-IE" sz="2400" b="1" dirty="0"/>
              <a:t>In fact, it is </a:t>
            </a:r>
            <a:r>
              <a:rPr lang="en-IE" sz="2400" b="1" dirty="0">
                <a:solidFill>
                  <a:schemeClr val="tx2"/>
                </a:solidFill>
              </a:rPr>
              <a:t>far easier to write network programs in Java </a:t>
            </a:r>
            <a:r>
              <a:rPr lang="en-IE" sz="2400" b="1" dirty="0"/>
              <a:t>than in almost any other language. </a:t>
            </a:r>
          </a:p>
          <a:p>
            <a:endParaRPr lang="en-IE" sz="2400" b="1" dirty="0"/>
          </a:p>
        </p:txBody>
      </p:sp>
    </p:spTree>
    <p:extLst>
      <p:ext uri="{BB962C8B-B14F-4D97-AF65-F5344CB8AC3E}">
        <p14:creationId xmlns:p14="http://schemas.microsoft.com/office/powerpoint/2010/main" val="3069947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457200" y="304800"/>
            <a:ext cx="8229600" cy="1143000"/>
          </a:xfrm>
        </p:spPr>
        <p:txBody>
          <a:bodyPr/>
          <a:lstStyle/>
          <a:p>
            <a:r>
              <a:rPr lang="en-US" altLang="en-US" b="1" dirty="0"/>
              <a:t>Network</a:t>
            </a:r>
            <a:endParaRPr lang="en-IN" altLang="en-US" b="1" dirty="0"/>
          </a:p>
        </p:txBody>
      </p:sp>
      <p:graphicFrame>
        <p:nvGraphicFramePr>
          <p:cNvPr id="4099" name="Object 45"/>
          <p:cNvGraphicFramePr>
            <a:graphicFrameLocks noGrp="1"/>
          </p:cNvGraphicFramePr>
          <p:nvPr>
            <p:ph sz="quarter" idx="4294967295"/>
          </p:nvPr>
        </p:nvGraphicFramePr>
        <p:xfrm>
          <a:off x="511175" y="4565650"/>
          <a:ext cx="671513" cy="990600"/>
        </p:xfrm>
        <a:graphic>
          <a:graphicData uri="http://schemas.openxmlformats.org/presentationml/2006/ole">
            <mc:AlternateContent xmlns:mc="http://schemas.openxmlformats.org/markup-compatibility/2006">
              <mc:Choice xmlns:v="urn:schemas-microsoft-com:vml" Requires="v">
                <p:oleObj name="Microsoft ClipArt Gallery" r:id="rId2" imgW="2559050" imgH="4298950" progId="MS_ClipArt_Gallery">
                  <p:embed/>
                </p:oleObj>
              </mc:Choice>
              <mc:Fallback>
                <p:oleObj name="Microsoft ClipArt Gallery" r:id="rId2" imgW="2559050" imgH="4298950" progId="MS_ClipArt_Gallery">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175" y="4565650"/>
                        <a:ext cx="671513"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4100" name="Picture 39" descr="j0297551"/>
          <p:cNvPicPr>
            <a:picLocks noGrp="1" noChangeAspect="1" noChangeArrowheads="1"/>
          </p:cNvPicPr>
          <p:nvPr>
            <p:ph sz="half" idx="1"/>
          </p:nvPr>
        </p:nvPicPr>
        <p:blipFill>
          <a:blip r:embed="rId4" cstate="print">
            <a:extLst>
              <a:ext uri="{28A0092B-C50C-407E-A947-70E740481C1C}">
                <a14:useLocalDpi xmlns:a14="http://schemas.microsoft.com/office/drawing/2010/main" val="0"/>
              </a:ext>
            </a:extLst>
          </a:blip>
          <a:srcRect/>
          <a:stretch>
            <a:fillRect/>
          </a:stretch>
        </p:blipFill>
        <p:spPr>
          <a:xfrm>
            <a:off x="3581400" y="1447800"/>
            <a:ext cx="1195388" cy="1824038"/>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graphicFrame>
        <p:nvGraphicFramePr>
          <p:cNvPr id="4101" name="Object 43"/>
          <p:cNvGraphicFramePr>
            <a:graphicFrameLocks/>
          </p:cNvGraphicFramePr>
          <p:nvPr/>
        </p:nvGraphicFramePr>
        <p:xfrm>
          <a:off x="403225" y="2879725"/>
          <a:ext cx="1122363" cy="914400"/>
        </p:xfrm>
        <a:graphic>
          <a:graphicData uri="http://schemas.openxmlformats.org/presentationml/2006/ole">
            <mc:AlternateContent xmlns:mc="http://schemas.openxmlformats.org/markup-compatibility/2006">
              <mc:Choice xmlns:v="urn:schemas-microsoft-com:vml" Requires="v">
                <p:oleObj name="Microsoft ClipArt Gallery" r:id="rId5" imgW="4183063" imgH="3216275" progId="MS_ClipArt_Gallery">
                  <p:embed/>
                </p:oleObj>
              </mc:Choice>
              <mc:Fallback>
                <p:oleObj name="Microsoft ClipArt Gallery" r:id="rId5" imgW="4183063" imgH="3216275" progId="MS_ClipArt_Gallery">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3225" y="2879725"/>
                        <a:ext cx="112236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2" name="Arc 3"/>
          <p:cNvSpPr>
            <a:spLocks/>
          </p:cNvSpPr>
          <p:nvPr/>
        </p:nvSpPr>
        <p:spPr bwMode="auto">
          <a:xfrm>
            <a:off x="2887663" y="4273550"/>
            <a:ext cx="1328737" cy="668338"/>
          </a:xfrm>
          <a:custGeom>
            <a:avLst/>
            <a:gdLst>
              <a:gd name="T0" fmla="*/ 2147483647 w 24843"/>
              <a:gd name="T1" fmla="*/ 0 h 21652"/>
              <a:gd name="T2" fmla="*/ 0 w 24843"/>
              <a:gd name="T3" fmla="*/ 2147483647 h 21652"/>
              <a:gd name="T4" fmla="*/ 2147483647 w 24843"/>
              <a:gd name="T5" fmla="*/ 1457028172 h 21652"/>
              <a:gd name="T6" fmla="*/ 0 60000 65536"/>
              <a:gd name="T7" fmla="*/ 0 60000 65536"/>
              <a:gd name="T8" fmla="*/ 0 60000 65536"/>
            </a:gdLst>
            <a:ahLst/>
            <a:cxnLst>
              <a:cxn ang="T6">
                <a:pos x="T0" y="T1"/>
              </a:cxn>
              <a:cxn ang="T7">
                <a:pos x="T2" y="T3"/>
              </a:cxn>
              <a:cxn ang="T8">
                <a:pos x="T4" y="T5"/>
              </a:cxn>
            </a:cxnLst>
            <a:rect l="0" t="0" r="r" b="b"/>
            <a:pathLst>
              <a:path w="24843" h="21652" fill="none" extrusionOk="0">
                <a:moveTo>
                  <a:pt x="24842" y="0"/>
                </a:moveTo>
                <a:cubicBezTo>
                  <a:pt x="24842" y="17"/>
                  <a:pt x="24843" y="34"/>
                  <a:pt x="24843" y="52"/>
                </a:cubicBezTo>
                <a:cubicBezTo>
                  <a:pt x="24843" y="11981"/>
                  <a:pt x="15172" y="21652"/>
                  <a:pt x="3243" y="21652"/>
                </a:cubicBezTo>
                <a:cubicBezTo>
                  <a:pt x="2157" y="21652"/>
                  <a:pt x="1073" y="21570"/>
                  <a:pt x="-1" y="21407"/>
                </a:cubicBezTo>
              </a:path>
              <a:path w="24843" h="21652" stroke="0" extrusionOk="0">
                <a:moveTo>
                  <a:pt x="24842" y="0"/>
                </a:moveTo>
                <a:cubicBezTo>
                  <a:pt x="24842" y="17"/>
                  <a:pt x="24843" y="34"/>
                  <a:pt x="24843" y="52"/>
                </a:cubicBezTo>
                <a:cubicBezTo>
                  <a:pt x="24843" y="11981"/>
                  <a:pt x="15172" y="21652"/>
                  <a:pt x="3243" y="21652"/>
                </a:cubicBezTo>
                <a:cubicBezTo>
                  <a:pt x="2157" y="21652"/>
                  <a:pt x="1073" y="21570"/>
                  <a:pt x="-1" y="21407"/>
                </a:cubicBezTo>
                <a:lnTo>
                  <a:pt x="3243" y="52"/>
                </a:lnTo>
                <a:lnTo>
                  <a:pt x="24842" y="0"/>
                </a:lnTo>
                <a:close/>
              </a:path>
            </a:pathLst>
          </a:custGeom>
          <a:noFill/>
          <a:ln w="127000" cap="rnd">
            <a:solidFill>
              <a:srgbClr val="FAFD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4103" name="Oval 4"/>
          <p:cNvSpPr>
            <a:spLocks noChangeArrowheads="1"/>
          </p:cNvSpPr>
          <p:nvPr/>
        </p:nvSpPr>
        <p:spPr bwMode="auto">
          <a:xfrm>
            <a:off x="4278313" y="2917825"/>
            <a:ext cx="4133850" cy="2339975"/>
          </a:xfrm>
          <a:prstGeom prst="ellipse">
            <a:avLst/>
          </a:prstGeom>
          <a:solidFill>
            <a:schemeClr val="tx1"/>
          </a:solidFill>
          <a:ln w="127000">
            <a:solidFill>
              <a:srgbClr val="FAFD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IN" altLang="en-US"/>
          </a:p>
        </p:txBody>
      </p:sp>
      <p:graphicFrame>
        <p:nvGraphicFramePr>
          <p:cNvPr id="4104" name="Object 5"/>
          <p:cNvGraphicFramePr>
            <a:graphicFrameLocks/>
          </p:cNvGraphicFramePr>
          <p:nvPr/>
        </p:nvGraphicFramePr>
        <p:xfrm>
          <a:off x="7116763" y="2324100"/>
          <a:ext cx="1143000" cy="1028700"/>
        </p:xfrm>
        <a:graphic>
          <a:graphicData uri="http://schemas.openxmlformats.org/presentationml/2006/ole">
            <mc:AlternateContent xmlns:mc="http://schemas.openxmlformats.org/markup-compatibility/2006">
              <mc:Choice xmlns:v="urn:schemas-microsoft-com:vml" Requires="v">
                <p:oleObj name="Microsoft ClipArt Gallery" r:id="rId7" imgW="4183063" imgH="3216275" progId="MS_ClipArt_Gallery">
                  <p:embed/>
                </p:oleObj>
              </mc:Choice>
              <mc:Fallback>
                <p:oleObj name="Microsoft ClipArt Gallery" r:id="rId7" imgW="4183063" imgH="3216275" progId="MS_ClipArt_Gallery">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16763" y="2324100"/>
                        <a:ext cx="1143000"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5" name="Object 6"/>
          <p:cNvGraphicFramePr>
            <a:graphicFrameLocks/>
          </p:cNvGraphicFramePr>
          <p:nvPr/>
        </p:nvGraphicFramePr>
        <p:xfrm>
          <a:off x="8031163" y="3797300"/>
          <a:ext cx="808037" cy="1231900"/>
        </p:xfrm>
        <a:graphic>
          <a:graphicData uri="http://schemas.openxmlformats.org/presentationml/2006/ole">
            <mc:AlternateContent xmlns:mc="http://schemas.openxmlformats.org/markup-compatibility/2006">
              <mc:Choice xmlns:v="urn:schemas-microsoft-com:vml" Requires="v">
                <p:oleObj name="Microsoft ClipArt Gallery" r:id="rId8" imgW="2559050" imgH="4298950" progId="MS_ClipArt_Gallery">
                  <p:embed/>
                </p:oleObj>
              </mc:Choice>
              <mc:Fallback>
                <p:oleObj name="Microsoft ClipArt Gallery" r:id="rId8" imgW="2559050" imgH="4298950" progId="MS_ClipArt_Gallery">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1163" y="3797300"/>
                        <a:ext cx="808037" cy="123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6" name="Object 7"/>
          <p:cNvGraphicFramePr>
            <a:graphicFrameLocks/>
          </p:cNvGraphicFramePr>
          <p:nvPr/>
        </p:nvGraphicFramePr>
        <p:xfrm>
          <a:off x="5897563" y="4495800"/>
          <a:ext cx="1287462" cy="1536700"/>
        </p:xfrm>
        <a:graphic>
          <a:graphicData uri="http://schemas.openxmlformats.org/presentationml/2006/ole">
            <mc:AlternateContent xmlns:mc="http://schemas.openxmlformats.org/markup-compatibility/2006">
              <mc:Choice xmlns:v="urn:schemas-microsoft-com:vml" Requires="v">
                <p:oleObj name="Microsoft ClipArt Gallery" r:id="rId9" imgW="4548188" imgH="3284538" progId="MS_ClipArt_Gallery">
                  <p:embed/>
                </p:oleObj>
              </mc:Choice>
              <mc:Fallback>
                <p:oleObj name="Microsoft ClipArt Gallery" r:id="rId9" imgW="4548188" imgH="3284538" progId="MS_ClipArt_Gallery">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97563" y="4495800"/>
                        <a:ext cx="1287462" cy="153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7" name="AutoShape 8"/>
          <p:cNvSpPr>
            <a:spLocks noChangeArrowheads="1"/>
          </p:cNvSpPr>
          <p:nvPr/>
        </p:nvSpPr>
        <p:spPr bwMode="auto">
          <a:xfrm rot="-10260000">
            <a:off x="2392363" y="4787900"/>
            <a:ext cx="590550" cy="228600"/>
          </a:xfrm>
          <a:prstGeom prst="rightArrow">
            <a:avLst>
              <a:gd name="adj1" fmla="val 50000"/>
              <a:gd name="adj2" fmla="val 138149"/>
            </a:avLst>
          </a:prstGeom>
          <a:solidFill>
            <a:srgbClr val="FAFD0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IN" altLang="en-US"/>
          </a:p>
        </p:txBody>
      </p:sp>
      <p:sp>
        <p:nvSpPr>
          <p:cNvPr id="14" name="Rectangle 9"/>
          <p:cNvSpPr>
            <a:spLocks noChangeArrowheads="1"/>
          </p:cNvSpPr>
          <p:nvPr/>
        </p:nvSpPr>
        <p:spPr bwMode="auto">
          <a:xfrm>
            <a:off x="2849563" y="3111500"/>
            <a:ext cx="144780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defRPr/>
            </a:pPr>
            <a:r>
              <a:rPr lang="en-US" sz="2400" b="1" dirty="0">
                <a:solidFill>
                  <a:srgbClr val="FC0128"/>
                </a:solidFill>
                <a:latin typeface="+mj-lt"/>
              </a:rPr>
              <a:t>Internet Server</a:t>
            </a:r>
          </a:p>
        </p:txBody>
      </p:sp>
      <p:sp>
        <p:nvSpPr>
          <p:cNvPr id="15" name="Rectangle 10"/>
          <p:cNvSpPr>
            <a:spLocks noChangeArrowheads="1"/>
          </p:cNvSpPr>
          <p:nvPr/>
        </p:nvSpPr>
        <p:spPr bwMode="auto">
          <a:xfrm>
            <a:off x="7391400" y="1905000"/>
            <a:ext cx="12827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defRPr/>
            </a:pPr>
            <a:r>
              <a:rPr lang="en-US" sz="2400" b="1" dirty="0">
                <a:solidFill>
                  <a:srgbClr val="FC0128"/>
                </a:solidFill>
                <a:latin typeface="+mj-lt"/>
              </a:rPr>
              <a:t>PC client</a:t>
            </a:r>
          </a:p>
        </p:txBody>
      </p:sp>
      <p:sp>
        <p:nvSpPr>
          <p:cNvPr id="16" name="Rectangle 12"/>
          <p:cNvSpPr>
            <a:spLocks noChangeArrowheads="1"/>
          </p:cNvSpPr>
          <p:nvPr/>
        </p:nvSpPr>
        <p:spPr bwMode="auto">
          <a:xfrm>
            <a:off x="5651500" y="3949700"/>
            <a:ext cx="20542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eaLnBrk="0" hangingPunct="0">
              <a:defRPr/>
            </a:pPr>
            <a:r>
              <a:rPr lang="en-US" b="1" dirty="0">
                <a:solidFill>
                  <a:srgbClr val="FC0128"/>
                </a:solidFill>
                <a:latin typeface="+mj-lt"/>
              </a:rPr>
              <a:t>Local Area Network</a:t>
            </a:r>
          </a:p>
        </p:txBody>
      </p:sp>
      <p:graphicFrame>
        <p:nvGraphicFramePr>
          <p:cNvPr id="4111" name="Object 13"/>
          <p:cNvGraphicFramePr>
            <a:graphicFrameLocks/>
          </p:cNvGraphicFramePr>
          <p:nvPr/>
        </p:nvGraphicFramePr>
        <p:xfrm>
          <a:off x="3595688" y="3522663"/>
          <a:ext cx="1760537" cy="1095375"/>
        </p:xfrm>
        <a:graphic>
          <a:graphicData uri="http://schemas.openxmlformats.org/presentationml/2006/ole">
            <mc:AlternateContent xmlns:mc="http://schemas.openxmlformats.org/markup-compatibility/2006">
              <mc:Choice xmlns:v="urn:schemas-microsoft-com:vml" Requires="v">
                <p:oleObj name="CorelDRAW!" r:id="rId11" imgW="1255713" imgH="503238" progId="CDraw5">
                  <p:embed/>
                </p:oleObj>
              </mc:Choice>
              <mc:Fallback>
                <p:oleObj name="CorelDRAW!" r:id="rId11" imgW="1255713" imgH="503238" progId="CDraw5">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95688" y="3522663"/>
                        <a:ext cx="1760537" cy="109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112" name="Group 14"/>
          <p:cNvGrpSpPr>
            <a:grpSpLocks/>
          </p:cNvGrpSpPr>
          <p:nvPr/>
        </p:nvGrpSpPr>
        <p:grpSpPr bwMode="auto">
          <a:xfrm>
            <a:off x="838200" y="3200400"/>
            <a:ext cx="1782763" cy="1981200"/>
            <a:chOff x="352" y="1806"/>
            <a:chExt cx="951" cy="1117"/>
          </a:xfrm>
        </p:grpSpPr>
        <p:sp>
          <p:nvSpPr>
            <p:cNvPr id="4114" name="Oval 15"/>
            <p:cNvSpPr>
              <a:spLocks noChangeArrowheads="1"/>
            </p:cNvSpPr>
            <p:nvPr/>
          </p:nvSpPr>
          <p:spPr bwMode="auto">
            <a:xfrm>
              <a:off x="352" y="1806"/>
              <a:ext cx="951" cy="1117"/>
            </a:xfrm>
            <a:prstGeom prst="ellipse">
              <a:avLst/>
            </a:prstGeom>
            <a:solidFill>
              <a:srgbClr val="A2C1FE"/>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IN" altLang="en-US"/>
            </a:p>
          </p:txBody>
        </p:sp>
        <p:grpSp>
          <p:nvGrpSpPr>
            <p:cNvPr id="4115" name="Group 16"/>
            <p:cNvGrpSpPr>
              <a:grpSpLocks/>
            </p:cNvGrpSpPr>
            <p:nvPr/>
          </p:nvGrpSpPr>
          <p:grpSpPr bwMode="auto">
            <a:xfrm>
              <a:off x="357" y="1929"/>
              <a:ext cx="889" cy="840"/>
              <a:chOff x="357" y="1929"/>
              <a:chExt cx="889" cy="840"/>
            </a:xfrm>
          </p:grpSpPr>
          <p:sp>
            <p:nvSpPr>
              <p:cNvPr id="4116" name="Freeform 17"/>
              <p:cNvSpPr>
                <a:spLocks/>
              </p:cNvSpPr>
              <p:nvPr/>
            </p:nvSpPr>
            <p:spPr bwMode="auto">
              <a:xfrm>
                <a:off x="357" y="2255"/>
                <a:ext cx="293" cy="447"/>
              </a:xfrm>
              <a:custGeom>
                <a:avLst/>
                <a:gdLst>
                  <a:gd name="T0" fmla="*/ 37 w 293"/>
                  <a:gd name="T1" fmla="*/ 57 h 447"/>
                  <a:gd name="T2" fmla="*/ 20 w 293"/>
                  <a:gd name="T3" fmla="*/ 70 h 447"/>
                  <a:gd name="T4" fmla="*/ 7 w 293"/>
                  <a:gd name="T5" fmla="*/ 101 h 447"/>
                  <a:gd name="T6" fmla="*/ 4 w 293"/>
                  <a:gd name="T7" fmla="*/ 130 h 447"/>
                  <a:gd name="T8" fmla="*/ 12 w 293"/>
                  <a:gd name="T9" fmla="*/ 172 h 447"/>
                  <a:gd name="T10" fmla="*/ 37 w 293"/>
                  <a:gd name="T11" fmla="*/ 211 h 447"/>
                  <a:gd name="T12" fmla="*/ 62 w 293"/>
                  <a:gd name="T13" fmla="*/ 201 h 447"/>
                  <a:gd name="T14" fmla="*/ 111 w 293"/>
                  <a:gd name="T15" fmla="*/ 213 h 447"/>
                  <a:gd name="T16" fmla="*/ 124 w 293"/>
                  <a:gd name="T17" fmla="*/ 281 h 447"/>
                  <a:gd name="T18" fmla="*/ 124 w 293"/>
                  <a:gd name="T19" fmla="*/ 298 h 447"/>
                  <a:gd name="T20" fmla="*/ 120 w 293"/>
                  <a:gd name="T21" fmla="*/ 337 h 447"/>
                  <a:gd name="T22" fmla="*/ 134 w 293"/>
                  <a:gd name="T23" fmla="*/ 381 h 447"/>
                  <a:gd name="T24" fmla="*/ 147 w 293"/>
                  <a:gd name="T25" fmla="*/ 427 h 447"/>
                  <a:gd name="T26" fmla="*/ 169 w 293"/>
                  <a:gd name="T27" fmla="*/ 443 h 447"/>
                  <a:gd name="T28" fmla="*/ 207 w 293"/>
                  <a:gd name="T29" fmla="*/ 407 h 447"/>
                  <a:gd name="T30" fmla="*/ 216 w 293"/>
                  <a:gd name="T31" fmla="*/ 385 h 447"/>
                  <a:gd name="T32" fmla="*/ 220 w 293"/>
                  <a:gd name="T33" fmla="*/ 369 h 447"/>
                  <a:gd name="T34" fmla="*/ 241 w 293"/>
                  <a:gd name="T35" fmla="*/ 329 h 447"/>
                  <a:gd name="T36" fmla="*/ 241 w 293"/>
                  <a:gd name="T37" fmla="*/ 293 h 447"/>
                  <a:gd name="T38" fmla="*/ 238 w 293"/>
                  <a:gd name="T39" fmla="*/ 274 h 447"/>
                  <a:gd name="T40" fmla="*/ 253 w 293"/>
                  <a:gd name="T41" fmla="*/ 236 h 447"/>
                  <a:gd name="T42" fmla="*/ 292 w 293"/>
                  <a:gd name="T43" fmla="*/ 159 h 447"/>
                  <a:gd name="T44" fmla="*/ 251 w 293"/>
                  <a:gd name="T45" fmla="*/ 164 h 447"/>
                  <a:gd name="T46" fmla="*/ 234 w 293"/>
                  <a:gd name="T47" fmla="*/ 135 h 447"/>
                  <a:gd name="T48" fmla="*/ 207 w 293"/>
                  <a:gd name="T49" fmla="*/ 69 h 447"/>
                  <a:gd name="T50" fmla="*/ 208 w 293"/>
                  <a:gd name="T51" fmla="*/ 49 h 447"/>
                  <a:gd name="T52" fmla="*/ 191 w 293"/>
                  <a:gd name="T53" fmla="*/ 52 h 447"/>
                  <a:gd name="T54" fmla="*/ 151 w 293"/>
                  <a:gd name="T55" fmla="*/ 60 h 447"/>
                  <a:gd name="T56" fmla="*/ 137 w 293"/>
                  <a:gd name="T57" fmla="*/ 38 h 447"/>
                  <a:gd name="T58" fmla="*/ 122 w 293"/>
                  <a:gd name="T59" fmla="*/ 11 h 447"/>
                  <a:gd name="T60" fmla="*/ 70 w 293"/>
                  <a:gd name="T61" fmla="*/ 0 h 447"/>
                  <a:gd name="T62" fmla="*/ 53 w 293"/>
                  <a:gd name="T63" fmla="*/ 24 h 44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93" h="447">
                    <a:moveTo>
                      <a:pt x="42" y="36"/>
                    </a:moveTo>
                    <a:lnTo>
                      <a:pt x="37" y="57"/>
                    </a:lnTo>
                    <a:lnTo>
                      <a:pt x="30" y="64"/>
                    </a:lnTo>
                    <a:lnTo>
                      <a:pt x="20" y="70"/>
                    </a:lnTo>
                    <a:lnTo>
                      <a:pt x="15" y="82"/>
                    </a:lnTo>
                    <a:lnTo>
                      <a:pt x="7" y="101"/>
                    </a:lnTo>
                    <a:lnTo>
                      <a:pt x="7" y="113"/>
                    </a:lnTo>
                    <a:lnTo>
                      <a:pt x="4" y="130"/>
                    </a:lnTo>
                    <a:lnTo>
                      <a:pt x="0" y="151"/>
                    </a:lnTo>
                    <a:lnTo>
                      <a:pt x="12" y="172"/>
                    </a:lnTo>
                    <a:lnTo>
                      <a:pt x="24" y="191"/>
                    </a:lnTo>
                    <a:lnTo>
                      <a:pt x="37" y="211"/>
                    </a:lnTo>
                    <a:lnTo>
                      <a:pt x="43" y="201"/>
                    </a:lnTo>
                    <a:lnTo>
                      <a:pt x="62" y="201"/>
                    </a:lnTo>
                    <a:lnTo>
                      <a:pt x="88" y="201"/>
                    </a:lnTo>
                    <a:lnTo>
                      <a:pt x="111" y="213"/>
                    </a:lnTo>
                    <a:lnTo>
                      <a:pt x="110" y="241"/>
                    </a:lnTo>
                    <a:lnTo>
                      <a:pt x="124" y="281"/>
                    </a:lnTo>
                    <a:lnTo>
                      <a:pt x="126" y="287"/>
                    </a:lnTo>
                    <a:lnTo>
                      <a:pt x="124" y="298"/>
                    </a:lnTo>
                    <a:lnTo>
                      <a:pt x="130" y="310"/>
                    </a:lnTo>
                    <a:lnTo>
                      <a:pt x="120" y="337"/>
                    </a:lnTo>
                    <a:lnTo>
                      <a:pt x="127" y="360"/>
                    </a:lnTo>
                    <a:lnTo>
                      <a:pt x="134" y="381"/>
                    </a:lnTo>
                    <a:lnTo>
                      <a:pt x="139" y="404"/>
                    </a:lnTo>
                    <a:lnTo>
                      <a:pt x="147" y="427"/>
                    </a:lnTo>
                    <a:lnTo>
                      <a:pt x="154" y="446"/>
                    </a:lnTo>
                    <a:lnTo>
                      <a:pt x="169" y="443"/>
                    </a:lnTo>
                    <a:lnTo>
                      <a:pt x="196" y="426"/>
                    </a:lnTo>
                    <a:lnTo>
                      <a:pt x="207" y="407"/>
                    </a:lnTo>
                    <a:lnTo>
                      <a:pt x="207" y="393"/>
                    </a:lnTo>
                    <a:lnTo>
                      <a:pt x="216" y="385"/>
                    </a:lnTo>
                    <a:lnTo>
                      <a:pt x="222" y="379"/>
                    </a:lnTo>
                    <a:lnTo>
                      <a:pt x="220" y="369"/>
                    </a:lnTo>
                    <a:lnTo>
                      <a:pt x="219" y="360"/>
                    </a:lnTo>
                    <a:lnTo>
                      <a:pt x="241" y="329"/>
                    </a:lnTo>
                    <a:lnTo>
                      <a:pt x="246" y="301"/>
                    </a:lnTo>
                    <a:lnTo>
                      <a:pt x="241" y="293"/>
                    </a:lnTo>
                    <a:lnTo>
                      <a:pt x="242" y="285"/>
                    </a:lnTo>
                    <a:lnTo>
                      <a:pt x="238" y="274"/>
                    </a:lnTo>
                    <a:lnTo>
                      <a:pt x="253" y="249"/>
                    </a:lnTo>
                    <a:lnTo>
                      <a:pt x="253" y="236"/>
                    </a:lnTo>
                    <a:lnTo>
                      <a:pt x="277" y="216"/>
                    </a:lnTo>
                    <a:lnTo>
                      <a:pt x="292" y="159"/>
                    </a:lnTo>
                    <a:lnTo>
                      <a:pt x="269" y="172"/>
                    </a:lnTo>
                    <a:lnTo>
                      <a:pt x="251" y="164"/>
                    </a:lnTo>
                    <a:lnTo>
                      <a:pt x="253" y="150"/>
                    </a:lnTo>
                    <a:lnTo>
                      <a:pt x="234" y="135"/>
                    </a:lnTo>
                    <a:lnTo>
                      <a:pt x="226" y="101"/>
                    </a:lnTo>
                    <a:lnTo>
                      <a:pt x="207" y="69"/>
                    </a:lnTo>
                    <a:lnTo>
                      <a:pt x="208" y="52"/>
                    </a:lnTo>
                    <a:lnTo>
                      <a:pt x="208" y="49"/>
                    </a:lnTo>
                    <a:lnTo>
                      <a:pt x="197" y="49"/>
                    </a:lnTo>
                    <a:lnTo>
                      <a:pt x="191" y="52"/>
                    </a:lnTo>
                    <a:lnTo>
                      <a:pt x="165" y="40"/>
                    </a:lnTo>
                    <a:lnTo>
                      <a:pt x="151" y="60"/>
                    </a:lnTo>
                    <a:lnTo>
                      <a:pt x="141" y="45"/>
                    </a:lnTo>
                    <a:lnTo>
                      <a:pt x="137" y="38"/>
                    </a:lnTo>
                    <a:lnTo>
                      <a:pt x="123" y="36"/>
                    </a:lnTo>
                    <a:lnTo>
                      <a:pt x="122" y="11"/>
                    </a:lnTo>
                    <a:lnTo>
                      <a:pt x="101" y="15"/>
                    </a:lnTo>
                    <a:lnTo>
                      <a:pt x="70" y="0"/>
                    </a:lnTo>
                    <a:lnTo>
                      <a:pt x="64" y="13"/>
                    </a:lnTo>
                    <a:lnTo>
                      <a:pt x="53" y="24"/>
                    </a:lnTo>
                    <a:lnTo>
                      <a:pt x="42" y="36"/>
                    </a:lnTo>
                  </a:path>
                </a:pathLst>
              </a:custGeom>
              <a:solidFill>
                <a:srgbClr val="008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4117" name="Freeform 18"/>
              <p:cNvSpPr>
                <a:spLocks/>
              </p:cNvSpPr>
              <p:nvPr/>
            </p:nvSpPr>
            <p:spPr bwMode="auto">
              <a:xfrm>
                <a:off x="1196" y="2631"/>
                <a:ext cx="50" cy="83"/>
              </a:xfrm>
              <a:custGeom>
                <a:avLst/>
                <a:gdLst>
                  <a:gd name="T0" fmla="*/ 33 w 50"/>
                  <a:gd name="T1" fmla="*/ 0 h 83"/>
                  <a:gd name="T2" fmla="*/ 31 w 50"/>
                  <a:gd name="T3" fmla="*/ 28 h 83"/>
                  <a:gd name="T4" fmla="*/ 14 w 50"/>
                  <a:gd name="T5" fmla="*/ 47 h 83"/>
                  <a:gd name="T6" fmla="*/ 4 w 50"/>
                  <a:gd name="T7" fmla="*/ 62 h 83"/>
                  <a:gd name="T8" fmla="*/ 0 w 50"/>
                  <a:gd name="T9" fmla="*/ 69 h 83"/>
                  <a:gd name="T10" fmla="*/ 4 w 50"/>
                  <a:gd name="T11" fmla="*/ 74 h 83"/>
                  <a:gd name="T12" fmla="*/ 14 w 50"/>
                  <a:gd name="T13" fmla="*/ 82 h 83"/>
                  <a:gd name="T14" fmla="*/ 23 w 50"/>
                  <a:gd name="T15" fmla="*/ 63 h 83"/>
                  <a:gd name="T16" fmla="*/ 37 w 50"/>
                  <a:gd name="T17" fmla="*/ 47 h 83"/>
                  <a:gd name="T18" fmla="*/ 45 w 50"/>
                  <a:gd name="T19" fmla="*/ 32 h 83"/>
                  <a:gd name="T20" fmla="*/ 49 w 50"/>
                  <a:gd name="T21" fmla="*/ 20 h 83"/>
                  <a:gd name="T22" fmla="*/ 46 w 50"/>
                  <a:gd name="T23" fmla="*/ 13 h 83"/>
                  <a:gd name="T24" fmla="*/ 33 w 50"/>
                  <a:gd name="T25" fmla="*/ 0 h 8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0" h="83">
                    <a:moveTo>
                      <a:pt x="33" y="0"/>
                    </a:moveTo>
                    <a:lnTo>
                      <a:pt x="31" y="28"/>
                    </a:lnTo>
                    <a:lnTo>
                      <a:pt x="14" y="47"/>
                    </a:lnTo>
                    <a:lnTo>
                      <a:pt x="4" y="62"/>
                    </a:lnTo>
                    <a:lnTo>
                      <a:pt x="0" y="69"/>
                    </a:lnTo>
                    <a:lnTo>
                      <a:pt x="4" y="74"/>
                    </a:lnTo>
                    <a:lnTo>
                      <a:pt x="14" y="82"/>
                    </a:lnTo>
                    <a:lnTo>
                      <a:pt x="23" y="63"/>
                    </a:lnTo>
                    <a:lnTo>
                      <a:pt x="37" y="47"/>
                    </a:lnTo>
                    <a:lnTo>
                      <a:pt x="45" y="32"/>
                    </a:lnTo>
                    <a:lnTo>
                      <a:pt x="49" y="20"/>
                    </a:lnTo>
                    <a:lnTo>
                      <a:pt x="46" y="13"/>
                    </a:lnTo>
                    <a:lnTo>
                      <a:pt x="33" y="0"/>
                    </a:lnTo>
                  </a:path>
                </a:pathLst>
              </a:custGeom>
              <a:solidFill>
                <a:srgbClr val="008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4118" name="Freeform 19"/>
              <p:cNvSpPr>
                <a:spLocks/>
              </p:cNvSpPr>
              <p:nvPr/>
            </p:nvSpPr>
            <p:spPr bwMode="auto">
              <a:xfrm>
                <a:off x="1013" y="2568"/>
                <a:ext cx="156" cy="170"/>
              </a:xfrm>
              <a:custGeom>
                <a:avLst/>
                <a:gdLst>
                  <a:gd name="T0" fmla="*/ 106 w 156"/>
                  <a:gd name="T1" fmla="*/ 10 h 170"/>
                  <a:gd name="T2" fmla="*/ 108 w 156"/>
                  <a:gd name="T3" fmla="*/ 16 h 170"/>
                  <a:gd name="T4" fmla="*/ 106 w 156"/>
                  <a:gd name="T5" fmla="*/ 29 h 170"/>
                  <a:gd name="T6" fmla="*/ 97 w 156"/>
                  <a:gd name="T7" fmla="*/ 27 h 170"/>
                  <a:gd name="T8" fmla="*/ 90 w 156"/>
                  <a:gd name="T9" fmla="*/ 2 h 170"/>
                  <a:gd name="T10" fmla="*/ 73 w 156"/>
                  <a:gd name="T11" fmla="*/ 0 h 170"/>
                  <a:gd name="T12" fmla="*/ 67 w 156"/>
                  <a:gd name="T13" fmla="*/ 8 h 170"/>
                  <a:gd name="T14" fmla="*/ 58 w 156"/>
                  <a:gd name="T15" fmla="*/ 18 h 170"/>
                  <a:gd name="T16" fmla="*/ 49 w 156"/>
                  <a:gd name="T17" fmla="*/ 16 h 170"/>
                  <a:gd name="T18" fmla="*/ 38 w 156"/>
                  <a:gd name="T19" fmla="*/ 31 h 170"/>
                  <a:gd name="T20" fmla="*/ 34 w 156"/>
                  <a:gd name="T21" fmla="*/ 32 h 170"/>
                  <a:gd name="T22" fmla="*/ 28 w 156"/>
                  <a:gd name="T23" fmla="*/ 45 h 170"/>
                  <a:gd name="T24" fmla="*/ 11 w 156"/>
                  <a:gd name="T25" fmla="*/ 51 h 170"/>
                  <a:gd name="T26" fmla="*/ 0 w 156"/>
                  <a:gd name="T27" fmla="*/ 72 h 170"/>
                  <a:gd name="T28" fmla="*/ 5 w 156"/>
                  <a:gd name="T29" fmla="*/ 92 h 170"/>
                  <a:gd name="T30" fmla="*/ 3 w 156"/>
                  <a:gd name="T31" fmla="*/ 98 h 170"/>
                  <a:gd name="T32" fmla="*/ 9 w 156"/>
                  <a:gd name="T33" fmla="*/ 120 h 170"/>
                  <a:gd name="T34" fmla="*/ 19 w 156"/>
                  <a:gd name="T35" fmla="*/ 136 h 170"/>
                  <a:gd name="T36" fmla="*/ 42 w 156"/>
                  <a:gd name="T37" fmla="*/ 130 h 170"/>
                  <a:gd name="T38" fmla="*/ 54 w 156"/>
                  <a:gd name="T39" fmla="*/ 121 h 170"/>
                  <a:gd name="T40" fmla="*/ 58 w 156"/>
                  <a:gd name="T41" fmla="*/ 118 h 170"/>
                  <a:gd name="T42" fmla="*/ 74 w 156"/>
                  <a:gd name="T43" fmla="*/ 121 h 170"/>
                  <a:gd name="T44" fmla="*/ 82 w 156"/>
                  <a:gd name="T45" fmla="*/ 132 h 170"/>
                  <a:gd name="T46" fmla="*/ 86 w 156"/>
                  <a:gd name="T47" fmla="*/ 140 h 170"/>
                  <a:gd name="T48" fmla="*/ 102 w 156"/>
                  <a:gd name="T49" fmla="*/ 146 h 170"/>
                  <a:gd name="T50" fmla="*/ 117 w 156"/>
                  <a:gd name="T51" fmla="*/ 163 h 170"/>
                  <a:gd name="T52" fmla="*/ 124 w 156"/>
                  <a:gd name="T53" fmla="*/ 168 h 170"/>
                  <a:gd name="T54" fmla="*/ 136 w 156"/>
                  <a:gd name="T55" fmla="*/ 157 h 170"/>
                  <a:gd name="T56" fmla="*/ 143 w 156"/>
                  <a:gd name="T57" fmla="*/ 141 h 170"/>
                  <a:gd name="T58" fmla="*/ 152 w 156"/>
                  <a:gd name="T59" fmla="*/ 119 h 170"/>
                  <a:gd name="T60" fmla="*/ 154 w 156"/>
                  <a:gd name="T61" fmla="*/ 89 h 170"/>
                  <a:gd name="T62" fmla="*/ 143 w 156"/>
                  <a:gd name="T63" fmla="*/ 69 h 170"/>
                  <a:gd name="T64" fmla="*/ 139 w 156"/>
                  <a:gd name="T65" fmla="*/ 56 h 170"/>
                  <a:gd name="T66" fmla="*/ 128 w 156"/>
                  <a:gd name="T67" fmla="*/ 46 h 170"/>
                  <a:gd name="T68" fmla="*/ 123 w 156"/>
                  <a:gd name="T69" fmla="*/ 23 h 170"/>
                  <a:gd name="T70" fmla="*/ 112 w 156"/>
                  <a:gd name="T71" fmla="*/ 0 h 17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56" h="170">
                    <a:moveTo>
                      <a:pt x="109" y="1"/>
                    </a:moveTo>
                    <a:lnTo>
                      <a:pt x="106" y="10"/>
                    </a:lnTo>
                    <a:lnTo>
                      <a:pt x="106" y="12"/>
                    </a:lnTo>
                    <a:lnTo>
                      <a:pt x="108" y="16"/>
                    </a:lnTo>
                    <a:lnTo>
                      <a:pt x="108" y="25"/>
                    </a:lnTo>
                    <a:lnTo>
                      <a:pt x="106" y="29"/>
                    </a:lnTo>
                    <a:lnTo>
                      <a:pt x="102" y="31"/>
                    </a:lnTo>
                    <a:lnTo>
                      <a:pt x="97" y="27"/>
                    </a:lnTo>
                    <a:lnTo>
                      <a:pt x="96" y="17"/>
                    </a:lnTo>
                    <a:lnTo>
                      <a:pt x="90" y="2"/>
                    </a:lnTo>
                    <a:lnTo>
                      <a:pt x="82" y="3"/>
                    </a:lnTo>
                    <a:lnTo>
                      <a:pt x="73" y="0"/>
                    </a:lnTo>
                    <a:lnTo>
                      <a:pt x="73" y="8"/>
                    </a:lnTo>
                    <a:lnTo>
                      <a:pt x="67" y="8"/>
                    </a:lnTo>
                    <a:lnTo>
                      <a:pt x="63" y="17"/>
                    </a:lnTo>
                    <a:lnTo>
                      <a:pt x="58" y="18"/>
                    </a:lnTo>
                    <a:lnTo>
                      <a:pt x="54" y="19"/>
                    </a:lnTo>
                    <a:lnTo>
                      <a:pt x="49" y="16"/>
                    </a:lnTo>
                    <a:lnTo>
                      <a:pt x="39" y="27"/>
                    </a:lnTo>
                    <a:lnTo>
                      <a:pt x="38" y="31"/>
                    </a:lnTo>
                    <a:lnTo>
                      <a:pt x="35" y="28"/>
                    </a:lnTo>
                    <a:lnTo>
                      <a:pt x="34" y="32"/>
                    </a:lnTo>
                    <a:lnTo>
                      <a:pt x="34" y="36"/>
                    </a:lnTo>
                    <a:lnTo>
                      <a:pt x="28" y="45"/>
                    </a:lnTo>
                    <a:lnTo>
                      <a:pt x="22" y="48"/>
                    </a:lnTo>
                    <a:lnTo>
                      <a:pt x="11" y="51"/>
                    </a:lnTo>
                    <a:lnTo>
                      <a:pt x="3" y="57"/>
                    </a:lnTo>
                    <a:lnTo>
                      <a:pt x="0" y="72"/>
                    </a:lnTo>
                    <a:lnTo>
                      <a:pt x="3" y="91"/>
                    </a:lnTo>
                    <a:lnTo>
                      <a:pt x="5" y="92"/>
                    </a:lnTo>
                    <a:lnTo>
                      <a:pt x="5" y="93"/>
                    </a:lnTo>
                    <a:lnTo>
                      <a:pt x="3" y="98"/>
                    </a:lnTo>
                    <a:lnTo>
                      <a:pt x="8" y="113"/>
                    </a:lnTo>
                    <a:lnTo>
                      <a:pt x="9" y="120"/>
                    </a:lnTo>
                    <a:lnTo>
                      <a:pt x="8" y="130"/>
                    </a:lnTo>
                    <a:lnTo>
                      <a:pt x="19" y="136"/>
                    </a:lnTo>
                    <a:lnTo>
                      <a:pt x="27" y="130"/>
                    </a:lnTo>
                    <a:lnTo>
                      <a:pt x="42" y="130"/>
                    </a:lnTo>
                    <a:lnTo>
                      <a:pt x="40" y="126"/>
                    </a:lnTo>
                    <a:lnTo>
                      <a:pt x="54" y="121"/>
                    </a:lnTo>
                    <a:lnTo>
                      <a:pt x="58" y="121"/>
                    </a:lnTo>
                    <a:lnTo>
                      <a:pt x="58" y="118"/>
                    </a:lnTo>
                    <a:lnTo>
                      <a:pt x="63" y="117"/>
                    </a:lnTo>
                    <a:lnTo>
                      <a:pt x="74" y="121"/>
                    </a:lnTo>
                    <a:lnTo>
                      <a:pt x="80" y="121"/>
                    </a:lnTo>
                    <a:lnTo>
                      <a:pt x="82" y="132"/>
                    </a:lnTo>
                    <a:lnTo>
                      <a:pt x="86" y="132"/>
                    </a:lnTo>
                    <a:lnTo>
                      <a:pt x="86" y="140"/>
                    </a:lnTo>
                    <a:lnTo>
                      <a:pt x="97" y="141"/>
                    </a:lnTo>
                    <a:lnTo>
                      <a:pt x="102" y="146"/>
                    </a:lnTo>
                    <a:lnTo>
                      <a:pt x="102" y="156"/>
                    </a:lnTo>
                    <a:lnTo>
                      <a:pt x="117" y="163"/>
                    </a:lnTo>
                    <a:lnTo>
                      <a:pt x="120" y="169"/>
                    </a:lnTo>
                    <a:lnTo>
                      <a:pt x="124" y="168"/>
                    </a:lnTo>
                    <a:lnTo>
                      <a:pt x="131" y="161"/>
                    </a:lnTo>
                    <a:lnTo>
                      <a:pt x="136" y="157"/>
                    </a:lnTo>
                    <a:lnTo>
                      <a:pt x="142" y="157"/>
                    </a:lnTo>
                    <a:lnTo>
                      <a:pt x="143" y="141"/>
                    </a:lnTo>
                    <a:lnTo>
                      <a:pt x="146" y="127"/>
                    </a:lnTo>
                    <a:lnTo>
                      <a:pt x="152" y="119"/>
                    </a:lnTo>
                    <a:lnTo>
                      <a:pt x="155" y="108"/>
                    </a:lnTo>
                    <a:lnTo>
                      <a:pt x="154" y="89"/>
                    </a:lnTo>
                    <a:lnTo>
                      <a:pt x="152" y="77"/>
                    </a:lnTo>
                    <a:lnTo>
                      <a:pt x="143" y="69"/>
                    </a:lnTo>
                    <a:lnTo>
                      <a:pt x="143" y="62"/>
                    </a:lnTo>
                    <a:lnTo>
                      <a:pt x="139" y="56"/>
                    </a:lnTo>
                    <a:lnTo>
                      <a:pt x="136" y="51"/>
                    </a:lnTo>
                    <a:lnTo>
                      <a:pt x="128" y="46"/>
                    </a:lnTo>
                    <a:lnTo>
                      <a:pt x="127" y="36"/>
                    </a:lnTo>
                    <a:lnTo>
                      <a:pt x="123" y="23"/>
                    </a:lnTo>
                    <a:lnTo>
                      <a:pt x="119" y="12"/>
                    </a:lnTo>
                    <a:lnTo>
                      <a:pt x="112" y="0"/>
                    </a:lnTo>
                    <a:lnTo>
                      <a:pt x="109" y="1"/>
                    </a:lnTo>
                  </a:path>
                </a:pathLst>
              </a:custGeom>
              <a:solidFill>
                <a:srgbClr val="008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4119" name="Freeform 20"/>
              <p:cNvSpPr>
                <a:spLocks/>
              </p:cNvSpPr>
              <p:nvPr/>
            </p:nvSpPr>
            <p:spPr bwMode="auto">
              <a:xfrm>
                <a:off x="1053" y="2485"/>
                <a:ext cx="82" cy="79"/>
              </a:xfrm>
              <a:custGeom>
                <a:avLst/>
                <a:gdLst>
                  <a:gd name="T0" fmla="*/ 0 w 82"/>
                  <a:gd name="T1" fmla="*/ 0 h 79"/>
                  <a:gd name="T2" fmla="*/ 5 w 82"/>
                  <a:gd name="T3" fmla="*/ 19 h 79"/>
                  <a:gd name="T4" fmla="*/ 32 w 82"/>
                  <a:gd name="T5" fmla="*/ 46 h 79"/>
                  <a:gd name="T6" fmla="*/ 49 w 82"/>
                  <a:gd name="T7" fmla="*/ 41 h 79"/>
                  <a:gd name="T8" fmla="*/ 81 w 82"/>
                  <a:gd name="T9" fmla="*/ 78 h 79"/>
                  <a:gd name="T10" fmla="*/ 63 w 82"/>
                  <a:gd name="T11" fmla="*/ 40 h 79"/>
                  <a:gd name="T12" fmla="*/ 63 w 82"/>
                  <a:gd name="T13" fmla="*/ 33 h 79"/>
                  <a:gd name="T14" fmla="*/ 66 w 82"/>
                  <a:gd name="T15" fmla="*/ 24 h 79"/>
                  <a:gd name="T16" fmla="*/ 31 w 82"/>
                  <a:gd name="T17" fmla="*/ 8 h 79"/>
                  <a:gd name="T18" fmla="*/ 0 w 82"/>
                  <a:gd name="T19" fmla="*/ 0 h 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2" h="79">
                    <a:moveTo>
                      <a:pt x="0" y="0"/>
                    </a:moveTo>
                    <a:lnTo>
                      <a:pt x="5" y="19"/>
                    </a:lnTo>
                    <a:lnTo>
                      <a:pt x="32" y="46"/>
                    </a:lnTo>
                    <a:lnTo>
                      <a:pt x="49" y="41"/>
                    </a:lnTo>
                    <a:lnTo>
                      <a:pt x="81" y="78"/>
                    </a:lnTo>
                    <a:lnTo>
                      <a:pt x="63" y="40"/>
                    </a:lnTo>
                    <a:lnTo>
                      <a:pt x="63" y="33"/>
                    </a:lnTo>
                    <a:lnTo>
                      <a:pt x="66" y="24"/>
                    </a:lnTo>
                    <a:lnTo>
                      <a:pt x="31" y="8"/>
                    </a:lnTo>
                    <a:lnTo>
                      <a:pt x="0" y="0"/>
                    </a:lnTo>
                  </a:path>
                </a:pathLst>
              </a:custGeom>
              <a:solidFill>
                <a:srgbClr val="008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4120" name="Freeform 21"/>
              <p:cNvSpPr>
                <a:spLocks/>
              </p:cNvSpPr>
              <p:nvPr/>
            </p:nvSpPr>
            <p:spPr bwMode="auto">
              <a:xfrm>
                <a:off x="967" y="2457"/>
                <a:ext cx="49" cy="77"/>
              </a:xfrm>
              <a:custGeom>
                <a:avLst/>
                <a:gdLst>
                  <a:gd name="T0" fmla="*/ 36 w 49"/>
                  <a:gd name="T1" fmla="*/ 0 h 77"/>
                  <a:gd name="T2" fmla="*/ 17 w 49"/>
                  <a:gd name="T3" fmla="*/ 39 h 77"/>
                  <a:gd name="T4" fmla="*/ 0 w 49"/>
                  <a:gd name="T5" fmla="*/ 40 h 77"/>
                  <a:gd name="T6" fmla="*/ 5 w 49"/>
                  <a:gd name="T7" fmla="*/ 68 h 77"/>
                  <a:gd name="T8" fmla="*/ 40 w 49"/>
                  <a:gd name="T9" fmla="*/ 76 h 77"/>
                  <a:gd name="T10" fmla="*/ 48 w 49"/>
                  <a:gd name="T11" fmla="*/ 22 h 77"/>
                  <a:gd name="T12" fmla="*/ 36 w 49"/>
                  <a:gd name="T13" fmla="*/ 0 h 7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77">
                    <a:moveTo>
                      <a:pt x="36" y="0"/>
                    </a:moveTo>
                    <a:lnTo>
                      <a:pt x="17" y="39"/>
                    </a:lnTo>
                    <a:lnTo>
                      <a:pt x="0" y="40"/>
                    </a:lnTo>
                    <a:lnTo>
                      <a:pt x="5" y="68"/>
                    </a:lnTo>
                    <a:lnTo>
                      <a:pt x="40" y="76"/>
                    </a:lnTo>
                    <a:lnTo>
                      <a:pt x="48" y="22"/>
                    </a:lnTo>
                    <a:lnTo>
                      <a:pt x="36" y="0"/>
                    </a:lnTo>
                  </a:path>
                </a:pathLst>
              </a:custGeom>
              <a:solidFill>
                <a:srgbClr val="008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4121" name="Freeform 22"/>
              <p:cNvSpPr>
                <a:spLocks/>
              </p:cNvSpPr>
              <p:nvPr/>
            </p:nvSpPr>
            <p:spPr bwMode="auto">
              <a:xfrm>
                <a:off x="901" y="2508"/>
                <a:ext cx="55" cy="48"/>
              </a:xfrm>
              <a:custGeom>
                <a:avLst/>
                <a:gdLst>
                  <a:gd name="T0" fmla="*/ 0 w 55"/>
                  <a:gd name="T1" fmla="*/ 0 h 48"/>
                  <a:gd name="T2" fmla="*/ 31 w 55"/>
                  <a:gd name="T3" fmla="*/ 46 h 48"/>
                  <a:gd name="T4" fmla="*/ 49 w 55"/>
                  <a:gd name="T5" fmla="*/ 47 h 48"/>
                  <a:gd name="T6" fmla="*/ 54 w 55"/>
                  <a:gd name="T7" fmla="*/ 32 h 48"/>
                  <a:gd name="T8" fmla="*/ 23 w 55"/>
                  <a:gd name="T9" fmla="*/ 7 h 48"/>
                  <a:gd name="T10" fmla="*/ 0 w 55"/>
                  <a:gd name="T11" fmla="*/ 0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 h="48">
                    <a:moveTo>
                      <a:pt x="0" y="0"/>
                    </a:moveTo>
                    <a:lnTo>
                      <a:pt x="31" y="46"/>
                    </a:lnTo>
                    <a:lnTo>
                      <a:pt x="49" y="47"/>
                    </a:lnTo>
                    <a:lnTo>
                      <a:pt x="54" y="32"/>
                    </a:lnTo>
                    <a:lnTo>
                      <a:pt x="23" y="7"/>
                    </a:lnTo>
                    <a:lnTo>
                      <a:pt x="0" y="0"/>
                    </a:lnTo>
                  </a:path>
                </a:pathLst>
              </a:custGeom>
              <a:solidFill>
                <a:srgbClr val="008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4122" name="Freeform 23"/>
              <p:cNvSpPr>
                <a:spLocks/>
              </p:cNvSpPr>
              <p:nvPr/>
            </p:nvSpPr>
            <p:spPr bwMode="auto">
              <a:xfrm>
                <a:off x="951" y="2556"/>
                <a:ext cx="94" cy="31"/>
              </a:xfrm>
              <a:custGeom>
                <a:avLst/>
                <a:gdLst>
                  <a:gd name="T0" fmla="*/ 0 w 94"/>
                  <a:gd name="T1" fmla="*/ 0 h 31"/>
                  <a:gd name="T2" fmla="*/ 19 w 94"/>
                  <a:gd name="T3" fmla="*/ 30 h 31"/>
                  <a:gd name="T4" fmla="*/ 93 w 94"/>
                  <a:gd name="T5" fmla="*/ 12 h 31"/>
                  <a:gd name="T6" fmla="*/ 23 w 94"/>
                  <a:gd name="T7" fmla="*/ 15 h 31"/>
                  <a:gd name="T8" fmla="*/ 0 w 94"/>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4" h="31">
                    <a:moveTo>
                      <a:pt x="0" y="0"/>
                    </a:moveTo>
                    <a:lnTo>
                      <a:pt x="19" y="30"/>
                    </a:lnTo>
                    <a:lnTo>
                      <a:pt x="93" y="12"/>
                    </a:lnTo>
                    <a:lnTo>
                      <a:pt x="23" y="15"/>
                    </a:lnTo>
                    <a:lnTo>
                      <a:pt x="0" y="0"/>
                    </a:lnTo>
                  </a:path>
                </a:pathLst>
              </a:custGeom>
              <a:solidFill>
                <a:srgbClr val="008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4123" name="Freeform 24"/>
              <p:cNvSpPr>
                <a:spLocks/>
              </p:cNvSpPr>
              <p:nvPr/>
            </p:nvSpPr>
            <p:spPr bwMode="auto">
              <a:xfrm>
                <a:off x="1133" y="2743"/>
                <a:ext cx="16" cy="26"/>
              </a:xfrm>
              <a:custGeom>
                <a:avLst/>
                <a:gdLst>
                  <a:gd name="T0" fmla="*/ 4 w 16"/>
                  <a:gd name="T1" fmla="*/ 0 h 26"/>
                  <a:gd name="T2" fmla="*/ 0 w 16"/>
                  <a:gd name="T3" fmla="*/ 0 h 26"/>
                  <a:gd name="T4" fmla="*/ 0 w 16"/>
                  <a:gd name="T5" fmla="*/ 6 h 26"/>
                  <a:gd name="T6" fmla="*/ 4 w 16"/>
                  <a:gd name="T7" fmla="*/ 10 h 26"/>
                  <a:gd name="T8" fmla="*/ 4 w 16"/>
                  <a:gd name="T9" fmla="*/ 19 h 26"/>
                  <a:gd name="T10" fmla="*/ 11 w 16"/>
                  <a:gd name="T11" fmla="*/ 25 h 26"/>
                  <a:gd name="T12" fmla="*/ 14 w 16"/>
                  <a:gd name="T13" fmla="*/ 21 h 26"/>
                  <a:gd name="T14" fmla="*/ 14 w 16"/>
                  <a:gd name="T15" fmla="*/ 16 h 26"/>
                  <a:gd name="T16" fmla="*/ 15 w 16"/>
                  <a:gd name="T17" fmla="*/ 12 h 26"/>
                  <a:gd name="T18" fmla="*/ 15 w 16"/>
                  <a:gd name="T19" fmla="*/ 2 h 26"/>
                  <a:gd name="T20" fmla="*/ 8 w 16"/>
                  <a:gd name="T21" fmla="*/ 4 h 26"/>
                  <a:gd name="T22" fmla="*/ 4 w 16"/>
                  <a:gd name="T23" fmla="*/ 0 h 2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6" h="26">
                    <a:moveTo>
                      <a:pt x="4" y="0"/>
                    </a:moveTo>
                    <a:lnTo>
                      <a:pt x="0" y="0"/>
                    </a:lnTo>
                    <a:lnTo>
                      <a:pt x="0" y="6"/>
                    </a:lnTo>
                    <a:lnTo>
                      <a:pt x="4" y="10"/>
                    </a:lnTo>
                    <a:lnTo>
                      <a:pt x="4" y="19"/>
                    </a:lnTo>
                    <a:lnTo>
                      <a:pt x="11" y="25"/>
                    </a:lnTo>
                    <a:lnTo>
                      <a:pt x="14" y="21"/>
                    </a:lnTo>
                    <a:lnTo>
                      <a:pt x="14" y="16"/>
                    </a:lnTo>
                    <a:lnTo>
                      <a:pt x="15" y="12"/>
                    </a:lnTo>
                    <a:lnTo>
                      <a:pt x="15" y="2"/>
                    </a:lnTo>
                    <a:lnTo>
                      <a:pt x="8" y="4"/>
                    </a:lnTo>
                    <a:lnTo>
                      <a:pt x="4" y="0"/>
                    </a:lnTo>
                  </a:path>
                </a:pathLst>
              </a:custGeom>
              <a:solidFill>
                <a:srgbClr val="008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4124" name="Freeform 25"/>
              <p:cNvSpPr>
                <a:spLocks/>
              </p:cNvSpPr>
              <p:nvPr/>
            </p:nvSpPr>
            <p:spPr bwMode="auto">
              <a:xfrm>
                <a:off x="1035" y="2166"/>
                <a:ext cx="67" cy="123"/>
              </a:xfrm>
              <a:custGeom>
                <a:avLst/>
                <a:gdLst>
                  <a:gd name="T0" fmla="*/ 44 w 67"/>
                  <a:gd name="T1" fmla="*/ 0 h 123"/>
                  <a:gd name="T2" fmla="*/ 44 w 67"/>
                  <a:gd name="T3" fmla="*/ 16 h 123"/>
                  <a:gd name="T4" fmla="*/ 39 w 67"/>
                  <a:gd name="T5" fmla="*/ 25 h 123"/>
                  <a:gd name="T6" fmla="*/ 40 w 67"/>
                  <a:gd name="T7" fmla="*/ 42 h 123"/>
                  <a:gd name="T8" fmla="*/ 33 w 67"/>
                  <a:gd name="T9" fmla="*/ 64 h 123"/>
                  <a:gd name="T10" fmla="*/ 23 w 67"/>
                  <a:gd name="T11" fmla="*/ 82 h 123"/>
                  <a:gd name="T12" fmla="*/ 4 w 67"/>
                  <a:gd name="T13" fmla="*/ 99 h 123"/>
                  <a:gd name="T14" fmla="*/ 0 w 67"/>
                  <a:gd name="T15" fmla="*/ 122 h 123"/>
                  <a:gd name="T16" fmla="*/ 8 w 67"/>
                  <a:gd name="T17" fmla="*/ 122 h 123"/>
                  <a:gd name="T18" fmla="*/ 10 w 67"/>
                  <a:gd name="T19" fmla="*/ 101 h 123"/>
                  <a:gd name="T20" fmla="*/ 32 w 67"/>
                  <a:gd name="T21" fmla="*/ 99 h 123"/>
                  <a:gd name="T22" fmla="*/ 50 w 67"/>
                  <a:gd name="T23" fmla="*/ 84 h 123"/>
                  <a:gd name="T24" fmla="*/ 50 w 67"/>
                  <a:gd name="T25" fmla="*/ 55 h 123"/>
                  <a:gd name="T26" fmla="*/ 54 w 67"/>
                  <a:gd name="T27" fmla="*/ 43 h 123"/>
                  <a:gd name="T28" fmla="*/ 45 w 67"/>
                  <a:gd name="T29" fmla="*/ 27 h 123"/>
                  <a:gd name="T30" fmla="*/ 59 w 67"/>
                  <a:gd name="T31" fmla="*/ 20 h 123"/>
                  <a:gd name="T32" fmla="*/ 66 w 67"/>
                  <a:gd name="T33" fmla="*/ 4 h 123"/>
                  <a:gd name="T34" fmla="*/ 50 w 67"/>
                  <a:gd name="T35" fmla="*/ 8 h 123"/>
                  <a:gd name="T36" fmla="*/ 44 w 67"/>
                  <a:gd name="T37" fmla="*/ 0 h 12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7" h="123">
                    <a:moveTo>
                      <a:pt x="44" y="0"/>
                    </a:moveTo>
                    <a:lnTo>
                      <a:pt x="44" y="16"/>
                    </a:lnTo>
                    <a:lnTo>
                      <a:pt x="39" y="25"/>
                    </a:lnTo>
                    <a:lnTo>
                      <a:pt x="40" y="42"/>
                    </a:lnTo>
                    <a:lnTo>
                      <a:pt x="33" y="64"/>
                    </a:lnTo>
                    <a:lnTo>
                      <a:pt x="23" y="82"/>
                    </a:lnTo>
                    <a:lnTo>
                      <a:pt x="4" y="99"/>
                    </a:lnTo>
                    <a:lnTo>
                      <a:pt x="0" y="122"/>
                    </a:lnTo>
                    <a:lnTo>
                      <a:pt x="8" y="122"/>
                    </a:lnTo>
                    <a:lnTo>
                      <a:pt x="10" y="101"/>
                    </a:lnTo>
                    <a:lnTo>
                      <a:pt x="32" y="99"/>
                    </a:lnTo>
                    <a:lnTo>
                      <a:pt x="50" y="84"/>
                    </a:lnTo>
                    <a:lnTo>
                      <a:pt x="50" y="55"/>
                    </a:lnTo>
                    <a:lnTo>
                      <a:pt x="54" y="43"/>
                    </a:lnTo>
                    <a:lnTo>
                      <a:pt x="45" y="27"/>
                    </a:lnTo>
                    <a:lnTo>
                      <a:pt x="59" y="20"/>
                    </a:lnTo>
                    <a:lnTo>
                      <a:pt x="66" y="4"/>
                    </a:lnTo>
                    <a:lnTo>
                      <a:pt x="50" y="8"/>
                    </a:lnTo>
                    <a:lnTo>
                      <a:pt x="44" y="0"/>
                    </a:lnTo>
                  </a:path>
                </a:pathLst>
              </a:custGeom>
              <a:solidFill>
                <a:srgbClr val="008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4125" name="Freeform 26"/>
              <p:cNvSpPr>
                <a:spLocks/>
              </p:cNvSpPr>
              <p:nvPr/>
            </p:nvSpPr>
            <p:spPr bwMode="auto">
              <a:xfrm>
                <a:off x="1010" y="2340"/>
                <a:ext cx="11" cy="19"/>
              </a:xfrm>
              <a:custGeom>
                <a:avLst/>
                <a:gdLst>
                  <a:gd name="T0" fmla="*/ 6 w 11"/>
                  <a:gd name="T1" fmla="*/ 0 h 19"/>
                  <a:gd name="T2" fmla="*/ 10 w 11"/>
                  <a:gd name="T3" fmla="*/ 7 h 19"/>
                  <a:gd name="T4" fmla="*/ 4 w 11"/>
                  <a:gd name="T5" fmla="*/ 17 h 19"/>
                  <a:gd name="T6" fmla="*/ 0 w 11"/>
                  <a:gd name="T7" fmla="*/ 18 h 19"/>
                  <a:gd name="T8" fmla="*/ 3 w 11"/>
                  <a:gd name="T9" fmla="*/ 8 h 19"/>
                  <a:gd name="T10" fmla="*/ 6 w 11"/>
                  <a:gd name="T11" fmla="*/ 0 h 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 h="19">
                    <a:moveTo>
                      <a:pt x="6" y="0"/>
                    </a:moveTo>
                    <a:lnTo>
                      <a:pt x="10" y="7"/>
                    </a:lnTo>
                    <a:lnTo>
                      <a:pt x="4" y="17"/>
                    </a:lnTo>
                    <a:lnTo>
                      <a:pt x="0" y="18"/>
                    </a:lnTo>
                    <a:lnTo>
                      <a:pt x="3" y="8"/>
                    </a:lnTo>
                    <a:lnTo>
                      <a:pt x="6" y="0"/>
                    </a:lnTo>
                  </a:path>
                </a:pathLst>
              </a:custGeom>
              <a:solidFill>
                <a:srgbClr val="008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4126" name="Freeform 27"/>
              <p:cNvSpPr>
                <a:spLocks/>
              </p:cNvSpPr>
              <p:nvPr/>
            </p:nvSpPr>
            <p:spPr bwMode="auto">
              <a:xfrm>
                <a:off x="1021" y="2366"/>
                <a:ext cx="15" cy="27"/>
              </a:xfrm>
              <a:custGeom>
                <a:avLst/>
                <a:gdLst>
                  <a:gd name="T0" fmla="*/ 6 w 15"/>
                  <a:gd name="T1" fmla="*/ 0 h 27"/>
                  <a:gd name="T2" fmla="*/ 10 w 15"/>
                  <a:gd name="T3" fmla="*/ 9 h 27"/>
                  <a:gd name="T4" fmla="*/ 5 w 15"/>
                  <a:gd name="T5" fmla="*/ 14 h 27"/>
                  <a:gd name="T6" fmla="*/ 6 w 15"/>
                  <a:gd name="T7" fmla="*/ 16 h 27"/>
                  <a:gd name="T8" fmla="*/ 14 w 15"/>
                  <a:gd name="T9" fmla="*/ 21 h 27"/>
                  <a:gd name="T10" fmla="*/ 14 w 15"/>
                  <a:gd name="T11" fmla="*/ 25 h 27"/>
                  <a:gd name="T12" fmla="*/ 9 w 15"/>
                  <a:gd name="T13" fmla="*/ 21 h 27"/>
                  <a:gd name="T14" fmla="*/ 3 w 15"/>
                  <a:gd name="T15" fmla="*/ 26 h 27"/>
                  <a:gd name="T16" fmla="*/ 0 w 15"/>
                  <a:gd name="T17" fmla="*/ 20 h 27"/>
                  <a:gd name="T18" fmla="*/ 3 w 15"/>
                  <a:gd name="T19" fmla="*/ 17 h 27"/>
                  <a:gd name="T20" fmla="*/ 0 w 15"/>
                  <a:gd name="T21" fmla="*/ 13 h 27"/>
                  <a:gd name="T22" fmla="*/ 6 w 15"/>
                  <a:gd name="T23" fmla="*/ 0 h 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 h="27">
                    <a:moveTo>
                      <a:pt x="6" y="0"/>
                    </a:moveTo>
                    <a:lnTo>
                      <a:pt x="10" y="9"/>
                    </a:lnTo>
                    <a:lnTo>
                      <a:pt x="5" y="14"/>
                    </a:lnTo>
                    <a:lnTo>
                      <a:pt x="6" y="16"/>
                    </a:lnTo>
                    <a:lnTo>
                      <a:pt x="14" y="21"/>
                    </a:lnTo>
                    <a:lnTo>
                      <a:pt x="14" y="25"/>
                    </a:lnTo>
                    <a:lnTo>
                      <a:pt x="9" y="21"/>
                    </a:lnTo>
                    <a:lnTo>
                      <a:pt x="3" y="26"/>
                    </a:lnTo>
                    <a:lnTo>
                      <a:pt x="0" y="20"/>
                    </a:lnTo>
                    <a:lnTo>
                      <a:pt x="3" y="17"/>
                    </a:lnTo>
                    <a:lnTo>
                      <a:pt x="0" y="13"/>
                    </a:lnTo>
                    <a:lnTo>
                      <a:pt x="6" y="0"/>
                    </a:lnTo>
                  </a:path>
                </a:pathLst>
              </a:custGeom>
              <a:solidFill>
                <a:srgbClr val="008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4127" name="Freeform 28"/>
              <p:cNvSpPr>
                <a:spLocks/>
              </p:cNvSpPr>
              <p:nvPr/>
            </p:nvSpPr>
            <p:spPr bwMode="auto">
              <a:xfrm>
                <a:off x="1035" y="2395"/>
                <a:ext cx="9" cy="14"/>
              </a:xfrm>
              <a:custGeom>
                <a:avLst/>
                <a:gdLst>
                  <a:gd name="T0" fmla="*/ 3 w 9"/>
                  <a:gd name="T1" fmla="*/ 0 h 14"/>
                  <a:gd name="T2" fmla="*/ 0 w 9"/>
                  <a:gd name="T3" fmla="*/ 5 h 14"/>
                  <a:gd name="T4" fmla="*/ 6 w 9"/>
                  <a:gd name="T5" fmla="*/ 13 h 14"/>
                  <a:gd name="T6" fmla="*/ 8 w 9"/>
                  <a:gd name="T7" fmla="*/ 11 h 14"/>
                  <a:gd name="T8" fmla="*/ 3 w 9"/>
                  <a:gd name="T9" fmla="*/ 0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4">
                    <a:moveTo>
                      <a:pt x="3" y="0"/>
                    </a:moveTo>
                    <a:lnTo>
                      <a:pt x="0" y="5"/>
                    </a:lnTo>
                    <a:lnTo>
                      <a:pt x="6" y="13"/>
                    </a:lnTo>
                    <a:lnTo>
                      <a:pt x="8" y="11"/>
                    </a:lnTo>
                    <a:lnTo>
                      <a:pt x="3" y="0"/>
                    </a:lnTo>
                  </a:path>
                </a:pathLst>
              </a:custGeom>
              <a:solidFill>
                <a:srgbClr val="008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4128" name="Freeform 29"/>
              <p:cNvSpPr>
                <a:spLocks/>
              </p:cNvSpPr>
              <p:nvPr/>
            </p:nvSpPr>
            <p:spPr bwMode="auto">
              <a:xfrm>
                <a:off x="1025" y="2395"/>
                <a:ext cx="4" cy="9"/>
              </a:xfrm>
              <a:custGeom>
                <a:avLst/>
                <a:gdLst>
                  <a:gd name="T0" fmla="*/ 3 w 4"/>
                  <a:gd name="T1" fmla="*/ 0 h 9"/>
                  <a:gd name="T2" fmla="*/ 2 w 4"/>
                  <a:gd name="T3" fmla="*/ 8 h 9"/>
                  <a:gd name="T4" fmla="*/ 0 w 4"/>
                  <a:gd name="T5" fmla="*/ 5 h 9"/>
                  <a:gd name="T6" fmla="*/ 3 w 4"/>
                  <a:gd name="T7" fmla="*/ 0 h 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 h="9">
                    <a:moveTo>
                      <a:pt x="3" y="0"/>
                    </a:moveTo>
                    <a:lnTo>
                      <a:pt x="2" y="8"/>
                    </a:lnTo>
                    <a:lnTo>
                      <a:pt x="0" y="5"/>
                    </a:lnTo>
                    <a:lnTo>
                      <a:pt x="3" y="0"/>
                    </a:lnTo>
                  </a:path>
                </a:pathLst>
              </a:custGeom>
              <a:solidFill>
                <a:srgbClr val="008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4129" name="Freeform 30"/>
              <p:cNvSpPr>
                <a:spLocks/>
              </p:cNvSpPr>
              <p:nvPr/>
            </p:nvSpPr>
            <p:spPr bwMode="auto">
              <a:xfrm>
                <a:off x="809" y="2478"/>
                <a:ext cx="16" cy="34"/>
              </a:xfrm>
              <a:custGeom>
                <a:avLst/>
                <a:gdLst>
                  <a:gd name="T0" fmla="*/ 7 w 16"/>
                  <a:gd name="T1" fmla="*/ 0 h 34"/>
                  <a:gd name="T2" fmla="*/ 0 w 16"/>
                  <a:gd name="T3" fmla="*/ 16 h 34"/>
                  <a:gd name="T4" fmla="*/ 7 w 16"/>
                  <a:gd name="T5" fmla="*/ 33 h 34"/>
                  <a:gd name="T6" fmla="*/ 15 w 16"/>
                  <a:gd name="T7" fmla="*/ 19 h 34"/>
                  <a:gd name="T8" fmla="*/ 7 w 16"/>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 h="34">
                    <a:moveTo>
                      <a:pt x="7" y="0"/>
                    </a:moveTo>
                    <a:lnTo>
                      <a:pt x="0" y="16"/>
                    </a:lnTo>
                    <a:lnTo>
                      <a:pt x="7" y="33"/>
                    </a:lnTo>
                    <a:lnTo>
                      <a:pt x="15" y="19"/>
                    </a:lnTo>
                    <a:lnTo>
                      <a:pt x="7" y="0"/>
                    </a:lnTo>
                  </a:path>
                </a:pathLst>
              </a:custGeom>
              <a:solidFill>
                <a:srgbClr val="008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4130" name="Freeform 31"/>
              <p:cNvSpPr>
                <a:spLocks/>
              </p:cNvSpPr>
              <p:nvPr/>
            </p:nvSpPr>
            <p:spPr bwMode="auto">
              <a:xfrm>
                <a:off x="447" y="2114"/>
                <a:ext cx="28" cy="53"/>
              </a:xfrm>
              <a:custGeom>
                <a:avLst/>
                <a:gdLst>
                  <a:gd name="T0" fmla="*/ 21 w 28"/>
                  <a:gd name="T1" fmla="*/ 0 h 53"/>
                  <a:gd name="T2" fmla="*/ 15 w 28"/>
                  <a:gd name="T3" fmla="*/ 0 h 53"/>
                  <a:gd name="T4" fmla="*/ 13 w 28"/>
                  <a:gd name="T5" fmla="*/ 3 h 53"/>
                  <a:gd name="T6" fmla="*/ 9 w 28"/>
                  <a:gd name="T7" fmla="*/ 7 h 53"/>
                  <a:gd name="T8" fmla="*/ 9 w 28"/>
                  <a:gd name="T9" fmla="*/ 22 h 53"/>
                  <a:gd name="T10" fmla="*/ 13 w 28"/>
                  <a:gd name="T11" fmla="*/ 25 h 53"/>
                  <a:gd name="T12" fmla="*/ 13 w 28"/>
                  <a:gd name="T13" fmla="*/ 31 h 53"/>
                  <a:gd name="T14" fmla="*/ 10 w 28"/>
                  <a:gd name="T15" fmla="*/ 32 h 53"/>
                  <a:gd name="T16" fmla="*/ 6 w 28"/>
                  <a:gd name="T17" fmla="*/ 37 h 53"/>
                  <a:gd name="T18" fmla="*/ 6 w 28"/>
                  <a:gd name="T19" fmla="*/ 44 h 53"/>
                  <a:gd name="T20" fmla="*/ 0 w 28"/>
                  <a:gd name="T21" fmla="*/ 52 h 53"/>
                  <a:gd name="T22" fmla="*/ 19 w 28"/>
                  <a:gd name="T23" fmla="*/ 52 h 53"/>
                  <a:gd name="T24" fmla="*/ 27 w 28"/>
                  <a:gd name="T25" fmla="*/ 42 h 53"/>
                  <a:gd name="T26" fmla="*/ 19 w 28"/>
                  <a:gd name="T27" fmla="*/ 34 h 53"/>
                  <a:gd name="T28" fmla="*/ 19 w 28"/>
                  <a:gd name="T29" fmla="*/ 11 h 53"/>
                  <a:gd name="T30" fmla="*/ 23 w 28"/>
                  <a:gd name="T31" fmla="*/ 7 h 53"/>
                  <a:gd name="T32" fmla="*/ 17 w 28"/>
                  <a:gd name="T33" fmla="*/ 7 h 53"/>
                  <a:gd name="T34" fmla="*/ 21 w 28"/>
                  <a:gd name="T35" fmla="*/ 0 h 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8" h="53">
                    <a:moveTo>
                      <a:pt x="21" y="0"/>
                    </a:moveTo>
                    <a:lnTo>
                      <a:pt x="15" y="0"/>
                    </a:lnTo>
                    <a:lnTo>
                      <a:pt x="13" y="3"/>
                    </a:lnTo>
                    <a:lnTo>
                      <a:pt x="9" y="7"/>
                    </a:lnTo>
                    <a:lnTo>
                      <a:pt x="9" y="22"/>
                    </a:lnTo>
                    <a:lnTo>
                      <a:pt x="13" y="25"/>
                    </a:lnTo>
                    <a:lnTo>
                      <a:pt x="13" y="31"/>
                    </a:lnTo>
                    <a:lnTo>
                      <a:pt x="10" y="32"/>
                    </a:lnTo>
                    <a:lnTo>
                      <a:pt x="6" y="37"/>
                    </a:lnTo>
                    <a:lnTo>
                      <a:pt x="6" y="44"/>
                    </a:lnTo>
                    <a:lnTo>
                      <a:pt x="0" y="52"/>
                    </a:lnTo>
                    <a:lnTo>
                      <a:pt x="19" y="52"/>
                    </a:lnTo>
                    <a:lnTo>
                      <a:pt x="27" y="42"/>
                    </a:lnTo>
                    <a:lnTo>
                      <a:pt x="19" y="34"/>
                    </a:lnTo>
                    <a:lnTo>
                      <a:pt x="19" y="11"/>
                    </a:lnTo>
                    <a:lnTo>
                      <a:pt x="23" y="7"/>
                    </a:lnTo>
                    <a:lnTo>
                      <a:pt x="17" y="7"/>
                    </a:lnTo>
                    <a:lnTo>
                      <a:pt x="21" y="0"/>
                    </a:lnTo>
                  </a:path>
                </a:pathLst>
              </a:custGeom>
              <a:solidFill>
                <a:srgbClr val="008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4131" name="Freeform 32"/>
              <p:cNvSpPr>
                <a:spLocks/>
              </p:cNvSpPr>
              <p:nvPr/>
            </p:nvSpPr>
            <p:spPr bwMode="auto">
              <a:xfrm>
                <a:off x="437" y="2129"/>
                <a:ext cx="18" cy="23"/>
              </a:xfrm>
              <a:custGeom>
                <a:avLst/>
                <a:gdLst>
                  <a:gd name="T0" fmla="*/ 16 w 18"/>
                  <a:gd name="T1" fmla="*/ 1 h 23"/>
                  <a:gd name="T2" fmla="*/ 12 w 18"/>
                  <a:gd name="T3" fmla="*/ 0 h 23"/>
                  <a:gd name="T4" fmla="*/ 7 w 18"/>
                  <a:gd name="T5" fmla="*/ 7 h 23"/>
                  <a:gd name="T6" fmla="*/ 0 w 18"/>
                  <a:gd name="T7" fmla="*/ 15 h 23"/>
                  <a:gd name="T8" fmla="*/ 0 w 18"/>
                  <a:gd name="T9" fmla="*/ 22 h 23"/>
                  <a:gd name="T10" fmla="*/ 9 w 18"/>
                  <a:gd name="T11" fmla="*/ 22 h 23"/>
                  <a:gd name="T12" fmla="*/ 14 w 18"/>
                  <a:gd name="T13" fmla="*/ 16 h 23"/>
                  <a:gd name="T14" fmla="*/ 13 w 18"/>
                  <a:gd name="T15" fmla="*/ 8 h 23"/>
                  <a:gd name="T16" fmla="*/ 17 w 18"/>
                  <a:gd name="T17" fmla="*/ 7 h 23"/>
                  <a:gd name="T18" fmla="*/ 16 w 18"/>
                  <a:gd name="T19" fmla="*/ 1 h 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 h="23">
                    <a:moveTo>
                      <a:pt x="16" y="1"/>
                    </a:moveTo>
                    <a:lnTo>
                      <a:pt x="12" y="0"/>
                    </a:lnTo>
                    <a:lnTo>
                      <a:pt x="7" y="7"/>
                    </a:lnTo>
                    <a:lnTo>
                      <a:pt x="0" y="15"/>
                    </a:lnTo>
                    <a:lnTo>
                      <a:pt x="0" y="22"/>
                    </a:lnTo>
                    <a:lnTo>
                      <a:pt x="9" y="22"/>
                    </a:lnTo>
                    <a:lnTo>
                      <a:pt x="14" y="16"/>
                    </a:lnTo>
                    <a:lnTo>
                      <a:pt x="13" y="8"/>
                    </a:lnTo>
                    <a:lnTo>
                      <a:pt x="17" y="7"/>
                    </a:lnTo>
                    <a:lnTo>
                      <a:pt x="16" y="1"/>
                    </a:lnTo>
                  </a:path>
                </a:pathLst>
              </a:custGeom>
              <a:solidFill>
                <a:srgbClr val="008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4132" name="Freeform 33"/>
              <p:cNvSpPr>
                <a:spLocks/>
              </p:cNvSpPr>
              <p:nvPr/>
            </p:nvSpPr>
            <p:spPr bwMode="auto">
              <a:xfrm>
                <a:off x="608" y="2554"/>
                <a:ext cx="20" cy="81"/>
              </a:xfrm>
              <a:custGeom>
                <a:avLst/>
                <a:gdLst>
                  <a:gd name="T0" fmla="*/ 15 w 20"/>
                  <a:gd name="T1" fmla="*/ 0 h 81"/>
                  <a:gd name="T2" fmla="*/ 10 w 20"/>
                  <a:gd name="T3" fmla="*/ 20 h 81"/>
                  <a:gd name="T4" fmla="*/ 0 w 20"/>
                  <a:gd name="T5" fmla="*/ 27 h 81"/>
                  <a:gd name="T6" fmla="*/ 3 w 20"/>
                  <a:gd name="T7" fmla="*/ 39 h 81"/>
                  <a:gd name="T8" fmla="*/ 3 w 20"/>
                  <a:gd name="T9" fmla="*/ 48 h 81"/>
                  <a:gd name="T10" fmla="*/ 0 w 20"/>
                  <a:gd name="T11" fmla="*/ 59 h 81"/>
                  <a:gd name="T12" fmla="*/ 0 w 20"/>
                  <a:gd name="T13" fmla="*/ 80 h 81"/>
                  <a:gd name="T14" fmla="*/ 14 w 20"/>
                  <a:gd name="T15" fmla="*/ 72 h 81"/>
                  <a:gd name="T16" fmla="*/ 18 w 20"/>
                  <a:gd name="T17" fmla="*/ 46 h 81"/>
                  <a:gd name="T18" fmla="*/ 19 w 20"/>
                  <a:gd name="T19" fmla="*/ 31 h 81"/>
                  <a:gd name="T20" fmla="*/ 15 w 20"/>
                  <a:gd name="T21" fmla="*/ 0 h 8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 h="81">
                    <a:moveTo>
                      <a:pt x="15" y="0"/>
                    </a:moveTo>
                    <a:lnTo>
                      <a:pt x="10" y="20"/>
                    </a:lnTo>
                    <a:lnTo>
                      <a:pt x="0" y="27"/>
                    </a:lnTo>
                    <a:lnTo>
                      <a:pt x="3" y="39"/>
                    </a:lnTo>
                    <a:lnTo>
                      <a:pt x="3" y="48"/>
                    </a:lnTo>
                    <a:lnTo>
                      <a:pt x="0" y="59"/>
                    </a:lnTo>
                    <a:lnTo>
                      <a:pt x="0" y="80"/>
                    </a:lnTo>
                    <a:lnTo>
                      <a:pt x="14" y="72"/>
                    </a:lnTo>
                    <a:lnTo>
                      <a:pt x="18" y="46"/>
                    </a:lnTo>
                    <a:lnTo>
                      <a:pt x="19" y="31"/>
                    </a:lnTo>
                    <a:lnTo>
                      <a:pt x="15" y="0"/>
                    </a:lnTo>
                  </a:path>
                </a:pathLst>
              </a:custGeom>
              <a:solidFill>
                <a:srgbClr val="008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4133" name="Freeform 34"/>
              <p:cNvSpPr>
                <a:spLocks/>
              </p:cNvSpPr>
              <p:nvPr/>
            </p:nvSpPr>
            <p:spPr bwMode="auto">
              <a:xfrm>
                <a:off x="483" y="2224"/>
                <a:ext cx="4" cy="9"/>
              </a:xfrm>
              <a:custGeom>
                <a:avLst/>
                <a:gdLst>
                  <a:gd name="T0" fmla="*/ 0 w 4"/>
                  <a:gd name="T1" fmla="*/ 1 h 9"/>
                  <a:gd name="T2" fmla="*/ 0 w 4"/>
                  <a:gd name="T3" fmla="*/ 8 h 9"/>
                  <a:gd name="T4" fmla="*/ 3 w 4"/>
                  <a:gd name="T5" fmla="*/ 4 h 9"/>
                  <a:gd name="T6" fmla="*/ 3 w 4"/>
                  <a:gd name="T7" fmla="*/ 0 h 9"/>
                  <a:gd name="T8" fmla="*/ 0 w 4"/>
                  <a:gd name="T9" fmla="*/ 1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 h="9">
                    <a:moveTo>
                      <a:pt x="0" y="1"/>
                    </a:moveTo>
                    <a:lnTo>
                      <a:pt x="0" y="8"/>
                    </a:lnTo>
                    <a:lnTo>
                      <a:pt x="3" y="4"/>
                    </a:lnTo>
                    <a:lnTo>
                      <a:pt x="3" y="0"/>
                    </a:lnTo>
                    <a:lnTo>
                      <a:pt x="0" y="1"/>
                    </a:lnTo>
                  </a:path>
                </a:pathLst>
              </a:custGeom>
              <a:solidFill>
                <a:srgbClr val="008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4134" name="Freeform 35"/>
              <p:cNvSpPr>
                <a:spLocks/>
              </p:cNvSpPr>
              <p:nvPr/>
            </p:nvSpPr>
            <p:spPr bwMode="auto">
              <a:xfrm>
                <a:off x="483" y="2234"/>
                <a:ext cx="5" cy="16"/>
              </a:xfrm>
              <a:custGeom>
                <a:avLst/>
                <a:gdLst>
                  <a:gd name="T0" fmla="*/ 3 w 5"/>
                  <a:gd name="T1" fmla="*/ 0 h 16"/>
                  <a:gd name="T2" fmla="*/ 0 w 5"/>
                  <a:gd name="T3" fmla="*/ 6 h 16"/>
                  <a:gd name="T4" fmla="*/ 0 w 5"/>
                  <a:gd name="T5" fmla="*/ 15 h 16"/>
                  <a:gd name="T6" fmla="*/ 4 w 5"/>
                  <a:gd name="T7" fmla="*/ 14 h 16"/>
                  <a:gd name="T8" fmla="*/ 3 w 5"/>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16">
                    <a:moveTo>
                      <a:pt x="3" y="0"/>
                    </a:moveTo>
                    <a:lnTo>
                      <a:pt x="0" y="6"/>
                    </a:lnTo>
                    <a:lnTo>
                      <a:pt x="0" y="15"/>
                    </a:lnTo>
                    <a:lnTo>
                      <a:pt x="4" y="14"/>
                    </a:lnTo>
                    <a:lnTo>
                      <a:pt x="3" y="0"/>
                    </a:lnTo>
                  </a:path>
                </a:pathLst>
              </a:custGeom>
              <a:solidFill>
                <a:srgbClr val="008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4135" name="Freeform 36"/>
              <p:cNvSpPr>
                <a:spLocks/>
              </p:cNvSpPr>
              <p:nvPr/>
            </p:nvSpPr>
            <p:spPr bwMode="auto">
              <a:xfrm>
                <a:off x="497" y="2258"/>
                <a:ext cx="11" cy="10"/>
              </a:xfrm>
              <a:custGeom>
                <a:avLst/>
                <a:gdLst>
                  <a:gd name="T0" fmla="*/ 0 w 11"/>
                  <a:gd name="T1" fmla="*/ 0 h 10"/>
                  <a:gd name="T2" fmla="*/ 9 w 11"/>
                  <a:gd name="T3" fmla="*/ 0 h 10"/>
                  <a:gd name="T4" fmla="*/ 10 w 11"/>
                  <a:gd name="T5" fmla="*/ 9 h 10"/>
                  <a:gd name="T6" fmla="*/ 0 w 11"/>
                  <a:gd name="T7" fmla="*/ 0 h 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 h="10">
                    <a:moveTo>
                      <a:pt x="0" y="0"/>
                    </a:moveTo>
                    <a:lnTo>
                      <a:pt x="9" y="0"/>
                    </a:lnTo>
                    <a:lnTo>
                      <a:pt x="10" y="9"/>
                    </a:lnTo>
                    <a:lnTo>
                      <a:pt x="0" y="0"/>
                    </a:lnTo>
                  </a:path>
                </a:pathLst>
              </a:custGeom>
              <a:solidFill>
                <a:srgbClr val="008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4136" name="Freeform 37"/>
              <p:cNvSpPr>
                <a:spLocks/>
              </p:cNvSpPr>
              <p:nvPr/>
            </p:nvSpPr>
            <p:spPr bwMode="auto">
              <a:xfrm>
                <a:off x="419" y="1929"/>
                <a:ext cx="768" cy="583"/>
              </a:xfrm>
              <a:custGeom>
                <a:avLst/>
                <a:gdLst>
                  <a:gd name="T0" fmla="*/ 364 w 768"/>
                  <a:gd name="T1" fmla="*/ 13 h 583"/>
                  <a:gd name="T2" fmla="*/ 511 w 768"/>
                  <a:gd name="T3" fmla="*/ 6 h 583"/>
                  <a:gd name="T4" fmla="*/ 603 w 768"/>
                  <a:gd name="T5" fmla="*/ 56 h 583"/>
                  <a:gd name="T6" fmla="*/ 714 w 768"/>
                  <a:gd name="T7" fmla="*/ 70 h 583"/>
                  <a:gd name="T8" fmla="*/ 764 w 768"/>
                  <a:gd name="T9" fmla="*/ 118 h 583"/>
                  <a:gd name="T10" fmla="*/ 704 w 768"/>
                  <a:gd name="T11" fmla="*/ 167 h 583"/>
                  <a:gd name="T12" fmla="*/ 678 w 768"/>
                  <a:gd name="T13" fmla="*/ 213 h 583"/>
                  <a:gd name="T14" fmla="*/ 666 w 768"/>
                  <a:gd name="T15" fmla="*/ 167 h 583"/>
                  <a:gd name="T16" fmla="*/ 628 w 768"/>
                  <a:gd name="T17" fmla="*/ 208 h 583"/>
                  <a:gd name="T18" fmla="*/ 621 w 768"/>
                  <a:gd name="T19" fmla="*/ 277 h 583"/>
                  <a:gd name="T20" fmla="*/ 620 w 768"/>
                  <a:gd name="T21" fmla="*/ 314 h 583"/>
                  <a:gd name="T22" fmla="*/ 608 w 768"/>
                  <a:gd name="T23" fmla="*/ 314 h 583"/>
                  <a:gd name="T24" fmla="*/ 600 w 768"/>
                  <a:gd name="T25" fmla="*/ 371 h 583"/>
                  <a:gd name="T26" fmla="*/ 549 w 768"/>
                  <a:gd name="T27" fmla="*/ 446 h 583"/>
                  <a:gd name="T28" fmla="*/ 522 w 768"/>
                  <a:gd name="T29" fmla="*/ 536 h 583"/>
                  <a:gd name="T30" fmla="*/ 527 w 768"/>
                  <a:gd name="T31" fmla="*/ 582 h 583"/>
                  <a:gd name="T32" fmla="*/ 422 w 768"/>
                  <a:gd name="T33" fmla="*/ 452 h 583"/>
                  <a:gd name="T34" fmla="*/ 372 w 768"/>
                  <a:gd name="T35" fmla="*/ 561 h 583"/>
                  <a:gd name="T36" fmla="*/ 306 w 768"/>
                  <a:gd name="T37" fmla="*/ 462 h 583"/>
                  <a:gd name="T38" fmla="*/ 213 w 768"/>
                  <a:gd name="T39" fmla="*/ 389 h 583"/>
                  <a:gd name="T40" fmla="*/ 249 w 768"/>
                  <a:gd name="T41" fmla="*/ 437 h 583"/>
                  <a:gd name="T42" fmla="*/ 193 w 768"/>
                  <a:gd name="T43" fmla="*/ 458 h 583"/>
                  <a:gd name="T44" fmla="*/ 147 w 768"/>
                  <a:gd name="T45" fmla="*/ 380 h 583"/>
                  <a:gd name="T46" fmla="*/ 166 w 768"/>
                  <a:gd name="T47" fmla="*/ 328 h 583"/>
                  <a:gd name="T48" fmla="*/ 131 w 768"/>
                  <a:gd name="T49" fmla="*/ 314 h 583"/>
                  <a:gd name="T50" fmla="*/ 154 w 768"/>
                  <a:gd name="T51" fmla="*/ 299 h 583"/>
                  <a:gd name="T52" fmla="*/ 164 w 768"/>
                  <a:gd name="T53" fmla="*/ 278 h 583"/>
                  <a:gd name="T54" fmla="*/ 162 w 768"/>
                  <a:gd name="T55" fmla="*/ 275 h 583"/>
                  <a:gd name="T56" fmla="*/ 148 w 768"/>
                  <a:gd name="T57" fmla="*/ 277 h 583"/>
                  <a:gd name="T58" fmla="*/ 136 w 768"/>
                  <a:gd name="T59" fmla="*/ 278 h 583"/>
                  <a:gd name="T60" fmla="*/ 135 w 768"/>
                  <a:gd name="T61" fmla="*/ 309 h 583"/>
                  <a:gd name="T62" fmla="*/ 124 w 768"/>
                  <a:gd name="T63" fmla="*/ 328 h 583"/>
                  <a:gd name="T64" fmla="*/ 105 w 768"/>
                  <a:gd name="T65" fmla="*/ 318 h 583"/>
                  <a:gd name="T66" fmla="*/ 86 w 768"/>
                  <a:gd name="T67" fmla="*/ 280 h 583"/>
                  <a:gd name="T68" fmla="*/ 100 w 768"/>
                  <a:gd name="T69" fmla="*/ 317 h 583"/>
                  <a:gd name="T70" fmla="*/ 96 w 768"/>
                  <a:gd name="T71" fmla="*/ 323 h 583"/>
                  <a:gd name="T72" fmla="*/ 73 w 768"/>
                  <a:gd name="T73" fmla="*/ 296 h 583"/>
                  <a:gd name="T74" fmla="*/ 47 w 768"/>
                  <a:gd name="T75" fmla="*/ 289 h 583"/>
                  <a:gd name="T76" fmla="*/ 0 w 768"/>
                  <a:gd name="T77" fmla="*/ 293 h 583"/>
                  <a:gd name="T78" fmla="*/ 28 w 768"/>
                  <a:gd name="T79" fmla="*/ 283 h 583"/>
                  <a:gd name="T80" fmla="*/ 49 w 768"/>
                  <a:gd name="T81" fmla="*/ 244 h 583"/>
                  <a:gd name="T82" fmla="*/ 74 w 768"/>
                  <a:gd name="T83" fmla="*/ 225 h 583"/>
                  <a:gd name="T84" fmla="*/ 86 w 768"/>
                  <a:gd name="T85" fmla="*/ 215 h 583"/>
                  <a:gd name="T86" fmla="*/ 92 w 768"/>
                  <a:gd name="T87" fmla="*/ 227 h 583"/>
                  <a:gd name="T88" fmla="*/ 112 w 768"/>
                  <a:gd name="T89" fmla="*/ 216 h 583"/>
                  <a:gd name="T90" fmla="*/ 129 w 768"/>
                  <a:gd name="T91" fmla="*/ 194 h 583"/>
                  <a:gd name="T92" fmla="*/ 109 w 768"/>
                  <a:gd name="T93" fmla="*/ 171 h 583"/>
                  <a:gd name="T94" fmla="*/ 113 w 768"/>
                  <a:gd name="T95" fmla="*/ 149 h 583"/>
                  <a:gd name="T96" fmla="*/ 104 w 768"/>
                  <a:gd name="T97" fmla="*/ 190 h 583"/>
                  <a:gd name="T98" fmla="*/ 86 w 768"/>
                  <a:gd name="T99" fmla="*/ 217 h 583"/>
                  <a:gd name="T100" fmla="*/ 70 w 768"/>
                  <a:gd name="T101" fmla="*/ 197 h 583"/>
                  <a:gd name="T102" fmla="*/ 100 w 768"/>
                  <a:gd name="T103" fmla="*/ 131 h 583"/>
                  <a:gd name="T104" fmla="*/ 162 w 768"/>
                  <a:gd name="T105" fmla="*/ 136 h 583"/>
                  <a:gd name="T106" fmla="*/ 186 w 768"/>
                  <a:gd name="T107" fmla="*/ 140 h 583"/>
                  <a:gd name="T108" fmla="*/ 239 w 768"/>
                  <a:gd name="T109" fmla="*/ 84 h 583"/>
                  <a:gd name="T110" fmla="*/ 213 w 768"/>
                  <a:gd name="T111" fmla="*/ 131 h 58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68" h="583">
                    <a:moveTo>
                      <a:pt x="264" y="102"/>
                    </a:moveTo>
                    <a:lnTo>
                      <a:pt x="305" y="79"/>
                    </a:lnTo>
                    <a:lnTo>
                      <a:pt x="365" y="48"/>
                    </a:lnTo>
                    <a:lnTo>
                      <a:pt x="364" y="13"/>
                    </a:lnTo>
                    <a:lnTo>
                      <a:pt x="412" y="6"/>
                    </a:lnTo>
                    <a:lnTo>
                      <a:pt x="441" y="22"/>
                    </a:lnTo>
                    <a:lnTo>
                      <a:pt x="497" y="0"/>
                    </a:lnTo>
                    <a:lnTo>
                      <a:pt x="511" y="6"/>
                    </a:lnTo>
                    <a:lnTo>
                      <a:pt x="522" y="13"/>
                    </a:lnTo>
                    <a:lnTo>
                      <a:pt x="546" y="44"/>
                    </a:lnTo>
                    <a:lnTo>
                      <a:pt x="559" y="63"/>
                    </a:lnTo>
                    <a:lnTo>
                      <a:pt x="603" y="56"/>
                    </a:lnTo>
                    <a:lnTo>
                      <a:pt x="613" y="55"/>
                    </a:lnTo>
                    <a:lnTo>
                      <a:pt x="640" y="72"/>
                    </a:lnTo>
                    <a:lnTo>
                      <a:pt x="670" y="71"/>
                    </a:lnTo>
                    <a:lnTo>
                      <a:pt x="714" y="70"/>
                    </a:lnTo>
                    <a:lnTo>
                      <a:pt x="760" y="84"/>
                    </a:lnTo>
                    <a:lnTo>
                      <a:pt x="767" y="90"/>
                    </a:lnTo>
                    <a:lnTo>
                      <a:pt x="767" y="102"/>
                    </a:lnTo>
                    <a:lnTo>
                      <a:pt x="764" y="118"/>
                    </a:lnTo>
                    <a:lnTo>
                      <a:pt x="736" y="131"/>
                    </a:lnTo>
                    <a:lnTo>
                      <a:pt x="717" y="140"/>
                    </a:lnTo>
                    <a:lnTo>
                      <a:pt x="723" y="156"/>
                    </a:lnTo>
                    <a:lnTo>
                      <a:pt x="704" y="167"/>
                    </a:lnTo>
                    <a:lnTo>
                      <a:pt x="702" y="189"/>
                    </a:lnTo>
                    <a:lnTo>
                      <a:pt x="704" y="202"/>
                    </a:lnTo>
                    <a:lnTo>
                      <a:pt x="683" y="232"/>
                    </a:lnTo>
                    <a:lnTo>
                      <a:pt x="678" y="213"/>
                    </a:lnTo>
                    <a:lnTo>
                      <a:pt x="678" y="203"/>
                    </a:lnTo>
                    <a:lnTo>
                      <a:pt x="687" y="185"/>
                    </a:lnTo>
                    <a:lnTo>
                      <a:pt x="685" y="141"/>
                    </a:lnTo>
                    <a:lnTo>
                      <a:pt x="666" y="167"/>
                    </a:lnTo>
                    <a:lnTo>
                      <a:pt x="650" y="179"/>
                    </a:lnTo>
                    <a:lnTo>
                      <a:pt x="640" y="159"/>
                    </a:lnTo>
                    <a:lnTo>
                      <a:pt x="631" y="185"/>
                    </a:lnTo>
                    <a:lnTo>
                      <a:pt x="628" y="208"/>
                    </a:lnTo>
                    <a:lnTo>
                      <a:pt x="638" y="208"/>
                    </a:lnTo>
                    <a:lnTo>
                      <a:pt x="636" y="232"/>
                    </a:lnTo>
                    <a:lnTo>
                      <a:pt x="628" y="267"/>
                    </a:lnTo>
                    <a:lnTo>
                      <a:pt x="621" y="277"/>
                    </a:lnTo>
                    <a:lnTo>
                      <a:pt x="613" y="288"/>
                    </a:lnTo>
                    <a:lnTo>
                      <a:pt x="608" y="295"/>
                    </a:lnTo>
                    <a:lnTo>
                      <a:pt x="616" y="307"/>
                    </a:lnTo>
                    <a:lnTo>
                      <a:pt x="620" y="314"/>
                    </a:lnTo>
                    <a:lnTo>
                      <a:pt x="616" y="329"/>
                    </a:lnTo>
                    <a:lnTo>
                      <a:pt x="611" y="334"/>
                    </a:lnTo>
                    <a:lnTo>
                      <a:pt x="609" y="324"/>
                    </a:lnTo>
                    <a:lnTo>
                      <a:pt x="608" y="314"/>
                    </a:lnTo>
                    <a:lnTo>
                      <a:pt x="599" y="304"/>
                    </a:lnTo>
                    <a:lnTo>
                      <a:pt x="581" y="314"/>
                    </a:lnTo>
                    <a:lnTo>
                      <a:pt x="597" y="355"/>
                    </a:lnTo>
                    <a:lnTo>
                      <a:pt x="600" y="371"/>
                    </a:lnTo>
                    <a:lnTo>
                      <a:pt x="597" y="394"/>
                    </a:lnTo>
                    <a:lnTo>
                      <a:pt x="582" y="432"/>
                    </a:lnTo>
                    <a:lnTo>
                      <a:pt x="555" y="444"/>
                    </a:lnTo>
                    <a:lnTo>
                      <a:pt x="549" y="446"/>
                    </a:lnTo>
                    <a:lnTo>
                      <a:pt x="527" y="444"/>
                    </a:lnTo>
                    <a:lnTo>
                      <a:pt x="538" y="466"/>
                    </a:lnTo>
                    <a:lnTo>
                      <a:pt x="541" y="499"/>
                    </a:lnTo>
                    <a:lnTo>
                      <a:pt x="522" y="536"/>
                    </a:lnTo>
                    <a:lnTo>
                      <a:pt x="500" y="515"/>
                    </a:lnTo>
                    <a:lnTo>
                      <a:pt x="497" y="536"/>
                    </a:lnTo>
                    <a:lnTo>
                      <a:pt x="514" y="556"/>
                    </a:lnTo>
                    <a:lnTo>
                      <a:pt x="527" y="582"/>
                    </a:lnTo>
                    <a:lnTo>
                      <a:pt x="504" y="566"/>
                    </a:lnTo>
                    <a:lnTo>
                      <a:pt x="477" y="474"/>
                    </a:lnTo>
                    <a:lnTo>
                      <a:pt x="443" y="450"/>
                    </a:lnTo>
                    <a:lnTo>
                      <a:pt x="422" y="452"/>
                    </a:lnTo>
                    <a:lnTo>
                      <a:pt x="390" y="504"/>
                    </a:lnTo>
                    <a:lnTo>
                      <a:pt x="394" y="525"/>
                    </a:lnTo>
                    <a:lnTo>
                      <a:pt x="383" y="560"/>
                    </a:lnTo>
                    <a:lnTo>
                      <a:pt x="372" y="561"/>
                    </a:lnTo>
                    <a:lnTo>
                      <a:pt x="337" y="483"/>
                    </a:lnTo>
                    <a:lnTo>
                      <a:pt x="336" y="450"/>
                    </a:lnTo>
                    <a:lnTo>
                      <a:pt x="329" y="462"/>
                    </a:lnTo>
                    <a:lnTo>
                      <a:pt x="306" y="462"/>
                    </a:lnTo>
                    <a:lnTo>
                      <a:pt x="318" y="440"/>
                    </a:lnTo>
                    <a:lnTo>
                      <a:pt x="283" y="416"/>
                    </a:lnTo>
                    <a:lnTo>
                      <a:pt x="248" y="414"/>
                    </a:lnTo>
                    <a:lnTo>
                      <a:pt x="213" y="389"/>
                    </a:lnTo>
                    <a:lnTo>
                      <a:pt x="212" y="414"/>
                    </a:lnTo>
                    <a:lnTo>
                      <a:pt x="225" y="426"/>
                    </a:lnTo>
                    <a:lnTo>
                      <a:pt x="240" y="438"/>
                    </a:lnTo>
                    <a:lnTo>
                      <a:pt x="249" y="437"/>
                    </a:lnTo>
                    <a:lnTo>
                      <a:pt x="221" y="469"/>
                    </a:lnTo>
                    <a:lnTo>
                      <a:pt x="205" y="474"/>
                    </a:lnTo>
                    <a:lnTo>
                      <a:pt x="193" y="478"/>
                    </a:lnTo>
                    <a:lnTo>
                      <a:pt x="193" y="458"/>
                    </a:lnTo>
                    <a:lnTo>
                      <a:pt x="173" y="424"/>
                    </a:lnTo>
                    <a:lnTo>
                      <a:pt x="156" y="400"/>
                    </a:lnTo>
                    <a:lnTo>
                      <a:pt x="148" y="385"/>
                    </a:lnTo>
                    <a:lnTo>
                      <a:pt x="147" y="380"/>
                    </a:lnTo>
                    <a:lnTo>
                      <a:pt x="146" y="375"/>
                    </a:lnTo>
                    <a:lnTo>
                      <a:pt x="159" y="364"/>
                    </a:lnTo>
                    <a:lnTo>
                      <a:pt x="170" y="354"/>
                    </a:lnTo>
                    <a:lnTo>
                      <a:pt x="166" y="328"/>
                    </a:lnTo>
                    <a:lnTo>
                      <a:pt x="159" y="337"/>
                    </a:lnTo>
                    <a:lnTo>
                      <a:pt x="140" y="337"/>
                    </a:lnTo>
                    <a:lnTo>
                      <a:pt x="131" y="326"/>
                    </a:lnTo>
                    <a:lnTo>
                      <a:pt x="131" y="314"/>
                    </a:lnTo>
                    <a:lnTo>
                      <a:pt x="136" y="314"/>
                    </a:lnTo>
                    <a:lnTo>
                      <a:pt x="142" y="308"/>
                    </a:lnTo>
                    <a:lnTo>
                      <a:pt x="146" y="308"/>
                    </a:lnTo>
                    <a:lnTo>
                      <a:pt x="154" y="299"/>
                    </a:lnTo>
                    <a:lnTo>
                      <a:pt x="166" y="299"/>
                    </a:lnTo>
                    <a:lnTo>
                      <a:pt x="177" y="292"/>
                    </a:lnTo>
                    <a:lnTo>
                      <a:pt x="166" y="278"/>
                    </a:lnTo>
                    <a:lnTo>
                      <a:pt x="164" y="278"/>
                    </a:lnTo>
                    <a:lnTo>
                      <a:pt x="164" y="259"/>
                    </a:lnTo>
                    <a:lnTo>
                      <a:pt x="156" y="272"/>
                    </a:lnTo>
                    <a:lnTo>
                      <a:pt x="159" y="275"/>
                    </a:lnTo>
                    <a:lnTo>
                      <a:pt x="162" y="275"/>
                    </a:lnTo>
                    <a:lnTo>
                      <a:pt x="160" y="277"/>
                    </a:lnTo>
                    <a:lnTo>
                      <a:pt x="158" y="278"/>
                    </a:lnTo>
                    <a:lnTo>
                      <a:pt x="152" y="283"/>
                    </a:lnTo>
                    <a:lnTo>
                      <a:pt x="148" y="277"/>
                    </a:lnTo>
                    <a:lnTo>
                      <a:pt x="151" y="273"/>
                    </a:lnTo>
                    <a:lnTo>
                      <a:pt x="146" y="273"/>
                    </a:lnTo>
                    <a:lnTo>
                      <a:pt x="143" y="271"/>
                    </a:lnTo>
                    <a:lnTo>
                      <a:pt x="136" y="278"/>
                    </a:lnTo>
                    <a:lnTo>
                      <a:pt x="136" y="294"/>
                    </a:lnTo>
                    <a:lnTo>
                      <a:pt x="133" y="299"/>
                    </a:lnTo>
                    <a:lnTo>
                      <a:pt x="139" y="309"/>
                    </a:lnTo>
                    <a:lnTo>
                      <a:pt x="135" y="309"/>
                    </a:lnTo>
                    <a:lnTo>
                      <a:pt x="131" y="312"/>
                    </a:lnTo>
                    <a:lnTo>
                      <a:pt x="125" y="312"/>
                    </a:lnTo>
                    <a:lnTo>
                      <a:pt x="119" y="320"/>
                    </a:lnTo>
                    <a:lnTo>
                      <a:pt x="124" y="328"/>
                    </a:lnTo>
                    <a:lnTo>
                      <a:pt x="117" y="338"/>
                    </a:lnTo>
                    <a:lnTo>
                      <a:pt x="109" y="331"/>
                    </a:lnTo>
                    <a:lnTo>
                      <a:pt x="112" y="328"/>
                    </a:lnTo>
                    <a:lnTo>
                      <a:pt x="105" y="318"/>
                    </a:lnTo>
                    <a:lnTo>
                      <a:pt x="105" y="310"/>
                    </a:lnTo>
                    <a:lnTo>
                      <a:pt x="98" y="300"/>
                    </a:lnTo>
                    <a:lnTo>
                      <a:pt x="86" y="285"/>
                    </a:lnTo>
                    <a:lnTo>
                      <a:pt x="86" y="280"/>
                    </a:lnTo>
                    <a:lnTo>
                      <a:pt x="81" y="280"/>
                    </a:lnTo>
                    <a:lnTo>
                      <a:pt x="81" y="288"/>
                    </a:lnTo>
                    <a:lnTo>
                      <a:pt x="90" y="303"/>
                    </a:lnTo>
                    <a:lnTo>
                      <a:pt x="100" y="317"/>
                    </a:lnTo>
                    <a:lnTo>
                      <a:pt x="98" y="319"/>
                    </a:lnTo>
                    <a:lnTo>
                      <a:pt x="96" y="315"/>
                    </a:lnTo>
                    <a:lnTo>
                      <a:pt x="93" y="318"/>
                    </a:lnTo>
                    <a:lnTo>
                      <a:pt x="96" y="323"/>
                    </a:lnTo>
                    <a:lnTo>
                      <a:pt x="92" y="329"/>
                    </a:lnTo>
                    <a:lnTo>
                      <a:pt x="92" y="319"/>
                    </a:lnTo>
                    <a:lnTo>
                      <a:pt x="82" y="307"/>
                    </a:lnTo>
                    <a:lnTo>
                      <a:pt x="73" y="296"/>
                    </a:lnTo>
                    <a:lnTo>
                      <a:pt x="74" y="290"/>
                    </a:lnTo>
                    <a:lnTo>
                      <a:pt x="69" y="285"/>
                    </a:lnTo>
                    <a:lnTo>
                      <a:pt x="66" y="289"/>
                    </a:lnTo>
                    <a:lnTo>
                      <a:pt x="47" y="289"/>
                    </a:lnTo>
                    <a:lnTo>
                      <a:pt x="24" y="321"/>
                    </a:lnTo>
                    <a:lnTo>
                      <a:pt x="9" y="321"/>
                    </a:lnTo>
                    <a:lnTo>
                      <a:pt x="1" y="310"/>
                    </a:lnTo>
                    <a:lnTo>
                      <a:pt x="0" y="293"/>
                    </a:lnTo>
                    <a:lnTo>
                      <a:pt x="5" y="285"/>
                    </a:lnTo>
                    <a:lnTo>
                      <a:pt x="5" y="272"/>
                    </a:lnTo>
                    <a:lnTo>
                      <a:pt x="20" y="271"/>
                    </a:lnTo>
                    <a:lnTo>
                      <a:pt x="28" y="283"/>
                    </a:lnTo>
                    <a:lnTo>
                      <a:pt x="35" y="272"/>
                    </a:lnTo>
                    <a:lnTo>
                      <a:pt x="35" y="255"/>
                    </a:lnTo>
                    <a:lnTo>
                      <a:pt x="28" y="244"/>
                    </a:lnTo>
                    <a:lnTo>
                      <a:pt x="49" y="244"/>
                    </a:lnTo>
                    <a:lnTo>
                      <a:pt x="54" y="237"/>
                    </a:lnTo>
                    <a:lnTo>
                      <a:pt x="57" y="236"/>
                    </a:lnTo>
                    <a:lnTo>
                      <a:pt x="66" y="225"/>
                    </a:lnTo>
                    <a:lnTo>
                      <a:pt x="74" y="225"/>
                    </a:lnTo>
                    <a:lnTo>
                      <a:pt x="75" y="208"/>
                    </a:lnTo>
                    <a:lnTo>
                      <a:pt x="81" y="200"/>
                    </a:lnTo>
                    <a:lnTo>
                      <a:pt x="81" y="208"/>
                    </a:lnTo>
                    <a:lnTo>
                      <a:pt x="86" y="215"/>
                    </a:lnTo>
                    <a:lnTo>
                      <a:pt x="86" y="218"/>
                    </a:lnTo>
                    <a:lnTo>
                      <a:pt x="81" y="225"/>
                    </a:lnTo>
                    <a:lnTo>
                      <a:pt x="90" y="225"/>
                    </a:lnTo>
                    <a:lnTo>
                      <a:pt x="92" y="227"/>
                    </a:lnTo>
                    <a:lnTo>
                      <a:pt x="100" y="219"/>
                    </a:lnTo>
                    <a:lnTo>
                      <a:pt x="105" y="226"/>
                    </a:lnTo>
                    <a:lnTo>
                      <a:pt x="108" y="221"/>
                    </a:lnTo>
                    <a:lnTo>
                      <a:pt x="112" y="216"/>
                    </a:lnTo>
                    <a:lnTo>
                      <a:pt x="112" y="203"/>
                    </a:lnTo>
                    <a:lnTo>
                      <a:pt x="119" y="211"/>
                    </a:lnTo>
                    <a:lnTo>
                      <a:pt x="119" y="194"/>
                    </a:lnTo>
                    <a:lnTo>
                      <a:pt x="129" y="194"/>
                    </a:lnTo>
                    <a:lnTo>
                      <a:pt x="131" y="188"/>
                    </a:lnTo>
                    <a:lnTo>
                      <a:pt x="113" y="188"/>
                    </a:lnTo>
                    <a:lnTo>
                      <a:pt x="109" y="183"/>
                    </a:lnTo>
                    <a:lnTo>
                      <a:pt x="109" y="171"/>
                    </a:lnTo>
                    <a:lnTo>
                      <a:pt x="117" y="159"/>
                    </a:lnTo>
                    <a:lnTo>
                      <a:pt x="125" y="147"/>
                    </a:lnTo>
                    <a:lnTo>
                      <a:pt x="124" y="138"/>
                    </a:lnTo>
                    <a:lnTo>
                      <a:pt x="113" y="149"/>
                    </a:lnTo>
                    <a:lnTo>
                      <a:pt x="105" y="160"/>
                    </a:lnTo>
                    <a:lnTo>
                      <a:pt x="98" y="171"/>
                    </a:lnTo>
                    <a:lnTo>
                      <a:pt x="100" y="184"/>
                    </a:lnTo>
                    <a:lnTo>
                      <a:pt x="104" y="190"/>
                    </a:lnTo>
                    <a:lnTo>
                      <a:pt x="98" y="198"/>
                    </a:lnTo>
                    <a:lnTo>
                      <a:pt x="97" y="208"/>
                    </a:lnTo>
                    <a:lnTo>
                      <a:pt x="92" y="216"/>
                    </a:lnTo>
                    <a:lnTo>
                      <a:pt x="86" y="217"/>
                    </a:lnTo>
                    <a:lnTo>
                      <a:pt x="86" y="197"/>
                    </a:lnTo>
                    <a:lnTo>
                      <a:pt x="82" y="192"/>
                    </a:lnTo>
                    <a:lnTo>
                      <a:pt x="77" y="197"/>
                    </a:lnTo>
                    <a:lnTo>
                      <a:pt x="70" y="197"/>
                    </a:lnTo>
                    <a:lnTo>
                      <a:pt x="71" y="171"/>
                    </a:lnTo>
                    <a:lnTo>
                      <a:pt x="75" y="165"/>
                    </a:lnTo>
                    <a:lnTo>
                      <a:pt x="86" y="150"/>
                    </a:lnTo>
                    <a:lnTo>
                      <a:pt x="100" y="131"/>
                    </a:lnTo>
                    <a:lnTo>
                      <a:pt x="109" y="118"/>
                    </a:lnTo>
                    <a:lnTo>
                      <a:pt x="135" y="101"/>
                    </a:lnTo>
                    <a:lnTo>
                      <a:pt x="159" y="121"/>
                    </a:lnTo>
                    <a:lnTo>
                      <a:pt x="162" y="136"/>
                    </a:lnTo>
                    <a:lnTo>
                      <a:pt x="156" y="137"/>
                    </a:lnTo>
                    <a:lnTo>
                      <a:pt x="147" y="135"/>
                    </a:lnTo>
                    <a:lnTo>
                      <a:pt x="159" y="153"/>
                    </a:lnTo>
                    <a:lnTo>
                      <a:pt x="186" y="140"/>
                    </a:lnTo>
                    <a:lnTo>
                      <a:pt x="210" y="130"/>
                    </a:lnTo>
                    <a:lnTo>
                      <a:pt x="202" y="112"/>
                    </a:lnTo>
                    <a:lnTo>
                      <a:pt x="224" y="83"/>
                    </a:lnTo>
                    <a:lnTo>
                      <a:pt x="239" y="84"/>
                    </a:lnTo>
                    <a:lnTo>
                      <a:pt x="225" y="94"/>
                    </a:lnTo>
                    <a:lnTo>
                      <a:pt x="216" y="111"/>
                    </a:lnTo>
                    <a:lnTo>
                      <a:pt x="213" y="120"/>
                    </a:lnTo>
                    <a:lnTo>
                      <a:pt x="213" y="131"/>
                    </a:lnTo>
                    <a:lnTo>
                      <a:pt x="222" y="137"/>
                    </a:lnTo>
                    <a:lnTo>
                      <a:pt x="235" y="147"/>
                    </a:lnTo>
                    <a:lnTo>
                      <a:pt x="264" y="102"/>
                    </a:lnTo>
                  </a:path>
                </a:pathLst>
              </a:custGeom>
              <a:solidFill>
                <a:srgbClr val="008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grpSp>
      </p:grpSp>
      <p:sp>
        <p:nvSpPr>
          <p:cNvPr id="42" name="Rectangle 38"/>
          <p:cNvSpPr>
            <a:spLocks noChangeArrowheads="1"/>
          </p:cNvSpPr>
          <p:nvPr/>
        </p:nvSpPr>
        <p:spPr bwMode="auto">
          <a:xfrm>
            <a:off x="6964363" y="5705475"/>
            <a:ext cx="111442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defRPr/>
            </a:pPr>
            <a:r>
              <a:rPr lang="en-US" sz="2400" b="1" dirty="0">
                <a:solidFill>
                  <a:srgbClr val="FC0128"/>
                </a:solidFill>
                <a:latin typeface="+mn-lt"/>
              </a:rPr>
              <a:t>PDA</a:t>
            </a:r>
          </a:p>
        </p:txBody>
      </p:sp>
    </p:spTree>
    <p:extLst>
      <p:ext uri="{BB962C8B-B14F-4D97-AF65-F5344CB8AC3E}">
        <p14:creationId xmlns:p14="http://schemas.microsoft.com/office/powerpoint/2010/main" val="3727530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Network</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400" b="1" dirty="0"/>
              <a:t>A </a:t>
            </a:r>
            <a:r>
              <a:rPr lang="en-IE" sz="2400" b="1" i="1" dirty="0"/>
              <a:t>network </a:t>
            </a:r>
            <a:r>
              <a:rPr lang="en-IE" sz="2400" b="1" dirty="0"/>
              <a:t>is a collection of:</a:t>
            </a:r>
          </a:p>
          <a:p>
            <a:pPr lvl="1"/>
            <a:r>
              <a:rPr lang="en-IE" sz="1800" b="1" dirty="0"/>
              <a:t>Computers</a:t>
            </a:r>
          </a:p>
          <a:p>
            <a:pPr lvl="1"/>
            <a:r>
              <a:rPr lang="en-IE" sz="1800" b="1" dirty="0"/>
              <a:t>and other devices</a:t>
            </a:r>
          </a:p>
          <a:p>
            <a:pPr lvl="1"/>
            <a:r>
              <a:rPr lang="en-IE" sz="1800" b="1" dirty="0"/>
              <a:t>that can send data to and receive data from one another, more or less in real time. </a:t>
            </a:r>
          </a:p>
          <a:p>
            <a:r>
              <a:rPr lang="en-IE" sz="2400" b="1" dirty="0"/>
              <a:t>Wired network</a:t>
            </a:r>
          </a:p>
          <a:p>
            <a:pPr lvl="1"/>
            <a:r>
              <a:rPr lang="en-IE" sz="1800" b="1" dirty="0"/>
              <a:t>electromagnetic waves. </a:t>
            </a:r>
          </a:p>
          <a:p>
            <a:r>
              <a:rPr lang="en-IE" sz="2400" b="1" dirty="0"/>
              <a:t>Wireless networks</a:t>
            </a:r>
          </a:p>
          <a:p>
            <a:pPr lvl="1"/>
            <a:r>
              <a:rPr lang="en-IE" sz="1800" b="1" dirty="0"/>
              <a:t>transmit data using radio waves; </a:t>
            </a:r>
          </a:p>
          <a:p>
            <a:r>
              <a:rPr lang="en-IE" sz="2400" b="1" dirty="0"/>
              <a:t>Optical network</a:t>
            </a:r>
          </a:p>
          <a:p>
            <a:pPr lvl="1"/>
            <a:r>
              <a:rPr lang="en-IE" sz="1800" b="1" dirty="0"/>
              <a:t>Long distance transmissions are now carried over </a:t>
            </a:r>
            <a:r>
              <a:rPr lang="en-IE" sz="1800" b="1" dirty="0" err="1"/>
              <a:t>fiber</a:t>
            </a:r>
            <a:r>
              <a:rPr lang="en-IE" sz="1800" b="1" dirty="0"/>
              <a:t>-optic cables that send light waves through glass filaments. </a:t>
            </a:r>
          </a:p>
          <a:p>
            <a:r>
              <a:rPr lang="en-IE" sz="2400" b="1" dirty="0">
                <a:solidFill>
                  <a:schemeClr val="tx2"/>
                </a:solidFill>
              </a:rPr>
              <a:t>Each machine </a:t>
            </a:r>
            <a:r>
              <a:rPr lang="en-IE" sz="2400" b="1" dirty="0"/>
              <a:t>on a network is called a </a:t>
            </a:r>
            <a:r>
              <a:rPr lang="en-IE" sz="2400" b="1" i="1" dirty="0">
                <a:solidFill>
                  <a:schemeClr val="tx2"/>
                </a:solidFill>
              </a:rPr>
              <a:t>node</a:t>
            </a:r>
            <a:r>
              <a:rPr lang="en-IE" sz="2400" b="1" dirty="0"/>
              <a:t>. Most nodes are </a:t>
            </a:r>
            <a:r>
              <a:rPr lang="en-IE" sz="2400" b="1" dirty="0">
                <a:solidFill>
                  <a:schemeClr val="tx2"/>
                </a:solidFill>
              </a:rPr>
              <a:t>computers</a:t>
            </a:r>
            <a:r>
              <a:rPr lang="en-IE" sz="2400" b="1" dirty="0"/>
              <a:t>, but printers, routers, bridges, gateways, dumb terminals, and vending machines (Coca-Cola™) can also be nodes. </a:t>
            </a:r>
          </a:p>
          <a:p>
            <a:r>
              <a:rPr lang="en-IE" sz="2400" b="1" dirty="0"/>
              <a:t>Nodes that are </a:t>
            </a:r>
            <a:r>
              <a:rPr lang="en-IE" sz="2400" b="1" dirty="0">
                <a:solidFill>
                  <a:schemeClr val="tx2"/>
                </a:solidFill>
              </a:rPr>
              <a:t>fully functional </a:t>
            </a:r>
            <a:r>
              <a:rPr lang="en-IE" sz="2400" b="1" dirty="0"/>
              <a:t>computers are also called </a:t>
            </a:r>
            <a:r>
              <a:rPr lang="en-IE" sz="2400" b="1" i="1" dirty="0">
                <a:solidFill>
                  <a:schemeClr val="tx2"/>
                </a:solidFill>
              </a:rPr>
              <a:t>hosts</a:t>
            </a:r>
            <a:r>
              <a:rPr lang="en-IE" sz="2400" b="1" dirty="0"/>
              <a:t>. </a:t>
            </a:r>
          </a:p>
          <a:p>
            <a:pPr lvl="1"/>
            <a:r>
              <a:rPr lang="en-IE" sz="1800" b="1" dirty="0"/>
              <a:t>I will use the word </a:t>
            </a:r>
            <a:r>
              <a:rPr lang="en-IE" sz="1800" b="1" dirty="0">
                <a:solidFill>
                  <a:schemeClr val="tx2"/>
                </a:solidFill>
              </a:rPr>
              <a:t>node</a:t>
            </a:r>
            <a:r>
              <a:rPr lang="en-IE" sz="1800" b="1" dirty="0"/>
              <a:t> to refer to </a:t>
            </a:r>
            <a:r>
              <a:rPr lang="en-IE" sz="1800" b="1" dirty="0">
                <a:solidFill>
                  <a:schemeClr val="tx2"/>
                </a:solidFill>
              </a:rPr>
              <a:t>any device </a:t>
            </a:r>
            <a:r>
              <a:rPr lang="en-IE" sz="1800" b="1" dirty="0"/>
              <a:t>on the network, </a:t>
            </a:r>
          </a:p>
          <a:p>
            <a:pPr lvl="1"/>
            <a:r>
              <a:rPr lang="en-IE" sz="1800" b="1" dirty="0"/>
              <a:t>and the word </a:t>
            </a:r>
            <a:r>
              <a:rPr lang="en-IE" sz="1800" b="1" dirty="0">
                <a:solidFill>
                  <a:schemeClr val="tx2"/>
                </a:solidFill>
              </a:rPr>
              <a:t>host</a:t>
            </a:r>
            <a:r>
              <a:rPr lang="en-IE" sz="1800" b="1" dirty="0"/>
              <a:t> to refer to a node that is a general-purpose </a:t>
            </a:r>
            <a:r>
              <a:rPr lang="en-IE" sz="1800" b="1" dirty="0">
                <a:solidFill>
                  <a:schemeClr val="tx2"/>
                </a:solidFill>
              </a:rPr>
              <a:t>computer</a:t>
            </a:r>
            <a:r>
              <a:rPr lang="en-IE" sz="1800" b="1" dirty="0"/>
              <a:t>.</a:t>
            </a:r>
          </a:p>
        </p:txBody>
      </p:sp>
    </p:spTree>
    <p:extLst>
      <p:ext uri="{BB962C8B-B14F-4D97-AF65-F5344CB8AC3E}">
        <p14:creationId xmlns:p14="http://schemas.microsoft.com/office/powerpoint/2010/main" val="2579280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Network Addresses</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800" b="1" dirty="0"/>
              <a:t>Every </a:t>
            </a:r>
            <a:r>
              <a:rPr lang="en-IE" sz="2800" b="1" dirty="0">
                <a:solidFill>
                  <a:schemeClr val="tx2"/>
                </a:solidFill>
              </a:rPr>
              <a:t>network node has an address</a:t>
            </a:r>
            <a:r>
              <a:rPr lang="en-IE" sz="2800" b="1" dirty="0"/>
              <a:t>, a sequence of bytes that </a:t>
            </a:r>
            <a:r>
              <a:rPr lang="en-IE" sz="2800" b="1" dirty="0">
                <a:solidFill>
                  <a:schemeClr val="tx2"/>
                </a:solidFill>
              </a:rPr>
              <a:t>uniquely identifies </a:t>
            </a:r>
            <a:r>
              <a:rPr lang="en-IE" sz="2800" b="1" dirty="0"/>
              <a:t>it. </a:t>
            </a:r>
          </a:p>
          <a:p>
            <a:r>
              <a:rPr lang="en-IE" sz="2800" b="1" dirty="0"/>
              <a:t>The </a:t>
            </a:r>
            <a:r>
              <a:rPr lang="en-IE" sz="2800" b="1" dirty="0">
                <a:solidFill>
                  <a:schemeClr val="tx2"/>
                </a:solidFill>
              </a:rPr>
              <a:t>more bytes </a:t>
            </a:r>
            <a:r>
              <a:rPr lang="en-IE" sz="2800" b="1" dirty="0"/>
              <a:t>there are in each address, the </a:t>
            </a:r>
            <a:r>
              <a:rPr lang="en-IE" sz="2800" b="1" dirty="0">
                <a:solidFill>
                  <a:schemeClr val="tx2"/>
                </a:solidFill>
              </a:rPr>
              <a:t>more addresses</a:t>
            </a:r>
            <a:r>
              <a:rPr lang="en-IE" sz="2800" b="1" dirty="0"/>
              <a:t> there are available and the </a:t>
            </a:r>
            <a:r>
              <a:rPr lang="en-IE" sz="2800" b="1" dirty="0">
                <a:solidFill>
                  <a:schemeClr val="tx2"/>
                </a:solidFill>
              </a:rPr>
              <a:t>more devices </a:t>
            </a:r>
            <a:r>
              <a:rPr lang="en-IE" sz="2800" b="1" dirty="0"/>
              <a:t>that can be connected to the network simultaneously.</a:t>
            </a:r>
          </a:p>
          <a:p>
            <a:r>
              <a:rPr lang="en-IE" sz="2800" b="1" dirty="0">
                <a:solidFill>
                  <a:schemeClr val="tx2"/>
                </a:solidFill>
              </a:rPr>
              <a:t>Ethernet addresses (Mac addresses):</a:t>
            </a:r>
          </a:p>
          <a:p>
            <a:pPr lvl="1"/>
            <a:r>
              <a:rPr lang="en-IE" sz="1600" b="1" dirty="0"/>
              <a:t>are attached to the </a:t>
            </a:r>
            <a:r>
              <a:rPr lang="en-IE" sz="1600" b="1" dirty="0">
                <a:solidFill>
                  <a:schemeClr val="tx2"/>
                </a:solidFill>
              </a:rPr>
              <a:t>physical Ethernet </a:t>
            </a:r>
            <a:r>
              <a:rPr lang="en-IE" sz="1600" b="1" dirty="0"/>
              <a:t>hardware. </a:t>
            </a:r>
          </a:p>
          <a:p>
            <a:pPr lvl="1"/>
            <a:r>
              <a:rPr lang="en-IE" sz="1600" b="1" dirty="0">
                <a:solidFill>
                  <a:schemeClr val="tx2"/>
                </a:solidFill>
              </a:rPr>
              <a:t>Manufacturers </a:t>
            </a:r>
            <a:r>
              <a:rPr lang="en-IE" sz="1600" b="1" dirty="0"/>
              <a:t>of Ethernet hardware </a:t>
            </a:r>
            <a:r>
              <a:rPr lang="en-IE" sz="1600" b="1" dirty="0">
                <a:solidFill>
                  <a:schemeClr val="tx2"/>
                </a:solidFill>
              </a:rPr>
              <a:t>use preassigned manufacturer codes </a:t>
            </a:r>
            <a:r>
              <a:rPr lang="en-IE" sz="1600" b="1" dirty="0"/>
              <a:t>to make sure there are no conflicts between the addresses in their hardware and the addresses of other manufacturers’ hardware. </a:t>
            </a:r>
          </a:p>
          <a:p>
            <a:r>
              <a:rPr lang="en-IE" sz="2800" b="1" dirty="0">
                <a:solidFill>
                  <a:schemeClr val="tx2"/>
                </a:solidFill>
              </a:rPr>
              <a:t>Internet addresses:</a:t>
            </a:r>
          </a:p>
          <a:p>
            <a:pPr lvl="1"/>
            <a:r>
              <a:rPr lang="en-IE" sz="1600" b="1" dirty="0"/>
              <a:t> are normally assigned to a computer by the organization that is responsible for it. </a:t>
            </a:r>
          </a:p>
          <a:p>
            <a:pPr lvl="1"/>
            <a:r>
              <a:rPr lang="en-IE" sz="1600" b="1" dirty="0"/>
              <a:t>However, the addresses that an organization is allowed to choose for its computers are assigned by the organization’s Internet service provider (ISP). </a:t>
            </a:r>
          </a:p>
          <a:p>
            <a:pPr lvl="1"/>
            <a:r>
              <a:rPr lang="en-IE" sz="1600" b="1" dirty="0"/>
              <a:t>ISPs get their IP addresses from regional Internet registries.</a:t>
            </a:r>
          </a:p>
        </p:txBody>
      </p:sp>
    </p:spTree>
    <p:extLst>
      <p:ext uri="{BB962C8B-B14F-4D97-AF65-F5344CB8AC3E}">
        <p14:creationId xmlns:p14="http://schemas.microsoft.com/office/powerpoint/2010/main" val="1340467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Names</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800" dirty="0"/>
              <a:t>On some kinds of networks, </a:t>
            </a:r>
            <a:r>
              <a:rPr lang="en-IE" sz="2800" dirty="0">
                <a:solidFill>
                  <a:schemeClr val="tx2"/>
                </a:solidFill>
              </a:rPr>
              <a:t>nodes also have text names </a:t>
            </a:r>
            <a:r>
              <a:rPr lang="en-IE" sz="2800" dirty="0"/>
              <a:t>that help human beings identify them such as “www.elharo.com” or “Beth Harold’s Computer.” </a:t>
            </a:r>
          </a:p>
          <a:p>
            <a:r>
              <a:rPr lang="en-IE" sz="2800" dirty="0"/>
              <a:t>At a set moment in time, a </a:t>
            </a:r>
            <a:r>
              <a:rPr lang="en-IE" sz="2800" dirty="0">
                <a:solidFill>
                  <a:schemeClr val="tx2"/>
                </a:solidFill>
              </a:rPr>
              <a:t>particular name normally refers to exactly one address</a:t>
            </a:r>
            <a:r>
              <a:rPr lang="en-IE" sz="2800" dirty="0"/>
              <a:t>. </a:t>
            </a:r>
          </a:p>
          <a:p>
            <a:r>
              <a:rPr lang="en-IE" sz="2800" dirty="0"/>
              <a:t>However, </a:t>
            </a:r>
            <a:r>
              <a:rPr lang="en-IE" sz="2800" dirty="0">
                <a:solidFill>
                  <a:schemeClr val="tx2"/>
                </a:solidFill>
              </a:rPr>
              <a:t>names are not locked to addresses</a:t>
            </a:r>
            <a:r>
              <a:rPr lang="en-IE" sz="2800" dirty="0"/>
              <a:t>. </a:t>
            </a:r>
          </a:p>
          <a:p>
            <a:r>
              <a:rPr lang="en-IE" sz="2800" dirty="0"/>
              <a:t>Names can change while addresses stay the same; likewise, addresses can change while the names stay the same. </a:t>
            </a:r>
          </a:p>
          <a:p>
            <a:r>
              <a:rPr lang="en-IE" sz="2800" dirty="0"/>
              <a:t>One address can have several names and one name can refer to several different addresses.</a:t>
            </a:r>
            <a:endParaRPr lang="en-IE" sz="1600" b="1" dirty="0"/>
          </a:p>
        </p:txBody>
      </p:sp>
    </p:spTree>
    <p:extLst>
      <p:ext uri="{BB962C8B-B14F-4D97-AF65-F5344CB8AC3E}">
        <p14:creationId xmlns:p14="http://schemas.microsoft.com/office/powerpoint/2010/main" val="1445969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Packets</a:t>
            </a:r>
            <a:endParaRPr lang="en-IE" dirty="0"/>
          </a:p>
        </p:txBody>
      </p:sp>
      <p:sp>
        <p:nvSpPr>
          <p:cNvPr id="3" name="Content Placeholder 2"/>
          <p:cNvSpPr>
            <a:spLocks noGrp="1"/>
          </p:cNvSpPr>
          <p:nvPr>
            <p:ph idx="1"/>
          </p:nvPr>
        </p:nvSpPr>
        <p:spPr>
          <a:xfrm>
            <a:off x="0" y="533400"/>
            <a:ext cx="9144000" cy="6324600"/>
          </a:xfrm>
        </p:spPr>
        <p:txBody>
          <a:bodyPr>
            <a:noAutofit/>
          </a:bodyPr>
          <a:lstStyle/>
          <a:p>
            <a:r>
              <a:rPr lang="en-IE" sz="2800" dirty="0"/>
              <a:t>All modern computer networks are </a:t>
            </a:r>
            <a:r>
              <a:rPr lang="en-IE" sz="2800" i="1" dirty="0">
                <a:solidFill>
                  <a:schemeClr val="tx2"/>
                </a:solidFill>
              </a:rPr>
              <a:t>packet-switched </a:t>
            </a:r>
            <a:r>
              <a:rPr lang="en-IE" sz="2800" dirty="0">
                <a:solidFill>
                  <a:schemeClr val="tx2"/>
                </a:solidFill>
              </a:rPr>
              <a:t>networks: </a:t>
            </a:r>
          </a:p>
          <a:p>
            <a:r>
              <a:rPr lang="en-IE" sz="2800" dirty="0"/>
              <a:t>Data traveling on the network is broken into chunks called </a:t>
            </a:r>
            <a:r>
              <a:rPr lang="en-IE" sz="2800" i="1" dirty="0">
                <a:solidFill>
                  <a:schemeClr val="tx2"/>
                </a:solidFill>
              </a:rPr>
              <a:t>packets</a:t>
            </a:r>
            <a:r>
              <a:rPr lang="en-IE" sz="2800" i="1" dirty="0"/>
              <a:t> </a:t>
            </a:r>
            <a:r>
              <a:rPr lang="en-IE" sz="2800" dirty="0"/>
              <a:t>and each packet is handled </a:t>
            </a:r>
            <a:r>
              <a:rPr lang="en-IE" sz="2800" dirty="0">
                <a:solidFill>
                  <a:schemeClr val="tx2"/>
                </a:solidFill>
              </a:rPr>
              <a:t>separately</a:t>
            </a:r>
            <a:r>
              <a:rPr lang="en-IE" sz="2800" dirty="0"/>
              <a:t>. </a:t>
            </a:r>
          </a:p>
          <a:p>
            <a:r>
              <a:rPr lang="en-IE" sz="2800" dirty="0"/>
              <a:t>Each packet contains information about who sent it and where it’s going (i.e. source and destination addresses). </a:t>
            </a:r>
          </a:p>
          <a:p>
            <a:r>
              <a:rPr lang="en-IE" sz="2800" dirty="0"/>
              <a:t>Advantage:</a:t>
            </a:r>
          </a:p>
          <a:p>
            <a:pPr lvl="1"/>
            <a:r>
              <a:rPr lang="en-IE" sz="2000" dirty="0"/>
              <a:t>The most important advantage of breaking data into individually addressed packets is that packets from many ongoing exchanges can travel on one wire, which makes it much cheaper to build a network: many computers can share the same wire without interfering. </a:t>
            </a:r>
          </a:p>
          <a:p>
            <a:r>
              <a:rPr lang="en-IE" sz="2800" dirty="0"/>
              <a:t>In contrast, when you make a local telephone call within the same exchange on a traditional phone line, you have essentially reserved a wire from your phone to the phone of the person you’re calling </a:t>
            </a:r>
            <a:r>
              <a:rPr lang="en-IE" sz="2800" i="1" dirty="0">
                <a:solidFill>
                  <a:schemeClr val="tx2"/>
                </a:solidFill>
              </a:rPr>
              <a:t>(circuit-switching)</a:t>
            </a:r>
            <a:r>
              <a:rPr lang="en-IE" sz="2800" dirty="0"/>
              <a:t>.</a:t>
            </a:r>
            <a:r>
              <a:rPr lang="en-IE" sz="2800" i="1" dirty="0">
                <a:solidFill>
                  <a:schemeClr val="tx2"/>
                </a:solidFill>
              </a:rPr>
              <a:t> </a:t>
            </a:r>
          </a:p>
        </p:txBody>
      </p:sp>
    </p:spTree>
    <p:extLst>
      <p:ext uri="{BB962C8B-B14F-4D97-AF65-F5344CB8AC3E}">
        <p14:creationId xmlns:p14="http://schemas.microsoft.com/office/powerpoint/2010/main" val="1580887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Protocol</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800" dirty="0"/>
              <a:t>A </a:t>
            </a:r>
            <a:r>
              <a:rPr lang="en-IE" sz="2800" i="1" dirty="0">
                <a:solidFill>
                  <a:schemeClr val="tx2"/>
                </a:solidFill>
              </a:rPr>
              <a:t>protocol</a:t>
            </a:r>
            <a:r>
              <a:rPr lang="en-IE" sz="2800" i="1" dirty="0"/>
              <a:t> </a:t>
            </a:r>
            <a:r>
              <a:rPr lang="en-IE" sz="2800" dirty="0"/>
              <a:t>is a precise set of rules defining how computers communicate: </a:t>
            </a:r>
            <a:r>
              <a:rPr lang="en-IE" sz="2800" dirty="0">
                <a:solidFill>
                  <a:schemeClr val="tx2"/>
                </a:solidFill>
              </a:rPr>
              <a:t>the format of addresses</a:t>
            </a:r>
            <a:r>
              <a:rPr lang="en-IE" sz="2800" dirty="0"/>
              <a:t>, </a:t>
            </a:r>
            <a:r>
              <a:rPr lang="en-IE" sz="2800" dirty="0">
                <a:solidFill>
                  <a:schemeClr val="tx2"/>
                </a:solidFill>
              </a:rPr>
              <a:t>how data is split into packets</a:t>
            </a:r>
            <a:r>
              <a:rPr lang="en-IE" sz="2800" dirty="0"/>
              <a:t>, and so on. </a:t>
            </a:r>
          </a:p>
          <a:p>
            <a:r>
              <a:rPr lang="en-IE" sz="2800" dirty="0"/>
              <a:t>There are many different protocols defining different aspects of network communication. </a:t>
            </a:r>
          </a:p>
          <a:p>
            <a:r>
              <a:rPr lang="en-IE" sz="2800" dirty="0"/>
              <a:t>For example, the Hypertext Transfer Protocol (</a:t>
            </a:r>
            <a:r>
              <a:rPr lang="en-IE" sz="2800" dirty="0">
                <a:solidFill>
                  <a:schemeClr val="tx2"/>
                </a:solidFill>
              </a:rPr>
              <a:t>HTTP</a:t>
            </a:r>
            <a:r>
              <a:rPr lang="en-IE" sz="2800" dirty="0"/>
              <a:t>) defines </a:t>
            </a:r>
            <a:r>
              <a:rPr lang="en-IE" sz="2800" dirty="0">
                <a:solidFill>
                  <a:schemeClr val="tx2"/>
                </a:solidFill>
              </a:rPr>
              <a:t>how web browsers and servers communicate</a:t>
            </a:r>
            <a:r>
              <a:rPr lang="en-IE" sz="2800" dirty="0"/>
              <a:t>; at the other end of the spectrum, </a:t>
            </a:r>
            <a:r>
              <a:rPr lang="en-IE" sz="2800" dirty="0">
                <a:solidFill>
                  <a:schemeClr val="tx2"/>
                </a:solidFill>
              </a:rPr>
              <a:t>the IEEE 802.3 standard defines a protocol for how bits are encoded as electrical signals</a:t>
            </a:r>
            <a:r>
              <a:rPr lang="en-IE" sz="2800" dirty="0"/>
              <a:t> on a particular type of wire.</a:t>
            </a:r>
          </a:p>
        </p:txBody>
      </p:sp>
    </p:spTree>
    <p:extLst>
      <p:ext uri="{BB962C8B-B14F-4D97-AF65-F5344CB8AC3E}">
        <p14:creationId xmlns:p14="http://schemas.microsoft.com/office/powerpoint/2010/main" val="1902846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Protocol…(2)</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800" dirty="0">
                <a:solidFill>
                  <a:schemeClr val="tx2"/>
                </a:solidFill>
              </a:rPr>
              <a:t>Open, published protocol standards allow software and equipment from different vendors to communicate with one another. </a:t>
            </a:r>
          </a:p>
          <a:p>
            <a:r>
              <a:rPr lang="en-IE" sz="2800" dirty="0"/>
              <a:t>A web server doesn’t care whether the client is a Unix workstation, an Android phone, or an iPad, </a:t>
            </a:r>
            <a:r>
              <a:rPr lang="en-IE" sz="2800" dirty="0">
                <a:solidFill>
                  <a:schemeClr val="tx2"/>
                </a:solidFill>
              </a:rPr>
              <a:t>because all clients speak the same HTTP protocol</a:t>
            </a:r>
            <a:r>
              <a:rPr lang="en-IE" sz="2800" dirty="0"/>
              <a:t> regardless of platform.</a:t>
            </a:r>
          </a:p>
        </p:txBody>
      </p:sp>
    </p:spTree>
    <p:extLst>
      <p:ext uri="{BB962C8B-B14F-4D97-AF65-F5344CB8AC3E}">
        <p14:creationId xmlns:p14="http://schemas.microsoft.com/office/powerpoint/2010/main" val="2572411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Network Communication</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800" b="1" dirty="0"/>
              <a:t>Sending data across a network is a </a:t>
            </a:r>
            <a:r>
              <a:rPr lang="en-IE" sz="2800" b="1" dirty="0">
                <a:solidFill>
                  <a:schemeClr val="tx2"/>
                </a:solidFill>
              </a:rPr>
              <a:t>complex operation </a:t>
            </a:r>
            <a:r>
              <a:rPr lang="en-IE" sz="2800" b="1" dirty="0"/>
              <a:t>that must be carefully tuned to the </a:t>
            </a:r>
            <a:r>
              <a:rPr lang="en-IE" sz="2800" b="1" dirty="0">
                <a:solidFill>
                  <a:schemeClr val="tx2"/>
                </a:solidFill>
              </a:rPr>
              <a:t>physical characteristics of the network as well as the logical character of the data </a:t>
            </a:r>
            <a:r>
              <a:rPr lang="en-IE" sz="2800" b="1" dirty="0"/>
              <a:t>being sent. </a:t>
            </a:r>
          </a:p>
          <a:p>
            <a:r>
              <a:rPr lang="en-IE" sz="2800" b="1" dirty="0"/>
              <a:t>Software that sends data across a network must understand </a:t>
            </a:r>
            <a:r>
              <a:rPr lang="en-IE" sz="2800" b="1" dirty="0">
                <a:solidFill>
                  <a:schemeClr val="tx2"/>
                </a:solidFill>
              </a:rPr>
              <a:t>how to avoid collisions between packets</a:t>
            </a:r>
            <a:r>
              <a:rPr lang="en-IE" sz="2800" b="1" dirty="0"/>
              <a:t>, </a:t>
            </a:r>
            <a:r>
              <a:rPr lang="en-IE" sz="2800" b="1" dirty="0">
                <a:solidFill>
                  <a:schemeClr val="tx2"/>
                </a:solidFill>
              </a:rPr>
              <a:t>convert digital data to </a:t>
            </a:r>
            <a:r>
              <a:rPr lang="en-IE" sz="2800" b="1" dirty="0" err="1">
                <a:solidFill>
                  <a:schemeClr val="tx2"/>
                </a:solidFill>
              </a:rPr>
              <a:t>analog</a:t>
            </a:r>
            <a:r>
              <a:rPr lang="en-IE" sz="2800" b="1" dirty="0">
                <a:solidFill>
                  <a:schemeClr val="tx2"/>
                </a:solidFill>
              </a:rPr>
              <a:t> signals, detect and correct errors, route packet</a:t>
            </a:r>
            <a:r>
              <a:rPr lang="en-IE" sz="2800" b="1" dirty="0"/>
              <a:t>s from one host to another, and more.</a:t>
            </a:r>
          </a:p>
          <a:p>
            <a:r>
              <a:rPr lang="en-IE" sz="2800" b="1" dirty="0"/>
              <a:t>The process is further complicated when the requirement to support </a:t>
            </a:r>
            <a:r>
              <a:rPr lang="en-IE" sz="2800" b="1" dirty="0">
                <a:solidFill>
                  <a:schemeClr val="tx2"/>
                </a:solidFill>
              </a:rPr>
              <a:t>multiple operating systems </a:t>
            </a:r>
            <a:r>
              <a:rPr lang="en-IE" sz="2800" b="1" dirty="0"/>
              <a:t>and </a:t>
            </a:r>
            <a:r>
              <a:rPr lang="en-IE" sz="2800" b="1" dirty="0">
                <a:solidFill>
                  <a:schemeClr val="tx2"/>
                </a:solidFill>
              </a:rPr>
              <a:t>heterogeneous network cabling</a:t>
            </a:r>
            <a:r>
              <a:rPr lang="en-IE" sz="2800" b="1" dirty="0"/>
              <a:t> is added.</a:t>
            </a:r>
          </a:p>
        </p:txBody>
      </p:sp>
    </p:spTree>
    <p:extLst>
      <p:ext uri="{BB962C8B-B14F-4D97-AF65-F5344CB8AC3E}">
        <p14:creationId xmlns:p14="http://schemas.microsoft.com/office/powerpoint/2010/main" val="3262293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Network Layers</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800" b="1" dirty="0">
                <a:solidFill>
                  <a:schemeClr val="tx2"/>
                </a:solidFill>
              </a:rPr>
              <a:t>To hide most of this complexity </a:t>
            </a:r>
            <a:r>
              <a:rPr lang="en-IE" sz="2800" b="1" dirty="0"/>
              <a:t>from the application developer and end user, the different aspects of </a:t>
            </a:r>
            <a:r>
              <a:rPr lang="en-IE" sz="2800" b="1" dirty="0">
                <a:solidFill>
                  <a:schemeClr val="tx2"/>
                </a:solidFill>
              </a:rPr>
              <a:t>network communication</a:t>
            </a:r>
            <a:r>
              <a:rPr lang="en-IE" sz="2800" b="1" dirty="0"/>
              <a:t> are separated into </a:t>
            </a:r>
            <a:r>
              <a:rPr lang="en-IE" sz="2800" b="1" dirty="0">
                <a:solidFill>
                  <a:schemeClr val="tx2"/>
                </a:solidFill>
              </a:rPr>
              <a:t>multiple layers</a:t>
            </a:r>
            <a:r>
              <a:rPr lang="en-IE" sz="2800" b="1" dirty="0"/>
              <a:t>. </a:t>
            </a:r>
          </a:p>
          <a:p>
            <a:r>
              <a:rPr lang="en-IE" sz="2800" b="1" dirty="0">
                <a:solidFill>
                  <a:schemeClr val="tx2"/>
                </a:solidFill>
              </a:rPr>
              <a:t>Each layer </a:t>
            </a:r>
            <a:r>
              <a:rPr lang="en-IE" sz="2800" b="1" dirty="0"/>
              <a:t>represents a different level of </a:t>
            </a:r>
            <a:r>
              <a:rPr lang="en-IE" sz="2800" b="1" dirty="0">
                <a:solidFill>
                  <a:schemeClr val="tx2"/>
                </a:solidFill>
              </a:rPr>
              <a:t>abstraction</a:t>
            </a:r>
            <a:r>
              <a:rPr lang="en-IE" sz="2800" b="1" dirty="0"/>
              <a:t> between the physical hardware (i.e., the wires and electricity) and the information being transmitted. </a:t>
            </a:r>
          </a:p>
          <a:p>
            <a:r>
              <a:rPr lang="en-IE" sz="2800" b="1" dirty="0"/>
              <a:t>In theory, </a:t>
            </a:r>
            <a:r>
              <a:rPr lang="en-IE" sz="2800" b="1" dirty="0">
                <a:solidFill>
                  <a:schemeClr val="tx2"/>
                </a:solidFill>
              </a:rPr>
              <a:t>each layer only talks to the layers immediately above and immediately below it</a:t>
            </a:r>
            <a:r>
              <a:rPr lang="en-IE" sz="2800" b="1" dirty="0"/>
              <a:t>. </a:t>
            </a:r>
          </a:p>
          <a:p>
            <a:r>
              <a:rPr lang="en-IE" sz="2800" b="1" dirty="0"/>
              <a:t>Separating the network into layers lets you modify or even </a:t>
            </a:r>
            <a:r>
              <a:rPr lang="en-IE" sz="2800" b="1" dirty="0">
                <a:solidFill>
                  <a:schemeClr val="tx2"/>
                </a:solidFill>
              </a:rPr>
              <a:t>replace the software in one layer without affecting the others</a:t>
            </a:r>
            <a:r>
              <a:rPr lang="en-IE" sz="2800" b="1" dirty="0"/>
              <a:t>, as long as the interfaces between the layers stay the same.</a:t>
            </a:r>
          </a:p>
        </p:txBody>
      </p:sp>
    </p:spTree>
    <p:extLst>
      <p:ext uri="{BB962C8B-B14F-4D97-AF65-F5344CB8AC3E}">
        <p14:creationId xmlns:p14="http://schemas.microsoft.com/office/powerpoint/2010/main" val="436785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42150"/>
            <a:ext cx="7620000" cy="47383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560070" y="2743200"/>
            <a:ext cx="4446270" cy="639762"/>
          </a:xfrm>
        </p:spPr>
        <p:txBody>
          <a:bodyPr>
            <a:normAutofit fontScale="90000"/>
          </a:bodyPr>
          <a:lstStyle/>
          <a:p>
            <a:r>
              <a:rPr lang="en-US" dirty="0"/>
              <a:t>Protocols</a:t>
            </a:r>
            <a:endParaRPr lang="en-IE" dirty="0"/>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4924425"/>
            <a:ext cx="7210425" cy="1933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itle 1"/>
          <p:cNvSpPr txBox="1">
            <a:spLocks/>
          </p:cNvSpPr>
          <p:nvPr/>
        </p:nvSpPr>
        <p:spPr>
          <a:xfrm>
            <a:off x="0" y="4343400"/>
            <a:ext cx="3200400" cy="639762"/>
          </a:xfrm>
          <a:prstGeom prst="rect">
            <a:avLst/>
          </a:prstGeom>
        </p:spPr>
        <p:txBody>
          <a:bodyPr vert="horz" lIns="91440" tIns="45720" rIns="91440" bIns="45720" rtlCol="0" anchor="ctr">
            <a:normAutofit fontScale="90000" lnSpcReduction="20000"/>
          </a:bodyPr>
          <a:lstStyle>
            <a:lvl1pPr algn="ctr" defTabSz="914400" rtl="0" eaLnBrk="1" latinLnBrk="0" hangingPunct="1">
              <a:spcBef>
                <a:spcPct val="0"/>
              </a:spcBef>
              <a:buNone/>
              <a:defRPr sz="4400" kern="1200">
                <a:solidFill>
                  <a:schemeClr val="tx2"/>
                </a:solidFill>
                <a:latin typeface="+mj-lt"/>
                <a:ea typeface="+mj-ea"/>
                <a:cs typeface="+mj-cs"/>
              </a:defRPr>
            </a:lvl1pPr>
          </a:lstStyle>
          <a:p>
            <a:r>
              <a:rPr lang="en-US" dirty="0"/>
              <a:t>TCP / IP Layers</a:t>
            </a:r>
            <a:endParaRPr lang="en-IE" dirty="0"/>
          </a:p>
        </p:txBody>
      </p:sp>
    </p:spTree>
    <p:extLst>
      <p:ext uri="{BB962C8B-B14F-4D97-AF65-F5344CB8AC3E}">
        <p14:creationId xmlns:p14="http://schemas.microsoft.com/office/powerpoint/2010/main" val="4123713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Image result for tcp ip lay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E"/>
          </a:p>
        </p:txBody>
      </p:sp>
      <p:sp>
        <p:nvSpPr>
          <p:cNvPr id="5" name="AutoShape 4" descr="Image result for tcp ip lay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E"/>
          </a:p>
        </p:txBody>
      </p:sp>
      <p:pic>
        <p:nvPicPr>
          <p:cNvPr id="1434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74" y="457200"/>
            <a:ext cx="9185274" cy="5791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058734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2819400" y="22609"/>
            <a:ext cx="3200400" cy="639762"/>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2"/>
                </a:solidFill>
                <a:latin typeface="+mj-lt"/>
                <a:ea typeface="+mj-ea"/>
                <a:cs typeface="+mj-cs"/>
              </a:defRPr>
            </a:lvl1pPr>
          </a:lstStyle>
          <a:p>
            <a:r>
              <a:rPr lang="en-US" dirty="0"/>
              <a:t>TCP / IP VS OSI Layers</a:t>
            </a:r>
            <a:endParaRPr lang="en-IE" dirty="0"/>
          </a:p>
        </p:txBody>
      </p:sp>
      <p:pic>
        <p:nvPicPr>
          <p:cNvPr id="13314" name="Picture 2" descr="Image result for tcp ip lay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837" y="762000"/>
            <a:ext cx="7629526" cy="5864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02072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TCP / IP Layers</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800" b="1" dirty="0"/>
              <a:t>In this model, applications in the </a:t>
            </a:r>
            <a:r>
              <a:rPr lang="en-IE" sz="2800" b="1" dirty="0">
                <a:solidFill>
                  <a:schemeClr val="tx2"/>
                </a:solidFill>
              </a:rPr>
              <a:t>application layer talk only to the transport layer</a:t>
            </a:r>
            <a:r>
              <a:rPr lang="en-IE" sz="2800" b="1" dirty="0"/>
              <a:t>. The </a:t>
            </a:r>
            <a:r>
              <a:rPr lang="en-IE" sz="2800" b="1" dirty="0">
                <a:solidFill>
                  <a:schemeClr val="tx2"/>
                </a:solidFill>
              </a:rPr>
              <a:t>transport layer </a:t>
            </a:r>
            <a:r>
              <a:rPr lang="en-IE" sz="2800" b="1" dirty="0"/>
              <a:t>talks only to the </a:t>
            </a:r>
            <a:r>
              <a:rPr lang="en-IE" sz="2800" b="1" dirty="0">
                <a:solidFill>
                  <a:schemeClr val="tx2"/>
                </a:solidFill>
              </a:rPr>
              <a:t>application layer</a:t>
            </a:r>
            <a:r>
              <a:rPr lang="en-IE" sz="2800" b="1" dirty="0"/>
              <a:t> and the </a:t>
            </a:r>
            <a:r>
              <a:rPr lang="en-IE" sz="2800" b="1" dirty="0">
                <a:solidFill>
                  <a:schemeClr val="tx2"/>
                </a:solidFill>
              </a:rPr>
              <a:t>Internet layer. </a:t>
            </a:r>
          </a:p>
          <a:p>
            <a:r>
              <a:rPr lang="en-IE" sz="2800" b="1" dirty="0"/>
              <a:t>The </a:t>
            </a:r>
            <a:r>
              <a:rPr lang="en-IE" sz="2800" b="1" dirty="0">
                <a:solidFill>
                  <a:schemeClr val="tx2"/>
                </a:solidFill>
              </a:rPr>
              <a:t>Internet layer in turn talks only to the host-to-network layer </a:t>
            </a:r>
            <a:r>
              <a:rPr lang="en-IE" sz="2800" b="1" dirty="0"/>
              <a:t>and the </a:t>
            </a:r>
            <a:r>
              <a:rPr lang="en-IE" sz="2800" b="1" dirty="0">
                <a:solidFill>
                  <a:schemeClr val="tx2"/>
                </a:solidFill>
              </a:rPr>
              <a:t>transport layer</a:t>
            </a:r>
            <a:r>
              <a:rPr lang="en-IE" sz="2800" b="1" dirty="0"/>
              <a:t>, never directly to the application layer. </a:t>
            </a:r>
          </a:p>
          <a:p>
            <a:r>
              <a:rPr lang="en-IE" sz="2800" b="1" dirty="0">
                <a:solidFill>
                  <a:schemeClr val="tx2"/>
                </a:solidFill>
              </a:rPr>
              <a:t>The host-to-network layer moves the data across the wires, </a:t>
            </a:r>
            <a:r>
              <a:rPr lang="en-IE" sz="2800" b="1" dirty="0" err="1">
                <a:solidFill>
                  <a:schemeClr val="tx2"/>
                </a:solidFill>
              </a:rPr>
              <a:t>fiber</a:t>
            </a:r>
            <a:r>
              <a:rPr lang="en-IE" sz="2800" b="1" dirty="0">
                <a:solidFill>
                  <a:schemeClr val="tx2"/>
                </a:solidFill>
              </a:rPr>
              <a:t>-optic cables, or other medium to the host-to-network layer on the remote system, which then moves the data up the layers </a:t>
            </a:r>
            <a:r>
              <a:rPr lang="en-IE" sz="2800" b="1" dirty="0"/>
              <a:t>to the application on the remote system.</a:t>
            </a:r>
          </a:p>
          <a:p>
            <a:r>
              <a:rPr lang="en-IE" sz="2800" b="1" dirty="0"/>
              <a:t>For example, when a web browser sends a request to a web server to retrieve a page, the browser is actually talking to the transport layer on the local client machine. </a:t>
            </a:r>
          </a:p>
        </p:txBody>
      </p:sp>
    </p:spTree>
    <p:extLst>
      <p:ext uri="{BB962C8B-B14F-4D97-AF65-F5344CB8AC3E}">
        <p14:creationId xmlns:p14="http://schemas.microsoft.com/office/powerpoint/2010/main" val="1135887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TCP / IP Layers…(2)</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800" b="1" dirty="0"/>
              <a:t>The transport layer </a:t>
            </a:r>
            <a:r>
              <a:rPr lang="en-IE" sz="2800" b="1" dirty="0">
                <a:solidFill>
                  <a:schemeClr val="tx2"/>
                </a:solidFill>
              </a:rPr>
              <a:t>breaks the request into TCP segments</a:t>
            </a:r>
            <a:r>
              <a:rPr lang="en-IE" sz="2800" b="1" dirty="0"/>
              <a:t>, adds some </a:t>
            </a:r>
            <a:r>
              <a:rPr lang="en-IE" sz="2800" b="1" dirty="0">
                <a:solidFill>
                  <a:schemeClr val="tx2"/>
                </a:solidFill>
              </a:rPr>
              <a:t>sequence numbers and checksums </a:t>
            </a:r>
            <a:r>
              <a:rPr lang="en-IE" sz="2800" b="1" dirty="0"/>
              <a:t>to the data, and then passes the request to the local </a:t>
            </a:r>
            <a:r>
              <a:rPr lang="en-IE" sz="2800" b="1" dirty="0">
                <a:solidFill>
                  <a:schemeClr val="tx2"/>
                </a:solidFill>
              </a:rPr>
              <a:t>internet layer</a:t>
            </a:r>
            <a:r>
              <a:rPr lang="en-IE" sz="2800" b="1" dirty="0"/>
              <a:t>. </a:t>
            </a:r>
          </a:p>
          <a:p>
            <a:r>
              <a:rPr lang="en-IE" sz="2800" b="1" dirty="0">
                <a:solidFill>
                  <a:schemeClr val="tx2"/>
                </a:solidFill>
              </a:rPr>
              <a:t>The internet layer fragments the segments into IP datagrams of the necessary size for the local network and passes them to the host-to-network </a:t>
            </a:r>
            <a:r>
              <a:rPr lang="en-IE" sz="2800" b="1" dirty="0"/>
              <a:t>layer for transmission onto the wire. </a:t>
            </a:r>
          </a:p>
          <a:p>
            <a:r>
              <a:rPr lang="en-IE" sz="2800" b="1" dirty="0"/>
              <a:t>The </a:t>
            </a:r>
            <a:r>
              <a:rPr lang="en-IE" sz="2800" b="1" dirty="0">
                <a:solidFill>
                  <a:schemeClr val="tx2"/>
                </a:solidFill>
              </a:rPr>
              <a:t>host-to-network layer encodes the digital data as </a:t>
            </a:r>
            <a:r>
              <a:rPr lang="en-IE" sz="2800" b="1" dirty="0" err="1">
                <a:solidFill>
                  <a:schemeClr val="tx2"/>
                </a:solidFill>
              </a:rPr>
              <a:t>analog</a:t>
            </a:r>
            <a:r>
              <a:rPr lang="en-IE" sz="2800" b="1" dirty="0">
                <a:solidFill>
                  <a:schemeClr val="tx2"/>
                </a:solidFill>
              </a:rPr>
              <a:t> signals </a:t>
            </a:r>
            <a:r>
              <a:rPr lang="en-IE" sz="2800" b="1" dirty="0"/>
              <a:t>appropriate for the particular physical medium and sends the request out the wire where it will be read by the host-to-network layer of the remote system to which it’s addressed.</a:t>
            </a:r>
          </a:p>
        </p:txBody>
      </p:sp>
    </p:spTree>
    <p:extLst>
      <p:ext uri="{BB962C8B-B14F-4D97-AF65-F5344CB8AC3E}">
        <p14:creationId xmlns:p14="http://schemas.microsoft.com/office/powerpoint/2010/main" val="2608842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TCP / IP Layers…(3)</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400" b="1" dirty="0">
                <a:solidFill>
                  <a:schemeClr val="tx2"/>
                </a:solidFill>
              </a:rPr>
              <a:t>The host-to-network layer on the remote system decodes the </a:t>
            </a:r>
            <a:r>
              <a:rPr lang="en-IE" sz="2400" b="1" dirty="0" err="1">
                <a:solidFill>
                  <a:schemeClr val="tx2"/>
                </a:solidFill>
              </a:rPr>
              <a:t>analog</a:t>
            </a:r>
            <a:r>
              <a:rPr lang="en-IE" sz="2400" b="1" dirty="0">
                <a:solidFill>
                  <a:schemeClr val="tx2"/>
                </a:solidFill>
              </a:rPr>
              <a:t> signals into digital data</a:t>
            </a:r>
            <a:r>
              <a:rPr lang="en-IE" sz="2400" b="1" dirty="0"/>
              <a:t>, then passes the resulting IP datagrams to the server’s internet layer. </a:t>
            </a:r>
          </a:p>
          <a:p>
            <a:r>
              <a:rPr lang="en-IE" sz="2400" b="1" dirty="0"/>
              <a:t>The </a:t>
            </a:r>
            <a:r>
              <a:rPr lang="en-IE" sz="2400" b="1" dirty="0">
                <a:solidFill>
                  <a:schemeClr val="tx2"/>
                </a:solidFill>
              </a:rPr>
              <a:t>internet layer </a:t>
            </a:r>
            <a:r>
              <a:rPr lang="en-IE" sz="2400" b="1" dirty="0"/>
              <a:t>does some simple checks to see that the </a:t>
            </a:r>
            <a:r>
              <a:rPr lang="en-IE" sz="2400" b="1" dirty="0">
                <a:solidFill>
                  <a:schemeClr val="tx2"/>
                </a:solidFill>
              </a:rPr>
              <a:t>IP datagrams</a:t>
            </a:r>
            <a:r>
              <a:rPr lang="en-IE" sz="2400" b="1" dirty="0"/>
              <a:t> aren’t corrupt, </a:t>
            </a:r>
            <a:r>
              <a:rPr lang="en-IE" sz="2400" b="1" dirty="0">
                <a:solidFill>
                  <a:schemeClr val="tx2"/>
                </a:solidFill>
              </a:rPr>
              <a:t>reassembles them if they’ve been fragmented</a:t>
            </a:r>
            <a:r>
              <a:rPr lang="en-IE" sz="2400" b="1" dirty="0"/>
              <a:t>, and passes them to the </a:t>
            </a:r>
            <a:r>
              <a:rPr lang="en-IE" sz="2400" b="1" dirty="0">
                <a:solidFill>
                  <a:schemeClr val="tx2"/>
                </a:solidFill>
              </a:rPr>
              <a:t>server’s transport layer</a:t>
            </a:r>
            <a:r>
              <a:rPr lang="en-IE" sz="2400" b="1" dirty="0"/>
              <a:t>. </a:t>
            </a:r>
          </a:p>
          <a:p>
            <a:r>
              <a:rPr lang="en-IE" sz="2400" b="1" dirty="0"/>
              <a:t>The server’s transport layer checks to see that all the data arrived and </a:t>
            </a:r>
            <a:r>
              <a:rPr lang="en-IE" sz="2400" b="1" dirty="0">
                <a:solidFill>
                  <a:schemeClr val="tx2"/>
                </a:solidFill>
              </a:rPr>
              <a:t>requests retransmission of any missing or corrupt pieces</a:t>
            </a:r>
            <a:r>
              <a:rPr lang="en-IE" sz="2400" b="1" dirty="0"/>
              <a:t>. </a:t>
            </a:r>
          </a:p>
          <a:p>
            <a:r>
              <a:rPr lang="en-IE" sz="2400" b="1" dirty="0"/>
              <a:t>This request actually goes back down through the server’s internet layer, through the server’s host-to-network layer, and back to the client system, where it bubbles back up to the client’s transport layer, which retransmits the missing data back down through the layers. This is all transparent to the application layer.</a:t>
            </a:r>
          </a:p>
        </p:txBody>
      </p:sp>
    </p:spTree>
    <p:extLst>
      <p:ext uri="{BB962C8B-B14F-4D97-AF65-F5344CB8AC3E}">
        <p14:creationId xmlns:p14="http://schemas.microsoft.com/office/powerpoint/2010/main" val="279426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TCP / IP Layers…(4)</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800" b="1" dirty="0"/>
              <a:t>Once the </a:t>
            </a:r>
            <a:r>
              <a:rPr lang="en-IE" sz="2800" b="1" dirty="0">
                <a:solidFill>
                  <a:schemeClr val="tx2"/>
                </a:solidFill>
              </a:rPr>
              <a:t>server’s transport layer has received enough contiguous, sequential datagrams, it reassembles them and writes them onto a stream </a:t>
            </a:r>
            <a:r>
              <a:rPr lang="en-IE" sz="2800" b="1" dirty="0"/>
              <a:t>read by the web server running in the server application layer. </a:t>
            </a:r>
          </a:p>
          <a:p>
            <a:r>
              <a:rPr lang="en-IE" sz="2800" b="1" dirty="0"/>
              <a:t>The server responds to the request and sends its response back down through the layers on the server system for transmission back across the Internet and delivery to the web client.</a:t>
            </a:r>
          </a:p>
        </p:txBody>
      </p:sp>
    </p:spTree>
    <p:extLst>
      <p:ext uri="{BB962C8B-B14F-4D97-AF65-F5344CB8AC3E}">
        <p14:creationId xmlns:p14="http://schemas.microsoft.com/office/powerpoint/2010/main" val="37462128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Host to-Network Layer</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400" b="1" dirty="0"/>
              <a:t>The </a:t>
            </a:r>
            <a:r>
              <a:rPr lang="en-IE" sz="2400" b="1" dirty="0">
                <a:solidFill>
                  <a:schemeClr val="tx2"/>
                </a:solidFill>
              </a:rPr>
              <a:t>hidden parts of the network </a:t>
            </a:r>
            <a:r>
              <a:rPr lang="en-IE" sz="2400" b="1" dirty="0"/>
              <a:t>belong to the </a:t>
            </a:r>
            <a:r>
              <a:rPr lang="en-IE" sz="2400" b="1" i="1" dirty="0"/>
              <a:t>host to-network layer </a:t>
            </a:r>
            <a:r>
              <a:rPr lang="en-IE" sz="2400" b="1" dirty="0"/>
              <a:t>(also known as the link layer, data link layer, or network interface layer).</a:t>
            </a:r>
          </a:p>
          <a:p>
            <a:r>
              <a:rPr lang="en-IE" sz="2400" b="1" dirty="0"/>
              <a:t>The host-to-network layer defines </a:t>
            </a:r>
            <a:r>
              <a:rPr lang="en-IE" sz="2400" b="1" dirty="0">
                <a:solidFill>
                  <a:schemeClr val="tx2"/>
                </a:solidFill>
              </a:rPr>
              <a:t>how a particular network interface</a:t>
            </a:r>
            <a:r>
              <a:rPr lang="en-IE" sz="2400" b="1" dirty="0"/>
              <a:t>—such as an Ethernet card or a </a:t>
            </a:r>
            <a:r>
              <a:rPr lang="en-IE" sz="2400" b="1" dirty="0" err="1"/>
              <a:t>WiFi</a:t>
            </a:r>
            <a:r>
              <a:rPr lang="en-IE" sz="2400" b="1" dirty="0"/>
              <a:t> antenna—sends IP datagrams over its </a:t>
            </a:r>
            <a:r>
              <a:rPr lang="en-IE" sz="2400" b="1" dirty="0">
                <a:solidFill>
                  <a:schemeClr val="tx2"/>
                </a:solidFill>
              </a:rPr>
              <a:t>physical connection to the local network </a:t>
            </a:r>
            <a:r>
              <a:rPr lang="en-IE" sz="2400" b="1" dirty="0"/>
              <a:t>and the world.</a:t>
            </a:r>
          </a:p>
          <a:p>
            <a:r>
              <a:rPr lang="en-IE" sz="2400" b="1" dirty="0">
                <a:solidFill>
                  <a:schemeClr val="tx2"/>
                </a:solidFill>
              </a:rPr>
              <a:t>The part </a:t>
            </a:r>
            <a:r>
              <a:rPr lang="en-IE" sz="2400" b="1" dirty="0"/>
              <a:t>of the host-to-network layer made up of the hardware that connects different computers (</a:t>
            </a:r>
            <a:r>
              <a:rPr lang="en-IE" sz="2400" b="1" dirty="0">
                <a:solidFill>
                  <a:schemeClr val="tx2"/>
                </a:solidFill>
              </a:rPr>
              <a:t>wires, </a:t>
            </a:r>
            <a:r>
              <a:rPr lang="en-IE" sz="2400" b="1" dirty="0" err="1">
                <a:solidFill>
                  <a:schemeClr val="tx2"/>
                </a:solidFill>
              </a:rPr>
              <a:t>fiber</a:t>
            </a:r>
            <a:r>
              <a:rPr lang="en-IE" sz="2400" b="1" dirty="0">
                <a:solidFill>
                  <a:schemeClr val="tx2"/>
                </a:solidFill>
              </a:rPr>
              <a:t>-optic cables, radio waves, or smoke signals</a:t>
            </a:r>
            <a:r>
              <a:rPr lang="en-IE" sz="2400" b="1" dirty="0"/>
              <a:t>) is sometimes called the </a:t>
            </a:r>
            <a:r>
              <a:rPr lang="en-IE" sz="2400" b="1" dirty="0">
                <a:solidFill>
                  <a:schemeClr val="tx2"/>
                </a:solidFill>
              </a:rPr>
              <a:t>physical layer </a:t>
            </a:r>
            <a:r>
              <a:rPr lang="en-IE" sz="2400" b="1" dirty="0"/>
              <a:t>of the network. </a:t>
            </a:r>
          </a:p>
          <a:p>
            <a:r>
              <a:rPr lang="en-IE" sz="2400" b="1" dirty="0"/>
              <a:t>As a Java programmer, you don’t need to worry about this layer </a:t>
            </a:r>
            <a:r>
              <a:rPr lang="en-IE" sz="2400" b="1" dirty="0">
                <a:solidFill>
                  <a:schemeClr val="tx2"/>
                </a:solidFill>
              </a:rPr>
              <a:t>unless something goes wrong—the </a:t>
            </a:r>
            <a:r>
              <a:rPr lang="en-IE" sz="2400" b="1" dirty="0"/>
              <a:t>plug falls out of the back of your computer, or someone drops a backhoe through the T–1 line between you and the rest of the world.</a:t>
            </a:r>
          </a:p>
          <a:p>
            <a:r>
              <a:rPr lang="en-IE" sz="2400" b="1" dirty="0"/>
              <a:t>In other words, Java never sees the physical layer. </a:t>
            </a:r>
          </a:p>
        </p:txBody>
      </p:sp>
    </p:spTree>
    <p:extLst>
      <p:ext uri="{BB962C8B-B14F-4D97-AF65-F5344CB8AC3E}">
        <p14:creationId xmlns:p14="http://schemas.microsoft.com/office/powerpoint/2010/main" val="3630845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Host to-Network Layer…(2)</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400" b="1" dirty="0"/>
              <a:t>The </a:t>
            </a:r>
            <a:r>
              <a:rPr lang="en-IE" sz="2400" b="1" dirty="0">
                <a:solidFill>
                  <a:schemeClr val="tx2"/>
                </a:solidFill>
              </a:rPr>
              <a:t>primary reason </a:t>
            </a:r>
            <a:r>
              <a:rPr lang="en-IE" sz="2400" b="1" dirty="0"/>
              <a:t>you’ll need to think about the host-to-network layer and the physical layer, if you need to think about them at all, is </a:t>
            </a:r>
            <a:r>
              <a:rPr lang="en-IE" sz="2400" b="1" dirty="0">
                <a:solidFill>
                  <a:schemeClr val="tx2"/>
                </a:solidFill>
              </a:rPr>
              <a:t>performance</a:t>
            </a:r>
            <a:r>
              <a:rPr lang="en-IE" sz="2400" b="1" dirty="0"/>
              <a:t>. </a:t>
            </a:r>
          </a:p>
          <a:p>
            <a:r>
              <a:rPr lang="en-IE" sz="2400" b="1" dirty="0"/>
              <a:t>For instance, if your clients r</a:t>
            </a:r>
            <a:r>
              <a:rPr lang="en-IE" sz="2400" b="1" dirty="0">
                <a:solidFill>
                  <a:schemeClr val="tx2"/>
                </a:solidFill>
              </a:rPr>
              <a:t>eside on fast, reliable </a:t>
            </a:r>
            <a:r>
              <a:rPr lang="en-IE" sz="2400" b="1" dirty="0" err="1">
                <a:solidFill>
                  <a:schemeClr val="tx2"/>
                </a:solidFill>
              </a:rPr>
              <a:t>fiber</a:t>
            </a:r>
            <a:r>
              <a:rPr lang="en-IE" sz="2400" b="1" dirty="0">
                <a:solidFill>
                  <a:schemeClr val="tx2"/>
                </a:solidFill>
              </a:rPr>
              <a:t>-optic connections</a:t>
            </a:r>
            <a:r>
              <a:rPr lang="en-IE" sz="2400" b="1" dirty="0"/>
              <a:t>, you will design your protocol and applications differently than if they’re on high-latency satellite connections</a:t>
            </a:r>
          </a:p>
          <a:p>
            <a:r>
              <a:rPr lang="en-IE" sz="2400" b="1" dirty="0"/>
              <a:t>You’ll make still different choices if your clients are on a 3G data plan where they’re charged by the byte for relatively low bandwidth. </a:t>
            </a:r>
          </a:p>
          <a:p>
            <a:r>
              <a:rPr lang="en-IE" sz="2400" b="1" dirty="0"/>
              <a:t>And if you’re writing a general consumer application that could be used by any of these clients, you’ll try to hit a sweet spot somewhere in the middle, or perhaps even detect and dynamically adapt to individual client capabilities. </a:t>
            </a:r>
          </a:p>
          <a:p>
            <a:r>
              <a:rPr lang="en-IE" sz="2400" b="1" dirty="0"/>
              <a:t>However, whichever physical links you encounter, </a:t>
            </a:r>
            <a:r>
              <a:rPr lang="en-IE" sz="2400" b="1" dirty="0">
                <a:solidFill>
                  <a:schemeClr val="tx2"/>
                </a:solidFill>
              </a:rPr>
              <a:t>the APIs you use to communicate across those networks are the same</a:t>
            </a:r>
            <a:r>
              <a:rPr lang="en-IE" sz="2400" b="1" dirty="0"/>
              <a:t>. What makes that possible is the internet layer.</a:t>
            </a:r>
          </a:p>
        </p:txBody>
      </p:sp>
    </p:spTree>
    <p:extLst>
      <p:ext uri="{BB962C8B-B14F-4D97-AF65-F5344CB8AC3E}">
        <p14:creationId xmlns:p14="http://schemas.microsoft.com/office/powerpoint/2010/main" val="3449215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Internet Layer</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800" b="1" dirty="0"/>
              <a:t>A network layer protocol defines </a:t>
            </a:r>
            <a:r>
              <a:rPr lang="en-IE" sz="2800" b="1" dirty="0">
                <a:solidFill>
                  <a:schemeClr val="tx2"/>
                </a:solidFill>
              </a:rPr>
              <a:t>how bits and bytes of data are organized into the larger groups called packets</a:t>
            </a:r>
            <a:r>
              <a:rPr lang="en-IE" sz="2800" b="1" dirty="0"/>
              <a:t>, and </a:t>
            </a:r>
            <a:r>
              <a:rPr lang="en-IE" sz="2800" b="1" dirty="0">
                <a:solidFill>
                  <a:schemeClr val="tx2"/>
                </a:solidFill>
              </a:rPr>
              <a:t>the addressing scheme by which different machines find one another</a:t>
            </a:r>
            <a:r>
              <a:rPr lang="en-IE" sz="2800" b="1" dirty="0"/>
              <a:t>. </a:t>
            </a:r>
          </a:p>
          <a:p>
            <a:r>
              <a:rPr lang="en-IE" sz="2800" b="1" dirty="0"/>
              <a:t>The Internet Protocol (IP) is the most widely used network layer protocol in the world and the </a:t>
            </a:r>
            <a:r>
              <a:rPr lang="en-IE" sz="2800" b="1" dirty="0">
                <a:solidFill>
                  <a:schemeClr val="tx2"/>
                </a:solidFill>
              </a:rPr>
              <a:t>only network layer protocol Java understands</a:t>
            </a:r>
            <a:r>
              <a:rPr lang="en-IE" sz="2800" b="1" dirty="0"/>
              <a:t>. </a:t>
            </a:r>
          </a:p>
          <a:p>
            <a:r>
              <a:rPr lang="en-IE" sz="2800" b="1" dirty="0"/>
              <a:t>In fact, it’s two protocols</a:t>
            </a:r>
            <a:r>
              <a:rPr lang="en-IE" sz="2800" b="1" dirty="0">
                <a:solidFill>
                  <a:schemeClr val="tx2"/>
                </a:solidFill>
              </a:rPr>
              <a:t>: IPv4</a:t>
            </a:r>
            <a:r>
              <a:rPr lang="en-IE" sz="2800" b="1" dirty="0"/>
              <a:t>, which uses </a:t>
            </a:r>
            <a:r>
              <a:rPr lang="en-IE" sz="2800" b="1" dirty="0">
                <a:solidFill>
                  <a:schemeClr val="tx2"/>
                </a:solidFill>
              </a:rPr>
              <a:t>32-bit</a:t>
            </a:r>
            <a:r>
              <a:rPr lang="en-IE" sz="2800" b="1" dirty="0"/>
              <a:t> addresses, and </a:t>
            </a:r>
            <a:r>
              <a:rPr lang="en-IE" sz="2800" b="1" dirty="0">
                <a:solidFill>
                  <a:schemeClr val="tx2"/>
                </a:solidFill>
              </a:rPr>
              <a:t>IPv6</a:t>
            </a:r>
            <a:r>
              <a:rPr lang="en-IE" sz="2800" b="1" dirty="0"/>
              <a:t>, which uses </a:t>
            </a:r>
            <a:r>
              <a:rPr lang="en-IE" sz="2800" b="1" dirty="0">
                <a:solidFill>
                  <a:schemeClr val="tx2"/>
                </a:solidFill>
              </a:rPr>
              <a:t>128- bit </a:t>
            </a:r>
            <a:r>
              <a:rPr lang="en-IE" sz="2800" b="1" dirty="0"/>
              <a:t>addresses and adds a few other technical features to assist with routing. </a:t>
            </a:r>
          </a:p>
          <a:p>
            <a:r>
              <a:rPr lang="en-IE" sz="2800" b="1" dirty="0">
                <a:solidFill>
                  <a:schemeClr val="tx2"/>
                </a:solidFill>
              </a:rPr>
              <a:t>IPv4 still accounts for more than 90% </a:t>
            </a:r>
            <a:r>
              <a:rPr lang="en-IE" sz="2800" b="1" dirty="0"/>
              <a:t>of Internet traffic, but </a:t>
            </a:r>
            <a:r>
              <a:rPr lang="en-IE" sz="2800" b="1" dirty="0">
                <a:solidFill>
                  <a:schemeClr val="tx2"/>
                </a:solidFill>
              </a:rPr>
              <a:t>IPv6 is catching on fast </a:t>
            </a:r>
            <a:r>
              <a:rPr lang="en-IE" sz="2800" b="1" dirty="0"/>
              <a:t>and may well surpass IPv4 in near future.  </a:t>
            </a:r>
          </a:p>
        </p:txBody>
      </p:sp>
    </p:spTree>
    <p:extLst>
      <p:ext uri="{BB962C8B-B14F-4D97-AF65-F5344CB8AC3E}">
        <p14:creationId xmlns:p14="http://schemas.microsoft.com/office/powerpoint/2010/main" val="3130809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Internet Layer…(2)</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800" b="1" dirty="0"/>
              <a:t>Although these are </a:t>
            </a:r>
            <a:r>
              <a:rPr lang="en-IE" sz="2800" b="1" dirty="0">
                <a:solidFill>
                  <a:schemeClr val="tx2"/>
                </a:solidFill>
              </a:rPr>
              <a:t>two very different network protocols </a:t>
            </a:r>
            <a:r>
              <a:rPr lang="en-IE" sz="2800" b="1" dirty="0"/>
              <a:t>that do not interoperate on the same network without </a:t>
            </a:r>
            <a:r>
              <a:rPr lang="en-IE" sz="2800" b="1" dirty="0">
                <a:solidFill>
                  <a:schemeClr val="tx2"/>
                </a:solidFill>
              </a:rPr>
              <a:t>special gateways </a:t>
            </a:r>
            <a:r>
              <a:rPr lang="en-IE" sz="2800" b="1" dirty="0"/>
              <a:t>and/or</a:t>
            </a:r>
            <a:r>
              <a:rPr lang="en-IE" sz="2800" b="1" dirty="0">
                <a:solidFill>
                  <a:schemeClr val="tx2"/>
                </a:solidFill>
              </a:rPr>
              <a:t> </a:t>
            </a:r>
            <a:r>
              <a:rPr lang="en-IE" sz="2800" b="1" dirty="0" err="1">
                <a:solidFill>
                  <a:schemeClr val="tx2"/>
                </a:solidFill>
              </a:rPr>
              <a:t>tunneling</a:t>
            </a:r>
            <a:r>
              <a:rPr lang="en-IE" sz="2800" b="1" dirty="0">
                <a:solidFill>
                  <a:schemeClr val="tx2"/>
                </a:solidFill>
              </a:rPr>
              <a:t> protocols</a:t>
            </a:r>
            <a:r>
              <a:rPr lang="en-IE" sz="2800" b="1" dirty="0"/>
              <a:t>, Java </a:t>
            </a:r>
            <a:r>
              <a:rPr lang="en-IE" sz="2800" b="1" dirty="0">
                <a:solidFill>
                  <a:schemeClr val="tx2"/>
                </a:solidFill>
              </a:rPr>
              <a:t>hides </a:t>
            </a:r>
            <a:r>
              <a:rPr lang="en-IE" sz="2800" b="1" dirty="0"/>
              <a:t>almost all of the differences from you.</a:t>
            </a:r>
          </a:p>
          <a:p>
            <a:r>
              <a:rPr lang="en-IE" sz="2800" b="1" dirty="0"/>
              <a:t>In both IPv4 and IPv6, </a:t>
            </a:r>
            <a:r>
              <a:rPr lang="en-IE" sz="2800" b="1" dirty="0">
                <a:solidFill>
                  <a:schemeClr val="tx2"/>
                </a:solidFill>
              </a:rPr>
              <a:t>data is sent </a:t>
            </a:r>
            <a:r>
              <a:rPr lang="en-IE" sz="2800" b="1" dirty="0"/>
              <a:t>across the internet layer in packets called </a:t>
            </a:r>
            <a:r>
              <a:rPr lang="en-IE" sz="2800" b="1" i="1" dirty="0">
                <a:solidFill>
                  <a:schemeClr val="tx2"/>
                </a:solidFill>
              </a:rPr>
              <a:t>datagrams</a:t>
            </a:r>
            <a:r>
              <a:rPr lang="en-IE" sz="2800" b="1" dirty="0"/>
              <a:t>.</a:t>
            </a:r>
          </a:p>
          <a:p>
            <a:r>
              <a:rPr lang="en-IE" sz="2800" b="1" dirty="0"/>
              <a:t>Each IPv4 datagram contains a </a:t>
            </a:r>
            <a:r>
              <a:rPr lang="en-IE" sz="2800" b="1" dirty="0">
                <a:solidFill>
                  <a:schemeClr val="tx2"/>
                </a:solidFill>
              </a:rPr>
              <a:t>header between 20 and 60 bytes</a:t>
            </a:r>
            <a:r>
              <a:rPr lang="en-IE" sz="2800" b="1" dirty="0"/>
              <a:t> long and a </a:t>
            </a:r>
            <a:r>
              <a:rPr lang="en-IE" sz="2800" b="1" dirty="0">
                <a:solidFill>
                  <a:schemeClr val="tx2"/>
                </a:solidFill>
              </a:rPr>
              <a:t>payload</a:t>
            </a:r>
            <a:r>
              <a:rPr lang="en-IE" sz="2800" b="1" dirty="0"/>
              <a:t>  that contains up to </a:t>
            </a:r>
            <a:r>
              <a:rPr lang="en-IE" sz="2800" b="1" dirty="0">
                <a:solidFill>
                  <a:schemeClr val="tx2"/>
                </a:solidFill>
              </a:rPr>
              <a:t>65,515</a:t>
            </a:r>
            <a:r>
              <a:rPr lang="en-IE" sz="2800" b="1" dirty="0"/>
              <a:t> bytes of data. (In practice, most IPv4 datagrams are much smaller, ranging from a few dozen bytes to a little more than eight kilobytes.) </a:t>
            </a:r>
          </a:p>
          <a:p>
            <a:r>
              <a:rPr lang="en-IE" sz="2800" b="1" dirty="0"/>
              <a:t>An </a:t>
            </a:r>
            <a:r>
              <a:rPr lang="en-IE" sz="2800" b="1" dirty="0">
                <a:solidFill>
                  <a:schemeClr val="tx2"/>
                </a:solidFill>
              </a:rPr>
              <a:t>IPv6 datagram </a:t>
            </a:r>
            <a:r>
              <a:rPr lang="en-IE" sz="2800" b="1" dirty="0"/>
              <a:t>contains a </a:t>
            </a:r>
            <a:r>
              <a:rPr lang="en-IE" sz="2800" b="1" dirty="0">
                <a:solidFill>
                  <a:schemeClr val="tx2"/>
                </a:solidFill>
              </a:rPr>
              <a:t>larger header </a:t>
            </a:r>
            <a:r>
              <a:rPr lang="en-IE" sz="2800" b="1" dirty="0"/>
              <a:t>and up to </a:t>
            </a:r>
            <a:r>
              <a:rPr lang="en-IE" sz="2800" b="1" dirty="0">
                <a:solidFill>
                  <a:schemeClr val="tx2"/>
                </a:solidFill>
              </a:rPr>
              <a:t>four gigabytes of data</a:t>
            </a:r>
            <a:r>
              <a:rPr lang="en-IE" sz="2800" b="1" dirty="0"/>
              <a:t>.</a:t>
            </a:r>
          </a:p>
        </p:txBody>
      </p:sp>
    </p:spTree>
    <p:extLst>
      <p:ext uri="{BB962C8B-B14F-4D97-AF65-F5344CB8AC3E}">
        <p14:creationId xmlns:p14="http://schemas.microsoft.com/office/powerpoint/2010/main" val="608178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Internet Layer…(3)</a:t>
            </a:r>
            <a:endParaRPr lang="en-IE" dirty="0"/>
          </a:p>
        </p:txBody>
      </p:sp>
      <p:pic>
        <p:nvPicPr>
          <p:cNvPr id="16386" name="Picture 2" descr="Image result for host to network lay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685800"/>
            <a:ext cx="7924800"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10051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Internet Layer…(3)</a:t>
            </a:r>
            <a:endParaRPr lang="en-IE" dirty="0"/>
          </a:p>
        </p:txBody>
      </p:sp>
      <p:sp>
        <p:nvSpPr>
          <p:cNvPr id="3" name="Content Placeholder 2"/>
          <p:cNvSpPr>
            <a:spLocks noGrp="1"/>
          </p:cNvSpPr>
          <p:nvPr>
            <p:ph idx="1"/>
          </p:nvPr>
        </p:nvSpPr>
        <p:spPr>
          <a:xfrm>
            <a:off x="0" y="4400550"/>
            <a:ext cx="9144000" cy="2457450"/>
          </a:xfrm>
        </p:spPr>
        <p:txBody>
          <a:bodyPr>
            <a:noAutofit/>
          </a:bodyPr>
          <a:lstStyle/>
          <a:p>
            <a:r>
              <a:rPr lang="en-IE" sz="1800" b="1" dirty="0"/>
              <a:t>Second purpose of the Internet layer is to enable </a:t>
            </a:r>
            <a:r>
              <a:rPr lang="en-IE" sz="1800" b="1" dirty="0">
                <a:solidFill>
                  <a:schemeClr val="tx2"/>
                </a:solidFill>
              </a:rPr>
              <a:t>different types of Host-to-Network layers to talk to each other</a:t>
            </a:r>
            <a:r>
              <a:rPr lang="en-IE" sz="1800" b="1" dirty="0"/>
              <a:t>. </a:t>
            </a:r>
          </a:p>
          <a:p>
            <a:r>
              <a:rPr lang="en-IE" sz="1800" b="1" dirty="0"/>
              <a:t>Internet routers translate between </a:t>
            </a:r>
            <a:r>
              <a:rPr lang="en-IE" sz="1800" b="1" dirty="0" err="1">
                <a:solidFill>
                  <a:schemeClr val="tx2"/>
                </a:solidFill>
              </a:rPr>
              <a:t>WiFi</a:t>
            </a:r>
            <a:r>
              <a:rPr lang="en-IE" sz="1800" b="1" dirty="0">
                <a:solidFill>
                  <a:schemeClr val="tx2"/>
                </a:solidFill>
              </a:rPr>
              <a:t> and Ethernet, Ethernet and DSL, DSL and </a:t>
            </a:r>
            <a:r>
              <a:rPr lang="en-IE" sz="1800" b="1" dirty="0" err="1">
                <a:solidFill>
                  <a:schemeClr val="tx2"/>
                </a:solidFill>
              </a:rPr>
              <a:t>fiber</a:t>
            </a:r>
            <a:r>
              <a:rPr lang="en-IE" sz="1800" b="1" dirty="0">
                <a:solidFill>
                  <a:schemeClr val="tx2"/>
                </a:solidFill>
              </a:rPr>
              <a:t>-optic </a:t>
            </a:r>
            <a:r>
              <a:rPr lang="en-IE" sz="1800" b="1" dirty="0"/>
              <a:t>backhaul protocols, and so forth. </a:t>
            </a:r>
          </a:p>
          <a:p>
            <a:r>
              <a:rPr lang="en-IE" sz="1800" b="1" dirty="0">
                <a:solidFill>
                  <a:schemeClr val="tx2"/>
                </a:solidFill>
              </a:rPr>
              <a:t>Without the internet la</a:t>
            </a:r>
            <a:r>
              <a:rPr lang="en-IE" sz="1800" b="1" dirty="0"/>
              <a:t>yer, each computer could only talk to other computers that shared its particular type of network. </a:t>
            </a:r>
          </a:p>
          <a:p>
            <a:r>
              <a:rPr lang="en-IE" sz="1800" b="1" dirty="0"/>
              <a:t>The internet layer is responsible for </a:t>
            </a:r>
            <a:r>
              <a:rPr lang="en-IE" sz="1800" b="1" dirty="0">
                <a:solidFill>
                  <a:schemeClr val="tx2"/>
                </a:solidFill>
              </a:rPr>
              <a:t>connecting </a:t>
            </a:r>
            <a:r>
              <a:rPr lang="en-IE" sz="1800" b="1" dirty="0" err="1">
                <a:solidFill>
                  <a:schemeClr val="tx2"/>
                </a:solidFill>
              </a:rPr>
              <a:t>heterogenous</a:t>
            </a:r>
            <a:r>
              <a:rPr lang="en-IE" sz="1800" b="1" dirty="0">
                <a:solidFill>
                  <a:schemeClr val="tx2"/>
                </a:solidFill>
              </a:rPr>
              <a:t> networks to each other using homogeneous protocols</a:t>
            </a:r>
            <a:r>
              <a:rPr lang="en-IE" sz="1800" b="1" dirty="0"/>
              <a:t>.</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2088" y="609600"/>
            <a:ext cx="6219825" cy="3790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98610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Transport Layer</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800" b="1" dirty="0"/>
              <a:t>Raw datagrams have some </a:t>
            </a:r>
            <a:r>
              <a:rPr lang="en-IE" sz="2800" b="1" dirty="0">
                <a:solidFill>
                  <a:schemeClr val="tx2"/>
                </a:solidFill>
              </a:rPr>
              <a:t>drawbacks</a:t>
            </a:r>
            <a:r>
              <a:rPr lang="en-IE" sz="2800" b="1" dirty="0"/>
              <a:t>. </a:t>
            </a:r>
          </a:p>
          <a:p>
            <a:pPr marL="914400" lvl="1" indent="-514350">
              <a:buFont typeface="+mj-lt"/>
              <a:buAutoNum type="arabicPeriod"/>
            </a:pPr>
            <a:r>
              <a:rPr lang="en-IE" sz="2400" b="1" dirty="0"/>
              <a:t>Most notably, </a:t>
            </a:r>
            <a:r>
              <a:rPr lang="en-IE" sz="2400" b="1" dirty="0">
                <a:solidFill>
                  <a:schemeClr val="tx2"/>
                </a:solidFill>
              </a:rPr>
              <a:t>there’s no guarantee </a:t>
            </a:r>
            <a:r>
              <a:rPr lang="en-IE" sz="2400" b="1" dirty="0"/>
              <a:t>that they will be delivered. </a:t>
            </a:r>
          </a:p>
          <a:p>
            <a:pPr marL="914400" lvl="1" indent="-514350">
              <a:buFont typeface="+mj-lt"/>
              <a:buAutoNum type="arabicPeriod"/>
            </a:pPr>
            <a:r>
              <a:rPr lang="en-IE" sz="2400" b="1" dirty="0"/>
              <a:t>Even if they are delivered, they may have been </a:t>
            </a:r>
            <a:r>
              <a:rPr lang="en-IE" sz="2400" b="1" dirty="0">
                <a:solidFill>
                  <a:schemeClr val="tx2"/>
                </a:solidFill>
              </a:rPr>
              <a:t>corrupted in transit</a:t>
            </a:r>
            <a:r>
              <a:rPr lang="en-IE" sz="2400" b="1" dirty="0"/>
              <a:t>. </a:t>
            </a:r>
          </a:p>
          <a:p>
            <a:pPr marL="914400" lvl="1" indent="-514350">
              <a:buFont typeface="+mj-lt"/>
              <a:buAutoNum type="arabicPeriod"/>
            </a:pPr>
            <a:r>
              <a:rPr lang="en-IE" sz="2400" b="1" dirty="0"/>
              <a:t>The </a:t>
            </a:r>
            <a:r>
              <a:rPr lang="en-IE" sz="2400" b="1" dirty="0">
                <a:solidFill>
                  <a:schemeClr val="tx2"/>
                </a:solidFill>
              </a:rPr>
              <a:t>header checksum </a:t>
            </a:r>
            <a:r>
              <a:rPr lang="en-IE" sz="2400" b="1" dirty="0"/>
              <a:t>can only detect corruption in the header, </a:t>
            </a:r>
            <a:r>
              <a:rPr lang="en-IE" sz="2400" b="1" dirty="0">
                <a:solidFill>
                  <a:schemeClr val="tx2"/>
                </a:solidFill>
              </a:rPr>
              <a:t>not in the data portion of a datagram</a:t>
            </a:r>
            <a:r>
              <a:rPr lang="en-IE" sz="2400" b="1" dirty="0"/>
              <a:t>. </a:t>
            </a:r>
          </a:p>
          <a:p>
            <a:pPr marL="914400" lvl="1" indent="-514350">
              <a:buFont typeface="+mj-lt"/>
              <a:buAutoNum type="arabicPeriod"/>
            </a:pPr>
            <a:r>
              <a:rPr lang="en-IE" sz="2400" b="1" dirty="0"/>
              <a:t>Finally, even if the datagrams arrive uncorrupted, they do </a:t>
            </a:r>
            <a:r>
              <a:rPr lang="en-IE" sz="2400" b="1" dirty="0">
                <a:solidFill>
                  <a:schemeClr val="tx2"/>
                </a:solidFill>
              </a:rPr>
              <a:t>not necessarily arrive in the order </a:t>
            </a:r>
            <a:r>
              <a:rPr lang="en-IE" sz="2400" b="1" dirty="0"/>
              <a:t>in which they were sent. </a:t>
            </a:r>
          </a:p>
        </p:txBody>
      </p:sp>
    </p:spTree>
    <p:extLst>
      <p:ext uri="{BB962C8B-B14F-4D97-AF65-F5344CB8AC3E}">
        <p14:creationId xmlns:p14="http://schemas.microsoft.com/office/powerpoint/2010/main" val="3760476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Transport Layer…(2)</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800" b="1" dirty="0"/>
              <a:t>Individual datagrams </a:t>
            </a:r>
            <a:r>
              <a:rPr lang="en-IE" sz="2800" b="1" dirty="0">
                <a:solidFill>
                  <a:schemeClr val="tx2"/>
                </a:solidFill>
              </a:rPr>
              <a:t>may follow different routes </a:t>
            </a:r>
            <a:r>
              <a:rPr lang="en-IE" sz="2800" b="1" dirty="0"/>
              <a:t>from source to destination. </a:t>
            </a:r>
          </a:p>
          <a:p>
            <a:r>
              <a:rPr lang="en-IE" sz="2800" b="1" dirty="0"/>
              <a:t>Just because datagram A is sent before datagram B does not mean that datagram A will arrive before datagram B. </a:t>
            </a:r>
          </a:p>
          <a:p>
            <a:r>
              <a:rPr lang="en-IE" sz="2800" b="1" dirty="0"/>
              <a:t>The </a:t>
            </a:r>
            <a:r>
              <a:rPr lang="en-IE" sz="2800" b="1" i="1" dirty="0">
                <a:solidFill>
                  <a:schemeClr val="tx2"/>
                </a:solidFill>
              </a:rPr>
              <a:t>transport layer </a:t>
            </a:r>
            <a:r>
              <a:rPr lang="en-IE" sz="2800" b="1" dirty="0"/>
              <a:t>is responsible for ensuring:</a:t>
            </a:r>
          </a:p>
          <a:p>
            <a:pPr lvl="1"/>
            <a:r>
              <a:rPr lang="en-IE" sz="2400" b="1" dirty="0"/>
              <a:t>that packets are received </a:t>
            </a:r>
            <a:r>
              <a:rPr lang="en-IE" sz="2400" b="1" dirty="0">
                <a:solidFill>
                  <a:schemeClr val="tx2"/>
                </a:solidFill>
              </a:rPr>
              <a:t>in the order they were sent</a:t>
            </a:r>
          </a:p>
          <a:p>
            <a:pPr lvl="1"/>
            <a:r>
              <a:rPr lang="en-IE" sz="2400" b="1" dirty="0"/>
              <a:t>that </a:t>
            </a:r>
            <a:r>
              <a:rPr lang="en-IE" sz="2400" b="1" dirty="0">
                <a:solidFill>
                  <a:schemeClr val="tx2"/>
                </a:solidFill>
              </a:rPr>
              <a:t>no data is lost or corrupted</a:t>
            </a:r>
            <a:r>
              <a:rPr lang="en-IE" sz="2400" b="1" dirty="0"/>
              <a:t>. </a:t>
            </a:r>
          </a:p>
          <a:p>
            <a:pPr lvl="1"/>
            <a:r>
              <a:rPr lang="en-IE" sz="2400" b="1" dirty="0"/>
              <a:t>If a packet is lost, </a:t>
            </a:r>
            <a:r>
              <a:rPr lang="en-IE" sz="2400" b="1" dirty="0">
                <a:solidFill>
                  <a:schemeClr val="tx2"/>
                </a:solidFill>
              </a:rPr>
              <a:t>the transport layer can ask the sender to retransmit the packet</a:t>
            </a:r>
            <a:r>
              <a:rPr lang="en-IE" sz="2400" b="1" dirty="0"/>
              <a:t>. </a:t>
            </a:r>
          </a:p>
          <a:p>
            <a:r>
              <a:rPr lang="en-IE" sz="2800" b="1" dirty="0"/>
              <a:t>IP networks implement this by adding </a:t>
            </a:r>
            <a:r>
              <a:rPr lang="en-IE" sz="2800" b="1" dirty="0">
                <a:solidFill>
                  <a:schemeClr val="tx2"/>
                </a:solidFill>
              </a:rPr>
              <a:t>an additional header</a:t>
            </a:r>
            <a:r>
              <a:rPr lang="en-IE" sz="2800" b="1" dirty="0"/>
              <a:t> to each datagram that contains more information. </a:t>
            </a:r>
          </a:p>
          <a:p>
            <a:r>
              <a:rPr lang="en-IE" sz="2800" b="1" dirty="0"/>
              <a:t>Protocols of transport layer:</a:t>
            </a:r>
          </a:p>
          <a:p>
            <a:pPr lvl="1"/>
            <a:r>
              <a:rPr lang="en-IE" sz="2000" b="1" dirty="0"/>
              <a:t>TCP:</a:t>
            </a:r>
          </a:p>
          <a:p>
            <a:pPr lvl="1"/>
            <a:r>
              <a:rPr lang="en-IE" sz="2000" b="1" dirty="0"/>
              <a:t>UDP:</a:t>
            </a:r>
            <a:endParaRPr lang="en-IE" b="1" dirty="0"/>
          </a:p>
        </p:txBody>
      </p:sp>
    </p:spTree>
    <p:extLst>
      <p:ext uri="{BB962C8B-B14F-4D97-AF65-F5344CB8AC3E}">
        <p14:creationId xmlns:p14="http://schemas.microsoft.com/office/powerpoint/2010/main" val="1237675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Application Layer</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b="1" dirty="0"/>
              <a:t>The layer </a:t>
            </a:r>
            <a:r>
              <a:rPr lang="en-IE" b="1" dirty="0">
                <a:solidFill>
                  <a:schemeClr val="tx2"/>
                </a:solidFill>
              </a:rPr>
              <a:t>that delivers data to the user </a:t>
            </a:r>
            <a:r>
              <a:rPr lang="en-IE" b="1" dirty="0"/>
              <a:t>is called the </a:t>
            </a:r>
            <a:r>
              <a:rPr lang="en-IE" b="1" i="1" dirty="0"/>
              <a:t>application layer</a:t>
            </a:r>
            <a:r>
              <a:rPr lang="en-IE" b="1" dirty="0"/>
              <a:t>. </a:t>
            </a:r>
          </a:p>
          <a:p>
            <a:r>
              <a:rPr lang="en-IE" b="1" dirty="0"/>
              <a:t>The </a:t>
            </a:r>
            <a:r>
              <a:rPr lang="en-IE" b="1" dirty="0">
                <a:solidFill>
                  <a:schemeClr val="tx2"/>
                </a:solidFill>
              </a:rPr>
              <a:t>three lower layers all work together to define how data is transferred </a:t>
            </a:r>
            <a:r>
              <a:rPr lang="en-IE" b="1" dirty="0"/>
              <a:t>from one computer to another.</a:t>
            </a:r>
          </a:p>
          <a:p>
            <a:r>
              <a:rPr lang="en-IE" b="1" dirty="0"/>
              <a:t>The </a:t>
            </a:r>
            <a:r>
              <a:rPr lang="en-IE" b="1" dirty="0">
                <a:solidFill>
                  <a:schemeClr val="tx2"/>
                </a:solidFill>
              </a:rPr>
              <a:t>application layer decides what to do with the data after it’s transfer</a:t>
            </a:r>
            <a:r>
              <a:rPr lang="en-IE" b="1" dirty="0"/>
              <a:t>red. </a:t>
            </a:r>
          </a:p>
          <a:p>
            <a:r>
              <a:rPr lang="en-IE" b="1" dirty="0"/>
              <a:t>For example, an application protocol like </a:t>
            </a:r>
            <a:r>
              <a:rPr lang="en-IE" b="1" dirty="0">
                <a:solidFill>
                  <a:schemeClr val="tx2"/>
                </a:solidFill>
              </a:rPr>
              <a:t>HTTP</a:t>
            </a:r>
            <a:r>
              <a:rPr lang="en-IE" b="1" dirty="0"/>
              <a:t> (for the World Wide Web) </a:t>
            </a:r>
            <a:r>
              <a:rPr lang="en-IE" b="1" dirty="0">
                <a:solidFill>
                  <a:schemeClr val="tx2"/>
                </a:solidFill>
              </a:rPr>
              <a:t>makes sure that your web browser displays a graphic image as a picture</a:t>
            </a:r>
            <a:r>
              <a:rPr lang="en-IE" b="1" dirty="0"/>
              <a:t>, not a long stream of numbers. </a:t>
            </a:r>
          </a:p>
        </p:txBody>
      </p:sp>
    </p:spTree>
    <p:extLst>
      <p:ext uri="{BB962C8B-B14F-4D97-AF65-F5344CB8AC3E}">
        <p14:creationId xmlns:p14="http://schemas.microsoft.com/office/powerpoint/2010/main" val="605267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Application Layer…(2)</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b="1" dirty="0"/>
              <a:t>The application layer is where </a:t>
            </a:r>
            <a:r>
              <a:rPr lang="en-IE" b="1" dirty="0">
                <a:solidFill>
                  <a:schemeClr val="tx2"/>
                </a:solidFill>
              </a:rPr>
              <a:t>most of the network parts of your programs spend</a:t>
            </a:r>
            <a:r>
              <a:rPr lang="en-IE" b="1" dirty="0"/>
              <a:t> their time.</a:t>
            </a:r>
          </a:p>
          <a:p>
            <a:r>
              <a:rPr lang="en-IE" b="1" dirty="0"/>
              <a:t>There is an entire alphabet soup of application layer protocols: in addition to </a:t>
            </a:r>
            <a:r>
              <a:rPr lang="en-IE" b="1" dirty="0">
                <a:solidFill>
                  <a:schemeClr val="tx2"/>
                </a:solidFill>
              </a:rPr>
              <a:t>HTTP</a:t>
            </a:r>
            <a:r>
              <a:rPr lang="en-IE" b="1" dirty="0"/>
              <a:t> for the Web, there are </a:t>
            </a:r>
            <a:r>
              <a:rPr lang="en-IE" b="1" dirty="0">
                <a:solidFill>
                  <a:schemeClr val="tx2"/>
                </a:solidFill>
              </a:rPr>
              <a:t>SMTP</a:t>
            </a:r>
            <a:r>
              <a:rPr lang="en-IE" b="1" dirty="0"/>
              <a:t>, </a:t>
            </a:r>
            <a:r>
              <a:rPr lang="en-IE" b="1" dirty="0">
                <a:solidFill>
                  <a:schemeClr val="tx2"/>
                </a:solidFill>
              </a:rPr>
              <a:t>POP</a:t>
            </a:r>
            <a:r>
              <a:rPr lang="en-IE" b="1" dirty="0"/>
              <a:t>, and </a:t>
            </a:r>
            <a:r>
              <a:rPr lang="en-IE" b="1" dirty="0">
                <a:solidFill>
                  <a:schemeClr val="tx2"/>
                </a:solidFill>
              </a:rPr>
              <a:t>IMAP</a:t>
            </a:r>
            <a:r>
              <a:rPr lang="en-IE" b="1" dirty="0"/>
              <a:t> for email; </a:t>
            </a:r>
            <a:r>
              <a:rPr lang="en-IE" b="1" dirty="0">
                <a:solidFill>
                  <a:schemeClr val="tx2"/>
                </a:solidFill>
              </a:rPr>
              <a:t>FTP</a:t>
            </a:r>
            <a:r>
              <a:rPr lang="en-IE" b="1" dirty="0"/>
              <a:t>, </a:t>
            </a:r>
            <a:r>
              <a:rPr lang="en-IE" b="1" dirty="0">
                <a:solidFill>
                  <a:schemeClr val="tx2"/>
                </a:solidFill>
              </a:rPr>
              <a:t>FSP</a:t>
            </a:r>
            <a:r>
              <a:rPr lang="en-IE" b="1" dirty="0"/>
              <a:t>, and </a:t>
            </a:r>
            <a:r>
              <a:rPr lang="en-IE" b="1" dirty="0">
                <a:solidFill>
                  <a:schemeClr val="tx2"/>
                </a:solidFill>
              </a:rPr>
              <a:t>TFTP</a:t>
            </a:r>
            <a:r>
              <a:rPr lang="en-IE" b="1" dirty="0"/>
              <a:t> for file transfer; </a:t>
            </a:r>
            <a:r>
              <a:rPr lang="en-IE" b="1" dirty="0">
                <a:solidFill>
                  <a:schemeClr val="tx2"/>
                </a:solidFill>
              </a:rPr>
              <a:t>NFS</a:t>
            </a:r>
            <a:r>
              <a:rPr lang="en-IE" b="1" dirty="0"/>
              <a:t> for file access; </a:t>
            </a:r>
            <a:r>
              <a:rPr lang="en-IE" b="1" dirty="0">
                <a:solidFill>
                  <a:schemeClr val="tx2"/>
                </a:solidFill>
              </a:rPr>
              <a:t>Gnutella</a:t>
            </a:r>
            <a:r>
              <a:rPr lang="en-IE" b="1" dirty="0"/>
              <a:t> and </a:t>
            </a:r>
            <a:r>
              <a:rPr lang="en-IE" b="1" dirty="0" err="1">
                <a:solidFill>
                  <a:schemeClr val="tx2"/>
                </a:solidFill>
              </a:rPr>
              <a:t>BitTorrent</a:t>
            </a:r>
            <a:r>
              <a:rPr lang="en-IE" b="1" dirty="0">
                <a:solidFill>
                  <a:schemeClr val="tx2"/>
                </a:solidFill>
              </a:rPr>
              <a:t> </a:t>
            </a:r>
            <a:r>
              <a:rPr lang="en-IE" b="1" dirty="0"/>
              <a:t>for file sharing; the Session Initiation Protocol (</a:t>
            </a:r>
            <a:r>
              <a:rPr lang="en-IE" b="1" dirty="0">
                <a:solidFill>
                  <a:schemeClr val="tx2"/>
                </a:solidFill>
              </a:rPr>
              <a:t>SIP</a:t>
            </a:r>
            <a:r>
              <a:rPr lang="en-IE" b="1" dirty="0"/>
              <a:t>) and </a:t>
            </a:r>
            <a:r>
              <a:rPr lang="en-IE" b="1" dirty="0">
                <a:solidFill>
                  <a:schemeClr val="tx2"/>
                </a:solidFill>
              </a:rPr>
              <a:t>Skype</a:t>
            </a:r>
            <a:r>
              <a:rPr lang="en-IE" b="1" dirty="0"/>
              <a:t> for voice communication; and many, many more. </a:t>
            </a:r>
          </a:p>
          <a:p>
            <a:r>
              <a:rPr lang="en-IE" b="1" dirty="0"/>
              <a:t>In addition,  </a:t>
            </a:r>
            <a:r>
              <a:rPr lang="en-IE" b="1" dirty="0">
                <a:solidFill>
                  <a:schemeClr val="tx2"/>
                </a:solidFill>
              </a:rPr>
              <a:t>your programs can define their own application layer protocols </a:t>
            </a:r>
            <a:r>
              <a:rPr lang="en-IE" b="1" dirty="0"/>
              <a:t>as necessary.</a:t>
            </a:r>
          </a:p>
        </p:txBody>
      </p:sp>
    </p:spTree>
    <p:extLst>
      <p:ext uri="{BB962C8B-B14F-4D97-AF65-F5344CB8AC3E}">
        <p14:creationId xmlns:p14="http://schemas.microsoft.com/office/powerpoint/2010/main" val="431715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0" y="2782669"/>
            <a:ext cx="6019800" cy="646331"/>
          </a:xfrm>
          <a:prstGeom prst="rect">
            <a:avLst/>
          </a:prstGeom>
          <a:noFill/>
        </p:spPr>
        <p:txBody>
          <a:bodyPr wrap="square" rtlCol="0">
            <a:spAutoFit/>
          </a:bodyPr>
          <a:lstStyle/>
          <a:p>
            <a:pPr algn="ctr"/>
            <a:r>
              <a:rPr lang="en-US" sz="3600" dirty="0">
                <a:solidFill>
                  <a:srgbClr val="C00000"/>
                </a:solidFill>
              </a:rPr>
              <a:t>End of Lecture 1</a:t>
            </a:r>
          </a:p>
        </p:txBody>
      </p:sp>
    </p:spTree>
    <p:extLst>
      <p:ext uri="{BB962C8B-B14F-4D97-AF65-F5344CB8AC3E}">
        <p14:creationId xmlns:p14="http://schemas.microsoft.com/office/powerpoint/2010/main" val="23208015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242D679B6F40C48B2519DEB851FE85E" ma:contentTypeVersion="3" ma:contentTypeDescription="Create a new document." ma:contentTypeScope="" ma:versionID="575d8b23c4b8b11c8120af33fe0370b6">
  <xsd:schema xmlns:xsd="http://www.w3.org/2001/XMLSchema" xmlns:xs="http://www.w3.org/2001/XMLSchema" xmlns:p="http://schemas.microsoft.com/office/2006/metadata/properties" xmlns:ns2="03033146-d356-4da8-83b8-91c471b948ed" targetNamespace="http://schemas.microsoft.com/office/2006/metadata/properties" ma:root="true" ma:fieldsID="bcaf4ecb0242332874b477bff2821e57" ns2:_="">
    <xsd:import namespace="03033146-d356-4da8-83b8-91c471b948e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3033146-d356-4da8-83b8-91c471b948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3021A2B-3DB4-40FC-84A7-A6663A855967}"/>
</file>

<file path=customXml/itemProps2.xml><?xml version="1.0" encoding="utf-8"?>
<ds:datastoreItem xmlns:ds="http://schemas.openxmlformats.org/officeDocument/2006/customXml" ds:itemID="{8ADFA259-B2F2-48AB-95E7-C9827D421DD1}"/>
</file>

<file path=customXml/itemProps3.xml><?xml version="1.0" encoding="utf-8"?>
<ds:datastoreItem xmlns:ds="http://schemas.openxmlformats.org/officeDocument/2006/customXml" ds:itemID="{62897DA9-2C5E-4A1D-9CB8-D13B2C1FD1E2}"/>
</file>

<file path=docProps/app.xml><?xml version="1.0" encoding="utf-8"?>
<Properties xmlns="http://schemas.openxmlformats.org/officeDocument/2006/extended-properties" xmlns:vt="http://schemas.openxmlformats.org/officeDocument/2006/docPropsVTypes">
  <TotalTime>4522</TotalTime>
  <Words>3064</Words>
  <Application>Microsoft Office PowerPoint</Application>
  <PresentationFormat>On-screen Show (4:3)</PresentationFormat>
  <Paragraphs>263</Paragraphs>
  <Slides>36</Slides>
  <Notes>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36</vt:i4>
      </vt:variant>
    </vt:vector>
  </HeadingPairs>
  <TitlesOfParts>
    <vt:vector size="44" baseType="lpstr">
      <vt:lpstr>Arial</vt:lpstr>
      <vt:lpstr>Calibri</vt:lpstr>
      <vt:lpstr>Tahoma</vt:lpstr>
      <vt:lpstr>Times New Roman</vt:lpstr>
      <vt:lpstr>Wingdings</vt:lpstr>
      <vt:lpstr>Office Theme</vt:lpstr>
      <vt:lpstr>Microsoft ClipArt Gallery</vt:lpstr>
      <vt:lpstr>CorelDRAW!</vt:lpstr>
      <vt:lpstr>Net Centric Programming Lecture 1</vt:lpstr>
      <vt:lpstr>PowerPoint Presentation</vt:lpstr>
      <vt:lpstr>PowerPoint Presentation</vt:lpstr>
      <vt:lpstr>Course Reference Books</vt:lpstr>
      <vt:lpstr>Course Contents</vt:lpstr>
      <vt:lpstr>Course Contents</vt:lpstr>
      <vt:lpstr>Grading Criteria</vt:lpstr>
      <vt:lpstr>Introduction</vt:lpstr>
      <vt:lpstr>Introduction</vt:lpstr>
      <vt:lpstr>Network</vt:lpstr>
      <vt:lpstr>Network</vt:lpstr>
      <vt:lpstr>Network Addresses</vt:lpstr>
      <vt:lpstr>Names</vt:lpstr>
      <vt:lpstr>Packets</vt:lpstr>
      <vt:lpstr>Protocol</vt:lpstr>
      <vt:lpstr>Protocol…(2)</vt:lpstr>
      <vt:lpstr>Network Communication</vt:lpstr>
      <vt:lpstr>Network Layers</vt:lpstr>
      <vt:lpstr>Protocols</vt:lpstr>
      <vt:lpstr>PowerPoint Presentation</vt:lpstr>
      <vt:lpstr>PowerPoint Presentation</vt:lpstr>
      <vt:lpstr>TCP / IP Layers</vt:lpstr>
      <vt:lpstr>TCP / IP Layers…(2)</vt:lpstr>
      <vt:lpstr>TCP / IP Layers…(3)</vt:lpstr>
      <vt:lpstr>TCP / IP Layers…(4)</vt:lpstr>
      <vt:lpstr>Host to-Network Layer</vt:lpstr>
      <vt:lpstr>Host to-Network Layer…(2)</vt:lpstr>
      <vt:lpstr>Internet Layer</vt:lpstr>
      <vt:lpstr>Internet Layer…(2)</vt:lpstr>
      <vt:lpstr>Internet Layer…(3)</vt:lpstr>
      <vt:lpstr>Internet Layer…(3)</vt:lpstr>
      <vt:lpstr>Transport Layer</vt:lpstr>
      <vt:lpstr>Transport Layer…(2)</vt:lpstr>
      <vt:lpstr>Application Layer</vt:lpstr>
      <vt:lpstr>Application Layer…(2)</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Muhammad Imran</dc:creator>
  <cp:lastModifiedBy>Adeel-ur-Rehman Zafar</cp:lastModifiedBy>
  <cp:revision>1432</cp:revision>
  <dcterms:created xsi:type="dcterms:W3CDTF">2016-10-08T12:39:52Z</dcterms:created>
  <dcterms:modified xsi:type="dcterms:W3CDTF">2025-02-24T10:10:49Z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0x0101008242D679B6F40C48B2519DEB851FE85E</vt:lpwstr>
  </property>
</Properties>
</file>