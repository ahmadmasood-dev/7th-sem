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62" r:id="rId6"/>
    <p:sldId id="311" r:id="rId7"/>
    <p:sldId id="267" r:id="rId8"/>
    <p:sldId id="362" r:id="rId9"/>
    <p:sldId id="368" r:id="rId10"/>
    <p:sldId id="369" r:id="rId11"/>
    <p:sldId id="370" r:id="rId12"/>
    <p:sldId id="381" r:id="rId13"/>
    <p:sldId id="373" r:id="rId14"/>
    <p:sldId id="374" r:id="rId15"/>
    <p:sldId id="371" r:id="rId16"/>
    <p:sldId id="365" r:id="rId17"/>
    <p:sldId id="268" r:id="rId18"/>
    <p:sldId id="364" r:id="rId19"/>
    <p:sldId id="367" r:id="rId20"/>
    <p:sldId id="279" r:id="rId21"/>
    <p:sldId id="375" r:id="rId22"/>
    <p:sldId id="377" r:id="rId23"/>
    <p:sldId id="379" r:id="rId24"/>
    <p:sldId id="378" r:id="rId25"/>
    <p:sldId id="380" r:id="rId26"/>
  </p:sldIdLst>
  <p:sldSz cx="9144000" cy="5143500" type="screen16x9"/>
  <p:notesSz cx="6858000" cy="9144000"/>
  <p:embeddedFontLst>
    <p:embeddedFont>
      <p:font typeface="Comfortaa" panose="020B0604020202020204" charset="0"/>
      <p:regular r:id="rId28"/>
      <p:bold r:id="rId29"/>
    </p:embeddedFont>
    <p:embeddedFont>
      <p:font typeface="Fira Code" panose="020B0604020202020204" charset="0"/>
      <p:regular r:id="rId30"/>
      <p:bold r:id="rId31"/>
    </p:embeddedFont>
    <p:embeddedFont>
      <p:font typeface="Bebas Neue" panose="020B0604020202020204" charset="0"/>
      <p:regular r:id="rId32"/>
    </p:embeddedFont>
    <p:embeddedFont>
      <p:font typeface="Source Code Pro" panose="020B0604020202020204" charset="0"/>
      <p:regular r:id="rId33"/>
    </p:embeddedFont>
    <p:embeddedFont>
      <p:font typeface="Source Code Pro Medium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8797CFD-685B-4976-994F-ADA2EB5212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B833417B-5E69-4CD6-B9C2-ED381D9D223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66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656273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9096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7535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005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1421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372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5891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8699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2983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4548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973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6170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5935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3184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748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60989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7300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162573e21f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2162573e21f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431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3382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20112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32644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45154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5891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84639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79621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345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735500" y="1258850"/>
            <a:ext cx="57975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35500" y="3297650"/>
            <a:ext cx="5797500" cy="44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16;p3"/>
          <p:cNvGrpSpPr/>
          <p:nvPr/>
        </p:nvGrpSpPr>
        <p:grpSpPr>
          <a:xfrm>
            <a:off x="8313825" y="353000"/>
            <a:ext cx="473100" cy="186500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4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" name="Google Shape;48;p7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3465225" y="1529000"/>
            <a:ext cx="4965600" cy="30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3763500" y="-1800"/>
            <a:ext cx="5380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223100" y="1198450"/>
            <a:ext cx="42060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4223100" y="3162850"/>
            <a:ext cx="4206000" cy="1066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" name="Google Shape;83;p13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2472000" y="1832950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3175501" y="2833427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3504027" y="3834248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1869900" y="14705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2573400" y="24824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2891275" y="3494325"/>
            <a:ext cx="602100" cy="32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2472000" y="14705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3175500" y="24824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3504025" y="34943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4243000" y="-1800"/>
            <a:ext cx="4901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713225" y="1402850"/>
            <a:ext cx="32490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713225" y="2466050"/>
            <a:ext cx="3249000" cy="14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5238851" y="2246051"/>
            <a:ext cx="2789400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1707675" y="2246051"/>
            <a:ext cx="2789400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411701" y="1687150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solidFill>
                  <a:schemeClr val="dk2"/>
                </a:solidFill>
                <a:latin typeface="Source Code Pro Medium" panose="020B0309030403020204"/>
                <a:ea typeface="Source Code Pro Medium" panose="020B0309030403020204"/>
                <a:cs typeface="Source Code Pro Medium" panose="020B0309030403020204"/>
                <a:sym typeface="Source Code Pro Medium" panose="020B0309030403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4942882" y="1687150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solidFill>
                  <a:schemeClr val="accent2"/>
                </a:solidFill>
                <a:latin typeface="Source Code Pro Medium" panose="020B0309030403020204"/>
                <a:ea typeface="Source Code Pro Medium" panose="020B0309030403020204"/>
                <a:cs typeface="Source Code Pro Medium" panose="020B0309030403020204"/>
                <a:sym typeface="Source Code Pro Medium" panose="020B0309030403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394900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3864750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394900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3864750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6334599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6334599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113052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solidFill>
                  <a:schemeClr val="accent2"/>
                </a:solidFill>
                <a:latin typeface="Source Code Pro Medium" panose="020B0309030403020204"/>
                <a:ea typeface="Source Code Pro Medium" panose="020B0309030403020204"/>
                <a:cs typeface="Source Code Pro Medium" panose="020B0309030403020204"/>
                <a:sym typeface="Source Code Pro Medium" panose="020B0309030403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3582900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solidFill>
                  <a:schemeClr val="dk2"/>
                </a:solidFill>
                <a:latin typeface="Source Code Pro Medium" panose="020B0309030403020204"/>
                <a:ea typeface="Source Code Pro Medium" panose="020B0309030403020204"/>
                <a:cs typeface="Source Code Pro Medium" panose="020B0309030403020204"/>
                <a:sym typeface="Source Code Pro Medium" panose="020B0309030403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6052748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solidFill>
                  <a:schemeClr val="accent5"/>
                </a:solidFill>
                <a:latin typeface="Source Code Pro Medium" panose="020B0309030403020204"/>
                <a:ea typeface="Source Code Pro Medium" panose="020B0309030403020204"/>
                <a:cs typeface="Source Code Pro Medium" panose="020B0309030403020204"/>
                <a:sym typeface="Source Code Pro Medium" panose="020B0309030403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113052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solidFill>
                  <a:schemeClr val="accent1"/>
                </a:solidFill>
                <a:latin typeface="Source Code Pro Medium" panose="020B0309030403020204"/>
                <a:ea typeface="Source Code Pro Medium" panose="020B0309030403020204"/>
                <a:cs typeface="Source Code Pro Medium" panose="020B0309030403020204"/>
                <a:sym typeface="Source Code Pro Medium" panose="020B0309030403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3582900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solidFill>
                  <a:schemeClr val="lt2"/>
                </a:solidFill>
                <a:latin typeface="Source Code Pro Medium" panose="020B0309030403020204"/>
                <a:ea typeface="Source Code Pro Medium" panose="020B0309030403020204"/>
                <a:cs typeface="Source Code Pro Medium" panose="020B0309030403020204"/>
                <a:sym typeface="Source Code Pro Medium" panose="020B0309030403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6052748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solidFill>
                  <a:schemeClr val="accent3"/>
                </a:solidFill>
                <a:latin typeface="Source Code Pro Medium" panose="020B0309030403020204"/>
                <a:ea typeface="Source Code Pro Medium" panose="020B0309030403020204"/>
                <a:cs typeface="Source Code Pro Medium" panose="020B0309030403020204"/>
                <a:sym typeface="Source Code Pro Medium" panose="020B0309030403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4424750" y="-1800"/>
            <a:ext cx="47193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8193116" y="446250"/>
            <a:ext cx="414956" cy="186500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2000" y="295804"/>
            <a:ext cx="8100000" cy="594000"/>
          </a:xfrm>
        </p:spPr>
        <p:txBody>
          <a:bodyPr/>
          <a:lstStyle>
            <a:lvl1pPr algn="ct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 panose="020B0309030403020204"/>
              <a:buNone/>
              <a:defRPr sz="3500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 panose="020B0309030403020204"/>
              <a:buNone/>
              <a:defRPr sz="3500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 panose="020B0309030403020204"/>
              <a:buNone/>
              <a:defRPr sz="3500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 panose="020B0309030403020204"/>
              <a:buNone/>
              <a:defRPr sz="3500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 panose="020B0309030403020204"/>
              <a:buNone/>
              <a:defRPr sz="3500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 panose="020B0309030403020204"/>
              <a:buNone/>
              <a:defRPr sz="3500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 panose="020B0309030403020204"/>
              <a:buNone/>
              <a:defRPr sz="3500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 panose="020B0309030403020204"/>
              <a:buNone/>
              <a:defRPr sz="3500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 panose="020B0309030403020204"/>
              <a:buNone/>
              <a:defRPr sz="3500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Char char="●"/>
              <a:defRPr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Char char="○"/>
              <a:defRPr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Char char="■"/>
              <a:defRPr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Char char="●"/>
              <a:defRPr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Char char="○"/>
              <a:defRPr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Char char="■"/>
              <a:defRPr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Char char="●"/>
              <a:defRPr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Char char="○"/>
              <a:defRPr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Char char="■"/>
              <a:defRPr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6" r:id="rId5"/>
    <p:sldLayoutId id="2147483660" r:id="rId6"/>
    <p:sldLayoutId id="2147483663" r:id="rId7"/>
    <p:sldLayoutId id="2147483665" r:id="rId8"/>
    <p:sldLayoutId id="2147483669" r:id="rId9"/>
    <p:sldLayoutId id="2147483673" r:id="rId10"/>
    <p:sldLayoutId id="2147483674" r:id="rId11"/>
    <p:sldLayoutId id="214748367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xfrm>
            <a:off x="2735500" y="1258850"/>
            <a:ext cx="57975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</a:t>
            </a:r>
            <a:r>
              <a:rPr lang="en-US" altLang="en-GB"/>
              <a:t>o          	</a:t>
            </a:r>
            <a:r>
              <a:rPr lang="en-US" altLang="en-GB">
                <a:solidFill>
                  <a:schemeClr val="accent4"/>
                </a:solidFill>
              </a:rPr>
              <a:t>Codexa</a:t>
            </a:r>
            <a:endParaRPr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</a:t>
            </a:r>
            <a:r>
              <a:rPr lang="en-US" altLang="en-GB"/>
              <a:t>   </a:t>
            </a:r>
            <a:r>
              <a:rPr lang="en-GB"/>
              <a:t>for </a:t>
            </a:r>
            <a:r>
              <a:rPr lang="en-US" altLang="en-GB"/>
              <a:t>Geeks</a:t>
            </a:r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2735500" y="3297650"/>
            <a:ext cx="5797500" cy="4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&lt;</a:t>
            </a:r>
            <a:r>
              <a:rPr lang="en-US" altLang="en-GB" sz="1200"/>
              <a:t> </a:t>
            </a:r>
            <a:r>
              <a:rPr lang="en-US" altLang="en-GB" sz="1400"/>
              <a:t>G2: Areej Batool, Faizan Rabbani, Ali Huzaifa</a:t>
            </a:r>
            <a:r>
              <a:rPr lang="en-GB" sz="1200"/>
              <a:t> &gt;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097300" y="5710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2847375" y="41084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...</a:t>
            </a:r>
            <a:endParaRPr sz="5000">
              <a:solidFill>
                <a:schemeClr val="accent2"/>
              </a:solidFill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255130" y="696438"/>
            <a:ext cx="2377907" cy="3907563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Table of </a:t>
            </a:r>
            <a:r>
              <a:rPr lang="en-US" altLang="en-GB" b="1">
                <a:solidFill>
                  <a:schemeClr val="accent4"/>
                </a:solidFill>
              </a:rPr>
              <a:t>Contents</a:t>
            </a: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Welcome to the world of Codexa!</a:t>
            </a:r>
          </a:p>
        </p:txBody>
      </p:sp>
      <p:graphicFrame>
        <p:nvGraphicFramePr>
          <p:cNvPr id="299" name="Google Shape;299;p32"/>
          <p:cNvGraphicFramePr/>
          <p:nvPr/>
        </p:nvGraphicFramePr>
        <p:xfrm>
          <a:off x="1403260" y="1635895"/>
          <a:ext cx="7704000" cy="2169150"/>
        </p:xfrm>
        <a:graphic>
          <a:graphicData uri="http://schemas.openxmlformats.org/drawingml/2006/table">
            <a:tbl>
              <a:tblPr>
                <a:noFill/>
                <a:tableStyleId>{D8797CFD-685B-4976-994F-ADA2EB521277}</a:tableStyleId>
              </a:tblPr>
              <a:tblGrid>
                <a:gridCol w="2494575"/>
                <a:gridCol w="5209425"/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2"/>
                          </a:solid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Codexa Intro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Source Code Pro" panose="020B0309030403020204"/>
                        <a:ea typeface="Source Code Pro" panose="020B0309030403020204"/>
                        <a:cs typeface="Source Code Pro" panose="020B0309030403020204"/>
                        <a:sym typeface="Source Code Pro" panose="020B030903040302020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60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Codexa Syntax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Source Code Pro" panose="020B0309030403020204"/>
                        <a:ea typeface="Source Code Pro" panose="020B0309030403020204"/>
                        <a:cs typeface="Source Code Pro" panose="020B0309030403020204"/>
                        <a:sym typeface="Source Code Pro" panose="020B030903040302020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accent4"/>
                          </a:solid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Codexa Variables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Source Code Pro" panose="020B0309030403020204"/>
                        <a:ea typeface="Source Code Pro" panose="020B0309030403020204"/>
                        <a:cs typeface="Source Code Pro" panose="020B0309030403020204"/>
                        <a:sym typeface="Source Code Pro" panose="020B030903040302020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6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Codexa Data Types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Source Code Pro" panose="020B0309030403020204"/>
                        <a:ea typeface="Source Code Pro" panose="020B0309030403020204"/>
                        <a:cs typeface="Source Code Pro" panose="020B0309030403020204"/>
                        <a:sym typeface="Source Code Pro" panose="020B030903040302020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6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Codexa Comments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Source Code Pro" panose="020B0309030403020204"/>
                        <a:ea typeface="Source Code Pro" panose="020B0309030403020204"/>
                        <a:cs typeface="Source Code Pro" panose="020B0309030403020204"/>
                        <a:sym typeface="Source Code Pro" panose="020B030903040302020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lt2"/>
                          </a:solid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Codexa Keywords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Source Code Pro" panose="020B0309030403020204"/>
                        <a:ea typeface="Source Code Pro" panose="020B0309030403020204"/>
                        <a:cs typeface="Source Code Pro" panose="020B0309030403020204"/>
                        <a:sym typeface="Source Code Pro" panose="020B030903040302020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" name="Google Shape;299;p32"/>
          <p:cNvGraphicFramePr/>
          <p:nvPr>
            <p:extLst>
              <p:ext uri="{D42A27DB-BD31-4B8C-83A1-F6EECF244321}">
                <p14:modId xmlns:p14="http://schemas.microsoft.com/office/powerpoint/2010/main" val="4071074016"/>
              </p:ext>
            </p:extLst>
          </p:nvPr>
        </p:nvGraphicFramePr>
        <p:xfrm>
          <a:off x="5219610" y="1635895"/>
          <a:ext cx="7704000" cy="2169150"/>
        </p:xfrm>
        <a:graphic>
          <a:graphicData uri="http://schemas.openxmlformats.org/drawingml/2006/table">
            <a:tbl>
              <a:tblPr>
                <a:noFill/>
                <a:tableStyleId>{D8797CFD-685B-4976-994F-ADA2EB521277}</a:tableStyleId>
              </a:tblPr>
              <a:tblGrid>
                <a:gridCol w="2494575"/>
                <a:gridCol w="5209425"/>
              </a:tblGrid>
              <a:tr h="3615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chemeClr val="dk2"/>
                          </a:solid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Codexa</a:t>
                      </a:r>
                      <a:r>
                        <a:rPr lang="en-US" sz="1600" dirty="0">
                          <a:solidFill>
                            <a:schemeClr val="dk2"/>
                          </a:solid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 Operators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Source Code Pro" panose="020B0309030403020204"/>
                        <a:ea typeface="Source Code Pro" panose="020B0309030403020204"/>
                        <a:cs typeface="Source Code Pro" panose="020B0309030403020204"/>
                        <a:sym typeface="Source Code Pro" panose="020B030903040302020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600" dirty="0" err="1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Codexa</a:t>
                      </a:r>
                      <a:r>
                        <a:rPr lang="en-US" altLang="en-GB" sz="16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 Selection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Source Code Pro" panose="020B0309030403020204"/>
                        <a:ea typeface="Source Code Pro" panose="020B0309030403020204"/>
                        <a:cs typeface="Source Code Pro" panose="020B0309030403020204"/>
                        <a:sym typeface="Source Code Pro" panose="020B030903040302020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chemeClr val="accent4"/>
                          </a:solid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Codexa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 Loops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Source Code Pro" panose="020B0309030403020204"/>
                        <a:ea typeface="Source Code Pro" panose="020B0309030403020204"/>
                        <a:cs typeface="Source Code Pro" panose="020B0309030403020204"/>
                        <a:sym typeface="Source Code Pro" panose="020B030903040302020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600" dirty="0" err="1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Codexa</a:t>
                      </a:r>
                      <a:r>
                        <a:rPr lang="en-US" altLang="en-GB" sz="16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 Strings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Source Code Pro" panose="020B0309030403020204"/>
                        <a:ea typeface="Source Code Pro" panose="020B0309030403020204"/>
                        <a:cs typeface="Source Code Pro" panose="020B0309030403020204"/>
                        <a:sym typeface="Source Code Pro" panose="020B030903040302020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6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Codexa Arrays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Source Code Pro" panose="020B0309030403020204"/>
                        <a:ea typeface="Source Code Pro" panose="020B0309030403020204"/>
                        <a:cs typeface="Source Code Pro" panose="020B0309030403020204"/>
                        <a:sym typeface="Source Code Pro" panose="020B030903040302020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 smtClean="0">
                          <a:solidFill>
                            <a:schemeClr val="lt2"/>
                          </a:solid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Codexa</a:t>
                      </a:r>
                      <a:r>
                        <a:rPr lang="en-US" sz="1600" baseline="0" dirty="0">
                          <a:solidFill>
                            <a:schemeClr val="lt2"/>
                          </a:solid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 </a:t>
                      </a:r>
                      <a:r>
                        <a:rPr lang="en-US" sz="1600" baseline="0" dirty="0" err="1" smtClean="0">
                          <a:solidFill>
                            <a:schemeClr val="lt2"/>
                          </a:solidFill>
                          <a:latin typeface="Source Code Pro" panose="020B0309030403020204"/>
                          <a:ea typeface="Source Code Pro" panose="020B0309030403020204"/>
                          <a:cs typeface="Source Code Pro" panose="020B0309030403020204"/>
                          <a:sym typeface="Source Code Pro" panose="020B0309030403020204"/>
                        </a:rPr>
                        <a:t>Fuctions</a:t>
                      </a:r>
                      <a:endParaRPr lang="en-US" sz="1600" dirty="0">
                        <a:solidFill>
                          <a:schemeClr val="lt2"/>
                        </a:solidFill>
                        <a:latin typeface="Source Code Pro" panose="020B0309030403020204"/>
                        <a:ea typeface="Source Code Pro" panose="020B0309030403020204"/>
                        <a:cs typeface="Source Code Pro" panose="020B0309030403020204"/>
                        <a:sym typeface="Source Code Pro" panose="020B030903040302020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Source Code Pro" panose="020B0309030403020204"/>
                        <a:ea typeface="Source Code Pro" panose="020B0309030403020204"/>
                        <a:cs typeface="Source Code Pro" panose="020B0309030403020204"/>
                        <a:sym typeface="Source Code Pro" panose="020B030903040302020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3860800" y="771525"/>
            <a:ext cx="5109210" cy="19646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/>
              <a:t>Intro</a:t>
            </a:r>
            <a:r>
              <a:rPr lang="en-GB"/>
              <a:t>!</a:t>
            </a:r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4223100" y="2859320"/>
            <a:ext cx="4206000" cy="10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&lt; </a:t>
            </a:r>
            <a:r>
              <a:rPr lang="en-US" altLang="en-GB"/>
              <a:t>Codexa inspired by “codex”, implying a comprehensive organized coding system.</a:t>
            </a:r>
            <a:r>
              <a:rPr lang="en-US" altLang="en-GB" sz="1400"/>
              <a:t> </a:t>
            </a:r>
            <a:r>
              <a:rPr lang="en-US" altLang="en-GB"/>
              <a:t>A high-level object oriented language used to develop adaptable applications.</a:t>
            </a:r>
            <a:r>
              <a:rPr lang="en-GB"/>
              <a:t> </a:t>
            </a:r>
            <a:r>
              <a:rPr lang="en-GB" sz="1400"/>
              <a:t>&gt;</a:t>
            </a:r>
          </a:p>
        </p:txBody>
      </p:sp>
      <p:sp>
        <p:nvSpPr>
          <p:cNvPr id="354" name="Google Shape;354;p34"/>
          <p:cNvSpPr txBox="1"/>
          <p:nvPr/>
        </p:nvSpPr>
        <p:spPr>
          <a:xfrm>
            <a:off x="8329900" y="3978325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335642" y="696438"/>
            <a:ext cx="2932044" cy="3907563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100695" y="1419225"/>
            <a:ext cx="688975" cy="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accent4"/>
                </a:solidFill>
              </a:rPr>
              <a:t>		</a:t>
            </a:r>
            <a:r>
              <a:rPr lang="en-US" altLang="en-GB" b="1">
                <a:solidFill>
                  <a:schemeClr val="accent4"/>
                </a:solidFill>
              </a:rPr>
              <a:t>Syntax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407" name="Google Shape;407;p35"/>
          <p:cNvSpPr txBox="1">
            <a:spLocks noGrp="1"/>
          </p:cNvSpPr>
          <p:nvPr>
            <p:ph type="title" idx="2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2</a:t>
            </a:r>
          </a:p>
        </p:txBody>
      </p:sp>
      <p:sp>
        <p:nvSpPr>
          <p:cNvPr id="408" name="Google Shape;408;p35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&lt; </a:t>
            </a:r>
            <a:r>
              <a:rPr lang="en-US" altLang="en-GB"/>
              <a:t>Set of rules to dictate how to write code in a programming language.</a:t>
            </a:r>
            <a:r>
              <a:rPr lang="en-GB"/>
              <a:t> </a:t>
            </a:r>
            <a:r>
              <a:rPr lang="en-GB" sz="1400"/>
              <a:t>&gt;</a:t>
            </a:r>
          </a:p>
        </p:txBody>
      </p:sp>
      <p:sp>
        <p:nvSpPr>
          <p:cNvPr id="409" name="Google Shape;409;p35"/>
          <p:cNvSpPr txBox="1"/>
          <p:nvPr/>
        </p:nvSpPr>
        <p:spPr>
          <a:xfrm>
            <a:off x="2195863" y="13735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2640213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5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/>
              <a:t>Code Example 1</a:t>
            </a:r>
            <a:endParaRPr lang="en-US" altLang="en-GB" b="1">
              <a:solidFill>
                <a:schemeClr val="accent4"/>
              </a:solidFill>
            </a:endParaRPr>
          </a:p>
        </p:txBody>
      </p:sp>
      <p:grpSp>
        <p:nvGrpSpPr>
          <p:cNvPr id="456" name="Google Shape;456;p37"/>
          <p:cNvGrpSpPr/>
          <p:nvPr/>
        </p:nvGrpSpPr>
        <p:grpSpPr>
          <a:xfrm>
            <a:off x="321967" y="1337250"/>
            <a:ext cx="2415354" cy="3413475"/>
            <a:chOff x="719992" y="1135488"/>
            <a:chExt cx="2415354" cy="3413475"/>
          </a:xfrm>
        </p:grpSpPr>
        <p:sp>
          <p:nvSpPr>
            <p:cNvPr id="457" name="Google Shape;457;p37"/>
            <p:cNvSpPr/>
            <p:nvPr/>
          </p:nvSpPr>
          <p:spPr>
            <a:xfrm>
              <a:off x="719992" y="1144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1206317" y="11354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719992" y="14562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719992" y="17830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719992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1154846" y="210973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1689227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719992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719992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719992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719992" y="3381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733714" y="4161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1154846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1115907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>
              <a:off x="1154846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>
              <a:off x="1154846" y="33979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1154846" y="37238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1558536" y="2420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1558536" y="276316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1589699" y="30720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>
              <a:off x="1589699" y="34165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1589699" y="372386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2268127" y="242031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2558446" y="274620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2727100" y="30721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2727100" y="37239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>
              <a:off x="733714" y="4401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1634836" y="11473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1206336" y="1456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1939636" y="14521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1206329" y="17830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2124079" y="210767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2727104" y="34165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1154861" y="43756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1154861" y="41455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2" name="Google Shape;492;p37"/>
          <p:cNvSpPr txBox="1"/>
          <p:nvPr/>
        </p:nvSpPr>
        <p:spPr>
          <a:xfrm>
            <a:off x="8277725" y="1337250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24530" y="1362075"/>
            <a:ext cx="5172075" cy="324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!</a:t>
            </a:r>
            <a:r>
              <a:rPr lang="en-US" altLang="en-US" dirty="0" smtClean="0">
                <a:solidFill>
                  <a:schemeClr val="tx1"/>
                </a:solidFill>
              </a:rPr>
              <a:t>include </a:t>
            </a:r>
            <a:r>
              <a:rPr lang="en-US" altLang="en-US" dirty="0">
                <a:solidFill>
                  <a:schemeClr val="tx1"/>
                </a:solidFill>
              </a:rPr>
              <a:t>`library1`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 smtClean="0">
                <a:solidFill>
                  <a:schemeClr val="tx1"/>
                </a:solidFill>
              </a:rPr>
              <a:t>&lt;numeric&gt; </a:t>
            </a:r>
            <a:r>
              <a:rPr lang="en-US" altLang="en-US" dirty="0">
                <a:solidFill>
                  <a:schemeClr val="tx1"/>
                </a:solidFill>
              </a:rPr>
              <a:t>main() 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Begin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    </a:t>
            </a:r>
            <a:r>
              <a:rPr lang="en-US" altLang="en-US" dirty="0" smtClean="0">
                <a:solidFill>
                  <a:schemeClr val="tx1"/>
                </a:solidFill>
              </a:rPr>
              <a:t>&lt;text&gt; </a:t>
            </a:r>
            <a:r>
              <a:rPr lang="en-US" altLang="en-US" dirty="0">
                <a:solidFill>
                  <a:schemeClr val="tx1"/>
                </a:solidFill>
              </a:rPr>
              <a:t>name;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    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    write "Enter your name</a:t>
            </a:r>
            <a:r>
              <a:rPr lang="en-US" altLang="en-US" dirty="0" smtClean="0">
                <a:solidFill>
                  <a:schemeClr val="tx1"/>
                </a:solidFill>
              </a:rPr>
              <a:t>:";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    # Output prompt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    read name; </a:t>
            </a:r>
            <a:r>
              <a:rPr lang="en-US" altLang="en-US" dirty="0" smtClean="0">
                <a:solidFill>
                  <a:schemeClr val="tx1"/>
                </a:solidFill>
              </a:rPr>
              <a:t>.n       </a:t>
            </a:r>
            <a:r>
              <a:rPr lang="en-US" altLang="en-US" dirty="0">
                <a:solidFill>
                  <a:schemeClr val="tx1"/>
                </a:solidFill>
              </a:rPr>
              <a:t># Read user input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    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    write "Hello, " + name + "!";  # Output greeting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    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    respond 0;  # Return statement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accent4"/>
                </a:solidFill>
              </a:rPr>
              <a:t>		</a:t>
            </a:r>
            <a:r>
              <a:rPr lang="en-US" altLang="en-GB" b="1">
                <a:solidFill>
                  <a:schemeClr val="accent4"/>
                </a:solidFill>
              </a:rPr>
              <a:t>Datatype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407" name="Google Shape;407;p35"/>
          <p:cNvSpPr txBox="1">
            <a:spLocks noGrp="1"/>
          </p:cNvSpPr>
          <p:nvPr>
            <p:ph type="title" idx="2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3</a:t>
            </a:r>
          </a:p>
        </p:txBody>
      </p:sp>
      <p:sp>
        <p:nvSpPr>
          <p:cNvPr id="408" name="Google Shape;408;p35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&lt; </a:t>
            </a:r>
            <a:r>
              <a:rPr lang="en-US" altLang="en-GB"/>
              <a:t>Type of data a variable can store</a:t>
            </a:r>
            <a:r>
              <a:rPr lang="en-GB"/>
              <a:t> </a:t>
            </a:r>
            <a:r>
              <a:rPr lang="en-GB" sz="1400"/>
              <a:t>&gt;</a:t>
            </a:r>
          </a:p>
        </p:txBody>
      </p:sp>
      <p:sp>
        <p:nvSpPr>
          <p:cNvPr id="409" name="Google Shape;409;p35"/>
          <p:cNvSpPr txBox="1"/>
          <p:nvPr/>
        </p:nvSpPr>
        <p:spPr>
          <a:xfrm>
            <a:off x="2195863" y="13735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2640213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5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2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42"/>
          <p:cNvSpPr txBox="1">
            <a:spLocks noGrp="1"/>
          </p:cNvSpPr>
          <p:nvPr>
            <p:ph type="subTitle" idx="2"/>
          </p:nvPr>
        </p:nvSpPr>
        <p:spPr>
          <a:xfrm>
            <a:off x="3716655" y="1677035"/>
            <a:ext cx="2256155" cy="8801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dirty="0"/>
              <a:t>Stores text, such as “Hello World”. String values are surrounded by double quotes.</a:t>
            </a:r>
          </a:p>
        </p:txBody>
      </p:sp>
      <p:sp>
        <p:nvSpPr>
          <p:cNvPr id="639" name="Google Shape;639;p42"/>
          <p:cNvSpPr txBox="1">
            <a:spLocks noGrp="1"/>
          </p:cNvSpPr>
          <p:nvPr>
            <p:ph type="subTitle" idx="5"/>
          </p:nvPr>
        </p:nvSpPr>
        <p:spPr>
          <a:xfrm>
            <a:off x="6120604" y="1635695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Stores upto 8-byte floating point numbers, with decimals, such as 20.2 or -10.2</a:t>
            </a:r>
          </a:p>
        </p:txBody>
      </p:sp>
      <p:sp>
        <p:nvSpPr>
          <p:cNvPr id="640" name="Google Shape;640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 dirty="0" err="1">
                <a:solidFill>
                  <a:schemeClr val="accent4"/>
                </a:solidFill>
              </a:rPr>
              <a:t>DataType</a:t>
            </a:r>
            <a:endParaRPr lang="en-US" altLang="en-GB" b="1" dirty="0">
              <a:solidFill>
                <a:schemeClr val="accent4"/>
              </a:solidFill>
            </a:endParaRPr>
          </a:p>
        </p:txBody>
      </p:sp>
      <p:sp>
        <p:nvSpPr>
          <p:cNvPr id="641" name="Google Shape;641;p42"/>
          <p:cNvSpPr txBox="1">
            <a:spLocks noGrp="1"/>
          </p:cNvSpPr>
          <p:nvPr>
            <p:ph type="subTitle" idx="1"/>
          </p:nvPr>
        </p:nvSpPr>
        <p:spPr>
          <a:xfrm>
            <a:off x="1403155" y="177984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dirty="0"/>
              <a:t>Stores integers (whole numbers) without decimal such as 12</a:t>
            </a:r>
          </a:p>
        </p:txBody>
      </p:sp>
      <p:sp>
        <p:nvSpPr>
          <p:cNvPr id="642" name="Google Shape;642;p42"/>
          <p:cNvSpPr txBox="1">
            <a:spLocks noGrp="1"/>
          </p:cNvSpPr>
          <p:nvPr>
            <p:ph type="subTitle" idx="3"/>
          </p:nvPr>
        </p:nvSpPr>
        <p:spPr>
          <a:xfrm>
            <a:off x="1394900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Stores single characters, such as ‘a’ or ‘B’. Char values are surrounded by single quotes.</a:t>
            </a:r>
          </a:p>
        </p:txBody>
      </p:sp>
      <p:sp>
        <p:nvSpPr>
          <p:cNvPr id="643" name="Google Shape;643;p42"/>
          <p:cNvSpPr txBox="1">
            <a:spLocks noGrp="1"/>
          </p:cNvSpPr>
          <p:nvPr>
            <p:ph type="subTitle" idx="4"/>
          </p:nvPr>
        </p:nvSpPr>
        <p:spPr>
          <a:xfrm>
            <a:off x="6120905" y="3868535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Stores values with two states true or false.</a:t>
            </a:r>
          </a:p>
        </p:txBody>
      </p:sp>
      <p:sp>
        <p:nvSpPr>
          <p:cNvPr id="644" name="Google Shape;644;p42"/>
          <p:cNvSpPr txBox="1">
            <a:spLocks noGrp="1"/>
          </p:cNvSpPr>
          <p:nvPr>
            <p:ph type="subTitle" idx="6"/>
          </p:nvPr>
        </p:nvSpPr>
        <p:spPr>
          <a:xfrm>
            <a:off x="3851749" y="348563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dirty="0">
                <a:sym typeface="+mn-ea"/>
              </a:rPr>
              <a:t>Stores </a:t>
            </a:r>
            <a:r>
              <a:rPr lang="en-US" altLang="en-GB" dirty="0" err="1">
                <a:sym typeface="+mn-ea"/>
              </a:rPr>
              <a:t>upto</a:t>
            </a:r>
            <a:r>
              <a:rPr lang="en-US" altLang="en-GB" dirty="0">
                <a:sym typeface="+mn-ea"/>
              </a:rPr>
              <a:t> 4-byte floating point numbers, with decimals, such as 20.2 or -10.2</a:t>
            </a:r>
            <a:endParaRPr lang="en-GB" dirty="0"/>
          </a:p>
        </p:txBody>
      </p:sp>
      <p:sp>
        <p:nvSpPr>
          <p:cNvPr id="645" name="Google Shape;645;p42"/>
          <p:cNvSpPr txBox="1">
            <a:spLocks noGrp="1"/>
          </p:cNvSpPr>
          <p:nvPr>
            <p:ph type="subTitle" idx="7"/>
          </p:nvPr>
        </p:nvSpPr>
        <p:spPr>
          <a:xfrm>
            <a:off x="1113052" y="1360899"/>
            <a:ext cx="2594852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dirty="0"/>
              <a:t>n</a:t>
            </a:r>
            <a:r>
              <a:rPr lang="en-US" altLang="en-GB" sz="1600" dirty="0" smtClean="0"/>
              <a:t>umeric</a:t>
            </a:r>
            <a:r>
              <a:rPr lang="en-US" altLang="en-GB" dirty="0" smtClean="0"/>
              <a:t> </a:t>
            </a:r>
            <a:r>
              <a:rPr lang="en-US" altLang="en-GB" sz="1400" dirty="0" smtClean="0"/>
              <a:t>2/4 </a:t>
            </a:r>
            <a:r>
              <a:rPr lang="en-US" altLang="en-GB" sz="1400" dirty="0"/>
              <a:t>bytes</a:t>
            </a:r>
          </a:p>
        </p:txBody>
      </p:sp>
      <p:sp>
        <p:nvSpPr>
          <p:cNvPr id="646" name="Google Shape;646;p42"/>
          <p:cNvSpPr txBox="1">
            <a:spLocks noGrp="1"/>
          </p:cNvSpPr>
          <p:nvPr>
            <p:ph type="subTitle" idx="8"/>
          </p:nvPr>
        </p:nvSpPr>
        <p:spPr>
          <a:xfrm>
            <a:off x="3582900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dirty="0" smtClean="0"/>
              <a:t>text</a:t>
            </a:r>
            <a:endParaRPr lang="en-US" altLang="en-GB" sz="1800" dirty="0"/>
          </a:p>
        </p:txBody>
      </p:sp>
      <p:sp>
        <p:nvSpPr>
          <p:cNvPr id="647" name="Google Shape;647;p42"/>
          <p:cNvSpPr txBox="1">
            <a:spLocks noGrp="1"/>
          </p:cNvSpPr>
          <p:nvPr>
            <p:ph type="subTitle" idx="9"/>
          </p:nvPr>
        </p:nvSpPr>
        <p:spPr>
          <a:xfrm>
            <a:off x="5652135" y="1360805"/>
            <a:ext cx="2411095" cy="4927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dirty="0"/>
              <a:t>double</a:t>
            </a:r>
            <a:r>
              <a:rPr lang="en-US" altLang="en-GB" dirty="0"/>
              <a:t> </a:t>
            </a:r>
            <a:r>
              <a:rPr lang="en-US" altLang="en-GB" sz="1400" dirty="0"/>
              <a:t>8 byte</a:t>
            </a:r>
          </a:p>
        </p:txBody>
      </p:sp>
      <p:sp>
        <p:nvSpPr>
          <p:cNvPr id="648" name="Google Shape;648;p42"/>
          <p:cNvSpPr txBox="1">
            <a:spLocks noGrp="1"/>
          </p:cNvSpPr>
          <p:nvPr>
            <p:ph type="subTitle" idx="13"/>
          </p:nvPr>
        </p:nvSpPr>
        <p:spPr>
          <a:xfrm>
            <a:off x="1113155" y="2931795"/>
            <a:ext cx="1978025" cy="4927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dirty="0" smtClean="0"/>
              <a:t>symbol</a:t>
            </a:r>
            <a:r>
              <a:rPr lang="en-US" altLang="en-GB" dirty="0" smtClean="0"/>
              <a:t> </a:t>
            </a:r>
            <a:r>
              <a:rPr lang="en-US" altLang="en-GB" sz="1400" dirty="0" smtClean="0"/>
              <a:t>1 </a:t>
            </a:r>
            <a:r>
              <a:rPr lang="en-US" altLang="en-GB" sz="1400" dirty="0"/>
              <a:t>byte</a:t>
            </a:r>
          </a:p>
        </p:txBody>
      </p:sp>
      <p:sp>
        <p:nvSpPr>
          <p:cNvPr id="649" name="Google Shape;649;p42"/>
          <p:cNvSpPr txBox="1">
            <a:spLocks noGrp="1"/>
          </p:cNvSpPr>
          <p:nvPr>
            <p:ph type="subTitle" idx="14"/>
          </p:nvPr>
        </p:nvSpPr>
        <p:spPr>
          <a:xfrm>
            <a:off x="6084165" y="348579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dirty="0" smtClean="0"/>
              <a:t>flag</a:t>
            </a:r>
            <a:r>
              <a:rPr lang="en-US" altLang="en-GB" dirty="0" smtClean="0"/>
              <a:t> </a:t>
            </a:r>
            <a:r>
              <a:rPr lang="en-US" altLang="en-GB" sz="1400" dirty="0" smtClean="0"/>
              <a:t>1 </a:t>
            </a:r>
            <a:r>
              <a:rPr lang="en-US" altLang="en-GB" sz="1400" dirty="0"/>
              <a:t>byte</a:t>
            </a:r>
          </a:p>
        </p:txBody>
      </p:sp>
      <p:sp>
        <p:nvSpPr>
          <p:cNvPr id="650" name="Google Shape;650;p42"/>
          <p:cNvSpPr txBox="1">
            <a:spLocks noGrp="1"/>
          </p:cNvSpPr>
          <p:nvPr>
            <p:ph type="subTitle" idx="15"/>
          </p:nvPr>
        </p:nvSpPr>
        <p:spPr>
          <a:xfrm>
            <a:off x="3670863" y="3076215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dirty="0"/>
              <a:t>d</a:t>
            </a:r>
            <a:r>
              <a:rPr lang="en-US" altLang="en-GB" sz="1600" dirty="0" smtClean="0"/>
              <a:t>ecimal </a:t>
            </a:r>
            <a:r>
              <a:rPr lang="en-US" altLang="en-GB" sz="1400" dirty="0" smtClean="0"/>
              <a:t>4 </a:t>
            </a:r>
            <a:r>
              <a:rPr lang="en-US" altLang="en-GB" sz="1400" dirty="0"/>
              <a:t>byte</a:t>
            </a:r>
          </a:p>
        </p:txBody>
      </p:sp>
      <p:sp>
        <p:nvSpPr>
          <p:cNvPr id="651" name="Google Shape;651;p42"/>
          <p:cNvSpPr txBox="1"/>
          <p:nvPr/>
        </p:nvSpPr>
        <p:spPr>
          <a:xfrm>
            <a:off x="226313" y="29637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52" name="Google Shape;652;p42"/>
          <p:cNvSpPr txBox="1"/>
          <p:nvPr/>
        </p:nvSpPr>
        <p:spPr>
          <a:xfrm>
            <a:off x="7800975" y="416369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53" name="Google Shape;653;p42"/>
          <p:cNvSpPr txBox="1"/>
          <p:nvPr/>
        </p:nvSpPr>
        <p:spPr>
          <a:xfrm>
            <a:off x="7951750" y="4365900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654" name="Google Shape;654;p42"/>
          <p:cNvSpPr txBox="1"/>
          <p:nvPr/>
        </p:nvSpPr>
        <p:spPr>
          <a:xfrm>
            <a:off x="670663" y="511050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5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  <p:grpSp>
        <p:nvGrpSpPr>
          <p:cNvPr id="655" name="Google Shape;655;p42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656" name="Google Shape;656;p42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2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2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9" name="Google Shape;659;p42"/>
          <p:cNvSpPr txBox="1"/>
          <p:nvPr/>
        </p:nvSpPr>
        <p:spPr>
          <a:xfrm>
            <a:off x="319025" y="4034675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accent4"/>
                </a:solidFill>
              </a:rPr>
              <a:t>		</a:t>
            </a:r>
            <a:r>
              <a:rPr lang="en-US" altLang="en-GB" b="1">
                <a:solidFill>
                  <a:schemeClr val="accent4"/>
                </a:solidFill>
              </a:rPr>
              <a:t>Keywords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407" name="Google Shape;407;p35"/>
          <p:cNvSpPr txBox="1">
            <a:spLocks noGrp="1"/>
          </p:cNvSpPr>
          <p:nvPr>
            <p:ph type="title" idx="2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4</a:t>
            </a:r>
          </a:p>
        </p:txBody>
      </p:sp>
      <p:sp>
        <p:nvSpPr>
          <p:cNvPr id="408" name="Google Shape;408;p35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&lt; </a:t>
            </a:r>
            <a:r>
              <a:rPr lang="en-US" altLang="en-GB"/>
              <a:t>Reserved words in a language having special purpose.</a:t>
            </a:r>
            <a:r>
              <a:rPr lang="en-GB"/>
              <a:t> </a:t>
            </a:r>
            <a:r>
              <a:rPr lang="en-GB" sz="1400"/>
              <a:t>&gt;</a:t>
            </a:r>
          </a:p>
        </p:txBody>
      </p:sp>
      <p:sp>
        <p:nvSpPr>
          <p:cNvPr id="409" name="Google Shape;409;p35"/>
          <p:cNvSpPr txBox="1"/>
          <p:nvPr/>
        </p:nvSpPr>
        <p:spPr>
          <a:xfrm>
            <a:off x="2195863" y="13735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2640213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5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accent4"/>
                </a:solidFill>
              </a:rPr>
              <a:t>Keywords</a:t>
            </a:r>
          </a:p>
        </p:txBody>
      </p:sp>
      <p:sp>
        <p:nvSpPr>
          <p:cNvPr id="502" name="Google Shape;502;p38"/>
          <p:cNvSpPr txBox="1"/>
          <p:nvPr/>
        </p:nvSpPr>
        <p:spPr>
          <a:xfrm>
            <a:off x="495375" y="137605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8214625" y="29235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/>
          <p:cNvGrpSpPr/>
          <p:nvPr/>
        </p:nvGrpSpPr>
        <p:grpSpPr>
          <a:xfrm>
            <a:off x="35714" y="4211335"/>
            <a:ext cx="2536147" cy="887325"/>
            <a:chOff x="880714" y="3731738"/>
            <a:chExt cx="2536147" cy="887325"/>
          </a:xfrm>
        </p:grpSpPr>
        <p:sp>
          <p:nvSpPr>
            <p:cNvPr id="505" name="Google Shape;505;p38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8" name="Google Shape;518;p38"/>
          <p:cNvSpPr txBox="1"/>
          <p:nvPr/>
        </p:nvSpPr>
        <p:spPr>
          <a:xfrm>
            <a:off x="8316035" y="4092145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3356477221"/>
              </p:ext>
            </p:extLst>
          </p:nvPr>
        </p:nvGraphicFramePr>
        <p:xfrm>
          <a:off x="3419872" y="1149437"/>
          <a:ext cx="2479443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748"/>
                <a:gridCol w="903605"/>
                <a:gridCol w="97409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Sr.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In 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Keyword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&amp;&amp;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alltrue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||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anytrue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halt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bool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flag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symbol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continue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next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trap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option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ensure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accent4"/>
                </a:solidFill>
              </a:rPr>
              <a:t>Keywords</a:t>
            </a:r>
          </a:p>
        </p:txBody>
      </p:sp>
      <p:sp>
        <p:nvSpPr>
          <p:cNvPr id="502" name="Google Shape;502;p38"/>
          <p:cNvSpPr txBox="1"/>
          <p:nvPr/>
        </p:nvSpPr>
        <p:spPr>
          <a:xfrm>
            <a:off x="495375" y="137605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8214625" y="29235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/>
          <p:cNvGrpSpPr/>
          <p:nvPr/>
        </p:nvGrpSpPr>
        <p:grpSpPr>
          <a:xfrm>
            <a:off x="35714" y="4211335"/>
            <a:ext cx="2536147" cy="887325"/>
            <a:chOff x="880714" y="3731738"/>
            <a:chExt cx="2536147" cy="887325"/>
          </a:xfrm>
        </p:grpSpPr>
        <p:sp>
          <p:nvSpPr>
            <p:cNvPr id="505" name="Google Shape;505;p38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8" name="Google Shape;518;p38"/>
          <p:cNvSpPr txBox="1"/>
          <p:nvPr/>
        </p:nvSpPr>
        <p:spPr>
          <a:xfrm>
            <a:off x="8316035" y="4092145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2069692178"/>
              </p:ext>
            </p:extLst>
          </p:nvPr>
        </p:nvGraphicFramePr>
        <p:xfrm>
          <a:off x="3275856" y="1075487"/>
          <a:ext cx="2479443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748"/>
                <a:gridCol w="903605"/>
                <a:gridCol w="97409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Sr.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In 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Keyword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double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text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bydefault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otherwise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const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fixed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numeric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check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~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respond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accent4"/>
                </a:solidFill>
              </a:rPr>
              <a:t>Keywords</a:t>
            </a:r>
          </a:p>
        </p:txBody>
      </p:sp>
      <p:sp>
        <p:nvSpPr>
          <p:cNvPr id="502" name="Google Shape;502;p38"/>
          <p:cNvSpPr txBox="1"/>
          <p:nvPr/>
        </p:nvSpPr>
        <p:spPr>
          <a:xfrm>
            <a:off x="495375" y="137605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8214625" y="29235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/>
          <p:cNvGrpSpPr/>
          <p:nvPr/>
        </p:nvGrpSpPr>
        <p:grpSpPr>
          <a:xfrm>
            <a:off x="35714" y="4211335"/>
            <a:ext cx="2536147" cy="887325"/>
            <a:chOff x="880714" y="3731738"/>
            <a:chExt cx="2536147" cy="887325"/>
          </a:xfrm>
        </p:grpSpPr>
        <p:sp>
          <p:nvSpPr>
            <p:cNvPr id="505" name="Google Shape;505;p38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8" name="Google Shape;518;p38"/>
          <p:cNvSpPr txBox="1"/>
          <p:nvPr/>
        </p:nvSpPr>
        <p:spPr>
          <a:xfrm>
            <a:off x="8316035" y="4092145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1279721925"/>
              </p:ext>
            </p:extLst>
          </p:nvPr>
        </p:nvGraphicFramePr>
        <p:xfrm>
          <a:off x="3203848" y="1075487"/>
          <a:ext cx="2576598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748"/>
                <a:gridCol w="1010920"/>
                <a:gridCol w="96393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Sr.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In 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Keyword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write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read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while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until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repeat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switch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unsigned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unsigned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void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void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dirty="0">
                <a:solidFill>
                  <a:schemeClr val="accent4"/>
                </a:solidFill>
              </a:rPr>
              <a:t>		</a:t>
            </a:r>
            <a:r>
              <a:rPr lang="en-US" altLang="en-GB" b="1" dirty="0" smtClean="0">
                <a:solidFill>
                  <a:schemeClr val="accent4"/>
                </a:solidFill>
              </a:rPr>
              <a:t>Operators</a:t>
            </a:r>
            <a:endParaRPr b="1" dirty="0">
              <a:solidFill>
                <a:schemeClr val="accent4"/>
              </a:solidFill>
            </a:endParaRPr>
          </a:p>
        </p:txBody>
      </p:sp>
      <p:sp>
        <p:nvSpPr>
          <p:cNvPr id="407" name="Google Shape;407;p35"/>
          <p:cNvSpPr txBox="1">
            <a:spLocks noGrp="1"/>
          </p:cNvSpPr>
          <p:nvPr>
            <p:ph type="title" idx="2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</a:t>
            </a:r>
            <a:r>
              <a:rPr lang="en-US" dirty="0"/>
              <a:t>5</a:t>
            </a:r>
            <a:endParaRPr lang="en-US" altLang="en-GB" dirty="0"/>
          </a:p>
        </p:txBody>
      </p:sp>
      <p:sp>
        <p:nvSpPr>
          <p:cNvPr id="408" name="Google Shape;408;p35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&lt; </a:t>
            </a:r>
            <a:r>
              <a:rPr lang="en-US" altLang="en-GB" dirty="0" smtClean="0"/>
              <a:t>To perform various operations.</a:t>
            </a:r>
            <a:r>
              <a:rPr lang="en-GB" sz="1400" dirty="0" smtClean="0"/>
              <a:t>&gt;</a:t>
            </a:r>
            <a:endParaRPr lang="en-GB" sz="1400" dirty="0"/>
          </a:p>
        </p:txBody>
      </p:sp>
      <p:sp>
        <p:nvSpPr>
          <p:cNvPr id="409" name="Google Shape;409;p35"/>
          <p:cNvSpPr txBox="1"/>
          <p:nvPr/>
        </p:nvSpPr>
        <p:spPr>
          <a:xfrm>
            <a:off x="2195863" y="13735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2640213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5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46148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dirty="0" smtClean="0">
                <a:solidFill>
                  <a:schemeClr val="accent4"/>
                </a:solidFill>
              </a:rPr>
              <a:t>Operators</a:t>
            </a:r>
            <a:endParaRPr lang="en-US" altLang="en-GB" dirty="0">
              <a:solidFill>
                <a:schemeClr val="accent4"/>
              </a:solidFill>
            </a:endParaRPr>
          </a:p>
        </p:txBody>
      </p:sp>
      <p:sp>
        <p:nvSpPr>
          <p:cNvPr id="502" name="Google Shape;502;p38"/>
          <p:cNvSpPr txBox="1"/>
          <p:nvPr/>
        </p:nvSpPr>
        <p:spPr>
          <a:xfrm>
            <a:off x="495375" y="137605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8214625" y="29235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/>
          <p:cNvGrpSpPr/>
          <p:nvPr/>
        </p:nvGrpSpPr>
        <p:grpSpPr>
          <a:xfrm>
            <a:off x="35714" y="4211335"/>
            <a:ext cx="2536147" cy="887325"/>
            <a:chOff x="880714" y="3731738"/>
            <a:chExt cx="2536147" cy="887325"/>
          </a:xfrm>
        </p:grpSpPr>
        <p:sp>
          <p:nvSpPr>
            <p:cNvPr id="505" name="Google Shape;505;p38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8" name="Google Shape;518;p38"/>
          <p:cNvSpPr txBox="1"/>
          <p:nvPr/>
        </p:nvSpPr>
        <p:spPr>
          <a:xfrm>
            <a:off x="8316035" y="4092145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351637393"/>
              </p:ext>
            </p:extLst>
          </p:nvPr>
        </p:nvGraphicFramePr>
        <p:xfrm>
          <a:off x="3275856" y="1005637"/>
          <a:ext cx="2576598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748"/>
                <a:gridCol w="1010920"/>
                <a:gridCol w="96393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Sr.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In 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Keyword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+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+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*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*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/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/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%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%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=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=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==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==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!=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!=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&gt;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&gt;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653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dirty="0" smtClean="0">
                <a:solidFill>
                  <a:schemeClr val="accent4"/>
                </a:solidFill>
              </a:rPr>
              <a:t>Operators</a:t>
            </a:r>
            <a:endParaRPr lang="en-US" altLang="en-GB" dirty="0">
              <a:solidFill>
                <a:schemeClr val="accent4"/>
              </a:solidFill>
            </a:endParaRPr>
          </a:p>
        </p:txBody>
      </p:sp>
      <p:sp>
        <p:nvSpPr>
          <p:cNvPr id="502" name="Google Shape;502;p38"/>
          <p:cNvSpPr txBox="1"/>
          <p:nvPr/>
        </p:nvSpPr>
        <p:spPr>
          <a:xfrm>
            <a:off x="495375" y="137605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8214625" y="29235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/>
          <p:cNvGrpSpPr/>
          <p:nvPr/>
        </p:nvGrpSpPr>
        <p:grpSpPr>
          <a:xfrm>
            <a:off x="35714" y="4211335"/>
            <a:ext cx="2536147" cy="887325"/>
            <a:chOff x="880714" y="3731738"/>
            <a:chExt cx="2536147" cy="887325"/>
          </a:xfrm>
        </p:grpSpPr>
        <p:sp>
          <p:nvSpPr>
            <p:cNvPr id="505" name="Google Shape;505;p38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8" name="Google Shape;518;p38"/>
          <p:cNvSpPr txBox="1"/>
          <p:nvPr/>
        </p:nvSpPr>
        <p:spPr>
          <a:xfrm>
            <a:off x="8316035" y="4092145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1291921718"/>
              </p:ext>
            </p:extLst>
          </p:nvPr>
        </p:nvGraphicFramePr>
        <p:xfrm>
          <a:off x="3419872" y="1290022"/>
          <a:ext cx="2576598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748"/>
                <a:gridCol w="1010920"/>
                <a:gridCol w="96393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Sr.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In 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Keyword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&lt;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&lt;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&gt;=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&gt;=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&lt;=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&lt;=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&amp;&amp;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alltrue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||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 smtClean="0">
                          <a:solidFill>
                            <a:schemeClr val="bg1"/>
                          </a:solidFill>
                        </a:rPr>
                        <a:t>anytrue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!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~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16.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pow()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^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840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accent4"/>
                </a:solidFill>
              </a:rPr>
              <a:t>		</a:t>
            </a:r>
            <a:r>
              <a:rPr lang="en-US" altLang="en-GB" b="1">
                <a:solidFill>
                  <a:schemeClr val="accent4"/>
                </a:solidFill>
              </a:rPr>
              <a:t>Variables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407" name="Google Shape;407;p35"/>
          <p:cNvSpPr txBox="1">
            <a:spLocks noGrp="1"/>
          </p:cNvSpPr>
          <p:nvPr>
            <p:ph type="title" idx="2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</a:t>
            </a:r>
            <a:r>
              <a:rPr lang="en-US" dirty="0"/>
              <a:t>6</a:t>
            </a:r>
            <a:endParaRPr lang="en-US" altLang="en-GB" dirty="0"/>
          </a:p>
        </p:txBody>
      </p:sp>
      <p:sp>
        <p:nvSpPr>
          <p:cNvPr id="408" name="Google Shape;408;p35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&lt; </a:t>
            </a:r>
            <a:r>
              <a:rPr lang="en-US" altLang="en-GB"/>
              <a:t>Containers for storing data values.</a:t>
            </a:r>
            <a:r>
              <a:rPr lang="en-GB"/>
              <a:t> </a:t>
            </a:r>
            <a:r>
              <a:rPr lang="en-GB" sz="1400"/>
              <a:t>&gt;</a:t>
            </a:r>
          </a:p>
        </p:txBody>
      </p:sp>
      <p:sp>
        <p:nvSpPr>
          <p:cNvPr id="409" name="Google Shape;409;p35"/>
          <p:cNvSpPr txBox="1"/>
          <p:nvPr/>
        </p:nvSpPr>
        <p:spPr>
          <a:xfrm>
            <a:off x="2195863" y="13735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2640213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5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Variable Declaration</a:t>
            </a:r>
            <a:r>
              <a:rPr lang="en-GB"/>
              <a:t> </a:t>
            </a:r>
            <a:r>
              <a:rPr lang="en-US" altLang="en-GB">
                <a:solidFill>
                  <a:schemeClr val="accent4"/>
                </a:solidFill>
              </a:rPr>
              <a:t>Rules</a:t>
            </a:r>
          </a:p>
        </p:txBody>
      </p:sp>
      <p:sp>
        <p:nvSpPr>
          <p:cNvPr id="498" name="Google Shape;498;p38"/>
          <p:cNvSpPr txBox="1">
            <a:spLocks noGrp="1"/>
          </p:cNvSpPr>
          <p:nvPr>
            <p:ph type="subTitle" idx="1"/>
          </p:nvPr>
        </p:nvSpPr>
        <p:spPr>
          <a:xfrm>
            <a:off x="5425225" y="1419622"/>
            <a:ext cx="2789400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 dirty="0">
                <a:sym typeface="+mn-ea"/>
              </a:rPr>
              <a:t> </a:t>
            </a:r>
            <a:endParaRPr lang="en-US" altLang="en-US" sz="1200" b="1" dirty="0">
              <a:solidFill>
                <a:schemeClr val="tx2"/>
              </a:solidFill>
            </a:endParaRP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1200" b="1" dirty="0">
                <a:solidFill>
                  <a:schemeClr val="tx2"/>
                </a:solidFill>
              </a:rPr>
              <a:t> Data type must match the value assigned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dirty="0">
                <a:sym typeface="+mn-ea"/>
              </a:rPr>
              <a:t>✅ </a:t>
            </a:r>
            <a:r>
              <a:rPr lang="en-US" altLang="en-US" sz="1200" dirty="0" smtClean="0">
                <a:sym typeface="+mn-ea"/>
              </a:rPr>
              <a:t>&lt;numeric&gt; </a:t>
            </a:r>
            <a:r>
              <a:rPr lang="en-US" altLang="en-US" sz="1200" dirty="0">
                <a:sym typeface="+mn-ea"/>
              </a:rPr>
              <a:t>number </a:t>
            </a:r>
            <a:r>
              <a:rPr lang="en-US" altLang="en-US" sz="1200" dirty="0">
                <a:sym typeface="+mn-ea"/>
              </a:rPr>
              <a:t>=</a:t>
            </a:r>
            <a:r>
              <a:rPr lang="en-US" altLang="en-US" sz="1200" dirty="0" smtClean="0">
                <a:sym typeface="+mn-ea"/>
              </a:rPr>
              <a:t> </a:t>
            </a:r>
            <a:r>
              <a:rPr lang="en-US" altLang="en-US" sz="1200" dirty="0">
                <a:sym typeface="+mn-ea"/>
              </a:rPr>
              <a:t>10;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dirty="0">
                <a:sym typeface="+mn-ea"/>
              </a:rPr>
              <a:t>❌ </a:t>
            </a:r>
            <a:r>
              <a:rPr lang="en-US" altLang="en-US" sz="1200" dirty="0" smtClean="0">
                <a:sym typeface="+mn-ea"/>
              </a:rPr>
              <a:t>&lt;numeric&gt; </a:t>
            </a:r>
            <a:r>
              <a:rPr lang="en-US" altLang="en-US" sz="1200" dirty="0" smtClean="0">
                <a:sym typeface="+mn-ea"/>
              </a:rPr>
              <a:t>number </a:t>
            </a:r>
            <a:r>
              <a:rPr lang="en-US" altLang="en-US" sz="1200" dirty="0">
                <a:sym typeface="+mn-ea"/>
              </a:rPr>
              <a:t>=</a:t>
            </a:r>
            <a:r>
              <a:rPr lang="en-US" altLang="en-US" sz="1200" dirty="0" smtClean="0">
                <a:sym typeface="+mn-ea"/>
              </a:rPr>
              <a:t> </a:t>
            </a:r>
            <a:r>
              <a:rPr lang="en-US" altLang="en-US" sz="1200" dirty="0">
                <a:sym typeface="+mn-ea"/>
              </a:rPr>
              <a:t>"hello"; (Invalid)</a:t>
            </a:r>
            <a:endParaRPr lang="en-US" altLang="en-US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 dirty="0">
              <a:solidFill>
                <a:schemeClr val="tx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 dirty="0"/>
          </a:p>
        </p:txBody>
      </p:sp>
      <p:sp>
        <p:nvSpPr>
          <p:cNvPr id="499" name="Google Shape;499;p38"/>
          <p:cNvSpPr txBox="1">
            <a:spLocks noGrp="1"/>
          </p:cNvSpPr>
          <p:nvPr>
            <p:ph type="subTitle" idx="2"/>
          </p:nvPr>
        </p:nvSpPr>
        <p:spPr>
          <a:xfrm>
            <a:off x="3059590" y="3134416"/>
            <a:ext cx="2789400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1200" dirty="0">
                <a:solidFill>
                  <a:schemeClr val="tx2"/>
                </a:solidFill>
              </a:rPr>
              <a:t> </a:t>
            </a:r>
            <a:r>
              <a:rPr lang="en-US" altLang="en-US" sz="1200" b="1" dirty="0">
                <a:solidFill>
                  <a:schemeClr val="tx2"/>
                </a:solidFill>
              </a:rPr>
              <a:t>Must be declared before use (in statically typed languages like C, Java)</a:t>
            </a:r>
            <a:endParaRPr lang="en-US" alt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dirty="0"/>
              <a:t>✅ </a:t>
            </a:r>
            <a:r>
              <a:rPr lang="en-US" altLang="en-US" sz="1200" dirty="0" smtClean="0"/>
              <a:t>&lt;numeric&gt; </a:t>
            </a:r>
            <a:r>
              <a:rPr lang="en-US" altLang="en-US" sz="1200" dirty="0"/>
              <a:t>x; x </a:t>
            </a:r>
            <a:r>
              <a:rPr lang="en-US" altLang="en-US" sz="1200" dirty="0"/>
              <a:t>=</a:t>
            </a:r>
            <a:r>
              <a:rPr lang="en-US" altLang="en-US" sz="1200" dirty="0" smtClean="0"/>
              <a:t> </a:t>
            </a:r>
            <a:r>
              <a:rPr lang="en-US" altLang="en-US" sz="1200" dirty="0"/>
              <a:t>10;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dirty="0"/>
              <a:t>❌ y </a:t>
            </a:r>
            <a:r>
              <a:rPr lang="en-US" altLang="en-US" sz="1200" dirty="0"/>
              <a:t>=</a:t>
            </a:r>
            <a:r>
              <a:rPr lang="en-US" altLang="en-US" sz="1200" dirty="0" smtClean="0"/>
              <a:t> </a:t>
            </a:r>
            <a:r>
              <a:rPr lang="en-US" altLang="en-US" sz="1200" dirty="0"/>
              <a:t>5; (Invalid, needs </a:t>
            </a:r>
            <a:r>
              <a:rPr lang="en-US" altLang="en-US" sz="1200" dirty="0" smtClean="0"/>
              <a:t>&lt;numeric&gt; </a:t>
            </a:r>
            <a:r>
              <a:rPr lang="en-US" altLang="en-US" sz="1200" dirty="0"/>
              <a:t>y = 5;)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200" dirty="0"/>
          </a:p>
        </p:txBody>
      </p:sp>
      <p:sp>
        <p:nvSpPr>
          <p:cNvPr id="502" name="Google Shape;502;p38"/>
          <p:cNvSpPr txBox="1"/>
          <p:nvPr/>
        </p:nvSpPr>
        <p:spPr>
          <a:xfrm>
            <a:off x="495375" y="137605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8214625" y="29235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/>
          <p:cNvGrpSpPr/>
          <p:nvPr/>
        </p:nvGrpSpPr>
        <p:grpSpPr>
          <a:xfrm>
            <a:off x="35714" y="4211335"/>
            <a:ext cx="2536147" cy="887325"/>
            <a:chOff x="880714" y="3731738"/>
            <a:chExt cx="2536147" cy="887325"/>
          </a:xfrm>
        </p:grpSpPr>
        <p:sp>
          <p:nvSpPr>
            <p:cNvPr id="505" name="Google Shape;505;p38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8" name="Google Shape;518;p38"/>
          <p:cNvSpPr txBox="1"/>
          <p:nvPr/>
        </p:nvSpPr>
        <p:spPr>
          <a:xfrm>
            <a:off x="8316035" y="4092145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Google Shape;499;p38"/>
          <p:cNvSpPr txBox="1"/>
          <p:nvPr/>
        </p:nvSpPr>
        <p:spPr>
          <a:xfrm>
            <a:off x="1331755" y="1419916"/>
            <a:ext cx="2789400" cy="1480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9pPr>
          </a:lstStyle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1200" dirty="0">
                <a:solidFill>
                  <a:schemeClr val="tx2"/>
                </a:solidFill>
              </a:rPr>
              <a:t> </a:t>
            </a:r>
            <a:r>
              <a:rPr lang="en-US" altLang="en-US" sz="1200" b="1" dirty="0">
                <a:solidFill>
                  <a:schemeClr val="tx2"/>
                </a:solidFill>
                <a:sym typeface="+mn-ea"/>
              </a:rPr>
              <a:t> Initialization (optional but recommended       </a:t>
            </a:r>
            <a:endParaRPr lang="en-US" alt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 dirty="0"/>
              <a:t>✅ </a:t>
            </a:r>
            <a:r>
              <a:rPr lang="en-US" altLang="en-US" sz="1200" dirty="0" smtClean="0"/>
              <a:t>&lt;numeric&gt; </a:t>
            </a:r>
            <a:r>
              <a:rPr lang="en-US" altLang="en-US" sz="1200" dirty="0" smtClean="0"/>
              <a:t>count </a:t>
            </a:r>
            <a:r>
              <a:rPr lang="en-US" altLang="en-US" sz="1200" dirty="0"/>
              <a:t>=</a:t>
            </a:r>
            <a:r>
              <a:rPr lang="en-US" altLang="en-US" sz="1200" dirty="0" smtClean="0"/>
              <a:t> </a:t>
            </a:r>
            <a:r>
              <a:rPr lang="en-US" altLang="en-US" sz="1200" dirty="0"/>
              <a:t>0; (Better practice)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 dirty="0"/>
              <a:t>❌ </a:t>
            </a:r>
            <a:r>
              <a:rPr lang="en-US" altLang="en-US" sz="1200" dirty="0" smtClean="0"/>
              <a:t>&lt;numeric&gt; </a:t>
            </a:r>
            <a:r>
              <a:rPr lang="en-US" altLang="en-US" sz="1200" dirty="0" smtClean="0"/>
              <a:t>count</a:t>
            </a:r>
            <a:r>
              <a:rPr lang="en-US" altLang="en-US" sz="1200" dirty="0"/>
              <a:t>; (Uninitialized, may lead to garbage values)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>
                <a:solidFill>
                  <a:schemeClr val="accent4"/>
                </a:solidFill>
              </a:rPr>
              <a:t>Code</a:t>
            </a:r>
            <a:r>
              <a:rPr lang="en-GB" b="1">
                <a:solidFill>
                  <a:schemeClr val="accent4"/>
                </a:solidFill>
              </a:rPr>
              <a:t> </a:t>
            </a:r>
            <a:r>
              <a:rPr lang="en-US" altLang="en-GB" b="1">
                <a:solidFill>
                  <a:schemeClr val="lt2"/>
                </a:solidFill>
              </a:rPr>
              <a:t>Example 2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665" name="Google Shape;665;p43"/>
          <p:cNvSpPr txBox="1">
            <a:spLocks noGrp="1"/>
          </p:cNvSpPr>
          <p:nvPr>
            <p:ph type="subTitle" idx="1"/>
          </p:nvPr>
        </p:nvSpPr>
        <p:spPr>
          <a:xfrm>
            <a:off x="3465225" y="1529000"/>
            <a:ext cx="4965600" cy="30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Syntax: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dirty="0"/>
              <a:t>&lt;datatype&gt; </a:t>
            </a:r>
            <a:r>
              <a:rPr lang="en-US" altLang="en-US" sz="1800" dirty="0" err="1"/>
              <a:t>variableName</a:t>
            </a:r>
            <a:r>
              <a:rPr lang="en-US" altLang="en-US" sz="1800" dirty="0"/>
              <a:t> </a:t>
            </a:r>
            <a:r>
              <a:rPr lang="en-US" altLang="en-US" sz="1800" dirty="0" smtClean="0"/>
              <a:t>= </a:t>
            </a:r>
            <a:r>
              <a:rPr lang="en-US" altLang="en-US" sz="1800" dirty="0"/>
              <a:t>value;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dirty="0" smtClean="0"/>
              <a:t>&lt;numeric&gt; </a:t>
            </a:r>
            <a:r>
              <a:rPr lang="en-US" altLang="en-US" sz="1800" dirty="0" err="1"/>
              <a:t>myNum</a:t>
            </a:r>
            <a:r>
              <a:rPr lang="en-US" altLang="en-US" sz="1800" dirty="0"/>
              <a:t> </a:t>
            </a:r>
            <a:r>
              <a:rPr lang="en-US" altLang="en-US" sz="1800" dirty="0" smtClean="0"/>
              <a:t>= </a:t>
            </a:r>
            <a:r>
              <a:rPr lang="en-US" altLang="en-US" sz="1800" dirty="0"/>
              <a:t>17;</a:t>
            </a:r>
          </a:p>
        </p:txBody>
      </p:sp>
      <p:grpSp>
        <p:nvGrpSpPr>
          <p:cNvPr id="666" name="Google Shape;666;p43"/>
          <p:cNvGrpSpPr/>
          <p:nvPr/>
        </p:nvGrpSpPr>
        <p:grpSpPr>
          <a:xfrm>
            <a:off x="441630" y="1506353"/>
            <a:ext cx="2175751" cy="3074858"/>
            <a:chOff x="719992" y="1135488"/>
            <a:chExt cx="2415354" cy="3413475"/>
          </a:xfrm>
        </p:grpSpPr>
        <p:sp>
          <p:nvSpPr>
            <p:cNvPr id="667" name="Google Shape;667;p43"/>
            <p:cNvSpPr/>
            <p:nvPr/>
          </p:nvSpPr>
          <p:spPr>
            <a:xfrm>
              <a:off x="719992" y="1144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3"/>
            <p:cNvSpPr/>
            <p:nvPr/>
          </p:nvSpPr>
          <p:spPr>
            <a:xfrm>
              <a:off x="1206317" y="11354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3"/>
            <p:cNvSpPr/>
            <p:nvPr/>
          </p:nvSpPr>
          <p:spPr>
            <a:xfrm>
              <a:off x="719992" y="14562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3"/>
            <p:cNvSpPr/>
            <p:nvPr/>
          </p:nvSpPr>
          <p:spPr>
            <a:xfrm>
              <a:off x="719992" y="17830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3"/>
            <p:cNvSpPr/>
            <p:nvPr/>
          </p:nvSpPr>
          <p:spPr>
            <a:xfrm>
              <a:off x="719992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3"/>
            <p:cNvSpPr/>
            <p:nvPr/>
          </p:nvSpPr>
          <p:spPr>
            <a:xfrm>
              <a:off x="1154846" y="210973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3"/>
            <p:cNvSpPr/>
            <p:nvPr/>
          </p:nvSpPr>
          <p:spPr>
            <a:xfrm>
              <a:off x="1689227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3"/>
            <p:cNvSpPr/>
            <p:nvPr/>
          </p:nvSpPr>
          <p:spPr>
            <a:xfrm>
              <a:off x="719992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3"/>
            <p:cNvSpPr/>
            <p:nvPr/>
          </p:nvSpPr>
          <p:spPr>
            <a:xfrm>
              <a:off x="719992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3"/>
            <p:cNvSpPr/>
            <p:nvPr/>
          </p:nvSpPr>
          <p:spPr>
            <a:xfrm>
              <a:off x="719992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3"/>
            <p:cNvSpPr/>
            <p:nvPr/>
          </p:nvSpPr>
          <p:spPr>
            <a:xfrm>
              <a:off x="719992" y="3381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3"/>
            <p:cNvSpPr/>
            <p:nvPr/>
          </p:nvSpPr>
          <p:spPr>
            <a:xfrm>
              <a:off x="733714" y="4161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3"/>
            <p:cNvSpPr/>
            <p:nvPr/>
          </p:nvSpPr>
          <p:spPr>
            <a:xfrm>
              <a:off x="1154846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3"/>
            <p:cNvSpPr/>
            <p:nvPr/>
          </p:nvSpPr>
          <p:spPr>
            <a:xfrm>
              <a:off x="1115907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3"/>
            <p:cNvSpPr/>
            <p:nvPr/>
          </p:nvSpPr>
          <p:spPr>
            <a:xfrm>
              <a:off x="1154846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3"/>
            <p:cNvSpPr/>
            <p:nvPr/>
          </p:nvSpPr>
          <p:spPr>
            <a:xfrm>
              <a:off x="1154846" y="33979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3"/>
            <p:cNvSpPr/>
            <p:nvPr/>
          </p:nvSpPr>
          <p:spPr>
            <a:xfrm>
              <a:off x="1154846" y="37238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3"/>
            <p:cNvSpPr/>
            <p:nvPr/>
          </p:nvSpPr>
          <p:spPr>
            <a:xfrm>
              <a:off x="1558536" y="2420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3"/>
            <p:cNvSpPr/>
            <p:nvPr/>
          </p:nvSpPr>
          <p:spPr>
            <a:xfrm>
              <a:off x="1558536" y="276316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3"/>
            <p:cNvSpPr/>
            <p:nvPr/>
          </p:nvSpPr>
          <p:spPr>
            <a:xfrm>
              <a:off x="1589699" y="30720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3"/>
            <p:cNvSpPr/>
            <p:nvPr/>
          </p:nvSpPr>
          <p:spPr>
            <a:xfrm>
              <a:off x="1589699" y="34165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3"/>
            <p:cNvSpPr/>
            <p:nvPr/>
          </p:nvSpPr>
          <p:spPr>
            <a:xfrm>
              <a:off x="1589699" y="372386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3"/>
            <p:cNvSpPr/>
            <p:nvPr/>
          </p:nvSpPr>
          <p:spPr>
            <a:xfrm>
              <a:off x="2268127" y="242031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3"/>
            <p:cNvSpPr/>
            <p:nvPr/>
          </p:nvSpPr>
          <p:spPr>
            <a:xfrm>
              <a:off x="2558446" y="274620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3"/>
            <p:cNvSpPr/>
            <p:nvPr/>
          </p:nvSpPr>
          <p:spPr>
            <a:xfrm>
              <a:off x="2727100" y="30721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3"/>
            <p:cNvSpPr/>
            <p:nvPr/>
          </p:nvSpPr>
          <p:spPr>
            <a:xfrm>
              <a:off x="2727100" y="37239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3"/>
            <p:cNvSpPr/>
            <p:nvPr/>
          </p:nvSpPr>
          <p:spPr>
            <a:xfrm>
              <a:off x="733714" y="4401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3"/>
            <p:cNvSpPr/>
            <p:nvPr/>
          </p:nvSpPr>
          <p:spPr>
            <a:xfrm>
              <a:off x="1634836" y="11473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3"/>
            <p:cNvSpPr/>
            <p:nvPr/>
          </p:nvSpPr>
          <p:spPr>
            <a:xfrm>
              <a:off x="1206336" y="1456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3"/>
            <p:cNvSpPr/>
            <p:nvPr/>
          </p:nvSpPr>
          <p:spPr>
            <a:xfrm>
              <a:off x="1939636" y="14521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3"/>
            <p:cNvSpPr/>
            <p:nvPr/>
          </p:nvSpPr>
          <p:spPr>
            <a:xfrm>
              <a:off x="1206329" y="17830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3"/>
            <p:cNvSpPr/>
            <p:nvPr/>
          </p:nvSpPr>
          <p:spPr>
            <a:xfrm>
              <a:off x="2124079" y="210767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3"/>
            <p:cNvSpPr/>
            <p:nvPr/>
          </p:nvSpPr>
          <p:spPr>
            <a:xfrm>
              <a:off x="2727104" y="34165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3"/>
            <p:cNvSpPr/>
            <p:nvPr/>
          </p:nvSpPr>
          <p:spPr>
            <a:xfrm>
              <a:off x="1154861" y="43756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3"/>
            <p:cNvSpPr/>
            <p:nvPr/>
          </p:nvSpPr>
          <p:spPr>
            <a:xfrm>
              <a:off x="1154861" y="41455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2" name="Google Shape;702;p43"/>
          <p:cNvSpPr txBox="1"/>
          <p:nvPr/>
        </p:nvSpPr>
        <p:spPr>
          <a:xfrm>
            <a:off x="7064425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3" name="Google Shape;703;p43"/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accent4"/>
                </a:solidFill>
              </a:rPr>
              <a:t>		Comments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407" name="Google Shape;407;p35"/>
          <p:cNvSpPr txBox="1">
            <a:spLocks noGrp="1"/>
          </p:cNvSpPr>
          <p:nvPr>
            <p:ph type="title" idx="2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</a:t>
            </a:r>
            <a:r>
              <a:rPr lang="en-US" dirty="0"/>
              <a:t>7</a:t>
            </a:r>
            <a:endParaRPr lang="en-US" altLang="en-GB" dirty="0"/>
          </a:p>
        </p:txBody>
      </p:sp>
      <p:sp>
        <p:nvSpPr>
          <p:cNvPr id="408" name="Google Shape;408;p35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&lt; </a:t>
            </a:r>
            <a:r>
              <a:rPr lang="en-US" altLang="en-GB"/>
              <a:t>Used to explain Codexa code, and make it more readable.</a:t>
            </a:r>
            <a:r>
              <a:rPr lang="en-GB"/>
              <a:t> </a:t>
            </a:r>
            <a:r>
              <a:rPr lang="en-GB" sz="1400"/>
              <a:t>&gt;</a:t>
            </a:r>
          </a:p>
        </p:txBody>
      </p:sp>
      <p:sp>
        <p:nvSpPr>
          <p:cNvPr id="409" name="Google Shape;409;p35"/>
          <p:cNvSpPr txBox="1"/>
          <p:nvPr/>
        </p:nvSpPr>
        <p:spPr>
          <a:xfrm>
            <a:off x="2195863" y="13735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2640213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5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accent4"/>
                </a:solidFill>
              </a:rPr>
              <a:t>Comments</a:t>
            </a:r>
          </a:p>
        </p:txBody>
      </p:sp>
      <p:sp>
        <p:nvSpPr>
          <p:cNvPr id="498" name="Google Shape;498;p38"/>
          <p:cNvSpPr txBox="1">
            <a:spLocks noGrp="1"/>
          </p:cNvSpPr>
          <p:nvPr>
            <p:ph type="subTitle" idx="1"/>
          </p:nvPr>
        </p:nvSpPr>
        <p:spPr>
          <a:xfrm>
            <a:off x="5292191" y="1204651"/>
            <a:ext cx="2789400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>
                <a:sym typeface="+mn-ea"/>
              </a:rPr>
              <a:t> </a:t>
            </a:r>
            <a:endParaRPr lang="en-US" altLang="en-US" sz="1200" b="1">
              <a:solidFill>
                <a:schemeClr val="tx2"/>
              </a:solidFill>
            </a:endParaRP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1200" b="1">
                <a:solidFill>
                  <a:schemeClr val="tx2"/>
                </a:solidFill>
              </a:rPr>
              <a:t> Multi-line Comments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>
                <a:sym typeface="+mn-ea"/>
              </a:rPr>
              <a:t>Starts with hash  (#*...*#).</a:t>
            </a:r>
            <a:endParaRPr lang="en-US" altLang="en-US" sz="120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>
                <a:sym typeface="+mn-ea"/>
              </a:rPr>
              <a:t>Any text between #*...*# is ignored by the compiler (will not be executed).</a:t>
            </a:r>
            <a:endParaRPr lang="en-US" altLang="en-US" sz="120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>
                <a:sym typeface="+mn-ea"/>
              </a:rPr>
              <a:t>Example: </a:t>
            </a:r>
            <a:endParaRPr lang="en-US" altLang="en-US" sz="120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>
                <a:sym typeface="+mn-ea"/>
              </a:rPr>
              <a:t>#* This is a muti-line comment. Below is the statement which prints Hello World *#</a:t>
            </a:r>
            <a:endParaRPr lang="en-US" altLang="en-US" sz="120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>
                <a:sym typeface="+mn-ea"/>
              </a:rPr>
              <a:t>read "Hello World!";</a:t>
            </a:r>
            <a:endParaRPr lang="en-US" altLang="en-US"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>
              <a:solidFill>
                <a:schemeClr val="tx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200"/>
          </a:p>
        </p:txBody>
      </p:sp>
      <p:sp>
        <p:nvSpPr>
          <p:cNvPr id="502" name="Google Shape;502;p38"/>
          <p:cNvSpPr txBox="1"/>
          <p:nvPr/>
        </p:nvSpPr>
        <p:spPr>
          <a:xfrm>
            <a:off x="495375" y="137605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8214625" y="292355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/>
          <p:cNvGrpSpPr/>
          <p:nvPr/>
        </p:nvGrpSpPr>
        <p:grpSpPr>
          <a:xfrm>
            <a:off x="35714" y="4211335"/>
            <a:ext cx="2536147" cy="887325"/>
            <a:chOff x="880714" y="3731738"/>
            <a:chExt cx="2536147" cy="887325"/>
          </a:xfrm>
        </p:grpSpPr>
        <p:sp>
          <p:nvSpPr>
            <p:cNvPr id="505" name="Google Shape;505;p38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8" name="Google Shape;518;p38"/>
          <p:cNvSpPr txBox="1"/>
          <p:nvPr/>
        </p:nvSpPr>
        <p:spPr>
          <a:xfrm>
            <a:off x="8316035" y="4092145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Google Shape;499;p38"/>
          <p:cNvSpPr txBox="1"/>
          <p:nvPr/>
        </p:nvSpPr>
        <p:spPr>
          <a:xfrm>
            <a:off x="1331755" y="1419916"/>
            <a:ext cx="2789400" cy="1480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 panose="020B0309030403020204"/>
              <a:buNone/>
              <a:defRPr sz="1400" b="0" i="0" u="none" strike="noStrike" cap="none">
                <a:solidFill>
                  <a:schemeClr val="dk1"/>
                </a:solidFill>
                <a:latin typeface="Source Code Pro" panose="020B0309030403020204"/>
                <a:ea typeface="Source Code Pro" panose="020B0309030403020204"/>
                <a:cs typeface="Source Code Pro" panose="020B0309030403020204"/>
                <a:sym typeface="Source Code Pro" panose="020B0309030403020204"/>
              </a:defRPr>
            </a:lvl9pPr>
          </a:lstStyle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v"/>
            </a:pPr>
            <a:r>
              <a:rPr lang="en-US" altLang="en-US" sz="1200">
                <a:solidFill>
                  <a:schemeClr val="tx2"/>
                </a:solidFill>
              </a:rPr>
              <a:t> </a:t>
            </a:r>
            <a:r>
              <a:rPr lang="en-US" altLang="en-US" sz="1200" b="1">
                <a:solidFill>
                  <a:schemeClr val="tx2"/>
                </a:solidFill>
                <a:sym typeface="+mn-ea"/>
              </a:rPr>
              <a:t> Single-line Comments       </a:t>
            </a:r>
            <a:endParaRPr lang="en-US" altLang="en-US" sz="120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/>
              <a:t>Starts with hash  (#).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/>
              <a:t>Any text between # and the end of the line is ignored by the compiler (will not be executed).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/>
              <a:t>Example: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/>
              <a:t># This is a comment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en-US" altLang="en-US" sz="1200"/>
              <a:t>read "Hello World!"; 	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endParaRPr lang="en-US" altLang="en-US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0" name="Google Shape;1040;p54"/>
          <p:cNvGrpSpPr/>
          <p:nvPr/>
        </p:nvGrpSpPr>
        <p:grpSpPr>
          <a:xfrm>
            <a:off x="4698255" y="1260432"/>
            <a:ext cx="3432984" cy="2496295"/>
            <a:chOff x="331763" y="414153"/>
            <a:chExt cx="6903246" cy="5019697"/>
          </a:xfrm>
        </p:grpSpPr>
        <p:sp>
          <p:nvSpPr>
            <p:cNvPr id="1041" name="Google Shape;1041;p54"/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54"/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54"/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54"/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45" name="Google Shape;1045;p54"/>
          <p:cNvPicPr preferRelativeResize="0"/>
          <p:nvPr/>
        </p:nvPicPr>
        <p:blipFill rotWithShape="1">
          <a:blip r:embed="rId3"/>
          <a:srcRect l="3891" r="3882"/>
          <a:stretch>
            <a:fillRect/>
          </a:stretch>
        </p:blipFill>
        <p:spPr>
          <a:xfrm>
            <a:off x="4790153" y="1352658"/>
            <a:ext cx="3249110" cy="1981718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54"/>
          <p:cNvSpPr txBox="1">
            <a:spLocks noGrp="1"/>
          </p:cNvSpPr>
          <p:nvPr>
            <p:ph type="title"/>
          </p:nvPr>
        </p:nvSpPr>
        <p:spPr>
          <a:xfrm>
            <a:off x="713225" y="1402850"/>
            <a:ext cx="32490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Variable</a:t>
            </a:r>
            <a:r>
              <a:rPr lang="en-GB"/>
              <a:t> </a:t>
            </a:r>
            <a:r>
              <a:rPr lang="en-US" altLang="en-GB">
                <a:solidFill>
                  <a:schemeClr val="accent4"/>
                </a:solidFill>
              </a:rPr>
              <a:t>Rules</a:t>
            </a:r>
          </a:p>
        </p:txBody>
      </p:sp>
      <p:sp>
        <p:nvSpPr>
          <p:cNvPr id="1047" name="Google Shape;1047;p54"/>
          <p:cNvSpPr txBox="1">
            <a:spLocks noGrp="1"/>
          </p:cNvSpPr>
          <p:nvPr>
            <p:ph type="subTitle" idx="1"/>
          </p:nvPr>
        </p:nvSpPr>
        <p:spPr>
          <a:xfrm>
            <a:off x="713225" y="2466050"/>
            <a:ext cx="3249000" cy="14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replace the image on the screen with your own work. Just right-click on it and select “Replace image”</a:t>
            </a:r>
          </a:p>
        </p:txBody>
      </p:sp>
      <p:grpSp>
        <p:nvGrpSpPr>
          <p:cNvPr id="1048" name="Google Shape;1048;p54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049" name="Google Shape;1049;p5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5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5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2" name="Google Shape;1052;p54"/>
          <p:cNvSpPr txBox="1"/>
          <p:nvPr/>
        </p:nvSpPr>
        <p:spPr>
          <a:xfrm>
            <a:off x="204125" y="110167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3" name="Google Shape;1053;p54"/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4" name="Google Shape;1054;p54"/>
          <p:cNvSpPr txBox="1"/>
          <p:nvPr/>
        </p:nvSpPr>
        <p:spPr>
          <a:xfrm>
            <a:off x="2847375" y="41084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...</a:t>
            </a:r>
            <a:endParaRPr sz="5000">
              <a:solidFill>
                <a:schemeClr val="accent2"/>
              </a:solidFill>
            </a:endParaRPr>
          </a:p>
        </p:txBody>
      </p:sp>
      <p:grpSp>
        <p:nvGrpSpPr>
          <p:cNvPr id="1055" name="Google Shape;1055;p54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1056" name="Google Shape;1056;p54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54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54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54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54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54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54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54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54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54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54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54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54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0" descr="toda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900" y="1353185"/>
            <a:ext cx="3235960" cy="19818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dirty="0">
                <a:solidFill>
                  <a:schemeClr val="accent4"/>
                </a:solidFill>
              </a:rPr>
              <a:t>		</a:t>
            </a:r>
            <a:r>
              <a:rPr lang="en-US" altLang="en-GB" dirty="0" smtClean="0">
                <a:solidFill>
                  <a:schemeClr val="accent4"/>
                </a:solidFill>
              </a:rPr>
              <a:t>Selections</a:t>
            </a:r>
            <a:endParaRPr b="1" dirty="0">
              <a:solidFill>
                <a:schemeClr val="accent4"/>
              </a:solidFill>
            </a:endParaRPr>
          </a:p>
        </p:txBody>
      </p:sp>
      <p:sp>
        <p:nvSpPr>
          <p:cNvPr id="407" name="Google Shape;407;p35"/>
          <p:cNvSpPr txBox="1">
            <a:spLocks noGrp="1"/>
          </p:cNvSpPr>
          <p:nvPr>
            <p:ph type="title" idx="2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</a:t>
            </a:r>
            <a:r>
              <a:rPr lang="en-US" dirty="0"/>
              <a:t>8</a:t>
            </a:r>
            <a:endParaRPr lang="en-US" altLang="en-GB" dirty="0"/>
          </a:p>
        </p:txBody>
      </p:sp>
      <p:sp>
        <p:nvSpPr>
          <p:cNvPr id="408" name="Google Shape;408;p35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&lt; </a:t>
            </a:r>
            <a:r>
              <a:rPr lang="en-US" altLang="en-GB" dirty="0"/>
              <a:t>Used to </a:t>
            </a:r>
            <a:r>
              <a:rPr lang="en-US" altLang="en-GB" dirty="0" smtClean="0"/>
              <a:t>work according to some condition.</a:t>
            </a:r>
            <a:r>
              <a:rPr lang="en-GB" sz="1400" dirty="0" smtClean="0"/>
              <a:t>&gt;</a:t>
            </a:r>
            <a:endParaRPr lang="en-GB" sz="1400" dirty="0"/>
          </a:p>
        </p:txBody>
      </p:sp>
      <p:sp>
        <p:nvSpPr>
          <p:cNvPr id="409" name="Google Shape;409;p35"/>
          <p:cNvSpPr txBox="1"/>
          <p:nvPr/>
        </p:nvSpPr>
        <p:spPr>
          <a:xfrm>
            <a:off x="2195863" y="13735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2640213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5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09333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 dirty="0" err="1" smtClean="0"/>
              <a:t>If..else</a:t>
            </a:r>
            <a:endParaRPr lang="en-US" altLang="en-GB" b="1" dirty="0">
              <a:solidFill>
                <a:schemeClr val="accent4"/>
              </a:solidFill>
            </a:endParaRPr>
          </a:p>
        </p:txBody>
      </p:sp>
      <p:grpSp>
        <p:nvGrpSpPr>
          <p:cNvPr id="456" name="Google Shape;456;p37"/>
          <p:cNvGrpSpPr/>
          <p:nvPr/>
        </p:nvGrpSpPr>
        <p:grpSpPr>
          <a:xfrm>
            <a:off x="321967" y="1337250"/>
            <a:ext cx="2415354" cy="3413475"/>
            <a:chOff x="719992" y="1135488"/>
            <a:chExt cx="2415354" cy="3413475"/>
          </a:xfrm>
        </p:grpSpPr>
        <p:sp>
          <p:nvSpPr>
            <p:cNvPr id="457" name="Google Shape;457;p37"/>
            <p:cNvSpPr/>
            <p:nvPr/>
          </p:nvSpPr>
          <p:spPr>
            <a:xfrm>
              <a:off x="719992" y="1144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1206317" y="11354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719992" y="14562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719992" y="17830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719992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1154846" y="210973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1689227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719992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719992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719992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719992" y="3381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733714" y="4161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1154846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1115907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>
              <a:off x="1154846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>
              <a:off x="1154846" y="33979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1154846" y="37238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1558536" y="2420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1558536" y="276316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1589699" y="30720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>
              <a:off x="1589699" y="34165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1589699" y="372386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2268127" y="242031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2558446" y="274620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2727100" y="30721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2727100" y="37239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>
              <a:off x="733714" y="4401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1634836" y="11473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1206336" y="1456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1939636" y="14521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1206329" y="17830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2124079" y="210767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2727104" y="34165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1154861" y="43756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1154861" y="41455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2" name="Google Shape;492;p37"/>
          <p:cNvSpPr txBox="1"/>
          <p:nvPr/>
        </p:nvSpPr>
        <p:spPr>
          <a:xfrm>
            <a:off x="8277725" y="1337250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24530" y="1362075"/>
            <a:ext cx="5172075" cy="324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200" dirty="0">
                <a:solidFill>
                  <a:schemeClr val="tx1"/>
                </a:solidFill>
              </a:rPr>
              <a:t>!include `library1</a:t>
            </a:r>
            <a:r>
              <a:rPr lang="en-US" altLang="en-US" sz="1200" dirty="0" smtClean="0">
                <a:solidFill>
                  <a:schemeClr val="tx1"/>
                </a:solidFill>
              </a:rPr>
              <a:t>`</a:t>
            </a:r>
            <a:endParaRPr lang="en-US" altLang="en-US" sz="1200" dirty="0">
              <a:solidFill>
                <a:schemeClr val="tx1"/>
              </a:solidFill>
            </a:endParaRPr>
          </a:p>
          <a:p>
            <a:r>
              <a:rPr lang="en-US" altLang="en-US" sz="1200" dirty="0">
                <a:solidFill>
                  <a:schemeClr val="tx1"/>
                </a:solidFill>
              </a:rPr>
              <a:t>&lt;numeric&gt; main() </a:t>
            </a: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Begin</a:t>
            </a:r>
            <a:endParaRPr lang="en-US" altLang="en-US" sz="1200" dirty="0">
              <a:solidFill>
                <a:schemeClr val="tx1"/>
              </a:solidFill>
            </a:endParaRP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&lt;text&gt; age;    </a:t>
            </a: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    write "Enter your age</a:t>
            </a:r>
            <a:r>
              <a:rPr lang="en-US" altLang="en-US" sz="1200" dirty="0" smtClean="0">
                <a:solidFill>
                  <a:schemeClr val="tx1"/>
                </a:solidFill>
              </a:rPr>
              <a:t>:";</a:t>
            </a:r>
            <a:endParaRPr lang="en-US" altLang="en-US" sz="1200" dirty="0" smtClean="0">
              <a:solidFill>
                <a:schemeClr val="tx1"/>
              </a:solidFill>
            </a:endParaRP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    # Output prompt for age</a:t>
            </a: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    read age; </a:t>
            </a:r>
            <a:r>
              <a:rPr lang="en-US" altLang="en-US" sz="1200" dirty="0">
                <a:solidFill>
                  <a:schemeClr val="tx1"/>
                </a:solidFill>
              </a:rPr>
              <a:t>.</a:t>
            </a:r>
            <a:r>
              <a:rPr lang="en-US" altLang="en-US" sz="1200" dirty="0" smtClean="0">
                <a:solidFill>
                  <a:schemeClr val="tx1"/>
                </a:solidFill>
              </a:rPr>
              <a:t>n       </a:t>
            </a:r>
            <a:r>
              <a:rPr lang="en-US" altLang="en-US" sz="1200" dirty="0" smtClean="0">
                <a:solidFill>
                  <a:schemeClr val="tx1"/>
                </a:solidFill>
              </a:rPr>
              <a:t># Read user input for age</a:t>
            </a: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    </a:t>
            </a: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  check age &gt;= 18 then</a:t>
            </a: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Begin</a:t>
            </a: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        </a:t>
            </a:r>
            <a:r>
              <a:rPr lang="en-US" altLang="en-US" sz="1200" dirty="0">
                <a:solidFill>
                  <a:schemeClr val="tx1"/>
                </a:solidFill>
              </a:rPr>
              <a:t>write "Hello, " + name + "! You are an adult.";  # If age is 18 or </a:t>
            </a:r>
            <a:r>
              <a:rPr lang="en-US" altLang="en-US" sz="1200" dirty="0" smtClean="0">
                <a:solidFill>
                  <a:schemeClr val="tx1"/>
                </a:solidFill>
              </a:rPr>
              <a:t>older</a:t>
            </a: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End</a:t>
            </a:r>
            <a:endParaRPr lang="en-US" altLang="en-US" sz="1200" dirty="0">
              <a:solidFill>
                <a:schemeClr val="tx1"/>
              </a:solidFill>
            </a:endParaRPr>
          </a:p>
          <a:p>
            <a:r>
              <a:rPr lang="en-US" altLang="en-US" sz="1200" dirty="0">
                <a:solidFill>
                  <a:schemeClr val="tx1"/>
                </a:solidFill>
              </a:rPr>
              <a:t>    </a:t>
            </a:r>
            <a:r>
              <a:rPr lang="en-US" altLang="en-US" sz="1200" dirty="0" smtClean="0">
                <a:solidFill>
                  <a:schemeClr val="tx1"/>
                </a:solidFill>
              </a:rPr>
              <a:t>otherwise</a:t>
            </a: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Begin</a:t>
            </a:r>
            <a:endParaRPr lang="en-US" altLang="en-US" sz="1200" dirty="0">
              <a:solidFill>
                <a:schemeClr val="tx1"/>
              </a:solidFill>
            </a:endParaRPr>
          </a:p>
          <a:p>
            <a:r>
              <a:rPr lang="en-US" altLang="en-US" sz="1200" dirty="0">
                <a:solidFill>
                  <a:schemeClr val="tx1"/>
                </a:solidFill>
              </a:rPr>
              <a:t>        write "Hello, " + name + "! You are a minor.";   # If age is less than 18</a:t>
            </a:r>
          </a:p>
          <a:p>
            <a:r>
              <a:rPr lang="en-US" altLang="en-US" sz="1200" dirty="0">
                <a:solidFill>
                  <a:schemeClr val="tx1"/>
                </a:solidFill>
              </a:rPr>
              <a:t> </a:t>
            </a:r>
            <a:r>
              <a:rPr lang="en-US" altLang="en-US" sz="1200" dirty="0" smtClean="0">
                <a:solidFill>
                  <a:schemeClr val="tx1"/>
                </a:solidFill>
              </a:rPr>
              <a:t>End</a:t>
            </a:r>
            <a:endParaRPr lang="en-US" altLang="en-US" sz="1200" dirty="0">
              <a:solidFill>
                <a:schemeClr val="tx1"/>
              </a:solidFill>
            </a:endParaRPr>
          </a:p>
          <a:p>
            <a:r>
              <a:rPr lang="en-US" altLang="en-US" sz="1200" dirty="0">
                <a:solidFill>
                  <a:schemeClr val="tx1"/>
                </a:solidFill>
              </a:rPr>
              <a:t>    respond 0;  # Return statement</a:t>
            </a:r>
          </a:p>
          <a:p>
            <a:r>
              <a:rPr lang="en-US" altLang="en-US" sz="1200" dirty="0">
                <a:solidFill>
                  <a:schemeClr val="tx1"/>
                </a:solidFill>
              </a:rPr>
              <a:t>End</a:t>
            </a: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20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dirty="0">
                <a:solidFill>
                  <a:schemeClr val="accent4"/>
                </a:solidFill>
              </a:rPr>
              <a:t>		</a:t>
            </a:r>
            <a:r>
              <a:rPr lang="en-US" altLang="en-GB" dirty="0" smtClean="0">
                <a:solidFill>
                  <a:schemeClr val="accent4"/>
                </a:solidFill>
              </a:rPr>
              <a:t>Loop</a:t>
            </a:r>
            <a:endParaRPr b="1" dirty="0">
              <a:solidFill>
                <a:schemeClr val="accent4"/>
              </a:solidFill>
            </a:endParaRPr>
          </a:p>
        </p:txBody>
      </p:sp>
      <p:sp>
        <p:nvSpPr>
          <p:cNvPr id="407" name="Google Shape;407;p35"/>
          <p:cNvSpPr txBox="1">
            <a:spLocks noGrp="1"/>
          </p:cNvSpPr>
          <p:nvPr>
            <p:ph type="title" idx="2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</a:t>
            </a:r>
            <a:r>
              <a:rPr lang="en-US" dirty="0"/>
              <a:t>9</a:t>
            </a:r>
            <a:endParaRPr lang="en-US" altLang="en-GB" dirty="0"/>
          </a:p>
        </p:txBody>
      </p:sp>
      <p:sp>
        <p:nvSpPr>
          <p:cNvPr id="408" name="Google Shape;408;p35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&lt; </a:t>
            </a:r>
            <a:r>
              <a:rPr lang="en-US" altLang="en-GB" dirty="0"/>
              <a:t>Used to </a:t>
            </a:r>
            <a:r>
              <a:rPr lang="en-US" altLang="en-GB" dirty="0" smtClean="0"/>
              <a:t>iterate.</a:t>
            </a:r>
            <a:r>
              <a:rPr lang="en-GB" sz="1400" dirty="0" smtClean="0"/>
              <a:t>&gt;</a:t>
            </a:r>
            <a:endParaRPr lang="en-GB" sz="1400" dirty="0"/>
          </a:p>
        </p:txBody>
      </p:sp>
      <p:sp>
        <p:nvSpPr>
          <p:cNvPr id="409" name="Google Shape;409;p35"/>
          <p:cNvSpPr txBox="1"/>
          <p:nvPr/>
        </p:nvSpPr>
        <p:spPr>
          <a:xfrm>
            <a:off x="2195863" y="13735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2640213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5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53563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7"/>
          <p:cNvSpPr txBox="1">
            <a:spLocks noGrp="1"/>
          </p:cNvSpPr>
          <p:nvPr>
            <p:ph type="title"/>
          </p:nvPr>
        </p:nvSpPr>
        <p:spPr>
          <a:xfrm>
            <a:off x="717882" y="445569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 dirty="0" smtClean="0"/>
              <a:t>Repeat-until</a:t>
            </a:r>
            <a:endParaRPr lang="en-US" altLang="en-GB" b="1" dirty="0">
              <a:solidFill>
                <a:schemeClr val="accent4"/>
              </a:solidFill>
            </a:endParaRPr>
          </a:p>
        </p:txBody>
      </p:sp>
      <p:grpSp>
        <p:nvGrpSpPr>
          <p:cNvPr id="456" name="Google Shape;456;p37"/>
          <p:cNvGrpSpPr/>
          <p:nvPr/>
        </p:nvGrpSpPr>
        <p:grpSpPr>
          <a:xfrm>
            <a:off x="321967" y="1337250"/>
            <a:ext cx="2415354" cy="3413475"/>
            <a:chOff x="719992" y="1135488"/>
            <a:chExt cx="2415354" cy="3413475"/>
          </a:xfrm>
        </p:grpSpPr>
        <p:sp>
          <p:nvSpPr>
            <p:cNvPr id="457" name="Google Shape;457;p37"/>
            <p:cNvSpPr/>
            <p:nvPr/>
          </p:nvSpPr>
          <p:spPr>
            <a:xfrm>
              <a:off x="719992" y="1144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1206317" y="11354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719992" y="14562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719992" y="17830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719992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1154846" y="210973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1689227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719992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719992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719992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719992" y="3381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733714" y="4161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1154846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1115907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>
              <a:off x="1154846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>
              <a:off x="1154846" y="33979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1154846" y="37238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1558536" y="2420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1558536" y="276316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1589699" y="30720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>
              <a:off x="1589699" y="34165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1589699" y="372386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2268127" y="242031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2558446" y="274620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2727100" y="30721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2727100" y="37239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>
              <a:off x="733714" y="4401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1634836" y="11473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1206336" y="1456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1939636" y="14521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1206329" y="17830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2124079" y="210767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2727104" y="34165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1154861" y="43756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1154861" y="41455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2" name="Google Shape;492;p37"/>
          <p:cNvSpPr txBox="1"/>
          <p:nvPr/>
        </p:nvSpPr>
        <p:spPr>
          <a:xfrm>
            <a:off x="8277725" y="1337250"/>
            <a:ext cx="5193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96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402562" y="1509685"/>
            <a:ext cx="5172075" cy="324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200" dirty="0">
                <a:solidFill>
                  <a:schemeClr val="tx1"/>
                </a:solidFill>
              </a:rPr>
              <a:t>!include `library1</a:t>
            </a:r>
            <a:r>
              <a:rPr lang="en-US" altLang="en-US" sz="1200" dirty="0" smtClean="0">
                <a:solidFill>
                  <a:schemeClr val="tx1"/>
                </a:solidFill>
              </a:rPr>
              <a:t>`</a:t>
            </a:r>
            <a:endParaRPr lang="en-US" altLang="en-US" sz="1200" dirty="0">
              <a:solidFill>
                <a:schemeClr val="tx1"/>
              </a:solidFill>
            </a:endParaRPr>
          </a:p>
          <a:p>
            <a:r>
              <a:rPr lang="en-US" altLang="en-US" sz="1200" dirty="0">
                <a:solidFill>
                  <a:schemeClr val="tx1"/>
                </a:solidFill>
              </a:rPr>
              <a:t>&lt;numeric&gt; main() </a:t>
            </a:r>
          </a:p>
          <a:p>
            <a:r>
              <a:rPr lang="en-US" altLang="en-US" sz="1200" dirty="0">
                <a:solidFill>
                  <a:schemeClr val="tx1"/>
                </a:solidFill>
              </a:rPr>
              <a:t>Begin</a:t>
            </a:r>
          </a:p>
          <a:p>
            <a:r>
              <a:rPr lang="en-US" altLang="en-US" sz="1200" dirty="0">
                <a:solidFill>
                  <a:schemeClr val="tx1"/>
                </a:solidFill>
              </a:rPr>
              <a:t>    &lt;numeric&gt; counter</a:t>
            </a:r>
            <a:r>
              <a:rPr lang="en-US" altLang="en-US" sz="12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    </a:t>
            </a:r>
            <a:r>
              <a:rPr lang="en-US" altLang="en-US" sz="1200" dirty="0">
                <a:solidFill>
                  <a:schemeClr val="tx1"/>
                </a:solidFill>
              </a:rPr>
              <a:t>counter </a:t>
            </a:r>
            <a:r>
              <a:rPr lang="en-US" altLang="en-US" sz="1200" dirty="0">
                <a:solidFill>
                  <a:schemeClr val="tx1"/>
                </a:solidFill>
              </a:rPr>
              <a:t>=</a:t>
            </a:r>
            <a:r>
              <a:rPr lang="en-US" altLang="en-US" sz="1200" dirty="0" smtClean="0">
                <a:solidFill>
                  <a:schemeClr val="tx1"/>
                </a:solidFill>
              </a:rPr>
              <a:t> 0</a:t>
            </a:r>
            <a:r>
              <a:rPr lang="en-US" altLang="en-US" sz="1200" dirty="0">
                <a:solidFill>
                  <a:schemeClr val="tx1"/>
                </a:solidFill>
              </a:rPr>
              <a:t>;  # Initialize </a:t>
            </a:r>
            <a:r>
              <a:rPr lang="en-US" altLang="en-US" sz="1200" dirty="0" smtClean="0">
                <a:solidFill>
                  <a:schemeClr val="tx1"/>
                </a:solidFill>
              </a:rPr>
              <a:t>counter</a:t>
            </a: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    </a:t>
            </a:r>
            <a:r>
              <a:rPr lang="en-US" altLang="en-US" sz="1200" dirty="0" smtClean="0">
                <a:solidFill>
                  <a:schemeClr val="tx1"/>
                </a:solidFill>
              </a:rPr>
              <a:t>repeat</a:t>
            </a:r>
          </a:p>
          <a:p>
            <a:r>
              <a:rPr lang="en-US" altLang="en-US" sz="1200" dirty="0" smtClean="0">
                <a:solidFill>
                  <a:schemeClr val="tx1"/>
                </a:solidFill>
              </a:rPr>
              <a:t>     Begin</a:t>
            </a:r>
            <a:endParaRPr lang="en-US" altLang="en-US" sz="1200" dirty="0">
              <a:solidFill>
                <a:schemeClr val="tx1"/>
              </a:solidFill>
            </a:endParaRPr>
          </a:p>
          <a:p>
            <a:r>
              <a:rPr lang="en-US" altLang="en-US" sz="1200" dirty="0">
                <a:solidFill>
                  <a:schemeClr val="tx1"/>
                </a:solidFill>
              </a:rPr>
              <a:t>        </a:t>
            </a:r>
            <a:r>
              <a:rPr lang="en-US" altLang="en-US" sz="1200" dirty="0" smtClean="0">
                <a:solidFill>
                  <a:schemeClr val="tx1"/>
                </a:solidFill>
              </a:rPr>
              <a:t>write </a:t>
            </a:r>
            <a:r>
              <a:rPr lang="en-US" altLang="en-US" sz="1200" dirty="0">
                <a:solidFill>
                  <a:schemeClr val="tx1"/>
                </a:solidFill>
              </a:rPr>
              <a:t>"Counter value: " + counter;  # Output current counter value</a:t>
            </a:r>
          </a:p>
          <a:p>
            <a:r>
              <a:rPr lang="en-US" altLang="en-US" sz="1200" dirty="0">
                <a:solidFill>
                  <a:schemeClr val="tx1"/>
                </a:solidFill>
              </a:rPr>
              <a:t>        counter </a:t>
            </a:r>
            <a:r>
              <a:rPr lang="en-US" altLang="en-US" sz="1200" dirty="0" smtClean="0">
                <a:solidFill>
                  <a:schemeClr val="tx1"/>
                </a:solidFill>
              </a:rPr>
              <a:t>= </a:t>
            </a:r>
            <a:r>
              <a:rPr lang="en-US" altLang="en-US" sz="1200" dirty="0">
                <a:solidFill>
                  <a:schemeClr val="tx1"/>
                </a:solidFill>
              </a:rPr>
              <a:t>counter + 1;  # Increment </a:t>
            </a:r>
            <a:r>
              <a:rPr lang="en-US" altLang="en-US" sz="1200" dirty="0" smtClean="0">
                <a:solidFill>
                  <a:schemeClr val="tx1"/>
                </a:solidFill>
              </a:rPr>
              <a:t>counter</a:t>
            </a:r>
          </a:p>
          <a:p>
            <a:r>
              <a:rPr lang="en-US" altLang="en-US" sz="1200" dirty="0">
                <a:solidFill>
                  <a:schemeClr val="tx1"/>
                </a:solidFill>
              </a:rPr>
              <a:t> </a:t>
            </a:r>
            <a:r>
              <a:rPr lang="en-US" altLang="en-US" sz="1200" dirty="0" smtClean="0">
                <a:solidFill>
                  <a:schemeClr val="tx1"/>
                </a:solidFill>
              </a:rPr>
              <a:t>   </a:t>
            </a:r>
            <a:r>
              <a:rPr lang="en-US" altLang="en-US" sz="1200" dirty="0" smtClean="0">
                <a:solidFill>
                  <a:schemeClr val="tx1"/>
                </a:solidFill>
              </a:rPr>
              <a:t>  End</a:t>
            </a:r>
            <a:endParaRPr lang="en-US" altLang="en-US" sz="1200" dirty="0">
              <a:solidFill>
                <a:schemeClr val="tx1"/>
              </a:solidFill>
            </a:endParaRPr>
          </a:p>
          <a:p>
            <a:r>
              <a:rPr lang="en-US" altLang="en-US" sz="1200" dirty="0">
                <a:solidFill>
                  <a:schemeClr val="tx1"/>
                </a:solidFill>
              </a:rPr>
              <a:t>    until counter </a:t>
            </a:r>
            <a:r>
              <a:rPr lang="en-US" altLang="en-US" sz="1200" dirty="0" smtClean="0">
                <a:solidFill>
                  <a:schemeClr val="tx1"/>
                </a:solidFill>
              </a:rPr>
              <a:t>&gt;= </a:t>
            </a:r>
            <a:r>
              <a:rPr lang="en-US" altLang="en-US" sz="1200" dirty="0">
                <a:solidFill>
                  <a:schemeClr val="tx1"/>
                </a:solidFill>
              </a:rPr>
              <a:t>5;  # Stop when counter reaches </a:t>
            </a:r>
            <a:r>
              <a:rPr lang="en-US" altLang="en-US" sz="1200" dirty="0" smtClean="0">
                <a:solidFill>
                  <a:schemeClr val="tx1"/>
                </a:solidFill>
              </a:rPr>
              <a:t>5</a:t>
            </a:r>
            <a:endParaRPr lang="en-US" altLang="en-US" sz="1200" dirty="0">
              <a:solidFill>
                <a:schemeClr val="tx1"/>
              </a:solidFill>
            </a:endParaRPr>
          </a:p>
          <a:p>
            <a:r>
              <a:rPr lang="en-US" altLang="en-US" sz="1200" dirty="0">
                <a:solidFill>
                  <a:schemeClr val="tx1"/>
                </a:solidFill>
              </a:rPr>
              <a:t>    write "Loop ended.";  # Output after loop </a:t>
            </a:r>
            <a:r>
              <a:rPr lang="en-US" altLang="en-US" sz="1200" dirty="0" smtClean="0">
                <a:solidFill>
                  <a:schemeClr val="tx1"/>
                </a:solidFill>
              </a:rPr>
              <a:t>ends</a:t>
            </a:r>
            <a:endParaRPr lang="en-US" altLang="en-US" sz="1200" dirty="0">
              <a:solidFill>
                <a:schemeClr val="tx1"/>
              </a:solidFill>
            </a:endParaRPr>
          </a:p>
          <a:p>
            <a:r>
              <a:rPr lang="en-US" altLang="en-US" sz="1200" dirty="0">
                <a:solidFill>
                  <a:schemeClr val="tx1"/>
                </a:solidFill>
              </a:rPr>
              <a:t>    respond 0;  # Return statement</a:t>
            </a:r>
          </a:p>
          <a:p>
            <a:r>
              <a:rPr lang="en-US" altLang="en-US" sz="1200" dirty="0">
                <a:solidFill>
                  <a:schemeClr val="tx1"/>
                </a:solidFill>
              </a:rPr>
              <a:t>End</a:t>
            </a: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097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dirty="0">
                <a:solidFill>
                  <a:schemeClr val="accent4"/>
                </a:solidFill>
              </a:rPr>
              <a:t>		</a:t>
            </a:r>
            <a:r>
              <a:rPr lang="en-US" altLang="en-GB" dirty="0" err="1" smtClean="0">
                <a:solidFill>
                  <a:schemeClr val="accent4"/>
                </a:solidFill>
              </a:rPr>
              <a:t>Thankyou</a:t>
            </a:r>
            <a:endParaRPr b="1" dirty="0">
              <a:solidFill>
                <a:schemeClr val="accent4"/>
              </a:solidFill>
            </a:endParaRPr>
          </a:p>
        </p:txBody>
      </p:sp>
      <p:sp>
        <p:nvSpPr>
          <p:cNvPr id="407" name="Google Shape;407;p35"/>
          <p:cNvSpPr txBox="1">
            <a:spLocks noGrp="1"/>
          </p:cNvSpPr>
          <p:nvPr>
            <p:ph type="title" idx="2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en-GB" dirty="0" smtClean="0"/>
              <a:t>10</a:t>
            </a:r>
            <a:endParaRPr lang="en-US" altLang="en-GB" dirty="0"/>
          </a:p>
        </p:txBody>
      </p:sp>
      <p:sp>
        <p:nvSpPr>
          <p:cNvPr id="408" name="Google Shape;408;p35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&lt; </a:t>
            </a:r>
            <a:r>
              <a:rPr lang="en-US" altLang="en-GB" dirty="0" smtClean="0"/>
              <a:t>Can be extended.</a:t>
            </a:r>
            <a:r>
              <a:rPr lang="en-GB" sz="1400" dirty="0" smtClean="0"/>
              <a:t>&gt;</a:t>
            </a:r>
            <a:endParaRPr lang="en-GB" sz="1400" dirty="0"/>
          </a:p>
        </p:txBody>
      </p:sp>
      <p:sp>
        <p:nvSpPr>
          <p:cNvPr id="409" name="Google Shape;409;p35"/>
          <p:cNvSpPr txBox="1"/>
          <p:nvPr/>
        </p:nvSpPr>
        <p:spPr>
          <a:xfrm>
            <a:off x="2195863" y="13735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50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500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2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2640213" y="158817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5"/>
                </a:solidFill>
                <a:latin typeface="Fira Code" panose="020B0809050000020004"/>
                <a:ea typeface="Fira Code" panose="020B0809050000020004"/>
                <a:cs typeface="Fira Code" panose="020B0809050000020004"/>
                <a:sym typeface="Fira Code" panose="020B0809050000020004"/>
              </a:rPr>
              <a:t>..</a:t>
            </a:r>
            <a:endParaRPr sz="5000">
              <a:solidFill>
                <a:schemeClr val="accent5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997964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Introduction to Java Programming for High School by Slidesgo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1080</Words>
  <Application>Microsoft Office PowerPoint</Application>
  <PresentationFormat>On-screen Show (16:9)</PresentationFormat>
  <Paragraphs>366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Comfortaa</vt:lpstr>
      <vt:lpstr>Fira Code</vt:lpstr>
      <vt:lpstr>Nunito Light</vt:lpstr>
      <vt:lpstr>Bebas Neue</vt:lpstr>
      <vt:lpstr>Arial</vt:lpstr>
      <vt:lpstr>Wingdings</vt:lpstr>
      <vt:lpstr>Source Code Pro</vt:lpstr>
      <vt:lpstr>Source Code Pro Medium</vt:lpstr>
      <vt:lpstr>Introduction to Java Programming for High School by Slidesgo</vt:lpstr>
      <vt:lpstr>Introduction to           Codexa      for Geeks</vt:lpstr>
      <vt:lpstr>Table of Contents</vt:lpstr>
      <vt:lpstr>Intro!</vt:lpstr>
      <vt:lpstr>  Syntax</vt:lpstr>
      <vt:lpstr>Code Example 1</vt:lpstr>
      <vt:lpstr>  Datatype</vt:lpstr>
      <vt:lpstr>DataType</vt:lpstr>
      <vt:lpstr>  Keywords</vt:lpstr>
      <vt:lpstr>Keywords</vt:lpstr>
      <vt:lpstr>Keywords</vt:lpstr>
      <vt:lpstr>Keywords</vt:lpstr>
      <vt:lpstr>  Operators</vt:lpstr>
      <vt:lpstr>Operators</vt:lpstr>
      <vt:lpstr>Operators</vt:lpstr>
      <vt:lpstr>  Variables</vt:lpstr>
      <vt:lpstr>Variable Declaration Rules</vt:lpstr>
      <vt:lpstr>Code Example 2</vt:lpstr>
      <vt:lpstr>  Comments</vt:lpstr>
      <vt:lpstr>Comments</vt:lpstr>
      <vt:lpstr>Variable Rules</vt:lpstr>
      <vt:lpstr>  Selections</vt:lpstr>
      <vt:lpstr>If..else</vt:lpstr>
      <vt:lpstr>  Loop</vt:lpstr>
      <vt:lpstr>Repeat-until</vt:lpstr>
      <vt:lpstr>  Thankyou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        	Codexa_x000d_     for Geeks</dc:title>
  <dc:creator>LENOVO</dc:creator>
  <cp:lastModifiedBy>LENOVO</cp:lastModifiedBy>
  <cp:revision>14</cp:revision>
  <dcterms:created xsi:type="dcterms:W3CDTF">2025-03-02T19:38:00Z</dcterms:created>
  <dcterms:modified xsi:type="dcterms:W3CDTF">2025-03-20T05:00:13Z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90E3AAE452644D5195DD11043E6E7C52_13</vt:lpwstr>
  </property>
  <property fmtid="{D5CDD505-2E9C-101B-9397-08002B2CF9AE}" pid="3" name="KSOProductBuildVer">
    <vt:lpwstr>1033-12.2.0.19805</vt:lpwstr>
  </property>
</Properties>
</file>